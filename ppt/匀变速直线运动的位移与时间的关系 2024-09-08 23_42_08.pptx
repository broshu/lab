
<file path=[Content_Types].xml><?xml version="1.0" encoding="utf-8"?>
<Types xmlns="http://schemas.openxmlformats.org/package/2006/content-types">
  <Default Extension="bin" ContentType="image/png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356" r:id="rId9"/>
    <p:sldId id="338" r:id="rId10"/>
    <p:sldId id="340" r:id="rId11"/>
    <p:sldId id="355" r:id="rId12"/>
    <p:sldId id="357" r:id="rId13"/>
    <p:sldId id="358" r:id="rId14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8EA29A-8007-4945-85D3-3FF85E9E6F0B}" v="2" dt="2025-09-03T01:35:25.6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5755"/>
  </p:normalViewPr>
  <p:slideViewPr>
    <p:cSldViewPr snapToGrid="0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97EE2-6E5F-D7E1-BAD9-645CA3F333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C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DDD71F-A05A-109A-EFA6-1C60FE4CA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09113-D917-1AF7-0F81-19DA2191A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BAC93-0D9F-9C4B-A4D1-9C8D12E95957}" type="datetimeFigureOut">
              <a:rPr lang="en-CN" smtClean="0"/>
              <a:t>9/14/26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9093AE-3DD2-30E7-9204-D4A8372E0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4B943-D90D-8B4C-E0DA-371855E2F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94D4D-AD73-A04E-828A-E3BDD8E8229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97799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5A5DF-F0F4-9712-F961-F5B02414D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A38DD-73F7-1435-D755-45CD6E30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56768-041C-EF5E-7766-C11131B1B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BAC93-0D9F-9C4B-A4D1-9C8D12E95957}" type="datetimeFigureOut">
              <a:rPr lang="en-CN" smtClean="0"/>
              <a:t>9/14/26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6BB962-9DE3-38CD-A281-896E55A7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5DDB5-10F8-C0F3-2A33-F0D3849E4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94D4D-AD73-A04E-828A-E3BDD8E8229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414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7DABD-A033-C766-52F4-D5D985CAA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58E21-DE59-CFA5-D7BF-B75546857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BC6E5-A6D3-5DA1-D9CD-1F9FCFBA0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BAC93-0D9F-9C4B-A4D1-9C8D12E95957}" type="datetimeFigureOut">
              <a:rPr lang="en-CN" smtClean="0"/>
              <a:t>9/14/26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57B20-EC0C-9329-BBBF-6B8E09E02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E4F29-CDDB-B506-7FE8-A7C30CCCC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94D4D-AD73-A04E-828A-E3BDD8E8229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48126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C7654-0AA7-0156-BD97-0A69925C5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91DE3-5C7E-B93B-8D4D-A70B23CCE1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5E39F6-35F8-F05B-36DE-1AEEC4812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3834BF-7D5A-4A59-F2EE-9AF61B97E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BAC93-0D9F-9C4B-A4D1-9C8D12E95957}" type="datetimeFigureOut">
              <a:rPr lang="en-CN" smtClean="0"/>
              <a:t>9/14/26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64E33D-DD1A-63F8-9006-74374108B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318768-F372-5AA2-C760-88694F03A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94D4D-AD73-A04E-828A-E3BDD8E8229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494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489C2-D251-2825-23EC-DE52A86E9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E64339-D8E0-47D8-C9F6-F78F89E41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B35AF5-E9B9-BC1A-6D14-EE753A3529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9B280A-4643-623E-4792-0FC9986679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BD03E5-339E-2449-0C3C-4FE524648D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4CE946-B6F9-24AA-1FE2-AE4119CE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BAC93-0D9F-9C4B-A4D1-9C8D12E95957}" type="datetimeFigureOut">
              <a:rPr lang="en-CN" smtClean="0"/>
              <a:t>9/14/26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8C19A5-2C30-24AA-3DA0-FCFD1DF4D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B8EF03-FD15-B339-76DC-31CF038BE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94D4D-AD73-A04E-828A-E3BDD8E8229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51175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406CF-A41A-E41B-95F2-27A81FF89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1B717C-FC84-0C94-AD08-2FDDEB2FA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BAC93-0D9F-9C4B-A4D1-9C8D12E95957}" type="datetimeFigureOut">
              <a:rPr lang="en-CN" smtClean="0"/>
              <a:t>9/14/26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0FBF9B-95A3-1D10-16BE-C24433E85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ADB92-1EF7-4C80-685F-89A5DD574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94D4D-AD73-A04E-828A-E3BDD8E8229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3702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FDF673-2062-AD97-892D-C147F01E6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BAC93-0D9F-9C4B-A4D1-9C8D12E95957}" type="datetimeFigureOut">
              <a:rPr lang="en-CN" smtClean="0"/>
              <a:t>9/14/26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55731C-C67C-8411-D788-9C618F983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D9C51C-0326-BE99-332C-01DC345E7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94D4D-AD73-A04E-828A-E3BDD8E8229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46239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BABC4-5DE1-12D7-E6C2-534949B03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9CFA9-9B49-55FE-A8E9-70C573A04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CA77DA-749A-1C58-5CC7-291CB01FEE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AD590A-09F9-1E14-AA08-284BF911E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BAC93-0D9F-9C4B-A4D1-9C8D12E95957}" type="datetimeFigureOut">
              <a:rPr lang="en-CN" smtClean="0"/>
              <a:t>9/14/26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6097EC-10E7-A0D8-EA37-1FCF43185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27BAD3-960A-DB17-D220-F080F84B4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94D4D-AD73-A04E-828A-E3BDD8E8229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31970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B74C8-7C9B-971F-AE17-ABB49EFBC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D7D704-D142-F9FC-1BB5-5E498C1DEB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306C18-FE4C-D60F-BE2F-DFF67051DC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E75ED8-5059-0DBA-4895-D4EADCFA8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BAC93-0D9F-9C4B-A4D1-9C8D12E95957}" type="datetimeFigureOut">
              <a:rPr lang="en-CN" smtClean="0"/>
              <a:t>9/14/26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7DAC87-F8AC-A814-0FA9-F14C15BE7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94DC1D-9C18-CF40-8C1D-7FA5F79AB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94D4D-AD73-A04E-828A-E3BDD8E8229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7338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0FC49-B1B8-DC46-AB33-A83D42FA8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FFE491-C2DA-C191-A27A-38C73110C0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9DD79-5C31-F14D-CCCA-5FA3B03DB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BAC93-0D9F-9C4B-A4D1-9C8D12E95957}" type="datetimeFigureOut">
              <a:rPr lang="en-CN" smtClean="0"/>
              <a:t>9/14/26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9C5DE-D85F-14E9-22CE-1960BEE6C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EEA66-FC34-9BAC-1C6C-9CE2BFC48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94D4D-AD73-A04E-828A-E3BDD8E8229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79303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980ADA-12C1-CD00-C3C6-D1BA82E2DD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887AD9-2A23-4C23-8C1C-DFD4B26324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56480-E267-E4F6-412B-F51A58422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BAC93-0D9F-9C4B-A4D1-9C8D12E95957}" type="datetimeFigureOut">
              <a:rPr lang="en-CN" smtClean="0"/>
              <a:t>9/14/26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1C0D3-3060-B474-6857-A153E31CE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12B56-8E44-CC2E-73D0-D7A67AB24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94D4D-AD73-A04E-828A-E3BDD8E8229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79274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6098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25D510-E500-836C-69A6-AD8870BB6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371242-5231-68A7-0311-ED25F652D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E40DF-FA3B-6202-B6C6-2BACE86C06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</a:defRPr>
            </a:lvl1pPr>
          </a:lstStyle>
          <a:p>
            <a:fld id="{F4BBAC93-0D9F-9C4B-A4D1-9C8D12E95957}" type="datetimeFigureOut">
              <a:rPr lang="en-CN" smtClean="0"/>
              <a:pPr/>
              <a:t>9/14/26</a:t>
            </a:fld>
            <a:endParaRPr lang="en-C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A4A15-63DB-6DA4-6A0B-477D901FF6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</a:defRPr>
            </a:lvl1pPr>
          </a:lstStyle>
          <a:p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90AA5-C9B2-011E-2791-42686E8DB6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</a:defRPr>
            </a:lvl1pPr>
          </a:lstStyle>
          <a:p>
            <a:fld id="{30394D4D-AD73-A04E-828A-E3BDD8E8229C}" type="slidenum">
              <a:rPr lang="en-CN" smtClean="0"/>
              <a:pPr/>
              <a:t>‹#›</a:t>
            </a:fld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14450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imes New Roman" panose="02020603050405020304" pitchFamily="18" charset="0"/>
          <a:ea typeface="SimSun" panose="02010600030101010101" pitchFamily="2" charset="-122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imes New Roman" panose="02020603050405020304" pitchFamily="18" charset="0"/>
          <a:ea typeface="SimSun" panose="02010600030101010101" pitchFamily="2" charset="-122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imes New Roman" panose="02020603050405020304" pitchFamily="18" charset="0"/>
          <a:ea typeface="SimSun" panose="02010600030101010101" pitchFamily="2" charset="-122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imes New Roman" panose="02020603050405020304" pitchFamily="18" charset="0"/>
          <a:ea typeface="SimSun" panose="02010600030101010101" pitchFamily="2" charset="-122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SimSun" panose="02010600030101010101" pitchFamily="2" charset="-122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SimSun" panose="02010600030101010101" pitchFamily="2" charset="-122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bin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94E8D-D2FF-103C-F229-709786F484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匀变速直线运动的</a:t>
            </a:r>
            <a:br>
              <a:rPr lang="en-US" altLang="zh-CN" dirty="0"/>
            </a:br>
            <a:r>
              <a:rPr lang="zh-CN" altLang="en-US" dirty="0"/>
              <a:t>位移与时间的关系</a:t>
            </a:r>
            <a:endParaRPr lang="en-C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C49A07-0FC7-6C12-C772-EBBDFE5D6B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N"/>
              <a:t>Uniform speed linear movement</a:t>
            </a:r>
            <a:br>
              <a:rPr lang="en-CN"/>
            </a:br>
            <a:r>
              <a:rPr lang="en-CN"/>
              <a:t>The relationship between displacement and time</a:t>
            </a:r>
          </a:p>
        </p:txBody>
      </p:sp>
    </p:spTree>
    <p:extLst>
      <p:ext uri="{BB962C8B-B14F-4D97-AF65-F5344CB8AC3E}">
        <p14:creationId xmlns:p14="http://schemas.microsoft.com/office/powerpoint/2010/main" val="3882454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5" descr="文本&#10;&#10;描述已自动生成">
            <a:extLst>
              <a:ext uri="{FF2B5EF4-FFF2-40B4-BE49-F238E27FC236}">
                <a16:creationId xmlns:a16="http://schemas.microsoft.com/office/drawing/2014/main" id="{7C2A4038-BBFA-33C2-86C9-07436DD970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32204" b="25320"/>
          <a:stretch/>
        </p:blipFill>
        <p:spPr>
          <a:xfrm>
            <a:off x="120650" y="2546430"/>
            <a:ext cx="11950700" cy="2106594"/>
          </a:xfrm>
          <a:noFill/>
        </p:spPr>
      </p:pic>
    </p:spTree>
    <p:extLst>
      <p:ext uri="{BB962C8B-B14F-4D97-AF65-F5344CB8AC3E}">
        <p14:creationId xmlns:p14="http://schemas.microsoft.com/office/powerpoint/2010/main" val="2862468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47AA2-6049-9F05-31DE-DE842C381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位移如何表示</a:t>
            </a:r>
            <a:r>
              <a:rPr lang="zh-CN" altLang="en-US" dirty="0"/>
              <a:t>？</a:t>
            </a:r>
            <a:endParaRPr lang="en-CN" dirty="0"/>
          </a:p>
        </p:txBody>
      </p:sp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0F72BDF0-E442-0109-D350-A5A2608C70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9646" y="1797205"/>
            <a:ext cx="4552708" cy="4408178"/>
          </a:xfrm>
          <a:noFill/>
        </p:spPr>
      </p:pic>
    </p:spTree>
    <p:extLst>
      <p:ext uri="{BB962C8B-B14F-4D97-AF65-F5344CB8AC3E}">
        <p14:creationId xmlns:p14="http://schemas.microsoft.com/office/powerpoint/2010/main" val="2455479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D9EA1-CB44-BB02-ECA5-EB799E4B9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如果是这样呢</a:t>
            </a:r>
            <a:r>
              <a:rPr lang="zh-CN" altLang="en-US" dirty="0"/>
              <a:t>？</a:t>
            </a:r>
            <a:endParaRPr lang="en-CN" dirty="0"/>
          </a:p>
        </p:txBody>
      </p:sp>
      <p:pic>
        <p:nvPicPr>
          <p:cNvPr id="4" name="内容占位符 5">
            <a:extLst>
              <a:ext uri="{FF2B5EF4-FFF2-40B4-BE49-F238E27FC236}">
                <a16:creationId xmlns:a16="http://schemas.microsoft.com/office/drawing/2014/main" id="{8CC11890-9CCD-C52B-516C-496221EB18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Sketch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48100" y="1829594"/>
            <a:ext cx="4495800" cy="4343400"/>
          </a:xfrm>
        </p:spPr>
      </p:pic>
    </p:spTree>
    <p:extLst>
      <p:ext uri="{BB962C8B-B14F-4D97-AF65-F5344CB8AC3E}">
        <p14:creationId xmlns:p14="http://schemas.microsoft.com/office/powerpoint/2010/main" val="1939865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C542BAD-97C4-D5AF-D4DB-C515AD9C5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将结论推广至匀变速直线运动</a:t>
            </a:r>
            <a:endParaRPr 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0D07EB6-7BF1-F5BC-7246-318AEF1A9B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673700"/>
            <a:ext cx="10515600" cy="2655188"/>
          </a:xfrm>
          <a:noFill/>
        </p:spPr>
      </p:pic>
    </p:spTree>
    <p:extLst>
      <p:ext uri="{BB962C8B-B14F-4D97-AF65-F5344CB8AC3E}">
        <p14:creationId xmlns:p14="http://schemas.microsoft.com/office/powerpoint/2010/main" val="2187191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D1B6B3-6435-F5CC-4987-4C242E7CD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zh-CN" altLang="en-US" dirty="0"/>
              <a:t>推广至一般情况</a:t>
            </a:r>
            <a:endParaRPr 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E75B8EB-D297-A264-FBC9-858DC74D85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1964" y="1566198"/>
            <a:ext cx="5708072" cy="4870192"/>
          </a:xfrm>
          <a:noFill/>
        </p:spPr>
      </p:pic>
    </p:spTree>
    <p:extLst>
      <p:ext uri="{BB962C8B-B14F-4D97-AF65-F5344CB8AC3E}">
        <p14:creationId xmlns:p14="http://schemas.microsoft.com/office/powerpoint/2010/main" val="811306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BC3ED-7751-F16A-5FDE-18F12D589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匀变速直线运动的位移公式</a:t>
            </a:r>
            <a:endParaRPr lang="en-CN" dirty="0"/>
          </a:p>
        </p:txBody>
      </p:sp>
      <p:pic>
        <p:nvPicPr>
          <p:cNvPr id="4" name="内容占位符 5">
            <a:extLst>
              <a:ext uri="{FF2B5EF4-FFF2-40B4-BE49-F238E27FC236}">
                <a16:creationId xmlns:a16="http://schemas.microsoft.com/office/drawing/2014/main" id="{5AD809F6-A3D5-909E-BB03-6BD0B527C2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67719" y="1509713"/>
            <a:ext cx="5656562" cy="4983162"/>
          </a:xfrm>
          <a:noFill/>
        </p:spPr>
      </p:pic>
    </p:spTree>
    <p:extLst>
      <p:ext uri="{BB962C8B-B14F-4D97-AF65-F5344CB8AC3E}">
        <p14:creationId xmlns:p14="http://schemas.microsoft.com/office/powerpoint/2010/main" val="1441850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5" descr="文本&#10;&#10;描述已自动生成">
            <a:extLst>
              <a:ext uri="{FF2B5EF4-FFF2-40B4-BE49-F238E27FC236}">
                <a16:creationId xmlns:a16="http://schemas.microsoft.com/office/drawing/2014/main" id="{7C2A4038-BBFA-33C2-86C9-07436DD970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32204" b="25320"/>
          <a:stretch/>
        </p:blipFill>
        <p:spPr>
          <a:xfrm>
            <a:off x="120650" y="2546430"/>
            <a:ext cx="11950700" cy="2106594"/>
          </a:xfrm>
          <a:noFill/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B18C057-D8D6-2C6D-7ED6-751F6759F4F7}"/>
              </a:ext>
            </a:extLst>
          </p:cNvPr>
          <p:cNvSpPr/>
          <p:nvPr/>
        </p:nvSpPr>
        <p:spPr>
          <a:xfrm>
            <a:off x="4585625" y="3599727"/>
            <a:ext cx="1776537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位移</a:t>
            </a:r>
          </a:p>
        </p:txBody>
      </p:sp>
    </p:spTree>
    <p:extLst>
      <p:ext uri="{BB962C8B-B14F-4D97-AF65-F5344CB8AC3E}">
        <p14:creationId xmlns:p14="http://schemas.microsoft.com/office/powerpoint/2010/main" val="1813062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8" name="yt_shape_12138"/>
          <p:cNvSpPr txBox="1"/>
          <p:nvPr/>
        </p:nvSpPr>
        <p:spPr>
          <a:xfrm>
            <a:off x="324000" y="432000"/>
            <a:ext cx="2225353" cy="53655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 spc="16653">
                <a:solidFill>
                  <a:srgbClr val="1EE3CF"/>
                </a:solidFill>
                <a:effectLst/>
                <a:latin typeface="Times New Roman" pitchFamily="28"/>
                <a:ea typeface="宋体" pitchFamily="28"/>
              </a:rPr>
              <a:t> </a:t>
            </a:r>
          </a:p>
        </p:txBody>
      </p:sp>
      <p:sp>
        <p:nvSpPr>
          <p:cNvPr id="12140" name="yt_shape_12140"/>
          <p:cNvSpPr txBox="1"/>
          <p:nvPr/>
        </p:nvSpPr>
        <p:spPr>
          <a:xfrm>
            <a:off x="324072" y="1108070"/>
            <a:ext cx="11960915" cy="315554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为备战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2022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北京冬奥会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，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中国女子冰壶队出战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2021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  <a:sym typeface="_⨹_3_74408"/>
              </a:rPr>
              <a:t>女子冰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壶世锦赛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。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在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2021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年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5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月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2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日与日本队的比赛当中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，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以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5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比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2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  <a:sym typeface="_⨹_5_2eacc"/>
              </a:rPr>
              <a:t>轻松击败了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对手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。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比赛中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，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冰壶在水平冰面上的运动可视为匀减速直线运动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，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  <a:sym typeface="_⨹_1_a8668"/>
              </a:rPr>
              <a:t>设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一质量</a:t>
            </a:r>
            <a:r>
              <a:rPr lang="en-US" altLang="zh-CN" sz="3000" b="0" i="1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m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＝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20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 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kg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的冰壶从被运动员推出到静止共用时</a:t>
            </a:r>
            <a:r>
              <a:rPr lang="en-US" altLang="zh-CN" sz="3000" b="0" i="1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t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＝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20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 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s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，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  <a:sym typeface="_⨹_3_85911"/>
              </a:rPr>
              <a:t>运动的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位移</a:t>
            </a:r>
            <a:r>
              <a:rPr lang="en-US" altLang="zh-CN" sz="3000" b="0" i="1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x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＝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40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 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m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，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取</a:t>
            </a:r>
            <a:r>
              <a:rPr lang="en-US" altLang="zh-CN" sz="3000" b="0" i="1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g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＝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10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 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m/s</a:t>
            </a:r>
            <a:r>
              <a:rPr lang="en-US" altLang="zh-CN" sz="3000" b="0" i="0" u="none" baseline="3000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2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，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求冰壶在此过程中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：</a:t>
            </a:r>
          </a:p>
        </p:txBody>
      </p:sp>
      <p:sp>
        <p:nvSpPr>
          <p:cNvPr id="5" name="yt_shape_12141"/>
          <p:cNvSpPr txBox="1"/>
          <p:nvPr/>
        </p:nvSpPr>
        <p:spPr>
          <a:xfrm>
            <a:off x="324000" y="4403127"/>
            <a:ext cx="4039567" cy="570221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951865" indent="-951746" algn="l" eaLnBrk="1" latinLnBrk="0" hangingPunct="0">
              <a:lnSpc>
                <a:spcPct val="140000"/>
              </a:lnSpc>
            </a:pPr>
            <a:r>
              <a:rPr lang="zh-CN" altLang="en-US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加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速度的大小</a:t>
            </a:r>
            <a:r>
              <a:rPr lang="zh-CN" altLang="en-US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。</a:t>
            </a:r>
            <a:endParaRPr lang="zh-CN" altLang="zh-CN" sz="3000" b="0" i="0" u="none" dirty="0">
              <a:solidFill>
                <a:srgbClr val="000000"/>
              </a:solidFill>
              <a:effectLst/>
              <a:latin typeface="宋体" pitchFamily="30"/>
              <a:ea typeface="宋体" pitchFamily="30"/>
            </a:endParaRPr>
          </a:p>
        </p:txBody>
      </p:sp>
      <p:pic>
        <p:nvPicPr>
          <p:cNvPr id="7" name="yt_image_12143" title="H_192.37495">
            <a:extLst>
              <a:ext uri="">
                <a16:creationId xmlns:a14="http://schemas.microsoft.com/office/drawing/2010/main" xmlns:mc="http://schemas.openxmlformats.org/markup-compatibility/2006" xmlns:p14="http://schemas.microsoft.com/office/powerpoint/2010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92344" y="3861048"/>
            <a:ext cx="2801727" cy="2019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:a16="http://schemas.microsoft.com/office/drawing/2014/main" xmlns:a14="http://schemas.microsoft.com/office/drawing/2010/main"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9" name="yt_shape_12169"/>
          <p:cNvSpPr txBox="1"/>
          <p:nvPr/>
        </p:nvSpPr>
        <p:spPr>
          <a:xfrm>
            <a:off x="324071" y="1108070"/>
            <a:ext cx="11960915" cy="24886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475615" indent="-475555" algn="l" eaLnBrk="1" latinLnBrk="0" hangingPunct="0">
              <a:lnSpc>
                <a:spcPct val="140000"/>
              </a:lnSpc>
            </a:pP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     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衢宁铁路于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2020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年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9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月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27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日开通运营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，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如图所示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，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  <a:sym typeface="_⨹_7_a4bd6"/>
              </a:rPr>
              <a:t>有一列车调度员</a:t>
            </a:r>
            <a:b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</a:b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在第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1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节车厢前端等待发车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，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列车启动后第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3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节车厢通过他用时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5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 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s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  <a:sym typeface="_⨹_1_3cb2f"/>
              </a:rPr>
              <a:t>，</a:t>
            </a:r>
            <a:b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</a:b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已知每节车厢长为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25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 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m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，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动车出站可视为匀加速直线运动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，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  <a:sym typeface="_⨹_3_3e429"/>
              </a:rPr>
              <a:t>则该动</a:t>
            </a:r>
            <a:b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</a:b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车的加速度大小约为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（</a:t>
            </a:r>
            <a:r>
              <a:rPr lang="zh-CN" altLang="zh-CN" sz="3000" b="0" i="1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　　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）</a:t>
            </a:r>
          </a:p>
        </p:txBody>
      </p:sp>
      <p:graphicFrame>
        <p:nvGraphicFramePr>
          <p:cNvPr id="12171" name="yt_table_12171_skip" title="H_100.8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799686" y="3647553"/>
          <a:ext cx="5864543" cy="1280160"/>
        </p:xfrm>
        <a:graphic>
          <a:graphicData uri="http://schemas.openxmlformats.org/drawingml/2006/table">
            <a:tbl>
              <a:tblPr/>
              <a:tblGrid>
                <a:gridCol w="3408680">
                  <a:extLst>
                    <a:ext uri="{9D8B030D-6E8A-4147-A177-3AD203B41FA5}">
                      <a16:colId xmlns:a16="http://schemas.microsoft.com/office/drawing/2014/main" val="10194"/>
                    </a:ext>
                  </a:extLst>
                </a:gridCol>
                <a:gridCol w="2455863">
                  <a:extLst>
                    <a:ext uri="{9D8B030D-6E8A-4147-A177-3AD203B41FA5}">
                      <a16:colId xmlns:a16="http://schemas.microsoft.com/office/drawing/2014/main" val="101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60634" indent="-56063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A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宋体" pitchFamily="30"/>
                          <a:ea typeface="宋体" pitchFamily="30"/>
                        </a:rPr>
                        <a:t>.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 0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宋体" pitchFamily="30"/>
                          <a:ea typeface="宋体" pitchFamily="30"/>
                        </a:rPr>
                        <a:t>.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2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 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m/s</a:t>
                      </a:r>
                      <a:r>
                        <a:rPr lang="en-US" altLang="zh-CN" sz="3000" b="0" i="0" u="none" baseline="30000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2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60634" indent="-56063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B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宋体" pitchFamily="30"/>
                          <a:ea typeface="宋体" pitchFamily="30"/>
                        </a:rPr>
                        <a:t>.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 0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宋体" pitchFamily="30"/>
                          <a:ea typeface="宋体" pitchFamily="30"/>
                        </a:rPr>
                        <a:t>.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5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 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m/s</a:t>
                      </a:r>
                      <a:r>
                        <a:rPr lang="en-US" altLang="zh-CN" sz="3000" b="0" i="0" u="none" baseline="30000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2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44444" indent="-44444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C. 1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 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m/s</a:t>
                      </a:r>
                      <a:r>
                        <a:rPr lang="en-US" altLang="zh-CN" sz="3000" b="0" i="0" u="none" baseline="30000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2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444444" indent="-44444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D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宋体" pitchFamily="30"/>
                          <a:ea typeface="宋体" pitchFamily="30"/>
                        </a:rPr>
                        <a:t>.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 2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 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m/s</a:t>
                      </a:r>
                      <a:r>
                        <a:rPr lang="en-US" altLang="zh-CN" sz="3000" b="0" i="0" u="none" baseline="30000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2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90"/>
                  </a:ext>
                </a:extLst>
              </a:tr>
            </a:tbl>
          </a:graphicData>
        </a:graphic>
      </p:graphicFrame>
      <p:pic>
        <p:nvPicPr>
          <p:cNvPr id="12170" name="yt_image_12170_skip" title="H_206.68497">
            <a:extLst>
              <a:ext uri="">
                <a16:creationId xmlns:mc="http://schemas.openxmlformats.org/markup-compatibility/2006" xmlns:a14="http://schemas.microsoft.com/office/drawing/2010/main" xmlns:p14="http://schemas.microsoft.com/office/powerpoint/2010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400256" y="3068960"/>
            <a:ext cx="3391861" cy="2624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0688" y="3789040"/>
            <a:ext cx="722784" cy="5796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:a16="http://schemas.microsoft.com/office/drawing/2014/main" xmlns:a14="http://schemas.microsoft.com/office/drawing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0" name="yt_shape_12220"/>
          <p:cNvSpPr txBox="1"/>
          <p:nvPr/>
        </p:nvSpPr>
        <p:spPr>
          <a:xfrm>
            <a:off x="324000" y="432000"/>
            <a:ext cx="2225353" cy="53655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 spc="16653">
                <a:solidFill>
                  <a:srgbClr val="1EE3CF"/>
                </a:solidFill>
                <a:effectLst/>
                <a:latin typeface="Times New Roman" pitchFamily="28"/>
                <a:ea typeface="宋体" pitchFamily="28"/>
              </a:rPr>
              <a:t> </a:t>
            </a:r>
          </a:p>
        </p:txBody>
      </p:sp>
      <p:sp>
        <p:nvSpPr>
          <p:cNvPr id="12222" name="yt_shape_12222"/>
          <p:cNvSpPr txBox="1"/>
          <p:nvPr/>
        </p:nvSpPr>
        <p:spPr>
          <a:xfrm>
            <a:off x="324071" y="1108070"/>
            <a:ext cx="11960915" cy="186288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475615" indent="-475555" algn="l" eaLnBrk="1" latinLnBrk="0" hangingPunct="0">
              <a:lnSpc>
                <a:spcPct val="140000"/>
              </a:lnSpc>
            </a:pPr>
            <a:r>
              <a:rPr lang="en-US" altLang="zh-CN" sz="3000" b="0" i="0" u="none" dirty="0">
                <a:solidFill>
                  <a:schemeClr val="bg1"/>
                </a:solidFill>
                <a:effectLst/>
                <a:latin typeface="Times New Roman" pitchFamily="30"/>
                <a:ea typeface="宋体" pitchFamily="30"/>
              </a:rPr>
              <a:t>1</a:t>
            </a:r>
            <a:r>
              <a:rPr lang="en-US" altLang="zh-CN" sz="3000" b="0" i="0" u="none" dirty="0">
                <a:solidFill>
                  <a:schemeClr val="bg1"/>
                </a:solidFill>
                <a:effectLst/>
                <a:latin typeface="宋体" pitchFamily="30"/>
                <a:ea typeface="宋体" pitchFamily="30"/>
              </a:rPr>
              <a:t>.</a:t>
            </a:r>
            <a:r>
              <a:rPr lang="en-US" altLang="zh-CN" sz="3000" b="0" i="0" u="none" dirty="0">
                <a:solidFill>
                  <a:schemeClr val="bg1"/>
                </a:solidFill>
                <a:effectLst/>
                <a:latin typeface="Times New Roman" pitchFamily="30"/>
                <a:ea typeface="Times New Roman" pitchFamily="30"/>
              </a:rPr>
              <a:t> 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如图所示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，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物体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A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在斜面上由静止匀加速滑下</a:t>
            </a:r>
            <a:r>
              <a:rPr lang="en-US" altLang="zh-CN" sz="3000" b="0" i="1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x</a:t>
            </a:r>
            <a:r>
              <a:rPr lang="en-US" altLang="zh-CN" sz="3000" b="0" i="0" u="none" baseline="-2500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1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后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，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  <a:sym typeface="_⨹_6_0302c"/>
              </a:rPr>
              <a:t>又匀减速在水</a:t>
            </a:r>
            <a:b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</a:b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平面上滑过</a:t>
            </a:r>
            <a:r>
              <a:rPr lang="en-US" altLang="zh-CN" sz="3000" b="0" i="1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x</a:t>
            </a:r>
            <a:r>
              <a:rPr lang="en-US" altLang="zh-CN" sz="3000" b="0" i="0" u="none" baseline="-2500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2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后停下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，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测得</a:t>
            </a:r>
            <a:r>
              <a:rPr lang="en-US" altLang="zh-CN" sz="3000" b="0" i="1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x</a:t>
            </a:r>
            <a:r>
              <a:rPr lang="en-US" altLang="zh-CN" sz="3000" b="0" i="0" u="none" baseline="-2500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2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＝</a:t>
            </a:r>
            <a:r>
              <a:rPr lang="en-US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2</a:t>
            </a:r>
            <a:r>
              <a:rPr lang="en-US" altLang="zh-CN" sz="3000" b="0" i="1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x</a:t>
            </a:r>
            <a:r>
              <a:rPr lang="en-US" altLang="zh-CN" sz="3000" b="0" i="0" u="none" baseline="-2500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1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，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则物体在斜面上的加速度</a:t>
            </a:r>
            <a:r>
              <a:rPr lang="en-US" altLang="zh-CN" sz="3000" b="0" i="1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a</a:t>
            </a:r>
            <a:r>
              <a:rPr lang="en-US" altLang="zh-CN" sz="3000" b="0" i="0" u="none" baseline="-2500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1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  <a:sym typeface="_⨹_1_b5fdc"/>
              </a:rPr>
              <a:t>与</a:t>
            </a:r>
            <a:b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</a:b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在水平面上的加速度</a:t>
            </a:r>
            <a:r>
              <a:rPr lang="en-US" altLang="zh-CN" sz="3000" b="0" i="1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a</a:t>
            </a:r>
            <a:r>
              <a:rPr lang="en-US" altLang="zh-CN" sz="3000" b="0" i="0" u="none" baseline="-25000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2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的大小关系为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（</a:t>
            </a:r>
            <a:r>
              <a:rPr lang="zh-CN" altLang="zh-CN" sz="3000" b="0" i="1" u="none" dirty="0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　　</a:t>
            </a:r>
            <a:r>
              <a:rPr lang="zh-CN" altLang="zh-CN" sz="3000" b="0" i="0" u="none" dirty="0">
                <a:solidFill>
                  <a:srgbClr val="000000"/>
                </a:solidFill>
                <a:effectLst/>
                <a:latin typeface="宋体" pitchFamily="30"/>
                <a:ea typeface="宋体" pitchFamily="3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224" name="yt_table_12224_skip" title="H_110.56008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99686" y="3021740"/>
              <a:ext cx="5462906" cy="1404113"/>
            </p:xfrm>
            <a:graphic>
              <a:graphicData uri="http://schemas.openxmlformats.org/drawingml/2006/table">
                <a:tbl>
                  <a:tblPr/>
                  <a:tblGrid>
                    <a:gridCol w="3124518">
                      <a:extLst>
                        <a:ext uri="{9D8B030D-6E8A-4147-A177-3AD203B41FA5}">
                          <a16:colId xmlns:a16="http://schemas.microsoft.com/office/drawing/2014/main" val="10197"/>
                        </a:ext>
                      </a:extLst>
                    </a:gridCol>
                    <a:gridCol w="2338388">
                      <a:extLst>
                        <a:ext uri="{9D8B030D-6E8A-4147-A177-3AD203B41FA5}">
                          <a16:colId xmlns:a16="http://schemas.microsoft.com/office/drawing/2014/main" val="1019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560634" indent="-56063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30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A</a:t>
                          </a:r>
                          <a:r>
                            <a:rPr lang="en-US" altLang="zh-CN" sz="30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30"/>
                              <a:ea typeface="宋体" pitchFamily="30"/>
                            </a:rPr>
                            <a:t>.</a:t>
                          </a:r>
                          <a:r>
                            <a:rPr lang="en-US" altLang="zh-CN" sz="30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 </a:t>
                          </a:r>
                          <a:r>
                            <a:rPr lang="en-US" altLang="zh-CN" sz="30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a</a:t>
                          </a:r>
                          <a:r>
                            <a:rPr lang="en-US" altLang="zh-CN" sz="30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1</a:t>
                          </a:r>
                          <a:r>
                            <a:rPr lang="zh-CN" altLang="zh-CN" sz="30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30"/>
                              <a:ea typeface="宋体" pitchFamily="30"/>
                            </a:rPr>
                            <a:t>＝</a:t>
                          </a:r>
                          <a:r>
                            <a:rPr lang="en-US" altLang="zh-CN" sz="30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a</a:t>
                          </a:r>
                          <a:r>
                            <a:rPr lang="en-US" altLang="zh-CN" sz="30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60634" indent="-56063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30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B</a:t>
                          </a:r>
                          <a:r>
                            <a:rPr lang="en-US" altLang="zh-CN" sz="30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30"/>
                              <a:ea typeface="宋体" pitchFamily="30"/>
                            </a:rPr>
                            <a:t>.</a:t>
                          </a:r>
                          <a:r>
                            <a:rPr lang="en-US" altLang="zh-CN" sz="30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 </a:t>
                          </a:r>
                          <a:r>
                            <a:rPr lang="en-US" altLang="zh-CN" sz="30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a</a:t>
                          </a:r>
                          <a:r>
                            <a:rPr lang="en-US" altLang="zh-CN" sz="30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1</a:t>
                          </a:r>
                          <a:r>
                            <a:rPr lang="zh-CN" altLang="zh-CN" sz="30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30"/>
                              <a:ea typeface="宋体" pitchFamily="30"/>
                            </a:rPr>
                            <a:t>＝</a:t>
                          </a:r>
                          <a:r>
                            <a:rPr lang="en-US" altLang="zh-CN" sz="30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2</a:t>
                          </a:r>
                          <a:r>
                            <a:rPr lang="en-US" altLang="zh-CN" sz="30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a</a:t>
                          </a:r>
                          <a:r>
                            <a:rPr lang="en-US" altLang="zh-CN" sz="30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5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444444" indent="-44444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30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C. </a:t>
                          </a:r>
                          <a:r>
                            <a:rPr lang="en-US" altLang="zh-CN" sz="30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a</a:t>
                          </a:r>
                          <a:r>
                            <a:rPr lang="en-US" altLang="zh-CN" sz="30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1</a:t>
                          </a:r>
                          <a:r>
                            <a:rPr lang="zh-CN" altLang="zh-CN" sz="30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30"/>
                              <a:ea typeface="宋体" pitchFamily="30"/>
                            </a:rPr>
                            <a:t>＝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30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60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30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60" charset="0"/>
                                      <a:ea typeface="Cambria Math" panose="02040503050406030204" pitchFamily="60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30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60" charset="0"/>
                                      <a:ea typeface="Cambria Math" panose="02040503050406030204" pitchFamily="60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CN" sz="30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a</a:t>
                          </a:r>
                          <a:r>
                            <a:rPr lang="en-US" altLang="zh-CN" sz="30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44444" indent="-44444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30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D</a:t>
                          </a:r>
                          <a:r>
                            <a:rPr lang="en-US" altLang="zh-CN" sz="30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30"/>
                              <a:ea typeface="宋体" pitchFamily="30"/>
                            </a:rPr>
                            <a:t>.</a:t>
                          </a:r>
                          <a:r>
                            <a:rPr lang="en-US" altLang="zh-CN" sz="30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 </a:t>
                          </a:r>
                          <a:r>
                            <a:rPr lang="en-US" altLang="zh-CN" sz="30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a</a:t>
                          </a:r>
                          <a:r>
                            <a:rPr lang="en-US" altLang="zh-CN" sz="30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1</a:t>
                          </a:r>
                          <a:r>
                            <a:rPr lang="zh-CN" altLang="zh-CN" sz="30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30"/>
                              <a:ea typeface="宋体" pitchFamily="30"/>
                            </a:rPr>
                            <a:t>＝</a:t>
                          </a:r>
                          <a:r>
                            <a:rPr lang="en-US" altLang="zh-CN" sz="30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4</a:t>
                          </a:r>
                          <a:r>
                            <a:rPr lang="en-US" altLang="zh-CN" sz="30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a</a:t>
                          </a:r>
                          <a:r>
                            <a:rPr lang="en-US" altLang="zh-CN" sz="30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596"/>
                      </a:ext>
                    </a:extLst>
                  </a:tr>
                </a:tbl>
              </a:graphicData>
            </a:graphic>
          </p:graphicFrame>
        </mc:Choice>
        <mc:Fallback xmlns:p14="http://schemas.microsoft.com/office/powerpoint/2010/main" xmlns:a16="http://schemas.microsoft.com/office/drawing/2014/main" xmlns:m="http://schemas.openxmlformats.org/officeDocument/2006/math" xmlns="">
          <p:graphicFrame>
            <p:nvGraphicFramePr>
              <p:cNvPr id="12224" name="yt_table_12224_skip" descr="{&quot;rangeId&quot;:67,&quot;type&quot;:&quot;Option&quot;,&quot;drawing&quot;:[&quot;yt_image_12223&quot;]}" title="H_110.56008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3519080"/>
                  </p:ext>
                </p:extLst>
              </p:nvPr>
            </p:nvGraphicFramePr>
            <p:xfrm>
              <a:off x="799686" y="3021740"/>
              <a:ext cx="5462906" cy="1404113"/>
            </p:xfrm>
            <a:graphic>
              <a:graphicData uri="http://schemas.openxmlformats.org/drawingml/2006/table">
                <a:tbl>
                  <a:tblPr/>
                  <a:tblGrid>
                    <a:gridCol w="3124518">
                      <a:extLst>
                        <a:ext uri="{9D8B030D-6E8A-4147-A177-3AD203B41FA5}">
                          <a16:colId xmlns:a16="http://schemas.microsoft.com/office/drawing/2014/main" val="10197"/>
                        </a:ext>
                      </a:extLst>
                    </a:gridCol>
                    <a:gridCol w="2338388">
                      <a:extLst>
                        <a:ext uri="{9D8B030D-6E8A-4147-A177-3AD203B41FA5}">
                          <a16:colId xmlns:a16="http://schemas.microsoft.com/office/drawing/2014/main" val="10198"/>
                        </a:ext>
                      </a:extLst>
                    </a:gridCol>
                  </a:tblGrid>
                  <a:tr h="564706">
                    <a:tc>
                      <a:txBody>
                        <a:bodyPr/>
                        <a:lstStyle/>
                        <a:p>
                          <a:pPr marL="560634" indent="-56063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30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A</a:t>
                          </a:r>
                          <a:r>
                            <a:rPr lang="en-US" altLang="zh-CN" sz="30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30"/>
                              <a:ea typeface="宋体" pitchFamily="30"/>
                            </a:rPr>
                            <a:t>.</a:t>
                          </a:r>
                          <a:r>
                            <a:rPr lang="en-US" altLang="zh-CN" sz="30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 </a:t>
                          </a:r>
                          <a:r>
                            <a:rPr lang="en-US" altLang="zh-CN" sz="30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a</a:t>
                          </a:r>
                          <a:r>
                            <a:rPr lang="en-US" altLang="zh-CN" sz="30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1</a:t>
                          </a:r>
                          <a:r>
                            <a:rPr lang="zh-CN" altLang="zh-CN" sz="30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30"/>
                              <a:ea typeface="宋体" pitchFamily="30"/>
                            </a:rPr>
                            <a:t>＝</a:t>
                          </a:r>
                          <a:r>
                            <a:rPr lang="en-US" altLang="zh-CN" sz="30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a</a:t>
                          </a:r>
                          <a:r>
                            <a:rPr lang="en-US" altLang="zh-CN" sz="30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60634" indent="-56063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30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B</a:t>
                          </a:r>
                          <a:r>
                            <a:rPr lang="en-US" altLang="zh-CN" sz="30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30"/>
                              <a:ea typeface="宋体" pitchFamily="30"/>
                            </a:rPr>
                            <a:t>.</a:t>
                          </a:r>
                          <a:r>
                            <a:rPr lang="en-US" altLang="zh-CN" sz="30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 </a:t>
                          </a:r>
                          <a:r>
                            <a:rPr lang="en-US" altLang="zh-CN" sz="30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a</a:t>
                          </a:r>
                          <a:r>
                            <a:rPr lang="en-US" altLang="zh-CN" sz="30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1</a:t>
                          </a:r>
                          <a:r>
                            <a:rPr lang="zh-CN" altLang="zh-CN" sz="30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30"/>
                              <a:ea typeface="宋体" pitchFamily="30"/>
                            </a:rPr>
                            <a:t>＝</a:t>
                          </a:r>
                          <a:r>
                            <a:rPr lang="en-US" altLang="zh-CN" sz="30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2</a:t>
                          </a:r>
                          <a:r>
                            <a:rPr lang="en-US" altLang="zh-CN" sz="30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a</a:t>
                          </a:r>
                          <a:r>
                            <a:rPr lang="en-US" altLang="zh-CN" sz="30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595"/>
                      </a:ext>
                    </a:extLst>
                  </a:tr>
                  <a:tr h="839407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3"/>
                          <a:stretch>
                            <a:fillRect t="-70504" r="-74854" b="-151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444444" indent="-44444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30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D</a:t>
                          </a:r>
                          <a:r>
                            <a:rPr lang="en-US" altLang="zh-CN" sz="30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30"/>
                              <a:ea typeface="宋体" pitchFamily="30"/>
                            </a:rPr>
                            <a:t>.</a:t>
                          </a:r>
                          <a:r>
                            <a:rPr lang="en-US" altLang="zh-CN" sz="30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 </a:t>
                          </a:r>
                          <a:r>
                            <a:rPr lang="en-US" altLang="zh-CN" sz="30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a</a:t>
                          </a:r>
                          <a:r>
                            <a:rPr lang="en-US" altLang="zh-CN" sz="30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1</a:t>
                          </a:r>
                          <a:r>
                            <a:rPr lang="zh-CN" altLang="zh-CN" sz="30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30"/>
                              <a:ea typeface="宋体" pitchFamily="30"/>
                            </a:rPr>
                            <a:t>＝</a:t>
                          </a:r>
                          <a:r>
                            <a:rPr lang="en-US" altLang="zh-CN" sz="30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4</a:t>
                          </a:r>
                          <a:r>
                            <a:rPr lang="en-US" altLang="zh-CN" sz="30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a</a:t>
                          </a:r>
                          <a:r>
                            <a:rPr lang="en-US" altLang="zh-CN" sz="30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59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2223" name="yt_image_12223_skip" title="H_84.24">
            <a:extLst>
              <a:ext uri="">
                <a16:creationId xmlns:p14="http://schemas.microsoft.com/office/powerpoint/2010/main" xmlns:a14="http://schemas.microsoft.com/office/drawing/2010/main" xmlns:mc="http://schemas.openxmlformats.org/markup-compatibility/2006" xmlns:a16="http://schemas.microsoft.com/office/drawing/2014/main" xmlns:m="http://schemas.openxmlformats.org/officeDocument/2006/math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574740" y="3021740"/>
            <a:ext cx="3327509" cy="1069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719736" y="3212976"/>
            <a:ext cx="722784" cy="5796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:a16="http://schemas.microsoft.com/office/drawing/2014/main" xmlns:a14="http://schemas.microsoft.com/office/drawing/2010/main" xmlns:m="http://schemas.openxmlformats.org/officeDocument/2006/math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1B2121E-03DD-E20B-351C-934E792D4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50" y="142558"/>
            <a:ext cx="11950700" cy="657288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59340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B10F341-72B9-BBA9-C4A6-89A1797B9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50" y="1203182"/>
            <a:ext cx="11950700" cy="44516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65895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EE274C18-BC60-B249-9440-5AC294A573B2}" vid="{2CCC47ED-F49B-0744-B534-2161C259B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主题 2013 - 2022</Template>
  <TotalTime>32</TotalTime>
  <Words>336</Words>
  <Application>Microsoft Macintosh PowerPoint</Application>
  <PresentationFormat>Widescreen</PresentationFormat>
  <Paragraphs>22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宋体</vt:lpstr>
      <vt:lpstr>Arial</vt:lpstr>
      <vt:lpstr>Cambria Math</vt:lpstr>
      <vt:lpstr>Helvetica Neue</vt:lpstr>
      <vt:lpstr>Times New Roman</vt:lpstr>
      <vt:lpstr>Office 主题 2013 - 2022</vt:lpstr>
      <vt:lpstr>匀变速直线运动的 位移与时间的关系</vt:lpstr>
      <vt:lpstr>PowerPoint Presentation</vt:lpstr>
      <vt:lpstr>位移如何表示？</vt:lpstr>
      <vt:lpstr>如果是这样呢？</vt:lpstr>
      <vt:lpstr>将结论推广至匀变速直线运动</vt:lpstr>
      <vt:lpstr>推广至一般情况</vt:lpstr>
      <vt:lpstr>匀变速直线运动的位移公式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Xingyu Shu</cp:lastModifiedBy>
  <cp:revision>3</cp:revision>
  <dcterms:created xsi:type="dcterms:W3CDTF">2024-09-08T14:14:53Z</dcterms:created>
  <dcterms:modified xsi:type="dcterms:W3CDTF">2026-09-14T01:10:24Z</dcterms:modified>
</cp:coreProperties>
</file>