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14" r:id="rId4"/>
    <p:sldId id="269" r:id="rId5"/>
    <p:sldId id="291" r:id="rId6"/>
    <p:sldId id="270" r:id="rId7"/>
    <p:sldId id="315" r:id="rId8"/>
    <p:sldId id="271" r:id="rId9"/>
    <p:sldId id="316" r:id="rId10"/>
    <p:sldId id="262" r:id="rId11"/>
    <p:sldId id="272" r:id="rId12"/>
    <p:sldId id="274" r:id="rId13"/>
    <p:sldId id="275" r:id="rId14"/>
    <p:sldId id="296" r:id="rId15"/>
    <p:sldId id="276" r:id="rId16"/>
    <p:sldId id="317" r:id="rId17"/>
    <p:sldId id="297" r:id="rId18"/>
    <p:sldId id="299" r:id="rId19"/>
    <p:sldId id="264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58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6">
            <a:hlinkClick r:id="rId4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选择性必修第一册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">
            <a:hlinkClick r:id="rId3" action="ppaction://hlinksldjump"/>
          </p:cNvPr>
          <p:cNvSpPr txBox="1"/>
          <p:nvPr userDrawn="1"/>
        </p:nvSpPr>
        <p:spPr>
          <a:xfrm>
            <a:off x="11508077" y="645995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19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28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22.xml"/><Relationship Id="rId7" Type="http://schemas.openxmlformats.org/officeDocument/2006/relationships/slide" Target="slide30.xml"/><Relationship Id="rId12" Type="http://schemas.openxmlformats.org/officeDocument/2006/relationships/slide" Target="slide4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34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34.xml"/><Relationship Id="rId3" Type="http://schemas.openxmlformats.org/officeDocument/2006/relationships/image" Target="../media/image35.png"/><Relationship Id="rId7" Type="http://schemas.openxmlformats.org/officeDocument/2006/relationships/slide" Target="slide22.xml"/><Relationship Id="rId12" Type="http://schemas.openxmlformats.org/officeDocument/2006/relationships/slide" Target="slide32.xml"/><Relationship Id="rId2" Type="http://schemas.openxmlformats.org/officeDocument/2006/relationships/image" Target="../media/image190.png"/><Relationship Id="rId16" Type="http://schemas.openxmlformats.org/officeDocument/2006/relationships/slide" Target="slide4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11" Type="http://schemas.openxmlformats.org/officeDocument/2006/relationships/slide" Target="slide30.xml"/><Relationship Id="rId5" Type="http://schemas.openxmlformats.org/officeDocument/2006/relationships/image" Target="../media/image37.png"/><Relationship Id="rId15" Type="http://schemas.openxmlformats.org/officeDocument/2006/relationships/slide" Target="slide38.xml"/><Relationship Id="rId10" Type="http://schemas.openxmlformats.org/officeDocument/2006/relationships/slide" Target="slide28.xml"/><Relationship Id="rId4" Type="http://schemas.openxmlformats.org/officeDocument/2006/relationships/image" Target="../media/image36.bin"/><Relationship Id="rId9" Type="http://schemas.openxmlformats.org/officeDocument/2006/relationships/slide" Target="slide26.xml"/><Relationship Id="rId14" Type="http://schemas.openxmlformats.org/officeDocument/2006/relationships/slide" Target="slide3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45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40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22.xml"/><Relationship Id="rId7" Type="http://schemas.openxmlformats.org/officeDocument/2006/relationships/slide" Target="slide30.xml"/><Relationship Id="rId12" Type="http://schemas.openxmlformats.org/officeDocument/2006/relationships/slide" Target="slide4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8.xml"/><Relationship Id="rId11" Type="http://schemas.openxmlformats.org/officeDocument/2006/relationships/slide" Target="slide38.xml"/><Relationship Id="rId5" Type="http://schemas.openxmlformats.org/officeDocument/2006/relationships/slide" Target="slide26.xml"/><Relationship Id="rId10" Type="http://schemas.openxmlformats.org/officeDocument/2006/relationships/slide" Target="slide36.xml"/><Relationship Id="rId4" Type="http://schemas.openxmlformats.org/officeDocument/2006/relationships/slide" Target="slide24.xml"/><Relationship Id="rId9" Type="http://schemas.openxmlformats.org/officeDocument/2006/relationships/slide" Target="slide3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1.xml"/><Relationship Id="rId3" Type="http://schemas.openxmlformats.org/officeDocument/2006/relationships/slide" Target="slide20.xml"/><Relationship Id="rId7" Type="http://schemas.openxmlformats.org/officeDocument/2006/relationships/slide" Target="slide28.xml"/><Relationship Id="rId12" Type="http://schemas.openxmlformats.org/officeDocument/2006/relationships/slide" Target="slide38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6.xml"/><Relationship Id="rId11" Type="http://schemas.openxmlformats.org/officeDocument/2006/relationships/slide" Target="slide36.xml"/><Relationship Id="rId5" Type="http://schemas.openxmlformats.org/officeDocument/2006/relationships/slide" Target="slide24.xml"/><Relationship Id="rId10" Type="http://schemas.openxmlformats.org/officeDocument/2006/relationships/slide" Target="slide34.xml"/><Relationship Id="rId4" Type="http://schemas.openxmlformats.org/officeDocument/2006/relationships/slide" Target="slide22.xml"/><Relationship Id="rId9" Type="http://schemas.openxmlformats.org/officeDocument/2006/relationships/slide" Target="slide3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13" Type="http://schemas.openxmlformats.org/officeDocument/2006/relationships/slide" Target="slide38.xml"/><Relationship Id="rId3" Type="http://schemas.openxmlformats.org/officeDocument/2006/relationships/image" Target="../media/image52.png"/><Relationship Id="rId7" Type="http://schemas.openxmlformats.org/officeDocument/2006/relationships/slide" Target="slide26.xml"/><Relationship Id="rId12" Type="http://schemas.openxmlformats.org/officeDocument/2006/relationships/slide" Target="slide36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4.xml"/><Relationship Id="rId11" Type="http://schemas.openxmlformats.org/officeDocument/2006/relationships/slide" Target="slide34.xml"/><Relationship Id="rId5" Type="http://schemas.openxmlformats.org/officeDocument/2006/relationships/slide" Target="slide22.xml"/><Relationship Id="rId10" Type="http://schemas.openxmlformats.org/officeDocument/2006/relationships/slide" Target="slide32.xml"/><Relationship Id="rId4" Type="http://schemas.openxmlformats.org/officeDocument/2006/relationships/slide" Target="slide20.xml"/><Relationship Id="rId9" Type="http://schemas.openxmlformats.org/officeDocument/2006/relationships/slide" Target="slide30.xml"/><Relationship Id="rId14" Type="http://schemas.openxmlformats.org/officeDocument/2006/relationships/slide" Target="slide4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slide" Target="slide30.xml"/><Relationship Id="rId18" Type="http://schemas.openxmlformats.org/officeDocument/2006/relationships/slide" Target="slide41.xml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slide" Target="slide28.xml"/><Relationship Id="rId17" Type="http://schemas.openxmlformats.org/officeDocument/2006/relationships/slide" Target="slide38.xml"/><Relationship Id="rId2" Type="http://schemas.openxmlformats.org/officeDocument/2006/relationships/image" Target="../media/image53.png"/><Relationship Id="rId16" Type="http://schemas.openxmlformats.org/officeDocument/2006/relationships/slide" Target="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11" Type="http://schemas.openxmlformats.org/officeDocument/2006/relationships/slide" Target="slide26.xml"/><Relationship Id="rId5" Type="http://schemas.openxmlformats.org/officeDocument/2006/relationships/image" Target="../media/image56.png"/><Relationship Id="rId15" Type="http://schemas.openxmlformats.org/officeDocument/2006/relationships/slide" Target="slide34.xml"/><Relationship Id="rId10" Type="http://schemas.openxmlformats.org/officeDocument/2006/relationships/slide" Target="slide24.xml"/><Relationship Id="rId4" Type="http://schemas.openxmlformats.org/officeDocument/2006/relationships/image" Target="../media/image55.png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9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" y="2144142"/>
            <a:ext cx="12208713" cy="29041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050" y="2152649"/>
            <a:ext cx="12192000" cy="2895600"/>
          </a:xfrm>
          <a:prstGeom prst="rect">
            <a:avLst/>
          </a:prstGeom>
          <a:solidFill>
            <a:schemeClr val="tx1">
              <a:lumMod val="50000"/>
              <a:lumOff val="5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2458695"/>
            <a:ext cx="12192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专题强化3　</a:t>
            </a:r>
            <a:endParaRPr lang="en-US" altLang="zh-CN" sz="5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latin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常见碰撞模型的应用（一）</a:t>
            </a:r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4063555" y="2607018"/>
            <a:ext cx="834708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强化点一　“弹簧</a:t>
            </a:r>
            <a:r>
              <a:rPr lang="en-US" altLang="zh-CN" sz="4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滑块”模型</a:t>
            </a:r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23" name="yt_table_11723" title="H_625.9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472290"/>
              </p:ext>
            </p:extLst>
          </p:nvPr>
        </p:nvGraphicFramePr>
        <p:xfrm>
          <a:off x="324000" y="620399"/>
          <a:ext cx="11543998" cy="57401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3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e753a"/>
                        </a:rPr>
                        <a:t>模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型</a:t>
                      </a:r>
                    </a:p>
                    <a:p>
                      <a:pPr algn="ctr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ce77a"/>
                        </a:rPr>
                        <a:t>图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0000"/>
                        </a:lnSpc>
                      </a:pPr>
                      <a:r>
                        <a:rPr lang="en-US" altLang="zh-CN" sz="7950" b="0" i="0" u="none">
                          <a:solidFill>
                            <a:srgbClr val="1EE3CF"/>
                          </a:solidFill>
                          <a:effectLst/>
                          <a:latin typeface="Times New Roman" pitchFamily="80"/>
                          <a:ea typeface="Times New Roman" pitchFamily="80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     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35267"/>
                        </a:rPr>
                        <a:t>模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型</a:t>
                      </a:r>
                    </a:p>
                    <a:p>
                      <a:pPr algn="ctr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d6e10"/>
                        </a:rPr>
                        <a:t>特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点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两个或两个以上的物体与弹簧相互作用的过程中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733be"/>
                        </a:rPr>
                        <a:t>若系统所受外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力的矢量和为零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则系统动量守恒</a:t>
                      </a:r>
                    </a:p>
                    <a:p>
                      <a:pPr algn="l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在能量方面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由于弹簧形变会使弹性势能发生变化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5_fa6ae"/>
                        </a:rPr>
                        <a:t>系统的总动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能将发生变化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；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若系统所受的外力和除弹簧弹力以外的内力不做功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c0906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则系统机械能守恒</a:t>
                      </a:r>
                    </a:p>
                    <a:p>
                      <a:pPr algn="l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弹簧处于最长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最短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状态时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两物体速度相等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5_2d782"/>
                        </a:rPr>
                        <a:t>弹性势能最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大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系统的总动能通常最小</a:t>
                      </a:r>
                    </a:p>
                    <a:p>
                      <a:pPr algn="l" eaLnBrk="1" fontAlgn="ctr" latinLnBrk="0" hangingPunct="0">
                        <a:lnSpc>
                          <a:spcPct val="11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弹簧处于原长时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弹性势能为零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系统的总动能通常最大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ed862"/>
                        </a:rPr>
                        <a:t>但物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体速度一般不相等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yt_shape_1745560480024">
            <a:extLst>
              <a:ext uri="{FF2B5EF4-FFF2-40B4-BE49-F238E27FC236}">
                <a16:creationId xmlns:a16="http://schemas.microsoft.com/office/drawing/2014/main" id="{B2A843BD-8C08-337F-E941-E471893053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27" y="645799"/>
            <a:ext cx="2734945" cy="1316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5" name="yt_shape_11725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江苏南通期中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通过轻弹簧连接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543d"/>
              </a:rPr>
              <a:t>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和弹簧组成的系统静止在光滑水平面上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现用手将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c8569"/>
              </a:rPr>
              <a:t>向两侧拉开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一段距离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并由静止同时释放两物块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则放手后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1726" name="yt_image_11726" title="H_61.1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1807" y="2390661"/>
            <a:ext cx="4628384" cy="77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728" name="yt_table_11728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523682"/>
              </p:ext>
            </p:extLst>
          </p:nvPr>
        </p:nvGraphicFramePr>
        <p:xfrm>
          <a:off x="324066" y="3217247"/>
          <a:ext cx="7877175" cy="2389632"/>
        </p:xfrm>
        <a:graphic>
          <a:graphicData uri="http://schemas.openxmlformats.org/drawingml/2006/table">
            <a:tbl>
              <a:tblPr/>
              <a:tblGrid>
                <a:gridCol w="7877175">
                  <a:extLst>
                    <a:ext uri="{9D8B030D-6E8A-4147-A177-3AD203B41FA5}">
                      <a16:colId xmlns:a16="http://schemas.microsoft.com/office/drawing/2014/main" val="10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弹簧恢复到原长时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的动能达到最大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弹簧压缩量最大时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的动量达到最大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弹簧恢复到原长过程中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系统的动量增加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弹簧恢复到原长过程中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系统的机械能增加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09950" y="325534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0" name="yt_shape_11730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弹簧从拉伸到压缩至最短过程中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弹簧恢复到原长前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e2bba"/>
              </a:rPr>
              <a:t>弹力一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直对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做正功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的动能一直增加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弹簧压缩后到最短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弹力对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做负功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269e2"/>
              </a:rPr>
              <a:t>，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的动能减小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则弹簧恢复到原长时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的动能达到最大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1432a"/>
              </a:rPr>
              <a:t>根据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动量守恒定律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弹簧压缩量最大时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共速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速度都为零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4a3a9"/>
              </a:rPr>
              <a:t>的动量达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到最小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系统所受合外力始终为零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所以系统动量守恒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59571"/>
              </a:rPr>
              <a:t>错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弹簧恢复到原长过程中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没有外力做功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2_dd83f"/>
              </a:rPr>
              <a:t>系统的动能和弹性势能相互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转化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系统的机械能守恒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1" name="yt_shape_11731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宁夏石嘴山月考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d4b1e"/>
              </a:rPr>
              <a:t>静止在光滑平直轨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道上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其左端固定有轻质弹簧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以速度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沿轨道向物体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798f"/>
              </a:rPr>
              <a:t>运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并通过弹簧与物体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发生相互作用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5b3b"/>
              </a:rPr>
              <a:t>的质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量为</a:t>
            </a:r>
            <a:r>
              <a:rPr lang="en-US" altLang="zh-CN" sz="2800" b="0" i="1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1732" name="yt_shape_11732"/>
          <p:cNvSpPr txBox="1"/>
          <p:nvPr/>
        </p:nvSpPr>
        <p:spPr>
          <a:xfrm>
            <a:off x="324000" y="2860710"/>
            <a:ext cx="79797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当物体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的速度多大时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弹簧弹性势能最大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2" name="yt_shape_11733"/>
          <p:cNvSpPr txBox="1"/>
          <p:nvPr/>
        </p:nvSpPr>
        <p:spPr>
          <a:xfrm>
            <a:off x="324000" y="3596059"/>
            <a:ext cx="312104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pic>
        <p:nvPicPr>
          <p:cNvPr id="11734" name="yt_image_11734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7540" y="3596059"/>
            <a:ext cx="3680458" cy="75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yt_shape_11740"/>
              <p:cNvSpPr txBox="1"/>
              <p:nvPr/>
            </p:nvSpPr>
            <p:spPr>
              <a:xfrm>
                <a:off x="298600" y="4255245"/>
                <a:ext cx="11543998" cy="222175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当物体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速度相同时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弹簧弹性势能最大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3359a"/>
                  </a:rPr>
                  <a:t> 由动量守恒定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律知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1×3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1+2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8" name="yt_shape_117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00" y="4255245"/>
                <a:ext cx="11543998" cy="2221756"/>
              </a:xfrm>
              <a:prstGeom prst="rect">
                <a:avLst/>
              </a:prstGeom>
              <a:blipFill>
                <a:blip r:embed="rId3"/>
                <a:stretch>
                  <a:fillRect l="-1901" t="-1096" r="-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1736"/>
          <p:cNvSpPr txBox="1"/>
          <p:nvPr/>
        </p:nvSpPr>
        <p:spPr>
          <a:xfrm>
            <a:off x="247800" y="773939"/>
            <a:ext cx="73609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在相互作用过程中最大弹性势能为多少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1737"/>
          <p:cNvSpPr txBox="1"/>
          <p:nvPr/>
        </p:nvSpPr>
        <p:spPr>
          <a:xfrm>
            <a:off x="247800" y="1509288"/>
            <a:ext cx="238366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1742"/>
              <p:cNvSpPr txBox="1"/>
              <p:nvPr/>
            </p:nvSpPr>
            <p:spPr>
              <a:xfrm>
                <a:off x="247800" y="2118711"/>
                <a:ext cx="11924914" cy="224587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设最大弹性势能为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2ed0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J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J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J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="">
          <p:sp>
            <p:nvSpPr>
              <p:cNvPr id="4" name="yt_shape_117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00" y="2118711"/>
                <a:ext cx="11924914" cy="2245871"/>
              </a:xfrm>
              <a:prstGeom prst="rect">
                <a:avLst/>
              </a:prstGeom>
              <a:blipFill>
                <a:blip r:embed="rId2"/>
                <a:stretch>
                  <a:fillRect l="-1840" b="-4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78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4" name="yt_shape_11744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三个物块置于光滑的水平面上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af48"/>
              </a:rPr>
              <a:t>之间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有一轻质弹簧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弹簧的两端与木块拴接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刚开始物块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处于静止状态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12c6a"/>
              </a:rPr>
              <a:t>。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现物块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以初速度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沿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的连线方向朝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df429"/>
              </a:rPr>
              <a:t>发生弹性碰撞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碰撞时间极短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然后压缩弹簧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1745" name="yt_shape_11745"/>
          <p:cNvSpPr txBox="1"/>
          <p:nvPr/>
        </p:nvSpPr>
        <p:spPr>
          <a:xfrm>
            <a:off x="324000" y="2860710"/>
            <a:ext cx="626293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碰后瞬间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的速度大小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2" name="yt_shape_11746"/>
          <p:cNvSpPr txBox="1"/>
          <p:nvPr/>
        </p:nvSpPr>
        <p:spPr>
          <a:xfrm>
            <a:off x="451000" y="3392859"/>
            <a:ext cx="312104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</a:p>
        </p:txBody>
      </p:sp>
      <p:pic>
        <p:nvPicPr>
          <p:cNvPr id="11747" name="yt_image_11747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1556" y="3088708"/>
            <a:ext cx="4128142" cy="61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yt_shape_11753"/>
              <p:cNvSpPr txBox="1"/>
              <p:nvPr/>
            </p:nvSpPr>
            <p:spPr>
              <a:xfrm>
                <a:off x="451000" y="3975844"/>
                <a:ext cx="10732105" cy="199740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碰撞过程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根据动量守恒定律和机械能守恒定律有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endParaRPr lang="en-US" altLang="zh-CN" sz="2800" b="0" i="0" u="none" baseline="-25000" dirty="0">
                  <a:solidFill>
                    <a:srgbClr val="C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0" u="none" baseline="-25000" dirty="0">
                  <a:solidFill>
                    <a:srgbClr val="FF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8" name="yt_shape_117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00" y="3975844"/>
                <a:ext cx="10732105" cy="1997406"/>
              </a:xfrm>
              <a:prstGeom prst="rect">
                <a:avLst/>
              </a:prstGeom>
              <a:blipFill>
                <a:blip r:embed="rId3"/>
                <a:stretch>
                  <a:fillRect l="-2045" t="-1220" b="-5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yt_shape_11755"/>
          <p:cNvSpPr txBox="1"/>
          <p:nvPr/>
        </p:nvSpPr>
        <p:spPr>
          <a:xfrm>
            <a:off x="451000" y="6024038"/>
            <a:ext cx="254236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1749"/>
          <p:cNvSpPr txBox="1"/>
          <p:nvPr/>
        </p:nvSpPr>
        <p:spPr>
          <a:xfrm>
            <a:off x="158900" y="606584"/>
            <a:ext cx="52402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弹簧的最大弹性势能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pmax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yt_shape_11750"/>
          <p:cNvSpPr txBox="1"/>
          <p:nvPr/>
        </p:nvSpPr>
        <p:spPr>
          <a:xfrm>
            <a:off x="395342" y="1303833"/>
            <a:ext cx="238366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1756"/>
              <p:cNvSpPr txBox="1"/>
              <p:nvPr/>
            </p:nvSpPr>
            <p:spPr>
              <a:xfrm>
                <a:off x="247871" y="2002108"/>
                <a:ext cx="11924914" cy="199740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速度相等时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弹簧的弹性势能最大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9465b"/>
                  </a:rPr>
                  <a:t>根据动量守恒定律有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共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共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pmax</a:t>
                </a:r>
                <a:endParaRPr lang="en-US" altLang="zh-CN" sz="2800" b="0" i="0" u="none" baseline="-25000" dirty="0">
                  <a:solidFill>
                    <a:srgbClr val="C0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4="http://schemas.microsoft.com/office/powerpoint/2010/main" xmlns="">
          <p:sp>
            <p:nvSpPr>
              <p:cNvPr id="4" name="yt_shape_117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1" y="2002108"/>
                <a:ext cx="11924914" cy="1997406"/>
              </a:xfrm>
              <a:prstGeom prst="rect">
                <a:avLst/>
              </a:prstGeom>
              <a:blipFill>
                <a:blip r:embed="rId2"/>
                <a:stretch>
                  <a:fillRect l="-1840" t="-1220" b="-5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yt_shape_11758"/>
          <p:cNvSpPr txBox="1"/>
          <p:nvPr/>
        </p:nvSpPr>
        <p:spPr>
          <a:xfrm>
            <a:off x="247800" y="4050302"/>
            <a:ext cx="259686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pmax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J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7536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02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306800" y="2133943"/>
            <a:ext cx="8482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强化点二　</a:t>
            </a:r>
            <a:endParaRPr lang="en-US" altLang="zh-CN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“滑块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斜（曲）面”模型</a:t>
            </a:r>
          </a:p>
        </p:txBody>
      </p:sp>
    </p:spTree>
    <p:extLst>
      <p:ext uri="{BB962C8B-B14F-4D97-AF65-F5344CB8AC3E}">
        <p14:creationId xmlns:p14="http://schemas.microsoft.com/office/powerpoint/2010/main" val="313097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0" name="yt_shape_11760"/>
          <p:cNvSpPr txBox="1"/>
          <p:nvPr/>
        </p:nvSpPr>
        <p:spPr>
          <a:xfrm>
            <a:off x="5724227" y="-27490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1761" name="yt_shape_11761"/>
          <p:cNvSpPr txBox="1"/>
          <p:nvPr/>
        </p:nvSpPr>
        <p:spPr>
          <a:xfrm>
            <a:off x="311371" y="55549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模型建构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光滑斜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面静置放在光滑水平地面上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8db8"/>
              </a:rPr>
              <a:t>滑块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冲上斜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滑块始终未脱离斜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1762" name="yt_image_1176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9082" y="1894086"/>
            <a:ext cx="2048435" cy="152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yt_shape_11764"/>
          <p:cNvSpPr txBox="1"/>
          <p:nvPr/>
        </p:nvSpPr>
        <p:spPr>
          <a:xfrm>
            <a:off x="324000" y="3528803"/>
            <a:ext cx="1885131" cy="46859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模型特点</a:t>
            </a:r>
          </a:p>
        </p:txBody>
      </p:sp>
      <p:sp>
        <p:nvSpPr>
          <p:cNvPr id="7" name="yt_shape_11765"/>
          <p:cNvSpPr txBox="1"/>
          <p:nvPr/>
        </p:nvSpPr>
        <p:spPr>
          <a:xfrm>
            <a:off x="324071" y="4048193"/>
            <a:ext cx="11543998" cy="9654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在相互作用过程中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滑块和斜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曲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c3281"/>
              </a:rPr>
              <a:t>面轨道组成的系统机械能守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恒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系统水平方向动量守恒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竖直方向上动量不守恒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故总动量不守恒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6" name="yt_shape_11766"/>
              <p:cNvSpPr txBox="1"/>
              <p:nvPr/>
            </p:nvSpPr>
            <p:spPr>
              <a:xfrm>
                <a:off x="324071" y="924250"/>
                <a:ext cx="11543998" cy="272965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滑块上升到最大高度时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滑块与斜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曲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面具有共同水平速度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共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d6628"/>
                  </a:rPr>
                  <a:t>，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此时滑块的竖直速度</a:t>
                </a:r>
                <a:r>
                  <a:rPr lang="en-US" altLang="zh-CN" sz="2800" b="0" i="1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1" u="none" baseline="-25000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y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系统水平方向动量守恒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共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649ba"/>
                  </a:rPr>
                  <a:t>；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系统机械能守恒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共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mgh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其中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7_816c0"/>
                  </a:rPr>
                  <a:t>为滑块上升的最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大高度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不一定等于弧形轨道的高度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相当于完全非弹性碰撞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4_f09de"/>
                  </a:rPr>
                  <a:t>系统减少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的动能转化为滑块的重力势能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）。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11766" name="yt_shape_117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924250"/>
                <a:ext cx="11543998" cy="2729658"/>
              </a:xfrm>
              <a:prstGeom prst="rect">
                <a:avLst/>
              </a:prstGeom>
              <a:blipFill>
                <a:blip r:embed="rId2"/>
                <a:stretch>
                  <a:fillRect l="-1848" t="-3356" r="-1426" b="-7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1768">
                <a:extLst>
                  <a:ext uri="{FF2B5EF4-FFF2-40B4-BE49-F238E27FC236}">
                    <a16:creationId xmlns:a16="http://schemas.microsoft.com/office/drawing/2014/main" id="{A11C92D3-75B4-1AEF-D298-F34A71CF54D6}"/>
                  </a:ext>
                </a:extLst>
              </p:cNvPr>
              <p:cNvSpPr txBox="1"/>
              <p:nvPr/>
            </p:nvSpPr>
            <p:spPr>
              <a:xfrm>
                <a:off x="324071" y="3704708"/>
                <a:ext cx="11924914" cy="169552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当滑块返回最低点时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滑块与斜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曲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面分离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7_43c1c"/>
                  </a:rPr>
                  <a:t>水平方向动量守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恒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系统机械能守恒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3_88268"/>
                  </a:rPr>
                  <a:t>相当于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完成了弹性碰撞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）。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2" name="yt_shape_11768">
                <a:extLst>
                  <a:ext uri="{FF2B5EF4-FFF2-40B4-BE49-F238E27FC236}">
                    <a16:creationId xmlns:a16="http://schemas.microsoft.com/office/drawing/2014/main" id="{A11C92D3-75B4-1AEF-D298-F34A71CF5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704708"/>
                <a:ext cx="11924914" cy="1695529"/>
              </a:xfrm>
              <a:prstGeom prst="rect">
                <a:avLst/>
              </a:prstGeom>
              <a:blipFill>
                <a:blip r:embed="rId3"/>
                <a:stretch>
                  <a:fillRect l="-1789" t="-5396" b="-11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70" name="yt_shape_11770"/>
              <p:cNvSpPr txBox="1"/>
              <p:nvPr/>
            </p:nvSpPr>
            <p:spPr>
              <a:xfrm>
                <a:off x="324071" y="467999"/>
                <a:ext cx="11924914" cy="196797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【例</a:t>
                </a:r>
                <a:r>
                  <a:rPr lang="en-US" altLang="zh-CN" sz="2800" b="1" i="0" u="none" dirty="0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微软雅黑" pitchFamily="28"/>
                    <a:ea typeface="微软雅黑" pitchFamily="28"/>
                  </a:rPr>
                  <a:t>】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质量为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的小车静止于光滑的水平面上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小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车的上表面和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ada12"/>
                  </a:rPr>
                  <a:t>圆弧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的轨道均光滑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一个质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量为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的小球以初速度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0f0f3"/>
                  </a:rPr>
                  <a:t>水平冲向小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车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当小球返回左</a:t>
                </a:r>
                <a:endParaRPr lang="en-US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端脱离小车时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下列说法中正确的是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11770" name="yt_shape_117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1967975"/>
              </a:xfrm>
              <a:prstGeom prst="rect">
                <a:avLst/>
              </a:prstGeom>
              <a:blipFill>
                <a:blip r:embed="rId2"/>
                <a:stretch>
                  <a:fillRect l="-1789" t="-1238" b="-40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772" name="yt_image_11772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5346" y="628137"/>
            <a:ext cx="2788107" cy="164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1774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455754"/>
              </p:ext>
            </p:extLst>
          </p:nvPr>
        </p:nvGraphicFramePr>
        <p:xfrm>
          <a:off x="324071" y="3109599"/>
          <a:ext cx="10298113" cy="2389632"/>
        </p:xfrm>
        <a:graphic>
          <a:graphicData uri="http://schemas.openxmlformats.org/drawingml/2006/table">
            <a:tbl>
              <a:tblPr/>
              <a:tblGrid>
                <a:gridCol w="10298113">
                  <a:extLst>
                    <a:ext uri="{9D8B030D-6E8A-4147-A177-3AD203B41FA5}">
                      <a16:colId xmlns:a16="http://schemas.microsoft.com/office/drawing/2014/main" val="10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整个过程中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和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组成的系统动量守恒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如果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小球脱离小车后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做自由落体运动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如果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小球脱离小车后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沿水平方向向右做平抛运动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如果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小球脱离小车后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沿水平方向向右做平抛运动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35350" y="440377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76" name="yt_shape_11776"/>
              <p:cNvSpPr txBox="1"/>
              <p:nvPr/>
            </p:nvSpPr>
            <p:spPr>
              <a:xfrm>
                <a:off x="324071" y="467999"/>
                <a:ext cx="11924914" cy="407464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整个过程中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组成的系统水平方向动量守恒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61438"/>
                  </a:rPr>
                  <a:t>其他方向动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量不守恒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取小球的初速度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的方向为正方向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c332"/>
                  </a:rPr>
                  <a:t>根据动量守恒定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律得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2d57"/>
                  </a:rPr>
                  <a:t>解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小球脱离小车后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0d81f"/>
                  </a:rPr>
                  <a:t>沿水平方向向右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做平抛运动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如果 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小球脱离小车后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bac2"/>
                  </a:rPr>
                  <a:t>沿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水平方向向左做平抛运动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1776" name="yt_shape_117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074642"/>
              </a:xfrm>
              <a:prstGeom prst="rect">
                <a:avLst/>
              </a:prstGeom>
              <a:blipFill>
                <a:blip r:embed="rId2"/>
                <a:stretch>
                  <a:fillRect l="-1789" t="-599" b="-4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2" name="yt_image_1178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17757" y="1681933"/>
            <a:ext cx="4418136" cy="112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78" name="yt_shape_11778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5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有一质量为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的小球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以速度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6da61"/>
              </a:rPr>
              <a:t>滑上静置于光滑水平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面上带有四分之一光滑圆弧轨道的滑块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滑块的质量为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91988"/>
              </a:rPr>
              <a:t>小球在上升过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程中始终未能冲出圆弧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1779" name="yt_shape_11779"/>
          <p:cNvSpPr txBox="1"/>
          <p:nvPr/>
        </p:nvSpPr>
        <p:spPr>
          <a:xfrm>
            <a:off x="324000" y="2257468"/>
            <a:ext cx="664284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小球在圆弧轨道最高点的速度大小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1780"/>
              <p:cNvSpPr txBox="1"/>
              <p:nvPr/>
            </p:nvSpPr>
            <p:spPr>
              <a:xfrm>
                <a:off x="355986" y="2702490"/>
                <a:ext cx="2612382" cy="74648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答案：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2" name="yt_shape_117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6" y="2702490"/>
                <a:ext cx="2612382" cy="746486"/>
              </a:xfrm>
              <a:prstGeom prst="rect">
                <a:avLst/>
              </a:prstGeom>
              <a:blipFill>
                <a:blip r:embed="rId3"/>
                <a:stretch>
                  <a:fillRect l="-8159" b="-15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yt_shape_11794"/>
          <p:cNvSpPr txBox="1"/>
          <p:nvPr/>
        </p:nvSpPr>
        <p:spPr>
          <a:xfrm>
            <a:off x="368686" y="3466926"/>
            <a:ext cx="11467207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在小球运动过程中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7_d6285"/>
              </a:rPr>
              <a:t>小球和滑块组成的系统在水平方向上动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量守恒小球在圆弧轨道上升到最高点时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小球与滑块速度相同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规定初速度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acd9"/>
              </a:rPr>
              <a:t>的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方向为正方向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yt_shape_11795"/>
              <p:cNvSpPr txBox="1"/>
              <p:nvPr/>
            </p:nvSpPr>
            <p:spPr>
              <a:xfrm>
                <a:off x="400200" y="5786928"/>
                <a:ext cx="1873398" cy="74648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9" name="yt_shape_117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00" y="5786928"/>
                <a:ext cx="1873398" cy="746486"/>
              </a:xfrm>
              <a:prstGeom prst="rect">
                <a:avLst/>
              </a:prstGeom>
              <a:blipFill>
                <a:blip r:embed="rId4"/>
                <a:stretch>
                  <a:fillRect l="-11726" r="-10098" b="-15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1784"/>
          <p:cNvSpPr txBox="1"/>
          <p:nvPr/>
        </p:nvSpPr>
        <p:spPr>
          <a:xfrm>
            <a:off x="336700" y="468379"/>
            <a:ext cx="700191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小球在圆弧轨道上能上升的最大高度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1785"/>
              <p:cNvSpPr txBox="1"/>
              <p:nvPr/>
            </p:nvSpPr>
            <p:spPr>
              <a:xfrm>
                <a:off x="451000" y="1000576"/>
                <a:ext cx="2903744" cy="93730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答案：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</a:p>
            </p:txBody>
          </p:sp>
        </mc:Choice>
        <mc:Fallback xmlns:p14="http://schemas.microsoft.com/office/powerpoint/2010/main" xmlns="">
          <p:sp>
            <p:nvSpPr>
              <p:cNvPr id="3" name="yt_shape_117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00" y="1000576"/>
                <a:ext cx="2903744" cy="937308"/>
              </a:xfrm>
              <a:prstGeom prst="rect">
                <a:avLst/>
              </a:prstGeom>
              <a:blipFill>
                <a:blip r:embed="rId2"/>
                <a:stretch>
                  <a:fillRect l="-7563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1797"/>
              <p:cNvSpPr txBox="1"/>
              <p:nvPr/>
            </p:nvSpPr>
            <p:spPr>
              <a:xfrm>
                <a:off x="476400" y="2080899"/>
                <a:ext cx="4488408" cy="139416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根据机械能守恒定律得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mgh</a:t>
                </a:r>
                <a:endParaRPr lang="en-US" altLang="zh-CN" sz="2800" b="0" i="1" u="none" dirty="0">
                  <a:solidFill>
                    <a:srgbClr val="C0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4="http://schemas.microsoft.com/office/powerpoint/2010/main" xmlns="">
          <p:sp>
            <p:nvSpPr>
              <p:cNvPr id="4" name="yt_shape_117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00" y="2080899"/>
                <a:ext cx="4488408" cy="1394164"/>
              </a:xfrm>
              <a:prstGeom prst="rect">
                <a:avLst/>
              </a:prstGeom>
              <a:blipFill>
                <a:blip r:embed="rId3"/>
                <a:stretch>
                  <a:fillRect l="-4755" t="-1747" r="-7337" b="-7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1799"/>
              <p:cNvSpPr txBox="1"/>
              <p:nvPr/>
            </p:nvSpPr>
            <p:spPr>
              <a:xfrm>
                <a:off x="476400" y="3525851"/>
                <a:ext cx="2185598" cy="93730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="">
          <p:sp>
            <p:nvSpPr>
              <p:cNvPr id="5" name="yt_shape_117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00" y="3525851"/>
                <a:ext cx="2185598" cy="937308"/>
              </a:xfrm>
              <a:prstGeom prst="rect">
                <a:avLst/>
              </a:prstGeom>
              <a:blipFill>
                <a:blip r:embed="rId4"/>
                <a:stretch>
                  <a:fillRect l="-9749" r="-8635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55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2" name="yt_image_11792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2353" y="548432"/>
            <a:ext cx="534594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89" name="yt_shape_11789"/>
          <p:cNvSpPr txBox="1"/>
          <p:nvPr/>
        </p:nvSpPr>
        <p:spPr>
          <a:xfrm>
            <a:off x="324000" y="467999"/>
            <a:ext cx="772006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小球离开圆弧轨道时圆弧轨道的速度大小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1790"/>
              <p:cNvSpPr txBox="1"/>
              <p:nvPr/>
            </p:nvSpPr>
            <p:spPr>
              <a:xfrm>
                <a:off x="324000" y="1203348"/>
                <a:ext cx="2253309" cy="74648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答案：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FF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4" name="yt_shape_117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203348"/>
                <a:ext cx="2253309" cy="746486"/>
              </a:xfrm>
              <a:prstGeom prst="rect">
                <a:avLst/>
              </a:prstGeom>
              <a:blipFill>
                <a:blip r:embed="rId3"/>
                <a:stretch>
                  <a:fillRect l="-9459" b="-15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yt_shape_11801"/>
              <p:cNvSpPr txBox="1"/>
              <p:nvPr/>
            </p:nvSpPr>
            <p:spPr>
              <a:xfrm>
                <a:off x="324000" y="2203786"/>
                <a:ext cx="10592643" cy="220143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小球离开圆弧轨道时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根据动量守恒定律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 dirty="0">
                  <a:solidFill>
                    <a:srgbClr val="C00000"/>
                  </a:solidFill>
                  <a:effectLst/>
                  <a:latin typeface="Times New Roman" pitchFamily="28"/>
                  <a:ea typeface="宋体" pitchFamily="28"/>
                </a:endParaRP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联立以上两式可得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:p14="http://schemas.microsoft.com/office/powerpoint/2010/main" xmlns:p15="http://schemas.microsoft.com/office/powerpoint/2012/main" xmlns="">
          <p:sp>
            <p:nvSpPr>
              <p:cNvPr id="8" name="yt_shape_118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203786"/>
                <a:ext cx="10592643" cy="2201436"/>
              </a:xfrm>
              <a:prstGeom prst="rect">
                <a:avLst/>
              </a:prstGeom>
              <a:blipFill>
                <a:blip r:embed="rId4"/>
                <a:stretch>
                  <a:fillRect l="-2014" t="-1108" r="-1841" b="-4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8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3" name="yt_shape_11803"/>
          <p:cNvSpPr txBox="1"/>
          <p:nvPr/>
        </p:nvSpPr>
        <p:spPr>
          <a:xfrm>
            <a:off x="311371" y="866023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【拓展】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改变小球的速度或其他条件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若小球能冲出圆弧轨道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fee00"/>
              </a:rPr>
              <a:t>小球冲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出圆弧轨道后做什么运动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小球还能落回圆弧轨道吗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1804" name="yt_shape_11804"/>
          <p:cNvSpPr txBox="1"/>
          <p:nvPr/>
        </p:nvSpPr>
        <p:spPr>
          <a:xfrm>
            <a:off x="311371" y="203307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提示：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9_86a5c"/>
              </a:rPr>
              <a:t>小球冲出圆弧轨道后做斜上抛运动。因为小球和圆弧轨道组成的系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统水平方向动量守恒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故小球还能落回圆弧轨道。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04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03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210856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2" name="yt_shape_10652"/>
          <p:cNvSpPr txBox="1"/>
          <p:nvPr/>
        </p:nvSpPr>
        <p:spPr>
          <a:xfrm>
            <a:off x="389385" y="1186456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光滑水平地面上的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71a99"/>
              </a:rPr>
              <a:t>两物体质量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都为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向右运动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静止且左端有一轻弹簧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撞上弹簧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f4f7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弹簧被压缩至最短时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54" name="yt_table_1065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833245" y="2956754"/>
          <a:ext cx="5191125" cy="2389632"/>
        </p:xfrm>
        <a:graphic>
          <a:graphicData uri="http://schemas.openxmlformats.org/drawingml/2006/table">
            <a:tbl>
              <a:tblPr/>
              <a:tblGrid>
                <a:gridCol w="5191125">
                  <a:extLst>
                    <a:ext uri="{9D8B030D-6E8A-4147-A177-3AD203B41FA5}">
                      <a16:colId xmlns:a16="http://schemas.microsoft.com/office/drawing/2014/main" val="10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的动量变为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的速度不相等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的动量达到最大值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P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系统总动量仍然为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6"/>
                  </a:ext>
                </a:extLst>
              </a:tr>
            </a:tbl>
          </a:graphicData>
        </a:graphic>
      </p:graphicFrame>
      <p:pic>
        <p:nvPicPr>
          <p:cNvPr id="10653" name="yt_image_10653_skip" title="H_54.8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79762" y="2956754"/>
            <a:ext cx="3151759" cy="69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19939" y="500475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0628" title="H_47.8749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595710" y="566283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e6dd14f2-edd1-430e-adb1-7533065b49ec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5dd94e8-c40f-460c-843b-3737366e5e6d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e3885ef-07a9-43f3-8dc3-28500a20c109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39e2fe0-0815-4c42-80b2-8f4e36d8bf6b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a9e4cd3-66b6-453e-856b-d32a5d975463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64b81e1-2a8b-472c-8002-0237d579a0e9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0548899-a83d-4402-8dd2-358849a4b765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076550f-c53b-418c-9813-ed56470b9f05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c556e52-c518-4661-9b14-bdc1f6d6b1b5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0fe4973-9cdd-46bd-8da0-0db3b2216d4c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00f97405-5e31-4a1a-8182-8838c9562c88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678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56" name="yt_shape_10656"/>
              <p:cNvSpPr txBox="1"/>
              <p:nvPr/>
            </p:nvSpPr>
            <p:spPr>
              <a:xfrm>
                <a:off x="324071" y="467999"/>
                <a:ext cx="11924914" cy="441037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组成的系统所受的合外力为零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d02c3"/>
                  </a:rPr>
                  <a:t>初始时总动量为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。弹簧被压缩到最短时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系统总动量仍为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9c450"/>
                  </a:rPr>
                  <a:t>在压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缩弹簧的过程中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做加速运动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做减速运动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两者速度相等时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e944a"/>
                  </a:rPr>
                  <a:t>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簧压缩量最大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然后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继续加速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继续减速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所以弹簧压缩最短时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76632"/>
                  </a:rPr>
                  <a:t>Q</a:t>
                </a:r>
                <a:b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的动量未达到最大值。弹簧被压缩到最短时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的速度相等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aefaf"/>
                  </a:rPr>
                  <a:t>根据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可知此时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的动量为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656" name="yt_shape_106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410375"/>
              </a:xfrm>
              <a:prstGeom prst="rect">
                <a:avLst/>
              </a:prstGeom>
              <a:blipFill>
                <a:blip r:embed="rId2"/>
                <a:stretch>
                  <a:fillRect t="-553" r="-1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9" name="d2b45398-b59d-466c-b1bb-78252504671b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29d0490-ccac-478a-8558-4db9ea367440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f33d007-759a-488d-a6ef-7617561448cf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b12b86c-9a8f-4dd7-986d-102e98122cbf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e3c9128-5b6f-4380-b48a-c12cbd532823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01f57c2-0a43-408c-a478-473a694c17bb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f6882f3-35b9-4334-af83-16a5ba4d1bf6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eaa2fb3-397f-4f12-8942-d730e167fab5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a54f945-09dc-4873-a16e-ae5479f39589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12c0c9f-731b-4763-8836-a83202eeadaf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00f2ba7-1225-4842-b44c-a5fc90795dd6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09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8" name="yt_shape_10658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江苏南京月考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如图所示为冰壶俯视图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35ee7"/>
              </a:rPr>
              <a:t>在光滑的水平地面上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有三个相同可视为质点的冰壶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并且处在同一条直线上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b0a7d"/>
              </a:rPr>
              <a:t>以初速度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发生正碰并粘在一起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左边有弹簧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但未与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相连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461f"/>
              </a:rPr>
              <a:t>全过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程中弹簧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不计质量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未超过弹性限度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则冰壶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2f56b"/>
              </a:rPr>
              <a:t>速度最大值为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60" name="yt_table_10660_skip" title="H_47.0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67931" y="5187851"/>
          <a:ext cx="10356216" cy="597408"/>
        </p:xfrm>
        <a:graphic>
          <a:graphicData uri="http://schemas.openxmlformats.org/drawingml/2006/table">
            <a:tbl>
              <a:tblPr/>
              <a:tblGrid>
                <a:gridCol w="2832418">
                  <a:extLst>
                    <a:ext uri="{9D8B030D-6E8A-4147-A177-3AD203B41FA5}">
                      <a16:colId xmlns:a16="http://schemas.microsoft.com/office/drawing/2014/main" val="10095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10096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10097"/>
                    </a:ext>
                  </a:extLst>
                </a:gridCol>
                <a:gridCol w="1900238">
                  <a:extLst>
                    <a:ext uri="{9D8B030D-6E8A-4147-A177-3AD203B41FA5}">
                      <a16:colId xmlns:a16="http://schemas.microsoft.com/office/drawing/2014/main" val="10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7"/>
                  </a:ext>
                </a:extLst>
              </a:tr>
            </a:tbl>
          </a:graphicData>
        </a:graphic>
      </p:graphicFrame>
      <p:pic>
        <p:nvPicPr>
          <p:cNvPr id="10659" name="yt_image_10659_skip" title="H_137.2799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1915" y="3444781"/>
            <a:ext cx="4206748" cy="174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41561" y="548655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4afb8c0-5ac5-4d05-9465-ef027b3cb9de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a437d17-dff8-4b90-9606-115424c17632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d0e210b-b843-49dc-b971-6194a1262149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5149416-9389-4e67-a830-fbfc202e52de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008b0d5-5733-49a8-a667-db60e713422c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fd2d8e8-e1c3-46e1-9591-bdc1e2a0a745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d700454-36d1-4bfd-8a60-82c0952bfdc2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64833cf-cda1-4ea5-91a8-9efab4421577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486cf74-a615-4c48-b4b7-66ab7498623e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e30a966-9084-4afe-8f06-660427aa1805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0d68420-c4c2-4369-8c7a-ba5f0c4bf87c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527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62" name="yt_shape_10662"/>
              <p:cNvSpPr txBox="1"/>
              <p:nvPr/>
            </p:nvSpPr>
            <p:spPr>
              <a:xfrm>
                <a:off x="324071" y="467999"/>
                <a:ext cx="11924914" cy="37968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设冰壶的质量为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碰撞过程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根据动量守恒可得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bcae"/>
                  </a:rPr>
                  <a:t>解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压缩弹簧到弹簧再次恢复原长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此时冰壶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72875"/>
                  </a:rPr>
                  <a:t>的速度到达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根据系统动量守恒定律和机械能守恒定律可得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05cc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𝐶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联立解得冰壶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速度最大值为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594d1"/>
                  </a:rPr>
                  <a:t>C</a:t>
                </a:r>
                <a:b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662" name="yt_shape_106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796873"/>
              </a:xfrm>
              <a:prstGeom prst="rect">
                <a:avLst/>
              </a:prstGeom>
              <a:blipFill>
                <a:blip r:embed="rId2"/>
                <a:stretch>
                  <a:fillRect t="-642" r="-1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d496bbef-74c1-44f1-a6c8-005fc9f73517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92928fd-4e96-4938-8a34-7db4f38accc5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4e9c8ef-4f7b-41a7-b010-2589e5c824a1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2654121-d037-4842-a4f4-9c4a8d117d58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2ccb1cc-0b4b-4259-8d9e-7c9b4e58dcf2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551b18a8-6cf0-4daa-9713-b1e3de58d78f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c09264d-26c3-45db-a385-5f76ed60d20e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c701b24-a16d-40b2-814e-b38da2eea505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24c9498-b09f-439f-8376-b324cab13e13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bfe0e47-4e5f-4b74-bc71-01f4c393392a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12086cc-df52-4a8c-b9ef-722d02b7dc7f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920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4" name="yt_shape_10664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福建福州期中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质量相同的木块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843d8"/>
              </a:rPr>
              <a:t>之间用轻质弹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簧相连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置于光滑水平面上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靠在固定的挡板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今用水平力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5df8e"/>
              </a:rPr>
              <a:t>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使弹簧被压缩到一定程度后保持静止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突然撤去压力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aaaf0"/>
              </a:rPr>
              <a:t>弹簧第一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次恢复原长时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那么当弹簧第二次恢复原长时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01fbc"/>
              </a:rPr>
              <a:t>的速度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66" name="yt_table_10666_skip" title="H_69.59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7931" y="4727325"/>
              <a:ext cx="8204455" cy="883793"/>
            </p:xfrm>
            <a:graphic>
              <a:graphicData uri="http://schemas.openxmlformats.org/drawingml/2006/table">
                <a:tbl>
                  <a:tblPr/>
                  <a:tblGrid>
                    <a:gridCol w="2230755">
                      <a:extLst>
                        <a:ext uri="{9D8B030D-6E8A-4147-A177-3AD203B41FA5}">
                          <a16:colId xmlns:a16="http://schemas.microsoft.com/office/drawing/2014/main" val="10099"/>
                        </a:ext>
                      </a:extLst>
                    </a:gridCol>
                    <a:gridCol w="2184972">
                      <a:extLst>
                        <a:ext uri="{9D8B030D-6E8A-4147-A177-3AD203B41FA5}">
                          <a16:colId xmlns:a16="http://schemas.microsoft.com/office/drawing/2014/main" val="10100"/>
                        </a:ext>
                      </a:extLst>
                    </a:gridCol>
                    <a:gridCol w="2189480">
                      <a:extLst>
                        <a:ext uri="{9D8B030D-6E8A-4147-A177-3AD203B41FA5}">
                          <a16:colId xmlns:a16="http://schemas.microsoft.com/office/drawing/2014/main" val="10101"/>
                        </a:ext>
                      </a:extLst>
                    </a:gridCol>
                    <a:gridCol w="1599248">
                      <a:extLst>
                        <a:ext uri="{9D8B030D-6E8A-4147-A177-3AD203B41FA5}">
                          <a16:colId xmlns:a16="http://schemas.microsoft.com/office/drawing/2014/main" val="101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28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4="http://schemas.microsoft.com/office/powerpoint/2010/main" xmlns:p15="http://schemas.microsoft.com/office/powerpoint/2012/main" xmlns="">
          <p:graphicFrame>
            <p:nvGraphicFramePr>
              <p:cNvPr id="10666" name="yt_table_10666_skip" descr="{&quot;rangeId&quot;:15,&quot;type&quot;:&quot;Option&quot;,&quot;drawing&quot;:[&quot;yt_image_10665&quot;]}" title="H_69.59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5035556"/>
                  </p:ext>
                </p:extLst>
              </p:nvPr>
            </p:nvGraphicFramePr>
            <p:xfrm>
              <a:off x="767931" y="4727325"/>
              <a:ext cx="8204455" cy="883793"/>
            </p:xfrm>
            <a:graphic>
              <a:graphicData uri="http://schemas.openxmlformats.org/drawingml/2006/table">
                <a:tbl>
                  <a:tblPr/>
                  <a:tblGrid>
                    <a:gridCol w="2230755">
                      <a:extLst>
                        <a:ext uri="{9D8B030D-6E8A-4147-A177-3AD203B41FA5}">
                          <a16:colId xmlns:a16="http://schemas.microsoft.com/office/drawing/2014/main" val="10099"/>
                        </a:ext>
                      </a:extLst>
                    </a:gridCol>
                    <a:gridCol w="2184972">
                      <a:extLst>
                        <a:ext uri="{9D8B030D-6E8A-4147-A177-3AD203B41FA5}">
                          <a16:colId xmlns:a16="http://schemas.microsoft.com/office/drawing/2014/main" val="10100"/>
                        </a:ext>
                      </a:extLst>
                    </a:gridCol>
                    <a:gridCol w="2189480">
                      <a:extLst>
                        <a:ext uri="{9D8B030D-6E8A-4147-A177-3AD203B41FA5}">
                          <a16:colId xmlns:a16="http://schemas.microsoft.com/office/drawing/2014/main" val="10101"/>
                        </a:ext>
                      </a:extLst>
                    </a:gridCol>
                    <a:gridCol w="1599248">
                      <a:extLst>
                        <a:ext uri="{9D8B030D-6E8A-4147-A177-3AD203B41FA5}">
                          <a16:colId xmlns:a16="http://schemas.microsoft.com/office/drawing/2014/main" val="10102"/>
                        </a:ext>
                      </a:extLst>
                    </a:gridCol>
                  </a:tblGrid>
                  <a:tr h="883793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01950" r="-173259" b="-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412167" b="-13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665" name="yt_image_10665_skip" title="H_101.01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6210" y="3444781"/>
            <a:ext cx="3718051" cy="128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80750" y="504032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c0213b1-44ba-4f74-aa2b-2125d14e0e02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2c4455b-5ddb-427a-8f48-827b8423eda7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265bd50-a5bb-435e-a511-a4f1a0270805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397d2fa-ae0f-4402-a59d-42a3d545a0ac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ee530cc-b858-4cc8-a987-b601e05e072e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5a6e95a-a9df-48d9-bafe-a79d076def75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2ddf170-0389-4374-a784-620592bc6726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49a3c84-4c9b-454b-82e1-cef544d12a66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7373f4b-0905-41b2-891a-312538408586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8f7ab70-27ec-4e0b-939b-d56a2b6857e7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48ed0be-e614-4e37-bd62-d78d9038634f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114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67" name="yt_shape_10667"/>
              <p:cNvSpPr txBox="1"/>
              <p:nvPr/>
            </p:nvSpPr>
            <p:spPr>
              <a:xfrm>
                <a:off x="324071" y="467999"/>
                <a:ext cx="11924914" cy="426296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spc="150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spc="150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当从弹簧第一次恢复原长时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的速度为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方向向右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之后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9fba8"/>
                  </a:rPr>
                  <a:t>离开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挡板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设当弹簧第二次恢复原长时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的速度分别为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a5ca"/>
                  </a:rPr>
                  <a:t>；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根据系统动量守恒定律和机械能守恒定律可得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471e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r>
                          <a:rPr lang="zh-CN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spc="15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spc="150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5ebc"/>
                  </a:rPr>
                  <a:t>＝</a:t>
                </a:r>
                <a:b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r>
                          <a:rPr lang="zh-CN" altLang="zh-CN" sz="2800" b="0" i="0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667" name="yt_shape_106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262962"/>
              </a:xfrm>
              <a:prstGeom prst="rect">
                <a:avLst/>
              </a:prstGeom>
              <a:blipFill>
                <a:blip r:embed="rId2"/>
                <a:stretch>
                  <a:fillRect t="-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5ff13a06-2318-4a85-bb51-9a33f4dbd11e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e62c96a-fac1-4564-a3ce-3aaea99c702c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ebf7097-4e86-42ac-9441-a3b00d8c4496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1a3592b-2537-4ded-a693-1626b49b1f47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3d0cf25-9970-499a-8a03-1805a424c1f7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ee2d9ec-1b83-40f4-b962-013ca59063c9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862e4ae-256d-4458-8dc8-7c4ba4656b55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8087859-2202-411d-b21d-048ec89d44fc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9a60f56-7b96-4232-897b-847634ed2125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9421fb5-0bd8-4287-bdc1-1be5ba61deeb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fa36a36-0474-483b-8e8e-453ab160c7c9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2335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9" name="yt_shape_10669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江苏泰州期中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光滑水平地面上停放着一辆小车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8ecce"/>
              </a:rPr>
              <a:t>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小车的四分之一圆弧轨道在最低点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与水平轨道相切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5ecd3"/>
              </a:rPr>
              <a:t>圆弧轨道表面光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水平轨道表面粗糙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在小车的右端固定一个轻弹簧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600e0"/>
              </a:rPr>
              <a:t>弹簧的原长小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于水平轨道的长度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一个质量为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的小球从圆弧轨道与圆心等高的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c342a"/>
              </a:rPr>
              <a:t>点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开始自由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初速度为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滑下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点到达水平轨道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2ae36"/>
              </a:rPr>
              <a:t>压缩弹簧后被弹回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并恰好相对于小车静止在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71" name="yt_table_1067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687264" y="3898293"/>
          <a:ext cx="9278938" cy="2389632"/>
        </p:xfrm>
        <a:graphic>
          <a:graphicData uri="http://schemas.openxmlformats.org/drawingml/2006/table">
            <a:tbl>
              <a:tblPr/>
              <a:tblGrid>
                <a:gridCol w="9278938">
                  <a:extLst>
                    <a:ext uri="{9D8B030D-6E8A-4147-A177-3AD203B41FA5}">
                      <a16:colId xmlns:a16="http://schemas.microsoft.com/office/drawing/2014/main" val="10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小车及弹簧组成的系统动量守恒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小球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小车及弹簧组成的系统机械能守恒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弹簧具有的最大弹性势能时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小车和球的速度都为零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最终小车和小球以相同的速度一起向右运动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2"/>
                  </a:ext>
                </a:extLst>
              </a:tr>
            </a:tbl>
          </a:graphicData>
        </a:graphic>
      </p:graphicFrame>
      <p:pic>
        <p:nvPicPr>
          <p:cNvPr id="10670" name="yt_image_10670_skip" title="H_184.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8539" y="4016406"/>
            <a:ext cx="2930174" cy="169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554624" y="52362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909fc8bd-76bf-4028-a245-05ca0342091e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0c3e2d1-280f-47d1-bde0-be8a6f90edfd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5971138-ac83-4c61-878c-15c536274838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a91f03a5-7fd2-4429-af9d-aaeda6b29514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aa0ae73-d90b-4155-a70f-c7088a46762d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53327bf-7e48-43c5-994e-f7837d184744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80a1b0b-d4c9-4309-99cc-a8a489ee9f23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f129109-201e-4aa2-a379-e1e744630b6a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1015f06-15a3-4158-84ee-000fd528bae7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abe1624-5026-4e55-8a42-8d14e8461a6c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fd6fa71-89e1-4eee-accd-ffc177c1b092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3230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3" name="yt_shape_10673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小球、小车及弹簧组成的系统由于克服阻力做功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机械能不守恒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06237"/>
              </a:rPr>
              <a:t>水平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方向外力为零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水平方向动量守恒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但竖直方向合力不为零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49246"/>
              </a:rPr>
              <a:t>系统动量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不守恒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系统初始动量为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根据动量守恒定律可知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0c821"/>
              </a:rPr>
              <a:t>弹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簧具有的最大弹性势能时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小车和球的速度都为零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最终小球静止在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69828"/>
              </a:rPr>
              <a:t>B</a:t>
            </a:r>
            <a:b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点时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小车与小球的速度也都为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6891837-99f7-4c30-9abc-137d1ce2177e" descr="{&quot;SlideID&quot;:&quot;318&quot;,&quot;SlideNumber&quot;:&quot;22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5ad201f4-19da-4600-9764-3cc541c4a002" descr="{&quot;SlideID&quot;:&quot;320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c0f470b-c939-4e74-8640-7da60926908a" descr="{&quot;SlideID&quot;:&quot;322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92468e3-66c9-4c98-9d83-014f5eb95758" descr="{&quot;SlideID&quot;:&quot;324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9feed62-8c93-4433-8968-29fd8a7639c7" descr="{&quot;SlideID&quot;:&quot;326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54602d55-f27a-44b8-a850-431fa7b287f8" descr="{&quot;SlideID&quot;:&quot;328&quot;,&quot;SlideNumber&quot;:&quot;32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d08ec61-54a9-4d14-836c-0c7a67bf04c1" descr="{&quot;SlideID&quot;:&quot;330&quot;,&quot;SlideNumber&quot;:&quot;3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cb42931-cfc3-4cb5-942c-f013c9a1e21e" descr="{&quot;SlideID&quot;:&quot;332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482170f-f3b6-418c-9708-9981b709332f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e64af5c-57b5-46dc-b55d-274d80e591ad" descr="{&quot;SlideID&quot;:&quot;336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fc7a281-fd68-4a20-ace3-6eda01ff43df" descr="{&quot;SlideID&quot;:&quot;339&quot;,&quot;SlideNumber&quot;:&quot;4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3801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4" name="yt_shape_10674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的小车静止在光滑水平面上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edc3f"/>
              </a:rPr>
              <a:t>车上是一个四分之一的光滑圆弧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轨道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轨道下端切线水平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55239"/>
              </a:rPr>
              <a:t>的小球沿水平方向从轨道下端以初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滑上小车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311f3"/>
              </a:rPr>
              <a:t>已知小球不从小车上端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离开小车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小球滑上小车又滑下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与小车分离时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1267c"/>
              </a:rPr>
              <a:t>小球与小车速度方向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速度大小之比等于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∶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∶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的值为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76" name="yt_table_10676_skip" title="H_47.0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67931" y="5586670"/>
          <a:ext cx="10083166" cy="597408"/>
        </p:xfrm>
        <a:graphic>
          <a:graphicData uri="http://schemas.openxmlformats.org/drawingml/2006/table">
            <a:tbl>
              <a:tblPr/>
              <a:tblGrid>
                <a:gridCol w="2764155">
                  <a:extLst>
                    <a:ext uri="{9D8B030D-6E8A-4147-A177-3AD203B41FA5}">
                      <a16:colId xmlns:a16="http://schemas.microsoft.com/office/drawing/2014/main" val="10104"/>
                    </a:ext>
                  </a:extLst>
                </a:gridCol>
                <a:gridCol w="2743518">
                  <a:extLst>
                    <a:ext uri="{9D8B030D-6E8A-4147-A177-3AD203B41FA5}">
                      <a16:colId xmlns:a16="http://schemas.microsoft.com/office/drawing/2014/main" val="10105"/>
                    </a:ext>
                  </a:extLst>
                </a:gridCol>
                <a:gridCol w="2743518">
                  <a:extLst>
                    <a:ext uri="{9D8B030D-6E8A-4147-A177-3AD203B41FA5}">
                      <a16:colId xmlns:a16="http://schemas.microsoft.com/office/drawing/2014/main" val="10106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10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3"/>
                  </a:ext>
                </a:extLst>
              </a:tr>
            </a:tbl>
          </a:graphicData>
        </a:graphic>
      </p:graphicFrame>
      <p:pic>
        <p:nvPicPr>
          <p:cNvPr id="10675" name="yt_image_10675_skip" title="H_167.18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96737" y="3463952"/>
            <a:ext cx="2796794" cy="212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095134" y="579166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dce30f97-8687-4cb3-a8a9-2b48d17963cc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7824855-8006-4bef-9fd0-41af4ae8dff9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1d79a5d-4eb8-4ed1-b4c1-b6ca5449dd49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9700667-280f-4872-91d2-7aee816db5b1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2ea67959-45e8-4fb5-b151-edf10a02d5b2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3f3e6ac-e33c-4ab4-b66f-dbddde64f77b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2455220-cfcd-4e75-ba07-df9b9ebaf4d7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3a77e81f-0b1a-48a4-821c-134d2d9fe980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bcdb1d0-4739-4d4f-9c95-b632a1c517f2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aae28ec-dab6-41f1-b1f0-fa3fb3d74841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85ccb75-48cc-4f88-aba6-be2c96c6b970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6544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78" name="yt_shape_10678"/>
              <p:cNvSpPr txBox="1"/>
              <p:nvPr/>
            </p:nvSpPr>
            <p:spPr>
              <a:xfrm>
                <a:off x="324071" y="467999"/>
                <a:ext cx="11924914" cy="2880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设小球的初速度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方向为正方向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由动量守恒定律可知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8fba"/>
                  </a:rPr>
                  <a:t>－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对整体由机械能守恒定律可得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2cc7"/>
                  </a:rPr>
                  <a:t>联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立解得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678" name="yt_shape_106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880725"/>
              </a:xfrm>
              <a:prstGeom prst="rect">
                <a:avLst/>
              </a:prstGeom>
              <a:blipFill>
                <a:blip r:embed="rId2"/>
                <a:stretch>
                  <a:fillRect t="-847" r="-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451646a4-5c2c-4d6d-b0f3-2c1c400a340f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2a5f937-9e2d-4bb6-988a-67a6c6796354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110a6f8-e25e-4b7d-af7f-0aec0a0e09fd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53d2f88-021c-412e-8e8a-58e59b38f5fe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becbd39-eaff-4be9-bcb9-7574d1b52927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32a8cc5-eff9-4b0e-a825-9930035f7992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3fc881c-eab4-4e0e-b458-7fac69b0469f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96dade9-ad18-4bbd-8edb-8fc9da962729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d2c5f17-83d9-4d81-ad6c-905e32ec46cf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ec13b37-78e8-46db-97de-26df430e5754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27cb9b1-7abb-44fa-b718-33d1db748d47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4013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" name="yt_shape_10680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在足够长的光滑水平面上有一静止的质量为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的斜面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2a5c"/>
              </a:rPr>
              <a:t>斜面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表面光滑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高度为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倾角为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2fdff"/>
              </a:rPr>
              <a:t>的小物块以一定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的初速度沿水平面向右运动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不计冲上斜面过程中的机械能损失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7efaf"/>
              </a:rPr>
              <a:t>如果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斜面固定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则小物块恰能冲到斜面的顶端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如果斜面不固定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4bee1"/>
              </a:rPr>
              <a:t>则小物块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冲上斜面后能达到的最大高度为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82" name="yt_table_10682_skip" title="H_64.67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7931" y="5250576"/>
              <a:ext cx="9494457" cy="821373"/>
            </p:xfrm>
            <a:graphic>
              <a:graphicData uri="http://schemas.openxmlformats.org/drawingml/2006/table">
                <a:tbl>
                  <a:tblPr/>
                  <a:tblGrid>
                    <a:gridCol w="2230755">
                      <a:extLst>
                        <a:ext uri="{9D8B030D-6E8A-4147-A177-3AD203B41FA5}">
                          <a16:colId xmlns:a16="http://schemas.microsoft.com/office/drawing/2014/main" val="10108"/>
                        </a:ext>
                      </a:extLst>
                    </a:gridCol>
                    <a:gridCol w="2865755">
                      <a:extLst>
                        <a:ext uri="{9D8B030D-6E8A-4147-A177-3AD203B41FA5}">
                          <a16:colId xmlns:a16="http://schemas.microsoft.com/office/drawing/2014/main" val="10109"/>
                        </a:ext>
                      </a:extLst>
                    </a:gridCol>
                    <a:gridCol w="2443734">
                      <a:extLst>
                        <a:ext uri="{9D8B030D-6E8A-4147-A177-3AD203B41FA5}">
                          <a16:colId xmlns:a16="http://schemas.microsoft.com/office/drawing/2014/main" val="10110"/>
                        </a:ext>
                      </a:extLst>
                    </a:gridCol>
                    <a:gridCol w="1954213">
                      <a:extLst>
                        <a:ext uri="{9D8B030D-6E8A-4147-A177-3AD203B41FA5}">
                          <a16:colId xmlns:a16="http://schemas.microsoft.com/office/drawing/2014/main" val="101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𝑚h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𝑚h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𝑀h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𝑚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𝑀</m:t>
                                  </m:r>
                                </m:den>
                              </m:f>
                            </m:oMath>
                          </a14:m>
                          <a:endParaRPr lang="en-US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34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4="http://schemas.microsoft.com/office/powerpoint/2010/main" xmlns:p15="http://schemas.microsoft.com/office/powerpoint/2012/main" xmlns="">
          <p:graphicFrame>
            <p:nvGraphicFramePr>
              <p:cNvPr id="10682" name="yt_table_10682_skip" descr="{&quot;rangeId&quot;:25,&quot;type&quot;:&quot;Option&quot;,&quot;drawing&quot;:[&quot;yt_image_10681&quot;]}" title="H_64.67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939111"/>
                  </p:ext>
                </p:extLst>
              </p:nvPr>
            </p:nvGraphicFramePr>
            <p:xfrm>
              <a:off x="767931" y="5250576"/>
              <a:ext cx="9494457" cy="821373"/>
            </p:xfrm>
            <a:graphic>
              <a:graphicData uri="http://schemas.openxmlformats.org/drawingml/2006/table">
                <a:tbl>
                  <a:tblPr/>
                  <a:tblGrid>
                    <a:gridCol w="2230755">
                      <a:extLst>
                        <a:ext uri="{9D8B030D-6E8A-4147-A177-3AD203B41FA5}">
                          <a16:colId xmlns:a16="http://schemas.microsoft.com/office/drawing/2014/main" val="10108"/>
                        </a:ext>
                      </a:extLst>
                    </a:gridCol>
                    <a:gridCol w="2865755">
                      <a:extLst>
                        <a:ext uri="{9D8B030D-6E8A-4147-A177-3AD203B41FA5}">
                          <a16:colId xmlns:a16="http://schemas.microsoft.com/office/drawing/2014/main" val="10109"/>
                        </a:ext>
                      </a:extLst>
                    </a:gridCol>
                    <a:gridCol w="2443734">
                      <a:extLst>
                        <a:ext uri="{9D8B030D-6E8A-4147-A177-3AD203B41FA5}">
                          <a16:colId xmlns:a16="http://schemas.microsoft.com/office/drawing/2014/main" val="10110"/>
                        </a:ext>
                      </a:extLst>
                    </a:gridCol>
                    <a:gridCol w="1954213">
                      <a:extLst>
                        <a:ext uri="{9D8B030D-6E8A-4147-A177-3AD203B41FA5}">
                          <a16:colId xmlns:a16="http://schemas.microsoft.com/office/drawing/2014/main" val="10111"/>
                        </a:ext>
                      </a:extLst>
                    </a:gridCol>
                  </a:tblGrid>
                  <a:tr h="821373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77707" r="-153291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208728" r="-80050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385670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681" name="yt_image_10681_skip" title="H_142.21992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68124" y="3444781"/>
            <a:ext cx="3254121" cy="180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144144" y="558896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3f2e7b89-196d-4573-a4b4-97dfa537496e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41f63b0-5b51-442f-a02e-2ac36576a463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dae048b-2cb2-4dfe-b5c0-5f3c62bc9e24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23415e1-5586-4c9c-807b-3d0ae294579e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22107dd-9c48-49f7-bc0f-e2f396bf7953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4a644e2-b15f-491b-a74f-774d08ed51ec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f31ebbf-f877-41b5-96ef-044819425625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3613c66-e918-449a-ae36-fad22d2856c1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e229295-498c-4ffa-81e7-e5d448ad32f9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b3fad8b-e076-43e7-9bdf-4c54279a025c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e08a688-6322-424b-865e-94a108a65ec8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451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83" name="yt_shape_10683"/>
              <p:cNvSpPr txBox="1"/>
              <p:nvPr/>
            </p:nvSpPr>
            <p:spPr>
              <a:xfrm>
                <a:off x="324071" y="467999"/>
                <a:ext cx="11924914" cy="433125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斜面固定时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小物块恰能冲到斜面的顶端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由动能定理得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7dd9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𝑔h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斜面不固定时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a1915"/>
                  </a:rPr>
                  <a:t>设小物块冲上斜面后能达到的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最大高度为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小物块达到最高点时的速度为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bce7f"/>
                  </a:rPr>
                  <a:t>由水平方向动量守恒得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由机械能守恒定律得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mgh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c6e16"/>
                  </a:rPr>
                  <a:t>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h'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𝑀</m:t>
                        </m:r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0683" name="yt_shape_106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331250"/>
              </a:xfrm>
              <a:prstGeom prst="rect">
                <a:avLst/>
              </a:prstGeom>
              <a:blipFill>
                <a:blip r:embed="rId2"/>
                <a:stretch>
                  <a:fillRect t="-563" r="-1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ceacb31-866e-40da-8cf3-d8433daa73aa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411d88d-27eb-43c5-a582-9d884f1950d4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e9cc8b6-9b77-4b04-88ed-2038508978a5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eb69274-03b8-4441-ab97-176a4771686a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ebb51e8-7cda-4b28-b270-b4029588639e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8bce1250-a18f-4a6f-8134-ee8defc1c874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5d1722b-5ca8-4bfa-827d-3a9350e9462e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545b9202-7d9a-4229-ad41-8846f65816bc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fa0a987-03ec-4f0b-ba89-34ce49d7325c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fdd4dd8-1439-4032-ac6e-baaf623a6a9c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ae7928f-d6bd-4a41-a3d8-510e827f5798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9129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87" name="yt_shape_10687"/>
              <p:cNvSpPr txBox="1"/>
              <p:nvPr/>
            </p:nvSpPr>
            <p:spPr>
              <a:xfrm>
                <a:off x="363260" y="1055828"/>
                <a:ext cx="11924914" cy="319363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indent="-443809"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在水平光滑的地面上放置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两个质量均为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的物块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其中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8ae81"/>
                  </a:rPr>
                  <a:t>物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块左侧带有一个轻质弹簧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物块以速度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向右运动与弹簧接触之后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2c760"/>
                  </a:rPr>
                  <a:t>，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压缩弹簧至最短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然后被弹开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在整个过程中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物块的动量为</a:t>
                </a:r>
                <a:r>
                  <a:rPr lang="en-US" altLang="zh-CN" sz="2800" b="0" i="1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b4b39"/>
                  </a:rPr>
                  <a:t>A</a:t>
                </a:r>
                <a:br>
                  <a:rPr lang="en-US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物块与弹簧接触的时间为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弹簧的弹性势能为</a:t>
                </a:r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eb811"/>
                  </a:rPr>
                  <a:t>弹簧的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形变量为</a:t>
                </a:r>
                <a:r>
                  <a:rPr lang="en-US" altLang="zh-CN" sz="2800" b="0" i="0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则碰撞过程中以下四个图像正确的是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687" name="yt_shape_106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60" y="1055828"/>
                <a:ext cx="11924914" cy="3193631"/>
              </a:xfrm>
              <a:prstGeom prst="rect">
                <a:avLst/>
              </a:prstGeom>
              <a:blipFill>
                <a:blip r:embed="rId2"/>
                <a:stretch>
                  <a:fillRect l="-1840" t="-763" b="-6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89" name="yt_image_10689">
            <a:extLst>
              <a:ext uri="">
                <a16:creationId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8132" y="4620588"/>
            <a:ext cx="3963868" cy="116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yt_image_10691">
            <a:extLst>
              <a:ext uri="">
                <a16:creationId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9478" y="4620588"/>
            <a:ext cx="7637525" cy="183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101882" y="60731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yt_image_10672" title="H_47.8749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961862" y="447816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f994995-485f-4e45-b621-59046331bc84" descr="{&quot;SlideID&quot;:&quot;318&quot;,&quot;SlideNumber&quot;:&quot;2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a2c08c3-2e64-4c11-83f9-cb2f6d69aff3" descr="{&quot;SlideID&quot;:&quot;320&quot;,&quot;SlideNumber&quot;:&quot;2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87557a7-fdec-40dd-b2c4-ba338a0645cc" descr="{&quot;SlideID&quot;:&quot;322&quot;,&quot;SlideNumber&quot;:&quot;2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5c88497-29e8-490a-911b-a2abbe68b52f" descr="{&quot;SlideID&quot;:&quot;324&quot;,&quot;SlideNumber&quot;:&quot;2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b105906e-9cee-49ba-818c-a985258cf571" descr="{&quot;SlideID&quot;:&quot;326&quot;,&quot;SlideNumber&quot;:&quot;3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26cff64-b3e9-455b-9612-5328a9d910ac" descr="{&quot;SlideID&quot;:&quot;328&quot;,&quot;SlideNumber&quot;:&quot;3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545b1e1c-ecce-400b-8673-73ed7c8c3f41" descr="{&quot;SlideID&quot;:&quot;330&quot;,&quot;SlideNumber&quot;:&quot;3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639a84c-d540-4cee-a541-560532542f15" descr="{&quot;SlideID&quot;:&quot;332&quot;,&quot;SlideNumber&quot;:&quot;3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bd0aca4-4eb1-41a6-a697-98f0a3ae3cbc" descr="{&quot;SlideID&quot;:&quot;334&quot;,&quot;SlideNumber&quot;:&quot;3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ddbdfe50-be19-4d8d-8499-4f53c3ecb6a6" descr="{&quot;SlideID&quot;:&quot;336&quot;,&quot;SlideNumber&quot;:&quot;4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3b0a400a-6434-489c-980f-cedd0856315f" descr="{&quot;SlideID&quot;:&quot;339&quot;,&quot;SlideNumber&quot;:&quot;43&quot;}">
              <a:hlinkClick r:id="rId1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1750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93" name="yt_shape_10693"/>
              <p:cNvSpPr txBox="1"/>
              <p:nvPr/>
            </p:nvSpPr>
            <p:spPr>
              <a:xfrm>
                <a:off x="324071" y="467999"/>
                <a:ext cx="11924914" cy="464858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两物块作用过程中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系统动量守恒且机械能守恒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37dc"/>
                  </a:rPr>
                  <a:t>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物块的动量为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cb8c"/>
                  </a:rPr>
                  <a:t>图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像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的切线斜率代表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物块的受力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及弹力的变化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c9268"/>
                  </a:rPr>
                  <a:t>弹簧弹力先增大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后减小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且最终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的动量为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f76c0"/>
                  </a:rPr>
                  <a:t>弹簧的弹性势能为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满足抛物线的规律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且先变大后变小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ab8b"/>
                  </a:rPr>
                  <a:t>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693" name="yt_shape_106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648580"/>
              </a:xfrm>
              <a:prstGeom prst="rect">
                <a:avLst/>
              </a:prstGeom>
              <a:blipFill>
                <a:blip r:embed="rId2"/>
                <a:stretch>
                  <a:fillRect t="-525" r="-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3a02f93-7665-47cf-9165-9f04ae06631c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fcd3595-f0b4-4128-a5ba-4494114dac25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07f4d47-2096-43b5-beee-b6f361465882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70c5631-d5fe-4cab-b9f2-23dbb3666ebe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df7a042-aa29-4467-814c-cd704a0f2a00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b5bc343-33b5-45b4-bf9b-fc85200c1490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e70a4903-60f7-477f-926c-ea55d66204ca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fc17d74-6184-43d3-9863-9253915916a3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a9c696a-c0d5-4a3b-9a54-a0739c9bda4d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af32f4d-47cb-4ad5-b51a-509b252e7cc7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8d4b4b5-0957-450d-9c71-018db47c108f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0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5" name="yt_shape_10695"/>
          <p:cNvSpPr txBox="1"/>
          <p:nvPr/>
        </p:nvSpPr>
        <p:spPr>
          <a:xfrm>
            <a:off x="324071" y="467999"/>
            <a:ext cx="11667632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浙江宁波期末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一轻弹簧的两端分别与质量为</a:t>
            </a:r>
            <a:r>
              <a:rPr lang="en-US" altLang="zh-CN" sz="24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4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6b53"/>
              </a:rPr>
              <a:t>1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4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4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的两物块相连接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并且静止在光滑的水平面上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现使</a:t>
            </a:r>
            <a:r>
              <a:rPr lang="en-US" altLang="zh-CN" sz="24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4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2bfc8"/>
              </a:rPr>
              <a:t>瞬间获得水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平向右的速度</a:t>
            </a: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以此刻为计时零点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d77b3"/>
              </a:rPr>
              <a:t>两物块的速度随时间变化的规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律如图乙所示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从图像信息可得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4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4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0697" name="yt_table_10697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06360" y="3845513"/>
          <a:ext cx="9834563" cy="2389632"/>
        </p:xfrm>
        <a:graphic>
          <a:graphicData uri="http://schemas.openxmlformats.org/drawingml/2006/table">
            <a:tbl>
              <a:tblPr/>
              <a:tblGrid>
                <a:gridCol w="9834563">
                  <a:extLst>
                    <a:ext uri="{9D8B030D-6E8A-4147-A177-3AD203B41FA5}">
                      <a16:colId xmlns:a16="http://schemas.microsoft.com/office/drawing/2014/main" val="10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弹簧都处于压缩状态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弹性势能最大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时刻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弹簧恢复到原长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两物块回到出发位置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两物块的质量之比为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时刻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系统的动能与弹性势能大小之比为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en-US" altLang="zh-CN" sz="2800" b="0" i="0" u="none" baseline="-25000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k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en-US" altLang="zh-CN" sz="2800" b="0" i="0" u="none" baseline="-25000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8"/>
                  </a:ext>
                </a:extLst>
              </a:tr>
            </a:tbl>
          </a:graphicData>
        </a:graphic>
      </p:graphicFrame>
      <p:pic>
        <p:nvPicPr>
          <p:cNvPr id="10696" name="yt_image_10696_skip" title="H_197.08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3870" y="1988775"/>
            <a:ext cx="5526121" cy="185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23996" y="584273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c4cbb88-c6fc-4cb1-84fa-6dbbd1161244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e2d1629-2152-4e40-820f-1c3c7476fb4e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153c8ea-1f41-46d9-a9d7-9ff4abf678d7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3fed447-17fc-46c4-a755-bf8340b2c64d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b399d64-4785-4aac-abc0-5dd59bed7467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7392208-05c2-44c0-9342-81762f466666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6c0fb87-2f86-4a0a-80fe-bc264e911d77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7583d587-14b2-4d4f-9b19-311ca4266d9a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29e3b84-15a9-494e-8ff2-b2f49322c428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512c456-775c-42e3-98f9-ca6bfd242fd5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4de8f3a-2bf3-4372-9697-4b9beaa87484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5432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57F28D20-BC1E-41A1-9CDF-FFA073BCFA0D}"/>
                  </a:ext>
                </a:extLst>
              </p:cNvPr>
              <p:cNvSpPr txBox="1"/>
              <p:nvPr/>
            </p:nvSpPr>
            <p:spPr>
              <a:xfrm>
                <a:off x="324071" y="483887"/>
                <a:ext cx="11546543" cy="6491679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dirty="0">
                    <a:solidFill>
                      <a:srgbClr val="0000FF"/>
                    </a:solidFill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由题图乙可知两物块的运动过程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开始时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逐渐减速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逐渐加速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2_e03e9"/>
                  </a:rPr>
                  <a:t>弹簧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被压缩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时刻二者速度相同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弹簧被压缩至最短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系统动能最小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2_aefe6"/>
                  </a:rPr>
                  <a:t>弹性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势能最大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然后弹簧逐渐恢复原长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继续加速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先减速为零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9bd40"/>
                  </a:rPr>
                  <a:t>然后反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向加速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弹簧恢复原长状态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因为此时两物块速度相反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441fb"/>
                  </a:rPr>
                  <a:t>所以弹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簧的长度将逐渐增大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两物块均减速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两物块速度相等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2233b"/>
                  </a:rPr>
                  <a:t>弹簧最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长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系统动能最小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因此从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到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过程中弹簧由伸长状态恢复原长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19e05"/>
                  </a:rPr>
                  <a:t>两物块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没有回到出发位置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根据系统动量守恒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从开始到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  <a:sym typeface="_⨹_3_a00f1"/>
                  </a:rPr>
                  <a:t>时刻有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其中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解得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；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2" name="yt_shape_2">
                <a:extLst>
                  <a:ext uri="{FF2B5EF4-FFF2-40B4-BE49-F238E27FC236}">
                    <a16:creationId xmlns:a16="http://schemas.microsoft.com/office/drawing/2014/main" id="{57F28D20-BC1E-41A1-9CDF-FFA073BCF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83887"/>
                <a:ext cx="11546543" cy="6491679"/>
              </a:xfrm>
              <a:prstGeom prst="rect">
                <a:avLst/>
              </a:prstGeom>
              <a:blipFill>
                <a:blip r:embed="rId2"/>
                <a:stretch>
                  <a:fillRect l="-1848" t="-1878" r="-5016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3">
                <a:extLst>
                  <a:ext uri="{FF2B5EF4-FFF2-40B4-BE49-F238E27FC236}">
                    <a16:creationId xmlns:a16="http://schemas.microsoft.com/office/drawing/2014/main" id="{696288A1-DE8D-542A-4F44-195F59592C6D}"/>
                  </a:ext>
                </a:extLst>
              </p:cNvPr>
              <p:cNvSpPr txBox="1"/>
              <p:nvPr/>
            </p:nvSpPr>
            <p:spPr>
              <a:xfrm>
                <a:off x="324071" y="4412272"/>
                <a:ext cx="11927459" cy="1338443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时刻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系统的弹性势能为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>
                                <a:solidFill>
                                  <a:srgbClr val="C00000"/>
                                </a:solid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30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系统的动能为</a:t>
                </a:r>
                <a:r>
                  <a:rPr lang="en-US" altLang="zh-CN" sz="2800" i="1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aseline="-25000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  <a:sym typeface="_⨹_1_337f5"/>
                  </a:rPr>
                  <a:t>k</a:t>
                </a:r>
                <a:b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</a:b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aseline="-25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aseline="300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结合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项可知</a:t>
                </a:r>
                <a:r>
                  <a:rPr lang="en-US" altLang="zh-CN" sz="2800" i="1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aseline="-25000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k</a:t>
                </a:r>
                <a:r>
                  <a:rPr lang="en-US" altLang="zh-CN" sz="2800" dirty="0" err="1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∶</a:t>
                </a:r>
                <a:r>
                  <a:rPr lang="en-US" altLang="zh-CN" sz="2800" i="1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aseline="-25000" dirty="0" err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∶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正确。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3" name="yt_shape_3">
                <a:extLst>
                  <a:ext uri="{FF2B5EF4-FFF2-40B4-BE49-F238E27FC236}">
                    <a16:creationId xmlns:a16="http://schemas.microsoft.com/office/drawing/2014/main" id="{696288A1-DE8D-542A-4F44-195F59592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412272"/>
                <a:ext cx="11927459" cy="1338443"/>
              </a:xfrm>
              <a:prstGeom prst="rect">
                <a:avLst/>
              </a:prstGeom>
              <a:blipFill>
                <a:blip r:embed="rId3"/>
                <a:stretch>
                  <a:fillRect l="-1788" b="-821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e95c448d-339b-45ed-9d6e-7f6c1bf0a4eb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d413551-82c9-45c9-ad73-e51c261613e0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690eb5b-27a1-4dbf-8b32-6b915aa4f260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0f0abccc-1e70-4b7f-89a4-10bf5fe57ced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6b10869-d86c-4a3e-80df-2b80cf48b50d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ad41667-83dc-474d-adca-74976ad43066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a6021c3-1c5e-4e23-8dab-7051f8359c44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0dfa70a2-58ff-419e-8362-737e4b044693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718e531-ca69-4d7f-81bf-f3c26d760bce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8ed0622-d53e-4836-a1c6-e52cc82b06ab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58fffb3-558b-4713-96e4-e72da130c651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1549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1" name="yt_shape_10701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43865" indent="-443809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浙江衢州联考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水平面上放置着半径为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a147"/>
              </a:rPr>
              <a:t>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的半圆形槽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为槽的水平直径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质量为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d9ca6"/>
              </a:rPr>
              <a:t>的小球自左端槽口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点的正上方距离为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处由静止下落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点切入槽内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39b24"/>
              </a:rPr>
              <a:t>已知重力加速度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不计一切摩擦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03" name="yt_table_10703_skip" title="H_176.40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16945" y="3461879"/>
              <a:ext cx="8312150" cy="2240344"/>
            </p:xfrm>
            <a:graphic>
              <a:graphicData uri="http://schemas.openxmlformats.org/drawingml/2006/table">
                <a:tbl>
                  <a:tblPr/>
                  <a:tblGrid>
                    <a:gridCol w="8312150">
                      <a:extLst>
                        <a:ext uri="{9D8B030D-6E8A-4147-A177-3AD203B41FA5}">
                          <a16:colId xmlns:a16="http://schemas.microsoft.com/office/drawing/2014/main" val="101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系统动量守恒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机械能守恒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槽向左运动的最大位移为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小球在槽中运动的最大速度为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3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𝑔𝑅</m:t>
                                  </m:r>
                                </m:e>
                              </m:rad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小球能从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点离开槽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且上升的最大高度小于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2"/>
                      </a:ext>
                    </a:extLst>
                  </a:tr>
                </a:tbl>
              </a:graphicData>
            </a:graphic>
          </p:graphicFrame>
        </mc:Choice>
        <mc:Fallback xmlns:p15="http://schemas.microsoft.com/office/powerpoint/2012/main" xmlns:p14="http://schemas.microsoft.com/office/powerpoint/2010/main" xmlns:a16="http://schemas.microsoft.com/office/drawing/2014/main" xmlns="">
          <p:graphicFrame>
            <p:nvGraphicFramePr>
              <p:cNvPr id="10703" name="yt_table_10703_skip" title="H_176.40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708312"/>
                  </p:ext>
                </p:extLst>
              </p:nvPr>
            </p:nvGraphicFramePr>
            <p:xfrm>
              <a:off x="916945" y="3461879"/>
              <a:ext cx="8312150" cy="2515680"/>
            </p:xfrm>
            <a:graphic>
              <a:graphicData uri="http://schemas.openxmlformats.org/drawingml/2006/table">
                <a:tbl>
                  <a:tblPr/>
                  <a:tblGrid>
                    <a:gridCol w="8312150">
                      <a:extLst>
                        <a:ext uri="{9D8B030D-6E8A-4147-A177-3AD203B41FA5}">
                          <a16:colId xmlns:a16="http://schemas.microsoft.com/office/drawing/2014/main" val="10113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系统动量守恒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、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机械能守恒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39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槽向左运动的最大位移为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0"/>
                      </a:ext>
                    </a:extLst>
                  </a:tr>
                  <a:tr h="7234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65546" b="-108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41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小球能从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点离开槽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且上升的最大高度小于</a:t>
                          </a: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702" name="yt_image_10702_skip" title="H_247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25697" y="3056709"/>
            <a:ext cx="3534040" cy="237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10666" y="422977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10665" y="482556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1ca10f86-9d13-461f-8a25-eb47f27fff72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ca7bae8-559f-4a3a-b015-da2dba142398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96c0e70-d8f0-44e3-b094-4206f085c57c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5a29e07-d925-47b4-b90d-2f5676367f99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a59ed4b-d081-4c87-b949-442129a59d01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8b051db-2e9e-4b4a-865b-90b529ced8d3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809885c-e64f-443d-8da5-4db4541733f1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2824d78-eb9e-48fd-9d11-591d6a6e7b3d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97b0833f-9c50-4609-bd93-dcf075fb2b91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58a9ff3-56ed-4154-a4e6-362acd0a836a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e1a69f7-dc7f-4469-a725-656729ba8cfc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401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04" name="yt_shape_10704"/>
              <p:cNvSpPr txBox="1"/>
              <p:nvPr/>
            </p:nvSpPr>
            <p:spPr>
              <a:xfrm>
                <a:off x="324071" y="467999"/>
                <a:ext cx="11924914" cy="56065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4438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小球与半圆形槽组成的系统运动过程中只有重力做功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f1a97"/>
                  </a:rPr>
                  <a:t>系统机械能守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但小球运动过程中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系统所受外力矢量和不为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0711b"/>
                  </a:rPr>
                  <a:t>水平方向所受合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外力为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系统水平方向动量守恒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球在槽中运动过程中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mx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8681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mx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6d843"/>
                  </a:rPr>
                  <a:t>当球到达槽的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最低点时速度最大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则由动量守恒和能量关系有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170a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𝑔𝑅</m:t>
                        </m:r>
                      </m:e>
                    </m:rad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系统机械能守恒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809fe"/>
                  </a:rPr>
                  <a:t>小球从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点离开时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由水平方向动量守恒可知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槽速度为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49e50"/>
                  </a:rPr>
                  <a:t>故小球上升的最大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高度为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704" name="yt_shape_107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606599"/>
              </a:xfrm>
              <a:prstGeom prst="rect">
                <a:avLst/>
              </a:prstGeom>
              <a:blipFill>
                <a:blip r:embed="rId2"/>
                <a:stretch>
                  <a:fillRect t="-435" r="-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5b4c20b1-ea13-4e5e-b369-2db74e5bc7a3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cdb56f1-79f6-4f67-b351-13ae6f9a7d89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e5ff7f9-fcf1-47e4-a687-3d25a8be438b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d04354f-65f4-43c2-adf2-969f8376259a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2d0e4b1-299e-4181-acb4-63b73a707a16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781bedc-2fe8-4c2f-be24-6ff96ad1bd7c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2872230-510d-4266-9c0d-926bbfe5f7a8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ea26d1f-5c0c-4ee5-86d7-4f11213d42e1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f98556a-9942-48bf-b0be-02a5f1912f1a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36e467d-ec1f-4f0c-b47c-b77f47648bb4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1564b29-11d2-4d8f-860d-c49968cf3caa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1993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6" name="yt_shape_1070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的质量分别是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f4e1"/>
              </a:rPr>
              <a:t>用轻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弹簧拴接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放在光滑的水平地面上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右侧与竖直墙相接触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6d770"/>
              </a:rPr>
              <a:t>另有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时以一定速度向右运动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时与物块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9014a"/>
              </a:rPr>
              <a:t>并立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即与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粘在一起不再分开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0707" name="yt_image_10707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0518" y="3013074"/>
            <a:ext cx="7450962" cy="262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78bb4123-c1b4-4c0a-a205-724ca47d0851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fbfbabf-9b12-4975-abc5-1aa68d1467b0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c480b23-4415-4b6b-ab64-6b8bc243ae66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9a34a04-14bc-4e5a-948c-e0b21afd2978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a3d9798-f59b-417c-bf97-cbfe8416e656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be6b5e6-5b73-4581-a433-e891d5f0b935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2741f6b-ac61-4654-b6bd-98386d31e904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d45fc7c-4737-4576-9dbf-ab418c2e1fa2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ab5abfb-7e89-4916-ac30-677e3f80fc3c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93d442c-3329-4ea4-873b-20733e92485c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af4cfda-80df-4282-b3fc-964529d792e6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332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9" name="yt_shape_10709"/>
          <p:cNvSpPr txBox="1"/>
          <p:nvPr/>
        </p:nvSpPr>
        <p:spPr>
          <a:xfrm>
            <a:off x="324000" y="467999"/>
            <a:ext cx="391870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0710" name="yt_shape_10710"/>
          <p:cNvSpPr txBox="1"/>
          <p:nvPr/>
        </p:nvSpPr>
        <p:spPr>
          <a:xfrm>
            <a:off x="324000" y="1050984"/>
            <a:ext cx="323037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</a:p>
        </p:txBody>
      </p:sp>
      <p:sp>
        <p:nvSpPr>
          <p:cNvPr id="10711" name="yt_shape_10711"/>
          <p:cNvSpPr txBox="1"/>
          <p:nvPr/>
        </p:nvSpPr>
        <p:spPr>
          <a:xfrm>
            <a:off x="324071" y="163396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0" i="0" u="none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由题图乙知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碰前速度为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碰后速度为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1_ee5e6"/>
              </a:rPr>
              <a:t>2</a:t>
            </a:r>
            <a:b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marL="1510030"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碰撞过程动量守恒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的初速度方向为正方向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由动量守恒定律得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＝（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</a:p>
        </p:txBody>
      </p:sp>
      <p:sp>
        <p:nvSpPr>
          <p:cNvPr id="10712" name="yt_shape_10712"/>
          <p:cNvSpPr txBox="1"/>
          <p:nvPr/>
        </p:nvSpPr>
        <p:spPr>
          <a:xfrm>
            <a:off x="324000" y="4026680"/>
            <a:ext cx="400943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kg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daae48b-b413-43fe-a90a-43999cd1a078" descr="{&quot;SlideID&quot;:&quot;318&quot;,&quot;SlideNumber&quot;:&quot;22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7133cf8-b21e-4b72-94bf-07e5b179a7b5" descr="{&quot;SlideID&quot;:&quot;320&quot;,&quot;SlideNumber&quot;:&quot;24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b99e767-02cd-42a1-8072-a0f4c8720f17" descr="{&quot;SlideID&quot;:&quot;322&quot;,&quot;SlideNumber&quot;:&quot;26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6e87811-1e57-4575-aca8-fdb24ff95998" descr="{&quot;SlideID&quot;:&quot;324&quot;,&quot;SlideNumber&quot;:&quot;28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b59a7a4-21cb-4178-992b-6b119ec19043" descr="{&quot;SlideID&quot;:&quot;326&quot;,&quot;SlideNumber&quot;:&quot;3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ceef025b-fc23-43ae-a085-28a89525090f" descr="{&quot;SlideID&quot;:&quot;328&quot;,&quot;SlideNumber&quot;:&quot;32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df34dcf-23e9-4d89-becb-d29741ed147a" descr="{&quot;SlideID&quot;:&quot;330&quot;,&quot;SlideNumber&quot;:&quot;3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e2e2ca2f-1be5-47a5-ac6b-f2aa59fca2a4" descr="{&quot;SlideID&quot;:&quot;332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7f9f337-bf61-4181-b1b8-3065bc33cec2" descr="{&quot;SlideID&quot;:&quot;334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1fd8920-5cf6-4b23-ba51-9a540d7e6843" descr="{&quot;SlideID&quot;:&quot;336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7d3c408-bfb1-4691-bc3e-82536ccd3766" descr="{&quot;SlideID&quot;:&quot;339&quot;,&quot;SlideNumber&quot;:&quot;4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55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0" grpId="0" build="allAtOnce"/>
      <p:bldP spid="10711" grpId="0"/>
      <p:bldP spid="107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3" name="yt_shape_10713"/>
          <p:cNvSpPr txBox="1"/>
          <p:nvPr/>
        </p:nvSpPr>
        <p:spPr>
          <a:xfrm>
            <a:off x="324071" y="46799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88365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离开墙后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弹簧中的弹性势能最大时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的速度多大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f2fe2"/>
              </a:rPr>
              <a:t>最大弹性势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能多大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0714" name="yt_shape_10714"/>
          <p:cNvSpPr txBox="1"/>
          <p:nvPr/>
        </p:nvSpPr>
        <p:spPr>
          <a:xfrm>
            <a:off x="324000" y="1635055"/>
            <a:ext cx="379847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答案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15" name="yt_shape_10715"/>
              <p:cNvSpPr txBox="1"/>
              <p:nvPr/>
            </p:nvSpPr>
            <p:spPr>
              <a:xfrm>
                <a:off x="324071" y="2218040"/>
                <a:ext cx="11924914" cy="380713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12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离开墙壁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之后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8296"/>
                  </a:rPr>
                  <a:t>、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及弹簧组成的系统动量守恒和机械能守恒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4e01f"/>
                  </a:rPr>
                  <a:t>相等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时弹簧的弹性势能最大。根据动量守恒定律有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da215"/>
                  </a:rPr>
                  <a:t>A</a:t>
                </a:r>
                <a:b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</a:p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根据机械能守恒定律得</a:t>
                </a:r>
              </a:p>
              <a:p>
                <a:pPr marL="888365" algn="l" eaLnBrk="1" latinLnBrk="0" hangingPunct="0"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15" name="yt_shape_107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218040"/>
                <a:ext cx="11924914" cy="3807132"/>
              </a:xfrm>
              <a:prstGeom prst="rect">
                <a:avLst/>
              </a:prstGeom>
              <a:blipFill>
                <a:blip r:embed="rId2"/>
                <a:stretch>
                  <a:fillRect t="-641" b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17" name="yt_shape_10717"/>
          <p:cNvSpPr txBox="1"/>
          <p:nvPr/>
        </p:nvSpPr>
        <p:spPr>
          <a:xfrm>
            <a:off x="324000" y="6075960"/>
            <a:ext cx="504561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J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d014e7d8-2f5c-4c9d-8b8c-8ea0047da32b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81c0c6f-e11b-432b-924c-9b911a41f3a0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c4dcee2-2d63-4940-a76c-a6a52618e577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57281d6-8415-41d9-bc1a-e6f16bbc3bda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5289616-5c75-4ed9-a8b2-b8af859207cc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ada399f-6c0b-47f2-b42b-1565b9870e8c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c9f075f-dbf6-4df0-9a0d-b53de9f48dd1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658744c-442e-4de2-8a29-370c55029c33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46dd853-11b5-46f3-a68a-bdd37e887961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1372de39-5dc3-484d-a38a-bbf9db046778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d7afe6e-6366-4619-897f-26eee7103248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5874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4" grpId="0" build="allAtOnce"/>
      <p:bldP spid="10715" grpId="0"/>
      <p:bldP spid="1071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8" name="yt_shape_10718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浙江杭州期中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光滑水平面上放着一异形物块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5783"/>
              </a:rPr>
              <a:t>其曲面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是四分之一光滑圆弧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在它的最低点放着一个静止的小球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4533e"/>
              </a:rPr>
              <a:t>如图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所示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滑块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以初速度</a:t>
            </a:r>
            <a:r>
              <a:rPr lang="en-US" altLang="zh-CN" sz="2800" b="0" i="1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spc="150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水平向左运动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碰撞后迅速粘在一起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c3250"/>
              </a:rPr>
              <a:t>。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的质量均为</a:t>
            </a:r>
            <a:r>
              <a:rPr lang="en-US" altLang="zh-CN" sz="2800" b="0" i="1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的碰撞时间极短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4636a"/>
              </a:rPr>
              <a:t>不能从物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块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的上端离开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0719" name="yt_image_10719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6462" y="3597145"/>
            <a:ext cx="3259074" cy="160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1" name="yt_shape_10721"/>
          <p:cNvSpPr txBox="1"/>
          <p:nvPr/>
        </p:nvSpPr>
        <p:spPr>
          <a:xfrm>
            <a:off x="324000" y="5255652"/>
            <a:ext cx="758797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的碰撞过程中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的冲量大小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dad7423a-b584-4230-8bfd-5be8d57b6379" descr="{&quot;SlideID&quot;:&quot;318&quot;,&quot;SlideNumber&quot;:&quot;22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0dff4b9-5d47-422d-8b2c-4ba5089f189a" descr="{&quot;SlideID&quot;:&quot;320&quot;,&quot;SlideNumber&quot;:&quot;24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8fa7042-72f6-496c-a01e-f150c758537e" descr="{&quot;SlideID&quot;:&quot;322&quot;,&quot;SlideNumber&quot;:&quot;26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2b76e34-71fe-47a9-b9e1-2d26e96281c7" descr="{&quot;SlideID&quot;:&quot;324&quot;,&quot;SlideNumber&quot;:&quot;28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9848abd-897d-435f-8de1-0432322ae8ce" descr="{&quot;SlideID&quot;:&quot;326&quot;,&quot;SlideNumber&quot;:&quot;3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03d96cd-ff6b-4d27-aab2-60c810f9ffc4" descr="{&quot;SlideID&quot;:&quot;328&quot;,&quot;SlideNumber&quot;:&quot;3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1650b4a-a3c2-4f0a-97e4-8936d4154941" descr="{&quot;SlideID&quot;:&quot;330&quot;,&quot;SlideNumber&quot;:&quot;3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6c0f85d-0688-4b4f-8365-5940b342fb3d" descr="{&quot;SlideID&quot;:&quot;332&quot;,&quot;SlideNumber&quot;:&quot;3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98ba846-78dc-4834-a0f4-be3bfa73c9e7" descr="{&quot;SlideID&quot;:&quot;334&quot;,&quot;SlideNumber&quot;:&quot;3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dbf911e-45a0-4951-bd9e-637667d4f5e0" descr="{&quot;SlideID&quot;:&quot;336&quot;,&quot;SlideNumber&quot;:&quot;4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4796f01e-107a-4afe-8a13-9e4b5016b686" descr="{&quot;SlideID&quot;:&quot;339&quot;,&quot;SlideNumber&quot;:&quot;4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12623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4" name="yt_shape_10724"/>
          <p:cNvSpPr txBox="1"/>
          <p:nvPr/>
        </p:nvSpPr>
        <p:spPr>
          <a:xfrm>
            <a:off x="284812" y="1251770"/>
            <a:ext cx="10301218" cy="113543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dirty="0">
                <a:solidFill>
                  <a:srgbClr val="0000FF"/>
                </a:solidFill>
                <a:latin typeface="宋体" pitchFamily="28"/>
                <a:ea typeface="宋体" pitchFamily="28"/>
              </a:rPr>
              <a:t>：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 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的碰撞过程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根据动量守恒定律有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</a:p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进行分析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根据动量定理有</a:t>
            </a:r>
            <a:r>
              <a:rPr lang="en-US" altLang="zh-CN" sz="2800" b="0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mv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5" name="yt_shape_10725"/>
              <p:cNvSpPr txBox="1"/>
              <p:nvPr/>
            </p:nvSpPr>
            <p:spPr>
              <a:xfrm>
                <a:off x="284812" y="2437997"/>
                <a:ext cx="3998210" cy="79092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1510030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10725" name="yt_shape_107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12" y="2437997"/>
                <a:ext cx="3998210" cy="790922"/>
              </a:xfrm>
              <a:prstGeom prst="rect">
                <a:avLst/>
              </a:prstGeom>
              <a:blipFill>
                <a:blip r:embed="rId2"/>
                <a:stretch>
                  <a:fillRect r="-4116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0722"/>
              <p:cNvSpPr txBox="1"/>
              <p:nvPr/>
            </p:nvSpPr>
            <p:spPr>
              <a:xfrm>
                <a:off x="284812" y="460848"/>
                <a:ext cx="3292889" cy="79092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1510030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4" name="yt_shape_107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12" y="460848"/>
                <a:ext cx="3292889" cy="790922"/>
              </a:xfrm>
              <a:prstGeom prst="rect">
                <a:avLst/>
              </a:prstGeom>
              <a:blipFill>
                <a:blip r:embed="rId3"/>
                <a:stretch>
                  <a:fillRect r="-3519" b="-14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b0af8050-5864-4104-a2ed-c24b8e7c7db7" descr="{&quot;SlideID&quot;:&quot;318&quot;,&quot;SlideNumber&quot;:&quot;2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300e78e-01fc-4f5b-981d-c9029a42bbc3" descr="{&quot;SlideID&quot;:&quot;320&quot;,&quot;SlideNumber&quot;:&quot;2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35cabfa-5516-4aa5-8170-e6a430e0b78c" descr="{&quot;SlideID&quot;:&quot;322&quot;,&quot;SlideNumber&quot;:&quot;2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376bca93-5037-41d3-a915-f7667e008bb7" descr="{&quot;SlideID&quot;:&quot;324&quot;,&quot;SlideNumber&quot;:&quot;2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91ff7f08-471c-4383-a2fd-73f11374ff53" descr="{&quot;SlideID&quot;:&quot;326&quot;,&quot;SlideNumber&quot;:&quot;3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8e92f01-349e-4839-adb7-32fba025a840" descr="{&quot;SlideID&quot;:&quot;328&quot;,&quot;SlideNumber&quot;:&quot;3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63966acc-1382-48ed-9c7a-fddaca7b593c" descr="{&quot;SlideID&quot;:&quot;330&quot;,&quot;SlideNumber&quot;:&quot;3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2ef4975-e0d4-4938-988b-42de9ae05b07" descr="{&quot;SlideID&quot;:&quot;332&quot;,&quot;SlideNumber&quot;:&quot;3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1452175-f89c-41b1-9225-381c3f5d0761" descr="{&quot;SlideID&quot;:&quot;334&quot;,&quot;SlideNumber&quot;:&quot;3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1265d10-7d26-4bdc-abdf-58f3be98ccb3" descr="{&quot;SlideID&quot;:&quot;336&quot;,&quot;SlideNumber&quot;:&quot;4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677d919e-98f1-4b46-a77c-0d3ee4a3b615" descr="{&quot;SlideID&quot;:&quot;339&quot;,&quot;SlideNumber&quot;:&quot;4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87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4" grpId="0"/>
      <p:bldP spid="10725" grpId="0"/>
      <p:bldP spid="4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7" name="yt_shape_10727"/>
          <p:cNvSpPr txBox="1"/>
          <p:nvPr/>
        </p:nvSpPr>
        <p:spPr>
          <a:xfrm>
            <a:off x="324000" y="467999"/>
            <a:ext cx="624209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的碰撞过程中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做的功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28" name="yt_shape_10728"/>
              <p:cNvSpPr txBox="1"/>
              <p:nvPr/>
            </p:nvSpPr>
            <p:spPr>
              <a:xfrm>
                <a:off x="324000" y="1050984"/>
                <a:ext cx="3271665" cy="79592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 dirty="0">
                  <a:solidFill>
                    <a:srgbClr val="FF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28" name="yt_shape_107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1050984"/>
                <a:ext cx="3271665" cy="795924"/>
              </a:xfrm>
              <a:prstGeom prst="rect">
                <a:avLst/>
              </a:prstGeom>
              <a:blipFill>
                <a:blip r:embed="rId2"/>
                <a:stretch>
                  <a:fillRect b="-13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30" name="yt_shape_10730"/>
              <p:cNvSpPr txBox="1"/>
              <p:nvPr/>
            </p:nvSpPr>
            <p:spPr>
              <a:xfrm>
                <a:off x="324071" y="1897696"/>
                <a:ext cx="11924914" cy="139416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888365"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dirty="0">
                    <a:solidFill>
                      <a:srgbClr val="0000FF"/>
                    </a:solidFill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 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的碰撞过程中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进行分析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根据动能定理有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cd34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 dirty="0">
                  <a:solidFill>
                    <a:srgbClr val="FF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30" name="yt_shape_107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897696"/>
                <a:ext cx="11924914" cy="1394164"/>
              </a:xfrm>
              <a:prstGeom prst="rect">
                <a:avLst/>
              </a:prstGeom>
              <a:blipFill>
                <a:blip r:embed="rId3"/>
                <a:stretch>
                  <a:fillRect t="-1747" b="-7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32" name="yt_shape_10732"/>
              <p:cNvSpPr txBox="1"/>
              <p:nvPr/>
            </p:nvSpPr>
            <p:spPr>
              <a:xfrm>
                <a:off x="2858989" y="2533681"/>
                <a:ext cx="4156522" cy="79592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W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32" name="yt_shape_107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989" y="2533681"/>
                <a:ext cx="4156522" cy="795924"/>
              </a:xfrm>
              <a:prstGeom prst="rect">
                <a:avLst/>
              </a:prstGeom>
              <a:blipFill>
                <a:blip r:embed="rId4"/>
                <a:stretch>
                  <a:fillRect r="-3666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34" name="yt_shape_10734"/>
          <p:cNvSpPr txBox="1"/>
          <p:nvPr/>
        </p:nvSpPr>
        <p:spPr>
          <a:xfrm>
            <a:off x="324000" y="3433393"/>
            <a:ext cx="482664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888365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小球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上升的最大高度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35" name="yt_shape_10735"/>
              <p:cNvSpPr txBox="1"/>
              <p:nvPr/>
            </p:nvSpPr>
            <p:spPr>
              <a:xfrm>
                <a:off x="324000" y="4016378"/>
                <a:ext cx="2534989" cy="93730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答案</a:t>
                </a: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56" charset="0"/>
                        <a:ea typeface="Cambria Math" panose="02040503050406030204" pitchFamily="56" charset="0"/>
                      </a:rPr>
                      <m:t> 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endParaRPr lang="zh-CN" altLang="zh-CN" sz="2800" b="0" i="0" u="none" dirty="0">
                  <a:solidFill>
                    <a:srgbClr val="FF0000"/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35" name="yt_shape_107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016378"/>
                <a:ext cx="2534989" cy="937308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yt_shape_10737"/>
              <p:cNvSpPr txBox="1"/>
              <p:nvPr/>
            </p:nvSpPr>
            <p:spPr>
              <a:xfrm>
                <a:off x="324000" y="5183690"/>
                <a:ext cx="10729860" cy="1394164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888365"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dirty="0">
                    <a:solidFill>
                      <a:srgbClr val="0000FF"/>
                    </a:solidFill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构成的系统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根据动量守恒定律有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mv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</a:p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根据能量守恒定律有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b="0" i="1" u="none" dirty="0">
                  <a:solidFill>
                    <a:srgbClr val="FF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8" name="yt_shape_107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5183690"/>
                <a:ext cx="10729860" cy="1394164"/>
              </a:xfrm>
              <a:prstGeom prst="rect">
                <a:avLst/>
              </a:prstGeom>
              <a:blipFill>
                <a:blip r:embed="rId6"/>
                <a:stretch>
                  <a:fillRect t="-1747" r="-170" b="-7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yt_shape_10739"/>
              <p:cNvSpPr txBox="1"/>
              <p:nvPr/>
            </p:nvSpPr>
            <p:spPr>
              <a:xfrm>
                <a:off x="8058809" y="5640546"/>
                <a:ext cx="2995051" cy="93730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8883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12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9" name="yt_shape_107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809" y="5640546"/>
                <a:ext cx="2995051" cy="937308"/>
              </a:xfrm>
              <a:prstGeom prst="rect">
                <a:avLst/>
              </a:prstGeom>
              <a:blipFill>
                <a:blip r:embed="rId7"/>
                <a:stretch>
                  <a:fillRect r="-5906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4146043" y="6427038"/>
            <a:ext cx="4181814" cy="288000"/>
            <a:chOff x="1463551" y="6425622"/>
            <a:chExt cx="4181814" cy="288000"/>
          </a:xfrm>
        </p:grpSpPr>
        <p:sp>
          <p:nvSpPr>
            <p:cNvPr id="10" name="f5463ae2-cb5d-460a-9fa5-d280cbb3a612" descr="{&quot;SlideID&quot;:&quot;318&quot;,&quot;SlideNumber&quot;:&quot;22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520e906-70ee-4708-8c9d-ddeab9df8de7" descr="{&quot;SlideID&quot;:&quot;320&quot;,&quot;SlideNumber&quot;:&quot;24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7eeb4a7-43e6-4409-b835-f7fa79a525dc" descr="{&quot;SlideID&quot;:&quot;322&quot;,&quot;SlideNumber&quot;:&quot;26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c77e2bd-e21f-40c0-bb98-9d102eac1a16" descr="{&quot;SlideID&quot;:&quot;324&quot;,&quot;SlideNumber&quot;:&quot;28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0f4b530-080e-4ff1-9682-46566e979a48" descr="{&quot;SlideID&quot;:&quot;326&quot;,&quot;SlideNumber&quot;:&quot;30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735440cc-f0ea-4f00-a7bd-e7a7a51aa3dc" descr="{&quot;SlideID&quot;:&quot;328&quot;,&quot;SlideNumber&quot;:&quot;32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2a53cf4-c6c8-4b4f-85c9-e4a5a5a351be" descr="{&quot;SlideID&quot;:&quot;330&quot;,&quot;SlideNumber&quot;:&quot;34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b58c28b-cf5b-4b94-929f-b519b0bd3991" descr="{&quot;SlideID&quot;:&quot;332&quot;,&quot;SlideNumber&quot;:&quot;36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8aec52e-6e1d-4223-9b91-23d0df185042" descr="{&quot;SlideID&quot;:&quot;334&quot;,&quot;SlideNumber&quot;:&quot;38&quot;}">
              <a:hlinkClick r:id="rId1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cc98edb-cf53-48e8-a67e-21e18160af6c" descr="{&quot;SlideID&quot;:&quot;336&quot;,&quot;SlideNumber&quot;:&quot;40&quot;}">
              <a:hlinkClick r:id="rId1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bc42ef5-f657-4bbd-8563-9cc2eaf5bfeb" descr="{&quot;SlideID&quot;:&quot;339&quot;,&quot;SlideNumber&quot;:&quot;43&quot;}">
              <a:hlinkClick r:id="rId1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7292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8" grpId="0" build="allAtOnce"/>
      <p:bldP spid="10730" grpId="0"/>
      <p:bldP spid="10732" grpId="0"/>
      <p:bldP spid="10735" grpId="0" build="allAtOnce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12211050" cy="2971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3348171" y="1981200"/>
            <a:ext cx="67129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38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38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gradFill flip="none" rotWithShape="1">
                <a:gsLst>
                  <a:gs pos="0">
                    <a:srgbClr val="FFFFFF">
                      <a:shade val="30000"/>
                      <a:satMod val="115000"/>
                    </a:srgbClr>
                  </a:gs>
                  <a:gs pos="50000">
                    <a:srgbClr val="FFFFFF">
                      <a:shade val="67500"/>
                      <a:satMod val="115000"/>
                    </a:srgbClr>
                  </a:gs>
                  <a:gs pos="100000">
                    <a:srgbClr val="FFFFFF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8DE397-53CD-43DF-B436-EAF0D0085C34}"/>
              </a:ext>
            </a:extLst>
          </p:cNvPr>
          <p:cNvSpPr/>
          <p:nvPr/>
        </p:nvSpPr>
        <p:spPr>
          <a:xfrm>
            <a:off x="3280974" y="3089196"/>
            <a:ext cx="593143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normalizeH="0" baseline="0" noProof="0" dirty="0">
                <a:ln w="6600">
                  <a:solidFill>
                    <a:schemeClr val="accent4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 Light" panose="020B0502040204020203" pitchFamily="34" charset="-122"/>
              </a:rPr>
              <a:t>演示完毕 感谢观看</a:t>
            </a:r>
          </a:p>
        </p:txBody>
      </p:sp>
    </p:spTree>
    <p:extLst>
      <p:ext uri="{BB962C8B-B14F-4D97-AF65-F5344CB8AC3E}">
        <p14:creationId xmlns:p14="http://schemas.microsoft.com/office/powerpoint/2010/main" val="4192009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:a16="http://schemas.microsoft.com/office/drawing/2014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5126</Words>
  <Application>Microsoft Macintosh PowerPoint</Application>
  <PresentationFormat>Widescreen</PresentationFormat>
  <Paragraphs>439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方正新报宋_GBK</vt:lpstr>
      <vt:lpstr>微软雅黑</vt:lpstr>
      <vt:lpstr>宋体</vt:lpstr>
      <vt:lpstr>华文细黑</vt:lpstr>
      <vt:lpstr>Aparajita</vt:lpstr>
      <vt:lpstr>Arial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三维设计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三维设计</dc:title>
  <dc:creator>三维设计</dc:creator>
  <cp:lastModifiedBy>Xingyu Shu</cp:lastModifiedBy>
  <cp:revision>65</cp:revision>
  <dcterms:created xsi:type="dcterms:W3CDTF">2025-04-22T02:39:12Z</dcterms:created>
  <dcterms:modified xsi:type="dcterms:W3CDTF">2026-09-23T07:04:12Z</dcterms:modified>
</cp:coreProperties>
</file>