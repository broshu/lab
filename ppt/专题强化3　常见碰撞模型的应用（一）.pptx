
<file path=[Content_Types].xml><?xml version="1.0" encoding="utf-8"?>
<Types xmlns="http://schemas.openxmlformats.org/package/2006/content-types">
  <Default Extension="bin" ContentType="image/png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5" r:id="rId3"/>
    <p:sldId id="257" r:id="rId4"/>
    <p:sldId id="258" r:id="rId5"/>
    <p:sldId id="314" r:id="rId6"/>
    <p:sldId id="269" r:id="rId7"/>
    <p:sldId id="291" r:id="rId8"/>
    <p:sldId id="270" r:id="rId9"/>
    <p:sldId id="315" r:id="rId10"/>
    <p:sldId id="271" r:id="rId11"/>
    <p:sldId id="316" r:id="rId12"/>
    <p:sldId id="262" r:id="rId13"/>
    <p:sldId id="272" r:id="rId14"/>
    <p:sldId id="274" r:id="rId15"/>
    <p:sldId id="275" r:id="rId16"/>
    <p:sldId id="296" r:id="rId17"/>
    <p:sldId id="276" r:id="rId18"/>
    <p:sldId id="317" r:id="rId19"/>
    <p:sldId id="297" r:id="rId20"/>
    <p:sldId id="299" r:id="rId21"/>
    <p:sldId id="264" r:id="rId22"/>
    <p:sldId id="318" r:id="rId23"/>
    <p:sldId id="319" r:id="rId24"/>
    <p:sldId id="320" r:id="rId25"/>
    <p:sldId id="321" r:id="rId26"/>
    <p:sldId id="322" r:id="rId27"/>
    <p:sldId id="323" r:id="rId28"/>
    <p:sldId id="324" r:id="rId29"/>
    <p:sldId id="325" r:id="rId30"/>
    <p:sldId id="326" r:id="rId31"/>
    <p:sldId id="327" r:id="rId32"/>
    <p:sldId id="328" r:id="rId33"/>
    <p:sldId id="329" r:id="rId34"/>
    <p:sldId id="330" r:id="rId35"/>
    <p:sldId id="331" r:id="rId36"/>
    <p:sldId id="332" r:id="rId37"/>
    <p:sldId id="333" r:id="rId38"/>
    <p:sldId id="334" r:id="rId39"/>
    <p:sldId id="335" r:id="rId40"/>
    <p:sldId id="336" r:id="rId41"/>
    <p:sldId id="337" r:id="rId42"/>
    <p:sldId id="338" r:id="rId43"/>
    <p:sldId id="339" r:id="rId44"/>
    <p:sldId id="340" r:id="rId45"/>
    <p:sldId id="341" r:id="rId46"/>
    <p:sldId id="342" r:id="rId4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C3F00"/>
    <a:srgbClr val="99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8589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184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" Target="../slides/slide4.xm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slide" Target="../slides/slide3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slide" Target="../slides/slide3.xml"/><Relationship Id="rId2" Type="http://schemas.openxmlformats.org/officeDocument/2006/relationships/slide" Target="../slides/slide4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" Target="../slides/slide3.xml"/><Relationship Id="rId2" Type="http://schemas.openxmlformats.org/officeDocument/2006/relationships/slide" Target="../slides/slide4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1"/>
            <a:ext cx="12192000" cy="6875297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0" y="-2"/>
            <a:ext cx="12192000" cy="6875297"/>
          </a:xfrm>
          <a:prstGeom prst="rect">
            <a:avLst/>
          </a:prstGeom>
          <a:solidFill>
            <a:schemeClr val="bg1">
              <a:alpha val="7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07245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1"/>
            <a:ext cx="12192000" cy="6875297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0" y="-2"/>
            <a:ext cx="12192000" cy="6875297"/>
          </a:xfrm>
          <a:prstGeom prst="rect">
            <a:avLst/>
          </a:prstGeom>
          <a:solidFill>
            <a:schemeClr val="bg1">
              <a:alpha val="7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圆角矩形 3">
            <a:hlinkClick r:id="rId3" action="ppaction://hlinksldjump"/>
          </p:cNvPr>
          <p:cNvSpPr/>
          <p:nvPr userDrawn="1"/>
        </p:nvSpPr>
        <p:spPr>
          <a:xfrm>
            <a:off x="11519592" y="6475887"/>
            <a:ext cx="554462" cy="270504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TextBox 26">
            <a:hlinkClick r:id="rId4" action="ppaction://hlinksldjump"/>
          </p:cNvPr>
          <p:cNvSpPr txBox="1"/>
          <p:nvPr userDrawn="1"/>
        </p:nvSpPr>
        <p:spPr>
          <a:xfrm>
            <a:off x="11519592" y="6454003"/>
            <a:ext cx="59856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376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 录</a:t>
            </a:r>
          </a:p>
        </p:txBody>
      </p:sp>
    </p:spTree>
    <p:extLst>
      <p:ext uri="{BB962C8B-B14F-4D97-AF65-F5344CB8AC3E}">
        <p14:creationId xmlns:p14="http://schemas.microsoft.com/office/powerpoint/2010/main" val="25146792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26"/>
          <p:cNvSpPr txBox="1"/>
          <p:nvPr userDrawn="1"/>
        </p:nvSpPr>
        <p:spPr>
          <a:xfrm>
            <a:off x="706382" y="28047"/>
            <a:ext cx="21595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376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方正新报宋_GBK" panose="03000509000000000000" pitchFamily="65" charset="-122"/>
                <a:ea typeface="方正新报宋_GBK" panose="03000509000000000000" pitchFamily="65" charset="-122"/>
                <a:cs typeface="+mn-cs"/>
              </a:rPr>
              <a:t>物理</a:t>
            </a:r>
            <a:r>
              <a:rPr kumimoji="0" lang="en-US" altLang="zh-CN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方正新报宋_GBK" panose="03000509000000000000" pitchFamily="65" charset="-122"/>
                <a:ea typeface="方正新报宋_GBK" panose="03000509000000000000" pitchFamily="65" charset="-122"/>
                <a:cs typeface="+mn-cs"/>
              </a:rPr>
              <a:t>·</a:t>
            </a: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方正新报宋_GBK" panose="03000509000000000000" pitchFamily="65" charset="-122"/>
                <a:ea typeface="方正新报宋_GBK" panose="03000509000000000000" pitchFamily="65" charset="-122"/>
                <a:cs typeface="+mn-cs"/>
              </a:rPr>
              <a:t>选择性必修第一册</a:t>
            </a:r>
          </a:p>
        </p:txBody>
      </p:sp>
      <p:sp>
        <p:nvSpPr>
          <p:cNvPr id="11" name="矩形 10"/>
          <p:cNvSpPr/>
          <p:nvPr userDrawn="1"/>
        </p:nvSpPr>
        <p:spPr>
          <a:xfrm>
            <a:off x="0" y="8758"/>
            <a:ext cx="508986" cy="357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1016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2" name="矩形 11"/>
          <p:cNvSpPr/>
          <p:nvPr userDrawn="1"/>
        </p:nvSpPr>
        <p:spPr>
          <a:xfrm>
            <a:off x="580369" y="14429"/>
            <a:ext cx="90025" cy="357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1016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3" name="直接箭头连接符 12"/>
          <p:cNvCxnSpPr/>
          <p:nvPr userDrawn="1"/>
        </p:nvCxnSpPr>
        <p:spPr>
          <a:xfrm>
            <a:off x="773038" y="366455"/>
            <a:ext cx="11377264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4" name="圆角矩形 13">
            <a:hlinkClick r:id="rId2" action="ppaction://hlinksldjump"/>
          </p:cNvPr>
          <p:cNvSpPr/>
          <p:nvPr userDrawn="1"/>
        </p:nvSpPr>
        <p:spPr>
          <a:xfrm>
            <a:off x="11519592" y="6475887"/>
            <a:ext cx="554462" cy="270504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TextBox 26">
            <a:hlinkClick r:id="rId3" action="ppaction://hlinksldjump"/>
          </p:cNvPr>
          <p:cNvSpPr txBox="1"/>
          <p:nvPr userDrawn="1"/>
        </p:nvSpPr>
        <p:spPr>
          <a:xfrm>
            <a:off x="11519592" y="6454003"/>
            <a:ext cx="59856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376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 录</a:t>
            </a:r>
          </a:p>
        </p:txBody>
      </p:sp>
    </p:spTree>
    <p:extLst>
      <p:ext uri="{BB962C8B-B14F-4D97-AF65-F5344CB8AC3E}">
        <p14:creationId xmlns:p14="http://schemas.microsoft.com/office/powerpoint/2010/main" val="3276152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圆角矩形 6">
            <a:hlinkClick r:id="rId2" action="ppaction://hlinksldjump"/>
          </p:cNvPr>
          <p:cNvSpPr/>
          <p:nvPr userDrawn="1"/>
        </p:nvSpPr>
        <p:spPr>
          <a:xfrm>
            <a:off x="11519592" y="6475887"/>
            <a:ext cx="554462" cy="270504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TextBox 26">
            <a:hlinkClick r:id="rId3" action="ppaction://hlinksldjump"/>
          </p:cNvPr>
          <p:cNvSpPr txBox="1"/>
          <p:nvPr userDrawn="1"/>
        </p:nvSpPr>
        <p:spPr>
          <a:xfrm>
            <a:off x="11508077" y="6459951"/>
            <a:ext cx="59856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376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 录</a:t>
            </a:r>
          </a:p>
        </p:txBody>
      </p:sp>
    </p:spTree>
    <p:extLst>
      <p:ext uri="{BB962C8B-B14F-4D97-AF65-F5344CB8AC3E}">
        <p14:creationId xmlns:p14="http://schemas.microsoft.com/office/powerpoint/2010/main" val="10298059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05322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9369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3" r:id="rId2"/>
    <p:sldLayoutId id="2147483651" r:id="rId3"/>
    <p:sldLayoutId id="2147483650" r:id="rId4"/>
    <p:sldLayoutId id="2147483652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" Target="slide4.xml"/><Relationship Id="rId1" Type="http://schemas.openxmlformats.org/officeDocument/2006/relationships/slideLayout" Target="../slideLayouts/slideLayout5.xml"/><Relationship Id="rId5" Type="http://schemas.openxmlformats.org/officeDocument/2006/relationships/slide" Target="slide21.xml"/><Relationship Id="rId4" Type="http://schemas.openxmlformats.org/officeDocument/2006/relationships/slide" Target="slide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" Target="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" Target="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slide" Target="slide30.xml"/><Relationship Id="rId13" Type="http://schemas.openxmlformats.org/officeDocument/2006/relationships/slide" Target="slide40.xml"/><Relationship Id="rId3" Type="http://schemas.openxmlformats.org/officeDocument/2006/relationships/image" Target="../media/image28.png"/><Relationship Id="rId7" Type="http://schemas.openxmlformats.org/officeDocument/2006/relationships/slide" Target="slide28.xml"/><Relationship Id="rId12" Type="http://schemas.openxmlformats.org/officeDocument/2006/relationships/slide" Target="slide38.xml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Relationship Id="rId6" Type="http://schemas.openxmlformats.org/officeDocument/2006/relationships/slide" Target="slide26.xml"/><Relationship Id="rId11" Type="http://schemas.openxmlformats.org/officeDocument/2006/relationships/slide" Target="slide36.xml"/><Relationship Id="rId5" Type="http://schemas.openxmlformats.org/officeDocument/2006/relationships/slide" Target="slide24.xml"/><Relationship Id="rId10" Type="http://schemas.openxmlformats.org/officeDocument/2006/relationships/slide" Target="slide34.xml"/><Relationship Id="rId4" Type="http://schemas.openxmlformats.org/officeDocument/2006/relationships/slide" Target="slide22.xml"/><Relationship Id="rId9" Type="http://schemas.openxmlformats.org/officeDocument/2006/relationships/slide" Target="slide32.xml"/><Relationship Id="rId14" Type="http://schemas.openxmlformats.org/officeDocument/2006/relationships/slide" Target="slide43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slide" Target="slide32.xml"/><Relationship Id="rId13" Type="http://schemas.openxmlformats.org/officeDocument/2006/relationships/slide" Target="slide43.xml"/><Relationship Id="rId3" Type="http://schemas.openxmlformats.org/officeDocument/2006/relationships/slide" Target="slide22.xml"/><Relationship Id="rId7" Type="http://schemas.openxmlformats.org/officeDocument/2006/relationships/slide" Target="slide30.xml"/><Relationship Id="rId12" Type="http://schemas.openxmlformats.org/officeDocument/2006/relationships/slide" Target="slide40.xml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Relationship Id="rId6" Type="http://schemas.openxmlformats.org/officeDocument/2006/relationships/slide" Target="slide28.xml"/><Relationship Id="rId11" Type="http://schemas.openxmlformats.org/officeDocument/2006/relationships/slide" Target="slide38.xml"/><Relationship Id="rId5" Type="http://schemas.openxmlformats.org/officeDocument/2006/relationships/slide" Target="slide26.xml"/><Relationship Id="rId10" Type="http://schemas.openxmlformats.org/officeDocument/2006/relationships/slide" Target="slide36.xml"/><Relationship Id="rId4" Type="http://schemas.openxmlformats.org/officeDocument/2006/relationships/slide" Target="slide24.xml"/><Relationship Id="rId9" Type="http://schemas.openxmlformats.org/officeDocument/2006/relationships/slide" Target="slide34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slide" Target="slide32.xml"/><Relationship Id="rId13" Type="http://schemas.openxmlformats.org/officeDocument/2006/relationships/slide" Target="slide43.xml"/><Relationship Id="rId3" Type="http://schemas.openxmlformats.org/officeDocument/2006/relationships/slide" Target="slide22.xml"/><Relationship Id="rId7" Type="http://schemas.openxmlformats.org/officeDocument/2006/relationships/slide" Target="slide30.xml"/><Relationship Id="rId12" Type="http://schemas.openxmlformats.org/officeDocument/2006/relationships/slide" Target="slide40.xm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Relationship Id="rId6" Type="http://schemas.openxmlformats.org/officeDocument/2006/relationships/slide" Target="slide28.xml"/><Relationship Id="rId11" Type="http://schemas.openxmlformats.org/officeDocument/2006/relationships/slide" Target="slide38.xml"/><Relationship Id="rId5" Type="http://schemas.openxmlformats.org/officeDocument/2006/relationships/slide" Target="slide26.xml"/><Relationship Id="rId10" Type="http://schemas.openxmlformats.org/officeDocument/2006/relationships/slide" Target="slide36.xml"/><Relationship Id="rId4" Type="http://schemas.openxmlformats.org/officeDocument/2006/relationships/slide" Target="slide24.xml"/><Relationship Id="rId9" Type="http://schemas.openxmlformats.org/officeDocument/2006/relationships/slide" Target="slide34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slide" Target="slide32.xml"/><Relationship Id="rId13" Type="http://schemas.openxmlformats.org/officeDocument/2006/relationships/slide" Target="slide43.xml"/><Relationship Id="rId3" Type="http://schemas.openxmlformats.org/officeDocument/2006/relationships/slide" Target="slide22.xml"/><Relationship Id="rId7" Type="http://schemas.openxmlformats.org/officeDocument/2006/relationships/slide" Target="slide30.xml"/><Relationship Id="rId12" Type="http://schemas.openxmlformats.org/officeDocument/2006/relationships/slide" Target="slide40.xml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Relationship Id="rId6" Type="http://schemas.openxmlformats.org/officeDocument/2006/relationships/slide" Target="slide28.xml"/><Relationship Id="rId11" Type="http://schemas.openxmlformats.org/officeDocument/2006/relationships/slide" Target="slide38.xml"/><Relationship Id="rId5" Type="http://schemas.openxmlformats.org/officeDocument/2006/relationships/slide" Target="slide26.xml"/><Relationship Id="rId10" Type="http://schemas.openxmlformats.org/officeDocument/2006/relationships/slide" Target="slide36.xml"/><Relationship Id="rId4" Type="http://schemas.openxmlformats.org/officeDocument/2006/relationships/slide" Target="slide24.xml"/><Relationship Id="rId9" Type="http://schemas.openxmlformats.org/officeDocument/2006/relationships/slide" Target="slide34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slide" Target="slide30.xml"/><Relationship Id="rId13" Type="http://schemas.openxmlformats.org/officeDocument/2006/relationships/slide" Target="slide40.xml"/><Relationship Id="rId3" Type="http://schemas.openxmlformats.org/officeDocument/2006/relationships/image" Target="../media/image32.png"/><Relationship Id="rId7" Type="http://schemas.openxmlformats.org/officeDocument/2006/relationships/slide" Target="slide28.xml"/><Relationship Id="rId12" Type="http://schemas.openxmlformats.org/officeDocument/2006/relationships/slide" Target="slide38.xml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3.xml"/><Relationship Id="rId6" Type="http://schemas.openxmlformats.org/officeDocument/2006/relationships/slide" Target="slide26.xml"/><Relationship Id="rId11" Type="http://schemas.openxmlformats.org/officeDocument/2006/relationships/slide" Target="slide36.xml"/><Relationship Id="rId5" Type="http://schemas.openxmlformats.org/officeDocument/2006/relationships/slide" Target="slide24.xml"/><Relationship Id="rId10" Type="http://schemas.openxmlformats.org/officeDocument/2006/relationships/slide" Target="slide34.xml"/><Relationship Id="rId4" Type="http://schemas.openxmlformats.org/officeDocument/2006/relationships/slide" Target="slide22.xml"/><Relationship Id="rId9" Type="http://schemas.openxmlformats.org/officeDocument/2006/relationships/slide" Target="slide32.xml"/><Relationship Id="rId14" Type="http://schemas.openxmlformats.org/officeDocument/2006/relationships/slide" Target="slide43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slide" Target="slide32.xml"/><Relationship Id="rId13" Type="http://schemas.openxmlformats.org/officeDocument/2006/relationships/slide" Target="slide43.xml"/><Relationship Id="rId3" Type="http://schemas.openxmlformats.org/officeDocument/2006/relationships/slide" Target="slide22.xml"/><Relationship Id="rId7" Type="http://schemas.openxmlformats.org/officeDocument/2006/relationships/slide" Target="slide30.xml"/><Relationship Id="rId12" Type="http://schemas.openxmlformats.org/officeDocument/2006/relationships/slide" Target="slide40.xml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Relationship Id="rId6" Type="http://schemas.openxmlformats.org/officeDocument/2006/relationships/slide" Target="slide28.xml"/><Relationship Id="rId11" Type="http://schemas.openxmlformats.org/officeDocument/2006/relationships/slide" Target="slide38.xml"/><Relationship Id="rId5" Type="http://schemas.openxmlformats.org/officeDocument/2006/relationships/slide" Target="slide26.xml"/><Relationship Id="rId10" Type="http://schemas.openxmlformats.org/officeDocument/2006/relationships/slide" Target="slide36.xml"/><Relationship Id="rId4" Type="http://schemas.openxmlformats.org/officeDocument/2006/relationships/slide" Target="slide24.xml"/><Relationship Id="rId9" Type="http://schemas.openxmlformats.org/officeDocument/2006/relationships/slide" Target="slide34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slide" Target="slide32.xml"/><Relationship Id="rId13" Type="http://schemas.openxmlformats.org/officeDocument/2006/relationships/slide" Target="slide43.xml"/><Relationship Id="rId3" Type="http://schemas.openxmlformats.org/officeDocument/2006/relationships/slide" Target="slide22.xml"/><Relationship Id="rId7" Type="http://schemas.openxmlformats.org/officeDocument/2006/relationships/slide" Target="slide30.xml"/><Relationship Id="rId12" Type="http://schemas.openxmlformats.org/officeDocument/2006/relationships/slide" Target="slide40.xml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Relationship Id="rId6" Type="http://schemas.openxmlformats.org/officeDocument/2006/relationships/slide" Target="slide28.xml"/><Relationship Id="rId11" Type="http://schemas.openxmlformats.org/officeDocument/2006/relationships/slide" Target="slide38.xml"/><Relationship Id="rId5" Type="http://schemas.openxmlformats.org/officeDocument/2006/relationships/slide" Target="slide26.xml"/><Relationship Id="rId10" Type="http://schemas.openxmlformats.org/officeDocument/2006/relationships/slide" Target="slide36.xml"/><Relationship Id="rId4" Type="http://schemas.openxmlformats.org/officeDocument/2006/relationships/slide" Target="slide24.xml"/><Relationship Id="rId9" Type="http://schemas.openxmlformats.org/officeDocument/2006/relationships/slide" Target="slide34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slide" Target="slide34.xml"/><Relationship Id="rId3" Type="http://schemas.openxmlformats.org/officeDocument/2006/relationships/slide" Target="slide24.xml"/><Relationship Id="rId7" Type="http://schemas.openxmlformats.org/officeDocument/2006/relationships/slide" Target="slide32.xml"/><Relationship Id="rId12" Type="http://schemas.openxmlformats.org/officeDocument/2006/relationships/slide" Target="slide43.xml"/><Relationship Id="rId2" Type="http://schemas.openxmlformats.org/officeDocument/2006/relationships/slide" Target="slide22.xml"/><Relationship Id="rId1" Type="http://schemas.openxmlformats.org/officeDocument/2006/relationships/slideLayout" Target="../slideLayouts/slideLayout3.xml"/><Relationship Id="rId6" Type="http://schemas.openxmlformats.org/officeDocument/2006/relationships/slide" Target="slide30.xml"/><Relationship Id="rId11" Type="http://schemas.openxmlformats.org/officeDocument/2006/relationships/slide" Target="slide40.xml"/><Relationship Id="rId5" Type="http://schemas.openxmlformats.org/officeDocument/2006/relationships/slide" Target="slide28.xml"/><Relationship Id="rId10" Type="http://schemas.openxmlformats.org/officeDocument/2006/relationships/slide" Target="slide38.xml"/><Relationship Id="rId4" Type="http://schemas.openxmlformats.org/officeDocument/2006/relationships/slide" Target="slide26.xml"/><Relationship Id="rId9" Type="http://schemas.openxmlformats.org/officeDocument/2006/relationships/slide" Target="slide36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slide" Target="slide32.xml"/><Relationship Id="rId13" Type="http://schemas.openxmlformats.org/officeDocument/2006/relationships/slide" Target="slide43.xml"/><Relationship Id="rId3" Type="http://schemas.openxmlformats.org/officeDocument/2006/relationships/slide" Target="slide22.xml"/><Relationship Id="rId7" Type="http://schemas.openxmlformats.org/officeDocument/2006/relationships/slide" Target="slide30.xml"/><Relationship Id="rId12" Type="http://schemas.openxmlformats.org/officeDocument/2006/relationships/slide" Target="slide40.xml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3.xml"/><Relationship Id="rId6" Type="http://schemas.openxmlformats.org/officeDocument/2006/relationships/slide" Target="slide28.xml"/><Relationship Id="rId11" Type="http://schemas.openxmlformats.org/officeDocument/2006/relationships/slide" Target="slide38.xml"/><Relationship Id="rId5" Type="http://schemas.openxmlformats.org/officeDocument/2006/relationships/slide" Target="slide26.xml"/><Relationship Id="rId10" Type="http://schemas.openxmlformats.org/officeDocument/2006/relationships/slide" Target="slide36.xml"/><Relationship Id="rId4" Type="http://schemas.openxmlformats.org/officeDocument/2006/relationships/slide" Target="slide24.xml"/><Relationship Id="rId9" Type="http://schemas.openxmlformats.org/officeDocument/2006/relationships/slide" Target="slide34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slide" Target="slide32.xml"/><Relationship Id="rId13" Type="http://schemas.openxmlformats.org/officeDocument/2006/relationships/slide" Target="slide43.xml"/><Relationship Id="rId3" Type="http://schemas.openxmlformats.org/officeDocument/2006/relationships/slide" Target="slide22.xml"/><Relationship Id="rId7" Type="http://schemas.openxmlformats.org/officeDocument/2006/relationships/slide" Target="slide30.xml"/><Relationship Id="rId12" Type="http://schemas.openxmlformats.org/officeDocument/2006/relationships/slide" Target="slide40.xml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3.xml"/><Relationship Id="rId6" Type="http://schemas.openxmlformats.org/officeDocument/2006/relationships/slide" Target="slide28.xml"/><Relationship Id="rId11" Type="http://schemas.openxmlformats.org/officeDocument/2006/relationships/slide" Target="slide38.xml"/><Relationship Id="rId5" Type="http://schemas.openxmlformats.org/officeDocument/2006/relationships/slide" Target="slide26.xml"/><Relationship Id="rId10" Type="http://schemas.openxmlformats.org/officeDocument/2006/relationships/slide" Target="slide36.xml"/><Relationship Id="rId4" Type="http://schemas.openxmlformats.org/officeDocument/2006/relationships/slide" Target="slide24.xml"/><Relationship Id="rId9" Type="http://schemas.openxmlformats.org/officeDocument/2006/relationships/slide" Target="slide34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slide" Target="slide30.xml"/><Relationship Id="rId13" Type="http://schemas.openxmlformats.org/officeDocument/2006/relationships/slide" Target="slide40.xml"/><Relationship Id="rId3" Type="http://schemas.openxmlformats.org/officeDocument/2006/relationships/image" Target="../media/image37.png"/><Relationship Id="rId7" Type="http://schemas.openxmlformats.org/officeDocument/2006/relationships/slide" Target="slide28.xml"/><Relationship Id="rId12" Type="http://schemas.openxmlformats.org/officeDocument/2006/relationships/slide" Target="slide38.xml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3.xml"/><Relationship Id="rId6" Type="http://schemas.openxmlformats.org/officeDocument/2006/relationships/slide" Target="slide26.xml"/><Relationship Id="rId11" Type="http://schemas.openxmlformats.org/officeDocument/2006/relationships/slide" Target="slide36.xml"/><Relationship Id="rId5" Type="http://schemas.openxmlformats.org/officeDocument/2006/relationships/slide" Target="slide24.xml"/><Relationship Id="rId10" Type="http://schemas.openxmlformats.org/officeDocument/2006/relationships/slide" Target="slide34.xml"/><Relationship Id="rId4" Type="http://schemas.openxmlformats.org/officeDocument/2006/relationships/slide" Target="slide22.xml"/><Relationship Id="rId9" Type="http://schemas.openxmlformats.org/officeDocument/2006/relationships/slide" Target="slide32.xml"/><Relationship Id="rId14" Type="http://schemas.openxmlformats.org/officeDocument/2006/relationships/slide" Target="slide43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slide" Target="slide32.xml"/><Relationship Id="rId13" Type="http://schemas.openxmlformats.org/officeDocument/2006/relationships/slide" Target="slide43.xml"/><Relationship Id="rId3" Type="http://schemas.openxmlformats.org/officeDocument/2006/relationships/slide" Target="slide22.xml"/><Relationship Id="rId7" Type="http://schemas.openxmlformats.org/officeDocument/2006/relationships/slide" Target="slide30.xml"/><Relationship Id="rId12" Type="http://schemas.openxmlformats.org/officeDocument/2006/relationships/slide" Target="slide40.xml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Relationship Id="rId6" Type="http://schemas.openxmlformats.org/officeDocument/2006/relationships/slide" Target="slide28.xml"/><Relationship Id="rId11" Type="http://schemas.openxmlformats.org/officeDocument/2006/relationships/slide" Target="slide38.xml"/><Relationship Id="rId5" Type="http://schemas.openxmlformats.org/officeDocument/2006/relationships/slide" Target="slide26.xml"/><Relationship Id="rId10" Type="http://schemas.openxmlformats.org/officeDocument/2006/relationships/slide" Target="slide36.xml"/><Relationship Id="rId4" Type="http://schemas.openxmlformats.org/officeDocument/2006/relationships/slide" Target="slide24.xml"/><Relationship Id="rId9" Type="http://schemas.openxmlformats.org/officeDocument/2006/relationships/slide" Target="slide34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slide" Target="slide26.xml"/><Relationship Id="rId13" Type="http://schemas.openxmlformats.org/officeDocument/2006/relationships/slide" Target="slide36.xml"/><Relationship Id="rId3" Type="http://schemas.openxmlformats.org/officeDocument/2006/relationships/image" Target="../media/image39.png"/><Relationship Id="rId7" Type="http://schemas.openxmlformats.org/officeDocument/2006/relationships/slide" Target="slide24.xml"/><Relationship Id="rId12" Type="http://schemas.openxmlformats.org/officeDocument/2006/relationships/slide" Target="slide34.xml"/><Relationship Id="rId2" Type="http://schemas.openxmlformats.org/officeDocument/2006/relationships/image" Target="../media/image190.png"/><Relationship Id="rId16" Type="http://schemas.openxmlformats.org/officeDocument/2006/relationships/slide" Target="slide43.xml"/><Relationship Id="rId1" Type="http://schemas.openxmlformats.org/officeDocument/2006/relationships/slideLayout" Target="../slideLayouts/slideLayout3.xml"/><Relationship Id="rId6" Type="http://schemas.openxmlformats.org/officeDocument/2006/relationships/slide" Target="slide22.xml"/><Relationship Id="rId11" Type="http://schemas.openxmlformats.org/officeDocument/2006/relationships/slide" Target="slide32.xml"/><Relationship Id="rId5" Type="http://schemas.openxmlformats.org/officeDocument/2006/relationships/image" Target="../media/image41.png"/><Relationship Id="rId15" Type="http://schemas.openxmlformats.org/officeDocument/2006/relationships/slide" Target="slide40.xml"/><Relationship Id="rId10" Type="http://schemas.openxmlformats.org/officeDocument/2006/relationships/slide" Target="slide30.xml"/><Relationship Id="rId4" Type="http://schemas.openxmlformats.org/officeDocument/2006/relationships/image" Target="../media/image40.bin"/><Relationship Id="rId9" Type="http://schemas.openxmlformats.org/officeDocument/2006/relationships/slide" Target="slide28.xml"/><Relationship Id="rId14" Type="http://schemas.openxmlformats.org/officeDocument/2006/relationships/slide" Target="slide38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slide" Target="slide32.xml"/><Relationship Id="rId13" Type="http://schemas.openxmlformats.org/officeDocument/2006/relationships/slide" Target="slide43.xml"/><Relationship Id="rId3" Type="http://schemas.openxmlformats.org/officeDocument/2006/relationships/slide" Target="slide22.xml"/><Relationship Id="rId7" Type="http://schemas.openxmlformats.org/officeDocument/2006/relationships/slide" Target="slide30.xml"/><Relationship Id="rId12" Type="http://schemas.openxmlformats.org/officeDocument/2006/relationships/slide" Target="slide40.xml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3.xml"/><Relationship Id="rId6" Type="http://schemas.openxmlformats.org/officeDocument/2006/relationships/slide" Target="slide28.xml"/><Relationship Id="rId11" Type="http://schemas.openxmlformats.org/officeDocument/2006/relationships/slide" Target="slide38.xml"/><Relationship Id="rId5" Type="http://schemas.openxmlformats.org/officeDocument/2006/relationships/slide" Target="slide26.xml"/><Relationship Id="rId10" Type="http://schemas.openxmlformats.org/officeDocument/2006/relationships/slide" Target="slide36.xml"/><Relationship Id="rId4" Type="http://schemas.openxmlformats.org/officeDocument/2006/relationships/slide" Target="slide24.xml"/><Relationship Id="rId9" Type="http://schemas.openxmlformats.org/officeDocument/2006/relationships/slide" Target="slide34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slide" Target="slide32.xml"/><Relationship Id="rId13" Type="http://schemas.openxmlformats.org/officeDocument/2006/relationships/slide" Target="slide43.xml"/><Relationship Id="rId3" Type="http://schemas.openxmlformats.org/officeDocument/2006/relationships/slide" Target="slide22.xml"/><Relationship Id="rId7" Type="http://schemas.openxmlformats.org/officeDocument/2006/relationships/slide" Target="slide30.xml"/><Relationship Id="rId12" Type="http://schemas.openxmlformats.org/officeDocument/2006/relationships/slide" Target="slide40.xml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.xml"/><Relationship Id="rId6" Type="http://schemas.openxmlformats.org/officeDocument/2006/relationships/slide" Target="slide28.xml"/><Relationship Id="rId11" Type="http://schemas.openxmlformats.org/officeDocument/2006/relationships/slide" Target="slide38.xml"/><Relationship Id="rId5" Type="http://schemas.openxmlformats.org/officeDocument/2006/relationships/slide" Target="slide26.xml"/><Relationship Id="rId10" Type="http://schemas.openxmlformats.org/officeDocument/2006/relationships/slide" Target="slide36.xml"/><Relationship Id="rId4" Type="http://schemas.openxmlformats.org/officeDocument/2006/relationships/slide" Target="slide24.xml"/><Relationship Id="rId9" Type="http://schemas.openxmlformats.org/officeDocument/2006/relationships/slide" Target="slide34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slide" Target="slide30.xml"/><Relationship Id="rId13" Type="http://schemas.openxmlformats.org/officeDocument/2006/relationships/slide" Target="slide40.xml"/><Relationship Id="rId3" Type="http://schemas.openxmlformats.org/officeDocument/2006/relationships/image" Target="../media/image45.png"/><Relationship Id="rId7" Type="http://schemas.openxmlformats.org/officeDocument/2006/relationships/slide" Target="slide28.xml"/><Relationship Id="rId12" Type="http://schemas.openxmlformats.org/officeDocument/2006/relationships/slide" Target="slide38.xml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3.xml"/><Relationship Id="rId6" Type="http://schemas.openxmlformats.org/officeDocument/2006/relationships/slide" Target="slide26.xml"/><Relationship Id="rId11" Type="http://schemas.openxmlformats.org/officeDocument/2006/relationships/slide" Target="slide36.xml"/><Relationship Id="rId5" Type="http://schemas.openxmlformats.org/officeDocument/2006/relationships/slide" Target="slide24.xml"/><Relationship Id="rId10" Type="http://schemas.openxmlformats.org/officeDocument/2006/relationships/slide" Target="slide34.xml"/><Relationship Id="rId4" Type="http://schemas.openxmlformats.org/officeDocument/2006/relationships/slide" Target="slide22.xml"/><Relationship Id="rId9" Type="http://schemas.openxmlformats.org/officeDocument/2006/relationships/slide" Target="slide32.xml"/><Relationship Id="rId14" Type="http://schemas.openxmlformats.org/officeDocument/2006/relationships/slide" Target="slide43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slide" Target="slide30.xml"/><Relationship Id="rId13" Type="http://schemas.openxmlformats.org/officeDocument/2006/relationships/slide" Target="slide40.xml"/><Relationship Id="rId3" Type="http://schemas.openxmlformats.org/officeDocument/2006/relationships/image" Target="../media/image46.png"/><Relationship Id="rId7" Type="http://schemas.openxmlformats.org/officeDocument/2006/relationships/slide" Target="slide28.xml"/><Relationship Id="rId12" Type="http://schemas.openxmlformats.org/officeDocument/2006/relationships/slide" Target="slide38.xml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3.xml"/><Relationship Id="rId6" Type="http://schemas.openxmlformats.org/officeDocument/2006/relationships/slide" Target="slide26.xml"/><Relationship Id="rId11" Type="http://schemas.openxmlformats.org/officeDocument/2006/relationships/slide" Target="slide36.xml"/><Relationship Id="rId5" Type="http://schemas.openxmlformats.org/officeDocument/2006/relationships/slide" Target="slide24.xml"/><Relationship Id="rId10" Type="http://schemas.openxmlformats.org/officeDocument/2006/relationships/slide" Target="slide34.xml"/><Relationship Id="rId4" Type="http://schemas.openxmlformats.org/officeDocument/2006/relationships/slide" Target="slide22.xml"/><Relationship Id="rId9" Type="http://schemas.openxmlformats.org/officeDocument/2006/relationships/slide" Target="slide32.xml"/><Relationship Id="rId14" Type="http://schemas.openxmlformats.org/officeDocument/2006/relationships/slide" Target="slide43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slide" Target="slide32.xml"/><Relationship Id="rId13" Type="http://schemas.openxmlformats.org/officeDocument/2006/relationships/slide" Target="slide43.xml"/><Relationship Id="rId3" Type="http://schemas.openxmlformats.org/officeDocument/2006/relationships/slide" Target="slide22.xml"/><Relationship Id="rId7" Type="http://schemas.openxmlformats.org/officeDocument/2006/relationships/slide" Target="slide30.xml"/><Relationship Id="rId12" Type="http://schemas.openxmlformats.org/officeDocument/2006/relationships/slide" Target="slide40.xml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3.xml"/><Relationship Id="rId6" Type="http://schemas.openxmlformats.org/officeDocument/2006/relationships/slide" Target="slide28.xml"/><Relationship Id="rId11" Type="http://schemas.openxmlformats.org/officeDocument/2006/relationships/slide" Target="slide38.xml"/><Relationship Id="rId5" Type="http://schemas.openxmlformats.org/officeDocument/2006/relationships/slide" Target="slide26.xml"/><Relationship Id="rId10" Type="http://schemas.openxmlformats.org/officeDocument/2006/relationships/slide" Target="slide36.xml"/><Relationship Id="rId4" Type="http://schemas.openxmlformats.org/officeDocument/2006/relationships/slide" Target="slide24.xml"/><Relationship Id="rId9" Type="http://schemas.openxmlformats.org/officeDocument/2006/relationships/slide" Target="slide34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slide" Target="slide32.xml"/><Relationship Id="rId13" Type="http://schemas.openxmlformats.org/officeDocument/2006/relationships/slide" Target="slide43.xml"/><Relationship Id="rId3" Type="http://schemas.openxmlformats.org/officeDocument/2006/relationships/slide" Target="slide22.xml"/><Relationship Id="rId7" Type="http://schemas.openxmlformats.org/officeDocument/2006/relationships/slide" Target="slide30.xml"/><Relationship Id="rId12" Type="http://schemas.openxmlformats.org/officeDocument/2006/relationships/slide" Target="slide40.xml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Relationship Id="rId6" Type="http://schemas.openxmlformats.org/officeDocument/2006/relationships/slide" Target="slide28.xml"/><Relationship Id="rId11" Type="http://schemas.openxmlformats.org/officeDocument/2006/relationships/slide" Target="slide38.xml"/><Relationship Id="rId5" Type="http://schemas.openxmlformats.org/officeDocument/2006/relationships/slide" Target="slide26.xml"/><Relationship Id="rId10" Type="http://schemas.openxmlformats.org/officeDocument/2006/relationships/slide" Target="slide36.xml"/><Relationship Id="rId4" Type="http://schemas.openxmlformats.org/officeDocument/2006/relationships/slide" Target="slide24.xml"/><Relationship Id="rId9" Type="http://schemas.openxmlformats.org/officeDocument/2006/relationships/slide" Target="slide34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slide" Target="slide34.xml"/><Relationship Id="rId3" Type="http://schemas.openxmlformats.org/officeDocument/2006/relationships/slide" Target="slide24.xml"/><Relationship Id="rId7" Type="http://schemas.openxmlformats.org/officeDocument/2006/relationships/slide" Target="slide32.xml"/><Relationship Id="rId12" Type="http://schemas.openxmlformats.org/officeDocument/2006/relationships/slide" Target="slide43.xml"/><Relationship Id="rId2" Type="http://schemas.openxmlformats.org/officeDocument/2006/relationships/slide" Target="slide22.xml"/><Relationship Id="rId1" Type="http://schemas.openxmlformats.org/officeDocument/2006/relationships/slideLayout" Target="../slideLayouts/slideLayout3.xml"/><Relationship Id="rId6" Type="http://schemas.openxmlformats.org/officeDocument/2006/relationships/slide" Target="slide30.xml"/><Relationship Id="rId11" Type="http://schemas.openxmlformats.org/officeDocument/2006/relationships/slide" Target="slide40.xml"/><Relationship Id="rId5" Type="http://schemas.openxmlformats.org/officeDocument/2006/relationships/slide" Target="slide28.xml"/><Relationship Id="rId10" Type="http://schemas.openxmlformats.org/officeDocument/2006/relationships/slide" Target="slide38.xml"/><Relationship Id="rId4" Type="http://schemas.openxmlformats.org/officeDocument/2006/relationships/slide" Target="slide26.xml"/><Relationship Id="rId9" Type="http://schemas.openxmlformats.org/officeDocument/2006/relationships/slide" Target="slide36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slide" Target="slide32.xml"/><Relationship Id="rId13" Type="http://schemas.openxmlformats.org/officeDocument/2006/relationships/slide" Target="slide43.xml"/><Relationship Id="rId3" Type="http://schemas.openxmlformats.org/officeDocument/2006/relationships/slide" Target="slide22.xml"/><Relationship Id="rId7" Type="http://schemas.openxmlformats.org/officeDocument/2006/relationships/slide" Target="slide30.xml"/><Relationship Id="rId12" Type="http://schemas.openxmlformats.org/officeDocument/2006/relationships/slide" Target="slide40.xml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3.xml"/><Relationship Id="rId6" Type="http://schemas.openxmlformats.org/officeDocument/2006/relationships/slide" Target="slide28.xml"/><Relationship Id="rId11" Type="http://schemas.openxmlformats.org/officeDocument/2006/relationships/slide" Target="slide38.xml"/><Relationship Id="rId5" Type="http://schemas.openxmlformats.org/officeDocument/2006/relationships/slide" Target="slide26.xml"/><Relationship Id="rId10" Type="http://schemas.openxmlformats.org/officeDocument/2006/relationships/slide" Target="slide36.xml"/><Relationship Id="rId4" Type="http://schemas.openxmlformats.org/officeDocument/2006/relationships/slide" Target="slide24.xml"/><Relationship Id="rId9" Type="http://schemas.openxmlformats.org/officeDocument/2006/relationships/slide" Target="slide34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slide" Target="slide32.xml"/><Relationship Id="rId13" Type="http://schemas.openxmlformats.org/officeDocument/2006/relationships/slide" Target="slide43.xml"/><Relationship Id="rId3" Type="http://schemas.openxmlformats.org/officeDocument/2006/relationships/slide" Target="slide22.xml"/><Relationship Id="rId7" Type="http://schemas.openxmlformats.org/officeDocument/2006/relationships/slide" Target="slide30.xml"/><Relationship Id="rId12" Type="http://schemas.openxmlformats.org/officeDocument/2006/relationships/slide" Target="slide40.xml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3.xml"/><Relationship Id="rId6" Type="http://schemas.openxmlformats.org/officeDocument/2006/relationships/slide" Target="slide28.xml"/><Relationship Id="rId11" Type="http://schemas.openxmlformats.org/officeDocument/2006/relationships/slide" Target="slide38.xml"/><Relationship Id="rId5" Type="http://schemas.openxmlformats.org/officeDocument/2006/relationships/slide" Target="slide26.xml"/><Relationship Id="rId10" Type="http://schemas.openxmlformats.org/officeDocument/2006/relationships/slide" Target="slide36.xml"/><Relationship Id="rId4" Type="http://schemas.openxmlformats.org/officeDocument/2006/relationships/slide" Target="slide24.xml"/><Relationship Id="rId9" Type="http://schemas.openxmlformats.org/officeDocument/2006/relationships/slide" Target="slide34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slide" Target="slide30.xml"/><Relationship Id="rId13" Type="http://schemas.openxmlformats.org/officeDocument/2006/relationships/slide" Target="slide40.xml"/><Relationship Id="rId3" Type="http://schemas.openxmlformats.org/officeDocument/2006/relationships/image" Target="../media/image52.png"/><Relationship Id="rId7" Type="http://schemas.openxmlformats.org/officeDocument/2006/relationships/slide" Target="slide28.xml"/><Relationship Id="rId12" Type="http://schemas.openxmlformats.org/officeDocument/2006/relationships/slide" Target="slide38.xml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3.xml"/><Relationship Id="rId6" Type="http://schemas.openxmlformats.org/officeDocument/2006/relationships/slide" Target="slide26.xml"/><Relationship Id="rId11" Type="http://schemas.openxmlformats.org/officeDocument/2006/relationships/slide" Target="slide36.xml"/><Relationship Id="rId5" Type="http://schemas.openxmlformats.org/officeDocument/2006/relationships/slide" Target="slide24.xml"/><Relationship Id="rId10" Type="http://schemas.openxmlformats.org/officeDocument/2006/relationships/slide" Target="slide34.xml"/><Relationship Id="rId4" Type="http://schemas.openxmlformats.org/officeDocument/2006/relationships/slide" Target="slide22.xml"/><Relationship Id="rId9" Type="http://schemas.openxmlformats.org/officeDocument/2006/relationships/slide" Target="slide32.xml"/><Relationship Id="rId14" Type="http://schemas.openxmlformats.org/officeDocument/2006/relationships/slide" Target="slide43.xm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slide" Target="slide22.xml"/><Relationship Id="rId13" Type="http://schemas.openxmlformats.org/officeDocument/2006/relationships/slide" Target="slide32.xml"/><Relationship Id="rId18" Type="http://schemas.openxmlformats.org/officeDocument/2006/relationships/slide" Target="slide43.xml"/><Relationship Id="rId3" Type="http://schemas.openxmlformats.org/officeDocument/2006/relationships/image" Target="../media/image54.png"/><Relationship Id="rId7" Type="http://schemas.openxmlformats.org/officeDocument/2006/relationships/image" Target="../media/image58.png"/><Relationship Id="rId12" Type="http://schemas.openxmlformats.org/officeDocument/2006/relationships/slide" Target="slide30.xml"/><Relationship Id="rId17" Type="http://schemas.openxmlformats.org/officeDocument/2006/relationships/slide" Target="slide40.xml"/><Relationship Id="rId2" Type="http://schemas.openxmlformats.org/officeDocument/2006/relationships/image" Target="../media/image53.png"/><Relationship Id="rId16" Type="http://schemas.openxmlformats.org/officeDocument/2006/relationships/slide" Target="slide3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7.png"/><Relationship Id="rId11" Type="http://schemas.openxmlformats.org/officeDocument/2006/relationships/slide" Target="slide28.xml"/><Relationship Id="rId5" Type="http://schemas.openxmlformats.org/officeDocument/2006/relationships/image" Target="../media/image56.png"/><Relationship Id="rId15" Type="http://schemas.openxmlformats.org/officeDocument/2006/relationships/slide" Target="slide36.xml"/><Relationship Id="rId10" Type="http://schemas.openxmlformats.org/officeDocument/2006/relationships/slide" Target="slide26.xml"/><Relationship Id="rId4" Type="http://schemas.openxmlformats.org/officeDocument/2006/relationships/image" Target="../media/image55.png"/><Relationship Id="rId9" Type="http://schemas.openxmlformats.org/officeDocument/2006/relationships/slide" Target="slide24.xml"/><Relationship Id="rId14" Type="http://schemas.openxmlformats.org/officeDocument/2006/relationships/slide" Target="slide3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YTSlide_9_1_0.9_1.3_0.9_1.1__1_1_0_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" y="2144142"/>
            <a:ext cx="12208713" cy="2904107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>
            <a:off x="19050" y="2152649"/>
            <a:ext cx="12192000" cy="2895600"/>
          </a:xfrm>
          <a:prstGeom prst="rect">
            <a:avLst/>
          </a:prstGeom>
          <a:solidFill>
            <a:schemeClr val="tx1">
              <a:lumMod val="50000"/>
              <a:lumOff val="50000"/>
              <a:alpha val="2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0" y="2458695"/>
            <a:ext cx="12192000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1" latinLnBrk="0" hangingPunct="0"/>
            <a:r>
              <a:rPr lang="zh-CN" altLang="en-US" sz="55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专题强化3　</a:t>
            </a:r>
            <a:endParaRPr lang="en-US" altLang="zh-CN" sz="55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eaLnBrk="1" latinLnBrk="0" hangingPunct="0"/>
            <a:r>
              <a:rPr lang="zh-CN" altLang="en-US" sz="55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常见碰撞模型的应用（一）</a:t>
            </a:r>
          </a:p>
        </p:txBody>
      </p:sp>
    </p:spTree>
    <p:extLst>
      <p:ext uri="{BB962C8B-B14F-4D97-AF65-F5344CB8AC3E}">
        <p14:creationId xmlns:p14="http://schemas.microsoft.com/office/powerpoint/2010/main" val="352947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1042739" y="2058271"/>
            <a:ext cx="10106525" cy="4081088"/>
            <a:chOff x="1042739" y="2058271"/>
            <a:chExt cx="10106525" cy="4081088"/>
          </a:xfrm>
          <a:solidFill>
            <a:schemeClr val="accent2">
              <a:lumMod val="60000"/>
              <a:lumOff val="40000"/>
            </a:schemeClr>
          </a:solidFill>
        </p:grpSpPr>
        <p:sp>
          <p:nvSpPr>
            <p:cNvPr id="4" name="矩形 3"/>
            <p:cNvSpPr/>
            <p:nvPr/>
          </p:nvSpPr>
          <p:spPr>
            <a:xfrm>
              <a:off x="1042739" y="2132314"/>
              <a:ext cx="10106525" cy="4007045"/>
            </a:xfrm>
            <a:prstGeom prst="rect">
              <a:avLst/>
            </a:prstGeom>
            <a:grpFill/>
            <a:ln>
              <a:noFill/>
            </a:ln>
            <a:effectLst>
              <a:softEdge rad="3175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273"/>
              <a:endParaRPr lang="zh-CN" altLang="en-US" sz="1867">
                <a:solidFill>
                  <a:prstClr val="white"/>
                </a:solidFill>
              </a:endParaRPr>
            </a:p>
          </p:txBody>
        </p:sp>
        <p:sp>
          <p:nvSpPr>
            <p:cNvPr id="5" name="矩形 4"/>
            <p:cNvSpPr/>
            <p:nvPr/>
          </p:nvSpPr>
          <p:spPr>
            <a:xfrm>
              <a:off x="1177638" y="2058271"/>
              <a:ext cx="9836727" cy="3958560"/>
            </a:xfrm>
            <a:prstGeom prst="rect">
              <a:avLst/>
            </a:prstGeom>
            <a:grp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273"/>
              <a:endParaRPr lang="zh-CN" altLang="en-US" sz="1867">
                <a:solidFill>
                  <a:prstClr val="white"/>
                </a:solidFill>
              </a:endParaRPr>
            </a:p>
          </p:txBody>
        </p:sp>
      </p:grpSp>
      <p:sp>
        <p:nvSpPr>
          <p:cNvPr id="6" name="TextBox 9"/>
          <p:cNvSpPr>
            <a:spLocks noChangeArrowheads="1"/>
          </p:cNvSpPr>
          <p:nvPr/>
        </p:nvSpPr>
        <p:spPr bwMode="auto">
          <a:xfrm>
            <a:off x="1754887" y="2791498"/>
            <a:ext cx="8591085" cy="22738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2" tIns="60956" rIns="121912" bIns="60956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  <a:ea typeface="宋体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ea typeface="宋体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ea typeface="宋体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ea typeface="宋体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itchFamily="34" charset="0"/>
              <a:defRPr>
                <a:solidFill>
                  <a:schemeClr val="tx1"/>
                </a:solidFill>
                <a:latin typeface="Arial" pitchFamily="34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itchFamily="34" charset="0"/>
              <a:defRPr>
                <a:solidFill>
                  <a:schemeClr val="tx1"/>
                </a:solidFill>
                <a:latin typeface="Arial" pitchFamily="34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itchFamily="34" charset="0"/>
              <a:defRPr>
                <a:solidFill>
                  <a:schemeClr val="tx1"/>
                </a:solidFill>
                <a:latin typeface="Arial" pitchFamily="34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itchFamily="34" charset="0"/>
              <a:defRPr>
                <a:solidFill>
                  <a:schemeClr val="tx1"/>
                </a:solidFill>
                <a:latin typeface="Arial" pitchFamily="34" charset="0"/>
                <a:ea typeface="宋体" pitchFamily="2" charset="-122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CN" sz="2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</a:t>
            </a:r>
            <a:r>
              <a:rPr lang="zh-CN" altLang="en-US" sz="2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进一步掌握应用动量守恒定律和能量守恒定律解决碰撞问题的技巧。</a:t>
            </a:r>
          </a:p>
          <a:p>
            <a:pPr>
              <a:lnSpc>
                <a:spcPct val="150000"/>
              </a:lnSpc>
            </a:pPr>
            <a:r>
              <a:rPr lang="en-US" altLang="zh-CN" sz="2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</a:t>
            </a:r>
            <a:r>
              <a:rPr lang="zh-CN" altLang="en-US" sz="2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学会利用动量守恒定律和能量守恒定律等分析“弹簧</a:t>
            </a:r>
            <a:r>
              <a:rPr lang="en-US" altLang="zh-CN" sz="2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—</a:t>
            </a:r>
            <a:r>
              <a:rPr lang="zh-CN" altLang="en-US" sz="2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滑块”模型和“滑块</a:t>
            </a:r>
            <a:r>
              <a:rPr lang="en-US" altLang="zh-CN" sz="2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—</a:t>
            </a:r>
            <a:r>
              <a:rPr lang="zh-CN" altLang="en-US" sz="2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斜（曲）面”模型。</a:t>
            </a:r>
          </a:p>
        </p:txBody>
      </p:sp>
      <p:sp>
        <p:nvSpPr>
          <p:cNvPr id="8" name="矩形 7"/>
          <p:cNvSpPr/>
          <p:nvPr/>
        </p:nvSpPr>
        <p:spPr>
          <a:xfrm flipH="1">
            <a:off x="1177636" y="1081231"/>
            <a:ext cx="8936181" cy="1014062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rgbClr val="BDBDBD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TextBox 18"/>
          <p:cNvSpPr>
            <a:spLocks noChangeArrowheads="1"/>
          </p:cNvSpPr>
          <p:nvPr/>
        </p:nvSpPr>
        <p:spPr bwMode="auto">
          <a:xfrm>
            <a:off x="1184676" y="1157341"/>
            <a:ext cx="2554529" cy="815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121912" tIns="60956" rIns="121912" bIns="60956">
            <a:spAutoFit/>
          </a:bodyPr>
          <a:lstStyle/>
          <a:p>
            <a:pPr algn="ctr" defTabSz="914273"/>
            <a:r>
              <a:rPr lang="zh-CN" altLang="en-US" sz="4500" b="1" dirty="0">
                <a:solidFill>
                  <a:schemeClr val="accent2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方正大黑简体" pitchFamily="65" charset="-122"/>
              </a:rPr>
              <a:t>学习目标</a:t>
            </a: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28354" y="1081231"/>
            <a:ext cx="2234161" cy="1489441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980893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4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 tmFilter="0,0; .5, 1; 1, 1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 animBg="1"/>
      <p:bldP spid="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3238500" y="1527832"/>
            <a:ext cx="8597900" cy="4355381"/>
          </a:xfrm>
          <a:prstGeom prst="rect">
            <a:avLst/>
          </a:prstGeom>
          <a:noFill/>
          <a:ln w="22225">
            <a:solidFill>
              <a:schemeClr val="accent2">
                <a:lumMod val="75000"/>
                <a:alpha val="9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0" name="组合 9"/>
          <p:cNvGrpSpPr/>
          <p:nvPr/>
        </p:nvGrpSpPr>
        <p:grpSpPr>
          <a:xfrm>
            <a:off x="4752754" y="2060216"/>
            <a:ext cx="4013050" cy="483534"/>
            <a:chOff x="7253146" y="1959475"/>
            <a:chExt cx="5500070" cy="662705"/>
          </a:xfrm>
        </p:grpSpPr>
        <p:sp>
          <p:nvSpPr>
            <p:cNvPr id="11" name="椭圆 10">
              <a:hlinkClick r:id="rId2" action="ppaction://hlinksldjump"/>
            </p:cNvPr>
            <p:cNvSpPr/>
            <p:nvPr/>
          </p:nvSpPr>
          <p:spPr>
            <a:xfrm>
              <a:off x="7253146" y="1959475"/>
              <a:ext cx="662705" cy="662705"/>
            </a:xfrm>
            <a:prstGeom prst="ellipse">
              <a:avLst/>
            </a:prstGeom>
            <a:solidFill>
              <a:srgbClr val="993300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sz="2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01</a:t>
              </a:r>
              <a:endPara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" name="文本框 11">
              <a:hlinkClick r:id="rId2" action="ppaction://hlinksldjump"/>
            </p:cNvPr>
            <p:cNvSpPr txBox="1"/>
            <p:nvPr/>
          </p:nvSpPr>
          <p:spPr>
            <a:xfrm>
              <a:off x="8044628" y="2071617"/>
              <a:ext cx="4708588" cy="5061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强化点一　“弹簧</a:t>
              </a:r>
              <a:r>
                <a:rPr lang="en-US" altLang="zh-CN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—</a:t>
              </a:r>
              <a:r>
                <a:rPr lang="zh-CN" altLang="en-US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滑块”模型</a:t>
              </a:r>
            </a:p>
          </p:txBody>
        </p:sp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9053"/>
            <a:ext cx="2870200" cy="6867053"/>
          </a:xfrm>
          <a:prstGeom prst="rect">
            <a:avLst/>
          </a:prstGeom>
        </p:spPr>
      </p:pic>
      <p:sp>
        <p:nvSpPr>
          <p:cNvPr id="22" name="圆角矩形 21"/>
          <p:cNvSpPr/>
          <p:nvPr/>
        </p:nvSpPr>
        <p:spPr>
          <a:xfrm>
            <a:off x="2053630" y="368328"/>
            <a:ext cx="1394540" cy="55673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  录 </a:t>
            </a:r>
          </a:p>
        </p:txBody>
      </p:sp>
      <p:grpSp>
        <p:nvGrpSpPr>
          <p:cNvPr id="28" name="组合 27"/>
          <p:cNvGrpSpPr/>
          <p:nvPr/>
        </p:nvGrpSpPr>
        <p:grpSpPr>
          <a:xfrm>
            <a:off x="4752753" y="3160025"/>
            <a:ext cx="4705547" cy="483534"/>
            <a:chOff x="7253146" y="1959475"/>
            <a:chExt cx="6449170" cy="662705"/>
          </a:xfrm>
        </p:grpSpPr>
        <p:sp>
          <p:nvSpPr>
            <p:cNvPr id="29" name="椭圆 28">
              <a:hlinkClick r:id="rId4" action="ppaction://hlinksldjump"/>
            </p:cNvPr>
            <p:cNvSpPr/>
            <p:nvPr/>
          </p:nvSpPr>
          <p:spPr>
            <a:xfrm>
              <a:off x="7253146" y="1959475"/>
              <a:ext cx="662705" cy="662705"/>
            </a:xfrm>
            <a:prstGeom prst="ellipse">
              <a:avLst/>
            </a:prstGeom>
            <a:solidFill>
              <a:srgbClr val="993300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sz="2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02</a:t>
              </a:r>
              <a:endPara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0" name="文本框 29">
              <a:hlinkClick r:id="rId4" action="ppaction://hlinksldjump"/>
            </p:cNvPr>
            <p:cNvSpPr txBox="1"/>
            <p:nvPr/>
          </p:nvSpPr>
          <p:spPr>
            <a:xfrm>
              <a:off x="8044628" y="2095263"/>
              <a:ext cx="5657688" cy="5061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强化点二　“滑块</a:t>
              </a:r>
              <a:r>
                <a:rPr lang="en-US" altLang="zh-CN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—</a:t>
              </a:r>
              <a:r>
                <a:rPr lang="zh-CN" altLang="en-US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斜（曲）面”模型</a:t>
              </a:r>
            </a:p>
          </p:txBody>
        </p:sp>
      </p:grpSp>
      <p:grpSp>
        <p:nvGrpSpPr>
          <p:cNvPr id="55" name="组合 54"/>
          <p:cNvGrpSpPr/>
          <p:nvPr/>
        </p:nvGrpSpPr>
        <p:grpSpPr>
          <a:xfrm>
            <a:off x="4752758" y="4413493"/>
            <a:ext cx="1697311" cy="483534"/>
            <a:chOff x="7253146" y="1959475"/>
            <a:chExt cx="2326242" cy="662705"/>
          </a:xfrm>
        </p:grpSpPr>
        <p:sp>
          <p:nvSpPr>
            <p:cNvPr id="56" name="椭圆 55">
              <a:hlinkClick r:id="rId5" action="ppaction://hlinksldjump"/>
            </p:cNvPr>
            <p:cNvSpPr/>
            <p:nvPr/>
          </p:nvSpPr>
          <p:spPr>
            <a:xfrm>
              <a:off x="7253146" y="1959475"/>
              <a:ext cx="662705" cy="662705"/>
            </a:xfrm>
            <a:prstGeom prst="ellipse">
              <a:avLst/>
            </a:prstGeom>
            <a:solidFill>
              <a:srgbClr val="993300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sz="2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03</a:t>
              </a:r>
              <a:endPara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7" name="文本框 56">
              <a:hlinkClick r:id="rId5" action="ppaction://hlinksldjump"/>
            </p:cNvPr>
            <p:cNvSpPr txBox="1"/>
            <p:nvPr/>
          </p:nvSpPr>
          <p:spPr>
            <a:xfrm>
              <a:off x="8060829" y="2055140"/>
              <a:ext cx="1518559" cy="5061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课时作业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093652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1428750"/>
            <a:ext cx="12192000" cy="367030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" name="直接连接符 9"/>
          <p:cNvCxnSpPr/>
          <p:nvPr/>
        </p:nvCxnSpPr>
        <p:spPr>
          <a:xfrm>
            <a:off x="3953061" y="2060475"/>
            <a:ext cx="0" cy="595635"/>
          </a:xfrm>
          <a:prstGeom prst="line">
            <a:avLst/>
          </a:prstGeom>
          <a:ln w="22225">
            <a:solidFill>
              <a:srgbClr val="22252A"/>
            </a:solidFill>
          </a:ln>
          <a:effectLst>
            <a:outerShdw blurRad="101600" dist="38100" dir="2700000" algn="tl" rotWithShape="0">
              <a:prstClr val="black">
                <a:alpha val="25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/>
        </p:nvCxnSpPr>
        <p:spPr>
          <a:xfrm>
            <a:off x="1644576" y="3302066"/>
            <a:ext cx="0" cy="595635"/>
          </a:xfrm>
          <a:prstGeom prst="line">
            <a:avLst/>
          </a:prstGeom>
          <a:ln w="22225">
            <a:solidFill>
              <a:srgbClr val="C00000"/>
            </a:solidFill>
          </a:ln>
          <a:effectLst>
            <a:outerShdw blurRad="101600" dist="38100" dir="2700000" algn="tl" rotWithShape="0">
              <a:prstClr val="black">
                <a:alpha val="25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组合 11"/>
          <p:cNvGrpSpPr/>
          <p:nvPr/>
        </p:nvGrpSpPr>
        <p:grpSpPr>
          <a:xfrm>
            <a:off x="1948306" y="2068901"/>
            <a:ext cx="1798820" cy="1798820"/>
            <a:chOff x="2329306" y="2634955"/>
            <a:chExt cx="1798820" cy="1798820"/>
          </a:xfrm>
        </p:grpSpPr>
        <p:sp>
          <p:nvSpPr>
            <p:cNvPr id="13" name="矩形 12"/>
            <p:cNvSpPr/>
            <p:nvPr/>
          </p:nvSpPr>
          <p:spPr>
            <a:xfrm>
              <a:off x="2329306" y="2634955"/>
              <a:ext cx="1798820" cy="17988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  <a:effectLst>
              <a:outerShdw blurRad="101600" dist="38100" dir="2700000" algn="tl" rotWithShape="0">
                <a:prstClr val="black">
                  <a:alpha val="2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2797975" y="2969317"/>
              <a:ext cx="864339" cy="110799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6600" dirty="0">
                  <a:solidFill>
                    <a:schemeClr val="bg1"/>
                  </a:solidFill>
                  <a:latin typeface="Aparajita" panose="020B0604020202020204" pitchFamily="34" charset="0"/>
                  <a:cs typeface="Aparajita" panose="020B0604020202020204" pitchFamily="34" charset="0"/>
                </a:rPr>
                <a:t>01</a:t>
              </a:r>
              <a:endParaRPr lang="zh-CN" altLang="en-US" sz="6600" dirty="0">
                <a:solidFill>
                  <a:schemeClr val="bg1"/>
                </a:solidFill>
                <a:latin typeface="Aparajita" panose="020B0604020202020204" pitchFamily="34" charset="0"/>
                <a:cs typeface="Aparajita" panose="020B0604020202020204" pitchFamily="34" charset="0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2814911" y="3723965"/>
              <a:ext cx="81785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2400" dirty="0">
                  <a:solidFill>
                    <a:schemeClr val="bg1"/>
                  </a:solidFill>
                  <a:latin typeface="Aparajita" panose="020B0604020202020204" pitchFamily="34" charset="0"/>
                  <a:cs typeface="Aparajita" panose="020B0604020202020204" pitchFamily="34" charset="0"/>
                </a:rPr>
                <a:t>PART</a:t>
              </a:r>
              <a:endParaRPr lang="zh-CN" altLang="en-US" sz="2400" dirty="0">
                <a:solidFill>
                  <a:schemeClr val="bg1"/>
                </a:solidFill>
                <a:latin typeface="Aparajita" panose="020B0604020202020204" pitchFamily="34" charset="0"/>
                <a:cs typeface="Aparajita" panose="020B0604020202020204" pitchFamily="34" charset="0"/>
              </a:endParaRPr>
            </a:p>
          </p:txBody>
        </p:sp>
      </p:grpSp>
      <p:sp>
        <p:nvSpPr>
          <p:cNvPr id="16" name="文本框 15">
            <a:hlinkClick r:id="rId2" action="ppaction://hlinksldjump"/>
          </p:cNvPr>
          <p:cNvSpPr txBox="1"/>
          <p:nvPr/>
        </p:nvSpPr>
        <p:spPr>
          <a:xfrm>
            <a:off x="4063555" y="2607018"/>
            <a:ext cx="8347080" cy="754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3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强化点一　“弹簧</a:t>
            </a:r>
            <a:r>
              <a:rPr lang="en-US" altLang="zh-CN" sz="43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—</a:t>
            </a:r>
            <a:r>
              <a:rPr lang="zh-CN" altLang="en-US" sz="43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滑块”模型</a:t>
            </a:r>
          </a:p>
        </p:txBody>
      </p:sp>
    </p:spTree>
    <p:extLst>
      <p:ext uri="{BB962C8B-B14F-4D97-AF65-F5344CB8AC3E}">
        <p14:creationId xmlns:p14="http://schemas.microsoft.com/office/powerpoint/2010/main" val="3558856038"/>
      </p:ext>
    </p:extLst>
  </p:cSld>
  <p:clrMapOvr>
    <a:masterClrMapping/>
  </p:clrMapOvr>
  <p:transition spd="slow">
    <p:comb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" presetClass="entr" presetSubtype="4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1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1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 tmFilter="0,0; .5, 1; 1, 1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23" name="yt_table_11723" title="H_625.92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472290"/>
              </p:ext>
            </p:extLst>
          </p:nvPr>
        </p:nvGraphicFramePr>
        <p:xfrm>
          <a:off x="324000" y="620399"/>
          <a:ext cx="11543998" cy="574014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439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7999">
                <a:tc>
                  <a:txBody>
                    <a:bodyPr/>
                    <a:lstStyle/>
                    <a:p>
                      <a:pPr algn="ctr" eaLnBrk="1" fontAlgn="ctr" latinLnBrk="0" hangingPunct="0">
                        <a:lnSpc>
                          <a:spcPct val="110000"/>
                        </a:lnSpc>
                      </a:pP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  <a:sym typeface="_⨹_1_e753a"/>
                        </a:rPr>
                        <a:t>模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型</a:t>
                      </a:r>
                    </a:p>
                    <a:p>
                      <a:pPr algn="ctr" eaLnBrk="1" fontAlgn="ctr" latinLnBrk="0" hangingPunct="0">
                        <a:lnSpc>
                          <a:spcPct val="110000"/>
                        </a:lnSpc>
                      </a:pP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  <a:sym typeface="_⨹_1_ce77a"/>
                        </a:rPr>
                        <a:t>图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示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 eaLnBrk="1" fontAlgn="ctr" latinLnBrk="0" hangingPunct="0">
                        <a:lnSpc>
                          <a:spcPct val="110000"/>
                        </a:lnSpc>
                      </a:pPr>
                      <a:r>
                        <a:rPr lang="en-US" altLang="zh-CN" sz="7950" b="0" i="0" u="none">
                          <a:solidFill>
                            <a:srgbClr val="1EE3CF"/>
                          </a:solidFill>
                          <a:effectLst/>
                          <a:latin typeface="Times New Roman" pitchFamily="80"/>
                          <a:ea typeface="Times New Roman" pitchFamily="80"/>
                          <a:sym typeface="Finished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1EE3CF"/>
                          </a:solidFill>
                          <a:effectLst/>
                          <a:latin typeface="Times New Roman" pitchFamily="28"/>
                          <a:ea typeface="宋体" pitchFamily="28"/>
                          <a:sym typeface=""/>
                        </a:rPr>
                        <a:t>                               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7999">
                <a:tc>
                  <a:txBody>
                    <a:bodyPr/>
                    <a:lstStyle/>
                    <a:p>
                      <a:pPr algn="ctr" eaLnBrk="1" fontAlgn="ctr" latinLnBrk="0" hangingPunct="0">
                        <a:lnSpc>
                          <a:spcPct val="110000"/>
                        </a:lnSpc>
                      </a:pP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  <a:sym typeface="_⨹_1_35267"/>
                        </a:rPr>
                        <a:t>模</a:t>
                      </a:r>
                      <a:b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</a:b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型</a:t>
                      </a:r>
                    </a:p>
                    <a:p>
                      <a:pPr algn="ctr" eaLnBrk="1" fontAlgn="ctr" latinLnBrk="0" hangingPunct="0">
                        <a:lnSpc>
                          <a:spcPct val="110000"/>
                        </a:lnSpc>
                      </a:pP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  <a:sym typeface="_⨹_1_d6e10"/>
                        </a:rPr>
                        <a:t>特</a:t>
                      </a:r>
                      <a:b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</a:b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点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 eaLnBrk="1" fontAlgn="ctr" latinLnBrk="0" hangingPunct="0">
                        <a:lnSpc>
                          <a:spcPct val="110000"/>
                        </a:lnSpc>
                      </a:pP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（</a:t>
                      </a: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）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两个或两个以上的物体与弹簧相互作用的过程中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  <a:sym typeface="_⨹_6_733be"/>
                        </a:rPr>
                        <a:t>若系统所受外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力的矢量和为零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则系统动量守恒</a:t>
                      </a:r>
                    </a:p>
                    <a:p>
                      <a:pPr algn="l" eaLnBrk="1" fontAlgn="ctr" latinLnBrk="0" hangingPunct="0">
                        <a:lnSpc>
                          <a:spcPct val="110000"/>
                        </a:lnSpc>
                      </a:pP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（</a:t>
                      </a: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）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在能量方面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由于弹簧形变会使弹性势能发生变化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  <a:sym typeface="_⨹_5_fa6ae"/>
                        </a:rPr>
                        <a:t>系统的总动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能将发生变化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；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若系统所受的外力和除弹簧弹力以外的内力不做功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  <a:sym typeface="_⨹_1_c0906"/>
                        </a:rPr>
                        <a:t>，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则系统机械能守恒</a:t>
                      </a:r>
                    </a:p>
                    <a:p>
                      <a:pPr algn="l" eaLnBrk="1" fontAlgn="ctr" latinLnBrk="0" hangingPunct="0">
                        <a:lnSpc>
                          <a:spcPct val="110000"/>
                        </a:lnSpc>
                      </a:pP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（</a:t>
                      </a: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3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）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弹簧处于最长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（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楷体" pitchFamily="28"/>
                        </a:rPr>
                        <a:t>最短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）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状态时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两物体速度相等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  <a:sym typeface="_⨹_5_2d782"/>
                        </a:rPr>
                        <a:t>弹性势能最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大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系统的总动能通常最小</a:t>
                      </a:r>
                    </a:p>
                    <a:p>
                      <a:pPr algn="l" eaLnBrk="1" fontAlgn="ctr" latinLnBrk="0" hangingPunct="0">
                        <a:lnSpc>
                          <a:spcPct val="110000"/>
                        </a:lnSpc>
                      </a:pP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（</a:t>
                      </a: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4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）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弹簧处于原长时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弹性势能为零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系统的总动能通常最大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  <a:sym typeface="_⨹_2_ed862"/>
                        </a:rPr>
                        <a:t>但物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体速度一般不相等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3" name="yt_shape_1745560480024">
            <a:extLst>
              <a:ext uri="{FF2B5EF4-FFF2-40B4-BE49-F238E27FC236}">
                <a16:creationId xmlns:a16="http://schemas.microsoft.com/office/drawing/2014/main" id="{B2A843BD-8C08-337F-E941-E4718930532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1127" y="645799"/>
            <a:ext cx="2734945" cy="131621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5" name="yt_shape_11725"/>
          <p:cNvSpPr txBox="1"/>
          <p:nvPr/>
        </p:nvSpPr>
        <p:spPr>
          <a:xfrm>
            <a:off x="324071" y="467999"/>
            <a:ext cx="11924914" cy="171951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微软雅黑" pitchFamily="28"/>
                <a:ea typeface="微软雅黑" pitchFamily="28"/>
              </a:rPr>
              <a:t>【例</a:t>
            </a:r>
            <a:r>
              <a:rPr lang="en-US" altLang="zh-CN" sz="2800" b="1" i="0" u="none" dirty="0">
                <a:solidFill>
                  <a:srgbClr val="000000"/>
                </a:solidFill>
                <a:effectLst/>
                <a:latin typeface="微软雅黑" pitchFamily="28"/>
                <a:ea typeface="微软雅黑" pitchFamily="28"/>
              </a:rPr>
              <a:t>1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微软雅黑" pitchFamily="28"/>
                <a:ea typeface="微软雅黑" pitchFamily="28"/>
              </a:rPr>
              <a:t>】　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2025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江苏南通期中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如图所示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物块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通过轻弹簧连接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  <a:sym typeface="_⨹_1_2543d"/>
              </a:rPr>
              <a:t>，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</a:b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和弹簧组成的系统静止在光滑水平面上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现用手将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5_c8569"/>
              </a:rPr>
              <a:t>向两侧拉开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一段距离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并由静止同时释放两物块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则放手后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　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p:pic>
        <p:nvPicPr>
          <p:cNvPr id="11726" name="yt_image_11726" title="H_61.1">
            <a:extLst>
              <a:ext uri="">
                <a16:creationId xmlns:a16="http://schemas.microsoft.com/office/drawing/2014/main" xmlns:p15="http://schemas.microsoft.com/office/powerpoint/2012/main" xmlns:p14="http://schemas.microsoft.com/office/powerpoint/2010/main" xmlns:mc="http://schemas.openxmlformats.org/markup-compatibility/2006" xmlns:a14="http://schemas.microsoft.com/office/drawing/2010/main" xmlns="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81807" y="2390661"/>
            <a:ext cx="4628384" cy="775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1728" name="yt_table_11728" title="H_188.16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4523682"/>
              </p:ext>
            </p:extLst>
          </p:nvPr>
        </p:nvGraphicFramePr>
        <p:xfrm>
          <a:off x="324066" y="3217247"/>
          <a:ext cx="7877175" cy="2389632"/>
        </p:xfrm>
        <a:graphic>
          <a:graphicData uri="http://schemas.openxmlformats.org/drawingml/2006/table">
            <a:tbl>
              <a:tblPr/>
              <a:tblGrid>
                <a:gridCol w="7877175">
                  <a:extLst>
                    <a:ext uri="{9D8B030D-6E8A-4147-A177-3AD203B41FA5}">
                      <a16:colId xmlns:a16="http://schemas.microsoft.com/office/drawing/2014/main" val="101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弹簧恢复到原长时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的动能达到最大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B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弹簧压缩量最大时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的动量达到最大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C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弹簧恢复到原长过程中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系统的动量增加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D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弹簧恢复到原长过程中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系统的机械能增加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90"/>
                  </a:ext>
                </a:extLst>
              </a:tr>
            </a:tbl>
          </a:graphicData>
        </a:graphic>
      </p:graphicFrame>
      <p:sp>
        <p:nvSpPr>
          <p:cNvPr id="5" name="矩形 4"/>
          <p:cNvSpPr/>
          <p:nvPr/>
        </p:nvSpPr>
        <p:spPr>
          <a:xfrm>
            <a:off x="109950" y="3255347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  </a:t>
            </a:r>
            <a:endParaRPr lang="zh-CN" altLang="en-US" sz="4500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:p14="http://schemas.microsoft.com/office/powerpoint/2010/main" xmlns:a14="http://schemas.microsoft.com/office/drawing/2010/main" xmlns:a16="http://schemas.microsoft.com/office/drawing/2014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30" name="yt_shape_11730"/>
          <p:cNvSpPr txBox="1"/>
          <p:nvPr/>
        </p:nvSpPr>
        <p:spPr>
          <a:xfrm>
            <a:off x="324071" y="467999"/>
            <a:ext cx="11924914" cy="4151649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0000FF"/>
                </a:solidFill>
                <a:effectLst/>
                <a:latin typeface="微软雅黑" pitchFamily="28"/>
                <a:ea typeface="微软雅黑" pitchFamily="28"/>
              </a:rPr>
              <a:t>解析：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弹簧从拉伸到压缩至最短过程中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弹簧恢复到原长前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3_e2bba"/>
              </a:rPr>
              <a:t>弹力一</a:t>
            </a:r>
            <a:b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</a:b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直对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做正功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的动能一直增加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弹簧压缩后到最短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弹力对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做负功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  <a:sym typeface="_⨹_1_269e2"/>
              </a:rPr>
              <a:t>，</a:t>
            </a:r>
            <a:b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</a:b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的动能减小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则弹簧恢复到原长时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的动能达到最大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故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正确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；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2_1432a"/>
              </a:rPr>
              <a:t>根据</a:t>
            </a:r>
            <a:b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</a:b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动量守恒定律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弹簧压缩量最大时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、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共速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速度都为零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4_4a3a9"/>
              </a:rPr>
              <a:t>的动量达</a:t>
            </a:r>
            <a:b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</a:b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到最小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故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错误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；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系统所受合外力始终为零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所以系统动量守恒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故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C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1_59571"/>
              </a:rPr>
              <a:t>错</a:t>
            </a:r>
            <a:b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</a:b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误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；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弹簧恢复到原长过程中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没有外力做功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12_dd83f"/>
              </a:rPr>
              <a:t>系统的动能和弹性势能相互</a:t>
            </a:r>
            <a:b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</a:b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转化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系统的机械能守恒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故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D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错误。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31" name="yt_shape_11731"/>
          <p:cNvSpPr txBox="1"/>
          <p:nvPr/>
        </p:nvSpPr>
        <p:spPr>
          <a:xfrm>
            <a:off x="324071" y="467999"/>
            <a:ext cx="11924914" cy="2341923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微软雅黑" pitchFamily="28"/>
              </a:rPr>
              <a:t>【例</a:t>
            </a:r>
            <a:r>
              <a:rPr lang="en-US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微软雅黑" pitchFamily="28"/>
              </a:rPr>
              <a:t>2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微软雅黑" pitchFamily="28"/>
              </a:rPr>
              <a:t>】　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2025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宁夏石嘴山月考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如图所示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物体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8_d4b1e"/>
              </a:rPr>
              <a:t>静止在光滑平直轨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道上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其左端固定有轻质弹簧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物体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以速度</a:t>
            </a:r>
            <a:r>
              <a:rPr lang="en-US" altLang="zh-CN" sz="28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en-US" altLang="zh-CN" sz="2800" b="0" i="0" u="none" baseline="-25000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m/s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沿轨道向物体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_0798f"/>
              </a:rPr>
              <a:t>运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动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并通过弹簧与物体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发生相互作用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已知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的质量为</a:t>
            </a:r>
            <a:r>
              <a:rPr lang="en-US" altLang="zh-CN" sz="28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en-US" altLang="zh-CN" sz="2800" b="0" i="0" u="none" baseline="-25000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kg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2_d5b3b"/>
              </a:rPr>
              <a:t>的质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量为</a:t>
            </a:r>
            <a:r>
              <a:rPr lang="en-US" altLang="zh-CN" sz="2800" b="0" i="1" u="none" dirty="0" err="1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en-US" altLang="zh-CN" sz="2800" b="0" i="0" u="none" baseline="-25000" dirty="0" err="1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kg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求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：</a:t>
            </a:r>
          </a:p>
        </p:txBody>
      </p:sp>
      <p:sp>
        <p:nvSpPr>
          <p:cNvPr id="11732" name="yt_shape_11732"/>
          <p:cNvSpPr txBox="1"/>
          <p:nvPr/>
        </p:nvSpPr>
        <p:spPr>
          <a:xfrm>
            <a:off x="324000" y="2860710"/>
            <a:ext cx="7979749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当物体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的速度多大时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弹簧弹性势能最大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；</a:t>
            </a:r>
          </a:p>
        </p:txBody>
      </p:sp>
      <p:sp>
        <p:nvSpPr>
          <p:cNvPr id="2" name="yt_shape_11733"/>
          <p:cNvSpPr txBox="1"/>
          <p:nvPr/>
        </p:nvSpPr>
        <p:spPr>
          <a:xfrm>
            <a:off x="324000" y="3596059"/>
            <a:ext cx="3121047" cy="533223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0000FF"/>
                </a:solidFill>
                <a:effectLst/>
                <a:latin typeface="微软雅黑" pitchFamily="28"/>
                <a:ea typeface="微软雅黑" pitchFamily="28"/>
              </a:rPr>
              <a:t>答案：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 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m/s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</a:p>
        </p:txBody>
      </p:sp>
      <p:pic>
        <p:nvPicPr>
          <p:cNvPr id="11734" name="yt_image_11734">
            <a:extLst>
              <a:ext uri="">
                <a16:creationId xmlns:a16="http://schemas.microsoft.com/office/drawing/2014/main" xmlns:p14="http://schemas.microsoft.com/office/powerpoint/2010/main" xmlns:p15="http://schemas.microsoft.com/office/powerpoint/2012/main" xmlns:mc="http://schemas.openxmlformats.org/markup-compatibility/2006" xmlns:a14="http://schemas.microsoft.com/office/drawing/2010/main" xmlns="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187540" y="3596059"/>
            <a:ext cx="3680458" cy="7594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yt_shape_11740"/>
              <p:cNvSpPr txBox="1"/>
              <p:nvPr/>
            </p:nvSpPr>
            <p:spPr>
              <a:xfrm>
                <a:off x="298600" y="4255245"/>
                <a:ext cx="11543998" cy="2221756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微软雅黑" pitchFamily="28"/>
                    <a:ea typeface="微软雅黑" pitchFamily="28"/>
                  </a:rPr>
                  <a:t>解析：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 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当物体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速度相同时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弹簧弹性势能最大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7_3359a"/>
                  </a:rPr>
                  <a:t> 由动量守恒定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律知</a:t>
                </a:r>
              </a:p>
              <a:p>
                <a:pPr algn="l" eaLnBrk="1" latinLnBrk="0" hangingPunct="0">
                  <a:lnSpc>
                    <a:spcPct val="140000"/>
                  </a:lnSpc>
                </a:pP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＝（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="0" i="0" u="none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</a:p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代入数据得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𝑚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B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𝑚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A</m:t>
                            </m:r>
                          </m:sub>
                        </m:sSub>
                        <m:r>
                          <a:rPr lang="zh-CN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＋</m:t>
                        </m:r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𝑚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B</m:t>
                            </m:r>
                          </m:sub>
                        </m:sSub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1×3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1+2</m:t>
                        </m:r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m/s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m/s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。</a:t>
                </a:r>
              </a:p>
            </p:txBody>
          </p:sp>
        </mc:Choice>
        <mc:Fallback xmlns:a16="http://schemas.microsoft.com/office/drawing/2014/main" xmlns:p14="http://schemas.microsoft.com/office/powerpoint/2010/main" xmlns:p15="http://schemas.microsoft.com/office/powerpoint/2012/main" xmlns="">
          <p:sp>
            <p:nvSpPr>
              <p:cNvPr id="8" name="yt_shape_117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600" y="4255245"/>
                <a:ext cx="11543998" cy="2221756"/>
              </a:xfrm>
              <a:prstGeom prst="rect">
                <a:avLst/>
              </a:prstGeom>
              <a:blipFill>
                <a:blip r:embed="rId3"/>
                <a:stretch>
                  <a:fillRect l="-1901" t="-1096" r="-68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:p14="http://schemas.microsoft.com/office/powerpoint/2010/main" xmlns:a14="http://schemas.microsoft.com/office/drawing/2010/main" xmlns:a16="http://schemas.microsoft.com/office/drawing/2014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allAtOnce"/>
      <p:bldP spid="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yt_shape_11736"/>
          <p:cNvSpPr txBox="1"/>
          <p:nvPr/>
        </p:nvSpPr>
        <p:spPr>
          <a:xfrm>
            <a:off x="247800" y="773939"/>
            <a:ext cx="7360989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在相互作用过程中最大弹性势能为多少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</a:p>
        </p:txBody>
      </p:sp>
      <p:sp>
        <p:nvSpPr>
          <p:cNvPr id="3" name="yt_shape_11737"/>
          <p:cNvSpPr txBox="1"/>
          <p:nvPr/>
        </p:nvSpPr>
        <p:spPr>
          <a:xfrm>
            <a:off x="247800" y="1509288"/>
            <a:ext cx="2383666" cy="533223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0000FF"/>
                </a:solidFill>
                <a:effectLst/>
                <a:latin typeface="微软雅黑" pitchFamily="28"/>
                <a:ea typeface="微软雅黑" pitchFamily="28"/>
              </a:rPr>
              <a:t>答案：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 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J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yt_shape_11742"/>
              <p:cNvSpPr txBox="1"/>
              <p:nvPr/>
            </p:nvSpPr>
            <p:spPr>
              <a:xfrm>
                <a:off x="247800" y="2118711"/>
                <a:ext cx="11924914" cy="2245871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hangingPunct="0">
                  <a:lnSpc>
                    <a:spcPct val="140000"/>
                  </a:lnSpc>
                </a:pPr>
                <a:r>
                  <a:rPr lang="zh-CN" altLang="zh-CN" sz="2800" dirty="0">
                    <a:solidFill>
                      <a:srgbClr val="0000FF"/>
                    </a:solidFill>
                    <a:latin typeface="微软雅黑" pitchFamily="28"/>
                    <a:ea typeface="微软雅黑" pitchFamily="28"/>
                  </a:rPr>
                  <a:t>解析：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设最大弹性势能为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E</a:t>
                </a:r>
                <a:r>
                  <a:rPr lang="zh-CN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弹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根据机械能守恒定律知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="0" i="0" u="none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0</m:t>
                            </m:r>
                          </m:sub>
                        </m:sSub>
                      </m:e>
                      <m:sup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52ed0"/>
                  </a:rPr>
                  <a:t>＋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="0" i="0" u="none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30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E</a:t>
                </a:r>
                <a:r>
                  <a:rPr lang="zh-CN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弹</a:t>
                </a:r>
              </a:p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代入数据得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E</a:t>
                </a:r>
                <a:r>
                  <a:rPr lang="zh-CN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弹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en-US" altLang="zh-CN" sz="2800" b="0" i="0" u="none" baseline="30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J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en-US" altLang="zh-CN" sz="2800" b="0" i="0" u="none" baseline="30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J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J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。</a:t>
                </a:r>
              </a:p>
            </p:txBody>
          </p:sp>
        </mc:Choice>
        <mc:Fallback xmlns:p14="http://schemas.microsoft.com/office/powerpoint/2010/main" xmlns="">
          <p:sp>
            <p:nvSpPr>
              <p:cNvPr id="4" name="yt_shape_1174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800" y="2118711"/>
                <a:ext cx="11924914" cy="2245871"/>
              </a:xfrm>
              <a:prstGeom prst="rect">
                <a:avLst/>
              </a:prstGeom>
              <a:blipFill>
                <a:blip r:embed="rId2"/>
                <a:stretch>
                  <a:fillRect l="-1840" b="-462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72783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allAtOnce"/>
      <p:bldP spid="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4" name="yt_shape_11744"/>
          <p:cNvSpPr txBox="1"/>
          <p:nvPr/>
        </p:nvSpPr>
        <p:spPr>
          <a:xfrm>
            <a:off x="324071" y="467999"/>
            <a:ext cx="11924914" cy="2341923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微软雅黑" pitchFamily="28"/>
              </a:rPr>
              <a:t>【例</a:t>
            </a:r>
            <a:r>
              <a:rPr lang="en-US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微软雅黑" pitchFamily="28"/>
              </a:rPr>
              <a:t>3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微软雅黑" pitchFamily="28"/>
              </a:rPr>
              <a:t>】　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如图所示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C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三个物块置于光滑的水平面上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C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2_8af48"/>
              </a:rPr>
              <a:t>之间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有一轻质弹簧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弹簧的两端与木块拴接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刚开始物块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C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处于静止状态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  <a:sym typeface="_⨹_1_12c6a"/>
              </a:rPr>
              <a:t>。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</a:b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现物块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以初速度</a:t>
            </a:r>
            <a:r>
              <a:rPr lang="en-US" altLang="zh-CN" sz="28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en-US" altLang="zh-CN" sz="2800" b="0" i="0" u="none" baseline="-25000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m/s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沿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C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的连线方向朝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运动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与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6_df429"/>
              </a:rPr>
              <a:t>发生弹性碰撞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碰撞时间极短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然后压缩弹簧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已知</a:t>
            </a:r>
            <a:r>
              <a:rPr lang="en-US" altLang="zh-CN" sz="28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en-US" altLang="zh-CN" sz="2800" b="0" i="0" u="none" baseline="-25000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kg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1" u="none" dirty="0" err="1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en-US" altLang="zh-CN" sz="2800" b="0" i="0" u="none" baseline="-25000" dirty="0" err="1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1" u="none" dirty="0" err="1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en-US" altLang="zh-CN" sz="2800" b="0" i="0" u="none" baseline="-25000" dirty="0" err="1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C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kg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求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：</a:t>
            </a:r>
          </a:p>
        </p:txBody>
      </p:sp>
      <p:sp>
        <p:nvSpPr>
          <p:cNvPr id="11745" name="yt_shape_11745"/>
          <p:cNvSpPr txBox="1"/>
          <p:nvPr/>
        </p:nvSpPr>
        <p:spPr>
          <a:xfrm>
            <a:off x="324000" y="2860710"/>
            <a:ext cx="6262933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碰后瞬间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的速度大小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；</a:t>
            </a:r>
          </a:p>
        </p:txBody>
      </p:sp>
      <p:sp>
        <p:nvSpPr>
          <p:cNvPr id="2" name="yt_shape_11746"/>
          <p:cNvSpPr txBox="1"/>
          <p:nvPr/>
        </p:nvSpPr>
        <p:spPr>
          <a:xfrm>
            <a:off x="451000" y="3392859"/>
            <a:ext cx="3121047" cy="533223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0000FF"/>
                </a:solidFill>
                <a:effectLst/>
                <a:latin typeface="微软雅黑" pitchFamily="28"/>
                <a:ea typeface="微软雅黑" pitchFamily="28"/>
              </a:rPr>
              <a:t>答案：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 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m/s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</a:p>
        </p:txBody>
      </p:sp>
      <p:pic>
        <p:nvPicPr>
          <p:cNvPr id="11747" name="yt_image_11747">
            <a:extLst>
              <a:ext uri="">
                <a16:creationId xmlns:a16="http://schemas.microsoft.com/office/drawing/2014/main" xmlns:p14="http://schemas.microsoft.com/office/powerpoint/2010/main" xmlns:p15="http://schemas.microsoft.com/office/powerpoint/2012/main" xmlns:mc="http://schemas.openxmlformats.org/markup-compatibility/2006" xmlns:a14="http://schemas.microsoft.com/office/drawing/2010/main" xmlns="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371556" y="3088708"/>
            <a:ext cx="4128142" cy="617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yt_shape_11753"/>
              <p:cNvSpPr txBox="1"/>
              <p:nvPr/>
            </p:nvSpPr>
            <p:spPr>
              <a:xfrm>
                <a:off x="451000" y="3975844"/>
                <a:ext cx="10732105" cy="1997406"/>
              </a:xfrm>
              <a:prstGeom prst="rect">
                <a:avLst/>
              </a:prstGeom>
            </p:spPr>
            <p:txBody>
              <a:bodyPr vert="horz" wrap="non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微软雅黑" pitchFamily="28"/>
                    <a:ea typeface="微软雅黑" pitchFamily="28"/>
                  </a:rPr>
                  <a:t>解析：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和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碰撞过程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根据动量守恒定律和机械能守恒定律有</a:t>
                </a:r>
              </a:p>
              <a:p>
                <a:pPr algn="l" eaLnBrk="1" latinLnBrk="0" hangingPunct="0">
                  <a:lnSpc>
                    <a:spcPct val="140000"/>
                  </a:lnSpc>
                </a:pP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="0" i="0" u="none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="0" i="0" u="none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endParaRPr lang="en-US" altLang="zh-CN" sz="2800" b="0" i="0" u="none" baseline="-25000" dirty="0">
                  <a:solidFill>
                    <a:srgbClr val="C00000"/>
                  </a:solidFill>
                  <a:effectLst/>
                  <a:latin typeface="Times New Roman" pitchFamily="28"/>
                  <a:ea typeface="宋体" pitchFamily="28"/>
                </a:endParaRPr>
              </a:p>
              <a:p>
                <a:pPr algn="l" eaLnBrk="1" latinLnBrk="0" hangingPunct="0">
                  <a:lnSpc>
                    <a:spcPct val="140000"/>
                  </a:lnSpc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0</m:t>
                            </m:r>
                          </m:sub>
                        </m:sSub>
                      </m:e>
                      <m:sup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A</m:t>
                            </m:r>
                          </m:sub>
                        </m:sSub>
                      </m:e>
                      <m:sup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="0" i="0" u="none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B</m:t>
                            </m:r>
                          </m:sub>
                        </m:sSub>
                      </m:e>
                      <m:sup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endParaRPr lang="en-US" altLang="zh-CN" sz="2800" b="0" i="0" u="none" baseline="-25000" dirty="0">
                  <a:solidFill>
                    <a:srgbClr val="FF0000"/>
                  </a:solidFill>
                  <a:effectLst/>
                  <a:latin typeface="Times New Roman" pitchFamily="28"/>
                  <a:ea typeface="宋体" pitchFamily="28"/>
                </a:endParaRPr>
              </a:p>
            </p:txBody>
          </p:sp>
        </mc:Choice>
        <mc:Fallback xmlns:a16="http://schemas.microsoft.com/office/drawing/2014/main" xmlns:p14="http://schemas.microsoft.com/office/powerpoint/2010/main" xmlns:p15="http://schemas.microsoft.com/office/powerpoint/2012/main" xmlns="">
          <p:sp>
            <p:nvSpPr>
              <p:cNvPr id="8" name="yt_shape_1175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000" y="3975844"/>
                <a:ext cx="10732105" cy="1997406"/>
              </a:xfrm>
              <a:prstGeom prst="rect">
                <a:avLst/>
              </a:prstGeom>
              <a:blipFill>
                <a:blip r:embed="rId3"/>
                <a:stretch>
                  <a:fillRect l="-2045" t="-1220" b="-51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yt_shape_11755"/>
          <p:cNvSpPr txBox="1"/>
          <p:nvPr/>
        </p:nvSpPr>
        <p:spPr>
          <a:xfrm>
            <a:off x="451000" y="6024038"/>
            <a:ext cx="2542363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解得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en-US" altLang="zh-CN" sz="2800" b="0" i="0" u="none" baseline="-2500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m/s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。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:p14="http://schemas.microsoft.com/office/powerpoint/2010/main" xmlns:a14="http://schemas.microsoft.com/office/drawing/2010/main" xmlns:a16="http://schemas.microsoft.com/office/drawing/2014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allAtOnce"/>
      <p:bldP spid="8" grpId="0"/>
      <p:bldP spid="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yt_shape_11749"/>
          <p:cNvSpPr txBox="1"/>
          <p:nvPr/>
        </p:nvSpPr>
        <p:spPr>
          <a:xfrm>
            <a:off x="158900" y="606584"/>
            <a:ext cx="5240217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弹簧的最大弹性势能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E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pmax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</a:p>
        </p:txBody>
      </p:sp>
      <p:sp>
        <p:nvSpPr>
          <p:cNvPr id="3" name="yt_shape_11750"/>
          <p:cNvSpPr txBox="1"/>
          <p:nvPr/>
        </p:nvSpPr>
        <p:spPr>
          <a:xfrm>
            <a:off x="395342" y="1303833"/>
            <a:ext cx="2383666" cy="533223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0000FF"/>
                </a:solidFill>
                <a:effectLst/>
                <a:latin typeface="微软雅黑" pitchFamily="28"/>
                <a:ea typeface="微软雅黑" pitchFamily="28"/>
              </a:rPr>
              <a:t>答案：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 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J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yt_shape_11756"/>
              <p:cNvSpPr txBox="1"/>
              <p:nvPr/>
            </p:nvSpPr>
            <p:spPr>
              <a:xfrm>
                <a:off x="247871" y="2002108"/>
                <a:ext cx="11924914" cy="1997406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hangingPunct="0">
                  <a:lnSpc>
                    <a:spcPct val="140000"/>
                  </a:lnSpc>
                </a:pPr>
                <a:r>
                  <a:rPr lang="zh-CN" altLang="zh-CN" sz="2800" dirty="0">
                    <a:solidFill>
                      <a:srgbClr val="0000FF"/>
                    </a:solidFill>
                    <a:latin typeface="微软雅黑" pitchFamily="28"/>
                    <a:ea typeface="微软雅黑" pitchFamily="28"/>
                  </a:rPr>
                  <a:t>解析：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当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和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速度相等时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弹簧的弹性势能最大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9_9465b"/>
                  </a:rPr>
                  <a:t>根据动量守恒定律有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="0" i="0" u="none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＝（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="0" i="0" u="none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="0" i="0" u="none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共</a:t>
                </a:r>
              </a:p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根据机械能守恒定律有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="0" i="0" u="none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B</m:t>
                            </m:r>
                          </m:sub>
                        </m:sSub>
                      </m:e>
                      <m:sup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="0" i="0" u="none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="0" i="0" u="none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Times New Roman" pitchFamily="28"/>
                  </a:rPr>
                  <a:t>·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zh-CN" altLang="zh-CN" sz="2800" b="0" i="0" baseline="-200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宋体" panose="02040503050406030204" pitchFamily="56" charset="0"/>
                              </a:rPr>
                              <m:t>共</m:t>
                            </m:r>
                          </m:sub>
                        </m:sSub>
                      </m:e>
                      <m:sup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E</a:t>
                </a:r>
                <a:r>
                  <a:rPr lang="en-US" altLang="zh-CN" sz="2800" b="0" i="0" u="none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pmax</a:t>
                </a:r>
                <a:endParaRPr lang="en-US" altLang="zh-CN" sz="2800" b="0" i="0" u="none" baseline="-25000" dirty="0">
                  <a:solidFill>
                    <a:srgbClr val="C00000"/>
                  </a:solidFill>
                  <a:effectLst/>
                  <a:latin typeface="Times New Roman" pitchFamily="28"/>
                  <a:ea typeface="宋体" pitchFamily="28"/>
                </a:endParaRPr>
              </a:p>
            </p:txBody>
          </p:sp>
        </mc:Choice>
        <mc:Fallback xmlns:p14="http://schemas.microsoft.com/office/powerpoint/2010/main" xmlns="">
          <p:sp>
            <p:nvSpPr>
              <p:cNvPr id="4" name="yt_shape_1175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871" y="2002108"/>
                <a:ext cx="11924914" cy="1997406"/>
              </a:xfrm>
              <a:prstGeom prst="rect">
                <a:avLst/>
              </a:prstGeom>
              <a:blipFill>
                <a:blip r:embed="rId2"/>
                <a:stretch>
                  <a:fillRect l="-1840" t="-1220" b="-51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yt_shape_11758"/>
          <p:cNvSpPr txBox="1"/>
          <p:nvPr/>
        </p:nvSpPr>
        <p:spPr>
          <a:xfrm>
            <a:off x="247800" y="4050302"/>
            <a:ext cx="2596865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解得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E</a:t>
            </a:r>
            <a:r>
              <a:rPr lang="en-US" altLang="zh-CN" sz="2800" b="0" i="0" u="none" baseline="-2500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pmax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J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575366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allAtOnce"/>
      <p:bldP spid="4" grpId="0"/>
      <p:bldP spid="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1428750"/>
            <a:ext cx="12192000" cy="367030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" name="直接连接符 9"/>
          <p:cNvCxnSpPr/>
          <p:nvPr/>
        </p:nvCxnSpPr>
        <p:spPr>
          <a:xfrm>
            <a:off x="3953061" y="2060475"/>
            <a:ext cx="0" cy="595635"/>
          </a:xfrm>
          <a:prstGeom prst="line">
            <a:avLst/>
          </a:prstGeom>
          <a:ln w="22225">
            <a:solidFill>
              <a:srgbClr val="22252A"/>
            </a:solidFill>
          </a:ln>
          <a:effectLst>
            <a:outerShdw blurRad="101600" dist="38100" dir="2700000" algn="tl" rotWithShape="0">
              <a:prstClr val="black">
                <a:alpha val="25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/>
        </p:nvCxnSpPr>
        <p:spPr>
          <a:xfrm>
            <a:off x="1644576" y="3302066"/>
            <a:ext cx="0" cy="595635"/>
          </a:xfrm>
          <a:prstGeom prst="line">
            <a:avLst/>
          </a:prstGeom>
          <a:ln w="22225">
            <a:solidFill>
              <a:srgbClr val="C00000"/>
            </a:solidFill>
          </a:ln>
          <a:effectLst>
            <a:outerShdw blurRad="101600" dist="38100" dir="2700000" algn="tl" rotWithShape="0">
              <a:prstClr val="black">
                <a:alpha val="25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组合 11"/>
          <p:cNvGrpSpPr/>
          <p:nvPr/>
        </p:nvGrpSpPr>
        <p:grpSpPr>
          <a:xfrm>
            <a:off x="1948306" y="2068901"/>
            <a:ext cx="1798820" cy="1798820"/>
            <a:chOff x="2329306" y="2634955"/>
            <a:chExt cx="1798820" cy="1798820"/>
          </a:xfrm>
        </p:grpSpPr>
        <p:sp>
          <p:nvSpPr>
            <p:cNvPr id="13" name="矩形 12"/>
            <p:cNvSpPr/>
            <p:nvPr/>
          </p:nvSpPr>
          <p:spPr>
            <a:xfrm>
              <a:off x="2329306" y="2634955"/>
              <a:ext cx="1798820" cy="17988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  <a:effectLst>
              <a:outerShdw blurRad="101600" dist="38100" dir="2700000" algn="tl" rotWithShape="0">
                <a:prstClr val="black">
                  <a:alpha val="2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2797975" y="2969317"/>
              <a:ext cx="864339" cy="110799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6600" dirty="0">
                  <a:solidFill>
                    <a:schemeClr val="bg1"/>
                  </a:solidFill>
                  <a:latin typeface="Aparajita" panose="020B0604020202020204" pitchFamily="34" charset="0"/>
                  <a:cs typeface="Aparajita" panose="020B0604020202020204" pitchFamily="34" charset="0"/>
                </a:rPr>
                <a:t>02</a:t>
              </a:r>
              <a:endParaRPr lang="zh-CN" altLang="en-US" sz="6600" dirty="0">
                <a:solidFill>
                  <a:schemeClr val="bg1"/>
                </a:solidFill>
                <a:latin typeface="Aparajita" panose="020B0604020202020204" pitchFamily="34" charset="0"/>
                <a:cs typeface="Aparajita" panose="020B0604020202020204" pitchFamily="34" charset="0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2814911" y="3723965"/>
              <a:ext cx="81785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2400" dirty="0">
                  <a:solidFill>
                    <a:schemeClr val="bg1"/>
                  </a:solidFill>
                  <a:latin typeface="Aparajita" panose="020B0604020202020204" pitchFamily="34" charset="0"/>
                  <a:cs typeface="Aparajita" panose="020B0604020202020204" pitchFamily="34" charset="0"/>
                </a:rPr>
                <a:t>PART</a:t>
              </a:r>
              <a:endParaRPr lang="zh-CN" altLang="en-US" sz="2400" dirty="0">
                <a:solidFill>
                  <a:schemeClr val="bg1"/>
                </a:solidFill>
                <a:latin typeface="Aparajita" panose="020B0604020202020204" pitchFamily="34" charset="0"/>
                <a:cs typeface="Aparajita" panose="020B0604020202020204" pitchFamily="34" charset="0"/>
              </a:endParaRPr>
            </a:p>
          </p:txBody>
        </p:sp>
      </p:grpSp>
      <p:sp>
        <p:nvSpPr>
          <p:cNvPr id="17" name="文本框 16">
            <a:hlinkClick r:id="rId2" action="ppaction://hlinksldjump"/>
          </p:cNvPr>
          <p:cNvSpPr txBox="1"/>
          <p:nvPr/>
        </p:nvSpPr>
        <p:spPr>
          <a:xfrm>
            <a:off x="4306800" y="2133943"/>
            <a:ext cx="84821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强化点二　</a:t>
            </a:r>
            <a:endParaRPr lang="en-US" altLang="zh-CN" sz="4800" b="1" dirty="0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4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“滑块</a:t>
            </a:r>
            <a:r>
              <a:rPr lang="en-US" altLang="zh-CN" sz="4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—</a:t>
            </a:r>
            <a:r>
              <a:rPr lang="zh-CN" altLang="en-US" sz="4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斜（曲）面”模型</a:t>
            </a:r>
          </a:p>
        </p:txBody>
      </p:sp>
    </p:spTree>
    <p:extLst>
      <p:ext uri="{BB962C8B-B14F-4D97-AF65-F5344CB8AC3E}">
        <p14:creationId xmlns:p14="http://schemas.microsoft.com/office/powerpoint/2010/main" val="31309721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dissolve/>
      </p:transition>
    </mc:Choice>
    <mc:Fallback xmlns="">
      <p:transition spd="slow">
        <p:dissolv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" presetClass="entr" presetSubtype="4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1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1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 tmFilter="0,0; .5, 1; 1, 1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60" name="yt_shape_11760"/>
          <p:cNvSpPr txBox="1"/>
          <p:nvPr/>
        </p:nvSpPr>
        <p:spPr>
          <a:xfrm>
            <a:off x="5724227" y="-27490"/>
            <a:ext cx="718145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ctr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　</a:t>
            </a:r>
          </a:p>
        </p:txBody>
      </p:sp>
      <p:sp>
        <p:nvSpPr>
          <p:cNvPr id="11761" name="yt_shape_11761"/>
          <p:cNvSpPr txBox="1"/>
          <p:nvPr/>
        </p:nvSpPr>
        <p:spPr>
          <a:xfrm>
            <a:off x="311371" y="555495"/>
            <a:ext cx="11924914" cy="1135439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微软雅黑" pitchFamily="28"/>
                <a:ea typeface="微软雅黑" pitchFamily="28"/>
              </a:rPr>
              <a:t>模型建构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如图所示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光滑斜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曲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面静置放在光滑水平地面上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2_a8db8"/>
              </a:rPr>
              <a:t>滑块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以速度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冲上斜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曲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面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滑块始终未脱离斜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曲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面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</a:p>
        </p:txBody>
      </p:sp>
      <p:pic>
        <p:nvPicPr>
          <p:cNvPr id="11762" name="yt_image_11762">
            <a:extLst>
              <a:ext uri="">
                <a16:creationId xmlns:a16="http://schemas.microsoft.com/office/drawing/2014/main" xmlns:p14="http://schemas.microsoft.com/office/powerpoint/2010/main" xmlns:p15="http://schemas.microsoft.com/office/powerpoint/2012/main" xmlns:mc="http://schemas.openxmlformats.org/markup-compatibility/2006" xmlns:a14="http://schemas.microsoft.com/office/drawing/2010/main" xmlns="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059082" y="1894086"/>
            <a:ext cx="2048435" cy="1520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yt_shape_11764"/>
          <p:cNvSpPr txBox="1"/>
          <p:nvPr/>
        </p:nvSpPr>
        <p:spPr>
          <a:xfrm>
            <a:off x="324000" y="3528803"/>
            <a:ext cx="1885131" cy="468590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20000"/>
              </a:lnSpc>
            </a:pPr>
            <a:r>
              <a:rPr lang="en-US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微软雅黑" pitchFamily="28"/>
                <a:ea typeface="微软雅黑" pitchFamily="28"/>
              </a:rPr>
              <a:t>模型特点</a:t>
            </a:r>
          </a:p>
        </p:txBody>
      </p:sp>
      <p:sp>
        <p:nvSpPr>
          <p:cNvPr id="7" name="yt_shape_11765"/>
          <p:cNvSpPr txBox="1"/>
          <p:nvPr/>
        </p:nvSpPr>
        <p:spPr>
          <a:xfrm>
            <a:off x="324071" y="4048193"/>
            <a:ext cx="11543998" cy="965457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20000"/>
              </a:lnSpc>
            </a:pP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在相互作用过程中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滑块和斜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曲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2_c3281"/>
              </a:rPr>
              <a:t>面轨道组成的系统机械能守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恒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系统水平方向动量守恒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竖直方向上动量不守恒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故总动量不守恒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:a16="http://schemas.microsoft.com/office/drawing/2014/main" xmlns:a14="http://schemas.microsoft.com/office/drawing/2010/main" xmlns:p14="http://schemas.microsoft.com/office/powerpoint/2010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766" name="yt_shape_11766"/>
              <p:cNvSpPr txBox="1"/>
              <p:nvPr/>
            </p:nvSpPr>
            <p:spPr>
              <a:xfrm>
                <a:off x="324071" y="924250"/>
                <a:ext cx="11543998" cy="2729658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20000"/>
                  </a:lnSpc>
                </a:pP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滑块上升到最大高度时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滑块与斜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楷体" pitchFamily="28"/>
                  </a:rPr>
                  <a:t>曲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面具有共同水平速度</a:t>
                </a:r>
                <a:r>
                  <a:rPr lang="en-US" altLang="zh-CN" sz="2800" b="0" i="1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 baseline="-25000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共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  <a:sym typeface="_⨹_1_d6628"/>
                  </a:rPr>
                  <a:t>，</a:t>
                </a:r>
                <a:b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</a:b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此时滑块的竖直速度</a:t>
                </a:r>
                <a:r>
                  <a:rPr lang="en-US" altLang="zh-CN" sz="2800" b="0" i="1" u="none" dirty="0" err="1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1" u="none" baseline="-25000" dirty="0" err="1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y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。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系统水平方向动量守恒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1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mv</a:t>
                </a:r>
                <a:r>
                  <a:rPr lang="en-US" altLang="zh-CN" sz="2800" b="0" i="0" u="none" baseline="-25000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＝（</a:t>
                </a:r>
                <a:r>
                  <a:rPr lang="en-US" altLang="zh-CN" sz="2800" b="0" i="1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  <a:r>
                  <a:rPr lang="en-US" altLang="zh-CN" sz="2800" b="0" i="1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 baseline="-25000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共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  <a:sym typeface="_⨹_1_649ba"/>
                  </a:rPr>
                  <a:t>；</a:t>
                </a:r>
                <a:b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</a:b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系统机械能守恒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0</m:t>
                            </m:r>
                          </m:sub>
                        </m:sSub>
                      </m:e>
                      <m:sup>
                        <m:r>
                          <a:rPr lang="en-US" altLang="zh-CN" sz="2800" b="0" i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1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zh-CN" altLang="zh-CN" sz="2800" b="0" i="0" baseline="-2000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宋体" panose="02040503050406030204" pitchFamily="56" charset="0"/>
                              </a:rPr>
                              <m:t>共</m:t>
                            </m:r>
                          </m:sub>
                        </m:sSub>
                      </m:e>
                      <m:sup>
                        <m:r>
                          <a:rPr lang="en-US" altLang="zh-CN" sz="2800" b="0" i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 dirty="0" err="1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mgh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其中</a:t>
                </a:r>
                <a:r>
                  <a:rPr lang="en-US" altLang="zh-CN" sz="2800" b="0" i="1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h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  <a:sym typeface="_⨹_7_816c0"/>
                  </a:rPr>
                  <a:t>为滑块上升的最</a:t>
                </a:r>
                <a:b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</a:b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大高度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不一定等于弧形轨道的高度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楷体" pitchFamily="28"/>
                  </a:rPr>
                  <a:t>相当于完全非弹性碰撞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楷体" pitchFamily="28"/>
                    <a:sym typeface="_⨹_4_f09de"/>
                  </a:rPr>
                  <a:t>系统减少</a:t>
                </a:r>
                <a:b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楷体" pitchFamily="28"/>
                  </a:rPr>
                </a:b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楷体" pitchFamily="28"/>
                  </a:rPr>
                  <a:t>的动能转化为滑块的重力势能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）。</a:t>
                </a:r>
              </a:p>
            </p:txBody>
          </p:sp>
        </mc:Choice>
        <mc:Fallback xmlns:a16="http://schemas.microsoft.com/office/drawing/2014/main" xmlns:p15="http://schemas.microsoft.com/office/powerpoint/2012/main" xmlns:p14="http://schemas.microsoft.com/office/powerpoint/2010/main" xmlns="">
          <p:sp>
            <p:nvSpPr>
              <p:cNvPr id="11766" name="yt_shape_1176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924250"/>
                <a:ext cx="11543998" cy="2729658"/>
              </a:xfrm>
              <a:prstGeom prst="rect">
                <a:avLst/>
              </a:prstGeom>
              <a:blipFill>
                <a:blip r:embed="rId2"/>
                <a:stretch>
                  <a:fillRect l="-1848" t="-3356" r="-1426" b="-715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yt_shape_11768">
                <a:extLst>
                  <a:ext uri="{FF2B5EF4-FFF2-40B4-BE49-F238E27FC236}">
                    <a16:creationId xmlns:a16="http://schemas.microsoft.com/office/drawing/2014/main" id="{A11C92D3-75B4-1AEF-D298-F34A71CF54D6}"/>
                  </a:ext>
                </a:extLst>
              </p:cNvPr>
              <p:cNvSpPr txBox="1"/>
              <p:nvPr/>
            </p:nvSpPr>
            <p:spPr>
              <a:xfrm>
                <a:off x="324071" y="3704708"/>
                <a:ext cx="11924914" cy="1695529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20000"/>
                  </a:lnSpc>
                </a:pP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当滑块返回最低点时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滑块与斜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楷体" pitchFamily="28"/>
                  </a:rPr>
                  <a:t>曲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面分离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  <a:sym typeface="_⨹_7_43c1c"/>
                  </a:rPr>
                  <a:t>水平方向动量守</a:t>
                </a:r>
                <a:b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</a:b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恒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1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mv</a:t>
                </a:r>
                <a:r>
                  <a:rPr lang="en-US" altLang="zh-CN" sz="2800" b="0" i="0" u="none" baseline="-25000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mv</a:t>
                </a:r>
                <a:r>
                  <a:rPr lang="en-US" altLang="zh-CN" sz="2800" b="0" i="0" u="none" baseline="-25000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Mv</a:t>
                </a:r>
                <a:r>
                  <a:rPr lang="en-US" altLang="zh-CN" sz="2800" b="0" i="0" u="none" baseline="-25000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系统机械能守恒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0</m:t>
                            </m:r>
                          </m:sub>
                        </m:sSub>
                      </m:e>
                      <m:sup>
                        <m:r>
                          <a:rPr lang="en-US" altLang="zh-CN" sz="2800" b="0" i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1</m:t>
                            </m:r>
                          </m:sub>
                        </m:sSub>
                      </m:e>
                      <m:sup>
                        <m:r>
                          <a:rPr lang="en-US" altLang="zh-CN" sz="2800" b="0" i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</m:sub>
                        </m:sSub>
                      </m:e>
                      <m:sup>
                        <m:r>
                          <a:rPr lang="en-US" altLang="zh-CN" sz="2800" b="0" i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楷体" pitchFamily="28"/>
                    <a:sym typeface="_⨹_3_88268"/>
                  </a:rPr>
                  <a:t>相当于</a:t>
                </a:r>
                <a:b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楷体" pitchFamily="28"/>
                  </a:rPr>
                </a:b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楷体" pitchFamily="28"/>
                  </a:rPr>
                  <a:t>完成了弹性碰撞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）。</a:t>
                </a:r>
              </a:p>
            </p:txBody>
          </p:sp>
        </mc:Choice>
        <mc:Fallback xmlns:a16="http://schemas.microsoft.com/office/drawing/2014/main" xmlns:p15="http://schemas.microsoft.com/office/powerpoint/2012/main" xmlns:p14="http://schemas.microsoft.com/office/powerpoint/2010/main" xmlns="">
          <p:sp>
            <p:nvSpPr>
              <p:cNvPr id="2" name="yt_shape_11768">
                <a:extLst>
                  <a:ext uri="{FF2B5EF4-FFF2-40B4-BE49-F238E27FC236}">
                    <a16:creationId xmlns:a16="http://schemas.microsoft.com/office/drawing/2014/main" id="{A11C92D3-75B4-1AEF-D298-F34A71CF54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3704708"/>
                <a:ext cx="11924914" cy="1695529"/>
              </a:xfrm>
              <a:prstGeom prst="rect">
                <a:avLst/>
              </a:prstGeom>
              <a:blipFill>
                <a:blip r:embed="rId3"/>
                <a:stretch>
                  <a:fillRect l="-1789" t="-5396" b="-1187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:a16="http://schemas.microsoft.com/office/drawing/2014/main" xmlns:p14="http://schemas.microsoft.com/office/powerpoint/2010/main" xmlns:a14="http://schemas.microsoft.com/office/drawing/2010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770" name="yt_shape_11770"/>
              <p:cNvSpPr txBox="1"/>
              <p:nvPr/>
            </p:nvSpPr>
            <p:spPr>
              <a:xfrm>
                <a:off x="324071" y="467999"/>
                <a:ext cx="11924914" cy="1967975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1" i="0" u="none" dirty="0">
                    <a:solidFill>
                      <a:srgbClr val="000000"/>
                    </a:solidFill>
                    <a:effectLst/>
                    <a:latin typeface="微软雅黑" pitchFamily="28"/>
                    <a:ea typeface="微软雅黑" pitchFamily="28"/>
                  </a:rPr>
                  <a:t>【例</a:t>
                </a:r>
                <a:r>
                  <a:rPr lang="en-US" altLang="zh-CN" sz="2800" b="1" i="0" u="none" dirty="0">
                    <a:solidFill>
                      <a:srgbClr val="000000"/>
                    </a:solidFill>
                    <a:effectLst/>
                    <a:latin typeface="微软雅黑" pitchFamily="28"/>
                    <a:ea typeface="微软雅黑" pitchFamily="28"/>
                  </a:rPr>
                  <a:t>4</a:t>
                </a:r>
                <a:r>
                  <a:rPr lang="zh-CN" altLang="zh-CN" sz="2800" b="1" i="0" u="none" dirty="0">
                    <a:solidFill>
                      <a:srgbClr val="000000"/>
                    </a:solidFill>
                    <a:effectLst/>
                    <a:latin typeface="微软雅黑" pitchFamily="28"/>
                    <a:ea typeface="微软雅黑" pitchFamily="28"/>
                  </a:rPr>
                  <a:t>】　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质量为</a:t>
                </a:r>
                <a:r>
                  <a:rPr lang="en-US" altLang="zh-CN" sz="2800" b="0" i="1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的小车静止于光滑的水平面上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小</a:t>
                </a:r>
                <a:endParaRPr lang="en-US" altLang="zh-CN" sz="2800" b="0" i="0" u="none" dirty="0">
                  <a:solidFill>
                    <a:srgbClr val="000000"/>
                  </a:solidFill>
                  <a:effectLst/>
                  <a:latin typeface="Times New Roman" pitchFamily="28"/>
                  <a:ea typeface="宋体" pitchFamily="28"/>
                </a:endParaRPr>
              </a:p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车的上表面和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  <a:sym typeface="_⨹_2_ada12"/>
                  </a:rPr>
                  <a:t>圆弧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的轨道均光滑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。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如图所示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一个质</a:t>
                </a:r>
                <a:endParaRPr lang="en-US" altLang="zh-CN" sz="2800" b="0" i="0" u="none" dirty="0">
                  <a:solidFill>
                    <a:srgbClr val="000000"/>
                  </a:solidFill>
                  <a:effectLst/>
                  <a:latin typeface="Times New Roman" pitchFamily="28"/>
                  <a:ea typeface="宋体" pitchFamily="28"/>
                </a:endParaRPr>
              </a:p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量为</a:t>
                </a:r>
                <a:r>
                  <a:rPr lang="en-US" altLang="zh-CN" sz="2800" b="0" i="1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的小球以初速度</a:t>
                </a:r>
                <a:r>
                  <a:rPr lang="en-US" altLang="zh-CN" sz="2800" b="0" i="1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  <a:sym typeface="_⨹_5_0f0f3"/>
                  </a:rPr>
                  <a:t>水平冲向小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车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当小球返回左</a:t>
                </a:r>
                <a:endParaRPr lang="en-US" altLang="zh-CN" sz="2800" b="0" i="0" u="none" dirty="0">
                  <a:solidFill>
                    <a:srgbClr val="000000"/>
                  </a:solidFill>
                  <a:effectLst/>
                  <a:latin typeface="Times New Roman" pitchFamily="28"/>
                  <a:ea typeface="宋体" pitchFamily="28"/>
                </a:endParaRPr>
              </a:p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端脱离小车时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下列说法中正确的是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　　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</a:p>
            </p:txBody>
          </p:sp>
        </mc:Choice>
        <mc:Fallback xmlns:a16="http://schemas.microsoft.com/office/drawing/2014/main" xmlns:p15="http://schemas.microsoft.com/office/powerpoint/2012/main" xmlns:p14="http://schemas.microsoft.com/office/powerpoint/2010/main" xmlns="">
          <p:sp>
            <p:nvSpPr>
              <p:cNvPr id="11770" name="yt_shape_1177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467999"/>
                <a:ext cx="11924914" cy="1967975"/>
              </a:xfrm>
              <a:prstGeom prst="rect">
                <a:avLst/>
              </a:prstGeom>
              <a:blipFill>
                <a:blip r:embed="rId2"/>
                <a:stretch>
                  <a:fillRect l="-1789" t="-1238" b="-4024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772" name="yt_image_11772">
            <a:extLst>
              <a:ext uri="">
                <a16:creationId xmlns:a16="http://schemas.microsoft.com/office/drawing/2014/main" xmlns:p15="http://schemas.microsoft.com/office/powerpoint/2012/main" xmlns:p14="http://schemas.microsoft.com/office/powerpoint/2010/main" xmlns:a14="http://schemas.microsoft.com/office/drawing/2010/main" xmlns:mc="http://schemas.openxmlformats.org/markup-compatibility/2006" xmlns="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045346" y="628137"/>
            <a:ext cx="2788107" cy="16476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yt_table_11774" title="H_188.16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2455754"/>
              </p:ext>
            </p:extLst>
          </p:nvPr>
        </p:nvGraphicFramePr>
        <p:xfrm>
          <a:off x="324071" y="3109599"/>
          <a:ext cx="10298113" cy="2389632"/>
        </p:xfrm>
        <a:graphic>
          <a:graphicData uri="http://schemas.openxmlformats.org/drawingml/2006/table">
            <a:tbl>
              <a:tblPr/>
              <a:tblGrid>
                <a:gridCol w="10298113">
                  <a:extLst>
                    <a:ext uri="{9D8B030D-6E8A-4147-A177-3AD203B41FA5}">
                      <a16:colId xmlns:a16="http://schemas.microsoft.com/office/drawing/2014/main" val="101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整个过程中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en-US" altLang="zh-CN" sz="2800" b="0" i="1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m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和</a:t>
                      </a:r>
                      <a:r>
                        <a:rPr lang="en-US" altLang="zh-CN" sz="2800" b="0" i="1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M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组成的系统动量守恒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B</a:t>
                      </a: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如果 </a:t>
                      </a:r>
                      <a:r>
                        <a:rPr lang="en-US" altLang="zh-CN" sz="2800" b="0" i="1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m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＞</a:t>
                      </a:r>
                      <a:r>
                        <a:rPr lang="en-US" altLang="zh-CN" sz="2800" b="0" i="1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M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小球脱离小车后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做自由落体运动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C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如果 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m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＞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M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小球脱离小车后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沿水平方向向右做平抛运动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D</a:t>
                      </a: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如果 </a:t>
                      </a:r>
                      <a:r>
                        <a:rPr lang="en-US" altLang="zh-CN" sz="2800" b="0" i="1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m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＜</a:t>
                      </a:r>
                      <a:r>
                        <a:rPr lang="en-US" altLang="zh-CN" sz="2800" b="0" i="1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M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小球脱离小车后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沿水平方向向右做平抛运动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94"/>
                  </a:ext>
                </a:extLst>
              </a:tr>
            </a:tbl>
          </a:graphicData>
        </a:graphic>
      </p:graphicFrame>
      <p:sp>
        <p:nvSpPr>
          <p:cNvPr id="5" name="矩形 4"/>
          <p:cNvSpPr/>
          <p:nvPr/>
        </p:nvSpPr>
        <p:spPr>
          <a:xfrm>
            <a:off x="135350" y="4403773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  </a:t>
            </a:r>
            <a:endParaRPr lang="zh-CN" altLang="en-US" sz="4500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:p14="http://schemas.microsoft.com/office/powerpoint/2010/main" xmlns:a16="http://schemas.microsoft.com/office/drawing/2014/main" xmlns:a14="http://schemas.microsoft.com/office/drawing/2010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776" name="yt_shape_11776"/>
              <p:cNvSpPr txBox="1"/>
              <p:nvPr/>
            </p:nvSpPr>
            <p:spPr>
              <a:xfrm>
                <a:off x="324071" y="467999"/>
                <a:ext cx="11924914" cy="4074642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微软雅黑" pitchFamily="28"/>
                    <a:ea typeface="微软雅黑" pitchFamily="28"/>
                  </a:rPr>
                  <a:t>解析：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 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　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整个过程中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和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组成的系统水平方向动量守恒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5_61438"/>
                  </a:rPr>
                  <a:t>其他方向动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量不守恒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错误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取小球的初速度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的方向为正方向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7_1c332"/>
                  </a:rPr>
                  <a:t>根据动量守恒定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律得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mv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mv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Mv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根据机械能守恒定律得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0</m:t>
                            </m:r>
                          </m:sub>
                        </m:sSub>
                      </m:e>
                      <m:sup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1</m:t>
                            </m:r>
                          </m:sub>
                        </m:sSub>
                      </m:e>
                      <m:sup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</m:sub>
                        </m:sSub>
                      </m:e>
                      <m:sup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c2d57"/>
                  </a:rPr>
                  <a:t>解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得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𝑚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−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𝑀</m:t>
                        </m:r>
                      </m:num>
                      <m:den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𝑚</m:t>
                        </m:r>
                        <m:r>
                          <a:rPr lang="zh-CN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＋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𝑀</m:t>
                        </m:r>
                      </m:den>
                    </m:f>
                  </m:oMath>
                </a14:m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如果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＞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则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＞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小球脱离小车后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7_0d81f"/>
                  </a:rPr>
                  <a:t>沿水平方向向右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做平抛运动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错误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正确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如果 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＜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则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＜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小球脱离小车后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5bac2"/>
                  </a:rPr>
                  <a:t>沿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水平方向向左做平抛运动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D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错误。</a:t>
                </a:r>
              </a:p>
            </p:txBody>
          </p:sp>
        </mc:Choice>
        <mc:Fallback xmlns="">
          <p:sp>
            <p:nvSpPr>
              <p:cNvPr id="11776" name="yt_shape_1177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467999"/>
                <a:ext cx="11924914" cy="4074642"/>
              </a:xfrm>
              <a:prstGeom prst="rect">
                <a:avLst/>
              </a:prstGeom>
              <a:blipFill>
                <a:blip r:embed="rId2"/>
                <a:stretch>
                  <a:fillRect l="-1789" t="-599" b="-449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82" name="yt_image_11782">
            <a:extLst>
              <a:ext uri="">
                <a16:creationId xmlns:a16="http://schemas.microsoft.com/office/drawing/2014/main" xmlns:p14="http://schemas.microsoft.com/office/powerpoint/2010/main" xmlns:p15="http://schemas.microsoft.com/office/powerpoint/2012/main" xmlns:a14="http://schemas.microsoft.com/office/drawing/2010/main" xmlns:mc="http://schemas.openxmlformats.org/markup-compatibility/2006" xmlns="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417757" y="1681933"/>
            <a:ext cx="4418136" cy="11256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778" name="yt_shape_11778"/>
          <p:cNvSpPr txBox="1"/>
          <p:nvPr/>
        </p:nvSpPr>
        <p:spPr>
          <a:xfrm>
            <a:off x="324071" y="467999"/>
            <a:ext cx="11924914" cy="173868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微软雅黑" pitchFamily="28"/>
              </a:rPr>
              <a:t>【例</a:t>
            </a:r>
            <a:r>
              <a:rPr lang="en-US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微软雅黑" pitchFamily="28"/>
              </a:rPr>
              <a:t>5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微软雅黑" pitchFamily="28"/>
              </a:rPr>
              <a:t>】　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如图所示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有一质量为</a:t>
            </a:r>
            <a:r>
              <a:rPr lang="en-US" altLang="zh-CN" sz="28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的小球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以速度</a:t>
            </a:r>
            <a:r>
              <a:rPr lang="en-US" altLang="zh-CN" sz="28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en-US" altLang="zh-CN" sz="2800" b="0" i="0" u="none" baseline="-25000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9_6da61"/>
              </a:rPr>
              <a:t>滑上静置于光滑水平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面上带有四分之一光滑圆弧轨道的滑块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滑块的质量为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en-US" altLang="zh-CN" sz="28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6_91988"/>
              </a:rPr>
              <a:t>小球在上升过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程中始终未能冲出圆弧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重力加速度为</a:t>
            </a:r>
            <a:r>
              <a:rPr lang="en-US" altLang="zh-CN" sz="28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求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：</a:t>
            </a:r>
          </a:p>
        </p:txBody>
      </p:sp>
      <p:sp>
        <p:nvSpPr>
          <p:cNvPr id="11779" name="yt_shape_11779"/>
          <p:cNvSpPr txBox="1"/>
          <p:nvPr/>
        </p:nvSpPr>
        <p:spPr>
          <a:xfrm>
            <a:off x="324000" y="2257468"/>
            <a:ext cx="6642844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小球在圆弧轨道最高点的速度大小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；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yt_shape_11780"/>
              <p:cNvSpPr txBox="1"/>
              <p:nvPr/>
            </p:nvSpPr>
            <p:spPr>
              <a:xfrm>
                <a:off x="355986" y="2702490"/>
                <a:ext cx="2612382" cy="746486"/>
              </a:xfrm>
              <a:prstGeom prst="rect">
                <a:avLst/>
              </a:prstGeom>
            </p:spPr>
            <p:txBody>
              <a:bodyPr vert="horz" wrap="non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微软雅黑" pitchFamily="28"/>
                    <a:ea typeface="微软雅黑" pitchFamily="28"/>
                  </a:rPr>
                  <a:t>答案：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　</a:t>
                </a:r>
              </a:p>
            </p:txBody>
          </p:sp>
        </mc:Choice>
        <mc:Fallback xmlns:a16="http://schemas.microsoft.com/office/drawing/2014/main" xmlns:p14="http://schemas.microsoft.com/office/powerpoint/2010/main" xmlns:p15="http://schemas.microsoft.com/office/powerpoint/2012/main" xmlns="">
          <p:sp>
            <p:nvSpPr>
              <p:cNvPr id="2" name="yt_shape_117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986" y="2702490"/>
                <a:ext cx="2612382" cy="746486"/>
              </a:xfrm>
              <a:prstGeom prst="rect">
                <a:avLst/>
              </a:prstGeom>
              <a:blipFill>
                <a:blip r:embed="rId3"/>
                <a:stretch>
                  <a:fillRect l="-8159" b="-1544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yt_shape_11794"/>
          <p:cNvSpPr txBox="1"/>
          <p:nvPr/>
        </p:nvSpPr>
        <p:spPr>
          <a:xfrm>
            <a:off x="368686" y="3466926"/>
            <a:ext cx="11467207" cy="2945165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0000FF"/>
                </a:solidFill>
                <a:effectLst/>
                <a:latin typeface="微软雅黑" pitchFamily="28"/>
                <a:ea typeface="微软雅黑" pitchFamily="28"/>
              </a:rPr>
              <a:t>解析：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 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在小球运动过程中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17_d6285"/>
              </a:rPr>
              <a:t>小球和滑块组成的系统在水平方向上动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量守恒小球在圆弧轨道上升到最高点时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小球与滑块速度相同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规定初速度</a:t>
            </a:r>
            <a: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en-US" altLang="zh-CN" sz="2800" b="0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1_4acd9"/>
              </a:rPr>
              <a:t>的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方向为正方向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</a:p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有</a:t>
            </a:r>
            <a: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mv</a:t>
            </a:r>
            <a:r>
              <a:rPr lang="en-US" altLang="zh-CN" sz="2800" b="0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4</a:t>
            </a:r>
            <a: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mv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yt_shape_11795"/>
              <p:cNvSpPr txBox="1"/>
              <p:nvPr/>
            </p:nvSpPr>
            <p:spPr>
              <a:xfrm>
                <a:off x="400200" y="5786928"/>
                <a:ext cx="1873398" cy="746486"/>
              </a:xfrm>
              <a:prstGeom prst="rect">
                <a:avLst/>
              </a:prstGeom>
            </p:spPr>
            <p:txBody>
              <a:bodyPr vert="horz" wrap="non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解得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。</a:t>
                </a:r>
              </a:p>
            </p:txBody>
          </p:sp>
        </mc:Choice>
        <mc:Fallback xmlns:a16="http://schemas.microsoft.com/office/drawing/2014/main" xmlns:p14="http://schemas.microsoft.com/office/powerpoint/2010/main" xmlns:p15="http://schemas.microsoft.com/office/powerpoint/2012/main" xmlns="">
          <p:sp>
            <p:nvSpPr>
              <p:cNvPr id="9" name="yt_shape_1179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200" y="5786928"/>
                <a:ext cx="1873398" cy="746486"/>
              </a:xfrm>
              <a:prstGeom prst="rect">
                <a:avLst/>
              </a:prstGeom>
              <a:blipFill>
                <a:blip r:embed="rId4"/>
                <a:stretch>
                  <a:fillRect l="-11726" r="-10098" b="-1544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:p14="http://schemas.microsoft.com/office/powerpoint/2010/main" xmlns:a14="http://schemas.microsoft.com/office/drawing/2010/main" xmlns:a16="http://schemas.microsoft.com/office/drawing/2014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allAtOnce"/>
      <p:bldP spid="8" grpId="0"/>
      <p:bldP spid="9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yt_shape_11784"/>
          <p:cNvSpPr txBox="1"/>
          <p:nvPr/>
        </p:nvSpPr>
        <p:spPr>
          <a:xfrm>
            <a:off x="336700" y="468379"/>
            <a:ext cx="7001917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小球在圆弧轨道上能上升的最大高度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；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yt_shape_11785"/>
              <p:cNvSpPr txBox="1"/>
              <p:nvPr/>
            </p:nvSpPr>
            <p:spPr>
              <a:xfrm>
                <a:off x="451000" y="1000576"/>
                <a:ext cx="2903744" cy="937308"/>
              </a:xfrm>
              <a:prstGeom prst="rect">
                <a:avLst/>
              </a:prstGeom>
            </p:spPr>
            <p:txBody>
              <a:bodyPr vert="horz" wrap="non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微软雅黑" pitchFamily="28"/>
                    <a:ea typeface="微软雅黑" pitchFamily="28"/>
                  </a:rPr>
                  <a:t>答案：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3</m:t>
                        </m:r>
                        <m:sSup>
                          <m:sSup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altLang="zh-CN" sz="2800" b="0" i="1">
                                    <a:solidFill>
                                      <a:srgbClr val="C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56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800" b="0" i="1">
                                    <a:solidFill>
                                      <a:srgbClr val="C00000"/>
                                    </a:solidFill>
                                    <a:effectLst/>
                                    <a:latin typeface="Cambria Math" panose="02040503050406030204" pitchFamily="56" charset="0"/>
                                    <a:ea typeface="Cambria Math" panose="02040503050406030204" pitchFamily="56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altLang="zh-CN" sz="2800" b="0" i="0">
                                    <a:solidFill>
                                      <a:srgbClr val="C00000"/>
                                    </a:solidFill>
                                    <a:effectLst/>
                                    <a:latin typeface="Cambria Math" panose="02040503050406030204" pitchFamily="56" charset="0"/>
                                    <a:ea typeface="Cambria Math" panose="02040503050406030204" pitchFamily="56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8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𝑔</m:t>
                        </m:r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　</a:t>
                </a:r>
              </a:p>
            </p:txBody>
          </p:sp>
        </mc:Choice>
        <mc:Fallback xmlns:p14="http://schemas.microsoft.com/office/powerpoint/2010/main" xmlns="">
          <p:sp>
            <p:nvSpPr>
              <p:cNvPr id="3" name="yt_shape_1178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000" y="1000576"/>
                <a:ext cx="2903744" cy="937308"/>
              </a:xfrm>
              <a:prstGeom prst="rect">
                <a:avLst/>
              </a:prstGeom>
              <a:blipFill>
                <a:blip r:embed="rId2"/>
                <a:stretch>
                  <a:fillRect l="-7563" b="-71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yt_shape_11797"/>
              <p:cNvSpPr txBox="1"/>
              <p:nvPr/>
            </p:nvSpPr>
            <p:spPr>
              <a:xfrm>
                <a:off x="476400" y="2080899"/>
                <a:ext cx="4488408" cy="1394164"/>
              </a:xfrm>
              <a:prstGeom prst="rect">
                <a:avLst/>
              </a:prstGeom>
            </p:spPr>
            <p:txBody>
              <a:bodyPr vert="horz" wrap="none" lIns="0" tIns="0" rIns="0" bIns="0" rtlCol="0">
                <a:noAutofit/>
              </a:bodyPr>
              <a:lstStyle/>
              <a:p>
                <a:pPr hangingPunct="0">
                  <a:lnSpc>
                    <a:spcPct val="140000"/>
                  </a:lnSpc>
                </a:pPr>
                <a:r>
                  <a:rPr lang="zh-CN" altLang="zh-CN" sz="2800" dirty="0">
                    <a:solidFill>
                      <a:srgbClr val="0000FF"/>
                    </a:solidFill>
                    <a:latin typeface="微软雅黑" pitchFamily="28"/>
                    <a:ea typeface="微软雅黑" pitchFamily="28"/>
                  </a:rPr>
                  <a:t>解析：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根据机械能守恒定律得</a:t>
                </a:r>
              </a:p>
              <a:p>
                <a:pPr algn="l" eaLnBrk="1" latinLnBrk="0" hangingPunct="0">
                  <a:lnSpc>
                    <a:spcPct val="140000"/>
                  </a:lnSpc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0</m:t>
                            </m:r>
                          </m:sub>
                        </m:sSub>
                      </m:e>
                      <m:sup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4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mv</a:t>
                </a:r>
                <a:r>
                  <a:rPr lang="en-US" altLang="zh-CN" sz="2800" b="0" i="0" u="none" baseline="30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mgh</a:t>
                </a:r>
                <a:endParaRPr lang="en-US" altLang="zh-CN" sz="2800" b="0" i="1" u="none" dirty="0">
                  <a:solidFill>
                    <a:srgbClr val="C00000"/>
                  </a:solidFill>
                  <a:effectLst/>
                  <a:latin typeface="Times New Roman" pitchFamily="28"/>
                  <a:ea typeface="宋体" pitchFamily="28"/>
                </a:endParaRPr>
              </a:p>
            </p:txBody>
          </p:sp>
        </mc:Choice>
        <mc:Fallback xmlns:p14="http://schemas.microsoft.com/office/powerpoint/2010/main" xmlns="">
          <p:sp>
            <p:nvSpPr>
              <p:cNvPr id="4" name="yt_shape_1179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400" y="2080899"/>
                <a:ext cx="4488408" cy="1394164"/>
              </a:xfrm>
              <a:prstGeom prst="rect">
                <a:avLst/>
              </a:prstGeom>
              <a:blipFill>
                <a:blip r:embed="rId3"/>
                <a:stretch>
                  <a:fillRect l="-4755" t="-1747" r="-7337" b="-786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yt_shape_11799"/>
              <p:cNvSpPr txBox="1"/>
              <p:nvPr/>
            </p:nvSpPr>
            <p:spPr>
              <a:xfrm>
                <a:off x="476400" y="3525851"/>
                <a:ext cx="2185598" cy="937308"/>
              </a:xfrm>
              <a:prstGeom prst="rect">
                <a:avLst/>
              </a:prstGeom>
            </p:spPr>
            <p:txBody>
              <a:bodyPr vert="horz" wrap="non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解得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h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3</m:t>
                        </m:r>
                        <m:sSup>
                          <m:sSup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altLang="zh-CN" sz="2800" b="0" i="1">
                                    <a:solidFill>
                                      <a:srgbClr val="C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56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800" b="0" i="1">
                                    <a:solidFill>
                                      <a:srgbClr val="C00000"/>
                                    </a:solidFill>
                                    <a:effectLst/>
                                    <a:latin typeface="Cambria Math" panose="02040503050406030204" pitchFamily="56" charset="0"/>
                                    <a:ea typeface="Cambria Math" panose="02040503050406030204" pitchFamily="56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altLang="zh-CN" sz="2800" b="0" i="0">
                                    <a:solidFill>
                                      <a:srgbClr val="C00000"/>
                                    </a:solidFill>
                                    <a:effectLst/>
                                    <a:latin typeface="Cambria Math" panose="02040503050406030204" pitchFamily="56" charset="0"/>
                                    <a:ea typeface="Cambria Math" panose="02040503050406030204" pitchFamily="56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8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𝑔</m:t>
                        </m:r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。</a:t>
                </a:r>
              </a:p>
            </p:txBody>
          </p:sp>
        </mc:Choice>
        <mc:Fallback xmlns:p14="http://schemas.microsoft.com/office/powerpoint/2010/main" xmlns="">
          <p:sp>
            <p:nvSpPr>
              <p:cNvPr id="5" name="yt_shape_1179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400" y="3525851"/>
                <a:ext cx="2185598" cy="937308"/>
              </a:xfrm>
              <a:prstGeom prst="rect">
                <a:avLst/>
              </a:prstGeom>
              <a:blipFill>
                <a:blip r:embed="rId4"/>
                <a:stretch>
                  <a:fillRect l="-9749" r="-8635" b="-71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4554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allAtOnce"/>
      <p:bldP spid="4" grpId="0"/>
      <p:bldP spid="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92" name="yt_image_11792">
            <a:extLst>
              <a:ext uri="">
                <a16:creationId xmlns:a16="http://schemas.microsoft.com/office/drawing/2014/main" xmlns:p14="http://schemas.microsoft.com/office/powerpoint/2010/main" xmlns:p15="http://schemas.microsoft.com/office/powerpoint/2012/main" xmlns:a14="http://schemas.microsoft.com/office/drawing/2010/main" xmlns:mc="http://schemas.openxmlformats.org/markup-compatibility/2006" xmlns="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382353" y="548432"/>
            <a:ext cx="5345945" cy="1362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789" name="yt_shape_11789"/>
          <p:cNvSpPr txBox="1"/>
          <p:nvPr/>
        </p:nvSpPr>
        <p:spPr>
          <a:xfrm>
            <a:off x="324000" y="467999"/>
            <a:ext cx="7720062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小球离开圆弧轨道时圆弧轨道的速度大小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yt_shape_11790"/>
              <p:cNvSpPr txBox="1"/>
              <p:nvPr/>
            </p:nvSpPr>
            <p:spPr>
              <a:xfrm>
                <a:off x="324000" y="1203348"/>
                <a:ext cx="2253309" cy="746486"/>
              </a:xfrm>
              <a:prstGeom prst="rect">
                <a:avLst/>
              </a:prstGeom>
            </p:spPr>
            <p:txBody>
              <a:bodyPr vert="horz" wrap="non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微软雅黑" pitchFamily="28"/>
                    <a:ea typeface="微软雅黑" pitchFamily="28"/>
                  </a:rPr>
                  <a:t>答案：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endParaRPr lang="zh-CN" altLang="zh-CN" sz="2800" b="0" i="0" u="none" dirty="0">
                  <a:solidFill>
                    <a:srgbClr val="FF0000"/>
                  </a:solidFill>
                  <a:effectLst/>
                  <a:latin typeface="宋体" pitchFamily="28"/>
                  <a:ea typeface="宋体" pitchFamily="28"/>
                </a:endParaRPr>
              </a:p>
            </p:txBody>
          </p:sp>
        </mc:Choice>
        <mc:Fallback xmlns:a16="http://schemas.microsoft.com/office/drawing/2014/main" xmlns:p14="http://schemas.microsoft.com/office/powerpoint/2010/main" xmlns:p15="http://schemas.microsoft.com/office/powerpoint/2012/main" xmlns="">
          <p:sp>
            <p:nvSpPr>
              <p:cNvPr id="4" name="yt_shape_1179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00" y="1203348"/>
                <a:ext cx="2253309" cy="746486"/>
              </a:xfrm>
              <a:prstGeom prst="rect">
                <a:avLst/>
              </a:prstGeom>
              <a:blipFill>
                <a:blip r:embed="rId3"/>
                <a:stretch>
                  <a:fillRect l="-9459" b="-1544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yt_shape_11801"/>
              <p:cNvSpPr txBox="1"/>
              <p:nvPr/>
            </p:nvSpPr>
            <p:spPr>
              <a:xfrm>
                <a:off x="324000" y="2203786"/>
                <a:ext cx="10592643" cy="2201436"/>
              </a:xfrm>
              <a:prstGeom prst="rect">
                <a:avLst/>
              </a:prstGeom>
            </p:spPr>
            <p:txBody>
              <a:bodyPr vert="horz" wrap="none" lIns="0" tIns="0" rIns="0" bIns="0" rtlCol="0">
                <a:noAutofit/>
              </a:bodyPr>
              <a:lstStyle/>
              <a:p>
                <a:pPr hangingPunct="0">
                  <a:lnSpc>
                    <a:spcPct val="140000"/>
                  </a:lnSpc>
                </a:pPr>
                <a:r>
                  <a:rPr lang="zh-CN" altLang="zh-CN" sz="2800" dirty="0">
                    <a:solidFill>
                      <a:srgbClr val="0000FF"/>
                    </a:solidFill>
                    <a:latin typeface="微软雅黑" pitchFamily="28"/>
                    <a:ea typeface="微软雅黑" pitchFamily="28"/>
                  </a:rPr>
                  <a:t>解析：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小球离开圆弧轨道时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根据动量守恒定律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有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mv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mv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mv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</a:p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根据机械能守恒定律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则有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0</m:t>
                            </m:r>
                          </m:sub>
                        </m:sSub>
                      </m:e>
                      <m:sup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1</m:t>
                            </m:r>
                          </m:sub>
                        </m:sSub>
                      </m:e>
                      <m:sup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</m:sub>
                        </m:sSub>
                      </m:e>
                      <m:sup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endParaRPr lang="en-US" altLang="zh-CN" sz="2800" b="0" i="1" u="none" dirty="0">
                  <a:solidFill>
                    <a:srgbClr val="C00000"/>
                  </a:solidFill>
                  <a:effectLst/>
                  <a:latin typeface="Times New Roman" pitchFamily="28"/>
                  <a:ea typeface="宋体" pitchFamily="28"/>
                </a:endParaRPr>
              </a:p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联立以上两式可得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＝－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。</a:t>
                </a:r>
              </a:p>
            </p:txBody>
          </p:sp>
        </mc:Choice>
        <mc:Fallback xmlns:a16="http://schemas.microsoft.com/office/drawing/2014/main" xmlns:p14="http://schemas.microsoft.com/office/powerpoint/2010/main" xmlns:p15="http://schemas.microsoft.com/office/powerpoint/2012/main" xmlns="">
          <p:sp>
            <p:nvSpPr>
              <p:cNvPr id="8" name="yt_shape_1180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00" y="2203786"/>
                <a:ext cx="10592643" cy="2201436"/>
              </a:xfrm>
              <a:prstGeom prst="rect">
                <a:avLst/>
              </a:prstGeom>
              <a:blipFill>
                <a:blip r:embed="rId4"/>
                <a:stretch>
                  <a:fillRect l="-2014" t="-1108" r="-1841" b="-443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8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allAtOnce"/>
      <p:bldP spid="8" grpId="0" build="allAtOnce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3" name="yt_shape_11803"/>
          <p:cNvSpPr txBox="1"/>
          <p:nvPr/>
        </p:nvSpPr>
        <p:spPr>
          <a:xfrm>
            <a:off x="311371" y="866023"/>
            <a:ext cx="11543998" cy="1116268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微软雅黑" pitchFamily="28"/>
                <a:ea typeface="微软雅黑" pitchFamily="28"/>
              </a:rPr>
              <a:t>【拓展】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改变小球的速度或其他条件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若小球能冲出圆弧轨道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3_fee00"/>
              </a:rPr>
              <a:t>小球冲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出圆弧轨道后做什么运动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？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小球还能落回圆弧轨道吗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？</a:t>
            </a:r>
          </a:p>
        </p:txBody>
      </p:sp>
      <p:sp>
        <p:nvSpPr>
          <p:cNvPr id="11804" name="yt_shape_11804"/>
          <p:cNvSpPr txBox="1"/>
          <p:nvPr/>
        </p:nvSpPr>
        <p:spPr>
          <a:xfrm>
            <a:off x="311371" y="2033079"/>
            <a:ext cx="11924914" cy="1135439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FF"/>
                </a:solidFill>
                <a:effectLst/>
                <a:latin typeface="微软雅黑" pitchFamily="28"/>
                <a:ea typeface="微软雅黑" pitchFamily="28"/>
              </a:rPr>
              <a:t>提示：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29_86a5c"/>
              </a:rPr>
              <a:t>小球冲出圆弧轨道后做斜上抛运动。因为小球和圆弧轨道组成的系</a:t>
            </a:r>
            <a:b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</a:b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统水平方向动量守恒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故小球还能落回圆弧轨道。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18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04" grpId="0" build="allAtOnce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1428750"/>
            <a:ext cx="12192000" cy="367030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" name="直接连接符 9"/>
          <p:cNvCxnSpPr/>
          <p:nvPr/>
        </p:nvCxnSpPr>
        <p:spPr>
          <a:xfrm>
            <a:off x="3953061" y="2060475"/>
            <a:ext cx="0" cy="595635"/>
          </a:xfrm>
          <a:prstGeom prst="line">
            <a:avLst/>
          </a:prstGeom>
          <a:ln w="22225">
            <a:solidFill>
              <a:srgbClr val="22252A"/>
            </a:solidFill>
          </a:ln>
          <a:effectLst>
            <a:outerShdw blurRad="101600" dist="38100" dir="2700000" algn="tl" rotWithShape="0">
              <a:prstClr val="black">
                <a:alpha val="25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/>
        </p:nvCxnSpPr>
        <p:spPr>
          <a:xfrm>
            <a:off x="1644576" y="3302066"/>
            <a:ext cx="0" cy="595635"/>
          </a:xfrm>
          <a:prstGeom prst="line">
            <a:avLst/>
          </a:prstGeom>
          <a:ln w="22225">
            <a:solidFill>
              <a:srgbClr val="C00000"/>
            </a:solidFill>
          </a:ln>
          <a:effectLst>
            <a:outerShdw blurRad="101600" dist="38100" dir="2700000" algn="tl" rotWithShape="0">
              <a:prstClr val="black">
                <a:alpha val="25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组合 11"/>
          <p:cNvGrpSpPr/>
          <p:nvPr/>
        </p:nvGrpSpPr>
        <p:grpSpPr>
          <a:xfrm>
            <a:off x="1948306" y="2068901"/>
            <a:ext cx="1798820" cy="1798820"/>
            <a:chOff x="2329306" y="2634955"/>
            <a:chExt cx="1798820" cy="1798820"/>
          </a:xfrm>
        </p:grpSpPr>
        <p:sp>
          <p:nvSpPr>
            <p:cNvPr id="13" name="矩形 12"/>
            <p:cNvSpPr/>
            <p:nvPr/>
          </p:nvSpPr>
          <p:spPr>
            <a:xfrm>
              <a:off x="2329306" y="2634955"/>
              <a:ext cx="1798820" cy="17988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  <a:effectLst>
              <a:outerShdw blurRad="101600" dist="38100" dir="2700000" algn="tl" rotWithShape="0">
                <a:prstClr val="black">
                  <a:alpha val="2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2797975" y="2969317"/>
              <a:ext cx="864339" cy="110799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6600" dirty="0">
                  <a:solidFill>
                    <a:schemeClr val="bg1"/>
                  </a:solidFill>
                  <a:latin typeface="Aparajita" panose="020B0604020202020204" pitchFamily="34" charset="0"/>
                  <a:cs typeface="Aparajita" panose="020B0604020202020204" pitchFamily="34" charset="0"/>
                </a:rPr>
                <a:t>03</a:t>
              </a:r>
              <a:endParaRPr lang="zh-CN" altLang="en-US" sz="6600" dirty="0">
                <a:solidFill>
                  <a:schemeClr val="bg1"/>
                </a:solidFill>
                <a:latin typeface="Aparajita" panose="020B0604020202020204" pitchFamily="34" charset="0"/>
                <a:cs typeface="Aparajita" panose="020B0604020202020204" pitchFamily="34" charset="0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2814911" y="3723965"/>
              <a:ext cx="81785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2400" dirty="0">
                  <a:solidFill>
                    <a:schemeClr val="bg1"/>
                  </a:solidFill>
                  <a:latin typeface="Aparajita" panose="020B0604020202020204" pitchFamily="34" charset="0"/>
                  <a:cs typeface="Aparajita" panose="020B0604020202020204" pitchFamily="34" charset="0"/>
                </a:rPr>
                <a:t>PART</a:t>
              </a:r>
              <a:endParaRPr lang="zh-CN" altLang="en-US" sz="2400" dirty="0">
                <a:solidFill>
                  <a:schemeClr val="bg1"/>
                </a:solidFill>
                <a:latin typeface="Aparajita" panose="020B0604020202020204" pitchFamily="34" charset="0"/>
                <a:cs typeface="Aparajita" panose="020B0604020202020204" pitchFamily="34" charset="0"/>
              </a:endParaRPr>
            </a:p>
          </p:txBody>
        </p:sp>
      </p:grpSp>
      <p:sp>
        <p:nvSpPr>
          <p:cNvPr id="17" name="文本框 16">
            <a:hlinkClick r:id="rId2" action="ppaction://hlinksldjump"/>
          </p:cNvPr>
          <p:cNvSpPr txBox="1"/>
          <p:nvPr/>
        </p:nvSpPr>
        <p:spPr>
          <a:xfrm>
            <a:off x="5122776" y="2635593"/>
            <a:ext cx="264687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4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课时作业</a:t>
            </a:r>
          </a:p>
        </p:txBody>
      </p:sp>
    </p:spTree>
    <p:extLst>
      <p:ext uri="{BB962C8B-B14F-4D97-AF65-F5344CB8AC3E}">
        <p14:creationId xmlns:p14="http://schemas.microsoft.com/office/powerpoint/2010/main" val="2108563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dissolve/>
      </p:transition>
    </mc:Choice>
    <mc:Fallback xmlns="">
      <p:transition spd="slow">
        <p:dissolv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" presetClass="entr" presetSubtype="4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1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1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 tmFilter="0,0; .5, 1; 1, 1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52" name="yt_shape_10652"/>
          <p:cNvSpPr txBox="1"/>
          <p:nvPr/>
        </p:nvSpPr>
        <p:spPr>
          <a:xfrm>
            <a:off x="389385" y="1186456"/>
            <a:ext cx="11924914" cy="171951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443865" indent="-443809" algn="l" eaLnBrk="1" latinLnBrk="0" hangingPunct="0">
              <a:lnSpc>
                <a:spcPct val="140000"/>
              </a:lnSpc>
            </a:pP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2025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浙江温州期中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如图所示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光滑水平地面上的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P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Q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5_71a99"/>
              </a:rPr>
              <a:t>两物体质量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都为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P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以速度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向右运动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Q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静止且左端有一轻弹簧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当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P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撞上弹簧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  <a:sym typeface="_⨹_1_2f4f7"/>
              </a:rPr>
              <a:t>，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弹簧被压缩至最短时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p:graphicFrame>
        <p:nvGraphicFramePr>
          <p:cNvPr id="10654" name="yt_table_10654_skip" title="H_188.16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/>
        </p:nvGraphicFramePr>
        <p:xfrm>
          <a:off x="833245" y="2956754"/>
          <a:ext cx="5191125" cy="2389632"/>
        </p:xfrm>
        <a:graphic>
          <a:graphicData uri="http://schemas.openxmlformats.org/drawingml/2006/table">
            <a:tbl>
              <a:tblPr/>
              <a:tblGrid>
                <a:gridCol w="5191125">
                  <a:extLst>
                    <a:ext uri="{9D8B030D-6E8A-4147-A177-3AD203B41FA5}">
                      <a16:colId xmlns:a16="http://schemas.microsoft.com/office/drawing/2014/main" val="100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P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的动量变为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0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B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P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、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Q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的速度不相等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C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Q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的动量达到最大值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D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P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、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Q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系统总动量仍然为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mv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26"/>
                  </a:ext>
                </a:extLst>
              </a:tr>
            </a:tbl>
          </a:graphicData>
        </a:graphic>
      </p:graphicFrame>
      <p:pic>
        <p:nvPicPr>
          <p:cNvPr id="10653" name="yt_image_10653_skip" title="H_54.86">
            <a:extLst>
              <a:ext uri="">
                <a16:creationId xmlns:mc="http://schemas.openxmlformats.org/markup-compatibility/2006" xmlns:a14="http://schemas.microsoft.com/office/drawing/2010/main" xmlns:p14="http://schemas.microsoft.com/office/powerpoint/2010/main" xmlns:p15="http://schemas.microsoft.com/office/powerpoint/2012/main" xmlns:a16="http://schemas.microsoft.com/office/drawing/2014/main" xmlns="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779762" y="2956754"/>
            <a:ext cx="3151759" cy="6967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D8AFB920-9FA1-4E95-AE2D-F19F0BDE6791}"/>
              </a:ext>
            </a:extLst>
          </p:cNvPr>
          <p:cNvSpPr/>
          <p:nvPr/>
        </p:nvSpPr>
        <p:spPr>
          <a:xfrm>
            <a:off x="619939" y="5004759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pic>
        <p:nvPicPr>
          <p:cNvPr id="7" name="yt_image_10628" title="H_47.87496">
            <a:extLst>
              <a:ext uri="">
                <a16:creationId xmlns:a14="http://schemas.microsoft.com/office/drawing/2010/main" xmlns:mc="http://schemas.openxmlformats.org/markup-compatibility/2006" xmlns:p15="http://schemas.microsoft.com/office/powerpoint/2012/main" xmlns:p14="http://schemas.microsoft.com/office/powerpoint/2010/main" xmlns:a16="http://schemas.microsoft.com/office/drawing/2014/main" xmlns="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duotone>
              <a:srgbClr val="4BACC6">
                <a:shade val="45000"/>
                <a:satMod val="135000"/>
              </a:srgbClr>
              <a:prstClr val="white"/>
            </a:duotone>
          </a:blip>
          <a:srcRect/>
          <a:stretch>
            <a:fillRect/>
          </a:stretch>
        </p:blipFill>
        <p:spPr bwMode="auto">
          <a:xfrm>
            <a:off x="4595710" y="566283"/>
            <a:ext cx="2308195" cy="6080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组合 15"/>
          <p:cNvGrpSpPr/>
          <p:nvPr/>
        </p:nvGrpSpPr>
        <p:grpSpPr>
          <a:xfrm>
            <a:off x="4146043" y="6427038"/>
            <a:ext cx="4181814" cy="288000"/>
            <a:chOff x="1463551" y="6425622"/>
            <a:chExt cx="4181814" cy="288000"/>
          </a:xfrm>
        </p:grpSpPr>
        <p:sp>
          <p:nvSpPr>
            <p:cNvPr id="9" name="e6dd14f2-edd1-430e-adb1-7533065b49ec" descr="{&quot;SlideID&quot;:&quot;318&quot;,&quot;SlideNumber&quot;:&quot;22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463551" y="6425622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a5dd94e8-c40f-460c-843b-3737366e5e6d" descr="{&quot;SlideID&quot;:&quot;320&quot;,&quot;SlideNumber&quot;:&quot;24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85353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5e3885ef-07a9-43f3-8dc3-28500a20c109" descr="{&quot;SlideID&quot;:&quot;322&quot;,&quot;SlideNumber&quot;:&quot;26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24351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639e2fe0-0815-4c42-80b2-8f4e36d8bf6b" descr="{&quot;SlideID&quot;:&quot;324&quot;,&quot;SlideNumber&quot;:&quot;28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63350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1a9e4cd3-66b6-453e-856b-d32a5d975463" descr="{&quot;SlideID&quot;:&quot;326&quot;,&quot;SlideNumber&quot;:&quot;30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02348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c64b81e1-2a8b-472c-8002-0237d579a0e9" descr="{&quot;SlideID&quot;:&quot;328&quot;,&quot;SlideNumber&quot;:&quot;32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41346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e0548899-a83d-4402-8dd2-358849a4b765" descr="{&quot;SlideID&quot;:&quot;330&quot;,&quot;SlideNumber&quot;:&quot;34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8034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b076550f-c53b-418c-9813-ed56470b9f05" descr="{&quot;SlideID&quot;:&quot;332&quot;,&quot;SlideNumber&quot;:&quot;36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1934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dc556e52-c518-4661-9b14-bdc1f6d6b1b5" descr="{&quot;SlideID&quot;:&quot;334&quot;,&quot;SlideNumber&quot;:&quot;38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58341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c0fe4973-9cdd-46bd-8da0-0db3b2216d4c" descr="{&quot;SlideID&quot;:&quot;336&quot;,&quot;SlideNumber&quot;:&quot;40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97339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" name="00f97405-5e31-4a1a-8182-8838c9562c88" descr="{&quot;SlideID&quot;:&quot;339&quot;,&quot;SlideNumber&quot;:&quot;43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35736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4367891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:a14="http://schemas.microsoft.com/office/drawing/2010/main" xmlns:a16="http://schemas.microsoft.com/office/drawing/2014/main" xmlns:p14="http://schemas.microsoft.com/office/powerpoint/2010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656" name="yt_shape_10656"/>
              <p:cNvSpPr txBox="1"/>
              <p:nvPr/>
            </p:nvSpPr>
            <p:spPr>
              <a:xfrm>
                <a:off x="324071" y="467999"/>
                <a:ext cx="11924914" cy="4410375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marL="443865"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Times New Roman" pitchFamily="28"/>
                    <a:ea typeface="黑体" pitchFamily="28"/>
                  </a:rPr>
                  <a:t>解析</a:t>
                </a:r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宋体" pitchFamily="28"/>
                    <a:ea typeface="宋体" pitchFamily="28"/>
                  </a:rPr>
                  <a:t>：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P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Q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组成的系统所受的合外力为零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系统动量守恒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7_d02c3"/>
                  </a:rPr>
                  <a:t>初始时总动量为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mv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。弹簧被压缩到最短时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P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Q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系统总动量仍为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mv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D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正确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P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2_9c450"/>
                  </a:rPr>
                  <a:t>在压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缩弹簧的过程中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Q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做加速运动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P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做减速运动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两者速度相等时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e944a"/>
                  </a:rPr>
                  <a:t>弹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簧压缩量最大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然后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Q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继续加速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P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继续减速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所以弹簧压缩最短时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  <a:sym typeface="_⨹_1_76632"/>
                  </a:rPr>
                  <a:t>Q</a:t>
                </a:r>
                <a:b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</a:b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的动量未达到最大值。弹簧被压缩到最短时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P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Q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的速度相等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2_aefaf"/>
                  </a:rPr>
                  <a:t>根据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mv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mv'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可知此时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P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的动量为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mv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错误。</a:t>
                </a:r>
              </a:p>
            </p:txBody>
          </p:sp>
        </mc:Choice>
        <mc:Fallback xmlns:p14="http://schemas.microsoft.com/office/powerpoint/2010/main" xmlns:a16="http://schemas.microsoft.com/office/drawing/2014/main" xmlns="">
          <p:sp>
            <p:nvSpPr>
              <p:cNvPr id="10656" name="yt_shape_1065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467999"/>
                <a:ext cx="11924914" cy="4410375"/>
              </a:xfrm>
              <a:prstGeom prst="rect">
                <a:avLst/>
              </a:prstGeom>
              <a:blipFill>
                <a:blip r:embed="rId2"/>
                <a:stretch>
                  <a:fillRect t="-553" r="-158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组合 13"/>
          <p:cNvGrpSpPr/>
          <p:nvPr/>
        </p:nvGrpSpPr>
        <p:grpSpPr>
          <a:xfrm>
            <a:off x="4146043" y="6427038"/>
            <a:ext cx="4181814" cy="288000"/>
            <a:chOff x="1463551" y="6425622"/>
            <a:chExt cx="4181814" cy="288000"/>
          </a:xfrm>
        </p:grpSpPr>
        <p:sp>
          <p:nvSpPr>
            <p:cNvPr id="9" name="d2b45398-b59d-466c-b1bb-78252504671b" descr="{&quot;SlideID&quot;:&quot;318&quot;,&quot;SlideNumber&quot;:&quot;22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463551" y="6425622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a29d0490-ccac-478a-8558-4db9ea367440" descr="{&quot;SlideID&quot;:&quot;320&quot;,&quot;SlideNumber&quot;:&quot;24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85353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1f33d007-759a-488d-a6ef-7617561448cf" descr="{&quot;SlideID&quot;:&quot;322&quot;,&quot;SlideNumber&quot;:&quot;26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24351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0b12b86c-9a8f-4dd7-986d-102e98122cbf" descr="{&quot;SlideID&quot;:&quot;324&quot;,&quot;SlideNumber&quot;:&quot;28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63350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ee3c9128-5b6f-4380-b48a-c12cbd532823" descr="{&quot;SlideID&quot;:&quot;326&quot;,&quot;SlideNumber&quot;:&quot;30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02348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801f57c2-0a43-408c-a478-473a694c17bb" descr="{&quot;SlideID&quot;:&quot;328&quot;,&quot;SlideNumber&quot;:&quot;32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41346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1f6882f3-35b9-4334-af83-16a5ba4d1bf6" descr="{&quot;SlideID&quot;:&quot;330&quot;,&quot;SlideNumber&quot;:&quot;34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8034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8eaa2fb3-397f-4f12-8942-d730e167fab5" descr="{&quot;SlideID&quot;:&quot;332&quot;,&quot;SlideNumber&quot;:&quot;36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1934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aa54f945-09dc-4873-a16e-ae5479f39589" descr="{&quot;SlideID&quot;:&quot;334&quot;,&quot;SlideNumber&quot;:&quot;38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58341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c12c0c9f-731b-4763-8836-a83202eeadaf" descr="{&quot;SlideID&quot;:&quot;336&quot;,&quot;SlideNumber&quot;:&quot;40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97339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300f2ba7-1225-4842-b44c-a5fc90795dd6" descr="{&quot;SlideID&quot;:&quot;339&quot;,&quot;SlideNumber&quot;:&quot;43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35736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990930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58" name="yt_shape_10658"/>
          <p:cNvSpPr txBox="1"/>
          <p:nvPr/>
        </p:nvSpPr>
        <p:spPr>
          <a:xfrm>
            <a:off x="324071" y="467999"/>
            <a:ext cx="11924914" cy="2925994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443865" indent="-443809" algn="l" eaLnBrk="1" latinLnBrk="0" hangingPunct="0">
              <a:lnSpc>
                <a:spcPct val="140000"/>
              </a:lnSpc>
            </a:pP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2025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江苏南京月考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如图所示为冰壶俯视图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9_35ee7"/>
              </a:rPr>
              <a:t>在光滑的水平地面上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有三个相同可视为质点的冰壶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并且处在同一条直线上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当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4_b0a7d"/>
              </a:rPr>
              <a:t>以初速度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6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m/s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与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发生正碰并粘在一起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C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左边有弹簧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但未与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相连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2_d461f"/>
              </a:rPr>
              <a:t>全过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程中弹簧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不计质量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未超过弹性限度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则冰壶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C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6_2f56b"/>
              </a:rPr>
              <a:t>速度最大值为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p:graphicFrame>
        <p:nvGraphicFramePr>
          <p:cNvPr id="10660" name="yt_table_10660_skip" title="H_47.04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/>
        </p:nvGraphicFramePr>
        <p:xfrm>
          <a:off x="767931" y="5187851"/>
          <a:ext cx="10356216" cy="597408"/>
        </p:xfrm>
        <a:graphic>
          <a:graphicData uri="http://schemas.openxmlformats.org/drawingml/2006/table">
            <a:tbl>
              <a:tblPr/>
              <a:tblGrid>
                <a:gridCol w="2832418">
                  <a:extLst>
                    <a:ext uri="{9D8B030D-6E8A-4147-A177-3AD203B41FA5}">
                      <a16:colId xmlns:a16="http://schemas.microsoft.com/office/drawing/2014/main" val="10095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10096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10097"/>
                    </a:ext>
                  </a:extLst>
                </a:gridCol>
                <a:gridCol w="1900238">
                  <a:extLst>
                    <a:ext uri="{9D8B030D-6E8A-4147-A177-3AD203B41FA5}">
                      <a16:colId xmlns:a16="http://schemas.microsoft.com/office/drawing/2014/main" val="100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4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m/s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B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3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m/s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C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2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m/s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D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1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m/s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27"/>
                  </a:ext>
                </a:extLst>
              </a:tr>
            </a:tbl>
          </a:graphicData>
        </a:graphic>
      </p:graphicFrame>
      <p:pic>
        <p:nvPicPr>
          <p:cNvPr id="10659" name="yt_image_10659_skip" title="H_137.27992">
            <a:extLst>
              <a:ext uri="">
                <a16:creationId xmlns:mc="http://schemas.openxmlformats.org/markup-compatibility/2006" xmlns:a14="http://schemas.microsoft.com/office/drawing/2010/main" xmlns:p14="http://schemas.microsoft.com/office/powerpoint/2010/main" xmlns:p15="http://schemas.microsoft.com/office/powerpoint/2012/main" xmlns:a16="http://schemas.microsoft.com/office/drawing/2014/main" xmlns="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91915" y="3444781"/>
            <a:ext cx="4206748" cy="1743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D8AFB920-9FA1-4E95-AE2D-F19F0BDE6791}"/>
              </a:ext>
            </a:extLst>
          </p:cNvPr>
          <p:cNvSpPr/>
          <p:nvPr/>
        </p:nvSpPr>
        <p:spPr>
          <a:xfrm>
            <a:off x="541561" y="5486555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grpSp>
        <p:nvGrpSpPr>
          <p:cNvPr id="15" name="组合 14"/>
          <p:cNvGrpSpPr/>
          <p:nvPr/>
        </p:nvGrpSpPr>
        <p:grpSpPr>
          <a:xfrm>
            <a:off x="4146043" y="6427038"/>
            <a:ext cx="4181814" cy="288000"/>
            <a:chOff x="1463551" y="6425622"/>
            <a:chExt cx="4181814" cy="288000"/>
          </a:xfrm>
        </p:grpSpPr>
        <p:sp>
          <p:nvSpPr>
            <p:cNvPr id="10" name="34afb8c0-5ac5-4d05-9465-ef027b3cb9de" descr="{&quot;SlideID&quot;:&quot;318&quot;,&quot;SlideNumber&quot;:&quot;22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4635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5a437d17-dff8-4b90-9606-115424c17632" descr="{&quot;SlideID&quot;:&quot;320&quot;,&quot;SlideNumber&quot;:&quot;24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853535" y="6425622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0d0e210b-b843-49dc-b971-6194a1262149" descr="{&quot;SlideID&quot;:&quot;322&quot;,&quot;SlideNumber&quot;:&quot;26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24351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95149416-9389-4e67-a830-fbfc202e52de" descr="{&quot;SlideID&quot;:&quot;324&quot;,&quot;SlideNumber&quot;:&quot;28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63350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8008b0d5-5733-49a8-a667-db60e713422c" descr="{&quot;SlideID&quot;:&quot;326&quot;,&quot;SlideNumber&quot;:&quot;30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02348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9fd2d8e8-e1c3-46e1-9591-bdc1e2a0a745" descr="{&quot;SlideID&quot;:&quot;328&quot;,&quot;SlideNumber&quot;:&quot;32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41346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2d700454-36d1-4bfd-8a60-82c0952bfdc2" descr="{&quot;SlideID&quot;:&quot;330&quot;,&quot;SlideNumber&quot;:&quot;34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8034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f64833cf-cda1-4ea5-91a8-9efab4421577" descr="{&quot;SlideID&quot;:&quot;332&quot;,&quot;SlideNumber&quot;:&quot;36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1934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3486cf74-a615-4c48-b4b7-66ab7498623e" descr="{&quot;SlideID&quot;:&quot;334&quot;,&quot;SlideNumber&quot;:&quot;38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58341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7e30a966-9084-4afe-8f06-660427aa1805" descr="{&quot;SlideID&quot;:&quot;336&quot;,&quot;SlideNumber&quot;:&quot;40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97339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e0d68420-c4c2-4369-8c7a-ba5f0c4bf87c" descr="{&quot;SlideID&quot;:&quot;339&quot;,&quot;SlideNumber&quot;:&quot;43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35736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2752733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:a14="http://schemas.microsoft.com/office/drawing/2010/main" xmlns:a16="http://schemas.microsoft.com/office/drawing/2014/main" xmlns:p14="http://schemas.microsoft.com/office/powerpoint/2010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662" name="yt_shape_10662"/>
              <p:cNvSpPr txBox="1"/>
              <p:nvPr/>
            </p:nvSpPr>
            <p:spPr>
              <a:xfrm>
                <a:off x="324071" y="467999"/>
                <a:ext cx="11924914" cy="3796873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marL="443865"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Times New Roman" pitchFamily="28"/>
                    <a:ea typeface="黑体" pitchFamily="28"/>
                  </a:rPr>
                  <a:t>解析</a:t>
                </a:r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宋体" pitchFamily="28"/>
                    <a:ea typeface="宋体" pitchFamily="28"/>
                  </a:rPr>
                  <a:t>：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设冰壶的质量为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碰撞过程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根据动量守恒可得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mv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mv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1bcae"/>
                  </a:rPr>
                  <a:t>解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得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m/s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压缩弹簧到弹簧再次恢复原长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此时冰壶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5_72875"/>
                  </a:rPr>
                  <a:t>的速度到达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最大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根据系统动量守恒定律和机械能守恒定律可得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mv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mv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605cc"/>
                  </a:rPr>
                  <a:t>＋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mv</a:t>
                </a:r>
                <a:r>
                  <a:rPr lang="en-US" altLang="zh-CN" sz="2800" b="0" i="1" u="none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1</m:t>
                            </m:r>
                          </m:sub>
                        </m:sSub>
                      </m:e>
                      <m:sup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</m:sub>
                        </m:sSub>
                      </m:e>
                      <m:sup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𝐶</m:t>
                            </m:r>
                          </m:sub>
                        </m:sSub>
                      </m:e>
                      <m:sup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联立解得冰壶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速度最大值为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1" u="none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  <a:sym typeface="_⨹_1_594d1"/>
                  </a:rPr>
                  <a:t>C</a:t>
                </a:r>
                <a:br>
                  <a:rPr lang="en-US" altLang="zh-CN" sz="2800" b="0" i="1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</a:b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4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m/s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故选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。</a:t>
                </a:r>
              </a:p>
            </p:txBody>
          </p:sp>
        </mc:Choice>
        <mc:Fallback xmlns:p14="http://schemas.microsoft.com/office/powerpoint/2010/main" xmlns:a16="http://schemas.microsoft.com/office/drawing/2014/main" xmlns="">
          <p:sp>
            <p:nvSpPr>
              <p:cNvPr id="10662" name="yt_shape_1066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467999"/>
                <a:ext cx="11924914" cy="3796873"/>
              </a:xfrm>
              <a:prstGeom prst="rect">
                <a:avLst/>
              </a:prstGeom>
              <a:blipFill>
                <a:blip r:embed="rId2"/>
                <a:stretch>
                  <a:fillRect t="-642" r="-14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组合 13"/>
          <p:cNvGrpSpPr/>
          <p:nvPr/>
        </p:nvGrpSpPr>
        <p:grpSpPr>
          <a:xfrm>
            <a:off x="4146043" y="6427038"/>
            <a:ext cx="4181814" cy="288000"/>
            <a:chOff x="1463551" y="6425622"/>
            <a:chExt cx="4181814" cy="288000"/>
          </a:xfrm>
        </p:grpSpPr>
        <p:sp>
          <p:nvSpPr>
            <p:cNvPr id="10" name="d496bbef-74c1-44f1-a6c8-005fc9f73517" descr="{&quot;SlideID&quot;:&quot;318&quot;,&quot;SlideNumber&quot;:&quot;22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4635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592928fd-4e96-4938-8a34-7db4f38accc5" descr="{&quot;SlideID&quot;:&quot;320&quot;,&quot;SlideNumber&quot;:&quot;24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853535" y="6425622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34e9c8ef-4f7b-41a7-b010-2589e5c824a1" descr="{&quot;SlideID&quot;:&quot;322&quot;,&quot;SlideNumber&quot;:&quot;26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24351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c2654121-d037-4842-a4f4-9c4a8d117d58" descr="{&quot;SlideID&quot;:&quot;324&quot;,&quot;SlideNumber&quot;:&quot;28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63350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d2ccb1cc-0b4b-4259-8d9e-7c9b4e58dcf2" descr="{&quot;SlideID&quot;:&quot;326&quot;,&quot;SlideNumber&quot;:&quot;30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02348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551b18a8-6cf0-4daa-9713-b1e3de58d78f" descr="{&quot;SlideID&quot;:&quot;328&quot;,&quot;SlideNumber&quot;:&quot;32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41346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8c09264d-26c3-45db-a385-5f76ed60d20e" descr="{&quot;SlideID&quot;:&quot;330&quot;,&quot;SlideNumber&quot;:&quot;34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8034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8c701b24-a16d-40b2-814e-b38da2eea505" descr="{&quot;SlideID&quot;:&quot;332&quot;,&quot;SlideNumber&quot;:&quot;36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1934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a24c9498-b09f-439f-8376-b324cab13e13" descr="{&quot;SlideID&quot;:&quot;334&quot;,&quot;SlideNumber&quot;:&quot;38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58341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8bfe0e47-4e5f-4b74-bc71-01f4c393392a" descr="{&quot;SlideID&quot;:&quot;336&quot;,&quot;SlideNumber&quot;:&quot;40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97339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412086cc-df52-4a8c-b9ef-722d02b7dc7f" descr="{&quot;SlideID&quot;:&quot;339&quot;,&quot;SlideNumber&quot;:&quot;43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35736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709200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4" name="yt_shape_10664"/>
          <p:cNvSpPr txBox="1"/>
          <p:nvPr/>
        </p:nvSpPr>
        <p:spPr>
          <a:xfrm>
            <a:off x="324071" y="467999"/>
            <a:ext cx="11924914" cy="2925994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443865" indent="-443809" algn="l" eaLnBrk="1" latinLnBrk="0" hangingPunct="0">
              <a:lnSpc>
                <a:spcPct val="140000"/>
              </a:lnSpc>
            </a:pP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2025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福建福州期中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如图所示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质量相同的木块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6_843d8"/>
              </a:rPr>
              <a:t>之间用轻质弹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簧相连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置于光滑水平面上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靠在固定的挡板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C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旁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今用水平力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F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_5df8e"/>
              </a:rPr>
              <a:t>压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使弹簧被压缩到一定程度后保持静止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突然撤去压力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F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4_aaaf0"/>
              </a:rPr>
              <a:t>弹簧第一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次恢复原长时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的速度为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那么当弹簧第二次恢复原长时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3_01fbc"/>
              </a:rPr>
              <a:t>的速度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是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666" name="yt_table_10666_skip" title="H_69.59">
                <a:extLst>
                  <a:ext uri="{FF2B5EF4-FFF2-40B4-BE49-F238E27FC236}">
                    <a16:creationId xmlns:a16="http://schemas.microsoft.com/office/drawing/2014/main" id="{85F9CD91-DE56-4981-AD6D-3D4292DC4A24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67931" y="4727325"/>
              <a:ext cx="8204455" cy="883793"/>
            </p:xfrm>
            <a:graphic>
              <a:graphicData uri="http://schemas.openxmlformats.org/drawingml/2006/table">
                <a:tbl>
                  <a:tblPr/>
                  <a:tblGrid>
                    <a:gridCol w="2230755">
                      <a:extLst>
                        <a:ext uri="{9D8B030D-6E8A-4147-A177-3AD203B41FA5}">
                          <a16:colId xmlns:a16="http://schemas.microsoft.com/office/drawing/2014/main" val="10099"/>
                        </a:ext>
                      </a:extLst>
                    </a:gridCol>
                    <a:gridCol w="2184972">
                      <a:extLst>
                        <a:ext uri="{9D8B030D-6E8A-4147-A177-3AD203B41FA5}">
                          <a16:colId xmlns:a16="http://schemas.microsoft.com/office/drawing/2014/main" val="10100"/>
                        </a:ext>
                      </a:extLst>
                    </a:gridCol>
                    <a:gridCol w="2189480">
                      <a:extLst>
                        <a:ext uri="{9D8B030D-6E8A-4147-A177-3AD203B41FA5}">
                          <a16:colId xmlns:a16="http://schemas.microsoft.com/office/drawing/2014/main" val="10101"/>
                        </a:ext>
                      </a:extLst>
                    </a:gridCol>
                    <a:gridCol w="1599248">
                      <a:extLst>
                        <a:ext uri="{9D8B030D-6E8A-4147-A177-3AD203B41FA5}">
                          <a16:colId xmlns:a16="http://schemas.microsoft.com/office/drawing/2014/main" val="101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A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0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B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𝑣</m:t>
                                  </m:r>
                                </m:num>
                                <m:den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a14:m>
                          <a:endParaRPr lang="en-US" altLang="zh-CN" sz="2800" b="0" i="0" u="none">
                            <a:solidFill>
                              <a:srgbClr val="000000"/>
                            </a:solidFill>
                            <a:effectLst/>
                            <a:latin typeface="Times New Roman" pitchFamily="28"/>
                            <a:ea typeface="宋体" pitchFamily="28"/>
                          </a:endParaRP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C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v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D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rad>
                                    <m:radPr>
                                      <m:degHide m:val="on"/>
                                      <m:ctrlP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56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2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a14:m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v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228"/>
                      </a:ext>
                    </a:extLst>
                  </a:tr>
                </a:tbl>
              </a:graphicData>
            </a:graphic>
          </p:graphicFrame>
        </mc:Choice>
        <mc:Fallback xmlns:a16="http://schemas.microsoft.com/office/drawing/2014/main" xmlns:p14="http://schemas.microsoft.com/office/powerpoint/2010/main" xmlns:p15="http://schemas.microsoft.com/office/powerpoint/2012/main" xmlns="">
          <p:graphicFrame>
            <p:nvGraphicFramePr>
              <p:cNvPr id="10666" name="yt_table_10666_skip" descr="{&quot;rangeId&quot;:15,&quot;type&quot;:&quot;Option&quot;,&quot;drawing&quot;:[&quot;yt_image_10665&quot;]}" title="H_69.59">
                <a:extLst>
                  <a:ext uri="{FF2B5EF4-FFF2-40B4-BE49-F238E27FC236}">
                    <a16:creationId xmlns:a16="http://schemas.microsoft.com/office/drawing/2014/main" id="{85F9CD91-DE56-4981-AD6D-3D4292DC4A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95035556"/>
                  </p:ext>
                </p:extLst>
              </p:nvPr>
            </p:nvGraphicFramePr>
            <p:xfrm>
              <a:off x="767931" y="4727325"/>
              <a:ext cx="8204455" cy="883793"/>
            </p:xfrm>
            <a:graphic>
              <a:graphicData uri="http://schemas.openxmlformats.org/drawingml/2006/table">
                <a:tbl>
                  <a:tblPr/>
                  <a:tblGrid>
                    <a:gridCol w="2230755">
                      <a:extLst>
                        <a:ext uri="{9D8B030D-6E8A-4147-A177-3AD203B41FA5}">
                          <a16:colId xmlns:a16="http://schemas.microsoft.com/office/drawing/2014/main" val="10099"/>
                        </a:ext>
                      </a:extLst>
                    </a:gridCol>
                    <a:gridCol w="2184972">
                      <a:extLst>
                        <a:ext uri="{9D8B030D-6E8A-4147-A177-3AD203B41FA5}">
                          <a16:colId xmlns:a16="http://schemas.microsoft.com/office/drawing/2014/main" val="10100"/>
                        </a:ext>
                      </a:extLst>
                    </a:gridCol>
                    <a:gridCol w="2189480">
                      <a:extLst>
                        <a:ext uri="{9D8B030D-6E8A-4147-A177-3AD203B41FA5}">
                          <a16:colId xmlns:a16="http://schemas.microsoft.com/office/drawing/2014/main" val="10101"/>
                        </a:ext>
                      </a:extLst>
                    </a:gridCol>
                    <a:gridCol w="1599248">
                      <a:extLst>
                        <a:ext uri="{9D8B030D-6E8A-4147-A177-3AD203B41FA5}">
                          <a16:colId xmlns:a16="http://schemas.microsoft.com/office/drawing/2014/main" val="10102"/>
                        </a:ext>
                      </a:extLst>
                    </a:gridCol>
                  </a:tblGrid>
                  <a:tr h="883793"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A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0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2"/>
                          <a:stretch>
                            <a:fillRect l="-101950" r="-173259" b="-136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C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v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2"/>
                          <a:stretch>
                            <a:fillRect l="-412167" b="-1369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228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10665" name="yt_image_10665_skip" title="H_101.01">
            <a:extLst>
              <a:ext uri="">
                <a16:creationId xmlns:p14="http://schemas.microsoft.com/office/powerpoint/2010/main" xmlns:a14="http://schemas.microsoft.com/office/drawing/2010/main" xmlns:mc="http://schemas.openxmlformats.org/markup-compatibility/2006" xmlns:p15="http://schemas.microsoft.com/office/powerpoint/2012/main" xmlns:a16="http://schemas.microsoft.com/office/drawing/2014/main" xmlns="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236210" y="3444781"/>
            <a:ext cx="3718051" cy="1282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D8AFB920-9FA1-4E95-AE2D-F19F0BDE6791}"/>
              </a:ext>
            </a:extLst>
          </p:cNvPr>
          <p:cNvSpPr/>
          <p:nvPr/>
        </p:nvSpPr>
        <p:spPr>
          <a:xfrm>
            <a:off x="580750" y="5040329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grpSp>
        <p:nvGrpSpPr>
          <p:cNvPr id="15" name="组合 14"/>
          <p:cNvGrpSpPr/>
          <p:nvPr/>
        </p:nvGrpSpPr>
        <p:grpSpPr>
          <a:xfrm>
            <a:off x="4146043" y="6427038"/>
            <a:ext cx="4181814" cy="288000"/>
            <a:chOff x="1463551" y="6425622"/>
            <a:chExt cx="4181814" cy="288000"/>
          </a:xfrm>
        </p:grpSpPr>
        <p:sp>
          <p:nvSpPr>
            <p:cNvPr id="10" name="7c0213b1-44ba-4f74-aa2b-2125d14e0e02" descr="{&quot;SlideID&quot;:&quot;318&quot;,&quot;SlideNumber&quot;:&quot;22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4635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62c4455b-5ddb-427a-8f48-827b8423eda7" descr="{&quot;SlideID&quot;:&quot;320&quot;,&quot;SlideNumber&quot;:&quot;24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85353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6265bd50-a5bb-435e-a511-a4f1a0270805" descr="{&quot;SlideID&quot;:&quot;322&quot;,&quot;SlideNumber&quot;:&quot;26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243519" y="6425622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7397d2fa-ae0f-4402-a59d-42a3d545a0ac" descr="{&quot;SlideID&quot;:&quot;324&quot;,&quot;SlideNumber&quot;:&quot;28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63350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eee530cc-b858-4cc8-a987-b601e05e072e" descr="{&quot;SlideID&quot;:&quot;326&quot;,&quot;SlideNumber&quot;:&quot;30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02348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b5a6e95a-a9df-48d9-bafe-a79d076def75" descr="{&quot;SlideID&quot;:&quot;328&quot;,&quot;SlideNumber&quot;:&quot;32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41346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42ddf170-0389-4374-a784-620592bc6726" descr="{&quot;SlideID&quot;:&quot;330&quot;,&quot;SlideNumber&quot;:&quot;34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8034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849a3c84-4c9b-454b-82e1-cef544d12a66" descr="{&quot;SlideID&quot;:&quot;332&quot;,&quot;SlideNumber&quot;:&quot;36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1934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87373f4b-0905-41b2-891a-312538408586" descr="{&quot;SlideID&quot;:&quot;334&quot;,&quot;SlideNumber&quot;:&quot;38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58341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d8f7ab70-27ec-4e0b-939b-d56a2b6857e7" descr="{&quot;SlideID&quot;:&quot;336&quot;,&quot;SlideNumber&quot;:&quot;40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97339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548ed0be-e614-4e37-bd62-d78d9038634f" descr="{&quot;SlideID&quot;:&quot;339&quot;,&quot;SlideNumber&quot;:&quot;43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35736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111407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:a16="http://schemas.microsoft.com/office/drawing/2014/main" xmlns:p14="http://schemas.microsoft.com/office/powerpoint/2010/main" xmlns:a14="http://schemas.microsoft.com/office/drawing/2010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667" name="yt_shape_10667"/>
              <p:cNvSpPr txBox="1"/>
              <p:nvPr/>
            </p:nvSpPr>
            <p:spPr>
              <a:xfrm>
                <a:off x="324071" y="467999"/>
                <a:ext cx="11924914" cy="4262962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marL="443865"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spc="150" dirty="0">
                    <a:solidFill>
                      <a:srgbClr val="0000FF"/>
                    </a:solidFill>
                    <a:effectLst/>
                    <a:latin typeface="Times New Roman" pitchFamily="28"/>
                    <a:ea typeface="黑体" pitchFamily="28"/>
                  </a:rPr>
                  <a:t>解析</a:t>
                </a:r>
                <a:r>
                  <a:rPr lang="zh-CN" altLang="zh-CN" sz="2800" b="0" i="0" u="none" spc="150" dirty="0">
                    <a:solidFill>
                      <a:srgbClr val="0000FF"/>
                    </a:solidFill>
                    <a:effectLst/>
                    <a:latin typeface="宋体" pitchFamily="28"/>
                    <a:ea typeface="宋体" pitchFamily="28"/>
                  </a:rPr>
                  <a:t>：</a:t>
                </a:r>
                <a:r>
                  <a:rPr lang="zh-CN" altLang="zh-CN" sz="2800" b="0" i="0" u="none" spc="150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当从弹簧第一次恢复原长时</a:t>
                </a:r>
                <a:r>
                  <a:rPr lang="zh-CN" altLang="zh-CN" sz="2800" b="0" i="0" u="none" spc="150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 spc="15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 spc="150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的速度为</a:t>
                </a:r>
                <a:r>
                  <a:rPr lang="en-US" altLang="zh-CN" sz="2800" b="0" i="1" u="none" spc="15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 spc="150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spc="150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方向向右</a:t>
                </a:r>
                <a:r>
                  <a:rPr lang="zh-CN" altLang="zh-CN" sz="2800" b="0" i="0" u="none" spc="150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spc="150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之后</a:t>
                </a:r>
                <a:r>
                  <a:rPr lang="en-US" altLang="zh-CN" sz="2800" b="0" i="0" u="none" spc="15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 spc="150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2_9fba8"/>
                  </a:rPr>
                  <a:t>离开</a:t>
                </a:r>
                <a:r>
                  <a:rPr lang="zh-CN" altLang="zh-CN" sz="2800" b="0" i="0" u="none" spc="150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挡板</a:t>
                </a:r>
                <a:r>
                  <a:rPr lang="en-US" altLang="zh-CN" sz="2800" b="0" i="0" u="none" spc="15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0" i="0" u="none" spc="150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spc="150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设当弹簧第二次恢复原长时</a:t>
                </a:r>
                <a:r>
                  <a:rPr lang="zh-CN" altLang="zh-CN" sz="2800" b="0" i="0" u="none" spc="150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 spc="15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 spc="150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0" i="0" u="none" spc="15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 spc="150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的速度分别为</a:t>
                </a:r>
                <a:r>
                  <a:rPr lang="en-US" altLang="zh-CN" sz="2800" b="0" i="1" u="none" spc="15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spc="150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 spc="150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0" i="1" u="none" spc="15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spc="150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 spc="150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da5ca"/>
                  </a:rPr>
                  <a:t>；</a:t>
                </a:r>
                <a:r>
                  <a:rPr lang="zh-CN" altLang="zh-CN" sz="2800" b="0" i="0" u="none" spc="150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根据系统动量守恒定律和机械能守恒定律可得</a:t>
                </a:r>
                <a:r>
                  <a:rPr lang="en-US" altLang="zh-CN" sz="2800" b="0" i="1" u="none" spc="15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="0" i="0" u="none" spc="150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en-US" altLang="zh-CN" sz="2800" b="0" i="1" u="none" spc="15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 spc="150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 spc="15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="0" i="0" u="none" spc="150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en-US" altLang="zh-CN" sz="2800" b="0" i="1" u="none" spc="15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spc="150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 spc="150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 spc="15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="0" i="0" u="none" spc="150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en-US" altLang="zh-CN" sz="2800" b="0" i="1" u="none" spc="15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spc="150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 spc="150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3471e"/>
                  </a:rPr>
                  <a:t>，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pc="150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 spc="15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 spc="15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 spc="15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="0" i="0" u="none" spc="150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en-US" altLang="zh-CN" sz="2800" b="0" i="1" u="none" spc="15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spc="150" baseline="30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 spc="150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pc="150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 spc="15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 spc="15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 spc="15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="0" i="0" u="none" spc="150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 spc="150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b="0" i="1" spc="15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 spc="15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2800" b="0" i="0" spc="15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A</m:t>
                            </m:r>
                          </m:sub>
                        </m:sSub>
                      </m:e>
                      <m:sup>
                        <m:r>
                          <a:rPr lang="en-US" altLang="zh-CN" sz="2800" b="0" i="0" spc="15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zh-CN" sz="2800" b="0" i="0" u="none" spc="150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pc="150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 spc="15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 spc="15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 spc="15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="0" i="0" u="none" spc="150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 spc="150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b="0" i="1" spc="15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 spc="15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2800" b="0" i="0" spc="15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B</m:t>
                            </m:r>
                          </m:sub>
                        </m:sSub>
                      </m:e>
                      <m:sup>
                        <m:r>
                          <a:rPr lang="en-US" altLang="zh-CN" sz="2800" b="0" i="0" spc="15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zh-CN" sz="2800" b="0" i="0" u="none" spc="150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spc="150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联立解得</a:t>
                </a:r>
                <a:r>
                  <a:rPr lang="en-US" altLang="zh-CN" sz="2800" b="0" i="1" u="none" spc="15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spc="150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 spc="150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pc="150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 spc="15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  <m:sSub>
                          <m:sSubPr>
                            <m:ctrlPr>
                              <a:rPr lang="en-US" altLang="zh-CN" sz="2800" b="0" i="1" spc="15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 spc="15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𝑚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2800" b="0" i="0" spc="15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B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zh-CN" sz="2800" b="0" i="1" spc="15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 spc="15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𝑚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2800" b="0" i="0" spc="15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A</m:t>
                            </m:r>
                          </m:sub>
                        </m:sSub>
                        <m:r>
                          <a:rPr lang="zh-CN" altLang="zh-CN" sz="2800" b="0" i="0" spc="15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＋</m:t>
                        </m:r>
                        <m:sSub>
                          <m:sSubPr>
                            <m:ctrlPr>
                              <a:rPr lang="en-US" altLang="zh-CN" sz="2800" b="0" i="1" spc="15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 spc="15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𝑚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2800" b="0" i="0" spc="15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B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altLang="zh-CN" sz="2800" b="0" i="1" u="none" spc="15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 spc="150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 spc="15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 spc="150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1" u="none" spc="15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spc="150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 spc="150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f5ebc"/>
                  </a:rPr>
                  <a:t>＝</a:t>
                </a:r>
                <a:br>
                  <a:rPr lang="zh-CN" altLang="zh-CN" sz="2800" b="0" i="0" u="none" spc="150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pc="150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CN" sz="2800" b="0" i="1" spc="15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 spc="15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𝑚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2800" b="0" i="0" spc="15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B</m:t>
                            </m:r>
                          </m:sub>
                        </m:sSub>
                        <m:r>
                          <a:rPr lang="en-US" altLang="zh-CN" sz="2800" b="0" i="1" spc="15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zh-CN" sz="2800" b="0" i="1" spc="15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 spc="15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𝑚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2800" b="0" i="0" spc="15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A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zh-CN" sz="2800" b="0" i="1" spc="15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 spc="15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𝑚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2800" b="0" i="0" spc="15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A</m:t>
                            </m:r>
                          </m:sub>
                        </m:sSub>
                        <m:r>
                          <a:rPr lang="zh-CN" altLang="zh-CN" sz="2800" b="0" i="0" spc="15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＋</m:t>
                        </m:r>
                        <m:sSub>
                          <m:sSubPr>
                            <m:ctrlPr>
                              <a:rPr lang="en-US" altLang="zh-CN" sz="2800" b="0" i="1" spc="15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 spc="15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𝑚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2800" b="0" i="0" spc="15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B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altLang="zh-CN" sz="2800" b="0" i="1" u="none" spc="15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 spc="150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spc="15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 spc="150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spc="150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故选</a:t>
                </a:r>
                <a:r>
                  <a:rPr lang="en-US" altLang="zh-CN" sz="2800" b="0" i="0" u="none" spc="15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 spc="150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。</a:t>
                </a:r>
              </a:p>
            </p:txBody>
          </p:sp>
        </mc:Choice>
        <mc:Fallback xmlns:p14="http://schemas.microsoft.com/office/powerpoint/2010/main" xmlns:a16="http://schemas.microsoft.com/office/drawing/2014/main" xmlns="">
          <p:sp>
            <p:nvSpPr>
              <p:cNvPr id="10667" name="yt_shape_106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467999"/>
                <a:ext cx="11924914" cy="4262962"/>
              </a:xfrm>
              <a:prstGeom prst="rect">
                <a:avLst/>
              </a:prstGeom>
              <a:blipFill>
                <a:blip r:embed="rId2"/>
                <a:stretch>
                  <a:fillRect t="-57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组合 13"/>
          <p:cNvGrpSpPr/>
          <p:nvPr/>
        </p:nvGrpSpPr>
        <p:grpSpPr>
          <a:xfrm>
            <a:off x="4146043" y="6427038"/>
            <a:ext cx="4181814" cy="288000"/>
            <a:chOff x="1463551" y="6425622"/>
            <a:chExt cx="4181814" cy="288000"/>
          </a:xfrm>
        </p:grpSpPr>
        <p:sp>
          <p:nvSpPr>
            <p:cNvPr id="10" name="5ff13a06-2318-4a85-bb51-9a33f4dbd11e" descr="{&quot;SlideID&quot;:&quot;318&quot;,&quot;SlideNumber&quot;:&quot;22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4635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ae62c96a-fac1-4564-a3ce-3aaea99c702c" descr="{&quot;SlideID&quot;:&quot;320&quot;,&quot;SlideNumber&quot;:&quot;24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85353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3ebf7097-4e86-42ac-9441-a3b00d8c4496" descr="{&quot;SlideID&quot;:&quot;322&quot;,&quot;SlideNumber&quot;:&quot;26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243519" y="6425622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01a3592b-2537-4ded-a693-1626b49b1f47" descr="{&quot;SlideID&quot;:&quot;324&quot;,&quot;SlideNumber&quot;:&quot;28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63350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a3d0cf25-9970-499a-8a03-1805a424c1f7" descr="{&quot;SlideID&quot;:&quot;326&quot;,&quot;SlideNumber&quot;:&quot;30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02348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9ee2d9ec-1b83-40f4-b962-013ca59063c9" descr="{&quot;SlideID&quot;:&quot;328&quot;,&quot;SlideNumber&quot;:&quot;32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41346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9862e4ae-256d-4458-8dc8-7c4ba4656b55" descr="{&quot;SlideID&quot;:&quot;330&quot;,&quot;SlideNumber&quot;:&quot;34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8034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a8087859-2202-411d-b21d-048ec89d44fc" descr="{&quot;SlideID&quot;:&quot;332&quot;,&quot;SlideNumber&quot;:&quot;36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1934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79a60f56-7b96-4232-897b-847634ed2125" descr="{&quot;SlideID&quot;:&quot;334&quot;,&quot;SlideNumber&quot;:&quot;38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58341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89421fb5-0bd8-4287-bdc1-1be5ba61deeb" descr="{&quot;SlideID&quot;:&quot;336&quot;,&quot;SlideNumber&quot;:&quot;40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97339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1fa36a36-0474-483b-8e8e-453ab160c7c9" descr="{&quot;SlideID&quot;:&quot;339&quot;,&quot;SlideNumber&quot;:&quot;43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35736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823354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9" name="yt_shape_10669"/>
          <p:cNvSpPr txBox="1"/>
          <p:nvPr/>
        </p:nvSpPr>
        <p:spPr>
          <a:xfrm>
            <a:off x="324071" y="467999"/>
            <a:ext cx="11924914" cy="3548407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443865" indent="-443809" algn="l" eaLnBrk="1" latinLnBrk="0" hangingPunct="0">
              <a:lnSpc>
                <a:spcPct val="140000"/>
              </a:lnSpc>
            </a:pP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4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2025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江苏泰州期中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如图所示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光滑水平地面上停放着一辆小车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  <a:sym typeface="_⨹_1_8ecce"/>
              </a:rPr>
              <a:t>，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</a:b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小车的四分之一圆弧轨道在最低点</a:t>
            </a:r>
            <a:r>
              <a:rPr lang="en-US" altLang="zh-CN" sz="28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与水平轨道相切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7_5ecd3"/>
              </a:rPr>
              <a:t>圆弧轨道表面光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滑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水平轨道表面粗糙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在小车的右端固定一个轻弹簧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6_600e0"/>
              </a:rPr>
              <a:t>弹簧的原长小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于水平轨道的长度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一个质量为</a:t>
            </a:r>
            <a:r>
              <a:rPr lang="en-US" altLang="zh-CN" sz="28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的小球从圆弧轨道与圆心等高的</a:t>
            </a:r>
            <a:r>
              <a:rPr lang="en-US" altLang="zh-CN" sz="28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_c342a"/>
              </a:rPr>
              <a:t>点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开始自由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初速度为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滑下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经</a:t>
            </a:r>
            <a:r>
              <a:rPr lang="en-US" altLang="zh-CN" sz="28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点到达水平轨道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8_2ae36"/>
              </a:rPr>
              <a:t>压缩弹簧后被弹回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并恰好相对于小车静止在</a:t>
            </a:r>
            <a:r>
              <a:rPr lang="en-US" altLang="zh-CN" sz="28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点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下列说法正确的是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　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p:graphicFrame>
        <p:nvGraphicFramePr>
          <p:cNvPr id="10671" name="yt_table_10671_skip" title="H_188.16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/>
        </p:nvGraphicFramePr>
        <p:xfrm>
          <a:off x="687264" y="3898293"/>
          <a:ext cx="9278938" cy="2389632"/>
        </p:xfrm>
        <a:graphic>
          <a:graphicData uri="http://schemas.openxmlformats.org/drawingml/2006/table">
            <a:tbl>
              <a:tblPr/>
              <a:tblGrid>
                <a:gridCol w="9278938">
                  <a:extLst>
                    <a:ext uri="{9D8B030D-6E8A-4147-A177-3AD203B41FA5}">
                      <a16:colId xmlns:a16="http://schemas.microsoft.com/office/drawing/2014/main" val="10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小球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、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小车及弹簧组成的系统动量守恒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B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小球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、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小车及弹簧组成的系统机械能守恒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C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弹簧具有的最大弹性势能时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小车和球的速度都为零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D</a:t>
                      </a: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最终小车和小球以相同的速度一起向右运动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32"/>
                  </a:ext>
                </a:extLst>
              </a:tr>
            </a:tbl>
          </a:graphicData>
        </a:graphic>
      </p:graphicFrame>
      <p:pic>
        <p:nvPicPr>
          <p:cNvPr id="10670" name="yt_image_10670_skip" title="H_184.6">
            <a:extLst>
              <a:ext uri="">
                <a16:creationId xmlns:mc="http://schemas.openxmlformats.org/markup-compatibility/2006" xmlns:a14="http://schemas.microsoft.com/office/drawing/2010/main" xmlns:p14="http://schemas.microsoft.com/office/powerpoint/2010/main" xmlns:p15="http://schemas.microsoft.com/office/powerpoint/2012/main" xmlns:a16="http://schemas.microsoft.com/office/drawing/2014/main" xmlns="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58539" y="4016406"/>
            <a:ext cx="2930174" cy="16934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D8AFB920-9FA1-4E95-AE2D-F19F0BDE6791}"/>
              </a:ext>
            </a:extLst>
          </p:cNvPr>
          <p:cNvSpPr/>
          <p:nvPr/>
        </p:nvSpPr>
        <p:spPr>
          <a:xfrm>
            <a:off x="554624" y="5236271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grpSp>
        <p:nvGrpSpPr>
          <p:cNvPr id="15" name="组合 14"/>
          <p:cNvGrpSpPr/>
          <p:nvPr/>
        </p:nvGrpSpPr>
        <p:grpSpPr>
          <a:xfrm>
            <a:off x="4146043" y="6427038"/>
            <a:ext cx="4181814" cy="288000"/>
            <a:chOff x="1463551" y="6425622"/>
            <a:chExt cx="4181814" cy="288000"/>
          </a:xfrm>
        </p:grpSpPr>
        <p:sp>
          <p:nvSpPr>
            <p:cNvPr id="10" name="909fc8bd-76bf-4028-a245-05ca0342091e" descr="{&quot;SlideID&quot;:&quot;318&quot;,&quot;SlideNumber&quot;:&quot;22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4635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00c3e2d1-280f-47d1-bde0-be8a6f90edfd" descr="{&quot;SlideID&quot;:&quot;320&quot;,&quot;SlideNumber&quot;:&quot;24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85353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35971138-ac83-4c61-878c-15c536274838" descr="{&quot;SlideID&quot;:&quot;322&quot;,&quot;SlideNumber&quot;:&quot;26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24351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a91f03a5-7fd2-4429-af9d-aaeda6b29514" descr="{&quot;SlideID&quot;:&quot;324&quot;,&quot;SlideNumber&quot;:&quot;28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633503" y="6425622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9aa0ae73-d90b-4155-a70f-c7088a46762d" descr="{&quot;SlideID&quot;:&quot;326&quot;,&quot;SlideNumber&quot;:&quot;30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02348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a53327bf-7e48-43c5-994e-f7837d184744" descr="{&quot;SlideID&quot;:&quot;328&quot;,&quot;SlideNumber&quot;:&quot;32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41346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680a1b0b-d4c9-4309-99cc-a8a489ee9f23" descr="{&quot;SlideID&quot;:&quot;330&quot;,&quot;SlideNumber&quot;:&quot;34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8034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3f129109-201e-4aa2-a379-e1e744630b6a" descr="{&quot;SlideID&quot;:&quot;332&quot;,&quot;SlideNumber&quot;:&quot;36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1934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51015f06-15a3-4158-84ee-000fd528bae7" descr="{&quot;SlideID&quot;:&quot;334&quot;,&quot;SlideNumber&quot;:&quot;38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58341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8abe1624-5026-4e55-8a42-8d14e8461a6c" descr="{&quot;SlideID&quot;:&quot;336&quot;,&quot;SlideNumber&quot;:&quot;40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97339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6fd6fa71-89e1-4eee-accd-ffc177c1b092" descr="{&quot;SlideID&quot;:&quot;339&quot;,&quot;SlideNumber&quot;:&quot;43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35736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4323086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:a14="http://schemas.microsoft.com/office/drawing/2010/main" xmlns:a16="http://schemas.microsoft.com/office/drawing/2014/main" xmlns:p14="http://schemas.microsoft.com/office/powerpoint/2010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73" name="yt_shape_10673"/>
          <p:cNvSpPr txBox="1"/>
          <p:nvPr/>
        </p:nvSpPr>
        <p:spPr>
          <a:xfrm>
            <a:off x="324071" y="467999"/>
            <a:ext cx="11924914" cy="3548407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443865"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0000FF"/>
                </a:solidFill>
                <a:effectLst/>
                <a:latin typeface="Times New Roman" pitchFamily="28"/>
                <a:ea typeface="黑体" pitchFamily="28"/>
              </a:rPr>
              <a:t>解析</a:t>
            </a:r>
            <a:r>
              <a:rPr lang="zh-CN" altLang="zh-CN" sz="2800" b="0" i="0" u="none" dirty="0">
                <a:solidFill>
                  <a:srgbClr val="0000FF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小球、小车及弹簧组成的系统由于克服阻力做功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机械能不守恒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2_06237"/>
              </a:rPr>
              <a:t>水平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方向外力为零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水平方向动量守恒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但竖直方向合力不为零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4_49246"/>
              </a:rPr>
              <a:t>系统动量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不守恒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故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、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错误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；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系统初始动量为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根据动量守恒定律可知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1_0c821"/>
              </a:rPr>
              <a:t>弹</a:t>
            </a:r>
            <a:b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</a:b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簧具有的最大弹性势能时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小车和球的速度都为零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最终小球静止在</a:t>
            </a:r>
            <a: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  <a:sym typeface="_⨹_1_69828"/>
              </a:rPr>
              <a:t>B</a:t>
            </a:r>
            <a:b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点时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小车与小球的速度也都为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故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C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正确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D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错误。</a:t>
            </a:r>
          </a:p>
        </p:txBody>
      </p:sp>
      <p:grpSp>
        <p:nvGrpSpPr>
          <p:cNvPr id="14" name="组合 13"/>
          <p:cNvGrpSpPr/>
          <p:nvPr/>
        </p:nvGrpSpPr>
        <p:grpSpPr>
          <a:xfrm>
            <a:off x="4146043" y="6427038"/>
            <a:ext cx="4181814" cy="288000"/>
            <a:chOff x="1463551" y="6425622"/>
            <a:chExt cx="4181814" cy="288000"/>
          </a:xfrm>
        </p:grpSpPr>
        <p:sp>
          <p:nvSpPr>
            <p:cNvPr id="10" name="16891837-99f7-4c30-9abc-137d1ce2177e" descr="{&quot;SlideID&quot;:&quot;318&quot;,&quot;SlideNumber&quot;:&quot;22&quot;}">
              <a:hlinkClick r:id="rId2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4635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5ad201f4-19da-4600-9764-3cc541c4a002" descr="{&quot;SlideID&quot;:&quot;320&quot;,&quot;SlideNumber&quot;:&quot;24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85353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0c0f470b-c939-4e74-8640-7da60926908a" descr="{&quot;SlideID&quot;:&quot;322&quot;,&quot;SlideNumber&quot;:&quot;26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24351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e92468e3-66c9-4c98-9d83-014f5eb95758" descr="{&quot;SlideID&quot;:&quot;324&quot;,&quot;SlideNumber&quot;:&quot;28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633503" y="6425622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c9feed62-8c93-4433-8968-29fd8a7639c7" descr="{&quot;SlideID&quot;:&quot;326&quot;,&quot;SlideNumber&quot;:&quot;30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02348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54602d55-f27a-44b8-a850-431fa7b287f8" descr="{&quot;SlideID&quot;:&quot;328&quot;,&quot;SlideNumber&quot;:&quot;32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41346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5d08ec61-54a9-4d14-836c-0c7a67bf04c1" descr="{&quot;SlideID&quot;:&quot;330&quot;,&quot;SlideNumber&quot;:&quot;34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8034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1cb42931-cfc3-4cb5-942c-f013c9a1e21e" descr="{&quot;SlideID&quot;:&quot;332&quot;,&quot;SlideNumber&quot;:&quot;36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1934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e482170f-f3b6-418c-9708-9981b709332f" descr="{&quot;SlideID&quot;:&quot;334&quot;,&quot;SlideNumber&quot;:&quot;38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58341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ae64af5c-57b5-46dc-b55d-274d80e591ad" descr="{&quot;SlideID&quot;:&quot;336&quot;,&quot;SlideNumber&quot;:&quot;40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97339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efc7a281-fd68-4a20-ace3-6eda01ff43df" descr="{&quot;SlideID&quot;:&quot;339&quot;,&quot;SlideNumber&quot;:&quot;43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35736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238011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74" name="yt_shape_10674"/>
          <p:cNvSpPr txBox="1"/>
          <p:nvPr/>
        </p:nvSpPr>
        <p:spPr>
          <a:xfrm>
            <a:off x="324071" y="467999"/>
            <a:ext cx="11924914" cy="2945165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443865" indent="-443809" algn="l" eaLnBrk="1" latinLnBrk="0" hangingPunct="0">
              <a:lnSpc>
                <a:spcPct val="140000"/>
              </a:lnSpc>
            </a:pP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5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质量为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的小车静止在光滑水平面上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4_edc3f"/>
              </a:rPr>
              <a:t>车上是一个四分之一的光滑圆弧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轨道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轨道下端切线水平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质量为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5_55239"/>
              </a:rPr>
              <a:t>的小球沿水平方向从轨道下端以初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速度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滑上小车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重力加速度为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如图所示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0_311f3"/>
              </a:rPr>
              <a:t>已知小球不从小车上端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离开小车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小球滑上小车又滑下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与小车分离时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9_1267c"/>
              </a:rPr>
              <a:t>小球与小车速度方向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相反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速度大小之比等于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∶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则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∶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的值为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p:graphicFrame>
        <p:nvGraphicFramePr>
          <p:cNvPr id="10676" name="yt_table_10676_skip" title="H_47.04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/>
        </p:nvGraphicFramePr>
        <p:xfrm>
          <a:off x="767931" y="5586670"/>
          <a:ext cx="10083166" cy="597408"/>
        </p:xfrm>
        <a:graphic>
          <a:graphicData uri="http://schemas.openxmlformats.org/drawingml/2006/table">
            <a:tbl>
              <a:tblPr/>
              <a:tblGrid>
                <a:gridCol w="2764155">
                  <a:extLst>
                    <a:ext uri="{9D8B030D-6E8A-4147-A177-3AD203B41FA5}">
                      <a16:colId xmlns:a16="http://schemas.microsoft.com/office/drawing/2014/main" val="10104"/>
                    </a:ext>
                  </a:extLst>
                </a:gridCol>
                <a:gridCol w="2743518">
                  <a:extLst>
                    <a:ext uri="{9D8B030D-6E8A-4147-A177-3AD203B41FA5}">
                      <a16:colId xmlns:a16="http://schemas.microsoft.com/office/drawing/2014/main" val="10105"/>
                    </a:ext>
                  </a:extLst>
                </a:gridCol>
                <a:gridCol w="2743518">
                  <a:extLst>
                    <a:ext uri="{9D8B030D-6E8A-4147-A177-3AD203B41FA5}">
                      <a16:colId xmlns:a16="http://schemas.microsoft.com/office/drawing/2014/main" val="10106"/>
                    </a:ext>
                  </a:extLst>
                </a:gridCol>
                <a:gridCol w="1831975">
                  <a:extLst>
                    <a:ext uri="{9D8B030D-6E8A-4147-A177-3AD203B41FA5}">
                      <a16:colId xmlns:a16="http://schemas.microsoft.com/office/drawing/2014/main" val="101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1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∶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3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B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1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∶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4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C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3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∶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5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D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2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∶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3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33"/>
                  </a:ext>
                </a:extLst>
              </a:tr>
            </a:tbl>
          </a:graphicData>
        </a:graphic>
      </p:graphicFrame>
      <p:pic>
        <p:nvPicPr>
          <p:cNvPr id="10675" name="yt_image_10675_skip" title="H_167.18">
            <a:extLst>
              <a:ext uri="">
                <a16:creationId xmlns:mc="http://schemas.openxmlformats.org/markup-compatibility/2006" xmlns:a14="http://schemas.microsoft.com/office/drawing/2010/main" xmlns:p14="http://schemas.microsoft.com/office/powerpoint/2010/main" xmlns:p15="http://schemas.microsoft.com/office/powerpoint/2012/main" xmlns:a16="http://schemas.microsoft.com/office/drawing/2014/main" xmlns="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96737" y="3463952"/>
            <a:ext cx="2796794" cy="2123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D8AFB920-9FA1-4E95-AE2D-F19F0BDE6791}"/>
              </a:ext>
            </a:extLst>
          </p:cNvPr>
          <p:cNvSpPr/>
          <p:nvPr/>
        </p:nvSpPr>
        <p:spPr>
          <a:xfrm>
            <a:off x="6095134" y="5791663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grpSp>
        <p:nvGrpSpPr>
          <p:cNvPr id="15" name="组合 14"/>
          <p:cNvGrpSpPr/>
          <p:nvPr/>
        </p:nvGrpSpPr>
        <p:grpSpPr>
          <a:xfrm>
            <a:off x="4146043" y="6427038"/>
            <a:ext cx="4181814" cy="288000"/>
            <a:chOff x="1463551" y="6425622"/>
            <a:chExt cx="4181814" cy="288000"/>
          </a:xfrm>
        </p:grpSpPr>
        <p:sp>
          <p:nvSpPr>
            <p:cNvPr id="10" name="dce30f97-8687-4cb3-a8a9-2b48d17963cc" descr="{&quot;SlideID&quot;:&quot;318&quot;,&quot;SlideNumber&quot;:&quot;22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4635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77824855-8006-4bef-9fd0-41af4ae8dff9" descr="{&quot;SlideID&quot;:&quot;320&quot;,&quot;SlideNumber&quot;:&quot;24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85353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71d79a5d-4eb8-4ed1-b4c1-b6ca5449dd49" descr="{&quot;SlideID&quot;:&quot;322&quot;,&quot;SlideNumber&quot;:&quot;26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24351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59700667-280f-4872-91d2-7aee816db5b1" descr="{&quot;SlideID&quot;:&quot;324&quot;,&quot;SlideNumber&quot;:&quot;28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63350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2ea67959-45e8-4fb5-b151-edf10a02d5b2" descr="{&quot;SlideID&quot;:&quot;326&quot;,&quot;SlideNumber&quot;:&quot;30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023487" y="6425622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43f3e6ac-e33c-4ab4-b66f-dbddde64f77b" descr="{&quot;SlideID&quot;:&quot;328&quot;,&quot;SlideNumber&quot;:&quot;32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41346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e2455220-cfcd-4e75-ba07-df9b9ebaf4d7" descr="{&quot;SlideID&quot;:&quot;330&quot;,&quot;SlideNumber&quot;:&quot;34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8034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3a77e81f-0b1a-48a4-821c-134d2d9fe980" descr="{&quot;SlideID&quot;:&quot;332&quot;,&quot;SlideNumber&quot;:&quot;36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1934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9bcdb1d0-4739-4d4f-9c95-b632a1c517f2" descr="{&quot;SlideID&quot;:&quot;334&quot;,&quot;SlideNumber&quot;:&quot;38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58341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9aae28ec-dab6-41f1-b1f0-fa3fb3d74841" descr="{&quot;SlideID&quot;:&quot;336&quot;,&quot;SlideNumber&quot;:&quot;40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97339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d85ccb75-48cc-4f88-aba6-be2c96c6b970" descr="{&quot;SlideID&quot;:&quot;339&quot;,&quot;SlideNumber&quot;:&quot;43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35736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5654403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:a14="http://schemas.microsoft.com/office/drawing/2010/main" xmlns:a16="http://schemas.microsoft.com/office/drawing/2014/main" xmlns:p14="http://schemas.microsoft.com/office/powerpoint/2010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678" name="yt_shape_10678"/>
              <p:cNvSpPr txBox="1"/>
              <p:nvPr/>
            </p:nvSpPr>
            <p:spPr>
              <a:xfrm>
                <a:off x="324071" y="467999"/>
                <a:ext cx="11924914" cy="2880725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marL="443865"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Times New Roman" pitchFamily="28"/>
                    <a:ea typeface="黑体" pitchFamily="28"/>
                  </a:rPr>
                  <a:t>解析</a:t>
                </a:r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宋体" pitchFamily="28"/>
                    <a:ea typeface="宋体" pitchFamily="28"/>
                  </a:rPr>
                  <a:t>：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设小球的初速度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方向为正方向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由动量守恒定律可知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mv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Mv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48fba"/>
                  </a:rPr>
                  <a:t>－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mv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1</m:t>
                            </m:r>
                          </m:sub>
                        </m:sSub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对整体由机械能守恒定律可得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0</m:t>
                            </m:r>
                          </m:sub>
                        </m:sSub>
                      </m:e>
                      <m:sup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1</m:t>
                            </m:r>
                          </m:sub>
                        </m:sSub>
                      </m:e>
                      <m:sup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</m:sub>
                        </m:sSub>
                      </m:e>
                      <m:sup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32cc7"/>
                  </a:rPr>
                  <a:t>联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立解得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𝑚</m:t>
                        </m:r>
                      </m:num>
                      <m:den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𝑀</m:t>
                        </m:r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3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5</m:t>
                        </m:r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正确。</a:t>
                </a:r>
              </a:p>
            </p:txBody>
          </p:sp>
        </mc:Choice>
        <mc:Fallback xmlns:p14="http://schemas.microsoft.com/office/powerpoint/2010/main" xmlns:a16="http://schemas.microsoft.com/office/drawing/2014/main" xmlns="">
          <p:sp>
            <p:nvSpPr>
              <p:cNvPr id="10678" name="yt_shape_1067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467999"/>
                <a:ext cx="11924914" cy="2880725"/>
              </a:xfrm>
              <a:prstGeom prst="rect">
                <a:avLst/>
              </a:prstGeom>
              <a:blipFill>
                <a:blip r:embed="rId2"/>
                <a:stretch>
                  <a:fillRect t="-847" r="-46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组合 13"/>
          <p:cNvGrpSpPr/>
          <p:nvPr/>
        </p:nvGrpSpPr>
        <p:grpSpPr>
          <a:xfrm>
            <a:off x="4146043" y="6427038"/>
            <a:ext cx="4181814" cy="288000"/>
            <a:chOff x="1463551" y="6425622"/>
            <a:chExt cx="4181814" cy="288000"/>
          </a:xfrm>
        </p:grpSpPr>
        <p:sp>
          <p:nvSpPr>
            <p:cNvPr id="10" name="451646a4-5c2c-4d6d-b0f3-2c1c400a340f" descr="{&quot;SlideID&quot;:&quot;318&quot;,&quot;SlideNumber&quot;:&quot;22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4635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a2a5f937-9e2d-4bb6-988a-67a6c6796354" descr="{&quot;SlideID&quot;:&quot;320&quot;,&quot;SlideNumber&quot;:&quot;24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85353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6110a6f8-e25e-4b7d-af7f-0aec0a0e09fd" descr="{&quot;SlideID&quot;:&quot;322&quot;,&quot;SlideNumber&quot;:&quot;26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24351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953d2f88-021c-412e-8e8a-58e59b38f5fe" descr="{&quot;SlideID&quot;:&quot;324&quot;,&quot;SlideNumber&quot;:&quot;28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63350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4becbd39-eaff-4be9-bcb9-7574d1b52927" descr="{&quot;SlideID&quot;:&quot;326&quot;,&quot;SlideNumber&quot;:&quot;30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023487" y="6425622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f32a8cc5-eff9-4b0e-a825-9930035f7992" descr="{&quot;SlideID&quot;:&quot;328&quot;,&quot;SlideNumber&quot;:&quot;32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41346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43fc881c-eab4-4e0e-b458-7fac69b0469f" descr="{&quot;SlideID&quot;:&quot;330&quot;,&quot;SlideNumber&quot;:&quot;34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8034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496dade9-ad18-4bbd-8edb-8fc9da962729" descr="{&quot;SlideID&quot;:&quot;332&quot;,&quot;SlideNumber&quot;:&quot;36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1934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5d2c5f17-83d9-4d81-ad6c-905e32ec46cf" descr="{&quot;SlideID&quot;:&quot;334&quot;,&quot;SlideNumber&quot;:&quot;38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58341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dec13b37-78e8-46db-97de-26df430e5754" descr="{&quot;SlideID&quot;:&quot;336&quot;,&quot;SlideNumber&quot;:&quot;40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97339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427cb9b1-7abb-44fa-b718-33d1db748d47" descr="{&quot;SlideID&quot;:&quot;339&quot;,&quot;SlideNumber&quot;:&quot;43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35736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640137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80" name="yt_shape_10680"/>
          <p:cNvSpPr txBox="1"/>
          <p:nvPr/>
        </p:nvSpPr>
        <p:spPr>
          <a:xfrm>
            <a:off x="324071" y="467999"/>
            <a:ext cx="11924914" cy="2925994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443865" indent="-443809" algn="l" eaLnBrk="1" latinLnBrk="0" hangingPunct="0">
              <a:lnSpc>
                <a:spcPct val="140000"/>
              </a:lnSpc>
            </a:pP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6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如图所示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在足够长的光滑水平面上有一静止的质量为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的斜面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2_a2a5c"/>
              </a:rPr>
              <a:t>斜面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表面光滑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高度为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h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倾角为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θ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一质量为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＜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7_2fdff"/>
              </a:rPr>
              <a:t>的小物块以一定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的初速度沿水平面向右运动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不计冲上斜面过程中的机械能损失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2_7efaf"/>
              </a:rPr>
              <a:t>如果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斜面固定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则小物块恰能冲到斜面的顶端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如果斜面不固定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4_4bee1"/>
              </a:rPr>
              <a:t>则小物块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冲上斜面后能达到的最大高度为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682" name="yt_table_10682_skip" title="H_64.67504">
                <a:extLst>
                  <a:ext uri="{FF2B5EF4-FFF2-40B4-BE49-F238E27FC236}">
                    <a16:creationId xmlns:a16="http://schemas.microsoft.com/office/drawing/2014/main" id="{85F9CD91-DE56-4981-AD6D-3D4292DC4A24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67931" y="5250576"/>
              <a:ext cx="9494457" cy="821373"/>
            </p:xfrm>
            <a:graphic>
              <a:graphicData uri="http://schemas.openxmlformats.org/drawingml/2006/table">
                <a:tbl>
                  <a:tblPr/>
                  <a:tblGrid>
                    <a:gridCol w="2230755">
                      <a:extLst>
                        <a:ext uri="{9D8B030D-6E8A-4147-A177-3AD203B41FA5}">
                          <a16:colId xmlns:a16="http://schemas.microsoft.com/office/drawing/2014/main" val="10108"/>
                        </a:ext>
                      </a:extLst>
                    </a:gridCol>
                    <a:gridCol w="2865755">
                      <a:extLst>
                        <a:ext uri="{9D8B030D-6E8A-4147-A177-3AD203B41FA5}">
                          <a16:colId xmlns:a16="http://schemas.microsoft.com/office/drawing/2014/main" val="10109"/>
                        </a:ext>
                      </a:extLst>
                    </a:gridCol>
                    <a:gridCol w="2443734">
                      <a:extLst>
                        <a:ext uri="{9D8B030D-6E8A-4147-A177-3AD203B41FA5}">
                          <a16:colId xmlns:a16="http://schemas.microsoft.com/office/drawing/2014/main" val="10110"/>
                        </a:ext>
                      </a:extLst>
                    </a:gridCol>
                    <a:gridCol w="1954213">
                      <a:extLst>
                        <a:ext uri="{9D8B030D-6E8A-4147-A177-3AD203B41FA5}">
                          <a16:colId xmlns:a16="http://schemas.microsoft.com/office/drawing/2014/main" val="1011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A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h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B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𝑚h</m:t>
                                  </m:r>
                                </m:num>
                                <m:den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𝑚</m:t>
                                  </m:r>
                                  <m:r>
                                    <a:rPr lang="zh-CN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＋</m:t>
                                  </m:r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𝑀</m:t>
                                  </m:r>
                                </m:den>
                              </m:f>
                            </m:oMath>
                          </a14:m>
                          <a:endParaRPr lang="en-US" altLang="zh-CN" sz="2800" b="0" i="0" u="none">
                            <a:solidFill>
                              <a:srgbClr val="000000"/>
                            </a:solidFill>
                            <a:effectLst/>
                            <a:latin typeface="Times New Roman" pitchFamily="28"/>
                            <a:ea typeface="宋体" pitchFamily="28"/>
                          </a:endParaRP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C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𝑚h</m:t>
                                  </m:r>
                                </m:num>
                                <m:den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𝑀</m:t>
                                  </m:r>
                                </m:den>
                              </m:f>
                            </m:oMath>
                          </a14:m>
                          <a:endParaRPr lang="en-US" altLang="zh-CN" sz="2800" b="0" i="0" u="none">
                            <a:solidFill>
                              <a:srgbClr val="000000"/>
                            </a:solidFill>
                            <a:effectLst/>
                            <a:latin typeface="Times New Roman" pitchFamily="28"/>
                            <a:ea typeface="宋体" pitchFamily="28"/>
                          </a:endParaRP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D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𝑀h</m:t>
                                  </m:r>
                                </m:num>
                                <m:den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𝑚</m:t>
                                  </m:r>
                                  <m:r>
                                    <a:rPr lang="zh-CN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＋</m:t>
                                  </m:r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𝑀</m:t>
                                  </m:r>
                                </m:den>
                              </m:f>
                            </m:oMath>
                          </a14:m>
                          <a:endParaRPr lang="en-US" altLang="zh-CN" sz="2800" b="0" i="0" u="none">
                            <a:solidFill>
                              <a:srgbClr val="000000"/>
                            </a:solidFill>
                            <a:effectLst/>
                            <a:latin typeface="Times New Roman" pitchFamily="28"/>
                            <a:ea typeface="宋体" pitchFamily="28"/>
                          </a:endParaRP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234"/>
                      </a:ext>
                    </a:extLst>
                  </a:tr>
                </a:tbl>
              </a:graphicData>
            </a:graphic>
          </p:graphicFrame>
        </mc:Choice>
        <mc:Fallback xmlns:a16="http://schemas.microsoft.com/office/drawing/2014/main" xmlns:p14="http://schemas.microsoft.com/office/powerpoint/2010/main" xmlns:p15="http://schemas.microsoft.com/office/powerpoint/2012/main" xmlns="">
          <p:graphicFrame>
            <p:nvGraphicFramePr>
              <p:cNvPr id="10682" name="yt_table_10682_skip" descr="{&quot;rangeId&quot;:25,&quot;type&quot;:&quot;Option&quot;,&quot;drawing&quot;:[&quot;yt_image_10681&quot;]}" title="H_64.67504">
                <a:extLst>
                  <a:ext uri="{FF2B5EF4-FFF2-40B4-BE49-F238E27FC236}">
                    <a16:creationId xmlns:a16="http://schemas.microsoft.com/office/drawing/2014/main" id="{85F9CD91-DE56-4981-AD6D-3D4292DC4A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38939111"/>
                  </p:ext>
                </p:extLst>
              </p:nvPr>
            </p:nvGraphicFramePr>
            <p:xfrm>
              <a:off x="767931" y="5250576"/>
              <a:ext cx="9494457" cy="821373"/>
            </p:xfrm>
            <a:graphic>
              <a:graphicData uri="http://schemas.openxmlformats.org/drawingml/2006/table">
                <a:tbl>
                  <a:tblPr/>
                  <a:tblGrid>
                    <a:gridCol w="2230755">
                      <a:extLst>
                        <a:ext uri="{9D8B030D-6E8A-4147-A177-3AD203B41FA5}">
                          <a16:colId xmlns:a16="http://schemas.microsoft.com/office/drawing/2014/main" val="10108"/>
                        </a:ext>
                      </a:extLst>
                    </a:gridCol>
                    <a:gridCol w="2865755">
                      <a:extLst>
                        <a:ext uri="{9D8B030D-6E8A-4147-A177-3AD203B41FA5}">
                          <a16:colId xmlns:a16="http://schemas.microsoft.com/office/drawing/2014/main" val="10109"/>
                        </a:ext>
                      </a:extLst>
                    </a:gridCol>
                    <a:gridCol w="2443734">
                      <a:extLst>
                        <a:ext uri="{9D8B030D-6E8A-4147-A177-3AD203B41FA5}">
                          <a16:colId xmlns:a16="http://schemas.microsoft.com/office/drawing/2014/main" val="10110"/>
                        </a:ext>
                      </a:extLst>
                    </a:gridCol>
                    <a:gridCol w="1954213">
                      <a:extLst>
                        <a:ext uri="{9D8B030D-6E8A-4147-A177-3AD203B41FA5}">
                          <a16:colId xmlns:a16="http://schemas.microsoft.com/office/drawing/2014/main" val="10111"/>
                        </a:ext>
                      </a:extLst>
                    </a:gridCol>
                  </a:tblGrid>
                  <a:tr h="821373"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A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h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2"/>
                          <a:stretch>
                            <a:fillRect l="-77707" r="-153291" b="-125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2"/>
                          <a:stretch>
                            <a:fillRect l="-208728" r="-80050" b="-125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2"/>
                          <a:stretch>
                            <a:fillRect l="-385670" b="-125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234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10681" name="yt_image_10681_skip" title="H_142.21992">
            <a:extLst>
              <a:ext uri="">
                <a16:creationId xmlns:p14="http://schemas.microsoft.com/office/powerpoint/2010/main" xmlns:a14="http://schemas.microsoft.com/office/drawing/2010/main" xmlns:mc="http://schemas.openxmlformats.org/markup-compatibility/2006" xmlns:p15="http://schemas.microsoft.com/office/powerpoint/2012/main" xmlns:a16="http://schemas.microsoft.com/office/drawing/2014/main" xmlns="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468124" y="3444781"/>
            <a:ext cx="3254121" cy="18061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D8AFB920-9FA1-4E95-AE2D-F19F0BDE6791}"/>
              </a:ext>
            </a:extLst>
          </p:cNvPr>
          <p:cNvSpPr/>
          <p:nvPr/>
        </p:nvSpPr>
        <p:spPr>
          <a:xfrm>
            <a:off x="8144144" y="5588969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grpSp>
        <p:nvGrpSpPr>
          <p:cNvPr id="15" name="组合 14"/>
          <p:cNvGrpSpPr/>
          <p:nvPr/>
        </p:nvGrpSpPr>
        <p:grpSpPr>
          <a:xfrm>
            <a:off x="4146043" y="6427038"/>
            <a:ext cx="4181814" cy="288000"/>
            <a:chOff x="1463551" y="6425622"/>
            <a:chExt cx="4181814" cy="288000"/>
          </a:xfrm>
        </p:grpSpPr>
        <p:sp>
          <p:nvSpPr>
            <p:cNvPr id="10" name="3f2e7b89-196d-4573-a4b4-97dfa537496e" descr="{&quot;SlideID&quot;:&quot;318&quot;,&quot;SlideNumber&quot;:&quot;22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4635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d41f63b0-5b51-442f-a02e-2ac36576a463" descr="{&quot;SlideID&quot;:&quot;320&quot;,&quot;SlideNumber&quot;:&quot;24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85353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3dae048b-2cb2-4dfe-b5c0-5f3c62bc9e24" descr="{&quot;SlideID&quot;:&quot;322&quot;,&quot;SlideNumber&quot;:&quot;26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24351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023415e1-5586-4c9c-807b-3d0ae294579e" descr="{&quot;SlideID&quot;:&quot;324&quot;,&quot;SlideNumber&quot;:&quot;28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63350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422107dd-9c48-49f7-bc0f-e2f396bf7953" descr="{&quot;SlideID&quot;:&quot;326&quot;,&quot;SlideNumber&quot;:&quot;30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02348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64a644e2-b15f-491b-a74f-774d08ed51ec" descr="{&quot;SlideID&quot;:&quot;328&quot;,&quot;SlideNumber&quot;:&quot;32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413469" y="6425622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af31ebbf-f877-41b5-96ef-044819425625" descr="{&quot;SlideID&quot;:&quot;330&quot;,&quot;SlideNumber&quot;:&quot;34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8034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13613c66-e918-449a-ae36-fad22d2856c1" descr="{&quot;SlideID&quot;:&quot;332&quot;,&quot;SlideNumber&quot;:&quot;36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1934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7e229295-498c-4ffa-81e7-e5d448ad32f9" descr="{&quot;SlideID&quot;:&quot;334&quot;,&quot;SlideNumber&quot;:&quot;38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58341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2b3fad8b-e076-43e7-9bdf-4c54279a025c" descr="{&quot;SlideID&quot;:&quot;336&quot;,&quot;SlideNumber&quot;:&quot;40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97339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3e08a688-6322-424b-865e-94a108a65ec8" descr="{&quot;SlideID&quot;:&quot;339&quot;,&quot;SlideNumber&quot;:&quot;43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35736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8045152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:a16="http://schemas.microsoft.com/office/drawing/2014/main" xmlns:p14="http://schemas.microsoft.com/office/powerpoint/2010/main" xmlns:a14="http://schemas.microsoft.com/office/drawing/2010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683" name="yt_shape_10683"/>
              <p:cNvSpPr txBox="1"/>
              <p:nvPr/>
            </p:nvSpPr>
            <p:spPr>
              <a:xfrm>
                <a:off x="324071" y="467999"/>
                <a:ext cx="11924914" cy="4331250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marL="443865"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Times New Roman" pitchFamily="28"/>
                    <a:ea typeface="黑体" pitchFamily="28"/>
                  </a:rPr>
                  <a:t>解析</a:t>
                </a:r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宋体" pitchFamily="28"/>
                    <a:ea typeface="宋体" pitchFamily="28"/>
                  </a:rPr>
                  <a:t>：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斜面固定时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小物块恰能冲到斜面的顶端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由动能定理得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mgh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47dd9"/>
                  </a:rPr>
                  <a:t>－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0</m:t>
                            </m:r>
                          </m:sub>
                        </m:sSub>
                      </m:e>
                      <m:sup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所以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radPr>
                      <m:deg/>
                      <m:e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𝑔h</m:t>
                        </m:r>
                      </m:e>
                    </m:rad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斜面不固定时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3_a1915"/>
                  </a:rPr>
                  <a:t>设小物块冲上斜面后能达到的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最大高度为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h'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小物块达到最高点时的速度为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0_bce7f"/>
                  </a:rPr>
                  <a:t>由水平方向动量守恒得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mv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＝（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由机械能守恒定律得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0</m:t>
                            </m:r>
                          </m:sub>
                        </m:sSub>
                      </m:e>
                      <m:sup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30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mgh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'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c6e16"/>
                  </a:rPr>
                  <a:t>，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解得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h'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𝑀</m:t>
                        </m:r>
                      </m:num>
                      <m:den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𝑀</m:t>
                        </m:r>
                        <m:r>
                          <a:rPr lang="zh-CN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＋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𝑚</m:t>
                        </m:r>
                      </m:den>
                    </m:f>
                  </m:oMath>
                </a14:m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h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D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正确。</a:t>
                </a:r>
              </a:p>
            </p:txBody>
          </p:sp>
        </mc:Choice>
        <mc:Fallback xmlns="">
          <p:sp>
            <p:nvSpPr>
              <p:cNvPr id="10683" name="yt_shape_1068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467999"/>
                <a:ext cx="11924914" cy="4331250"/>
              </a:xfrm>
              <a:prstGeom prst="rect">
                <a:avLst/>
              </a:prstGeom>
              <a:blipFill>
                <a:blip r:embed="rId2"/>
                <a:stretch>
                  <a:fillRect t="-563" r="-143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组合 13"/>
          <p:cNvGrpSpPr/>
          <p:nvPr/>
        </p:nvGrpSpPr>
        <p:grpSpPr>
          <a:xfrm>
            <a:off x="4146043" y="6427038"/>
            <a:ext cx="4181814" cy="288000"/>
            <a:chOff x="1463551" y="6425622"/>
            <a:chExt cx="4181814" cy="288000"/>
          </a:xfrm>
        </p:grpSpPr>
        <p:sp>
          <p:nvSpPr>
            <p:cNvPr id="10" name="1ceacb31-866e-40da-8cf3-d8433daa73aa" descr="{&quot;SlideID&quot;:&quot;318&quot;,&quot;SlideNumber&quot;:&quot;22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4635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f411d88d-27eb-43c5-a582-9d884f1950d4" descr="{&quot;SlideID&quot;:&quot;320&quot;,&quot;SlideNumber&quot;:&quot;24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85353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8e9cc8b6-9b77-4b04-88ed-2038508978a5" descr="{&quot;SlideID&quot;:&quot;322&quot;,&quot;SlideNumber&quot;:&quot;26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24351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9eb69274-03b8-4441-ab97-176a4771686a" descr="{&quot;SlideID&quot;:&quot;324&quot;,&quot;SlideNumber&quot;:&quot;28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63350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debb51e8-7cda-4b28-b270-b4029588639e" descr="{&quot;SlideID&quot;:&quot;326&quot;,&quot;SlideNumber&quot;:&quot;30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02348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8bce1250-a18f-4a6f-8134-ee8defc1c874" descr="{&quot;SlideID&quot;:&quot;328&quot;,&quot;SlideNumber&quot;:&quot;32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413469" y="6425622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75d1722b-5ca8-4bfa-827d-3a9350e9462e" descr="{&quot;SlideID&quot;:&quot;330&quot;,&quot;SlideNumber&quot;:&quot;34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8034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545b9202-7d9a-4229-ad41-8846f65816bc" descr="{&quot;SlideID&quot;:&quot;332&quot;,&quot;SlideNumber&quot;:&quot;36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1934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ffa0a987-03ec-4f0b-ba89-34ce49d7325c" descr="{&quot;SlideID&quot;:&quot;334&quot;,&quot;SlideNumber&quot;:&quot;38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58341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cfdd4dd8-1439-4032-ac6e-baaf623a6a9c" descr="{&quot;SlideID&quot;:&quot;336&quot;,&quot;SlideNumber&quot;:&quot;40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97339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aae7928f-d6bd-4a41-a3d8-510e827f5798" descr="{&quot;SlideID&quot;:&quot;339&quot;,&quot;SlideNumber&quot;:&quot;43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35736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491294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687" name="yt_shape_10687"/>
              <p:cNvSpPr txBox="1"/>
              <p:nvPr/>
            </p:nvSpPr>
            <p:spPr>
              <a:xfrm>
                <a:off x="363260" y="1055828"/>
                <a:ext cx="11924914" cy="3193631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marL="443865" indent="-443809" algn="l" eaLnBrk="1" latinLnBrk="0" hangingPunct="0">
                  <a:lnSpc>
                    <a:spcPct val="140000"/>
                  </a:lnSpc>
                </a:pPr>
                <a:r>
                  <a:rPr lang="en-US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7</a:t>
                </a:r>
                <a:r>
                  <a:rPr lang="en-US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Times New Roman" pitchFamily="28"/>
                  </a:rPr>
                  <a:t> 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如图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在水平光滑的地面上放置</a:t>
                </a:r>
                <a:r>
                  <a:rPr lang="en-US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、</a:t>
                </a:r>
                <a:r>
                  <a:rPr lang="en-US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两个质量均为</a:t>
                </a:r>
                <a:r>
                  <a:rPr lang="en-US" altLang="zh-CN" sz="2800" b="0" i="1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的物块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其中</a:t>
                </a:r>
                <a:r>
                  <a:rPr lang="en-US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  <a:sym typeface="_⨹_1_8ae81"/>
                  </a:rPr>
                  <a:t>物</a:t>
                </a:r>
                <a:b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</a:b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块左侧带有一个轻质弹簧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。</a:t>
                </a:r>
                <a:r>
                  <a:rPr lang="en-US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物块以速度</a:t>
                </a:r>
                <a:r>
                  <a:rPr lang="en-US" altLang="zh-CN" sz="2800" b="0" i="1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向右运动与弹簧接触之后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  <a:sym typeface="_⨹_1_2c760"/>
                  </a:rPr>
                  <a:t>，</a:t>
                </a:r>
                <a:b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</a:b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压缩弹簧至最短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然后被弹开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。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在整个过程中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物块的动量为</a:t>
                </a:r>
                <a:r>
                  <a:rPr lang="en-US" altLang="zh-CN" sz="2800" b="0" i="1" u="none" dirty="0" err="1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p</a:t>
                </a:r>
                <a:r>
                  <a:rPr lang="en-US" altLang="zh-CN" sz="2800" b="0" i="0" u="none" baseline="-25000" dirty="0" err="1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  <a:sym typeface="_⨹_1_b4b39"/>
                  </a:rPr>
                  <a:t>A</a:t>
                </a:r>
                <a:br>
                  <a:rPr lang="en-US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</a:b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物块与弹簧接触的时间为</a:t>
                </a:r>
                <a:r>
                  <a:rPr lang="en-US" altLang="zh-CN" sz="2800" b="0" i="1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弹簧的弹性势能为</a:t>
                </a:r>
                <a:r>
                  <a:rPr lang="en-US" altLang="zh-CN" sz="2800" b="0" i="1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E</a:t>
                </a:r>
                <a:r>
                  <a:rPr lang="en-US" altLang="zh-CN" sz="2800" b="0" i="0" u="none" baseline="-25000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p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k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0" u="none" dirty="0" err="1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 dirty="0" err="1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  <a:r>
                  <a:rPr lang="en-US" altLang="zh-CN" sz="2800" b="0" i="0" u="none" baseline="30000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  <a:sym typeface="_⨹_3_eb811"/>
                  </a:rPr>
                  <a:t>弹簧的</a:t>
                </a:r>
                <a:b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</a:b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形变量为</a:t>
                </a:r>
                <a:r>
                  <a:rPr lang="en-US" altLang="zh-CN" sz="2800" b="0" i="0" u="none" dirty="0" err="1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 dirty="0" err="1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则碰撞过程中以下四个图像正确的是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zh-CN" altLang="zh-CN" sz="2800" b="0" i="1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　　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</a:p>
            </p:txBody>
          </p:sp>
        </mc:Choice>
        <mc:Fallback xmlns:p15="http://schemas.microsoft.com/office/powerpoint/2012/main" xmlns:p14="http://schemas.microsoft.com/office/powerpoint/2010/main" xmlns:a16="http://schemas.microsoft.com/office/drawing/2014/main" xmlns="">
          <p:sp>
            <p:nvSpPr>
              <p:cNvPr id="10687" name="yt_shape_1068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260" y="1055828"/>
                <a:ext cx="11924914" cy="3193631"/>
              </a:xfrm>
              <a:prstGeom prst="rect">
                <a:avLst/>
              </a:prstGeom>
              <a:blipFill>
                <a:blip r:embed="rId2"/>
                <a:stretch>
                  <a:fillRect l="-1840" t="-763" b="-610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689" name="yt_image_10689">
            <a:extLst>
              <a:ext uri="">
                <a16:creationId xmlns:mc="http://schemas.openxmlformats.org/markup-compatibility/2006" xmlns:a14="http://schemas.microsoft.com/office/drawing/2010/main" xmlns:p15="http://schemas.microsoft.com/office/powerpoint/2012/main" xmlns:p14="http://schemas.microsoft.com/office/powerpoint/2010/main" xmlns:a16="http://schemas.microsoft.com/office/drawing/2014/main" xmlns="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228132" y="4620588"/>
            <a:ext cx="3963868" cy="1166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yt_image_10691">
            <a:extLst>
              <a:ext uri="">
                <a16:creationId xmlns:mc="http://schemas.openxmlformats.org/markup-compatibility/2006" xmlns:a14="http://schemas.microsoft.com/office/drawing/2010/main" xmlns:p15="http://schemas.microsoft.com/office/powerpoint/2012/main" xmlns:p14="http://schemas.microsoft.com/office/powerpoint/2010/main" xmlns:a16="http://schemas.microsoft.com/office/drawing/2014/main" xmlns="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89478" y="4620588"/>
            <a:ext cx="7637525" cy="1837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D8AFB920-9FA1-4E95-AE2D-F19F0BDE6791}"/>
              </a:ext>
            </a:extLst>
          </p:cNvPr>
          <p:cNvSpPr/>
          <p:nvPr/>
        </p:nvSpPr>
        <p:spPr>
          <a:xfrm>
            <a:off x="3101882" y="6073170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pic>
        <p:nvPicPr>
          <p:cNvPr id="8" name="yt_image_10672" title="H_47.87496">
            <a:extLst>
              <a:ext uri="">
                <a16:creationId xmlns:a14="http://schemas.microsoft.com/office/drawing/2010/main" xmlns:mc="http://schemas.openxmlformats.org/markup-compatibility/2006" xmlns:p15="http://schemas.microsoft.com/office/powerpoint/2012/main" xmlns:p14="http://schemas.microsoft.com/office/powerpoint/2010/main" xmlns:a16="http://schemas.microsoft.com/office/drawing/2014/main" xmlns="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duotone>
              <a:srgbClr val="4BACC6">
                <a:shade val="45000"/>
                <a:satMod val="135000"/>
              </a:srgbClr>
              <a:prstClr val="white"/>
            </a:duotone>
          </a:blip>
          <a:srcRect/>
          <a:stretch>
            <a:fillRect/>
          </a:stretch>
        </p:blipFill>
        <p:spPr bwMode="auto">
          <a:xfrm>
            <a:off x="4961862" y="447816"/>
            <a:ext cx="2308195" cy="6080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7" name="组合 16"/>
          <p:cNvGrpSpPr/>
          <p:nvPr/>
        </p:nvGrpSpPr>
        <p:grpSpPr>
          <a:xfrm>
            <a:off x="4146043" y="6427038"/>
            <a:ext cx="4181814" cy="288000"/>
            <a:chOff x="1463551" y="6425622"/>
            <a:chExt cx="4181814" cy="288000"/>
          </a:xfrm>
        </p:grpSpPr>
        <p:sp>
          <p:nvSpPr>
            <p:cNvPr id="10" name="bf994995-485f-4e45-b621-59046331bc84" descr="{&quot;SlideID&quot;:&quot;318&quot;,&quot;SlideNumber&quot;:&quot;22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4635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3a2c08c3-2e64-4c11-83f9-cb2f6d69aff3" descr="{&quot;SlideID&quot;:&quot;320&quot;,&quot;SlideNumber&quot;:&quot;24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85353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c87557a7-fdec-40dd-b2c4-ba338a0645cc" descr="{&quot;SlideID&quot;:&quot;322&quot;,&quot;SlideNumber&quot;:&quot;26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24351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a5c88497-29e8-490a-911b-a2abbe68b52f" descr="{&quot;SlideID&quot;:&quot;324&quot;,&quot;SlideNumber&quot;:&quot;28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63350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b105906e-9cee-49ba-818c-a985258cf571" descr="{&quot;SlideID&quot;:&quot;326&quot;,&quot;SlideNumber&quot;:&quot;30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02348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f26cff64-b3e9-455b-9612-5328a9d910ac" descr="{&quot;SlideID&quot;:&quot;328&quot;,&quot;SlideNumber&quot;:&quot;32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41346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545b1e1c-ecce-400b-8673-73ed7c8c3f41" descr="{&quot;SlideID&quot;:&quot;330&quot;,&quot;SlideNumber&quot;:&quot;34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803451" y="6425622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6639a84c-d540-4cee-a541-560532542f15" descr="{&quot;SlideID&quot;:&quot;332&quot;,&quot;SlideNumber&quot;:&quot;36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1934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bbd0aca4-4eb1-41a6-a697-98f0a3ae3cbc" descr="{&quot;SlideID&quot;:&quot;334&quot;,&quot;SlideNumber&quot;:&quot;38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58341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" name="ddbdfe50-be19-4d8d-8499-4f53c3ecb6a6" descr="{&quot;SlideID&quot;:&quot;336&quot;,&quot;SlideNumber&quot;:&quot;40&quot;}">
              <a:hlinkClick r:id="rId15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97339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3b0a400a-6434-489c-980f-cedd0856315f" descr="{&quot;SlideID&quot;:&quot;339&quot;,&quot;SlideNumber&quot;:&quot;43&quot;}">
              <a:hlinkClick r:id="rId16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35736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3175083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:a14="http://schemas.microsoft.com/office/drawing/2010/main" xmlns:a16="http://schemas.microsoft.com/office/drawing/2014/main" xmlns:p14="http://schemas.microsoft.com/office/powerpoint/2010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693" name="yt_shape_10693"/>
              <p:cNvSpPr txBox="1"/>
              <p:nvPr/>
            </p:nvSpPr>
            <p:spPr>
              <a:xfrm>
                <a:off x="324071" y="467999"/>
                <a:ext cx="11924914" cy="4648580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marL="443865"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Times New Roman" pitchFamily="28"/>
                    <a:ea typeface="黑体" pitchFamily="28"/>
                  </a:rPr>
                  <a:t>解析</a:t>
                </a:r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宋体" pitchFamily="28"/>
                    <a:ea typeface="宋体" pitchFamily="28"/>
                  </a:rPr>
                  <a:t>：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两物块作用过程中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系统动量守恒且机械能守恒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则有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mv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mv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d37dc"/>
                  </a:rPr>
                  <a:t>＋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mv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0</m:t>
                            </m:r>
                          </m:sub>
                        </m:sSub>
                      </m:e>
                      <m:sup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1</m:t>
                            </m:r>
                          </m:sub>
                        </m:sSub>
                      </m:e>
                      <m:sup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</m:sub>
                        </m:sSub>
                      </m:e>
                      <m:sup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解得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物块的动量为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p</a:t>
                </a:r>
                <a:r>
                  <a:rPr lang="en-US" altLang="zh-CN" sz="2800" b="0" i="0" u="none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mv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1cb8c"/>
                  </a:rPr>
                  <a:t>图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像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p</a:t>
                </a:r>
                <a:r>
                  <a:rPr lang="en-US" altLang="zh-CN" sz="2800" b="0" i="0" u="none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-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的切线斜率代表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物块的受力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及弹力的变化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7_c9268"/>
                  </a:rPr>
                  <a:t>弹簧弹力先增大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后减小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且最终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的动量为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mv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错误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正确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8_f76c0"/>
                  </a:rPr>
                  <a:t>弹簧的弹性势能为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E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p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k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0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  <a:r>
                  <a:rPr lang="en-US" altLang="zh-CN" sz="2800" b="0" i="0" u="none" baseline="30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可知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E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p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-</a:t>
                </a:r>
                <a:r>
                  <a:rPr lang="en-US" altLang="zh-CN" sz="2800" b="0" i="0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满足抛物线的规律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且先变大后变小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aab8b"/>
                  </a:rPr>
                  <a:t>故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D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错误。</a:t>
                </a:r>
              </a:p>
            </p:txBody>
          </p:sp>
        </mc:Choice>
        <mc:Fallback xmlns:p14="http://schemas.microsoft.com/office/powerpoint/2010/main" xmlns:a16="http://schemas.microsoft.com/office/drawing/2014/main" xmlns="">
          <p:sp>
            <p:nvSpPr>
              <p:cNvPr id="10693" name="yt_shape_1069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467999"/>
                <a:ext cx="11924914" cy="4648580"/>
              </a:xfrm>
              <a:prstGeom prst="rect">
                <a:avLst/>
              </a:prstGeom>
              <a:blipFill>
                <a:blip r:embed="rId2"/>
                <a:stretch>
                  <a:fillRect t="-525" r="-7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组合 13"/>
          <p:cNvGrpSpPr/>
          <p:nvPr/>
        </p:nvGrpSpPr>
        <p:grpSpPr>
          <a:xfrm>
            <a:off x="4146043" y="6427038"/>
            <a:ext cx="4181814" cy="288000"/>
            <a:chOff x="1463551" y="6425622"/>
            <a:chExt cx="4181814" cy="288000"/>
          </a:xfrm>
        </p:grpSpPr>
        <p:sp>
          <p:nvSpPr>
            <p:cNvPr id="10" name="13a02f93-7665-47cf-9165-9f04ae06631c" descr="{&quot;SlideID&quot;:&quot;318&quot;,&quot;SlideNumber&quot;:&quot;22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4635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bfcd3595-f0b4-4128-a5ba-4494114dac25" descr="{&quot;SlideID&quot;:&quot;320&quot;,&quot;SlideNumber&quot;:&quot;24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85353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807f4d47-2096-43b5-beee-b6f361465882" descr="{&quot;SlideID&quot;:&quot;322&quot;,&quot;SlideNumber&quot;:&quot;26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24351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770c5631-d5fe-4cab-b9f2-23dbb3666ebe" descr="{&quot;SlideID&quot;:&quot;324&quot;,&quot;SlideNumber&quot;:&quot;28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63350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fdf7a042-aa29-4467-814c-cd704a0f2a00" descr="{&quot;SlideID&quot;:&quot;326&quot;,&quot;SlideNumber&quot;:&quot;30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02348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cb5bc343-33b5-45b4-bf9b-fc85200c1490" descr="{&quot;SlideID&quot;:&quot;328&quot;,&quot;SlideNumber&quot;:&quot;32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41346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e70a4903-60f7-477f-926c-ea55d66204ca" descr="{&quot;SlideID&quot;:&quot;330&quot;,&quot;SlideNumber&quot;:&quot;34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803451" y="6425622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3fc17d74-6184-43d3-9863-9253915916a3" descr="{&quot;SlideID&quot;:&quot;332&quot;,&quot;SlideNumber&quot;:&quot;36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1934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8a9c696a-c0d5-4a3b-9a54-a0739c9bda4d" descr="{&quot;SlideID&quot;:&quot;334&quot;,&quot;SlideNumber&quot;:&quot;38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58341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9af32f4d-47cb-4ad5-b51a-509b252e7cc7" descr="{&quot;SlideID&quot;:&quot;336&quot;,&quot;SlideNumber&quot;:&quot;40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97339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f8d4b4b5-0957-450d-9c71-018db47c108f" descr="{&quot;SlideID&quot;:&quot;339&quot;,&quot;SlideNumber&quot;:&quot;43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35736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380002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95" name="yt_shape_10695"/>
          <p:cNvSpPr txBox="1"/>
          <p:nvPr/>
        </p:nvSpPr>
        <p:spPr>
          <a:xfrm>
            <a:off x="324071" y="467999"/>
            <a:ext cx="11667632" cy="2322752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443865" indent="-443809" algn="l" eaLnBrk="1" latinLnBrk="0" hangingPunct="0">
              <a:lnSpc>
                <a:spcPct val="140000"/>
              </a:lnSpc>
            </a:pPr>
            <a:r>
              <a:rPr lang="en-US" altLang="zh-CN" sz="24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8</a:t>
            </a:r>
            <a:r>
              <a:rPr lang="en-US" altLang="zh-CN" sz="24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400" b="0" i="0" u="none" dirty="0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4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4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2025</a:t>
            </a:r>
            <a:r>
              <a:rPr lang="zh-CN" altLang="zh-CN" sz="2400" b="0" i="0" u="none" dirty="0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zh-CN" altLang="zh-CN" sz="2400" b="0" i="0" u="none" dirty="0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浙江宁波期末</a:t>
            </a:r>
            <a:r>
              <a:rPr lang="zh-CN" altLang="zh-CN" sz="24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4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如图甲所示</a:t>
            </a:r>
            <a:r>
              <a:rPr lang="zh-CN" altLang="zh-CN" sz="24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4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一轻弹簧的两端分别与质量为</a:t>
            </a:r>
            <a:r>
              <a:rPr lang="en-US" altLang="zh-CN" sz="24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en-US" altLang="zh-CN" sz="2400" b="0" i="0" u="none" baseline="-25000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_e6b53"/>
              </a:rPr>
              <a:t>1</a:t>
            </a:r>
            <a:r>
              <a:rPr lang="zh-CN" altLang="zh-CN" sz="24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和</a:t>
            </a:r>
            <a:r>
              <a:rPr lang="en-US" altLang="zh-CN" sz="24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en-US" altLang="zh-CN" sz="2400" b="0" i="0" u="none" baseline="-25000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4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的两物块相连接</a:t>
            </a:r>
            <a:r>
              <a:rPr lang="zh-CN" altLang="zh-CN" sz="24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4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并且静止在光滑的水平面上</a:t>
            </a:r>
            <a:r>
              <a:rPr lang="zh-CN" altLang="zh-CN" sz="24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4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现使</a:t>
            </a:r>
            <a:r>
              <a:rPr lang="en-US" altLang="zh-CN" sz="24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en-US" altLang="zh-CN" sz="2400" b="0" i="0" u="none" baseline="-25000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4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5_2bfc8"/>
              </a:rPr>
              <a:t>瞬间获得水</a:t>
            </a:r>
            <a:r>
              <a:rPr lang="zh-CN" altLang="zh-CN" sz="24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平向右的速度</a:t>
            </a:r>
            <a:r>
              <a:rPr lang="en-US" altLang="zh-CN" sz="24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zh-CN" altLang="zh-CN" sz="24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4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m/s</a:t>
            </a:r>
            <a:r>
              <a:rPr lang="zh-CN" altLang="zh-CN" sz="24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4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以此刻为计时零点</a:t>
            </a:r>
            <a:r>
              <a:rPr lang="zh-CN" altLang="zh-CN" sz="24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4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3_d77b3"/>
              </a:rPr>
              <a:t>两物块的速度随时间变化的规</a:t>
            </a:r>
            <a:r>
              <a:rPr lang="zh-CN" altLang="zh-CN" sz="24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律如图乙所示</a:t>
            </a:r>
            <a:r>
              <a:rPr lang="zh-CN" altLang="zh-CN" sz="24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4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从图像信息可得</a:t>
            </a:r>
            <a:r>
              <a:rPr lang="zh-CN" altLang="zh-CN" sz="24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4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　</a:t>
            </a:r>
            <a:r>
              <a:rPr lang="zh-CN" altLang="zh-CN" sz="24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p:graphicFrame>
        <p:nvGraphicFramePr>
          <p:cNvPr id="10697" name="yt_table_10697_skip" title="H_188.16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/>
        </p:nvGraphicFramePr>
        <p:xfrm>
          <a:off x="706360" y="3845513"/>
          <a:ext cx="9834563" cy="2389632"/>
        </p:xfrm>
        <a:graphic>
          <a:graphicData uri="http://schemas.openxmlformats.org/drawingml/2006/table">
            <a:tbl>
              <a:tblPr/>
              <a:tblGrid>
                <a:gridCol w="9834563">
                  <a:extLst>
                    <a:ext uri="{9D8B030D-6E8A-4147-A177-3AD203B41FA5}">
                      <a16:colId xmlns:a16="http://schemas.microsoft.com/office/drawing/2014/main" val="101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t</a:t>
                      </a:r>
                      <a:r>
                        <a:rPr lang="en-US" altLang="zh-CN" sz="2800" b="0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、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t</a:t>
                      </a:r>
                      <a:r>
                        <a:rPr lang="en-US" altLang="zh-CN" sz="2800" b="0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3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时刻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弹簧都处于压缩状态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弹性势能最大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B</a:t>
                      </a: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1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t</a:t>
                      </a:r>
                      <a:r>
                        <a:rPr lang="en-US" altLang="zh-CN" sz="2800" b="0" i="0" u="none" baseline="-25000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4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时刻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弹簧恢复到原长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两物块回到出发位置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C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两物块的质量之比为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m</a:t>
                      </a:r>
                      <a:r>
                        <a:rPr lang="en-US" altLang="zh-CN" sz="2800" b="0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∶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m</a:t>
                      </a:r>
                      <a:r>
                        <a:rPr lang="en-US" altLang="zh-CN" sz="2800" b="0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＝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∶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D</a:t>
                      </a: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1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t</a:t>
                      </a:r>
                      <a:r>
                        <a:rPr lang="en-US" altLang="zh-CN" sz="2800" b="0" i="0" u="none" baseline="-25000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3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时刻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系统的动能与弹性势能大小之比为</a:t>
                      </a:r>
                      <a:r>
                        <a:rPr lang="en-US" altLang="zh-CN" sz="2800" b="0" i="1" u="none" dirty="0" err="1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E</a:t>
                      </a:r>
                      <a:r>
                        <a:rPr lang="en-US" altLang="zh-CN" sz="2800" b="0" i="0" u="none" baseline="-25000" dirty="0" err="1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k</a:t>
                      </a:r>
                      <a:r>
                        <a:rPr lang="en-US" altLang="zh-CN" sz="2800" b="0" i="0" u="none" dirty="0" err="1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∶</a:t>
                      </a:r>
                      <a:r>
                        <a:rPr lang="en-US" altLang="zh-CN" sz="2800" b="0" i="1" u="none" dirty="0" err="1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E</a:t>
                      </a:r>
                      <a:r>
                        <a:rPr lang="en-US" altLang="zh-CN" sz="2800" b="0" i="0" u="none" baseline="-25000" dirty="0" err="1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p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＝</a:t>
                      </a: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∶</a:t>
                      </a: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38"/>
                  </a:ext>
                </a:extLst>
              </a:tr>
            </a:tbl>
          </a:graphicData>
        </a:graphic>
      </p:graphicFrame>
      <p:pic>
        <p:nvPicPr>
          <p:cNvPr id="10696" name="yt_image_10696_skip" title="H_197.08">
            <a:extLst>
              <a:ext uri="">
                <a16:creationId xmlns:mc="http://schemas.openxmlformats.org/markup-compatibility/2006" xmlns:a14="http://schemas.microsoft.com/office/drawing/2010/main" xmlns:p14="http://schemas.microsoft.com/office/powerpoint/2010/main" xmlns:p15="http://schemas.microsoft.com/office/powerpoint/2012/main" xmlns:a16="http://schemas.microsoft.com/office/drawing/2014/main" xmlns="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53870" y="1988775"/>
            <a:ext cx="5526121" cy="18567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D8AFB920-9FA1-4E95-AE2D-F19F0BDE6791}"/>
              </a:ext>
            </a:extLst>
          </p:cNvPr>
          <p:cNvSpPr/>
          <p:nvPr/>
        </p:nvSpPr>
        <p:spPr>
          <a:xfrm>
            <a:off x="423996" y="5842730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grpSp>
        <p:nvGrpSpPr>
          <p:cNvPr id="15" name="组合 14"/>
          <p:cNvGrpSpPr/>
          <p:nvPr/>
        </p:nvGrpSpPr>
        <p:grpSpPr>
          <a:xfrm>
            <a:off x="4146043" y="6427038"/>
            <a:ext cx="4181814" cy="288000"/>
            <a:chOff x="1463551" y="6425622"/>
            <a:chExt cx="4181814" cy="288000"/>
          </a:xfrm>
        </p:grpSpPr>
        <p:sp>
          <p:nvSpPr>
            <p:cNvPr id="10" name="bc4cbb88-c6fc-4cb1-84fa-6dbbd1161244" descr="{&quot;SlideID&quot;:&quot;318&quot;,&quot;SlideNumber&quot;:&quot;22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4635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7e2d1629-2152-4e40-820f-1c3c7476fb4e" descr="{&quot;SlideID&quot;:&quot;320&quot;,&quot;SlideNumber&quot;:&quot;24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85353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d153c8ea-1f41-46d9-a9d7-9ff4abf678d7" descr="{&quot;SlideID&quot;:&quot;322&quot;,&quot;SlideNumber&quot;:&quot;26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24351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33fed447-17fc-46c4-a755-bf8340b2c64d" descr="{&quot;SlideID&quot;:&quot;324&quot;,&quot;SlideNumber&quot;:&quot;28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63350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0b399d64-4785-4aac-abc0-5dd59bed7467" descr="{&quot;SlideID&quot;:&quot;326&quot;,&quot;SlideNumber&quot;:&quot;30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02348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e7392208-05c2-44c0-9342-81762f466666" descr="{&quot;SlideID&quot;:&quot;328&quot;,&quot;SlideNumber&quot;:&quot;32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41346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16c0fb87-2f86-4a0a-80fe-bc264e911d77" descr="{&quot;SlideID&quot;:&quot;330&quot;,&quot;SlideNumber&quot;:&quot;34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8034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7583d587-14b2-4d4f-9b19-311ca4266d9a" descr="{&quot;SlideID&quot;:&quot;332&quot;,&quot;SlideNumber&quot;:&quot;36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193433" y="6425622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b29e3b84-15a9-494e-8ff2-b2f49322c428" descr="{&quot;SlideID&quot;:&quot;334&quot;,&quot;SlideNumber&quot;:&quot;38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58341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3512c456-775c-42e3-98f9-ca6bfd242fd5" descr="{&quot;SlideID&quot;:&quot;336&quot;,&quot;SlideNumber&quot;:&quot;40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97339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e4de8f3a-2bf3-4372-9697-4b9beaa87484" descr="{&quot;SlideID&quot;:&quot;339&quot;,&quot;SlideNumber&quot;:&quot;43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35736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9543213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:a14="http://schemas.microsoft.com/office/drawing/2010/main" xmlns:a16="http://schemas.microsoft.com/office/drawing/2014/main" xmlns:p14="http://schemas.microsoft.com/office/powerpoint/2010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yt_shape_2">
                <a:extLst>
                  <a:ext uri="{FF2B5EF4-FFF2-40B4-BE49-F238E27FC236}">
                    <a16:creationId xmlns:a16="http://schemas.microsoft.com/office/drawing/2014/main" id="{57F28D20-BC1E-41A1-9CDF-FFA073BCFA0D}"/>
                  </a:ext>
                </a:extLst>
              </p:cNvPr>
              <p:cNvSpPr txBox="1"/>
              <p:nvPr/>
            </p:nvSpPr>
            <p:spPr>
              <a:xfrm>
                <a:off x="324071" y="483887"/>
                <a:ext cx="11546543" cy="6491679"/>
              </a:xfrm>
              <a:prstGeom prst="rect">
                <a:avLst/>
              </a:prstGeom>
              <a:noFill/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0" tIns="0" rIns="0" bIns="0" rtlCol="0">
                <a:noAutofit/>
              </a:bodyPr>
              <a:lstStyle/>
              <a:p>
                <a:pPr>
                  <a:lnSpc>
                    <a:spcPct val="110000"/>
                  </a:lnSpc>
                </a:pPr>
                <a:r>
                  <a:rPr lang="zh-CN" altLang="zh-CN" sz="2800" dirty="0">
                    <a:solidFill>
                      <a:srgbClr val="0000FF"/>
                    </a:solidFill>
                    <a:latin typeface="Times New Roman" pitchFamily="28"/>
                    <a:ea typeface="黑体" pitchFamily="28"/>
                  </a:rPr>
                  <a:t>解析</a:t>
                </a:r>
                <a:r>
                  <a:rPr lang="zh-CN" altLang="zh-CN" sz="2800" dirty="0">
                    <a:solidFill>
                      <a:srgbClr val="0000FF"/>
                    </a:solidFill>
                    <a:latin typeface="宋体" pitchFamily="28"/>
                    <a:ea typeface="宋体" pitchFamily="28"/>
                  </a:rPr>
                  <a:t>：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由题图乙可知两物块的运动过程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开始时</a:t>
                </a:r>
                <a:r>
                  <a:rPr lang="en-US" altLang="zh-CN" sz="2800" i="1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aseline="-25000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逐渐减速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i="1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aseline="-25000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逐渐加速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  <a:sym typeface="_⨹_2_e03e9"/>
                  </a:rPr>
                  <a:t>弹簧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被压缩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i="1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aseline="-25000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时刻二者速度相同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弹簧被压缩至最短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系统动能最小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  <a:sym typeface="_⨹_2_aefe6"/>
                  </a:rPr>
                  <a:t>弹性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势能最大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然后弹簧逐渐恢复原长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i="1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aseline="-25000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继续加速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i="1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aseline="-25000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先减速为零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  <a:sym typeface="_⨹_3_9bd40"/>
                  </a:rPr>
                  <a:t>然后反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向加速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i="1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aseline="-25000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时刻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弹簧恢复原长状态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因为此时两物块速度相反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  <a:sym typeface="_⨹_3_441fb"/>
                  </a:rPr>
                  <a:t>所以弹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簧的长度将逐渐增大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两物块均减速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i="1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aseline="-25000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3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时刻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两物块速度相等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  <a:sym typeface="_⨹_3_2233b"/>
                  </a:rPr>
                  <a:t>弹簧最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长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系统动能最小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因此从</a:t>
                </a:r>
                <a:r>
                  <a:rPr lang="en-US" altLang="zh-CN" sz="2800" i="1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aseline="-25000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3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到</a:t>
                </a:r>
                <a:r>
                  <a:rPr lang="en-US" altLang="zh-CN" sz="2800" i="1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aseline="-25000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4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过程中弹簧由伸长状态恢复原长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  <a:sym typeface="_⨹_3_19e05"/>
                  </a:rPr>
                  <a:t>两物块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没有回到出发位置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错误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根据系统动量守恒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从开始到</a:t>
                </a:r>
                <a:r>
                  <a:rPr lang="en-US" altLang="zh-CN" sz="2800" i="1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aseline="-25000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  <a:sym typeface="_⨹_3_a00f1"/>
                  </a:rPr>
                  <a:t>时刻有</a:t>
                </a:r>
                <a:r>
                  <a:rPr lang="en-US" altLang="zh-CN" sz="2800" i="1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aseline="-25000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1</a:t>
                </a:r>
                <a:r>
                  <a:rPr lang="en-US" altLang="zh-CN" sz="2800" i="1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aseline="-25000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＝（</a:t>
                </a:r>
                <a:r>
                  <a:rPr lang="en-US" altLang="zh-CN" sz="2800" i="1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aseline="-25000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i="1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aseline="-25000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）</a:t>
                </a:r>
                <a:r>
                  <a:rPr lang="en-US" altLang="zh-CN" sz="2800" i="1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其中</a:t>
                </a:r>
                <a:r>
                  <a:rPr lang="en-US" altLang="zh-CN" sz="2800" i="1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aseline="-25000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3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m/s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i="1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m/s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解得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CN" sz="2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i="1">
                                <a:solidFill>
                                  <a:srgbClr val="C00000"/>
                                </a:solidFill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altLang="zh-CN" sz="2800">
                                <a:solidFill>
                                  <a:srgbClr val="C00000"/>
                                </a:solidFill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zh-CN" sz="2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i="1">
                                <a:solidFill>
                                  <a:srgbClr val="C00000"/>
                                </a:solidFill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altLang="zh-CN" sz="2800">
                                <a:solidFill>
                                  <a:srgbClr val="C00000"/>
                                </a:solidFill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>
                            <a:solidFill>
                              <a:srgbClr val="C00000"/>
                            </a:solidFill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>
                            <a:solidFill>
                              <a:srgbClr val="C00000"/>
                            </a:solidFill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错误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；</a:t>
                </a:r>
                <a:endParaRPr lang="zh-CN" altLang="en-US" dirty="0">
                  <a:solidFill>
                    <a:srgbClr val="C00000"/>
                  </a:solidFill>
                </a:endParaRPr>
              </a:p>
            </p:txBody>
          </p:sp>
        </mc:Choice>
        <mc:Fallback xmlns:p14="http://schemas.microsoft.com/office/powerpoint/2010/main" xmlns:a16="http://schemas.microsoft.com/office/drawing/2014/main" xmlns="">
          <p:sp>
            <p:nvSpPr>
              <p:cNvPr id="2" name="yt_shape_2">
                <a:extLst>
                  <a:ext uri="{FF2B5EF4-FFF2-40B4-BE49-F238E27FC236}">
                    <a16:creationId xmlns:a16="http://schemas.microsoft.com/office/drawing/2014/main" id="{57F28D20-BC1E-41A1-9CDF-FFA073BCFA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483887"/>
                <a:ext cx="11546543" cy="6491679"/>
              </a:xfrm>
              <a:prstGeom prst="rect">
                <a:avLst/>
              </a:prstGeom>
              <a:blipFill>
                <a:blip r:embed="rId2"/>
                <a:stretch>
                  <a:fillRect l="-1848" t="-1878" r="-5016"/>
                </a:stretch>
              </a:blipFill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yt_shape_3">
                <a:extLst>
                  <a:ext uri="{FF2B5EF4-FFF2-40B4-BE49-F238E27FC236}">
                    <a16:creationId xmlns:a16="http://schemas.microsoft.com/office/drawing/2014/main" id="{696288A1-DE8D-542A-4F44-195F59592C6D}"/>
                  </a:ext>
                </a:extLst>
              </p:cNvPr>
              <p:cNvSpPr txBox="1"/>
              <p:nvPr/>
            </p:nvSpPr>
            <p:spPr>
              <a:xfrm>
                <a:off x="324071" y="4412272"/>
                <a:ext cx="11927459" cy="1338443"/>
              </a:xfrm>
              <a:prstGeom prst="rect">
                <a:avLst/>
              </a:prstGeom>
              <a:noFill/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0" tIns="0" rIns="0" bIns="0" rtlCol="0">
                <a:noAutofit/>
              </a:bodyPr>
              <a:lstStyle/>
              <a:p>
                <a:pPr>
                  <a:lnSpc>
                    <a:spcPct val="110000"/>
                  </a:lnSpc>
                </a:pPr>
                <a:r>
                  <a:rPr lang="en-US" altLang="zh-CN" sz="2800" i="1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aseline="-25000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3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时刻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系统的弹性势能为</a:t>
                </a:r>
                <a:r>
                  <a:rPr lang="en-US" altLang="zh-CN" sz="2800" i="1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E</a:t>
                </a:r>
                <a:r>
                  <a:rPr lang="en-US" altLang="zh-CN" sz="2800" baseline="-25000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p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>
                            <a:solidFill>
                              <a:srgbClr val="C00000"/>
                            </a:solidFill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>
                            <a:solidFill>
                              <a:srgbClr val="C00000"/>
                            </a:solidFill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i="1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aseline="-25000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1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i="1">
                                <a:solidFill>
                                  <a:srgbClr val="C00000"/>
                                </a:solidFill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>
                                <a:solidFill>
                                  <a:srgbClr val="C00000"/>
                                </a:solidFill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1</m:t>
                            </m:r>
                          </m:sub>
                        </m:sSub>
                      </m:e>
                      <m:sup>
                        <m:r>
                          <a:rPr lang="en-US" altLang="zh-CN" sz="2800">
                            <a:solidFill>
                              <a:srgbClr val="C00000"/>
                            </a:solidFill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－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>
                            <a:solidFill>
                              <a:srgbClr val="C00000"/>
                            </a:solidFill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>
                            <a:solidFill>
                              <a:srgbClr val="C00000"/>
                            </a:solidFill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i="1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aseline="-25000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i="1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aseline="-25000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）</a:t>
                </a:r>
                <a:r>
                  <a:rPr lang="en-US" altLang="zh-CN" sz="2800" i="1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aseline="30000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系统的动能为</a:t>
                </a:r>
                <a:r>
                  <a:rPr lang="en-US" altLang="zh-CN" sz="2800" i="1" dirty="0" err="1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E</a:t>
                </a:r>
                <a:r>
                  <a:rPr lang="en-US" altLang="zh-CN" sz="2800" baseline="-25000" dirty="0" err="1">
                    <a:solidFill>
                      <a:srgbClr val="C00000"/>
                    </a:solidFill>
                    <a:latin typeface="Times New Roman" pitchFamily="28"/>
                    <a:ea typeface="宋体" pitchFamily="28"/>
                    <a:sym typeface="_⨹_1_337f5"/>
                  </a:rPr>
                  <a:t>k</a:t>
                </a:r>
                <a:br>
                  <a:rPr lang="en-US" altLang="zh-CN" sz="2800" baseline="-25000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</a:br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>
                            <a:solidFill>
                              <a:srgbClr val="C00000"/>
                            </a:solidFill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>
                            <a:solidFill>
                              <a:srgbClr val="C00000"/>
                            </a:solidFill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i="1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aseline="-25000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i="1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aseline="-25000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）</a:t>
                </a:r>
                <a:r>
                  <a:rPr lang="en-US" altLang="zh-CN" sz="2800" i="1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aseline="30000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结合</a:t>
                </a:r>
                <a:r>
                  <a:rPr lang="en-US" altLang="zh-CN" sz="2800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项可知</a:t>
                </a:r>
                <a:r>
                  <a:rPr lang="en-US" altLang="zh-CN" sz="2800" i="1" dirty="0" err="1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E</a:t>
                </a:r>
                <a:r>
                  <a:rPr lang="en-US" altLang="zh-CN" sz="2800" baseline="-25000" dirty="0" err="1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k</a:t>
                </a:r>
                <a:r>
                  <a:rPr lang="en-US" altLang="zh-CN" sz="2800" dirty="0" err="1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∶</a:t>
                </a:r>
                <a:r>
                  <a:rPr lang="en-US" altLang="zh-CN" sz="2800" i="1" dirty="0" err="1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E</a:t>
                </a:r>
                <a:r>
                  <a:rPr lang="en-US" altLang="zh-CN" sz="2800" baseline="-25000" dirty="0" err="1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p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1</a:t>
                </a:r>
                <a:r>
                  <a:rPr lang="en-US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∶</a:t>
                </a:r>
                <a:r>
                  <a:rPr lang="en-US" altLang="zh-CN" sz="2800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D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正确。</a:t>
                </a:r>
                <a:endParaRPr lang="zh-CN" altLang="en-US" dirty="0">
                  <a:solidFill>
                    <a:srgbClr val="C00000"/>
                  </a:solidFill>
                </a:endParaRPr>
              </a:p>
            </p:txBody>
          </p:sp>
        </mc:Choice>
        <mc:Fallback xmlns:p14="http://schemas.microsoft.com/office/powerpoint/2010/main" xmlns:a16="http://schemas.microsoft.com/office/drawing/2014/main" xmlns="">
          <p:sp>
            <p:nvSpPr>
              <p:cNvPr id="3" name="yt_shape_3">
                <a:extLst>
                  <a:ext uri="{FF2B5EF4-FFF2-40B4-BE49-F238E27FC236}">
                    <a16:creationId xmlns:a16="http://schemas.microsoft.com/office/drawing/2014/main" id="{696288A1-DE8D-542A-4F44-195F59592C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4412272"/>
                <a:ext cx="11927459" cy="1338443"/>
              </a:xfrm>
              <a:prstGeom prst="rect">
                <a:avLst/>
              </a:prstGeom>
              <a:blipFill>
                <a:blip r:embed="rId3"/>
                <a:stretch>
                  <a:fillRect l="-1788" b="-8219"/>
                </a:stretch>
              </a:blipFill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组合 15"/>
          <p:cNvGrpSpPr/>
          <p:nvPr/>
        </p:nvGrpSpPr>
        <p:grpSpPr>
          <a:xfrm>
            <a:off x="4146043" y="6427038"/>
            <a:ext cx="4181814" cy="288000"/>
            <a:chOff x="1463551" y="6425622"/>
            <a:chExt cx="4181814" cy="288000"/>
          </a:xfrm>
        </p:grpSpPr>
        <p:sp>
          <p:nvSpPr>
            <p:cNvPr id="10" name="e95c448d-339b-45ed-9d6e-7f6c1bf0a4eb" descr="{&quot;SlideID&quot;:&quot;318&quot;,&quot;SlideNumber&quot;:&quot;22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4635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7d413551-82c9-45c9-ad73-e51c261613e0" descr="{&quot;SlideID&quot;:&quot;320&quot;,&quot;SlideNumber&quot;:&quot;24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85353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3690eb5b-27a1-4dbf-8b32-6b915aa4f260" descr="{&quot;SlideID&quot;:&quot;322&quot;,&quot;SlideNumber&quot;:&quot;26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24351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0f0abccc-1e70-4b7f-89a4-10bf5fe57ced" descr="{&quot;SlideID&quot;:&quot;324&quot;,&quot;SlideNumber&quot;:&quot;28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63350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16b10869-d86c-4a3e-80df-2b80cf48b50d" descr="{&quot;SlideID&quot;:&quot;326&quot;,&quot;SlideNumber&quot;:&quot;30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02348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0ad41667-83dc-474d-adca-74976ad43066" descr="{&quot;SlideID&quot;:&quot;328&quot;,&quot;SlideNumber&quot;:&quot;32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41346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aa6021c3-1c5e-4e23-8dab-7051f8359c44" descr="{&quot;SlideID&quot;:&quot;330&quot;,&quot;SlideNumber&quot;:&quot;34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8034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0dfa70a2-58ff-419e-8362-737e4b044693" descr="{&quot;SlideID&quot;:&quot;332&quot;,&quot;SlideNumber&quot;:&quot;36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193433" y="6425622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4718e531-ca69-4d7f-81bf-f3c26d760bce" descr="{&quot;SlideID&quot;:&quot;334&quot;,&quot;SlideNumber&quot;:&quot;38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58341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18ed0622-d53e-4836-a1c6-e52cc82b06ab" descr="{&quot;SlideID&quot;:&quot;336&quot;,&quot;SlideNumber&quot;:&quot;40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97339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" name="b58fffb3-558b-4713-96e4-e72da130c651" descr="{&quot;SlideID&quot;:&quot;339&quot;,&quot;SlideNumber&quot;:&quot;43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35736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2154946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01" name="yt_shape_10701"/>
          <p:cNvSpPr txBox="1"/>
          <p:nvPr/>
        </p:nvSpPr>
        <p:spPr>
          <a:xfrm>
            <a:off x="324071" y="467999"/>
            <a:ext cx="11924914" cy="2341923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443865" indent="-443809" algn="l" eaLnBrk="1" latinLnBrk="0" hangingPunct="0">
              <a:lnSpc>
                <a:spcPct val="140000"/>
              </a:lnSpc>
            </a:pP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9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隶书" pitchFamily="28"/>
              </a:rPr>
              <a:t>〔多选〕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2025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浙江衢州联考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如图所示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水平面上放置着半径为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  <a:sym typeface="_⨹_1_2a147"/>
              </a:rPr>
              <a:t>、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质量为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的半圆形槽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AB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为槽的水平直径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质量为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8_d9ca6"/>
              </a:rPr>
              <a:t>的小球自左端槽口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点的正上方距离为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处由静止下落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从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点切入槽内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7_39b24"/>
              </a:rPr>
              <a:t>已知重力加速度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大小为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不计一切摩擦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下列说法正确的是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703" name="yt_table_10703_skip" title="H_176.40504">
                <a:extLst>
                  <a:ext uri="{FF2B5EF4-FFF2-40B4-BE49-F238E27FC236}">
                    <a16:creationId xmlns:a16="http://schemas.microsoft.com/office/drawing/2014/main" id="{85F9CD91-DE56-4981-AD6D-3D4292DC4A24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916945" y="3461879"/>
              <a:ext cx="8312150" cy="2240344"/>
            </p:xfrm>
            <a:graphic>
              <a:graphicData uri="http://schemas.openxmlformats.org/drawingml/2006/table">
                <a:tbl>
                  <a:tblPr/>
                  <a:tblGrid>
                    <a:gridCol w="8312150">
                      <a:extLst>
                        <a:ext uri="{9D8B030D-6E8A-4147-A177-3AD203B41FA5}">
                          <a16:colId xmlns:a16="http://schemas.microsoft.com/office/drawing/2014/main" val="1011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A</a:t>
                          </a:r>
                          <a:r>
                            <a:rPr lang="en-US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zh-CN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系统动量守恒</a:t>
                          </a:r>
                          <a:r>
                            <a:rPr lang="zh-CN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、</a:t>
                          </a:r>
                          <a:r>
                            <a:rPr lang="zh-CN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机械能守恒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2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503492" indent="-503492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B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槽向左运动的最大位移为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0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5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R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2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503492" indent="-503492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C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小球在槽中运动的最大速度为</a:t>
                          </a:r>
                          <a14:m>
                            <m:oMath xmlns:m="http://schemas.openxmlformats.org/officeDocument/2006/math">
                              <m:rad>
                                <m:radPr>
                                  <m:degHide m:val="on"/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3</m:t>
                                  </m:r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𝑔𝑅</m:t>
                                  </m:r>
                                </m:e>
                              </m:rad>
                            </m:oMath>
                          </a14:m>
                          <a:endParaRPr lang="zh-CN" altLang="zh-CN" sz="2800" b="0" i="0" u="none">
                            <a:solidFill>
                              <a:srgbClr val="000000"/>
                            </a:solidFill>
                            <a:effectLst/>
                            <a:latin typeface="Times New Roman" pitchFamily="28"/>
                            <a:ea typeface="宋体" pitchFamily="28"/>
                          </a:endParaRP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2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D</a:t>
                          </a:r>
                          <a:r>
                            <a:rPr lang="en-US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zh-CN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小球能从</a:t>
                          </a:r>
                          <a:r>
                            <a:rPr lang="en-US" altLang="zh-CN" sz="2800" b="0" i="1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B</a:t>
                          </a:r>
                          <a:r>
                            <a:rPr lang="zh-CN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点离开槽</a:t>
                          </a:r>
                          <a:r>
                            <a:rPr lang="zh-CN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，</a:t>
                          </a:r>
                          <a:r>
                            <a:rPr lang="zh-CN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且上升的最大高度小于</a:t>
                          </a:r>
                          <a:r>
                            <a:rPr lang="en-US" altLang="zh-CN" sz="2800" b="0" i="1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R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242"/>
                      </a:ext>
                    </a:extLst>
                  </a:tr>
                </a:tbl>
              </a:graphicData>
            </a:graphic>
          </p:graphicFrame>
        </mc:Choice>
        <mc:Fallback xmlns:p15="http://schemas.microsoft.com/office/powerpoint/2012/main" xmlns:p14="http://schemas.microsoft.com/office/powerpoint/2010/main" xmlns:a16="http://schemas.microsoft.com/office/drawing/2014/main" xmlns="">
          <p:graphicFrame>
            <p:nvGraphicFramePr>
              <p:cNvPr id="10703" name="yt_table_10703_skip" title="H_176.40504">
                <a:extLst>
                  <a:ext uri="{FF2B5EF4-FFF2-40B4-BE49-F238E27FC236}">
                    <a16:creationId xmlns:a16="http://schemas.microsoft.com/office/drawing/2014/main" id="{85F9CD91-DE56-4981-AD6D-3D4292DC4A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61708312"/>
                  </p:ext>
                </p:extLst>
              </p:nvPr>
            </p:nvGraphicFramePr>
            <p:xfrm>
              <a:off x="916945" y="3461879"/>
              <a:ext cx="8312150" cy="2515680"/>
            </p:xfrm>
            <a:graphic>
              <a:graphicData uri="http://schemas.openxmlformats.org/drawingml/2006/table">
                <a:tbl>
                  <a:tblPr/>
                  <a:tblGrid>
                    <a:gridCol w="8312150">
                      <a:extLst>
                        <a:ext uri="{9D8B030D-6E8A-4147-A177-3AD203B41FA5}">
                          <a16:colId xmlns:a16="http://schemas.microsoft.com/office/drawing/2014/main" val="10113"/>
                        </a:ext>
                      </a:extLst>
                    </a:gridCol>
                  </a:tblGrid>
                  <a:tr h="597408"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A</a:t>
                          </a:r>
                          <a:r>
                            <a:rPr lang="en-US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zh-CN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系统动量守恒</a:t>
                          </a:r>
                          <a:r>
                            <a:rPr lang="zh-CN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、</a:t>
                          </a:r>
                          <a:r>
                            <a:rPr lang="zh-CN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机械能守恒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239"/>
                      </a:ext>
                    </a:extLst>
                  </a:tr>
                  <a:tr h="597408">
                    <a:tc>
                      <a:txBody>
                        <a:bodyPr/>
                        <a:lstStyle/>
                        <a:p>
                          <a:pPr marL="503492" indent="-503492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B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槽向左运动的最大位移为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0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5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R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240"/>
                      </a:ext>
                    </a:extLst>
                  </a:tr>
                  <a:tr h="723456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2"/>
                          <a:stretch>
                            <a:fillRect t="-165546" b="-10840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241"/>
                      </a:ext>
                    </a:extLst>
                  </a:tr>
                  <a:tr h="597408"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D</a:t>
                          </a:r>
                          <a:r>
                            <a:rPr lang="en-US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zh-CN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小球能从</a:t>
                          </a:r>
                          <a:r>
                            <a:rPr lang="en-US" altLang="zh-CN" sz="2800" b="0" i="1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B</a:t>
                          </a:r>
                          <a:r>
                            <a:rPr lang="zh-CN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点离开槽</a:t>
                          </a:r>
                          <a:r>
                            <a:rPr lang="zh-CN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，</a:t>
                          </a:r>
                          <a:r>
                            <a:rPr lang="zh-CN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且上升的最大高度小于</a:t>
                          </a:r>
                          <a:r>
                            <a:rPr lang="en-US" altLang="zh-CN" sz="2800" b="0" i="1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R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242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10702" name="yt_image_10702_skip" title="H_247">
            <a:extLst>
              <a:ext uri="">
                <a16:creationId xmlns:p14="http://schemas.microsoft.com/office/powerpoint/2010/main" xmlns:a14="http://schemas.microsoft.com/office/drawing/2010/main" xmlns:mc="http://schemas.openxmlformats.org/markup-compatibility/2006" xmlns:p15="http://schemas.microsoft.com/office/powerpoint/2012/main" xmlns:a16="http://schemas.microsoft.com/office/drawing/2014/main" xmlns="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425697" y="3056709"/>
            <a:ext cx="3534040" cy="23760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D8AFB920-9FA1-4E95-AE2D-F19F0BDE6791}"/>
              </a:ext>
            </a:extLst>
          </p:cNvPr>
          <p:cNvSpPr/>
          <p:nvPr/>
        </p:nvSpPr>
        <p:spPr>
          <a:xfrm>
            <a:off x="710666" y="4229772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8AFB920-9FA1-4E95-AE2D-F19F0BDE6791}"/>
              </a:ext>
            </a:extLst>
          </p:cNvPr>
          <p:cNvSpPr/>
          <p:nvPr/>
        </p:nvSpPr>
        <p:spPr>
          <a:xfrm>
            <a:off x="710665" y="4825565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grpSp>
        <p:nvGrpSpPr>
          <p:cNvPr id="16" name="组合 15"/>
          <p:cNvGrpSpPr/>
          <p:nvPr/>
        </p:nvGrpSpPr>
        <p:grpSpPr>
          <a:xfrm>
            <a:off x="4146043" y="6427038"/>
            <a:ext cx="4181814" cy="288000"/>
            <a:chOff x="1463551" y="6425622"/>
            <a:chExt cx="4181814" cy="288000"/>
          </a:xfrm>
        </p:grpSpPr>
        <p:sp>
          <p:nvSpPr>
            <p:cNvPr id="10" name="1ca10f86-9d13-461f-8a25-eb47f27fff72" descr="{&quot;SlideID&quot;:&quot;318&quot;,&quot;SlideNumber&quot;:&quot;22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4635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0ca7bae8-559f-4a3a-b015-da2dba142398" descr="{&quot;SlideID&quot;:&quot;320&quot;,&quot;SlideNumber&quot;:&quot;24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85353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996c0e70-d8f0-44e3-b094-4206f085c57c" descr="{&quot;SlideID&quot;:&quot;322&quot;,&quot;SlideNumber&quot;:&quot;26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24351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55a29e07-d925-47b4-b90d-2f5676367f99" descr="{&quot;SlideID&quot;:&quot;324&quot;,&quot;SlideNumber&quot;:&quot;28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63350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4a59ed4b-d081-4c87-b949-442129a59d01" descr="{&quot;SlideID&quot;:&quot;326&quot;,&quot;SlideNumber&quot;:&quot;30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02348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68b051db-2e9e-4b4a-865b-90b529ced8d3" descr="{&quot;SlideID&quot;:&quot;328&quot;,&quot;SlideNumber&quot;:&quot;32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41346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1809885c-e64f-443d-8da5-4db4541733f1" descr="{&quot;SlideID&quot;:&quot;330&quot;,&quot;SlideNumber&quot;:&quot;34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8034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b2824d78-eb9e-48fd-9d11-591d6a6e7b3d" descr="{&quot;SlideID&quot;:&quot;332&quot;,&quot;SlideNumber&quot;:&quot;36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1934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97b0833f-9c50-4609-bd93-dcf075fb2b91" descr="{&quot;SlideID&quot;:&quot;334&quot;,&quot;SlideNumber&quot;:&quot;38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583415" y="6425622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058a9ff3-56ed-4154-a4e6-362acd0a836a" descr="{&quot;SlideID&quot;:&quot;336&quot;,&quot;SlideNumber&quot;:&quot;40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97339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" name="7e1a69f7-dc7f-4469-a725-656729ba8cfc" descr="{&quot;SlideID&quot;:&quot;339&quot;,&quot;SlideNumber&quot;:&quot;43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35736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8640172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:a16="http://schemas.microsoft.com/office/drawing/2014/main" xmlns:p14="http://schemas.microsoft.com/office/powerpoint/2010/main" xmlns:a14="http://schemas.microsoft.com/office/drawing/2010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704" name="yt_shape_10704"/>
              <p:cNvSpPr txBox="1"/>
              <p:nvPr/>
            </p:nvSpPr>
            <p:spPr>
              <a:xfrm>
                <a:off x="324071" y="467999"/>
                <a:ext cx="11924914" cy="5606599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marL="443865"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Times New Roman" pitchFamily="28"/>
                    <a:ea typeface="黑体" pitchFamily="28"/>
                  </a:rPr>
                  <a:t>解析</a:t>
                </a:r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宋体" pitchFamily="28"/>
                    <a:ea typeface="宋体" pitchFamily="28"/>
                  </a:rPr>
                  <a:t>：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小球与半圆形槽组成的系统运动过程中只有重力做功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6_f1a97"/>
                  </a:rPr>
                  <a:t>系统机械能守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恒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但小球运动过程中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系统所受外力矢量和不为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7_0711b"/>
                  </a:rPr>
                  <a:t>水平方向所受合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外力为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系统水平方向动量守恒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球在槽中运动过程中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则有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mx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58681"/>
                  </a:rPr>
                  <a:t>＝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mx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联立解得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5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错误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正确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6_6d843"/>
                  </a:rPr>
                  <a:t>当球到达槽的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最低点时速度最大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则由动量守恒和能量关系有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mv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mv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mg</a:t>
                </a:r>
                <a:r>
                  <a:rPr lang="zh-CN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Times New Roman" pitchFamily="28"/>
                  </a:rPr>
                  <a:t>·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2170a"/>
                  </a:rPr>
                  <a:t>＝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1</m:t>
                            </m:r>
                          </m:sub>
                        </m:sSub>
                      </m:e>
                      <m:sup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Times New Roman" pitchFamily="28"/>
                  </a:rPr>
                  <a:t>·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</m:sub>
                        </m:sSub>
                      </m:e>
                      <m:sup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解得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radPr>
                      <m:deg/>
                      <m:e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3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𝑔𝑅</m:t>
                        </m:r>
                      </m:e>
                    </m:rad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正确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系统机械能守恒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3_809fe"/>
                  </a:rPr>
                  <a:t>小球从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点离开时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由水平方向动量守恒可知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槽速度为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8_49e50"/>
                  </a:rPr>
                  <a:t>故小球上升的最大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高度为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D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错误。</a:t>
                </a:r>
              </a:p>
            </p:txBody>
          </p:sp>
        </mc:Choice>
        <mc:Fallback xmlns:p14="http://schemas.microsoft.com/office/powerpoint/2010/main" xmlns:a16="http://schemas.microsoft.com/office/drawing/2014/main" xmlns="">
          <p:sp>
            <p:nvSpPr>
              <p:cNvPr id="10704" name="yt_shape_1070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467999"/>
                <a:ext cx="11924914" cy="5606599"/>
              </a:xfrm>
              <a:prstGeom prst="rect">
                <a:avLst/>
              </a:prstGeom>
              <a:blipFill>
                <a:blip r:embed="rId2"/>
                <a:stretch>
                  <a:fillRect t="-435" r="-7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组合 13"/>
          <p:cNvGrpSpPr/>
          <p:nvPr/>
        </p:nvGrpSpPr>
        <p:grpSpPr>
          <a:xfrm>
            <a:off x="4146043" y="6427038"/>
            <a:ext cx="4181814" cy="288000"/>
            <a:chOff x="1463551" y="6425622"/>
            <a:chExt cx="4181814" cy="288000"/>
          </a:xfrm>
        </p:grpSpPr>
        <p:sp>
          <p:nvSpPr>
            <p:cNvPr id="10" name="5b4c20b1-ea13-4e5e-b369-2db74e5bc7a3" descr="{&quot;SlideID&quot;:&quot;318&quot;,&quot;SlideNumber&quot;:&quot;22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4635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7cdb56f1-79f6-4f67-b351-13ae6f9a7d89" descr="{&quot;SlideID&quot;:&quot;320&quot;,&quot;SlideNumber&quot;:&quot;24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85353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ee5ff7f9-fcf1-47e4-a687-3d25a8be438b" descr="{&quot;SlideID&quot;:&quot;322&quot;,&quot;SlideNumber&quot;:&quot;26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24351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2d04354f-65f4-43c2-adf2-969f8376259a" descr="{&quot;SlideID&quot;:&quot;324&quot;,&quot;SlideNumber&quot;:&quot;28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63350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32d0e4b1-299e-4181-acb4-63b73a707a16" descr="{&quot;SlideID&quot;:&quot;326&quot;,&quot;SlideNumber&quot;:&quot;30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02348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2781bedc-2fe8-4c2f-be24-6ff96ad1bd7c" descr="{&quot;SlideID&quot;:&quot;328&quot;,&quot;SlideNumber&quot;:&quot;32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41346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02872230-510d-4266-9c0d-926bbfe5f7a8" descr="{&quot;SlideID&quot;:&quot;330&quot;,&quot;SlideNumber&quot;:&quot;34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8034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1ea26d1f-5c0c-4ee5-86d7-4f11213d42e1" descr="{&quot;SlideID&quot;:&quot;332&quot;,&quot;SlideNumber&quot;:&quot;36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1934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4f98556a-9942-48bf-b0be-02a5f1912f1a" descr="{&quot;SlideID&quot;:&quot;334&quot;,&quot;SlideNumber&quot;:&quot;38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583415" y="6425622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836e467d-ec1f-4f0c-b47c-b77f47648bb4" descr="{&quot;SlideID&quot;:&quot;336&quot;,&quot;SlideNumber&quot;:&quot;40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97339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21564b29-11d2-4d8f-860d-c49968cf3caa" descr="{&quot;SlideID&quot;:&quot;339&quot;,&quot;SlideNumber&quot;:&quot;43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35736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8199370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06" name="yt_shape_10706"/>
          <p:cNvSpPr txBox="1"/>
          <p:nvPr/>
        </p:nvSpPr>
        <p:spPr>
          <a:xfrm>
            <a:off x="324071" y="467999"/>
            <a:ext cx="11924914" cy="2341923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621665" indent="-621587" algn="l" eaLnBrk="1" latinLnBrk="0" hangingPunct="0">
              <a:lnSpc>
                <a:spcPct val="140000"/>
              </a:lnSpc>
            </a:pP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10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如图甲所示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物块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的质量分别是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6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kg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和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4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kg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2_8f4e1"/>
              </a:rPr>
              <a:t>用轻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弹簧拴接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放在光滑的水平地面上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物块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右侧与竖直墙相接触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2_6d770"/>
              </a:rPr>
              <a:t>另有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一物块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C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从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时以一定速度向右运动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在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4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时与物块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相碰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2_9014a"/>
              </a:rPr>
              <a:t>并立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即与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粘在一起不再分开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物块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C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-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图像如图乙所示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：</a:t>
            </a:r>
          </a:p>
        </p:txBody>
      </p:sp>
      <p:pic>
        <p:nvPicPr>
          <p:cNvPr id="10707" name="yt_image_10707">
            <a:extLst>
              <a:ext uri="">
                <a16:creationId xmlns:a14="http://schemas.microsoft.com/office/drawing/2010/main" xmlns:mc="http://schemas.openxmlformats.org/markup-compatibility/2006" xmlns:p15="http://schemas.microsoft.com/office/powerpoint/2012/main" xmlns:p14="http://schemas.microsoft.com/office/powerpoint/2010/main" xmlns:a16="http://schemas.microsoft.com/office/drawing/2014/main" xmlns="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70518" y="3013074"/>
            <a:ext cx="7450962" cy="26217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组合 13"/>
          <p:cNvGrpSpPr/>
          <p:nvPr/>
        </p:nvGrpSpPr>
        <p:grpSpPr>
          <a:xfrm>
            <a:off x="4146043" y="6427038"/>
            <a:ext cx="4181814" cy="288000"/>
            <a:chOff x="1463551" y="6425622"/>
            <a:chExt cx="4181814" cy="288000"/>
          </a:xfrm>
        </p:grpSpPr>
        <p:sp>
          <p:nvSpPr>
            <p:cNvPr id="10" name="78bb4123-c1b4-4c0a-a205-724ca47d0851" descr="{&quot;SlideID&quot;:&quot;318&quot;,&quot;SlideNumber&quot;:&quot;22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4635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dfbfbabf-9b12-4975-abc5-1aa68d1467b0" descr="{&quot;SlideID&quot;:&quot;320&quot;,&quot;SlideNumber&quot;:&quot;24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85353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9c480b23-4415-4b6b-ab64-6b8bc243ae66" descr="{&quot;SlideID&quot;:&quot;322&quot;,&quot;SlideNumber&quot;:&quot;26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24351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b9a34a04-14bc-4e5a-948c-e0b21afd2978" descr="{&quot;SlideID&quot;:&quot;324&quot;,&quot;SlideNumber&quot;:&quot;28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63350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ca3d9798-f59b-417c-bf97-cbfe8416e656" descr="{&quot;SlideID&quot;:&quot;326&quot;,&quot;SlideNumber&quot;:&quot;30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02348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9be6b5e6-5b73-4581-a433-e891d5f0b935" descr="{&quot;SlideID&quot;:&quot;328&quot;,&quot;SlideNumber&quot;:&quot;32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41346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32741f6b-ac61-4654-b6bd-98386d31e904" descr="{&quot;SlideID&quot;:&quot;330&quot;,&quot;SlideNumber&quot;:&quot;34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8034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7d45fc7c-4737-4576-9dbf-ab418c2e1fa2" descr="{&quot;SlideID&quot;:&quot;332&quot;,&quot;SlideNumber&quot;:&quot;36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1934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4ab5abfb-7e89-4916-ac30-677e3f80fc3c" descr="{&quot;SlideID&quot;:&quot;334&quot;,&quot;SlideNumber&quot;:&quot;38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58341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493d442c-3329-4ea4-873b-20733e92485c" descr="{&quot;SlideID&quot;:&quot;336&quot;,&quot;SlideNumber&quot;:&quot;40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973397" y="6425622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caf4cfda-80df-4282-b3fc-964529d792e6" descr="{&quot;SlideID&quot;:&quot;339&quot;,&quot;SlideNumber&quot;:&quot;43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35736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4333253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:a16="http://schemas.microsoft.com/office/drawing/2014/main" xmlns:a14="http://schemas.microsoft.com/office/drawing/2010/main" xmlns:p14="http://schemas.microsoft.com/office/powerpoint/2010/main"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09" name="yt_shape_10709"/>
          <p:cNvSpPr txBox="1"/>
          <p:nvPr/>
        </p:nvSpPr>
        <p:spPr>
          <a:xfrm>
            <a:off x="324000" y="467999"/>
            <a:ext cx="3918701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marL="1510030" indent="-888254"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物块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C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的质量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；</a:t>
            </a:r>
          </a:p>
        </p:txBody>
      </p:sp>
      <p:sp>
        <p:nvSpPr>
          <p:cNvPr id="10710" name="yt_shape_10710"/>
          <p:cNvSpPr txBox="1"/>
          <p:nvPr/>
        </p:nvSpPr>
        <p:spPr>
          <a:xfrm>
            <a:off x="324000" y="1050984"/>
            <a:ext cx="3230372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marL="1510030"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0000FF"/>
                </a:solidFill>
                <a:effectLst/>
                <a:latin typeface="Times New Roman" pitchFamily="28"/>
                <a:ea typeface="黑体" pitchFamily="28"/>
              </a:rPr>
              <a:t>答案</a:t>
            </a:r>
            <a:r>
              <a:rPr lang="zh-CN" altLang="zh-CN" sz="2800" b="0" i="0" u="none" dirty="0">
                <a:solidFill>
                  <a:srgbClr val="0000FF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kg</a:t>
            </a:r>
          </a:p>
        </p:txBody>
      </p:sp>
      <p:sp>
        <p:nvSpPr>
          <p:cNvPr id="10711" name="yt_shape_10711"/>
          <p:cNvSpPr txBox="1"/>
          <p:nvPr/>
        </p:nvSpPr>
        <p:spPr>
          <a:xfrm>
            <a:off x="324071" y="1633969"/>
            <a:ext cx="11924914" cy="2341923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510030"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FF"/>
                </a:solidFill>
                <a:effectLst/>
                <a:latin typeface="Times New Roman" pitchFamily="28"/>
                <a:ea typeface="黑体" pitchFamily="28"/>
              </a:rPr>
              <a:t>解析</a:t>
            </a:r>
            <a:r>
              <a:rPr lang="zh-CN" altLang="zh-CN" sz="2800" b="0" i="0" u="none">
                <a:solidFill>
                  <a:srgbClr val="0000FF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由题图乙知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C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与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碰前速度为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en-US" altLang="zh-CN" sz="2800" b="0" i="0" u="none" baseline="-2500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12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m/s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碰后速度为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en-US" altLang="zh-CN" sz="2800" b="0" i="0" u="none" baseline="-2500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  <a:sym typeface="_⨹_1_ee5e6"/>
              </a:rPr>
              <a:t>2</a:t>
            </a:r>
            <a:br>
              <a:rPr lang="en-US" altLang="zh-CN" sz="2800" b="0" i="0" u="none" baseline="-2500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m/s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</a:p>
          <a:p>
            <a:pPr marL="1510030" algn="l" eaLnBrk="1" latinLnBrk="0" hangingPunct="0">
              <a:lnSpc>
                <a:spcPct val="140000"/>
              </a:lnSpc>
            </a:pP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C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与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碰撞过程动量守恒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以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C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的初速度方向为正方向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</a:p>
          <a:p>
            <a:pPr marL="1510030"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由动量守恒定律得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en-US" altLang="zh-CN" sz="2800" b="0" i="0" u="none" baseline="-2500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C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en-US" altLang="zh-CN" sz="2800" b="0" i="0" u="none" baseline="-2500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＝（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en-US" altLang="zh-CN" sz="2800" b="0" i="0" u="none" baseline="-2500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＋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en-US" altLang="zh-CN" sz="2800" b="0" i="0" u="none" baseline="-2500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C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en-US" altLang="zh-CN" sz="2800" b="0" i="0" u="none" baseline="-2500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</a:p>
        </p:txBody>
      </p:sp>
      <p:sp>
        <p:nvSpPr>
          <p:cNvPr id="10712" name="yt_shape_10712"/>
          <p:cNvSpPr txBox="1"/>
          <p:nvPr/>
        </p:nvSpPr>
        <p:spPr>
          <a:xfrm>
            <a:off x="324000" y="4026680"/>
            <a:ext cx="4009431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marL="1510030"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解得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en-US" altLang="zh-CN" sz="2800" b="0" i="0" u="none" baseline="-2500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C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kg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。</a:t>
            </a:r>
          </a:p>
        </p:txBody>
      </p:sp>
      <p:grpSp>
        <p:nvGrpSpPr>
          <p:cNvPr id="14" name="组合 13"/>
          <p:cNvGrpSpPr/>
          <p:nvPr/>
        </p:nvGrpSpPr>
        <p:grpSpPr>
          <a:xfrm>
            <a:off x="4146043" y="6427038"/>
            <a:ext cx="4181814" cy="288000"/>
            <a:chOff x="1463551" y="6425622"/>
            <a:chExt cx="4181814" cy="288000"/>
          </a:xfrm>
        </p:grpSpPr>
        <p:sp>
          <p:nvSpPr>
            <p:cNvPr id="10" name="bdaae48b-b413-43fe-a90a-43999cd1a078" descr="{&quot;SlideID&quot;:&quot;318&quot;,&quot;SlideNumber&quot;:&quot;22&quot;}">
              <a:hlinkClick r:id="rId2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4635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87133cf8-b21e-4b72-94bf-07e5b179a7b5" descr="{&quot;SlideID&quot;:&quot;320&quot;,&quot;SlideNumber&quot;:&quot;24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85353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cb99e767-02cd-42a1-8072-a0f4c8720f17" descr="{&quot;SlideID&quot;:&quot;322&quot;,&quot;SlideNumber&quot;:&quot;26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24351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c6e87811-1e57-4575-aca8-fdb24ff95998" descr="{&quot;SlideID&quot;:&quot;324&quot;,&quot;SlideNumber&quot;:&quot;28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63350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fb59a7a4-21cb-4178-992b-6b119ec19043" descr="{&quot;SlideID&quot;:&quot;326&quot;,&quot;SlideNumber&quot;:&quot;30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02348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ceef025b-fc23-43ae-a085-28a89525090f" descr="{&quot;SlideID&quot;:&quot;328&quot;,&quot;SlideNumber&quot;:&quot;32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41346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3df34dcf-23e9-4d89-becb-d29741ed147a" descr="{&quot;SlideID&quot;:&quot;330&quot;,&quot;SlideNumber&quot;:&quot;34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8034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e2e2ca2f-1be5-47a5-ac6b-f2aa59fca2a4" descr="{&quot;SlideID&quot;:&quot;332&quot;,&quot;SlideNumber&quot;:&quot;36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1934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87f9f337-bf61-4181-b1b8-3065bc33cec2" descr="{&quot;SlideID&quot;:&quot;334&quot;,&quot;SlideNumber&quot;:&quot;38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58341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61fd8920-5cf6-4b23-ba51-9a540d7e6843" descr="{&quot;SlideID&quot;:&quot;336&quot;,&quot;SlideNumber&quot;:&quot;40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973397" y="6425622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87d3c408-bfb1-4691-bc3e-82536ccd3766" descr="{&quot;SlideID&quot;:&quot;339&quot;,&quot;SlideNumber&quot;:&quot;43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35736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96552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07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107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107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710" grpId="0" build="allAtOnce"/>
      <p:bldP spid="10711" grpId="0"/>
      <p:bldP spid="10712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3" name="yt_shape_10713"/>
          <p:cNvSpPr txBox="1"/>
          <p:nvPr/>
        </p:nvSpPr>
        <p:spPr>
          <a:xfrm>
            <a:off x="324071" y="467999"/>
            <a:ext cx="11543998" cy="1116268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888365" indent="-888254"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离开墙后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弹簧中的弹性势能最大时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的速度多大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？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5_f2fe2"/>
              </a:rPr>
              <a:t>最大弹性势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能多大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？</a:t>
            </a:r>
          </a:p>
        </p:txBody>
      </p:sp>
      <p:sp>
        <p:nvSpPr>
          <p:cNvPr id="10714" name="yt_shape_10714"/>
          <p:cNvSpPr txBox="1"/>
          <p:nvPr/>
        </p:nvSpPr>
        <p:spPr>
          <a:xfrm>
            <a:off x="324000" y="1635055"/>
            <a:ext cx="3798476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marL="888365"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0000FF"/>
                </a:solidFill>
                <a:effectLst/>
                <a:latin typeface="Times New Roman" pitchFamily="28"/>
                <a:ea typeface="黑体" pitchFamily="28"/>
              </a:rPr>
              <a:t>答案</a:t>
            </a:r>
            <a:r>
              <a:rPr lang="zh-CN" altLang="zh-CN" sz="2800" b="0" i="0" u="none" dirty="0">
                <a:solidFill>
                  <a:srgbClr val="0000FF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 2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m/s</a:t>
            </a:r>
            <a:r>
              <a:rPr lang="zh-CN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12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J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715" name="yt_shape_10715"/>
              <p:cNvSpPr txBox="1"/>
              <p:nvPr/>
            </p:nvSpPr>
            <p:spPr>
              <a:xfrm>
                <a:off x="324071" y="2218040"/>
                <a:ext cx="11924914" cy="3807132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marL="888365"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Times New Roman" pitchFamily="28"/>
                    <a:ea typeface="黑体" pitchFamily="28"/>
                  </a:rPr>
                  <a:t>解析</a:t>
                </a:r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宋体" pitchFamily="28"/>
                    <a:ea typeface="宋体" pitchFamily="28"/>
                  </a:rPr>
                  <a:t>：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 12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末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离开墙壁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物块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的速度为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m/s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之后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b8296"/>
                  </a:rPr>
                  <a:t>、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及弹簧组成的系统动量守恒和机械能守恒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当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与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速度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4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2_4e01f"/>
                  </a:rPr>
                  <a:t>相等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时弹簧的弹性势能最大。根据动量守恒定律有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="0" i="0" u="none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＝（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  <a:sym typeface="_⨹_1_da215"/>
                  </a:rPr>
                  <a:t>A</a:t>
                </a:r>
                <a:b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</a:b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="0" i="0" u="none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="0" i="0" u="none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4</a:t>
                </a:r>
              </a:p>
              <a:p>
                <a:pPr marL="888365"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根据机械能守恒定律得</a:t>
                </a:r>
              </a:p>
              <a:p>
                <a:pPr marL="888365" algn="l" eaLnBrk="1" latinLnBrk="0" hangingPunct="0">
                  <a:lnSpc>
                    <a:spcPct val="140000"/>
                  </a:lnSpc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="0" i="0" u="none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3</m:t>
                            </m:r>
                          </m:sub>
                        </m:sSub>
                      </m:e>
                      <m:sup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="0" i="0" u="none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="0" i="0" u="none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4</m:t>
                            </m:r>
                          </m:sub>
                        </m:sSub>
                      </m:e>
                      <m:sup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E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p</a:t>
                </a:r>
              </a:p>
            </p:txBody>
          </p:sp>
        </mc:Choice>
        <mc:Fallback xmlns:p15="http://schemas.microsoft.com/office/powerpoint/2012/main" xmlns:p14="http://schemas.microsoft.com/office/powerpoint/2010/main" xmlns:a16="http://schemas.microsoft.com/office/drawing/2014/main" xmlns="">
          <p:sp>
            <p:nvSpPr>
              <p:cNvPr id="10715" name="yt_shape_107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2218040"/>
                <a:ext cx="11924914" cy="3807132"/>
              </a:xfrm>
              <a:prstGeom prst="rect">
                <a:avLst/>
              </a:prstGeom>
              <a:blipFill>
                <a:blip r:embed="rId2"/>
                <a:stretch>
                  <a:fillRect t="-641" b="-224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717" name="yt_shape_10717"/>
          <p:cNvSpPr txBox="1"/>
          <p:nvPr/>
        </p:nvSpPr>
        <p:spPr>
          <a:xfrm>
            <a:off x="324000" y="6075960"/>
            <a:ext cx="5045612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marL="888365"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解得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en-US" altLang="zh-CN" sz="2800" b="0" i="0" u="none" baseline="-2500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4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m/s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E</a:t>
            </a:r>
            <a:r>
              <a:rPr lang="en-US" altLang="zh-CN" sz="2800" b="0" i="0" u="none" baseline="-2500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p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12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J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。</a:t>
            </a:r>
          </a:p>
        </p:txBody>
      </p:sp>
      <p:grpSp>
        <p:nvGrpSpPr>
          <p:cNvPr id="14" name="组合 13"/>
          <p:cNvGrpSpPr/>
          <p:nvPr/>
        </p:nvGrpSpPr>
        <p:grpSpPr>
          <a:xfrm>
            <a:off x="4146043" y="6427038"/>
            <a:ext cx="4181814" cy="288000"/>
            <a:chOff x="1463551" y="6425622"/>
            <a:chExt cx="4181814" cy="288000"/>
          </a:xfrm>
        </p:grpSpPr>
        <p:sp>
          <p:nvSpPr>
            <p:cNvPr id="10" name="d014e7d8-2f5c-4c9d-8b8c-8ea0047da32b" descr="{&quot;SlideID&quot;:&quot;318&quot;,&quot;SlideNumber&quot;:&quot;22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4635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381c0c6f-e11b-432b-924c-9b911a41f3a0" descr="{&quot;SlideID&quot;:&quot;320&quot;,&quot;SlideNumber&quot;:&quot;24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85353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bc4dcee2-2d63-4940-a76c-a6a52618e577" descr="{&quot;SlideID&quot;:&quot;322&quot;,&quot;SlideNumber&quot;:&quot;26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24351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457281d6-8415-41d9-bc1a-e6f16bbc3bda" descr="{&quot;SlideID&quot;:&quot;324&quot;,&quot;SlideNumber&quot;:&quot;28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63350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15289616-5c75-4ed9-a8b2-b8af859207cc" descr="{&quot;SlideID&quot;:&quot;326&quot;,&quot;SlideNumber&quot;:&quot;30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02348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2ada399f-6c0b-47f2-b42b-1565b9870e8c" descr="{&quot;SlideID&quot;:&quot;328&quot;,&quot;SlideNumber&quot;:&quot;32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41346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0c9f075f-dbf6-4df0-9a0d-b53de9f48dd1" descr="{&quot;SlideID&quot;:&quot;330&quot;,&quot;SlideNumber&quot;:&quot;34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8034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f658744c-442e-4de2-8a29-370c55029c33" descr="{&quot;SlideID&quot;:&quot;332&quot;,&quot;SlideNumber&quot;:&quot;36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1934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146dd853-11b5-46f3-a68a-bdd37e887961" descr="{&quot;SlideID&quot;:&quot;334&quot;,&quot;SlideNumber&quot;:&quot;38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58341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1372de39-5dc3-484d-a38a-bbf9db046778" descr="{&quot;SlideID&quot;:&quot;336&quot;,&quot;SlideNumber&quot;:&quot;40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973397" y="6425622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8d7afe6e-6366-4619-897f-26eee7103248" descr="{&quot;SlideID&quot;:&quot;339&quot;,&quot;SlideNumber&quot;:&quot;43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35736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3587452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:a14="http://schemas.microsoft.com/office/drawing/2010/main" xmlns:p14="http://schemas.microsoft.com/office/powerpoint/2010/main" xmlns:a16="http://schemas.microsoft.com/office/drawing/2014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07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107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107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714" grpId="0" build="allAtOnce"/>
      <p:bldP spid="10715" grpId="0"/>
      <p:bldP spid="10717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8" name="yt_shape_10718"/>
          <p:cNvSpPr txBox="1"/>
          <p:nvPr/>
        </p:nvSpPr>
        <p:spPr>
          <a:xfrm>
            <a:off x="324071" y="467999"/>
            <a:ext cx="11924914" cy="2925994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621665" indent="-621587" algn="l" eaLnBrk="1" latinLnBrk="0" hangingPunct="0">
              <a:lnSpc>
                <a:spcPct val="140000"/>
              </a:lnSpc>
            </a:pPr>
            <a:r>
              <a:rPr lang="en-US" altLang="zh-CN" sz="2800" b="0" i="0" u="none" spc="15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11</a:t>
            </a:r>
            <a:r>
              <a:rPr lang="en-US" altLang="zh-CN" sz="2800" b="0" i="0" u="none" spc="15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 spc="150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 spc="15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 spc="15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2025</a:t>
            </a:r>
            <a:r>
              <a:rPr lang="zh-CN" altLang="zh-CN" sz="2800" b="0" i="0" u="none" spc="150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zh-CN" altLang="zh-CN" sz="2800" b="0" i="0" u="none" spc="150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浙江杭州期中</a:t>
            </a:r>
            <a:r>
              <a:rPr lang="zh-CN" altLang="zh-CN" sz="2800" b="0" i="0" u="none" spc="15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 spc="15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光滑水平面上放着一异形物块</a:t>
            </a:r>
            <a:r>
              <a:rPr lang="en-US" altLang="zh-CN" sz="2800" b="0" i="0" u="none" spc="15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 spc="15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spc="15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3_c5783"/>
              </a:rPr>
              <a:t>其曲面</a:t>
            </a:r>
            <a:br>
              <a:rPr lang="zh-CN" altLang="zh-CN" sz="2800" b="0" i="0" u="none" spc="15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spc="15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是四分之一光滑圆弧</a:t>
            </a:r>
            <a:r>
              <a:rPr lang="zh-CN" altLang="zh-CN" sz="2800" b="0" i="0" u="none" spc="15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spc="15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在它的最低点放着一个静止的小球</a:t>
            </a:r>
            <a:r>
              <a:rPr lang="en-US" altLang="zh-CN" sz="2800" b="0" i="0" u="none" spc="15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c</a:t>
            </a:r>
            <a:r>
              <a:rPr lang="zh-CN" altLang="zh-CN" sz="2800" b="0" i="0" u="none" spc="15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spc="15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2_4533e"/>
              </a:rPr>
              <a:t>如图</a:t>
            </a:r>
            <a:br>
              <a:rPr lang="zh-CN" altLang="zh-CN" sz="2800" b="0" i="0" u="none" spc="15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spc="15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所示</a:t>
            </a:r>
            <a:r>
              <a:rPr lang="zh-CN" altLang="zh-CN" sz="2800" b="0" i="0" u="none" spc="15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 spc="15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滑块</a:t>
            </a:r>
            <a:r>
              <a:rPr lang="en-US" altLang="zh-CN" sz="2800" b="0" i="0" u="none" spc="15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 spc="15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以初速度</a:t>
            </a:r>
            <a:r>
              <a:rPr lang="en-US" altLang="zh-CN" sz="2800" b="0" i="1" u="none" spc="15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en-US" altLang="zh-CN" sz="2800" b="0" i="0" u="none" spc="150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0" i="0" u="none" spc="15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水平向左运动</a:t>
            </a:r>
            <a:r>
              <a:rPr lang="zh-CN" altLang="zh-CN" sz="2800" b="0" i="0" u="none" spc="15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spc="15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与</a:t>
            </a:r>
            <a:r>
              <a:rPr lang="en-US" altLang="zh-CN" sz="2800" b="0" i="0" u="none" spc="15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 spc="15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碰撞后迅速粘在一起</a:t>
            </a:r>
            <a:r>
              <a:rPr lang="zh-CN" altLang="zh-CN" sz="2800" b="0" i="0" u="none" spc="150">
                <a:solidFill>
                  <a:srgbClr val="000000"/>
                </a:solidFill>
                <a:effectLst/>
                <a:latin typeface="宋体" pitchFamily="28"/>
                <a:ea typeface="宋体" pitchFamily="28"/>
                <a:sym typeface="_⨹_1_c3250"/>
              </a:rPr>
              <a:t>。</a:t>
            </a:r>
            <a:br>
              <a:rPr lang="zh-CN" altLang="zh-CN" sz="2800" b="0" i="0" u="none" spc="15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</a:br>
            <a:r>
              <a:rPr lang="zh-CN" altLang="zh-CN" sz="2800" b="0" i="0" u="none" spc="15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已知</a:t>
            </a:r>
            <a:r>
              <a:rPr lang="en-US" altLang="zh-CN" sz="2800" b="0" i="0" u="none" spc="15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 spc="15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en-US" altLang="zh-CN" sz="2800" b="0" i="0" u="none" spc="15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 spc="15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en-US" altLang="zh-CN" sz="2800" b="0" i="0" u="none" spc="15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c</a:t>
            </a:r>
            <a:r>
              <a:rPr lang="zh-CN" altLang="zh-CN" sz="2800" b="0" i="0" u="none" spc="15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的质量均为</a:t>
            </a:r>
            <a:r>
              <a:rPr lang="en-US" altLang="zh-CN" sz="2800" b="0" i="1" u="none" spc="15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 spc="15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0" u="none" spc="15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 spc="15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en-US" altLang="zh-CN" sz="2800" b="0" i="0" u="none" spc="15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 spc="15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的碰撞时间极短</a:t>
            </a:r>
            <a:r>
              <a:rPr lang="zh-CN" altLang="zh-CN" sz="2800" b="0" i="0" u="none" spc="15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spc="15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小球</a:t>
            </a:r>
            <a:r>
              <a:rPr lang="en-US" altLang="zh-CN" sz="2800" b="0" i="0" u="none" spc="15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c</a:t>
            </a:r>
            <a:r>
              <a:rPr lang="zh-CN" altLang="zh-CN" sz="2800" b="0" i="0" u="none" spc="15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4_4636a"/>
              </a:rPr>
              <a:t>不能从物</a:t>
            </a:r>
            <a:br>
              <a:rPr lang="zh-CN" altLang="zh-CN" sz="2800" b="0" i="0" u="none" spc="15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spc="15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块</a:t>
            </a:r>
            <a:r>
              <a:rPr lang="en-US" altLang="zh-CN" sz="2800" b="0" i="0" u="none" spc="15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 spc="15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的上端离开</a:t>
            </a:r>
            <a:r>
              <a:rPr lang="zh-CN" altLang="zh-CN" sz="2800" b="0" i="0" u="none" spc="15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 spc="15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求</a:t>
            </a:r>
            <a:r>
              <a:rPr lang="zh-CN" altLang="zh-CN" sz="2800" b="0" i="0" u="none" spc="15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：</a:t>
            </a:r>
          </a:p>
        </p:txBody>
      </p:sp>
      <p:pic>
        <p:nvPicPr>
          <p:cNvPr id="10719" name="yt_image_10719">
            <a:extLst>
              <a:ext uri="">
                <a16:creationId xmlns:a14="http://schemas.microsoft.com/office/drawing/2010/main" xmlns:mc="http://schemas.openxmlformats.org/markup-compatibility/2006" xmlns:p15="http://schemas.microsoft.com/office/powerpoint/2012/main" xmlns:p14="http://schemas.microsoft.com/office/powerpoint/2010/main" xmlns:a16="http://schemas.microsoft.com/office/drawing/2014/main" xmlns="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466462" y="3597145"/>
            <a:ext cx="3259074" cy="1608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721" name="yt_shape_10721"/>
          <p:cNvSpPr txBox="1"/>
          <p:nvPr/>
        </p:nvSpPr>
        <p:spPr>
          <a:xfrm>
            <a:off x="324000" y="5255652"/>
            <a:ext cx="7587975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marL="1510030" indent="-888254"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的碰撞过程中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对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的冲量大小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；</a:t>
            </a:r>
          </a:p>
        </p:txBody>
      </p:sp>
      <p:grpSp>
        <p:nvGrpSpPr>
          <p:cNvPr id="14" name="组合 13"/>
          <p:cNvGrpSpPr/>
          <p:nvPr/>
        </p:nvGrpSpPr>
        <p:grpSpPr>
          <a:xfrm>
            <a:off x="4146043" y="6427038"/>
            <a:ext cx="4181814" cy="288000"/>
            <a:chOff x="1463551" y="6425622"/>
            <a:chExt cx="4181814" cy="288000"/>
          </a:xfrm>
        </p:grpSpPr>
        <p:sp>
          <p:nvSpPr>
            <p:cNvPr id="10" name="dad7423a-b584-4230-8bfd-5be8d57b6379" descr="{&quot;SlideID&quot;:&quot;318&quot;,&quot;SlideNumber&quot;:&quot;22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4635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10dff4b9-5d47-422d-8b2c-4ba5089f189a" descr="{&quot;SlideID&quot;:&quot;320&quot;,&quot;SlideNumber&quot;:&quot;24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85353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c8fa7042-72f6-496c-a01e-f150c758537e" descr="{&quot;SlideID&quot;:&quot;322&quot;,&quot;SlideNumber&quot;:&quot;26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24351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f2b76e34-71fe-47a9-b9e1-2d26e96281c7" descr="{&quot;SlideID&quot;:&quot;324&quot;,&quot;SlideNumber&quot;:&quot;28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63350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19848abd-897d-435f-8de1-0432322ae8ce" descr="{&quot;SlideID&quot;:&quot;326&quot;,&quot;SlideNumber&quot;:&quot;30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02348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f03d96cd-ff6b-4d27-aab2-60c810f9ffc4" descr="{&quot;SlideID&quot;:&quot;328&quot;,&quot;SlideNumber&quot;:&quot;32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41346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b1650b4a-a3c2-4f0a-97e4-8936d4154941" descr="{&quot;SlideID&quot;:&quot;330&quot;,&quot;SlideNumber&quot;:&quot;34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8034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06c0f85d-0688-4b4f-8365-5940b342fb3d" descr="{&quot;SlideID&quot;:&quot;332&quot;,&quot;SlideNumber&quot;:&quot;36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1934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c98ba846-78dc-4834-a0f4-be3bfa73c9e7" descr="{&quot;SlideID&quot;:&quot;334&quot;,&quot;SlideNumber&quot;:&quot;38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58341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7dbf911e-45a0-4951-bd9e-637667d4f5e0" descr="{&quot;SlideID&quot;:&quot;336&quot;,&quot;SlideNumber&quot;:&quot;40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97339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4796f01e-107a-4afe-8a13-9e4b5016b686" descr="{&quot;SlideID&quot;:&quot;339&quot;,&quot;SlideNumber&quot;:&quot;43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357365" y="6425622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8126234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:a16="http://schemas.microsoft.com/office/drawing/2014/main" xmlns:a14="http://schemas.microsoft.com/office/drawing/2010/main" xmlns:p14="http://schemas.microsoft.com/office/powerpoint/2010/main"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24" name="yt_shape_10724"/>
          <p:cNvSpPr txBox="1"/>
          <p:nvPr/>
        </p:nvSpPr>
        <p:spPr>
          <a:xfrm>
            <a:off x="284812" y="1251770"/>
            <a:ext cx="10301218" cy="1135439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marL="1510030" hangingPunct="0">
              <a:lnSpc>
                <a:spcPct val="140000"/>
              </a:lnSpc>
            </a:pPr>
            <a:r>
              <a:rPr lang="zh-CN" altLang="zh-CN" sz="2800" dirty="0">
                <a:solidFill>
                  <a:srgbClr val="0000FF"/>
                </a:solidFill>
                <a:latin typeface="Times New Roman" pitchFamily="28"/>
                <a:ea typeface="黑体" pitchFamily="28"/>
              </a:rPr>
              <a:t>解析</a:t>
            </a:r>
            <a:r>
              <a:rPr lang="zh-CN" altLang="zh-CN" sz="2800" dirty="0">
                <a:solidFill>
                  <a:srgbClr val="0000FF"/>
                </a:solidFill>
                <a:latin typeface="宋体" pitchFamily="28"/>
                <a:ea typeface="宋体" pitchFamily="28"/>
              </a:rPr>
              <a:t>：</a:t>
            </a:r>
            <a:r>
              <a:rPr lang="en-US" altLang="zh-CN" sz="2800" dirty="0">
                <a:solidFill>
                  <a:srgbClr val="C00000"/>
                </a:solidFill>
                <a:latin typeface="Times New Roman" pitchFamily="28"/>
                <a:ea typeface="宋体" pitchFamily="28"/>
              </a:rPr>
              <a:t> a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、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的碰撞过程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根据动量守恒定律有</a:t>
            </a:r>
            <a: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mv</a:t>
            </a:r>
            <a:r>
              <a:rPr lang="en-US" altLang="zh-CN" sz="2800" b="0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mv</a:t>
            </a:r>
            <a:r>
              <a:rPr lang="en-US" altLang="zh-CN" sz="2800" b="0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</a:p>
          <a:p>
            <a:pPr marL="1510030"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对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进行分析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根据动量定理有</a:t>
            </a:r>
            <a:r>
              <a:rPr lang="en-US" altLang="zh-CN" sz="2800" b="0" i="1" u="none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I</a:t>
            </a:r>
            <a:r>
              <a:rPr lang="en-US" altLang="zh-CN" sz="2800" b="0" i="0" u="none" baseline="-25000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ab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mv</a:t>
            </a:r>
            <a:r>
              <a:rPr lang="en-US" altLang="zh-CN" sz="2800" b="0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725" name="yt_shape_10725"/>
              <p:cNvSpPr txBox="1"/>
              <p:nvPr/>
            </p:nvSpPr>
            <p:spPr>
              <a:xfrm>
                <a:off x="284812" y="2437997"/>
                <a:ext cx="3998210" cy="790922"/>
              </a:xfrm>
              <a:prstGeom prst="rect">
                <a:avLst/>
              </a:prstGeom>
            </p:spPr>
            <p:txBody>
              <a:bodyPr vert="horz" wrap="none" lIns="0" tIns="0" rIns="0" bIns="0" rtlCol="0">
                <a:noAutofit/>
              </a:bodyPr>
              <a:lstStyle/>
              <a:p>
                <a:pPr marL="1510030"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解得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I</a:t>
                </a:r>
                <a:r>
                  <a:rPr lang="en-US" altLang="zh-CN" sz="2800" b="0" i="0" u="none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ab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mv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。</a:t>
                </a:r>
              </a:p>
            </p:txBody>
          </p:sp>
        </mc:Choice>
        <mc:Fallback xmlns:p14="http://schemas.microsoft.com/office/powerpoint/2010/main" xmlns:a16="http://schemas.microsoft.com/office/drawing/2014/main" xmlns="">
          <p:sp>
            <p:nvSpPr>
              <p:cNvPr id="10725" name="yt_shape_107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812" y="2437997"/>
                <a:ext cx="3998210" cy="790922"/>
              </a:xfrm>
              <a:prstGeom prst="rect">
                <a:avLst/>
              </a:prstGeom>
              <a:blipFill>
                <a:blip r:embed="rId2"/>
                <a:stretch>
                  <a:fillRect r="-4116" b="-1384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yt_shape_10722"/>
              <p:cNvSpPr txBox="1"/>
              <p:nvPr/>
            </p:nvSpPr>
            <p:spPr>
              <a:xfrm>
                <a:off x="284812" y="460848"/>
                <a:ext cx="3292889" cy="790922"/>
              </a:xfrm>
              <a:prstGeom prst="rect">
                <a:avLst/>
              </a:prstGeom>
            </p:spPr>
            <p:txBody>
              <a:bodyPr vert="horz" wrap="none" lIns="0" tIns="0" rIns="0" bIns="0" rtlCol="0">
                <a:noAutofit/>
              </a:bodyPr>
              <a:lstStyle/>
              <a:p>
                <a:pPr marL="1510030"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Times New Roman" pitchFamily="28"/>
                    <a:ea typeface="黑体" pitchFamily="28"/>
                  </a:rPr>
                  <a:t>答案</a:t>
                </a:r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宋体" pitchFamily="28"/>
                    <a:ea typeface="宋体" pitchFamily="28"/>
                  </a:rPr>
                  <a:t>：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mv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</a:p>
            </p:txBody>
          </p:sp>
        </mc:Choice>
        <mc:Fallback xmlns:p14="http://schemas.microsoft.com/office/powerpoint/2010/main" xmlns:a16="http://schemas.microsoft.com/office/drawing/2014/main" xmlns="">
          <p:sp>
            <p:nvSpPr>
              <p:cNvPr id="4" name="yt_shape_107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812" y="460848"/>
                <a:ext cx="3292889" cy="790922"/>
              </a:xfrm>
              <a:prstGeom prst="rect">
                <a:avLst/>
              </a:prstGeom>
              <a:blipFill>
                <a:blip r:embed="rId3"/>
                <a:stretch>
                  <a:fillRect r="-3519" b="-1472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组合 14"/>
          <p:cNvGrpSpPr/>
          <p:nvPr/>
        </p:nvGrpSpPr>
        <p:grpSpPr>
          <a:xfrm>
            <a:off x="4146043" y="6427038"/>
            <a:ext cx="4181814" cy="288000"/>
            <a:chOff x="1463551" y="6425622"/>
            <a:chExt cx="4181814" cy="288000"/>
          </a:xfrm>
        </p:grpSpPr>
        <p:sp>
          <p:nvSpPr>
            <p:cNvPr id="10" name="b0af8050-5864-4104-a2ed-c24b8e7c7db7" descr="{&quot;SlideID&quot;:&quot;318&quot;,&quot;SlideNumber&quot;:&quot;22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4635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2300e78e-01fc-4f5b-981d-c9029a42bbc3" descr="{&quot;SlideID&quot;:&quot;320&quot;,&quot;SlideNumber&quot;:&quot;24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85353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535cabfa-5516-4aa5-8170-e6a430e0b78c" descr="{&quot;SlideID&quot;:&quot;322&quot;,&quot;SlideNumber&quot;:&quot;26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24351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376bca93-5037-41d3-a915-f7667e008bb7" descr="{&quot;SlideID&quot;:&quot;324&quot;,&quot;SlideNumber&quot;:&quot;28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63350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91ff7f08-471c-4383-a2fd-73f11374ff53" descr="{&quot;SlideID&quot;:&quot;326&quot;,&quot;SlideNumber&quot;:&quot;30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02348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b8e92f01-349e-4839-adb7-32fba025a840" descr="{&quot;SlideID&quot;:&quot;328&quot;,&quot;SlideNumber&quot;:&quot;32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41346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63966acc-1382-48ed-9c7a-fddaca7b593c" descr="{&quot;SlideID&quot;:&quot;330&quot;,&quot;SlideNumber&quot;:&quot;34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8034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22ef4975-e0d4-4938-988b-42de9ae05b07" descr="{&quot;SlideID&quot;:&quot;332&quot;,&quot;SlideNumber&quot;:&quot;36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1934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91452175-f89c-41b1-9225-381c3f5d0761" descr="{&quot;SlideID&quot;:&quot;334&quot;,&quot;SlideNumber&quot;:&quot;38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58341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21265d10-7d26-4bdc-abdf-58f3be98ccb3" descr="{&quot;SlideID&quot;:&quot;336&quot;,&quot;SlideNumber&quot;:&quot;40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97339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677d919e-98f1-4b46-a77c-0d3ee4a3b615" descr="{&quot;SlideID&quot;:&quot;339&quot;,&quot;SlideNumber&quot;:&quot;43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357365" y="6425622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54873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07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107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724" grpId="0"/>
      <p:bldP spid="10725" grpId="0"/>
      <p:bldP spid="4" grpId="0" build="allAtOnce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27" name="yt_shape_10727"/>
          <p:cNvSpPr txBox="1"/>
          <p:nvPr/>
        </p:nvSpPr>
        <p:spPr>
          <a:xfrm>
            <a:off x="324000" y="467999"/>
            <a:ext cx="6242093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marL="888365" indent="-888254"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的碰撞过程中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对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做的功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；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728" name="yt_shape_10728"/>
              <p:cNvSpPr txBox="1"/>
              <p:nvPr/>
            </p:nvSpPr>
            <p:spPr>
              <a:xfrm>
                <a:off x="324000" y="1050984"/>
                <a:ext cx="3271665" cy="795924"/>
              </a:xfrm>
              <a:prstGeom prst="rect">
                <a:avLst/>
              </a:prstGeom>
            </p:spPr>
            <p:txBody>
              <a:bodyPr vert="horz" wrap="none" lIns="0" tIns="0" rIns="0" bIns="0" rtlCol="0">
                <a:noAutofit/>
              </a:bodyPr>
              <a:lstStyle/>
              <a:p>
                <a:pPr marL="888365"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Times New Roman" pitchFamily="28"/>
                    <a:ea typeface="黑体" pitchFamily="28"/>
                  </a:rPr>
                  <a:t>答案</a:t>
                </a:r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宋体" pitchFamily="28"/>
                    <a:ea typeface="宋体" pitchFamily="28"/>
                  </a:rPr>
                  <a:t>：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3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8</m:t>
                        </m:r>
                      </m:den>
                    </m:f>
                  </m:oMath>
                </a14:m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0</m:t>
                            </m:r>
                          </m:sub>
                        </m:sSub>
                      </m:e>
                      <m:sup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endParaRPr lang="en-US" altLang="zh-CN" sz="2800" b="0" i="1" u="none" dirty="0">
                  <a:solidFill>
                    <a:srgbClr val="FF0000"/>
                  </a:solidFill>
                  <a:effectLst/>
                  <a:latin typeface="Times New Roman" pitchFamily="28"/>
                  <a:ea typeface="宋体" pitchFamily="28"/>
                </a:endParaRPr>
              </a:p>
            </p:txBody>
          </p:sp>
        </mc:Choice>
        <mc:Fallback xmlns:p15="http://schemas.microsoft.com/office/powerpoint/2012/main" xmlns:p14="http://schemas.microsoft.com/office/powerpoint/2010/main" xmlns:a16="http://schemas.microsoft.com/office/drawing/2014/main" xmlns="">
          <p:sp>
            <p:nvSpPr>
              <p:cNvPr id="10728" name="yt_shape_107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00" y="1050984"/>
                <a:ext cx="3271665" cy="795924"/>
              </a:xfrm>
              <a:prstGeom prst="rect">
                <a:avLst/>
              </a:prstGeom>
              <a:blipFill>
                <a:blip r:embed="rId2"/>
                <a:stretch>
                  <a:fillRect b="-137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730" name="yt_shape_10730"/>
              <p:cNvSpPr txBox="1"/>
              <p:nvPr/>
            </p:nvSpPr>
            <p:spPr>
              <a:xfrm>
                <a:off x="324071" y="1897696"/>
                <a:ext cx="11924914" cy="1394164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marL="888365" hangingPunct="0">
                  <a:lnSpc>
                    <a:spcPct val="140000"/>
                  </a:lnSpc>
                </a:pPr>
                <a:r>
                  <a:rPr lang="zh-CN" altLang="zh-CN" sz="2800" dirty="0">
                    <a:solidFill>
                      <a:srgbClr val="0000FF"/>
                    </a:solidFill>
                    <a:latin typeface="Times New Roman" pitchFamily="28"/>
                    <a:ea typeface="黑体" pitchFamily="28"/>
                  </a:rPr>
                  <a:t>解析</a:t>
                </a:r>
                <a:r>
                  <a:rPr lang="zh-CN" altLang="zh-CN" sz="2800" dirty="0">
                    <a:solidFill>
                      <a:srgbClr val="0000FF"/>
                    </a:solidFill>
                    <a:latin typeface="宋体" pitchFamily="28"/>
                    <a:ea typeface="宋体" pitchFamily="28"/>
                  </a:rPr>
                  <a:t>：</a:t>
                </a:r>
                <a:r>
                  <a:rPr lang="en-US" altLang="zh-CN" sz="2800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 a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的碰撞过程中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对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进行分析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根据动能定理有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W</a:t>
                </a:r>
                <a:r>
                  <a:rPr lang="en-US" altLang="zh-CN" sz="2800" b="0" i="0" u="none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ba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dcd34"/>
                  </a:rPr>
                  <a:t>＝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1</m:t>
                            </m:r>
                          </m:sub>
                        </m:sSub>
                      </m:e>
                      <m:sup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0</m:t>
                            </m:r>
                          </m:sub>
                        </m:sSub>
                      </m:e>
                      <m:sup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endParaRPr lang="en-US" altLang="zh-CN" sz="2800" b="0" i="1" u="none" dirty="0">
                  <a:solidFill>
                    <a:srgbClr val="FF0000"/>
                  </a:solidFill>
                  <a:effectLst/>
                  <a:latin typeface="Times New Roman" pitchFamily="28"/>
                  <a:ea typeface="宋体" pitchFamily="28"/>
                </a:endParaRPr>
              </a:p>
            </p:txBody>
          </p:sp>
        </mc:Choice>
        <mc:Fallback xmlns:p15="http://schemas.microsoft.com/office/powerpoint/2012/main" xmlns:p14="http://schemas.microsoft.com/office/powerpoint/2010/main" xmlns:a16="http://schemas.microsoft.com/office/drawing/2014/main" xmlns="">
          <p:sp>
            <p:nvSpPr>
              <p:cNvPr id="10730" name="yt_shape_107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1897696"/>
                <a:ext cx="11924914" cy="1394164"/>
              </a:xfrm>
              <a:prstGeom prst="rect">
                <a:avLst/>
              </a:prstGeom>
              <a:blipFill>
                <a:blip r:embed="rId3"/>
                <a:stretch>
                  <a:fillRect t="-1747" b="-786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732" name="yt_shape_10732"/>
              <p:cNvSpPr txBox="1"/>
              <p:nvPr/>
            </p:nvSpPr>
            <p:spPr>
              <a:xfrm>
                <a:off x="2858989" y="2533681"/>
                <a:ext cx="4156522" cy="795924"/>
              </a:xfrm>
              <a:prstGeom prst="rect">
                <a:avLst/>
              </a:prstGeom>
            </p:spPr>
            <p:txBody>
              <a:bodyPr vert="horz" wrap="none" lIns="0" tIns="0" rIns="0" bIns="0" rtlCol="0">
                <a:noAutofit/>
              </a:bodyPr>
              <a:lstStyle/>
              <a:p>
                <a:pPr marL="888365"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解得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W</a:t>
                </a:r>
                <a:r>
                  <a:rPr lang="en-US" altLang="zh-CN" sz="2800" b="0" i="0" u="none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ba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＝－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3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8</m:t>
                        </m:r>
                      </m:den>
                    </m:f>
                  </m:oMath>
                </a14:m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0</m:t>
                            </m:r>
                          </m:sub>
                        </m:sSub>
                      </m:e>
                      <m:sup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。</a:t>
                </a:r>
              </a:p>
            </p:txBody>
          </p:sp>
        </mc:Choice>
        <mc:Fallback xmlns:p15="http://schemas.microsoft.com/office/powerpoint/2012/main" xmlns:p14="http://schemas.microsoft.com/office/powerpoint/2010/main" xmlns:a16="http://schemas.microsoft.com/office/drawing/2014/main" xmlns="">
          <p:sp>
            <p:nvSpPr>
              <p:cNvPr id="10732" name="yt_shape_1073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8989" y="2533681"/>
                <a:ext cx="4156522" cy="795924"/>
              </a:xfrm>
              <a:prstGeom prst="rect">
                <a:avLst/>
              </a:prstGeom>
              <a:blipFill>
                <a:blip r:embed="rId4"/>
                <a:stretch>
                  <a:fillRect r="-3666" b="-1384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734" name="yt_shape_10734"/>
          <p:cNvSpPr txBox="1"/>
          <p:nvPr/>
        </p:nvSpPr>
        <p:spPr>
          <a:xfrm>
            <a:off x="324000" y="3433393"/>
            <a:ext cx="4826642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marL="888365" indent="-888254"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小球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c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上升的最大高度</a:t>
            </a:r>
            <a:r>
              <a:rPr lang="en-US" altLang="zh-CN" sz="28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h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735" name="yt_shape_10735"/>
              <p:cNvSpPr txBox="1"/>
              <p:nvPr/>
            </p:nvSpPr>
            <p:spPr>
              <a:xfrm>
                <a:off x="324000" y="4016378"/>
                <a:ext cx="2534989" cy="937308"/>
              </a:xfrm>
              <a:prstGeom prst="rect">
                <a:avLst/>
              </a:prstGeom>
            </p:spPr>
            <p:txBody>
              <a:bodyPr vert="horz" wrap="none" lIns="0" tIns="0" rIns="0" bIns="0" rtlCol="0">
                <a:noAutofit/>
              </a:bodyPr>
              <a:lstStyle/>
              <a:p>
                <a:pPr marL="888365"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Times New Roman" pitchFamily="28"/>
                    <a:ea typeface="黑体" pitchFamily="28"/>
                  </a:rPr>
                  <a:t>答案</a:t>
                </a:r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宋体" pitchFamily="28"/>
                    <a:ea typeface="宋体" pitchFamily="28"/>
                  </a:rPr>
                  <a:t>：</a:t>
                </a:r>
                <a14:m>
                  <m:oMath xmlns:m="http://schemas.openxmlformats.org/officeDocument/2006/math">
                    <m:r>
                      <a:rPr lang="en-US" altLang="zh-CN" sz="2800" b="0" i="0" smtClean="0">
                        <a:solidFill>
                          <a:srgbClr val="C00000"/>
                        </a:solidFill>
                        <a:effectLst/>
                        <a:latin typeface="Cambria Math" panose="02040503050406030204" pitchFamily="56" charset="0"/>
                        <a:ea typeface="Cambria Math" panose="02040503050406030204" pitchFamily="56" charset="0"/>
                      </a:rPr>
                      <m:t> </m:t>
                    </m:r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altLang="zh-CN" sz="2800" b="0" i="1">
                                    <a:solidFill>
                                      <a:srgbClr val="C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56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800" b="0" i="1">
                                    <a:solidFill>
                                      <a:srgbClr val="C00000"/>
                                    </a:solidFill>
                                    <a:effectLst/>
                                    <a:latin typeface="Cambria Math" panose="02040503050406030204" pitchFamily="56" charset="0"/>
                                    <a:ea typeface="Cambria Math" panose="02040503050406030204" pitchFamily="56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altLang="zh-CN" sz="2800" b="0" i="0">
                                    <a:solidFill>
                                      <a:srgbClr val="C00000"/>
                                    </a:solidFill>
                                    <a:effectLst/>
                                    <a:latin typeface="Cambria Math" panose="02040503050406030204" pitchFamily="56" charset="0"/>
                                    <a:ea typeface="Cambria Math" panose="02040503050406030204" pitchFamily="56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12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𝑔</m:t>
                        </m:r>
                      </m:den>
                    </m:f>
                  </m:oMath>
                </a14:m>
                <a:endParaRPr lang="zh-CN" altLang="zh-CN" sz="2800" b="0" i="0" u="none" dirty="0">
                  <a:solidFill>
                    <a:srgbClr val="FF0000"/>
                  </a:solidFill>
                  <a:effectLst/>
                  <a:latin typeface="宋体" pitchFamily="28"/>
                  <a:ea typeface="宋体" pitchFamily="28"/>
                </a:endParaRPr>
              </a:p>
            </p:txBody>
          </p:sp>
        </mc:Choice>
        <mc:Fallback xmlns:p15="http://schemas.microsoft.com/office/powerpoint/2012/main" xmlns:p14="http://schemas.microsoft.com/office/powerpoint/2010/main" xmlns:a16="http://schemas.microsoft.com/office/drawing/2014/main" xmlns="">
          <p:sp>
            <p:nvSpPr>
              <p:cNvPr id="10735" name="yt_shape_1073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00" y="4016378"/>
                <a:ext cx="2534989" cy="937308"/>
              </a:xfrm>
              <a:prstGeom prst="rect">
                <a:avLst/>
              </a:prstGeom>
              <a:blipFill>
                <a:blip r:embed="rId5"/>
                <a:stretch>
                  <a:fillRect b="-389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yt_shape_10737"/>
              <p:cNvSpPr txBox="1"/>
              <p:nvPr/>
            </p:nvSpPr>
            <p:spPr>
              <a:xfrm>
                <a:off x="324000" y="5183690"/>
                <a:ext cx="10729860" cy="1394164"/>
              </a:xfrm>
              <a:prstGeom prst="rect">
                <a:avLst/>
              </a:prstGeom>
            </p:spPr>
            <p:txBody>
              <a:bodyPr vert="horz" wrap="none" lIns="0" tIns="0" rIns="0" bIns="0" rtlCol="0">
                <a:noAutofit/>
              </a:bodyPr>
              <a:lstStyle/>
              <a:p>
                <a:pPr marL="888365" hangingPunct="0">
                  <a:lnSpc>
                    <a:spcPct val="140000"/>
                  </a:lnSpc>
                </a:pPr>
                <a:r>
                  <a:rPr lang="zh-CN" altLang="zh-CN" sz="2800" dirty="0">
                    <a:solidFill>
                      <a:srgbClr val="0000FF"/>
                    </a:solidFill>
                    <a:latin typeface="Times New Roman" pitchFamily="28"/>
                    <a:ea typeface="黑体" pitchFamily="28"/>
                  </a:rPr>
                  <a:t>解析</a:t>
                </a:r>
                <a:r>
                  <a:rPr lang="zh-CN" altLang="zh-CN" sz="2800" dirty="0">
                    <a:solidFill>
                      <a:srgbClr val="0000FF"/>
                    </a:solidFill>
                    <a:latin typeface="宋体" pitchFamily="28"/>
                    <a:ea typeface="宋体" pitchFamily="28"/>
                  </a:rPr>
                  <a:t>：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对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构成的系统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根据动量守恒定律有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mv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mv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</a:p>
              <a:p>
                <a:pPr marL="888365"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根据能量守恒定律有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mgh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1</m:t>
                            </m:r>
                          </m:sub>
                        </m:sSub>
                      </m:e>
                      <m:sup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</m:sub>
                        </m:sSub>
                      </m:e>
                      <m:sup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endParaRPr lang="en-US" altLang="zh-CN" sz="2800" b="0" i="1" u="none" dirty="0">
                  <a:solidFill>
                    <a:srgbClr val="FF0000"/>
                  </a:solidFill>
                  <a:effectLst/>
                  <a:latin typeface="Times New Roman" pitchFamily="28"/>
                  <a:ea typeface="宋体" pitchFamily="28"/>
                </a:endParaRPr>
              </a:p>
            </p:txBody>
          </p:sp>
        </mc:Choice>
        <mc:Fallback xmlns:p15="http://schemas.microsoft.com/office/powerpoint/2012/main" xmlns:p14="http://schemas.microsoft.com/office/powerpoint/2010/main" xmlns:a16="http://schemas.microsoft.com/office/drawing/2014/main" xmlns="">
          <p:sp>
            <p:nvSpPr>
              <p:cNvPr id="8" name="yt_shape_1073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00" y="5183690"/>
                <a:ext cx="10729860" cy="1394164"/>
              </a:xfrm>
              <a:prstGeom prst="rect">
                <a:avLst/>
              </a:prstGeom>
              <a:blipFill>
                <a:blip r:embed="rId6"/>
                <a:stretch>
                  <a:fillRect t="-1747" r="-170" b="-786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yt_shape_10739"/>
              <p:cNvSpPr txBox="1"/>
              <p:nvPr/>
            </p:nvSpPr>
            <p:spPr>
              <a:xfrm>
                <a:off x="8058809" y="5640546"/>
                <a:ext cx="2995051" cy="937308"/>
              </a:xfrm>
              <a:prstGeom prst="rect">
                <a:avLst/>
              </a:prstGeom>
            </p:spPr>
            <p:txBody>
              <a:bodyPr vert="horz" wrap="none" lIns="0" tIns="0" rIns="0" bIns="0" rtlCol="0">
                <a:noAutofit/>
              </a:bodyPr>
              <a:lstStyle/>
              <a:p>
                <a:pPr marL="888365"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解得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h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altLang="zh-CN" sz="2800" b="0" i="1">
                                    <a:solidFill>
                                      <a:srgbClr val="C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56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800" b="0" i="1">
                                    <a:solidFill>
                                      <a:srgbClr val="C00000"/>
                                    </a:solidFill>
                                    <a:effectLst/>
                                    <a:latin typeface="Cambria Math" panose="02040503050406030204" pitchFamily="56" charset="0"/>
                                    <a:ea typeface="Cambria Math" panose="02040503050406030204" pitchFamily="56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altLang="zh-CN" sz="2800" b="0" i="0">
                                    <a:solidFill>
                                      <a:srgbClr val="C00000"/>
                                    </a:solidFill>
                                    <a:effectLst/>
                                    <a:latin typeface="Cambria Math" panose="02040503050406030204" pitchFamily="56" charset="0"/>
                                    <a:ea typeface="Cambria Math" panose="02040503050406030204" pitchFamily="56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12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𝑔</m:t>
                        </m:r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。</a:t>
                </a:r>
              </a:p>
            </p:txBody>
          </p:sp>
        </mc:Choice>
        <mc:Fallback xmlns:p15="http://schemas.microsoft.com/office/powerpoint/2012/main" xmlns:p14="http://schemas.microsoft.com/office/powerpoint/2010/main" xmlns:a16="http://schemas.microsoft.com/office/drawing/2014/main" xmlns="">
          <p:sp>
            <p:nvSpPr>
              <p:cNvPr id="9" name="yt_shape_1073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8809" y="5640546"/>
                <a:ext cx="2995051" cy="937308"/>
              </a:xfrm>
              <a:prstGeom prst="rect">
                <a:avLst/>
              </a:prstGeom>
              <a:blipFill>
                <a:blip r:embed="rId7"/>
                <a:stretch>
                  <a:fillRect r="-5906" b="-71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组合 15"/>
          <p:cNvGrpSpPr/>
          <p:nvPr/>
        </p:nvGrpSpPr>
        <p:grpSpPr>
          <a:xfrm>
            <a:off x="4146043" y="6427038"/>
            <a:ext cx="4181814" cy="288000"/>
            <a:chOff x="1463551" y="6425622"/>
            <a:chExt cx="4181814" cy="288000"/>
          </a:xfrm>
        </p:grpSpPr>
        <p:sp>
          <p:nvSpPr>
            <p:cNvPr id="10" name="f5463ae2-cb5d-460a-9fa5-d280cbb3a612" descr="{&quot;SlideID&quot;:&quot;318&quot;,&quot;SlideNumber&quot;:&quot;22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4635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8520e906-70ee-4708-8c9d-ddeab9df8de7" descr="{&quot;SlideID&quot;:&quot;320&quot;,&quot;SlideNumber&quot;:&quot;24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85353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77eeb4a7-43e6-4409-b835-f7fa79a525dc" descr="{&quot;SlideID&quot;:&quot;322&quot;,&quot;SlideNumber&quot;:&quot;26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24351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ec77e2bd-e21f-40c0-bb98-9d102eac1a16" descr="{&quot;SlideID&quot;:&quot;324&quot;,&quot;SlideNumber&quot;:&quot;28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63350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e0f4b530-080e-4ff1-9682-46566e979a48" descr="{&quot;SlideID&quot;:&quot;326&quot;,&quot;SlideNumber&quot;:&quot;30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02348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735440cc-f0ea-4f00-a7bd-e7a7a51aa3dc" descr="{&quot;SlideID&quot;:&quot;328&quot;,&quot;SlideNumber&quot;:&quot;32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41346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72a53cf4-c6c8-4b4f-85c9-e4a5a5a351be" descr="{&quot;SlideID&quot;:&quot;330&quot;,&quot;SlideNumber&quot;:&quot;34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8034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8b58c28b-cf5b-4b94-929f-b519b0bd3991" descr="{&quot;SlideID&quot;:&quot;332&quot;,&quot;SlideNumber&quot;:&quot;36&quot;}">
              <a:hlinkClick r:id="rId15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1934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c8aec52e-6e1d-4223-9b91-23d0df185042" descr="{&quot;SlideID&quot;:&quot;334&quot;,&quot;SlideNumber&quot;:&quot;38&quot;}">
              <a:hlinkClick r:id="rId16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58341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6cc98edb-cf53-48e8-a67e-21e18160af6c" descr="{&quot;SlideID&quot;:&quot;336&quot;,&quot;SlideNumber&quot;:&quot;40&quot;}">
              <a:hlinkClick r:id="rId17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97339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" name="fbc42ef5-f657-4bbd-8563-9cc2eaf5bfeb" descr="{&quot;SlideID&quot;:&quot;339&quot;,&quot;SlideNumber&quot;:&quot;43&quot;}">
              <a:hlinkClick r:id="rId18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357365" y="6425622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2729229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:a14="http://schemas.microsoft.com/office/drawing/2010/main" xmlns:p14="http://schemas.microsoft.com/office/powerpoint/2010/main" xmlns:a16="http://schemas.microsoft.com/office/drawing/2014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07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107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107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5" dur="500"/>
                                        <p:tgtEl>
                                          <p:spTgt spid="107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728" grpId="0" build="allAtOnce"/>
      <p:bldP spid="10730" grpId="0"/>
      <p:bldP spid="10732" grpId="0"/>
      <p:bldP spid="10735" grpId="0" build="allAtOnce"/>
      <p:bldP spid="8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00250"/>
            <a:ext cx="12211050" cy="2971800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7C2CE74F-02DD-4AC0-A86F-3C8DF00FACEC}"/>
              </a:ext>
            </a:extLst>
          </p:cNvPr>
          <p:cNvSpPr txBox="1"/>
          <p:nvPr/>
        </p:nvSpPr>
        <p:spPr>
          <a:xfrm>
            <a:off x="3348171" y="1981200"/>
            <a:ext cx="6712965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altLang="zh-CN" sz="13800" b="1" i="0" u="none" strike="noStrike" kern="1200" normalizeH="0" baseline="0" noProof="0" dirty="0">
                <a:ln w="10160">
                  <a:solidFill>
                    <a:schemeClr val="bg2"/>
                  </a:solidFill>
                  <a:prstDash val="solid"/>
                </a:ln>
                <a:gradFill flip="none" rotWithShape="1">
                  <a:gsLst>
                    <a:gs pos="0">
                      <a:srgbClr val="FFFFFF">
                        <a:shade val="30000"/>
                        <a:satMod val="115000"/>
                      </a:srgbClr>
                    </a:gs>
                    <a:gs pos="50000">
                      <a:srgbClr val="FFFFFF">
                        <a:shade val="67500"/>
                        <a:satMod val="115000"/>
                      </a:srgbClr>
                    </a:gs>
                    <a:gs pos="100000">
                      <a:srgbClr val="FFFFFF">
                        <a:shade val="100000"/>
                        <a:satMod val="115000"/>
                      </a:srgbClr>
                    </a:gs>
                  </a:gsLst>
                  <a:lin ang="0" scaled="1"/>
                  <a:tileRect/>
                </a:gra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Impact" panose="020B0806030902050204" pitchFamily="34" charset="0"/>
                <a:ea typeface="宋体" pitchFamily="2" charset="-122"/>
                <a:cs typeface="+mn-cs"/>
              </a:rPr>
              <a:t>THANKS</a:t>
            </a:r>
            <a:endParaRPr kumimoji="0" lang="zh-CN" altLang="en-US" sz="13800" b="1" i="0" u="none" strike="noStrike" kern="1200" normalizeH="0" baseline="0" noProof="0" dirty="0">
              <a:ln w="10160">
                <a:solidFill>
                  <a:schemeClr val="bg2"/>
                </a:solidFill>
                <a:prstDash val="solid"/>
              </a:ln>
              <a:gradFill flip="none" rotWithShape="1">
                <a:gsLst>
                  <a:gs pos="0">
                    <a:srgbClr val="FFFFFF">
                      <a:shade val="30000"/>
                      <a:satMod val="115000"/>
                    </a:srgbClr>
                  </a:gs>
                  <a:gs pos="50000">
                    <a:srgbClr val="FFFFFF">
                      <a:shade val="67500"/>
                      <a:satMod val="115000"/>
                    </a:srgbClr>
                  </a:gs>
                  <a:gs pos="100000">
                    <a:srgbClr val="FFFFFF">
                      <a:shade val="100000"/>
                      <a:satMod val="115000"/>
                    </a:srgbClr>
                  </a:gs>
                </a:gsLst>
                <a:lin ang="0" scaled="1"/>
                <a:tileRect/>
              </a:gra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Impact" panose="020B0806030902050204" pitchFamily="34" charset="0"/>
              <a:ea typeface="宋体" pitchFamily="2" charset="-122"/>
              <a:cs typeface="+mn-cs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78DE397-53CD-43DF-B436-EAF0D0085C34}"/>
              </a:ext>
            </a:extLst>
          </p:cNvPr>
          <p:cNvSpPr/>
          <p:nvPr/>
        </p:nvSpPr>
        <p:spPr>
          <a:xfrm>
            <a:off x="3280974" y="3089196"/>
            <a:ext cx="5931432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zh-CN" altLang="en-US" sz="5400" b="1" i="0" u="none" strike="noStrike" kern="1200" normalizeH="0" baseline="0" noProof="0" dirty="0">
                <a:ln w="6600">
                  <a:solidFill>
                    <a:schemeClr val="accent4">
                      <a:lumMod val="20000"/>
                      <a:lumOff val="80000"/>
                    </a:schemeClr>
                  </a:solidFill>
                  <a:prstDash val="solid"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dist="38100" dir="2700000" algn="tl" rotWithShape="0">
                    <a:schemeClr val="accent2"/>
                  </a:outerShdw>
                  <a:reflection blurRad="6350" stA="55000" endA="300" endPos="45500" dir="5400000" sy="-100000" algn="bl" rotWithShape="0"/>
                </a:effectLst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 Light" panose="020B0502040204020203" pitchFamily="34" charset="-122"/>
              </a:rPr>
              <a:t>演示完毕 感谢观看</a:t>
            </a:r>
          </a:p>
        </p:txBody>
      </p:sp>
    </p:spTree>
    <p:extLst>
      <p:ext uri="{BB962C8B-B14F-4D97-AF65-F5344CB8AC3E}">
        <p14:creationId xmlns:p14="http://schemas.microsoft.com/office/powerpoint/2010/main" val="419200967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:a16="http://schemas.microsoft.com/office/drawing/2014/main" xmlns:p14="http://schemas.microsoft.com/office/powerpoint/2010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426</TotalTime>
  <Words>5203</Words>
  <Application>Microsoft Macintosh PowerPoint</Application>
  <PresentationFormat>Widescreen</PresentationFormat>
  <Paragraphs>449</Paragraphs>
  <Slides>46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6" baseType="lpstr">
      <vt:lpstr>方正新报宋_GBK</vt:lpstr>
      <vt:lpstr>微软雅黑</vt:lpstr>
      <vt:lpstr>宋体</vt:lpstr>
      <vt:lpstr>华文细黑</vt:lpstr>
      <vt:lpstr>Aparajita</vt:lpstr>
      <vt:lpstr>Arial</vt:lpstr>
      <vt:lpstr>Cambria Math</vt:lpstr>
      <vt:lpstr>Impact</vt:lpstr>
      <vt:lpstr>Times New Roman</vt:lpstr>
      <vt:lpstr>Office 主题​​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三维设计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三维设计</dc:title>
  <dc:creator>三维设计</dc:creator>
  <cp:lastModifiedBy>Xingyu Shu</cp:lastModifiedBy>
  <cp:revision>64</cp:revision>
  <dcterms:created xsi:type="dcterms:W3CDTF">2025-04-22T02:39:12Z</dcterms:created>
  <dcterms:modified xsi:type="dcterms:W3CDTF">2026-09-23T07:02:40Z</dcterms:modified>
</cp:coreProperties>
</file>