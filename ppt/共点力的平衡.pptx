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306.xml" ContentType="application/vnd.openxmlformats-officedocument.presentationml.tags+xml"/>
  <Override PartName="/ppt/tags/tag308.xml" ContentType="application/vnd.openxmlformats-officedocument.presentationml.tags+xml"/>
  <Override PartName="/ppt/tags/tag312.xml" ContentType="application/vnd.openxmlformats-officedocument.presentationml.tags+xml"/>
  <Override PartName="/ppt/tags/tag1920.xml" ContentType="application/vnd.openxmlformats-officedocument.presentationml.tags+xml"/>
  <Override PartName="/ppt/tags/tag1930.xml" ContentType="application/vnd.openxmlformats-officedocument.presentationml.tags+xml"/>
  <Override PartName="/ppt/tags/tag37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1371" r:id="rId3"/>
    <p:sldId id="1373" r:id="rId4"/>
    <p:sldId id="259" r:id="rId5"/>
    <p:sldId id="1374" r:id="rId6"/>
    <p:sldId id="1375" r:id="rId7"/>
    <p:sldId id="1376" r:id="rId8"/>
    <p:sldId id="1377" r:id="rId9"/>
    <p:sldId id="13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3B570-CA86-7242-8571-95A554C9CA3C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02013E-E530-0440-8526-997873B76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43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甲、乙、丙、丁四幅图中分别画出了重力为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Times New Roman" panose="02020603050405020304" charset="0"/>
                <a:ea typeface="+mn-ea"/>
                <a:cs typeface="Times New Roman" panose="02020603050405020304" charset="0"/>
              </a:rPr>
              <a:t>G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的木棒在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拉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力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Times New Roman" panose="02020603050405020304" charset="0"/>
                <a:ea typeface="+mn-ea"/>
                <a:cs typeface="Times New Roman" panose="02020603050405020304" charset="0"/>
              </a:rPr>
              <a:t>F</a:t>
            </a:r>
            <a:r>
              <a:rPr lang="en-US" altLang="zh-CN" sz="1200" kern="1200" baseline="-25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i="1" kern="1200">
                <a:solidFill>
                  <a:schemeClr val="tx1"/>
                </a:solidFill>
                <a:effectLst/>
                <a:latin typeface="Times New Roman" panose="02020603050405020304" charset="0"/>
                <a:ea typeface="+mn-ea"/>
                <a:cs typeface="Times New Roman" panose="02020603050405020304" charset="0"/>
              </a:rPr>
              <a:t>F</a:t>
            </a:r>
            <a:r>
              <a:rPr lang="en-US" altLang="zh-CN" sz="1200" kern="1200" baseline="-250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的共同作用下处于平衡状态的情境，这些力都位于同一平面内。</a:t>
            </a:r>
          </a:p>
          <a:p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请你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仔细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观察一下四幅图中物体受力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特点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，并回答下面的问题：</a:t>
            </a:r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根据每幅图中各个力作用线的几何关系，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可以把上述四种情况的受力分成两类，请同学们判断一下哪些情况属于同一类？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你的判断依据是什么呢？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  <p:custDataLst>
              <p:tags r:id="rId3"/>
            </p:custDataLst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A540E3B-F9C0-48B6-A129-4D327DD3065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9BAE26-56B8-2430-61FE-210867C46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37BB5E0-8FB4-28ED-7516-8F1B6E2328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12B10A-941C-D939-27AC-6B15C7D3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9AD2BD-88C2-A651-59BE-1F23AE6AA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89C6D7-3953-E131-FC50-ABB0C76B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31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787BA6-2A8E-5FA0-58D6-C944834A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37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D54497-2070-1B06-6BF5-7537BD4B7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3081"/>
            <a:ext cx="10515600" cy="5811838"/>
          </a:xfrm>
        </p:spPr>
        <p:txBody>
          <a:bodyPr/>
          <a:lstStyle>
            <a:lvl1pPr marL="0" indent="0">
              <a:buNone/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defRPr baseline="0">
                <a:latin typeface="Times New Roman" panose="02020603050405020304" pitchFamily="18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E8D4BD-E88E-12E0-8F46-4ED0DD7A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0FAC07-7BC7-4FEA-4C23-59EAF4C59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4D76C5-DC12-60D9-043D-68225995A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945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037C5-4353-B18D-E7F6-50395C053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>
            <a:lvl1pPr algn="ctr"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95E053-2D55-7D42-832A-64D9FD71F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09B3BC-5091-C9EB-93DC-DAA2C048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9B95254-26E7-464E-C68E-165FA680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50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135E84-15A1-7FC9-AFAF-8FADC46CD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F478-0EFE-AC89-ED8A-29756B0B9E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BB167-44B9-706B-D666-89AE18CB9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E7B3BB-7A6E-45B9-71DF-CB6C64FB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162526-EB46-7571-519E-1D9919B8F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DE84E-A2DC-6924-24F0-2B97968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90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3554D5-D7A9-A1DD-900A-2FD838DA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b="1"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E7B749-E7A9-21B5-B42B-E0A39C25C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7C0BC1-B0B5-7AAD-E11A-81B8F71F4C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339032A-E84E-69B4-CBA0-AA0E80DEE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95D864D-D9D2-FFDB-0B84-6A573F795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228042-54E5-4EAA-2940-C44C5744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0899DAD-BFB9-32DF-3CE6-59BAD615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7AF6A48-CE64-6945-8AD6-C8258AA9A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96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/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0" y="0"/>
            <a:ext cx="556895" cy="639445"/>
          </a:xfrm>
          <a:custGeom>
            <a:avLst/>
            <a:gdLst>
              <a:gd name="T0" fmla="*/ 587 w 587"/>
              <a:gd name="T1" fmla="*/ 339 h 677"/>
              <a:gd name="T2" fmla="*/ 293 w 587"/>
              <a:gd name="T3" fmla="*/ 508 h 677"/>
              <a:gd name="T4" fmla="*/ 0 w 587"/>
              <a:gd name="T5" fmla="*/ 677 h 677"/>
              <a:gd name="T6" fmla="*/ 0 w 587"/>
              <a:gd name="T7" fmla="*/ 339 h 677"/>
              <a:gd name="T8" fmla="*/ 0 w 587"/>
              <a:gd name="T9" fmla="*/ 0 h 677"/>
              <a:gd name="T10" fmla="*/ 293 w 587"/>
              <a:gd name="T11" fmla="*/ 169 h 677"/>
              <a:gd name="T12" fmla="*/ 587 w 587"/>
              <a:gd name="T13" fmla="*/ 339 h 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87" h="677">
                <a:moveTo>
                  <a:pt x="587" y="339"/>
                </a:moveTo>
                <a:lnTo>
                  <a:pt x="293" y="508"/>
                </a:lnTo>
                <a:lnTo>
                  <a:pt x="0" y="677"/>
                </a:lnTo>
                <a:lnTo>
                  <a:pt x="0" y="339"/>
                </a:lnTo>
                <a:lnTo>
                  <a:pt x="0" y="0"/>
                </a:lnTo>
                <a:lnTo>
                  <a:pt x="293" y="169"/>
                </a:lnTo>
                <a:lnTo>
                  <a:pt x="587" y="339"/>
                </a:lnTo>
                <a:close/>
              </a:path>
            </a:pathLst>
          </a:custGeom>
          <a:solidFill>
            <a:srgbClr val="9A713C"/>
          </a:solidFill>
          <a:ln w="38100" cap="flat" cmpd="sng" algn="ctr">
            <a:noFill/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 lang="zh-CN" altLang="en-US" sz="2400">
              <a:latin typeface="微软雅黑" panose="020B0503020204020204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6463223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25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 flipV="1">
            <a:off x="1003394" y="743903"/>
            <a:ext cx="10841261" cy="60959"/>
          </a:xfrm>
          <a:prstGeom prst="rect">
            <a:avLst/>
          </a:prstGeom>
          <a:solidFill>
            <a:srgbClr val="9A713C"/>
          </a:solidFill>
          <a:ln w="9525" algn="ctr">
            <a:noFill/>
            <a:miter lim="800000"/>
          </a:ln>
        </p:spPr>
        <p:txBody>
          <a:bodyPr lIns="91436" tIns="45718" rIns="91436" bIns="45718" anchor="ctr"/>
          <a:lstStyle/>
          <a:p>
            <a:pPr marL="0" marR="0" lvl="0" indent="0" algn="ctr" defTabSz="68453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265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6093980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CBE4E-A6B1-4204-BBE4-D003F3715D6A}" type="slidenum">
              <a:rPr lang="en-US" altLang="zh-CN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121212"/>
      </p:ext>
    </p:extLst>
  </p:cSld>
  <p:clrMapOvr>
    <a:masterClrMapping/>
  </p:clrMapOvr>
  <p:transition>
    <p:checke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C416FE3-9FFB-D473-650E-C0FF0838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876DD-7317-1E24-5465-9C24EFCE5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8481CF-CAF6-E439-D9F9-98DE38F887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95057-F28B-4021-A46F-4C2D267CFC9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123095-2A83-7320-9954-6441CBEA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FB62F-A58A-E29F-AA4A-4628B2479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F9C8-72C8-4B1A-B60F-A2190CE5FB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4" r:id="rId4"/>
    <p:sldLayoutId id="2147483652" r:id="rId5"/>
    <p:sldLayoutId id="2147483653" r:id="rId6"/>
    <p:sldLayoutId id="2147483657" r:id="rId7"/>
    <p:sldLayoutId id="2147483658" r:id="rId8"/>
    <p:sldLayoutId id="214748365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image" Target="../media/image1.png"/><Relationship Id="rId2" Type="http://schemas.openxmlformats.org/officeDocument/2006/relationships/tags" Target="../tags/tag4.xml"/><Relationship Id="rId16" Type="http://schemas.openxmlformats.org/officeDocument/2006/relationships/notesSlide" Target="../notesSlides/notesSlide1.xml"/><Relationship Id="rId20" Type="http://schemas.openxmlformats.org/officeDocument/2006/relationships/image" Target="../media/image4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12.xml"/><Relationship Id="rId19" Type="http://schemas.openxmlformats.org/officeDocument/2006/relationships/image" Target="../media/image3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26" Type="http://schemas.openxmlformats.org/officeDocument/2006/relationships/tags" Target="../tags/tag45.xml"/><Relationship Id="rId39" Type="http://schemas.openxmlformats.org/officeDocument/2006/relationships/tags" Target="../tags/tag58.xml"/><Relationship Id="rId21" Type="http://schemas.openxmlformats.org/officeDocument/2006/relationships/tags" Target="../tags/tag40.xml"/><Relationship Id="rId34" Type="http://schemas.openxmlformats.org/officeDocument/2006/relationships/tags" Target="../tags/tag53.xml"/><Relationship Id="rId42" Type="http://schemas.openxmlformats.org/officeDocument/2006/relationships/tags" Target="../tags/tag61.xml"/><Relationship Id="rId47" Type="http://schemas.openxmlformats.org/officeDocument/2006/relationships/image" Target="../media/image5.gif"/><Relationship Id="rId50" Type="http://schemas.openxmlformats.org/officeDocument/2006/relationships/image" Target="../media/image8.png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9" Type="http://schemas.openxmlformats.org/officeDocument/2006/relationships/tags" Target="../tags/tag48.xml"/><Relationship Id="rId11" Type="http://schemas.openxmlformats.org/officeDocument/2006/relationships/tags" Target="../tags/tag30.xml"/><Relationship Id="rId24" Type="http://schemas.openxmlformats.org/officeDocument/2006/relationships/tags" Target="../tags/tag43.xml"/><Relationship Id="rId32" Type="http://schemas.openxmlformats.org/officeDocument/2006/relationships/tags" Target="../tags/tag51.xml"/><Relationship Id="rId37" Type="http://schemas.openxmlformats.org/officeDocument/2006/relationships/tags" Target="../tags/tag56.xml"/><Relationship Id="rId40" Type="http://schemas.openxmlformats.org/officeDocument/2006/relationships/tags" Target="../tags/tag59.xml"/><Relationship Id="rId45" Type="http://schemas.openxmlformats.org/officeDocument/2006/relationships/tags" Target="../tags/tag64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tags" Target="../tags/tag42.xml"/><Relationship Id="rId28" Type="http://schemas.openxmlformats.org/officeDocument/2006/relationships/tags" Target="../tags/tag47.xml"/><Relationship Id="rId36" Type="http://schemas.openxmlformats.org/officeDocument/2006/relationships/tags" Target="../tags/tag55.xml"/><Relationship Id="rId49" Type="http://schemas.openxmlformats.org/officeDocument/2006/relationships/image" Target="../media/image7.jpeg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31" Type="http://schemas.openxmlformats.org/officeDocument/2006/relationships/tags" Target="../tags/tag50.xml"/><Relationship Id="rId44" Type="http://schemas.openxmlformats.org/officeDocument/2006/relationships/tags" Target="../tags/tag63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tags" Target="../tags/tag41.xml"/><Relationship Id="rId27" Type="http://schemas.openxmlformats.org/officeDocument/2006/relationships/tags" Target="../tags/tag46.xml"/><Relationship Id="rId30" Type="http://schemas.openxmlformats.org/officeDocument/2006/relationships/tags" Target="../tags/tag49.xml"/><Relationship Id="rId35" Type="http://schemas.openxmlformats.org/officeDocument/2006/relationships/tags" Target="../tags/tag54.xml"/><Relationship Id="rId43" Type="http://schemas.openxmlformats.org/officeDocument/2006/relationships/tags" Target="../tags/tag62.xml"/><Relationship Id="rId48" Type="http://schemas.openxmlformats.org/officeDocument/2006/relationships/image" Target="../media/image6.png"/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5" Type="http://schemas.openxmlformats.org/officeDocument/2006/relationships/tags" Target="../tags/tag44.xml"/><Relationship Id="rId33" Type="http://schemas.openxmlformats.org/officeDocument/2006/relationships/tags" Target="../tags/tag52.xml"/><Relationship Id="rId38" Type="http://schemas.openxmlformats.org/officeDocument/2006/relationships/tags" Target="../tags/tag57.xml"/><Relationship Id="rId46" Type="http://schemas.openxmlformats.org/officeDocument/2006/relationships/slideLayout" Target="../slideLayouts/slideLayout8.xml"/><Relationship Id="rId20" Type="http://schemas.openxmlformats.org/officeDocument/2006/relationships/tags" Target="../tags/tag39.xml"/><Relationship Id="rId41" Type="http://schemas.openxmlformats.org/officeDocument/2006/relationships/tags" Target="../tags/tag60.xml"/><Relationship Id="rId1" Type="http://schemas.openxmlformats.org/officeDocument/2006/relationships/tags" Target="../tags/tag20.xml"/><Relationship Id="rId6" Type="http://schemas.openxmlformats.org/officeDocument/2006/relationships/tags" Target="../tags/tag2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65.xml"/><Relationship Id="rId6" Type="http://schemas.openxmlformats.org/officeDocument/2006/relationships/image" Target="../media/image19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3.xml"/><Relationship Id="rId13" Type="http://schemas.openxmlformats.org/officeDocument/2006/relationships/tags" Target="../tags/tag78.xml"/><Relationship Id="rId18" Type="http://schemas.openxmlformats.org/officeDocument/2006/relationships/tags" Target="../tags/tag83.xml"/><Relationship Id="rId26" Type="http://schemas.openxmlformats.org/officeDocument/2006/relationships/tags" Target="../tags/tag91.xml"/><Relationship Id="rId3" Type="http://schemas.openxmlformats.org/officeDocument/2006/relationships/tags" Target="../tags/tag68.xml"/><Relationship Id="rId21" Type="http://schemas.openxmlformats.org/officeDocument/2006/relationships/tags" Target="../tags/tag86.xml"/><Relationship Id="rId7" Type="http://schemas.openxmlformats.org/officeDocument/2006/relationships/tags" Target="../tags/tag72.xml"/><Relationship Id="rId12" Type="http://schemas.openxmlformats.org/officeDocument/2006/relationships/tags" Target="../tags/tag77.xml"/><Relationship Id="rId17" Type="http://schemas.openxmlformats.org/officeDocument/2006/relationships/tags" Target="../tags/tag82.xml"/><Relationship Id="rId25" Type="http://schemas.openxmlformats.org/officeDocument/2006/relationships/tags" Target="../tags/tag90.xml"/><Relationship Id="rId2" Type="http://schemas.openxmlformats.org/officeDocument/2006/relationships/tags" Target="../tags/tag67.xml"/><Relationship Id="rId16" Type="http://schemas.openxmlformats.org/officeDocument/2006/relationships/tags" Target="../tags/tag81.xml"/><Relationship Id="rId20" Type="http://schemas.openxmlformats.org/officeDocument/2006/relationships/tags" Target="../tags/tag85.xml"/><Relationship Id="rId29" Type="http://schemas.openxmlformats.org/officeDocument/2006/relationships/oleObject" Target="../embeddings/oleObject1.bin"/><Relationship Id="rId1" Type="http://schemas.openxmlformats.org/officeDocument/2006/relationships/tags" Target="../tags/tag66.xml"/><Relationship Id="rId6" Type="http://schemas.openxmlformats.org/officeDocument/2006/relationships/tags" Target="../tags/tag71.xml"/><Relationship Id="rId11" Type="http://schemas.openxmlformats.org/officeDocument/2006/relationships/tags" Target="../tags/tag76.xml"/><Relationship Id="rId24" Type="http://schemas.openxmlformats.org/officeDocument/2006/relationships/tags" Target="../tags/tag89.xml"/><Relationship Id="rId5" Type="http://schemas.openxmlformats.org/officeDocument/2006/relationships/tags" Target="../tags/tag70.xml"/><Relationship Id="rId15" Type="http://schemas.openxmlformats.org/officeDocument/2006/relationships/tags" Target="../tags/tag80.xml"/><Relationship Id="rId23" Type="http://schemas.openxmlformats.org/officeDocument/2006/relationships/tags" Target="../tags/tag88.xml"/><Relationship Id="rId28" Type="http://schemas.openxmlformats.org/officeDocument/2006/relationships/slideLayout" Target="../slideLayouts/slideLayout8.xml"/><Relationship Id="rId10" Type="http://schemas.openxmlformats.org/officeDocument/2006/relationships/tags" Target="../tags/tag75.xml"/><Relationship Id="rId19" Type="http://schemas.openxmlformats.org/officeDocument/2006/relationships/tags" Target="../tags/tag84.xml"/><Relationship Id="rId4" Type="http://schemas.openxmlformats.org/officeDocument/2006/relationships/tags" Target="../tags/tag69.xml"/><Relationship Id="rId9" Type="http://schemas.openxmlformats.org/officeDocument/2006/relationships/tags" Target="../tags/tag74.xml"/><Relationship Id="rId14" Type="http://schemas.openxmlformats.org/officeDocument/2006/relationships/tags" Target="../tags/tag79.xml"/><Relationship Id="rId22" Type="http://schemas.openxmlformats.org/officeDocument/2006/relationships/tags" Target="../tags/tag87.xml"/><Relationship Id="rId27" Type="http://schemas.openxmlformats.org/officeDocument/2006/relationships/tags" Target="../tags/tag92.xml"/><Relationship Id="rId30" Type="http://schemas.openxmlformats.org/officeDocument/2006/relationships/image" Target="../media/image1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openxmlformats.org/officeDocument/2006/relationships/tags" Target="../tags/tag105.xml"/><Relationship Id="rId18" Type="http://schemas.openxmlformats.org/officeDocument/2006/relationships/tags" Target="../tags/tag110.xml"/><Relationship Id="rId26" Type="http://schemas.openxmlformats.org/officeDocument/2006/relationships/slideLayout" Target="../slideLayouts/slideLayout8.xml"/><Relationship Id="rId3" Type="http://schemas.openxmlformats.org/officeDocument/2006/relationships/tags" Target="../tags/tag95.xml"/><Relationship Id="rId21" Type="http://schemas.openxmlformats.org/officeDocument/2006/relationships/tags" Target="../tags/tag113.xml"/><Relationship Id="rId7" Type="http://schemas.openxmlformats.org/officeDocument/2006/relationships/tags" Target="../tags/tag99.xml"/><Relationship Id="rId12" Type="http://schemas.openxmlformats.org/officeDocument/2006/relationships/tags" Target="../tags/tag104.xml"/><Relationship Id="rId17" Type="http://schemas.openxmlformats.org/officeDocument/2006/relationships/tags" Target="../tags/tag109.xml"/><Relationship Id="rId25" Type="http://schemas.openxmlformats.org/officeDocument/2006/relationships/tags" Target="../tags/tag117.xml"/><Relationship Id="rId2" Type="http://schemas.openxmlformats.org/officeDocument/2006/relationships/tags" Target="../tags/tag94.xml"/><Relationship Id="rId16" Type="http://schemas.openxmlformats.org/officeDocument/2006/relationships/tags" Target="../tags/tag108.xml"/><Relationship Id="rId20" Type="http://schemas.openxmlformats.org/officeDocument/2006/relationships/tags" Target="../tags/tag112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tags" Target="../tags/tag103.xml"/><Relationship Id="rId24" Type="http://schemas.openxmlformats.org/officeDocument/2006/relationships/tags" Target="../tags/tag116.xml"/><Relationship Id="rId5" Type="http://schemas.openxmlformats.org/officeDocument/2006/relationships/tags" Target="../tags/tag97.xml"/><Relationship Id="rId15" Type="http://schemas.openxmlformats.org/officeDocument/2006/relationships/tags" Target="../tags/tag107.xml"/><Relationship Id="rId23" Type="http://schemas.openxmlformats.org/officeDocument/2006/relationships/tags" Target="../tags/tag115.xml"/><Relationship Id="rId10" Type="http://schemas.openxmlformats.org/officeDocument/2006/relationships/tags" Target="../tags/tag102.xml"/><Relationship Id="rId19" Type="http://schemas.openxmlformats.org/officeDocument/2006/relationships/tags" Target="../tags/tag111.xml"/><Relationship Id="rId4" Type="http://schemas.openxmlformats.org/officeDocument/2006/relationships/tags" Target="../tags/tag96.xml"/><Relationship Id="rId9" Type="http://schemas.openxmlformats.org/officeDocument/2006/relationships/tags" Target="../tags/tag101.xml"/><Relationship Id="rId14" Type="http://schemas.openxmlformats.org/officeDocument/2006/relationships/tags" Target="../tags/tag106.xml"/><Relationship Id="rId22" Type="http://schemas.openxmlformats.org/officeDocument/2006/relationships/tags" Target="../tags/tag114.xml"/><Relationship Id="rId27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130.xml"/><Relationship Id="rId18" Type="http://schemas.openxmlformats.org/officeDocument/2006/relationships/tags" Target="../tags/tag135.xml"/><Relationship Id="rId26" Type="http://schemas.openxmlformats.org/officeDocument/2006/relationships/tags" Target="../tags/tag143.xml"/><Relationship Id="rId39" Type="http://schemas.openxmlformats.org/officeDocument/2006/relationships/tags" Target="../tags/tag156.xml"/><Relationship Id="rId21" Type="http://schemas.openxmlformats.org/officeDocument/2006/relationships/tags" Target="../tags/tag138.xml"/><Relationship Id="rId34" Type="http://schemas.openxmlformats.org/officeDocument/2006/relationships/tags" Target="../tags/tag151.xml"/><Relationship Id="rId42" Type="http://schemas.openxmlformats.org/officeDocument/2006/relationships/tags" Target="../tags/tag159.xml"/><Relationship Id="rId47" Type="http://schemas.openxmlformats.org/officeDocument/2006/relationships/tags" Target="../tags/tag308.xml"/><Relationship Id="rId50" Type="http://schemas.openxmlformats.org/officeDocument/2006/relationships/image" Target="../media/image200.png"/><Relationship Id="rId7" Type="http://schemas.openxmlformats.org/officeDocument/2006/relationships/tags" Target="../tags/tag124.xml"/><Relationship Id="rId2" Type="http://schemas.openxmlformats.org/officeDocument/2006/relationships/tags" Target="../tags/tag119.xml"/><Relationship Id="rId16" Type="http://schemas.openxmlformats.org/officeDocument/2006/relationships/tags" Target="../tags/tag133.xml"/><Relationship Id="rId29" Type="http://schemas.openxmlformats.org/officeDocument/2006/relationships/tags" Target="../tags/tag146.xml"/><Relationship Id="rId11" Type="http://schemas.openxmlformats.org/officeDocument/2006/relationships/tags" Target="../tags/tag128.xml"/><Relationship Id="rId24" Type="http://schemas.openxmlformats.org/officeDocument/2006/relationships/tags" Target="../tags/tag141.xml"/><Relationship Id="rId32" Type="http://schemas.openxmlformats.org/officeDocument/2006/relationships/tags" Target="../tags/tag149.xml"/><Relationship Id="rId37" Type="http://schemas.openxmlformats.org/officeDocument/2006/relationships/tags" Target="../tags/tag154.xml"/><Relationship Id="rId40" Type="http://schemas.openxmlformats.org/officeDocument/2006/relationships/tags" Target="../tags/tag157.xml"/><Relationship Id="rId45" Type="http://schemas.openxmlformats.org/officeDocument/2006/relationships/tags" Target="../tags/tag306.xml"/><Relationship Id="rId5" Type="http://schemas.openxmlformats.org/officeDocument/2006/relationships/tags" Target="../tags/tag122.xml"/><Relationship Id="rId15" Type="http://schemas.openxmlformats.org/officeDocument/2006/relationships/tags" Target="../tags/tag132.xml"/><Relationship Id="rId23" Type="http://schemas.openxmlformats.org/officeDocument/2006/relationships/tags" Target="../tags/tag140.xml"/><Relationship Id="rId28" Type="http://schemas.openxmlformats.org/officeDocument/2006/relationships/tags" Target="../tags/tag145.xml"/><Relationship Id="rId36" Type="http://schemas.openxmlformats.org/officeDocument/2006/relationships/tags" Target="../tags/tag153.xml"/><Relationship Id="rId49" Type="http://schemas.openxmlformats.org/officeDocument/2006/relationships/tags" Target="../tags/tag312.xml"/><Relationship Id="rId10" Type="http://schemas.openxmlformats.org/officeDocument/2006/relationships/tags" Target="../tags/tag127.xml"/><Relationship Id="rId19" Type="http://schemas.openxmlformats.org/officeDocument/2006/relationships/tags" Target="../tags/tag136.xml"/><Relationship Id="rId31" Type="http://schemas.openxmlformats.org/officeDocument/2006/relationships/tags" Target="../tags/tag148.xml"/><Relationship Id="rId44" Type="http://schemas.openxmlformats.org/officeDocument/2006/relationships/slideLayout" Target="../slideLayouts/slideLayout8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tags" Target="../tags/tag131.xml"/><Relationship Id="rId22" Type="http://schemas.openxmlformats.org/officeDocument/2006/relationships/tags" Target="../tags/tag139.xml"/><Relationship Id="rId27" Type="http://schemas.openxmlformats.org/officeDocument/2006/relationships/tags" Target="../tags/tag144.xml"/><Relationship Id="rId30" Type="http://schemas.openxmlformats.org/officeDocument/2006/relationships/tags" Target="../tags/tag147.xml"/><Relationship Id="rId35" Type="http://schemas.openxmlformats.org/officeDocument/2006/relationships/tags" Target="../tags/tag152.xml"/><Relationship Id="rId43" Type="http://schemas.openxmlformats.org/officeDocument/2006/relationships/tags" Target="../tags/tag160.xml"/><Relationship Id="rId48" Type="http://schemas.openxmlformats.org/officeDocument/2006/relationships/image" Target="../media/image190.png"/><Relationship Id="rId8" Type="http://schemas.openxmlformats.org/officeDocument/2006/relationships/tags" Target="../tags/tag125.xml"/><Relationship Id="rId3" Type="http://schemas.openxmlformats.org/officeDocument/2006/relationships/tags" Target="../tags/tag120.xml"/><Relationship Id="rId12" Type="http://schemas.openxmlformats.org/officeDocument/2006/relationships/tags" Target="../tags/tag129.xml"/><Relationship Id="rId17" Type="http://schemas.openxmlformats.org/officeDocument/2006/relationships/tags" Target="../tags/tag134.xml"/><Relationship Id="rId25" Type="http://schemas.openxmlformats.org/officeDocument/2006/relationships/tags" Target="../tags/tag142.xml"/><Relationship Id="rId33" Type="http://schemas.openxmlformats.org/officeDocument/2006/relationships/tags" Target="../tags/tag150.xml"/><Relationship Id="rId38" Type="http://schemas.openxmlformats.org/officeDocument/2006/relationships/tags" Target="../tags/tag155.xml"/><Relationship Id="rId46" Type="http://schemas.openxmlformats.org/officeDocument/2006/relationships/image" Target="../media/image18.png"/><Relationship Id="rId20" Type="http://schemas.openxmlformats.org/officeDocument/2006/relationships/tags" Target="../tags/tag137.xml"/><Relationship Id="rId41" Type="http://schemas.openxmlformats.org/officeDocument/2006/relationships/tags" Target="../tags/tag158.xml"/><Relationship Id="rId1" Type="http://schemas.openxmlformats.org/officeDocument/2006/relationships/tags" Target="../tags/tag118.xml"/><Relationship Id="rId6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73.xml"/><Relationship Id="rId18" Type="http://schemas.openxmlformats.org/officeDocument/2006/relationships/tags" Target="../tags/tag178.xml"/><Relationship Id="rId26" Type="http://schemas.openxmlformats.org/officeDocument/2006/relationships/tags" Target="../tags/tag186.xml"/><Relationship Id="rId39" Type="http://schemas.openxmlformats.org/officeDocument/2006/relationships/tags" Target="../tags/tag199.xml"/><Relationship Id="rId21" Type="http://schemas.openxmlformats.org/officeDocument/2006/relationships/tags" Target="../tags/tag181.xml"/><Relationship Id="rId34" Type="http://schemas.openxmlformats.org/officeDocument/2006/relationships/tags" Target="../tags/tag194.xml"/><Relationship Id="rId42" Type="http://schemas.openxmlformats.org/officeDocument/2006/relationships/image" Target="../media/image24.png"/><Relationship Id="rId7" Type="http://schemas.openxmlformats.org/officeDocument/2006/relationships/tags" Target="../tags/tag167.xml"/><Relationship Id="rId2" Type="http://schemas.openxmlformats.org/officeDocument/2006/relationships/tags" Target="../tags/tag162.xml"/><Relationship Id="rId16" Type="http://schemas.openxmlformats.org/officeDocument/2006/relationships/tags" Target="../tags/tag176.xml"/><Relationship Id="rId29" Type="http://schemas.openxmlformats.org/officeDocument/2006/relationships/tags" Target="../tags/tag189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tags" Target="../tags/tag171.xml"/><Relationship Id="rId24" Type="http://schemas.openxmlformats.org/officeDocument/2006/relationships/tags" Target="../tags/tag184.xml"/><Relationship Id="rId32" Type="http://schemas.openxmlformats.org/officeDocument/2006/relationships/tags" Target="../tags/tag192.xml"/><Relationship Id="rId37" Type="http://schemas.openxmlformats.org/officeDocument/2006/relationships/tags" Target="../tags/tag197.xml"/><Relationship Id="rId40" Type="http://schemas.openxmlformats.org/officeDocument/2006/relationships/slideLayout" Target="../slideLayouts/slideLayout8.xml"/><Relationship Id="rId45" Type="http://schemas.openxmlformats.org/officeDocument/2006/relationships/tags" Target="../tags/tag376.xml"/><Relationship Id="rId5" Type="http://schemas.openxmlformats.org/officeDocument/2006/relationships/tags" Target="../tags/tag165.xml"/><Relationship Id="rId15" Type="http://schemas.openxmlformats.org/officeDocument/2006/relationships/tags" Target="../tags/tag175.xml"/><Relationship Id="rId23" Type="http://schemas.openxmlformats.org/officeDocument/2006/relationships/tags" Target="../tags/tag183.xml"/><Relationship Id="rId28" Type="http://schemas.openxmlformats.org/officeDocument/2006/relationships/tags" Target="../tags/tag188.xml"/><Relationship Id="rId36" Type="http://schemas.openxmlformats.org/officeDocument/2006/relationships/tags" Target="../tags/tag196.xml"/><Relationship Id="rId10" Type="http://schemas.openxmlformats.org/officeDocument/2006/relationships/tags" Target="../tags/tag170.xml"/><Relationship Id="rId19" Type="http://schemas.openxmlformats.org/officeDocument/2006/relationships/tags" Target="../tags/tag179.xml"/><Relationship Id="rId31" Type="http://schemas.openxmlformats.org/officeDocument/2006/relationships/tags" Target="../tags/tag191.xml"/><Relationship Id="rId44" Type="http://schemas.openxmlformats.org/officeDocument/2006/relationships/image" Target="../media/image25.png"/><Relationship Id="rId4" Type="http://schemas.openxmlformats.org/officeDocument/2006/relationships/tags" Target="../tags/tag164.xml"/><Relationship Id="rId9" Type="http://schemas.openxmlformats.org/officeDocument/2006/relationships/tags" Target="../tags/tag169.xml"/><Relationship Id="rId14" Type="http://schemas.openxmlformats.org/officeDocument/2006/relationships/tags" Target="../tags/tag174.xml"/><Relationship Id="rId22" Type="http://schemas.openxmlformats.org/officeDocument/2006/relationships/tags" Target="../tags/tag182.xml"/><Relationship Id="rId27" Type="http://schemas.openxmlformats.org/officeDocument/2006/relationships/tags" Target="../tags/tag187.xml"/><Relationship Id="rId30" Type="http://schemas.openxmlformats.org/officeDocument/2006/relationships/tags" Target="../tags/tag190.xml"/><Relationship Id="rId35" Type="http://schemas.openxmlformats.org/officeDocument/2006/relationships/tags" Target="../tags/tag195.xml"/><Relationship Id="rId43" Type="http://schemas.openxmlformats.org/officeDocument/2006/relationships/tags" Target="../tags/tag1930.xml"/><Relationship Id="rId8" Type="http://schemas.openxmlformats.org/officeDocument/2006/relationships/tags" Target="../tags/tag168.xml"/><Relationship Id="rId3" Type="http://schemas.openxmlformats.org/officeDocument/2006/relationships/tags" Target="../tags/tag163.xml"/><Relationship Id="rId12" Type="http://schemas.openxmlformats.org/officeDocument/2006/relationships/tags" Target="../tags/tag172.xml"/><Relationship Id="rId17" Type="http://schemas.openxmlformats.org/officeDocument/2006/relationships/tags" Target="../tags/tag177.xml"/><Relationship Id="rId25" Type="http://schemas.openxmlformats.org/officeDocument/2006/relationships/tags" Target="../tags/tag185.xml"/><Relationship Id="rId33" Type="http://schemas.openxmlformats.org/officeDocument/2006/relationships/tags" Target="../tags/tag193.xml"/><Relationship Id="rId38" Type="http://schemas.openxmlformats.org/officeDocument/2006/relationships/tags" Target="../tags/tag198.xml"/><Relationship Id="rId46" Type="http://schemas.openxmlformats.org/officeDocument/2006/relationships/image" Target="../media/image200.png"/><Relationship Id="rId20" Type="http://schemas.openxmlformats.org/officeDocument/2006/relationships/tags" Target="../tags/tag180.xml"/><Relationship Id="rId41" Type="http://schemas.openxmlformats.org/officeDocument/2006/relationships/tags" Target="../tags/tag192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207.xml"/><Relationship Id="rId13" Type="http://schemas.openxmlformats.org/officeDocument/2006/relationships/image" Target="../media/image15.png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12" Type="http://schemas.openxmlformats.org/officeDocument/2006/relationships/image" Target="../media/image14.png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slideLayout" Target="../slideLayouts/slideLayout8.xml"/><Relationship Id="rId5" Type="http://schemas.openxmlformats.org/officeDocument/2006/relationships/tags" Target="../tags/tag204.xml"/><Relationship Id="rId10" Type="http://schemas.openxmlformats.org/officeDocument/2006/relationships/tags" Target="../tags/tag209.xml"/><Relationship Id="rId4" Type="http://schemas.openxmlformats.org/officeDocument/2006/relationships/tags" Target="../tags/tag203.xml"/><Relationship Id="rId9" Type="http://schemas.openxmlformats.org/officeDocument/2006/relationships/tags" Target="../tags/tag2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CE5DB-E719-2459-9D77-82B3A7BA2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共点力的平衡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55068-CBCC-FE5E-6F42-DC6F240C10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4868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9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93725" y="610870"/>
            <a:ext cx="6520180" cy="70739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indent="0" algn="l" defTabSz="914400" rtl="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下面四种情况的物体的受力有何特点？</a:t>
            </a: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97167" y="2715233"/>
            <a:ext cx="2433647" cy="25856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3427176" y="2715233"/>
            <a:ext cx="2434913" cy="258503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6088224" y="2715233"/>
            <a:ext cx="2457083" cy="26110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770176" y="2663925"/>
            <a:ext cx="2483053" cy="263761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2" name="Text Box 9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38771" y="5988186"/>
            <a:ext cx="6909647" cy="501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65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以上四种情况中物体均处于什么状态？</a:t>
            </a:r>
          </a:p>
        </p:txBody>
      </p: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1308616" y="3213364"/>
            <a:ext cx="1063576" cy="1972721"/>
          </a:xfrm>
          <a:prstGeom prst="line">
            <a:avLst/>
          </a:prstGeom>
          <a:ln w="28575">
            <a:solidFill>
              <a:srgbClr val="24B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>
            <p:custDataLst>
              <p:tags r:id="rId8"/>
            </p:custDataLst>
          </p:nvPr>
        </p:nvCxnSpPr>
        <p:spPr>
          <a:xfrm flipH="1">
            <a:off x="1623988" y="3300505"/>
            <a:ext cx="1130605" cy="1884877"/>
          </a:xfrm>
          <a:prstGeom prst="line">
            <a:avLst/>
          </a:prstGeom>
          <a:ln w="28575">
            <a:solidFill>
              <a:srgbClr val="24B0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>
            <p:custDataLst>
              <p:tags r:id="rId9"/>
            </p:custDataLst>
          </p:nvPr>
        </p:nvCxnSpPr>
        <p:spPr>
          <a:xfrm flipH="1">
            <a:off x="2005044" y="4093344"/>
            <a:ext cx="17516" cy="912344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云形标注 26"/>
          <p:cNvSpPr/>
          <p:nvPr>
            <p:custDataLst>
              <p:tags r:id="rId10"/>
            </p:custDataLst>
          </p:nvPr>
        </p:nvSpPr>
        <p:spPr>
          <a:xfrm>
            <a:off x="1624330" y="1512570"/>
            <a:ext cx="3485515" cy="1108075"/>
          </a:xfrm>
          <a:prstGeom prst="cloudCallout">
            <a:avLst>
              <a:gd name="adj1" fmla="val -10894"/>
              <a:gd name="adj2" fmla="val 11156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7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几个力的作用线交于一点</a:t>
            </a:r>
          </a:p>
        </p:txBody>
      </p:sp>
      <p:sp>
        <p:nvSpPr>
          <p:cNvPr id="20" name="云形标注 19"/>
          <p:cNvSpPr/>
          <p:nvPr>
            <p:custDataLst>
              <p:tags r:id="rId11"/>
            </p:custDataLst>
          </p:nvPr>
        </p:nvSpPr>
        <p:spPr>
          <a:xfrm>
            <a:off x="8538845" y="1026160"/>
            <a:ext cx="2945130" cy="1196975"/>
          </a:xfrm>
          <a:prstGeom prst="cloudCallout">
            <a:avLst>
              <a:gd name="adj1" fmla="val -1854"/>
              <a:gd name="adj2" fmla="val 125119"/>
            </a:avLst>
          </a:prstGeom>
          <a:solidFill>
            <a:srgbClr val="3B564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7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楷体" panose="02010609060101010101" charset="-122"/>
                <a:ea typeface="楷体" panose="02010609060101010101" charset="-122"/>
                <a:cs typeface="+mn-cs"/>
              </a:rPr>
              <a:t>几个力作用于同一点</a:t>
            </a:r>
          </a:p>
        </p:txBody>
      </p:sp>
      <p:grpSp>
        <p:nvGrpSpPr>
          <p:cNvPr id="9" name="组合 8"/>
          <p:cNvGrpSpPr/>
          <p:nvPr>
            <p:custDataLst>
              <p:tags r:id="rId12"/>
            </p:custDataLst>
          </p:nvPr>
        </p:nvGrpSpPr>
        <p:grpSpPr>
          <a:xfrm>
            <a:off x="7234237" y="5988186"/>
            <a:ext cx="2609215" cy="501650"/>
            <a:chOff x="12629" y="9043"/>
            <a:chExt cx="4109" cy="790"/>
          </a:xfrm>
        </p:grpSpPr>
        <p:sp>
          <p:nvSpPr>
            <p:cNvPr id="4" name="Text Box 9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140" y="9043"/>
              <a:ext cx="2599" cy="79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665" b="1" i="0" u="none" strike="noStrike" kern="120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平衡状态</a:t>
              </a:r>
            </a:p>
          </p:txBody>
        </p:sp>
        <p:sp>
          <p:nvSpPr>
            <p:cNvPr id="7" name="燕尾形 6"/>
            <p:cNvSpPr/>
            <p:nvPr>
              <p:custDataLst>
                <p:tags r:id="rId14"/>
              </p:custDataLst>
            </p:nvPr>
          </p:nvSpPr>
          <p:spPr>
            <a:xfrm>
              <a:off x="12629" y="9225"/>
              <a:ext cx="1019" cy="407"/>
            </a:xfrm>
            <a:prstGeom prst="chevron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F2B89195-5BFA-1537-C59A-00CC1F9D5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771" y="5338338"/>
            <a:ext cx="5699125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什么是共点力？</a:t>
            </a:r>
            <a:endParaRPr lang="en-US" altLang="zh-CN" sz="2800" b="1" baseline="-25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7" grpId="0" animBg="1"/>
      <p:bldP spid="20" grpId="0" animBg="1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87f52fc0ed2970f125c0995347af2c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8181108" y="2812060"/>
            <a:ext cx="2060787" cy="1160780"/>
          </a:xfrm>
          <a:prstGeom prst="rect">
            <a:avLst/>
          </a:prstGeom>
        </p:spPr>
      </p:pic>
      <p:pic>
        <p:nvPicPr>
          <p:cNvPr id="103" name="图片 102"/>
          <p:cNvPicPr preferRelativeResize="0"/>
          <p:nvPr>
            <p:custDataLst>
              <p:tags r:id="rId2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1342252" y="2327747"/>
            <a:ext cx="1843141" cy="1595760"/>
          </a:xfrm>
          <a:prstGeom prst="rect">
            <a:avLst/>
          </a:prstGeom>
          <a:ln w="38100" cap="sq">
            <a:noFill/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5" name="Line 6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 flipH="1">
            <a:off x="2315537" y="3364094"/>
            <a:ext cx="16863" cy="3683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301645" y="3620871"/>
            <a:ext cx="684107" cy="39878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995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G</a:t>
            </a:r>
            <a:endParaRPr kumimoji="1" lang="en-US" altLang="zh-CN" sz="1995" b="1" i="1" u="none" strike="noStrike" kern="1200" cap="none" spc="0" normalizeH="0" baseline="-2500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Line 8"/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 flipH="1">
            <a:off x="2413270" y="2697916"/>
            <a:ext cx="411611" cy="368300"/>
          </a:xfrm>
          <a:prstGeom prst="line">
            <a:avLst/>
          </a:prstGeom>
          <a:noFill/>
          <a:ln w="57150">
            <a:solidFill>
              <a:srgbClr val="00B0F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" name="Line 8"/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1882416" y="2640348"/>
            <a:ext cx="366379" cy="368300"/>
          </a:xfrm>
          <a:prstGeom prst="line">
            <a:avLst/>
          </a:prstGeom>
          <a:noFill/>
          <a:ln w="57150">
            <a:solidFill>
              <a:srgbClr val="00B0F0"/>
            </a:solidFill>
            <a:round/>
            <a:head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" name="Text Box 16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530550" y="2563020"/>
            <a:ext cx="526723" cy="3987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995" b="1" i="1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1995" b="1" i="0" u="none" strike="noStrike" kern="1200" cap="none" spc="0" normalizeH="0" baseline="-2500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1</a:t>
            </a:r>
          </a:p>
        </p:txBody>
      </p:sp>
      <p:sp>
        <p:nvSpPr>
          <p:cNvPr id="49" name="Text Box 16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820716" y="2599574"/>
            <a:ext cx="526723" cy="39878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995" b="1" i="1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F</a:t>
            </a:r>
            <a:r>
              <a:rPr kumimoji="0" lang="en-US" altLang="zh-CN" sz="1995" b="1" i="0" u="none" strike="noStrike" kern="1200" cap="none" spc="0" normalizeH="0" baseline="-2500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charset="0"/>
                <a:ea typeface="宋体" panose="02010600030101010101" pitchFamily="2" charset="-122"/>
                <a:cs typeface="+mn-cs"/>
              </a:rPr>
              <a:t>2</a:t>
            </a:r>
          </a:p>
        </p:txBody>
      </p:sp>
      <p:cxnSp>
        <p:nvCxnSpPr>
          <p:cNvPr id="75" name="直接连接符 74"/>
          <p:cNvCxnSpPr/>
          <p:nvPr>
            <p:custDataLst>
              <p:tags r:id="rId9"/>
            </p:custDataLst>
          </p:nvPr>
        </p:nvCxnSpPr>
        <p:spPr>
          <a:xfrm flipV="1">
            <a:off x="2001441" y="2468338"/>
            <a:ext cx="1038931" cy="1202860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10"/>
            </p:custDataLst>
          </p:nvPr>
        </p:nvCxnSpPr>
        <p:spPr>
          <a:xfrm>
            <a:off x="1722072" y="2390342"/>
            <a:ext cx="874920" cy="1261821"/>
          </a:xfrm>
          <a:prstGeom prst="line">
            <a:avLst/>
          </a:prstGeom>
          <a:ln w="38100">
            <a:solidFill>
              <a:srgbClr val="00206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>
            <p:custDataLst>
              <p:tags r:id="rId11"/>
            </p:custDataLst>
          </p:nvPr>
        </p:nvCxnSpPr>
        <p:spPr>
          <a:xfrm flipV="1">
            <a:off x="2340166" y="2793216"/>
            <a:ext cx="10940" cy="499437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>
            <p:custDataLst>
              <p:tags r:id="rId12"/>
            </p:custDataLst>
          </p:nvPr>
        </p:nvSpPr>
        <p:spPr>
          <a:xfrm>
            <a:off x="2273614" y="3268908"/>
            <a:ext cx="119617" cy="121183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79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0711" name="组合 70710"/>
          <p:cNvGrpSpPr/>
          <p:nvPr>
            <p:custDataLst>
              <p:tags r:id="rId13"/>
            </p:custDataLst>
          </p:nvPr>
        </p:nvGrpSpPr>
        <p:grpSpPr>
          <a:xfrm>
            <a:off x="5063948" y="2159130"/>
            <a:ext cx="1838536" cy="2174256"/>
            <a:chOff x="4215" y="1632"/>
            <a:chExt cx="1161" cy="1373"/>
          </a:xfrm>
        </p:grpSpPr>
        <p:sp>
          <p:nvSpPr>
            <p:cNvPr id="70712" name="文本框 70711"/>
            <p:cNvSpPr txBox="1"/>
            <p:nvPr>
              <p:custDataLst>
                <p:tags r:id="rId38"/>
              </p:custDataLst>
            </p:nvPr>
          </p:nvSpPr>
          <p:spPr>
            <a:xfrm>
              <a:off x="4713" y="2688"/>
              <a:ext cx="231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</a:p>
          </p:txBody>
        </p:sp>
        <p:sp>
          <p:nvSpPr>
            <p:cNvPr id="70713" name="文本框 70712"/>
            <p:cNvSpPr txBox="1"/>
            <p:nvPr>
              <p:custDataLst>
                <p:tags r:id="rId39"/>
              </p:custDataLst>
            </p:nvPr>
          </p:nvSpPr>
          <p:spPr>
            <a:xfrm>
              <a:off x="5091" y="1632"/>
              <a:ext cx="285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</a:p>
          </p:txBody>
        </p:sp>
        <p:sp>
          <p:nvSpPr>
            <p:cNvPr id="70714" name="矩形 70713" descr="栎木"/>
            <p:cNvSpPr/>
            <p:nvPr>
              <p:custDataLst>
                <p:tags r:id="rId40"/>
              </p:custDataLst>
            </p:nvPr>
          </p:nvSpPr>
          <p:spPr>
            <a:xfrm rot="1918854">
              <a:off x="4608" y="2160"/>
              <a:ext cx="288" cy="240"/>
            </a:xfrm>
            <a:prstGeom prst="rect">
              <a:avLst/>
            </a:prstGeom>
            <a:blipFill rotWithShape="0">
              <a:blip r:embed="rId49"/>
              <a:stretch>
                <a:fillRect/>
              </a:stretch>
            </a:blipFill>
            <a:ln w="9525">
              <a:noFill/>
            </a:ln>
          </p:spPr>
          <p:txBody>
            <a:bodyPr/>
            <a:lstStyle/>
            <a:p>
              <a:endParaRPr lang="zh-CN" altLang="en-US" sz="2665"/>
            </a:p>
          </p:txBody>
        </p:sp>
        <p:sp>
          <p:nvSpPr>
            <p:cNvPr id="70715" name="直角三角形 70714" descr="花岗岩"/>
            <p:cNvSpPr/>
            <p:nvPr>
              <p:custDataLst>
                <p:tags r:id="rId41"/>
              </p:custDataLst>
            </p:nvPr>
          </p:nvSpPr>
          <p:spPr>
            <a:xfrm>
              <a:off x="4227" y="2100"/>
              <a:ext cx="1053" cy="621"/>
            </a:xfrm>
            <a:prstGeom prst="rtTriangle">
              <a:avLst/>
            </a:prstGeom>
            <a:gradFill rotWithShape="0">
              <a:gsLst>
                <a:gs pos="0">
                  <a:srgbClr val="14CD68"/>
                </a:gs>
                <a:gs pos="100000">
                  <a:srgbClr val="035C7D"/>
                </a:gs>
              </a:gsLst>
              <a:lin ang="5400000" scaled="0"/>
            </a:gradFill>
            <a:ln w="9525">
              <a:noFill/>
            </a:ln>
          </p:spPr>
          <p:txBody>
            <a:bodyPr/>
            <a:lstStyle/>
            <a:p>
              <a:endParaRPr lang="zh-CN" altLang="en-US" sz="2665"/>
            </a:p>
          </p:txBody>
        </p:sp>
        <p:sp>
          <p:nvSpPr>
            <p:cNvPr id="70716" name="直接连接符 70715"/>
            <p:cNvSpPr/>
            <p:nvPr>
              <p:custDataLst>
                <p:tags r:id="rId42"/>
              </p:custDataLst>
            </p:nvPr>
          </p:nvSpPr>
          <p:spPr>
            <a:xfrm flipH="1">
              <a:off x="4740" y="2286"/>
              <a:ext cx="0" cy="567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oval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17" name="直接连接符 70716"/>
            <p:cNvSpPr/>
            <p:nvPr>
              <p:custDataLst>
                <p:tags r:id="rId43"/>
              </p:custDataLst>
            </p:nvPr>
          </p:nvSpPr>
          <p:spPr>
            <a:xfrm flipH="1" flipV="1">
              <a:off x="4416" y="2097"/>
              <a:ext cx="324" cy="189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oval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18" name="直接连接符 70717"/>
            <p:cNvSpPr/>
            <p:nvPr>
              <p:custDataLst>
                <p:tags r:id="rId44"/>
              </p:custDataLst>
            </p:nvPr>
          </p:nvSpPr>
          <p:spPr>
            <a:xfrm flipV="1">
              <a:off x="4740" y="1773"/>
              <a:ext cx="297" cy="513"/>
            </a:xfrm>
            <a:prstGeom prst="line">
              <a:avLst/>
            </a:prstGeom>
            <a:ln w="28575" cap="flat" cmpd="sng">
              <a:solidFill>
                <a:srgbClr val="3333FF"/>
              </a:solidFill>
              <a:prstDash val="solid"/>
              <a:headEnd type="oval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19" name="文本框 70718"/>
            <p:cNvSpPr txBox="1"/>
            <p:nvPr>
              <p:custDataLst>
                <p:tags r:id="rId45"/>
              </p:custDataLst>
            </p:nvPr>
          </p:nvSpPr>
          <p:spPr>
            <a:xfrm>
              <a:off x="4215" y="1932"/>
              <a:ext cx="40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 i="1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</a:p>
          </p:txBody>
        </p:sp>
      </p:grpSp>
      <p:sp>
        <p:nvSpPr>
          <p:cNvPr id="70721" name="直接连接符 70720"/>
          <p:cNvSpPr/>
          <p:nvPr>
            <p:custDataLst>
              <p:tags r:id="rId14"/>
            </p:custDataLst>
          </p:nvPr>
        </p:nvSpPr>
        <p:spPr>
          <a:xfrm>
            <a:off x="5901661" y="3185290"/>
            <a:ext cx="456071" cy="304048"/>
          </a:xfrm>
          <a:prstGeom prst="line">
            <a:avLst/>
          </a:prstGeom>
          <a:ln w="28575" cap="flat" cmpd="sng">
            <a:solidFill>
              <a:srgbClr val="FF3300"/>
            </a:solidFill>
            <a:prstDash val="sysDot"/>
            <a:headEnd type="none" w="med" len="med"/>
            <a:tailEnd type="stealth" w="med" len="med"/>
          </a:ln>
        </p:spPr>
        <p:txBody>
          <a:bodyPr/>
          <a:lstStyle/>
          <a:p>
            <a:endParaRPr/>
          </a:p>
        </p:txBody>
      </p:sp>
      <p:sp>
        <p:nvSpPr>
          <p:cNvPr id="70722" name="直接连接符 70721"/>
          <p:cNvSpPr/>
          <p:nvPr>
            <p:custDataLst>
              <p:tags r:id="rId15"/>
            </p:custDataLst>
          </p:nvPr>
        </p:nvSpPr>
        <p:spPr>
          <a:xfrm flipH="1">
            <a:off x="5504184" y="3147284"/>
            <a:ext cx="410147" cy="684107"/>
          </a:xfrm>
          <a:prstGeom prst="line">
            <a:avLst/>
          </a:prstGeom>
          <a:ln w="28575" cap="flat" cmpd="sng">
            <a:solidFill>
              <a:srgbClr val="FF3300"/>
            </a:solidFill>
            <a:prstDash val="sysDot"/>
            <a:headEnd type="none" w="med" len="med"/>
            <a:tailEnd type="stealth" w="med" len="med"/>
          </a:ln>
        </p:spPr>
        <p:txBody>
          <a:bodyPr/>
          <a:lstStyle/>
          <a:p>
            <a:endParaRPr/>
          </a:p>
        </p:txBody>
      </p:sp>
      <p:sp>
        <p:nvSpPr>
          <p:cNvPr id="70723" name="直接连接符 70722"/>
          <p:cNvSpPr/>
          <p:nvPr>
            <p:custDataLst>
              <p:tags r:id="rId16"/>
            </p:custDataLst>
          </p:nvPr>
        </p:nvSpPr>
        <p:spPr>
          <a:xfrm flipH="1">
            <a:off x="5930166" y="3451331"/>
            <a:ext cx="364224" cy="608095"/>
          </a:xfrm>
          <a:prstGeom prst="line">
            <a:avLst/>
          </a:prstGeom>
          <a:ln w="28575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70724" name="直接连接符 70723"/>
          <p:cNvSpPr/>
          <p:nvPr>
            <p:custDataLst>
              <p:tags r:id="rId17"/>
            </p:custDataLst>
          </p:nvPr>
        </p:nvSpPr>
        <p:spPr>
          <a:xfrm>
            <a:off x="5458260" y="3780716"/>
            <a:ext cx="456071" cy="304048"/>
          </a:xfrm>
          <a:prstGeom prst="line">
            <a:avLst/>
          </a:prstGeom>
          <a:ln w="28575" cap="flat" cmpd="sng">
            <a:solidFill>
              <a:srgbClr val="FF3300"/>
            </a:solidFill>
            <a:prstDash val="sysDot"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3" name="矩形标注 2"/>
          <p:cNvSpPr/>
          <p:nvPr>
            <p:custDataLst>
              <p:tags r:id="rId18"/>
            </p:custDataLst>
          </p:nvPr>
        </p:nvSpPr>
        <p:spPr>
          <a:xfrm>
            <a:off x="1222798" y="957793"/>
            <a:ext cx="8608907" cy="736599"/>
          </a:xfrm>
          <a:prstGeom prst="wedgeRectCallout">
            <a:avLst>
              <a:gd name="adj1" fmla="val -6375"/>
              <a:gd name="adj2" fmla="val 74454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Overflow="overflow" horzOverflow="overflow" vert="horz" wrap="square" lIns="60958" tIns="60958" rIns="60958" bIns="60958" numCol="1" spcCol="38100" rtlCol="0" anchor="ctr" forceAA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665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当物体受到</a:t>
            </a:r>
            <a:r>
              <a:rPr lang="zh-CN" altLang="en-US" sz="2665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多个力</a:t>
            </a:r>
            <a:r>
              <a:rPr lang="zh-CN" altLang="en-US" sz="2665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作用平衡时，它们的受力有何特点</a:t>
            </a:r>
            <a:r>
              <a:rPr lang="en-US" altLang="zh-CN" sz="2665" b="1" dirty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?</a:t>
            </a:r>
            <a:endParaRPr kumimoji="0" lang="en-US" altLang="zh-CN" sz="2665" b="1" i="0" u="none" strike="noStrike" cap="none" spc="0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grpSp>
        <p:nvGrpSpPr>
          <p:cNvPr id="70700" name="组合 70699"/>
          <p:cNvGrpSpPr/>
          <p:nvPr>
            <p:custDataLst>
              <p:tags r:id="rId19"/>
            </p:custDataLst>
          </p:nvPr>
        </p:nvGrpSpPr>
        <p:grpSpPr>
          <a:xfrm>
            <a:off x="7818013" y="2390552"/>
            <a:ext cx="3116485" cy="1946220"/>
            <a:chOff x="2064" y="1680"/>
            <a:chExt cx="1968" cy="1229"/>
          </a:xfrm>
        </p:grpSpPr>
        <p:sp>
          <p:nvSpPr>
            <p:cNvPr id="70702" name="直接连接符 70701"/>
            <p:cNvSpPr/>
            <p:nvPr>
              <p:custDataLst>
                <p:tags r:id="rId30"/>
              </p:custDataLst>
            </p:nvPr>
          </p:nvSpPr>
          <p:spPr>
            <a:xfrm flipH="1">
              <a:off x="2948" y="2352"/>
              <a:ext cx="1" cy="499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oval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03" name="直接连接符 70702"/>
            <p:cNvSpPr/>
            <p:nvPr>
              <p:custDataLst>
                <p:tags r:id="rId31"/>
              </p:custDataLst>
            </p:nvPr>
          </p:nvSpPr>
          <p:spPr>
            <a:xfrm>
              <a:off x="2948" y="2351"/>
              <a:ext cx="748" cy="1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04" name="文本框 70703"/>
            <p:cNvSpPr txBox="1"/>
            <p:nvPr>
              <p:custDataLst>
                <p:tags r:id="rId32"/>
              </p:custDataLst>
            </p:nvPr>
          </p:nvSpPr>
          <p:spPr>
            <a:xfrm>
              <a:off x="3696" y="2208"/>
              <a:ext cx="33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 i="1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665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705" name="文本框 70704"/>
            <p:cNvSpPr txBox="1"/>
            <p:nvPr>
              <p:custDataLst>
                <p:tags r:id="rId33"/>
              </p:custDataLst>
            </p:nvPr>
          </p:nvSpPr>
          <p:spPr>
            <a:xfrm>
              <a:off x="2064" y="2208"/>
              <a:ext cx="310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 i="1">
                  <a:latin typeface="Times New Roman" panose="02020603050405020304" charset="0"/>
                  <a:ea typeface="宋体" panose="02010600030101010101" pitchFamily="2" charset="-122"/>
                </a:rPr>
                <a:t>f</a:t>
              </a:r>
              <a:endParaRPr lang="en-US" altLang="zh-CN" sz="2665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706" name="文本框 70705"/>
            <p:cNvSpPr txBox="1"/>
            <p:nvPr>
              <p:custDataLst>
                <p:tags r:id="rId34"/>
              </p:custDataLst>
            </p:nvPr>
          </p:nvSpPr>
          <p:spPr>
            <a:xfrm>
              <a:off x="3002" y="1680"/>
              <a:ext cx="336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 i="1">
                  <a:latin typeface="Times New Roman" panose="02020603050405020304" charset="0"/>
                  <a:ea typeface="宋体" panose="02010600030101010101" pitchFamily="2" charset="-122"/>
                </a:rPr>
                <a:t>N</a:t>
              </a:r>
              <a:endParaRPr lang="en-US" altLang="zh-CN" sz="2665" i="1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707" name="直接连接符 70706"/>
            <p:cNvSpPr/>
            <p:nvPr>
              <p:custDataLst>
                <p:tags r:id="rId35"/>
              </p:custDataLst>
            </p:nvPr>
          </p:nvSpPr>
          <p:spPr>
            <a:xfrm flipV="1">
              <a:off x="2948" y="1843"/>
              <a:ext cx="1" cy="538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none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08" name="文本框 70707"/>
            <p:cNvSpPr txBox="1"/>
            <p:nvPr>
              <p:custDataLst>
                <p:tags r:id="rId36"/>
              </p:custDataLst>
            </p:nvPr>
          </p:nvSpPr>
          <p:spPr>
            <a:xfrm>
              <a:off x="3002" y="2592"/>
              <a:ext cx="285" cy="31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665">
                  <a:latin typeface="Times New Roman" panose="02020603050405020304" charset="0"/>
                  <a:ea typeface="宋体" panose="02010600030101010101" pitchFamily="2" charset="-122"/>
                </a:rPr>
                <a:t>G</a:t>
              </a:r>
              <a:endParaRPr lang="en-US" altLang="zh-CN" sz="2665" baseline="-25000">
                <a:latin typeface="Times New Roman" panose="02020603050405020304" charset="0"/>
                <a:ea typeface="宋体" panose="02010600030101010101" pitchFamily="2" charset="-122"/>
              </a:endParaRPr>
            </a:p>
          </p:txBody>
        </p:sp>
        <p:sp>
          <p:nvSpPr>
            <p:cNvPr id="70709" name="直接连接符 70708"/>
            <p:cNvSpPr/>
            <p:nvPr>
              <p:custDataLst>
                <p:tags r:id="rId37"/>
              </p:custDataLst>
            </p:nvPr>
          </p:nvSpPr>
          <p:spPr>
            <a:xfrm flipH="1">
              <a:off x="2282" y="2352"/>
              <a:ext cx="666" cy="10"/>
            </a:xfrm>
            <a:prstGeom prst="line">
              <a:avLst/>
            </a:prstGeom>
            <a:ln w="28575" cap="flat" cmpd="sng">
              <a:solidFill>
                <a:srgbClr val="FF3300"/>
              </a:solidFill>
              <a:prstDash val="solid"/>
              <a:headEnd type="oval" w="med" len="med"/>
              <a:tailEnd type="stealth" w="med" len="med"/>
            </a:ln>
          </p:spPr>
          <p:txBody>
            <a:bodyPr/>
            <a:lstStyle/>
            <a:p>
              <a:endParaRPr/>
            </a:p>
          </p:txBody>
        </p:sp>
      </p:grpSp>
      <p:sp>
        <p:nvSpPr>
          <p:cNvPr id="72707" name="文本框 72706"/>
          <p:cNvSpPr txBox="1"/>
          <p:nvPr>
            <p:custDataLst>
              <p:tags r:id="rId20"/>
            </p:custDataLst>
          </p:nvPr>
        </p:nvSpPr>
        <p:spPr>
          <a:xfrm>
            <a:off x="1217698" y="4623292"/>
            <a:ext cx="3578860" cy="50165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40000"/>
                    <a:lumOff val="60000"/>
                  </a:schemeClr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665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</a:rPr>
              <a:t>合力等于零</a:t>
            </a:r>
            <a:r>
              <a:rPr lang="en-US" altLang="zh-CN" sz="2665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</a:rPr>
              <a:t>,</a:t>
            </a:r>
            <a:r>
              <a:rPr lang="zh-CN" altLang="en-US" sz="2665" b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</a:rPr>
              <a:t>即</a:t>
            </a:r>
            <a:r>
              <a:rPr lang="en-US" altLang="zh-CN" sz="2665" b="1" i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</a:t>
            </a:r>
            <a:r>
              <a:rPr lang="zh-CN" altLang="zh-CN" sz="2665" b="1" baseline="-2500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合</a:t>
            </a:r>
            <a:r>
              <a:rPr lang="zh-CN" altLang="zh-CN" sz="2665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sz="2665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z="2665" b="1">
              <a:solidFill>
                <a:schemeClr val="tx1">
                  <a:lumMod val="95000"/>
                  <a:lumOff val="5000"/>
                </a:schemeClr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1687" name="矩形 71686"/>
          <p:cNvSpPr/>
          <p:nvPr>
            <p:custDataLst>
              <p:tags r:id="rId21"/>
            </p:custDataLst>
          </p:nvPr>
        </p:nvSpPr>
        <p:spPr>
          <a:xfrm>
            <a:off x="1091968" y="5378519"/>
            <a:ext cx="7636087" cy="50038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574675" indent="-574675">
              <a:spcBef>
                <a:spcPct val="20000"/>
              </a:spcBef>
            </a:pP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平衡状态的运动学特征：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v=0 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或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v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不变，即：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a=0</a:t>
            </a:r>
            <a:endParaRPr lang="zh-CN" altLang="en-US" sz="2665" b="1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8" name="燕尾形 7"/>
          <p:cNvSpPr/>
          <p:nvPr>
            <p:custDataLst>
              <p:tags r:id="rId22"/>
            </p:custDataLst>
          </p:nvPr>
        </p:nvSpPr>
        <p:spPr>
          <a:xfrm>
            <a:off x="4796134" y="4736746"/>
            <a:ext cx="1118447" cy="304799"/>
          </a:xfrm>
          <a:prstGeom prst="chevron">
            <a:avLst/>
          </a:prstGeom>
          <a:solidFill>
            <a:srgbClr val="00B050"/>
          </a:solidFill>
          <a:ln w="12700" cap="flat">
            <a:solidFill>
              <a:srgbClr val="BBE0E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60958" tIns="60958" rIns="60958" bIns="60958" numCol="1" spcCol="38100" rtlCol="0" anchor="ctr" forceAA="0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charset="-122"/>
              <a:ea typeface="微软雅黑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3"/>
            </p:custDataLst>
          </p:nvPr>
        </p:nvSpPr>
        <p:spPr>
          <a:xfrm>
            <a:off x="6052588" y="4623292"/>
            <a:ext cx="1484630" cy="5308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60958" tIns="60958" rIns="60958" bIns="60958" numCol="1" spcCol="38100" rtlCol="0" anchor="t" forceAA="0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665" b="1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平衡条件</a:t>
            </a:r>
            <a:endParaRPr kumimoji="0" lang="zh-CN" altLang="en-US" sz="2665" b="1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黑体" panose="02010609060101010101" charset="-122"/>
              <a:sym typeface="+mn-ea"/>
            </a:endParaRPr>
          </a:p>
        </p:txBody>
      </p:sp>
      <p:grpSp>
        <p:nvGrpSpPr>
          <p:cNvPr id="10" name="Group 28"/>
          <p:cNvGrpSpPr/>
          <p:nvPr>
            <p:custDataLst>
              <p:tags r:id="rId24"/>
            </p:custDataLst>
          </p:nvPr>
        </p:nvGrpSpPr>
        <p:grpSpPr>
          <a:xfrm>
            <a:off x="995519" y="6985"/>
            <a:ext cx="2358835" cy="711200"/>
            <a:chOff x="669" y="-10"/>
            <a:chExt cx="1511" cy="448"/>
          </a:xfrm>
        </p:grpSpPr>
        <p:sp>
          <p:nvSpPr>
            <p:cNvPr id="11" name="Rectangle 8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711" y="-10"/>
              <a:ext cx="1427" cy="448"/>
            </a:xfrm>
            <a:prstGeom prst="rect">
              <a:avLst/>
            </a:prstGeom>
            <a:solidFill>
              <a:srgbClr val="9A713C"/>
            </a:solidFill>
            <a:ln w="9525" algn="ctr">
              <a:noFill/>
              <a:miter lim="800000"/>
            </a:ln>
          </p:spPr>
          <p:txBody>
            <a:bodyPr lIns="121914" tIns="60957" rIns="121914" bIns="60957" anchor="ctr"/>
            <a:lstStyle/>
            <a:p>
              <a:pPr marL="0" marR="0" lvl="0" indent="0" algn="ctr" defTabSz="68453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12" name="TextBox 3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69" y="-10"/>
              <a:ext cx="1511" cy="4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平衡条件</a:t>
              </a:r>
            </a:p>
          </p:txBody>
        </p:sp>
      </p:grpSp>
      <p:sp>
        <p:nvSpPr>
          <p:cNvPr id="13" name="AutoShape 10"/>
          <p:cNvSpPr>
            <a:spLocks noChangeArrowheads="1"/>
          </p:cNvSpPr>
          <p:nvPr userDrawn="1">
            <p:custDataLst>
              <p:tags r:id="rId25"/>
            </p:custDataLst>
          </p:nvPr>
        </p:nvSpPr>
        <p:spPr bwMode="auto">
          <a:xfrm>
            <a:off x="12584" y="256109"/>
            <a:ext cx="917549" cy="701778"/>
          </a:xfrm>
          <a:prstGeom prst="flowChartOffpageConnector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 userDrawn="1">
            <p:custDataLst>
              <p:tags r:id="rId26"/>
            </p:custDataLst>
          </p:nvPr>
        </p:nvSpPr>
        <p:spPr bwMode="auto">
          <a:xfrm rot="16200000">
            <a:off x="91674" y="-93605"/>
            <a:ext cx="759439" cy="917549"/>
          </a:xfrm>
          <a:prstGeom prst="rect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kern="0" cap="none" spc="0" normalizeH="0" baseline="0" noProof="0" dirty="0">
                <a:solidFill>
                  <a:prstClr val="white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</a:p>
        </p:txBody>
      </p:sp>
      <p:pic>
        <p:nvPicPr>
          <p:cNvPr id="72708" name="New picture"/>
          <p:cNvPicPr/>
          <p:nvPr>
            <p:custDataLst>
              <p:tags r:id="rId27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12623800" y="11912600"/>
            <a:ext cx="330200" cy="241300"/>
          </a:xfrm>
          <a:prstGeom prst="cube">
            <a:avLst/>
          </a:pr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873FBB2-3DC6-A7F7-02F7-639CF86D2BA1}"/>
              </a:ext>
            </a:extLst>
          </p:cNvPr>
          <p:cNvSpPr txBox="1">
            <a:spLocks noChangeArrowheads="1"/>
          </p:cNvSpPr>
          <p:nvPr/>
        </p:nvSpPr>
        <p:spPr>
          <a:xfrm>
            <a:off x="1349464" y="1809033"/>
            <a:ext cx="3492500" cy="553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228" tIns="57614" rIns="115228" bIns="57614" anchor="ctr"/>
          <a:lstStyle>
            <a:defPPr>
              <a:defRPr lang="zh-CN"/>
            </a:defPPr>
            <a:lvl1pPr>
              <a:defRPr sz="2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ym typeface="隶书" panose="02010509060101010101" pitchFamily="49" charset="-122"/>
              </a:rPr>
              <a:t>合成法</a:t>
            </a:r>
            <a:endParaRPr lang="zh-CN" altLang="en-US" dirty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61BF19AD-6AC7-4F12-4F69-C03E02A87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3014" y="1697598"/>
            <a:ext cx="341630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5228" tIns="57614" rIns="115228" bIns="57614" anchor="ctr"/>
          <a:lstStyle>
            <a:lvl1pPr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分解法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0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7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7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27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16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42" grpId="0"/>
      <p:bldP spid="43" grpId="0" animBg="1"/>
      <p:bldP spid="47" grpId="0" animBg="1"/>
      <p:bldP spid="48" grpId="0"/>
      <p:bldP spid="49" grpId="0"/>
      <p:bldP spid="59" grpId="0" animBg="1"/>
      <p:bldP spid="72707" grpId="0" build="p"/>
      <p:bldP spid="71687" grpId="0" build="p"/>
      <p:bldP spid="8" grpId="0" animBg="1"/>
      <p:bldP spid="9" grpId="0"/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椭圆 21"/>
          <p:cNvSpPr/>
          <p:nvPr/>
        </p:nvSpPr>
        <p:spPr>
          <a:xfrm>
            <a:off x="4515156" y="4078522"/>
            <a:ext cx="1893887" cy="461963"/>
          </a:xfrm>
          <a:prstGeom prst="ellipse">
            <a:avLst/>
          </a:prstGeom>
          <a:noFill/>
          <a:ln w="28575"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4392918" y="4059472"/>
            <a:ext cx="2173288" cy="314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矩形 1"/>
              <p:cNvSpPr>
                <a:spLocks noChangeArrowheads="1"/>
              </p:cNvSpPr>
              <p:nvPr/>
            </p:nvSpPr>
            <p:spPr bwMode="auto">
              <a:xfrm>
                <a:off x="690135" y="1256351"/>
                <a:ext cx="9785350" cy="12840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例如：单摆摆动时，当摆球摆动到最高点时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=0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，但物体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不能</a:t>
                </a:r>
                <a:r>
                  <a:rPr lang="zh-CN" altLang="en-US" sz="2800" b="1" dirty="0">
                    <a:solidFill>
                      <a:schemeClr val="accent6">
                        <a:lumMod val="75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保持</a:t>
                </a:r>
                <a:r>
                  <a:rPr lang="zh-CN" altLang="en-US" sz="2800" b="1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静止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状态还会继续摆动。</a:t>
                </a:r>
              </a:p>
            </p:txBody>
          </p:sp>
        </mc:Choice>
        <mc:Fallback xmlns="">
          <p:sp>
            <p:nvSpPr>
              <p:cNvPr id="9223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135" y="1256351"/>
                <a:ext cx="9785350" cy="1284006"/>
              </a:xfrm>
              <a:prstGeom prst="rect">
                <a:avLst/>
              </a:prstGeom>
              <a:blipFill>
                <a:blip r:embed="rId3"/>
                <a:stretch>
                  <a:fillRect l="-1246" r="-312" b="-123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4" name="图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24668" y="2946635"/>
            <a:ext cx="2124075" cy="5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/>
        </p:nvCxnSpPr>
        <p:spPr>
          <a:xfrm flipH="1">
            <a:off x="4607231" y="3011722"/>
            <a:ext cx="855662" cy="11541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4400856" y="4165835"/>
            <a:ext cx="333375" cy="330200"/>
          </a:xfrm>
          <a:prstGeom prst="ellipse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12" name="直接连接符 11"/>
          <p:cNvCxnSpPr>
            <a:endCxn id="17" idx="0"/>
          </p:cNvCxnSpPr>
          <p:nvPr/>
        </p:nvCxnSpPr>
        <p:spPr>
          <a:xfrm>
            <a:off x="5486706" y="3003785"/>
            <a:ext cx="55562" cy="1349375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494643" y="3003785"/>
            <a:ext cx="927100" cy="116205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5375581" y="4353160"/>
            <a:ext cx="331787" cy="333375"/>
          </a:xfrm>
          <a:prstGeom prst="ellipse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6383643" y="4188060"/>
            <a:ext cx="331788" cy="330200"/>
          </a:xfrm>
          <a:prstGeom prst="ellipse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1" name="矩形 15"/>
              <p:cNvSpPr>
                <a:spLocks noChangeArrowheads="1"/>
              </p:cNvSpPr>
              <p:nvPr/>
            </p:nvSpPr>
            <p:spPr bwMode="auto">
              <a:xfrm>
                <a:off x="3663908" y="3789925"/>
                <a:ext cx="784189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</a:rPr>
                      <m:t>𝒗</m:t>
                    </m:r>
                  </m:oMath>
                </a14:m>
                <a:r>
                  <a:rPr lang="en-US" altLang="zh-CN" sz="2800" b="1">
                    <a:solidFill>
                      <a:srgbClr val="000000"/>
                    </a:solidFill>
                    <a:latin typeface="Times New Roman" panose="02020603050405020304" pitchFamily="18" charset="0"/>
                    <a:ea typeface="黑体" panose="02010609060101010101" pitchFamily="2" charset="-122"/>
                  </a:rPr>
                  <a:t>=0</a:t>
                </a:r>
                <a:endParaRPr lang="zh-CN" altLang="en-US"/>
              </a:p>
            </p:txBody>
          </p:sp>
        </mc:Choice>
        <mc:Fallback xmlns="">
          <p:sp>
            <p:nvSpPr>
              <p:cNvPr id="9231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63908" y="3789925"/>
                <a:ext cx="784189" cy="523220"/>
              </a:xfrm>
              <a:prstGeom prst="rect">
                <a:avLst/>
              </a:prstGeom>
              <a:blipFill>
                <a:blip r:embed="rId6"/>
                <a:stretch>
                  <a:fillRect t="-13953" r="-14729" b="-3023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32" name="矩形 24"/>
              <p:cNvSpPr>
                <a:spLocks noChangeArrowheads="1"/>
              </p:cNvSpPr>
              <p:nvPr/>
            </p:nvSpPr>
            <p:spPr bwMode="auto">
              <a:xfrm>
                <a:off x="690135" y="349894"/>
                <a:ext cx="9965165" cy="653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/>
                    <a:ea typeface="宋体" panose="02010600030101010101" pitchFamily="2" charset="-122"/>
                  </a:defRPr>
                </a:lvl9pPr>
              </a:lstStyle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思考讨论：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𝒗</m:t>
                    </m:r>
                  </m:oMath>
                </a14:m>
                <a:r>
                  <a:rPr lang="en-US" altLang="zh-CN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=0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时物体一定就是保持静止吗？</a:t>
                </a:r>
              </a:p>
            </p:txBody>
          </p:sp>
        </mc:Choice>
        <mc:Fallback xmlns="">
          <p:sp>
            <p:nvSpPr>
              <p:cNvPr id="9232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135" y="349894"/>
                <a:ext cx="9965165" cy="653449"/>
              </a:xfrm>
              <a:prstGeom prst="rect">
                <a:avLst/>
              </a:prstGeom>
              <a:blipFill>
                <a:blip r:embed="rId7"/>
                <a:stretch>
                  <a:fillRect l="-1223" b="-222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33" name="New picture"/>
          <p:cNvPicPr/>
          <p:nvPr/>
        </p:nvPicPr>
        <p:blipFill>
          <a:blip r:embed="rId8"/>
          <a:stretch>
            <a:fillRect/>
          </a:stretch>
        </p:blipFill>
        <p:spPr>
          <a:xfrm>
            <a:off x="10655300" y="11201400"/>
            <a:ext cx="317500" cy="228600"/>
          </a:xfrm>
          <a:prstGeom prst="cube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5F8BFBB9-4768-B16F-8302-65634988DBE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142577" y="5490640"/>
            <a:ext cx="6089015" cy="53086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60958" tIns="60958" rIns="60958" bIns="60958" numCol="1" spcCol="38100" rtlCol="0" anchor="t" forceAA="0">
            <a:spAutoFit/>
          </a:bodyPr>
          <a:lstStyle/>
          <a:p>
            <a:pPr marL="574675" indent="-574675">
              <a:spcBef>
                <a:spcPct val="20000"/>
              </a:spcBef>
            </a:pPr>
            <a:r>
              <a:rPr lang="zh-CN" altLang="en-US" sz="2665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注意：</a:t>
            </a:r>
            <a:r>
              <a:rPr lang="zh-CN" altLang="en-US" sz="2665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保持静止和瞬时速度为</a:t>
            </a:r>
            <a:r>
              <a:rPr lang="en-US" altLang="zh-CN" sz="2665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r>
              <a:rPr lang="zh-CN" altLang="en-US" sz="2665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意义不同</a:t>
            </a:r>
            <a:endParaRPr kumimoji="0" lang="zh-CN" altLang="en-US" sz="2665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9223" grpId="0"/>
      <p:bldP spid="5" grpId="0" animBg="1"/>
      <p:bldP spid="17" grpId="0" animBg="1"/>
      <p:bldP spid="18" grpId="0" animBg="1"/>
      <p:bldP spid="9231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4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0713" y="1030393"/>
            <a:ext cx="4974167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>
              <a:lnSpc>
                <a:spcPct val="120000"/>
              </a:lnSpc>
            </a:pP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共点力合力为</a:t>
            </a:r>
            <a:r>
              <a:rPr lang="en-US" altLang="zh-CN" sz="266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的具体表达形式</a:t>
            </a:r>
          </a:p>
        </p:txBody>
      </p:sp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618045" y="2092960"/>
            <a:ext cx="1766711" cy="3844713"/>
            <a:chOff x="3838" y="7648"/>
            <a:chExt cx="3459" cy="7371"/>
          </a:xfrm>
        </p:grpSpPr>
        <p:sp>
          <p:nvSpPr>
            <p:cNvPr id="9" name="文本框 1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3838" y="10577"/>
              <a:ext cx="2886" cy="1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 hangingPunct="0">
                <a:lnSpc>
                  <a:spcPct val="120000"/>
                </a:lnSpc>
              </a:pPr>
              <a:r>
                <a:rPr lang="en-US" altLang="zh-CN" sz="3200" b="1" i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F</a:t>
              </a:r>
              <a:r>
                <a:rPr lang="zh-CN" altLang="en-US" sz="3200" b="1" baseline="-2500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合 </a:t>
              </a:r>
              <a:r>
                <a:rPr lang="en-US" altLang="zh-CN" sz="3200" b="1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= 0 </a:t>
              </a:r>
            </a:p>
          </p:txBody>
        </p:sp>
        <p:sp>
          <p:nvSpPr>
            <p:cNvPr id="10" name="左大括号 9"/>
            <p:cNvSpPr/>
            <p:nvPr>
              <p:custDataLst>
                <p:tags r:id="rId27"/>
              </p:custDataLst>
            </p:nvPr>
          </p:nvSpPr>
          <p:spPr>
            <a:xfrm>
              <a:off x="6957" y="7648"/>
              <a:ext cx="340" cy="7371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just" hangingPunct="0">
                <a:lnSpc>
                  <a:spcPct val="120000"/>
                </a:lnSpc>
                <a:defRPr/>
              </a:pPr>
              <a:endParaRPr lang="zh-CN" altLang="en-US" sz="2665" b="1" noProof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2446856" y="2807545"/>
            <a:ext cx="2673897" cy="2308013"/>
            <a:chOff x="8601" y="8547"/>
            <a:chExt cx="5233" cy="4424"/>
          </a:xfrm>
        </p:grpSpPr>
        <p:sp>
          <p:nvSpPr>
            <p:cNvPr id="12" name="文本框 1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601" y="9958"/>
              <a:ext cx="5233" cy="11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 hangingPunct="0">
                <a:lnSpc>
                  <a:spcPct val="120000"/>
                </a:lnSpc>
              </a:pPr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</a:rPr>
                <a:t>物体受</a:t>
              </a:r>
              <a:r>
                <a:rPr lang="zh-CN" altLang="en-US" sz="2665" b="1">
                  <a:solidFill>
                    <a:srgbClr val="00B0F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三个</a:t>
              </a:r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</a:rPr>
                <a:t>力：</a:t>
              </a:r>
              <a:endParaRPr lang="zh-CN" altLang="en-US" sz="2665" b="1" baseline="-25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左大括号 12"/>
            <p:cNvSpPr/>
            <p:nvPr>
              <p:custDataLst>
                <p:tags r:id="rId25"/>
              </p:custDataLst>
            </p:nvPr>
          </p:nvSpPr>
          <p:spPr>
            <a:xfrm>
              <a:off x="13418" y="8547"/>
              <a:ext cx="340" cy="4424"/>
            </a:xfrm>
            <a:prstGeom prst="leftBrace">
              <a:avLst/>
            </a:prstGeom>
            <a:ln w="3810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just" hangingPunct="0">
                <a:lnSpc>
                  <a:spcPct val="120000"/>
                </a:lnSpc>
                <a:defRPr/>
              </a:pPr>
              <a:endParaRPr lang="zh-CN" altLang="en-US" sz="2665" b="1" noProof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14" name="文本框 1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82023" y="3400002"/>
            <a:ext cx="583184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>
              <a:lnSpc>
                <a:spcPct val="120000"/>
              </a:lnSpc>
            </a:pPr>
            <a:r>
              <a:rPr lang="zh-CN" altLang="zh-CN" sz="2665" b="1">
                <a:latin typeface="宋体" panose="02010600030101010101" pitchFamily="2" charset="-122"/>
                <a:ea typeface="宋体" panose="02010600030101010101" pitchFamily="2" charset="-122"/>
              </a:rPr>
              <a:t>三个力首尾相接构成一个闭合三角形</a:t>
            </a:r>
            <a:endParaRPr lang="zh-CN" altLang="zh-CN" sz="2665" b="1" baseline="-25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1693" y="2697692"/>
            <a:ext cx="6826673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>
              <a:lnSpc>
                <a:spcPct val="120000"/>
              </a:lnSpc>
            </a:pP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任意两个力的合力和第三个力是一对平衡力</a:t>
            </a:r>
            <a:endParaRPr lang="zh-CN" altLang="en-US" sz="2665" b="1" baseline="-25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>
            <p:custDataLst>
              <p:tags r:id="rId6"/>
            </p:custDataLst>
          </p:nvPr>
        </p:nvGrpSpPr>
        <p:grpSpPr>
          <a:xfrm>
            <a:off x="5261698" y="4032432"/>
            <a:ext cx="3466754" cy="1082905"/>
            <a:chOff x="15457" y="11313"/>
            <a:chExt cx="6784" cy="2075"/>
          </a:xfrm>
        </p:grpSpPr>
        <p:sp>
          <p:nvSpPr>
            <p:cNvPr id="17" name="文本框 1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5457" y="11950"/>
              <a:ext cx="3963" cy="11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hangingPunct="0">
                <a:lnSpc>
                  <a:spcPct val="120000"/>
                </a:lnSpc>
              </a:pPr>
              <a:r>
                <a:rPr lang="zh-CN" altLang="zh-CN" sz="2665" b="1">
                  <a:latin typeface="宋体" panose="02010600030101010101" pitchFamily="2" charset="-122"/>
                  <a:ea typeface="宋体" panose="02010600030101010101" pitchFamily="2" charset="-122"/>
                </a:rPr>
                <a:t>正交分解：</a:t>
              </a:r>
              <a:endParaRPr lang="zh-CN" altLang="zh-CN" sz="2665" b="1" baseline="-25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8" name="左大括号 17"/>
            <p:cNvSpPr/>
            <p:nvPr>
              <p:custDataLst>
                <p:tags r:id="rId22"/>
              </p:custDataLst>
            </p:nvPr>
          </p:nvSpPr>
          <p:spPr>
            <a:xfrm>
              <a:off x="19079" y="11686"/>
              <a:ext cx="340" cy="1702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just" hangingPunct="0">
                <a:lnSpc>
                  <a:spcPct val="120000"/>
                </a:lnSpc>
                <a:defRPr/>
              </a:pPr>
              <a:endParaRPr lang="zh-CN" altLang="en-US" sz="2665" b="1" noProof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9" name="文本框 1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19419" y="11313"/>
              <a:ext cx="2822" cy="20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 hangingPunct="0">
                <a:lnSpc>
                  <a:spcPct val="120000"/>
                </a:lnSpc>
              </a:pPr>
              <a:r>
                <a:rPr lang="en-US" altLang="zh-CN" sz="2665" b="1" i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F</a:t>
              </a:r>
              <a:r>
                <a:rPr lang="en-US" altLang="zh-CN" sz="2665" b="1" baseline="-250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x 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= 0</a:t>
              </a:r>
            </a:p>
            <a:p>
              <a:pPr algn="just" hangingPunct="0">
                <a:lnSpc>
                  <a:spcPct val="120000"/>
                </a:lnSpc>
              </a:pPr>
              <a:r>
                <a:rPr lang="en-US" altLang="zh-CN" sz="2665" b="1" i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F</a:t>
              </a:r>
              <a:r>
                <a:rPr lang="en-US" altLang="zh-CN" sz="2665" b="1" baseline="-250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y 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= 0</a:t>
              </a:r>
            </a:p>
          </p:txBody>
        </p:sp>
      </p:grpSp>
      <p:sp>
        <p:nvSpPr>
          <p:cNvPr id="20" name="文本框 18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503593" y="5544820"/>
            <a:ext cx="367284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 hangingPunct="0">
              <a:lnSpc>
                <a:spcPct val="120000"/>
              </a:lnSpc>
            </a:pP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物体受</a:t>
            </a:r>
            <a:r>
              <a:rPr lang="zh-CN" altLang="en-US" sz="2665" b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多个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力时：</a:t>
            </a:r>
            <a:endParaRPr lang="zh-CN" altLang="en-US" sz="2665" b="1" baseline="-250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8"/>
            </p:custDataLst>
          </p:nvPr>
        </p:nvGrpSpPr>
        <p:grpSpPr>
          <a:xfrm>
            <a:off x="5369528" y="5270401"/>
            <a:ext cx="3393699" cy="1076570"/>
            <a:chOff x="10912" y="14934"/>
            <a:chExt cx="6640" cy="2066"/>
          </a:xfrm>
        </p:grpSpPr>
        <p:sp>
          <p:nvSpPr>
            <p:cNvPr id="22" name="文本框 19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912" y="15407"/>
              <a:ext cx="3817" cy="1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just" hangingPunct="0">
                <a:lnSpc>
                  <a:spcPct val="120000"/>
                </a:lnSpc>
              </a:pPr>
              <a:r>
                <a:rPr lang="zh-CN" altLang="zh-CN" sz="2665" b="1">
                  <a:latin typeface="宋体" panose="02010600030101010101" pitchFamily="2" charset="-122"/>
                  <a:ea typeface="宋体" panose="02010600030101010101" pitchFamily="2" charset="-122"/>
                </a:rPr>
                <a:t>正交分解：</a:t>
              </a:r>
              <a:endParaRPr lang="zh-CN" altLang="zh-CN" sz="2665" b="1" baseline="-25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3" name="左大括号 22"/>
            <p:cNvSpPr/>
            <p:nvPr>
              <p:custDataLst>
                <p:tags r:id="rId19"/>
              </p:custDataLst>
            </p:nvPr>
          </p:nvSpPr>
          <p:spPr>
            <a:xfrm>
              <a:off x="14323" y="15264"/>
              <a:ext cx="340" cy="1702"/>
            </a:xfrm>
            <a:prstGeom prst="leftBrac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just" hangingPunct="0">
                <a:lnSpc>
                  <a:spcPct val="120000"/>
                </a:lnSpc>
                <a:defRPr/>
              </a:pPr>
              <a:endParaRPr lang="zh-CN" altLang="en-US" sz="2665" b="1" noProof="1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文本框 2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4819" y="14934"/>
              <a:ext cx="2733" cy="20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 hangingPunct="0">
                <a:lnSpc>
                  <a:spcPct val="120000"/>
                </a:lnSpc>
              </a:pPr>
              <a:r>
                <a:rPr lang="en-US" altLang="zh-CN" sz="2665" b="1" i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F</a:t>
              </a:r>
              <a:r>
                <a:rPr lang="en-US" altLang="zh-CN" sz="2665" b="1" baseline="-250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x 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= 0</a:t>
              </a:r>
            </a:p>
            <a:p>
              <a:pPr algn="just" hangingPunct="0">
                <a:lnSpc>
                  <a:spcPct val="120000"/>
                </a:lnSpc>
              </a:pPr>
              <a:r>
                <a:rPr lang="en-US" altLang="zh-CN" sz="2665" b="1" i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F</a:t>
              </a:r>
              <a:r>
                <a:rPr lang="en-US" altLang="zh-CN" sz="2665" b="1" baseline="-2500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y </a:t>
              </a:r>
              <a:r>
                <a:rPr lang="en-US" altLang="zh-CN" sz="2665" b="1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charset="0"/>
                </a:rPr>
                <a:t>= 0</a:t>
              </a:r>
            </a:p>
          </p:txBody>
        </p:sp>
      </p:grpSp>
      <p:grpSp>
        <p:nvGrpSpPr>
          <p:cNvPr id="27" name="组合 26"/>
          <p:cNvGrpSpPr/>
          <p:nvPr>
            <p:custDataLst>
              <p:tags r:id="rId9"/>
            </p:custDataLst>
          </p:nvPr>
        </p:nvGrpSpPr>
        <p:grpSpPr>
          <a:xfrm>
            <a:off x="2503593" y="2008293"/>
            <a:ext cx="4627880" cy="583565"/>
            <a:chOff x="4524431" y="4655542"/>
            <a:chExt cx="5751597" cy="710144"/>
          </a:xfrm>
        </p:grpSpPr>
        <p:sp>
          <p:nvSpPr>
            <p:cNvPr id="28" name="文本框 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4524431" y="4655542"/>
              <a:ext cx="4564380" cy="71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just" hangingPunct="0">
                <a:lnSpc>
                  <a:spcPct val="120000"/>
                </a:lnSpc>
              </a:pPr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</a:rPr>
                <a:t>物体受</a:t>
              </a:r>
              <a:r>
                <a:rPr lang="zh-CN" altLang="en-US" sz="2665" b="1">
                  <a:solidFill>
                    <a:srgbClr val="00B0F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两个</a:t>
              </a:r>
              <a:r>
                <a:rPr lang="zh-CN" altLang="en-US" sz="2665" b="1">
                  <a:latin typeface="宋体" panose="02010600030101010101" pitchFamily="2" charset="-122"/>
                  <a:ea typeface="宋体" panose="02010600030101010101" pitchFamily="2" charset="-122"/>
                </a:rPr>
                <a:t>力时：</a:t>
              </a:r>
              <a:endParaRPr lang="zh-CN" altLang="en-US" sz="2665" b="1" baseline="-2500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graphicFrame>
          <p:nvGraphicFramePr>
            <p:cNvPr id="29" name="对象 3"/>
            <p:cNvGraphicFramePr>
              <a:graphicFrameLocks noChangeAspect="1"/>
            </p:cNvGraphicFramePr>
            <p:nvPr>
              <p:custDataLst>
                <p:tags r:id="rId17"/>
              </p:custDataLst>
            </p:nvPr>
          </p:nvGraphicFramePr>
          <p:xfrm>
            <a:off x="8317053" y="4744763"/>
            <a:ext cx="1958975" cy="539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2540000" imgH="698500" progId="Equation.DSMT4">
                    <p:embed/>
                  </p:oleObj>
                </mc:Choice>
                <mc:Fallback>
                  <p:oleObj name="Equation" r:id="rId29" imgW="2540000" imgH="698500" progId="Equation.DSMT4">
                    <p:embed/>
                    <p:pic>
                      <p:nvPicPr>
                        <p:cNvPr id="29" name="对象 3"/>
                        <p:cNvPicPr/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8317053" y="4744763"/>
                          <a:ext cx="1958975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线形标注 1(带强调线) 2"/>
          <p:cNvSpPr/>
          <p:nvPr>
            <p:custDataLst>
              <p:tags r:id="rId10"/>
            </p:custDataLst>
          </p:nvPr>
        </p:nvSpPr>
        <p:spPr>
          <a:xfrm>
            <a:off x="9829800" y="4178195"/>
            <a:ext cx="1038013" cy="2336164"/>
          </a:xfrm>
          <a:prstGeom prst="accentCallout1">
            <a:avLst>
              <a:gd name="adj1" fmla="val 43467"/>
              <a:gd name="adj2" fmla="val -6199"/>
              <a:gd name="adj3" fmla="val 45179"/>
              <a:gd name="adj4" fmla="val -452814"/>
            </a:avLst>
          </a:prstGeom>
          <a:solidFill>
            <a:schemeClr val="accent3">
              <a:lumMod val="20000"/>
              <a:lumOff val="80000"/>
            </a:schemeClr>
          </a:solidFill>
          <a:ln w="12700" cap="flat">
            <a:solidFill>
              <a:srgbClr val="BBE0E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60958" tIns="60958" rIns="60958" bIns="60958" numCol="1" spcCol="38100" rtlCol="0" anchor="ctr" forceAA="0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charset="-122"/>
                <a:ea typeface="微软雅黑"/>
                <a:cs typeface="微软雅黑" panose="020B0503020204020204" charset="-122"/>
                <a:sym typeface="微软雅黑" panose="020B0503020204020204" charset="-122"/>
              </a:rPr>
              <a:t>具体问题该如何处理呢？</a:t>
            </a:r>
          </a:p>
        </p:txBody>
      </p:sp>
      <p:grpSp>
        <p:nvGrpSpPr>
          <p:cNvPr id="5" name="Group 28"/>
          <p:cNvGrpSpPr/>
          <p:nvPr>
            <p:custDataLst>
              <p:tags r:id="rId11"/>
            </p:custDataLst>
          </p:nvPr>
        </p:nvGrpSpPr>
        <p:grpSpPr>
          <a:xfrm>
            <a:off x="995519" y="6985"/>
            <a:ext cx="3759149" cy="711200"/>
            <a:chOff x="669" y="-10"/>
            <a:chExt cx="2408" cy="448"/>
          </a:xfrm>
        </p:grpSpPr>
        <p:sp>
          <p:nvSpPr>
            <p:cNvPr id="25" name="Rectangle 8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711" y="-10"/>
              <a:ext cx="2366" cy="448"/>
            </a:xfrm>
            <a:prstGeom prst="rect">
              <a:avLst/>
            </a:prstGeom>
            <a:solidFill>
              <a:srgbClr val="9A713C"/>
            </a:solidFill>
            <a:ln w="9525" algn="ctr">
              <a:noFill/>
              <a:miter lim="800000"/>
            </a:ln>
          </p:spPr>
          <p:txBody>
            <a:bodyPr lIns="121914" tIns="60957" rIns="121914" bIns="60957" anchor="ctr"/>
            <a:lstStyle/>
            <a:p>
              <a:pPr marL="0" marR="0" lvl="0" indent="0" algn="ctr" defTabSz="68453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26" name="TextBox 3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669" y="-10"/>
              <a:ext cx="2408" cy="4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平衡条件的理解</a:t>
              </a:r>
            </a:p>
          </p:txBody>
        </p:sp>
      </p:grpSp>
      <p:sp>
        <p:nvSpPr>
          <p:cNvPr id="30" name="AutoShape 10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12584" y="256109"/>
            <a:ext cx="917549" cy="701778"/>
          </a:xfrm>
          <a:prstGeom prst="flowChartOffpageConnector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 userDrawn="1">
            <p:custDataLst>
              <p:tags r:id="rId13"/>
            </p:custDataLst>
          </p:nvPr>
        </p:nvSpPr>
        <p:spPr bwMode="auto">
          <a:xfrm rot="16200000">
            <a:off x="91674" y="-93605"/>
            <a:ext cx="759439" cy="917549"/>
          </a:xfrm>
          <a:prstGeom prst="rect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kern="0" cap="none" spc="0" normalizeH="0" baseline="0" noProof="0" dirty="0">
                <a:solidFill>
                  <a:prstClr val="white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0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3"/>
          <p:cNvSpPr txBox="1"/>
          <p:nvPr>
            <p:custDataLst>
              <p:tags r:id="rId1"/>
            </p:custDataLst>
          </p:nvPr>
        </p:nvSpPr>
        <p:spPr>
          <a:xfrm>
            <a:off x="342587" y="975692"/>
            <a:ext cx="11361872" cy="1939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sz="2665" b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【例题</a:t>
            </a:r>
            <a:r>
              <a:rPr lang="en-US" altLang="zh-CN" sz="2665" b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1</a:t>
            </a:r>
            <a:r>
              <a:rPr lang="zh-CN" sz="2665" b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】</a:t>
            </a:r>
            <a:r>
              <a:rPr lang="zh-CN" sz="2665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某幼儿园要在空地上做一个滑梯，根据空地的大小，滑梯的水平跨度确定为</a:t>
            </a:r>
            <a:r>
              <a:rPr lang="en-US" sz="2665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6m</a:t>
            </a:r>
            <a:r>
              <a:rPr lang="zh-CN" sz="2665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。设计时，滑板和儿童裤料之间的动摩擦因数取</a:t>
            </a:r>
            <a:r>
              <a:rPr lang="en-US" sz="2665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0.4</a:t>
            </a:r>
            <a:r>
              <a:rPr lang="zh-CN" sz="2665" b="1">
                <a:latin typeface="宋体" panose="02010600030101010101" pitchFamily="2" charset="-122"/>
                <a:ea typeface="宋体" panose="02010600030101010101" pitchFamily="2" charset="-122"/>
                <a:cs typeface="黑体" panose="02010609060101010101" charset="-122"/>
                <a:sym typeface="+mn-ea"/>
              </a:rPr>
              <a:t>，为使儿童在滑梯游戏时能在滑板上滑下，滑梯至少要多高？</a:t>
            </a:r>
            <a:endParaRPr lang="zh-CN" altLang="en-US" sz="2665" b="1">
              <a:latin typeface="宋体" panose="02010600030101010101" pitchFamily="2" charset="-122"/>
              <a:ea typeface="宋体" panose="02010600030101010101" pitchFamily="2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9" name="图片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9319" y="2831441"/>
            <a:ext cx="3788557" cy="3405331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5312747" y="4008120"/>
            <a:ext cx="1690793" cy="501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9900" indent="-469900" defTabSz="913765" fontAlgn="base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</a:pPr>
            <a:r>
              <a:rPr lang="zh-CN" altLang="en-US" sz="2665" kern="0">
                <a:solidFill>
                  <a:schemeClr val="tx1"/>
                </a:solidFill>
                <a:latin typeface="微软雅黑" panose="020B0503020204020204" charset="-122"/>
                <a:ea typeface="微软雅黑"/>
              </a:rPr>
              <a:t>模型构建</a:t>
            </a:r>
          </a:p>
        </p:txBody>
      </p:sp>
      <p:sp>
        <p:nvSpPr>
          <p:cNvPr id="13" name="右箭头 6"/>
          <p:cNvSpPr/>
          <p:nvPr>
            <p:custDataLst>
              <p:tags r:id="rId4"/>
            </p:custDataLst>
          </p:nvPr>
        </p:nvSpPr>
        <p:spPr bwMode="auto">
          <a:xfrm>
            <a:off x="5312833" y="4685453"/>
            <a:ext cx="1598507" cy="343747"/>
          </a:xfrm>
          <a:prstGeom prst="rightArrow">
            <a:avLst/>
          </a:prstGeom>
          <a:solidFill>
            <a:srgbClr val="00B050"/>
          </a:solidFill>
          <a:ln w="9525" cap="flat" cmpd="sng" algn="ctr">
            <a:solidFill>
              <a:srgbClr val="1E76B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13" tIns="45606" rIns="91213" bIns="45606" numCol="1" rtlCol="0" anchor="t" anchorCtr="0" compatLnSpc="1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7" name="组合 46"/>
          <p:cNvGrpSpPr/>
          <p:nvPr>
            <p:custDataLst>
              <p:tags r:id="rId5"/>
            </p:custDataLst>
          </p:nvPr>
        </p:nvGrpSpPr>
        <p:grpSpPr>
          <a:xfrm>
            <a:off x="7598833" y="4191847"/>
            <a:ext cx="2765213" cy="1557867"/>
            <a:chOff x="8257390" y="4079482"/>
            <a:chExt cx="2277260" cy="1295400"/>
          </a:xfrm>
        </p:grpSpPr>
        <p:sp>
          <p:nvSpPr>
            <p:cNvPr id="48" name="直角三角形 47"/>
            <p:cNvSpPr/>
            <p:nvPr>
              <p:custDataLst>
                <p:tags r:id="rId24"/>
              </p:custDataLst>
            </p:nvPr>
          </p:nvSpPr>
          <p:spPr>
            <a:xfrm flipH="1">
              <a:off x="8257390" y="4079482"/>
              <a:ext cx="2277260" cy="1295400"/>
            </a:xfrm>
            <a:prstGeom prst="rt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65"/>
            </a:p>
          </p:txBody>
        </p:sp>
        <p:sp>
          <p:nvSpPr>
            <p:cNvPr id="49" name="矩形 48"/>
            <p:cNvSpPr/>
            <p:nvPr>
              <p:custDataLst>
                <p:tags r:id="rId25"/>
              </p:custDataLst>
            </p:nvPr>
          </p:nvSpPr>
          <p:spPr>
            <a:xfrm rot="19801046">
              <a:off x="9409898" y="4179843"/>
              <a:ext cx="514028" cy="368300"/>
            </a:xfrm>
            <a:prstGeom prst="rect">
              <a:avLst/>
            </a:prstGeom>
            <a:solidFill>
              <a:srgbClr val="FFEED2"/>
            </a:solidFill>
            <a:ln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65"/>
            </a:p>
          </p:txBody>
        </p:sp>
      </p:grpSp>
      <p:grpSp>
        <p:nvGrpSpPr>
          <p:cNvPr id="50" name="组合 49"/>
          <p:cNvGrpSpPr/>
          <p:nvPr>
            <p:custDataLst>
              <p:tags r:id="rId6"/>
            </p:custDataLst>
          </p:nvPr>
        </p:nvGrpSpPr>
        <p:grpSpPr>
          <a:xfrm>
            <a:off x="9280313" y="4525433"/>
            <a:ext cx="342053" cy="1205564"/>
            <a:chOff x="3187" y="7325"/>
            <a:chExt cx="404" cy="1436"/>
          </a:xfrm>
        </p:grpSpPr>
        <p:cxnSp>
          <p:nvCxnSpPr>
            <p:cNvPr id="51" name="直接箭头连接符 50"/>
            <p:cNvCxnSpPr/>
            <p:nvPr>
              <p:custDataLst>
                <p:tags r:id="rId22"/>
              </p:custDataLst>
            </p:nvPr>
          </p:nvCxnSpPr>
          <p:spPr>
            <a:xfrm flipH="1">
              <a:off x="3218" y="7325"/>
              <a:ext cx="0" cy="1270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oval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>
              <p:custDataLst>
                <p:tags r:id="rId23"/>
              </p:custDataLst>
            </p:nvPr>
          </p:nvSpPr>
          <p:spPr>
            <a:xfrm>
              <a:off x="3187" y="8163"/>
              <a:ext cx="404" cy="59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665" b="1" i="1">
                  <a:ln>
                    <a:noFill/>
                  </a:ln>
                  <a:solidFill>
                    <a:srgbClr val="0033CC"/>
                  </a:solidFill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</a:p>
          </p:txBody>
        </p:sp>
      </p:grpSp>
      <p:grpSp>
        <p:nvGrpSpPr>
          <p:cNvPr id="53" name="组合 52"/>
          <p:cNvGrpSpPr/>
          <p:nvPr>
            <p:custDataLst>
              <p:tags r:id="rId7"/>
            </p:custDataLst>
          </p:nvPr>
        </p:nvGrpSpPr>
        <p:grpSpPr>
          <a:xfrm>
            <a:off x="9282853" y="3680991"/>
            <a:ext cx="1048853" cy="878919"/>
            <a:chOff x="3252" y="6243"/>
            <a:chExt cx="669" cy="1048"/>
          </a:xfrm>
        </p:grpSpPr>
        <p:cxnSp>
          <p:nvCxnSpPr>
            <p:cNvPr id="54" name="直接箭头连接符 53"/>
            <p:cNvCxnSpPr/>
            <p:nvPr>
              <p:custDataLst>
                <p:tags r:id="rId20"/>
              </p:custDataLst>
            </p:nvPr>
          </p:nvCxnSpPr>
          <p:spPr>
            <a:xfrm flipV="1">
              <a:off x="3252" y="6809"/>
              <a:ext cx="482" cy="482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文本框 54"/>
            <p:cNvSpPr txBox="1"/>
            <p:nvPr>
              <p:custDataLst>
                <p:tags r:id="rId21"/>
              </p:custDataLst>
            </p:nvPr>
          </p:nvSpPr>
          <p:spPr>
            <a:xfrm>
              <a:off x="3513" y="6243"/>
              <a:ext cx="408" cy="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665" b="1" i="1">
                  <a:solidFill>
                    <a:srgbClr val="0033CC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sz="2665" b="1" baseline="-25000">
                  <a:solidFill>
                    <a:srgbClr val="0033CC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</a:p>
          </p:txBody>
        </p:sp>
      </p:grpSp>
      <p:sp>
        <p:nvSpPr>
          <p:cNvPr id="56" name="文本框 55"/>
          <p:cNvSpPr txBox="1"/>
          <p:nvPr>
            <p:custDataLst>
              <p:tags r:id="rId8"/>
            </p:custDataLst>
          </p:nvPr>
        </p:nvSpPr>
        <p:spPr>
          <a:xfrm rot="21431814">
            <a:off x="7082367" y="5357707"/>
            <a:ext cx="502920" cy="5181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265" b="1" i="1" baseline="-25000">
                <a:latin typeface="Times New Roman" panose="02020603050405020304" charset="0"/>
                <a:cs typeface="Times New Roman" panose="02020603050405020304" charset="0"/>
              </a:rPr>
              <a:t>A</a:t>
            </a:r>
          </a:p>
        </p:txBody>
      </p:sp>
      <p:sp>
        <p:nvSpPr>
          <p:cNvPr id="57" name="文本框 56"/>
          <p:cNvSpPr txBox="1"/>
          <p:nvPr>
            <p:custDataLst>
              <p:tags r:id="rId9"/>
            </p:custDataLst>
          </p:nvPr>
        </p:nvSpPr>
        <p:spPr>
          <a:xfrm rot="21431814">
            <a:off x="10413153" y="3673687"/>
            <a:ext cx="502920" cy="5181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265" b="1" i="1" baseline="-25000">
                <a:latin typeface="Times New Roman" panose="02020603050405020304" charset="0"/>
                <a:cs typeface="Times New Roman" panose="02020603050405020304" charset="0"/>
              </a:rPr>
              <a:t>B</a:t>
            </a:r>
          </a:p>
        </p:txBody>
      </p:sp>
      <p:sp>
        <p:nvSpPr>
          <p:cNvPr id="58" name="文本框 57"/>
          <p:cNvSpPr txBox="1"/>
          <p:nvPr>
            <p:custDataLst>
              <p:tags r:id="rId10"/>
            </p:custDataLst>
          </p:nvPr>
        </p:nvSpPr>
        <p:spPr>
          <a:xfrm rot="21431814">
            <a:off x="10412307" y="5357707"/>
            <a:ext cx="502920" cy="51816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265" b="1" i="1" baseline="-25000">
                <a:latin typeface="Times New Roman" panose="02020603050405020304" charset="0"/>
                <a:cs typeface="Times New Roman" panose="02020603050405020304" charset="0"/>
              </a:rPr>
              <a:t>C</a:t>
            </a:r>
          </a:p>
        </p:txBody>
      </p:sp>
      <p:grpSp>
        <p:nvGrpSpPr>
          <p:cNvPr id="59" name="组合 58"/>
          <p:cNvGrpSpPr/>
          <p:nvPr>
            <p:custDataLst>
              <p:tags r:id="rId11"/>
            </p:custDataLst>
          </p:nvPr>
        </p:nvGrpSpPr>
        <p:grpSpPr>
          <a:xfrm>
            <a:off x="8838353" y="3402741"/>
            <a:ext cx="716727" cy="1126925"/>
            <a:chOff x="2628" y="5949"/>
            <a:chExt cx="845" cy="1341"/>
          </a:xfrm>
        </p:grpSpPr>
        <p:cxnSp>
          <p:nvCxnSpPr>
            <p:cNvPr id="60" name="直接箭头连接符 59"/>
            <p:cNvCxnSpPr/>
            <p:nvPr>
              <p:custDataLst>
                <p:tags r:id="rId18"/>
              </p:custDataLst>
            </p:nvPr>
          </p:nvCxnSpPr>
          <p:spPr>
            <a:xfrm flipH="1" flipV="1">
              <a:off x="2628" y="6328"/>
              <a:ext cx="553" cy="962"/>
            </a:xfrm>
            <a:prstGeom prst="straightConnector1">
              <a:avLst/>
            </a:prstGeom>
            <a:ln w="28575">
              <a:solidFill>
                <a:srgbClr val="0033CC"/>
              </a:solidFill>
              <a:headEnd type="none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2654" y="5949"/>
              <a:ext cx="819" cy="5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2665" b="1" i="1">
                  <a:solidFill>
                    <a:srgbClr val="0033CC"/>
                  </a:solidFill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sz="2665" b="1" baseline="-25000">
                  <a:solidFill>
                    <a:srgbClr val="0033CC"/>
                  </a:solidFill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</a:p>
          </p:txBody>
        </p:sp>
      </p:grpSp>
      <p:sp>
        <p:nvSpPr>
          <p:cNvPr id="63" name="矩形 62"/>
          <p:cNvSpPr/>
          <p:nvPr>
            <p:custDataLst>
              <p:tags r:id="rId12"/>
            </p:custDataLst>
          </p:nvPr>
        </p:nvSpPr>
        <p:spPr>
          <a:xfrm>
            <a:off x="5312747" y="5218404"/>
            <a:ext cx="1539240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3765"/>
            <a:r>
              <a:rPr lang="zh-CN" altLang="en-US" sz="2665">
                <a:solidFill>
                  <a:schemeClr val="tx1"/>
                </a:solidFill>
                <a:latin typeface="微软雅黑" panose="020B0503020204020204" charset="-122"/>
                <a:ea typeface="微软雅黑"/>
              </a:rPr>
              <a:t>受力分析</a:t>
            </a:r>
          </a:p>
        </p:txBody>
      </p:sp>
      <p:grpSp>
        <p:nvGrpSpPr>
          <p:cNvPr id="3" name="Group 28"/>
          <p:cNvGrpSpPr/>
          <p:nvPr>
            <p:custDataLst>
              <p:tags r:id="rId13"/>
            </p:custDataLst>
          </p:nvPr>
        </p:nvGrpSpPr>
        <p:grpSpPr>
          <a:xfrm>
            <a:off x="1028302" y="6985"/>
            <a:ext cx="2443135" cy="711200"/>
            <a:chOff x="690" y="-10"/>
            <a:chExt cx="1565" cy="448"/>
          </a:xfrm>
        </p:grpSpPr>
        <p:sp>
          <p:nvSpPr>
            <p:cNvPr id="25" name="Rectangle 8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11" y="-10"/>
              <a:ext cx="1523" cy="448"/>
            </a:xfrm>
            <a:prstGeom prst="rect">
              <a:avLst/>
            </a:prstGeom>
            <a:solidFill>
              <a:srgbClr val="9A713C"/>
            </a:solidFill>
            <a:ln w="9525" algn="ctr">
              <a:noFill/>
              <a:miter lim="800000"/>
            </a:ln>
          </p:spPr>
          <p:txBody>
            <a:bodyPr lIns="121914" tIns="60957" rIns="121914" bIns="60957" anchor="ctr"/>
            <a:lstStyle/>
            <a:p>
              <a:pPr marL="0" marR="0" lvl="0" indent="0" algn="ctr" defTabSz="68453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26" name="TextBox 3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90" y="-10"/>
              <a:ext cx="1565" cy="4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问题模型</a:t>
              </a:r>
              <a:r>
                <a:rPr kumimoji="0" lang="en-US" altLang="zh-CN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1</a:t>
              </a:r>
            </a:p>
          </p:txBody>
        </p:sp>
      </p:grpSp>
      <p:sp>
        <p:nvSpPr>
          <p:cNvPr id="30" name="AutoShape 10"/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auto">
          <a:xfrm>
            <a:off x="12584" y="256109"/>
            <a:ext cx="917549" cy="701778"/>
          </a:xfrm>
          <a:prstGeom prst="flowChartOffpageConnector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 userDrawn="1">
            <p:custDataLst>
              <p:tags r:id="rId15"/>
            </p:custDataLst>
          </p:nvPr>
        </p:nvSpPr>
        <p:spPr bwMode="auto">
          <a:xfrm rot="16200000">
            <a:off x="91674" y="-93605"/>
            <a:ext cx="759439" cy="917549"/>
          </a:xfrm>
          <a:prstGeom prst="rect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kern="0" cap="none" spc="0" normalizeH="0" baseline="0" noProof="0" dirty="0">
                <a:solidFill>
                  <a:prstClr val="white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56" grpId="0"/>
      <p:bldP spid="57" grpId="0"/>
      <p:bldP spid="58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>
            <p:custDataLst>
              <p:tags r:id="rId1"/>
            </p:custDataLst>
          </p:nvPr>
        </p:nvGrpSpPr>
        <p:grpSpPr>
          <a:xfrm>
            <a:off x="7298267" y="3763433"/>
            <a:ext cx="3833707" cy="2202180"/>
            <a:chOff x="7713" y="262"/>
            <a:chExt cx="4528" cy="2601"/>
          </a:xfrm>
        </p:grpSpPr>
        <p:grpSp>
          <p:nvGrpSpPr>
            <p:cNvPr id="27" name="组合 26"/>
            <p:cNvGrpSpPr/>
            <p:nvPr>
              <p:custDataLst>
                <p:tags r:id="rId38"/>
              </p:custDataLst>
            </p:nvPr>
          </p:nvGrpSpPr>
          <p:grpSpPr>
            <a:xfrm>
              <a:off x="8323" y="874"/>
              <a:ext cx="3266" cy="1840"/>
              <a:chOff x="8257390" y="4079482"/>
              <a:chExt cx="2277260" cy="1295400"/>
            </a:xfrm>
          </p:grpSpPr>
          <p:sp>
            <p:nvSpPr>
              <p:cNvPr id="28" name="直角三角形 27"/>
              <p:cNvSpPr/>
              <p:nvPr>
                <p:custDataLst>
                  <p:tags r:id="rId42"/>
                </p:custDataLst>
              </p:nvPr>
            </p:nvSpPr>
            <p:spPr>
              <a:xfrm flipH="1">
                <a:off x="8257390" y="4079482"/>
                <a:ext cx="2277260" cy="1295400"/>
              </a:xfrm>
              <a:prstGeom prst="rt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65"/>
              </a:p>
            </p:txBody>
          </p:sp>
          <p:sp>
            <p:nvSpPr>
              <p:cNvPr id="49" name="矩形 48"/>
              <p:cNvSpPr/>
              <p:nvPr>
                <p:custDataLst>
                  <p:tags r:id="rId43"/>
                </p:custDataLst>
              </p:nvPr>
            </p:nvSpPr>
            <p:spPr>
              <a:xfrm rot="19801046">
                <a:off x="9409898" y="4179843"/>
                <a:ext cx="514028" cy="368300"/>
              </a:xfrm>
              <a:prstGeom prst="rect">
                <a:avLst/>
              </a:prstGeom>
              <a:solidFill>
                <a:srgbClr val="FFEED2"/>
              </a:solidFill>
              <a:ln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665"/>
              </a:p>
            </p:txBody>
          </p:sp>
        </p:grpSp>
        <p:sp>
          <p:nvSpPr>
            <p:cNvPr id="56" name="文本框 55"/>
            <p:cNvSpPr txBox="1"/>
            <p:nvPr>
              <p:custDataLst>
                <p:tags r:id="rId39"/>
              </p:custDataLst>
            </p:nvPr>
          </p:nvSpPr>
          <p:spPr>
            <a:xfrm rot="21431814">
              <a:off x="7713" y="2251"/>
              <a:ext cx="594" cy="6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265" b="1" i="1" baseline="-25000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</a:p>
          </p:txBody>
        </p:sp>
        <p:sp>
          <p:nvSpPr>
            <p:cNvPr id="57" name="文本框 56"/>
            <p:cNvSpPr txBox="1"/>
            <p:nvPr>
              <p:custDataLst>
                <p:tags r:id="rId40"/>
              </p:custDataLst>
            </p:nvPr>
          </p:nvSpPr>
          <p:spPr>
            <a:xfrm rot="21431814">
              <a:off x="11647" y="262"/>
              <a:ext cx="594" cy="6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265" b="1" i="1" baseline="-25000"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</a:p>
          </p:txBody>
        </p:sp>
        <p:sp>
          <p:nvSpPr>
            <p:cNvPr id="58" name="文本框 57"/>
            <p:cNvSpPr txBox="1"/>
            <p:nvPr>
              <p:custDataLst>
                <p:tags r:id="rId41"/>
              </p:custDataLst>
            </p:nvPr>
          </p:nvSpPr>
          <p:spPr>
            <a:xfrm rot="21431814">
              <a:off x="11646" y="2251"/>
              <a:ext cx="594" cy="612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4265" b="1" i="1" baseline="-25000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</a:p>
          </p:txBody>
        </p:sp>
      </p:grpSp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697653" y="1098973"/>
            <a:ext cx="3449320" cy="5016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913765"/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方法一：正交分解法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467815" y="3632383"/>
                <a:ext cx="2268220" cy="5016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665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665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ambria Math" panose="02040503050406030204" pitchFamily="18" charset="0"/>
                      </a:rPr>
                      <m:t>𝑮</m:t>
                    </m:r>
                    <m:func>
                      <m:func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zh-CN" altLang="en-US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  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5"/>
                </p:custDataLst>
              </p:nvPr>
            </p:nvSpPr>
            <p:spPr>
              <a:xfrm>
                <a:off x="1467815" y="3632383"/>
                <a:ext cx="2268220" cy="501650"/>
              </a:xfrm>
              <a:prstGeom prst="rect">
                <a:avLst/>
              </a:prstGeom>
              <a:blipFill rotWithShape="1">
                <a:blip r:embed="rId46"/>
                <a:stretch>
                  <a:fillRect l="-15" t="-36" r="-11352" b="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947856" y="3671917"/>
                <a:ext cx="2205355" cy="50165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665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665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ambria Math" panose="02040503050406030204" pitchFamily="18" charset="0"/>
                      </a:rPr>
                      <m:t>𝑮</m:t>
                    </m:r>
                    <m:func>
                      <m:func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zh-CN" altLang="en-US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 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7"/>
                </p:custDataLst>
              </p:nvPr>
            </p:nvSpPr>
            <p:spPr>
              <a:xfrm>
                <a:off x="3947856" y="3671917"/>
                <a:ext cx="2205355" cy="501650"/>
              </a:xfrm>
              <a:prstGeom prst="rect">
                <a:avLst/>
              </a:prstGeom>
              <a:blipFill rotWithShape="1">
                <a:blip r:embed="rId48"/>
                <a:stretch>
                  <a:fillRect l="-3" t="-69" r="-7829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676975" y="4427647"/>
            <a:ext cx="1482725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665" b="1" baseline="-25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＝</a:t>
            </a:r>
            <a:r>
              <a:rPr lang="el-GR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μ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665" b="1" baseline="-25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3431520" y="4448404"/>
            <a:ext cx="2358390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解得  </a:t>
            </a:r>
            <a:r>
              <a:rPr lang="en-US" altLang="zh-CN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tan</a:t>
            </a:r>
            <a:r>
              <a:rPr lang="el-GR" altLang="zh-CN" sz="2665" b="1" i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θ</a:t>
            </a:r>
            <a:r>
              <a:rPr lang="zh-CN" altLang="en-US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=</a:t>
            </a:r>
            <a:r>
              <a:rPr lang="zh-CN" altLang="en-US" sz="2665" b="1" i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677307" y="5161332"/>
                <a:ext cx="4344035" cy="6781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由几何关系可得：</a:t>
                </a:r>
                <a:r>
                  <a:rPr lang="en-US" altLang="zh-CN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tan</a:t>
                </a:r>
                <a:r>
                  <a:rPr lang="el-GR" altLang="zh-CN" sz="2665" b="1" i="1" spc="15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θ</a:t>
                </a:r>
                <a14:m>
                  <m:oMath xmlns:m="http://schemas.openxmlformats.org/officeDocument/2006/math">
                    <m:r>
                      <a:rPr lang="en-US" altLang="zh-CN" sz="2665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𝑩𝑪</m:t>
                        </m:r>
                      </m:num>
                      <m:den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𝑨𝑪</m:t>
                        </m:r>
                      </m:den>
                    </m:f>
                  </m:oMath>
                </a14:m>
                <a:r>
                  <a:rPr lang="zh-CN" altLang="en-US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9"/>
                </p:custDataLst>
              </p:nvPr>
            </p:nvSpPr>
            <p:spPr>
              <a:xfrm>
                <a:off x="1677307" y="5161332"/>
                <a:ext cx="4344035" cy="678180"/>
              </a:xfrm>
              <a:prstGeom prst="rect">
                <a:avLst/>
              </a:prstGeom>
              <a:blipFill rotWithShape="1">
                <a:blip r:embed="rId50"/>
                <a:stretch>
                  <a:fillRect l="-6" t="-8" r="-2011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/>
          <p:cNvSpPr txBox="1"/>
          <p:nvPr>
            <p:custDataLst>
              <p:tags r:id="rId8"/>
            </p:custDataLst>
          </p:nvPr>
        </p:nvSpPr>
        <p:spPr>
          <a:xfrm>
            <a:off x="1553628" y="6068849"/>
            <a:ext cx="4649470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可得：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h=</a:t>
            </a:r>
            <a:r>
              <a:rPr lang="el-GR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μ</a:t>
            </a:r>
            <a:r>
              <a:rPr lang="el-GR" altLang="zh-CN" sz="2665" b="1" i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AC=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0.4×6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m=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2.4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</a:t>
            </a: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593513" y="3009053"/>
            <a:ext cx="8746067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以滑梯上正匀速下滑的小孩为研究对象，受力分析如图：</a:t>
            </a: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593513" y="1621367"/>
            <a:ext cx="10768753" cy="1323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    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沿平行和垂直于斜面两个方向建立直角坐标系，把重力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沿两个坐标轴方向分解为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665" b="1" baseline="-25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和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665" b="1" baseline="-250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</a:t>
            </a:r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。三力平衡转化为四力平衡。</a:t>
            </a:r>
          </a:p>
        </p:txBody>
      </p:sp>
      <p:grpSp>
        <p:nvGrpSpPr>
          <p:cNvPr id="17" name="组合 39"/>
          <p:cNvGrpSpPr/>
          <p:nvPr>
            <p:custDataLst>
              <p:tags r:id="rId11"/>
            </p:custDataLst>
          </p:nvPr>
        </p:nvGrpSpPr>
        <p:grpSpPr>
          <a:xfrm>
            <a:off x="8671352" y="3930997"/>
            <a:ext cx="1512601" cy="1949726"/>
            <a:chOff x="6868756" y="840105"/>
            <a:chExt cx="1515591" cy="1954552"/>
          </a:xfrm>
        </p:grpSpPr>
        <p:sp>
          <p:nvSpPr>
            <p:cNvPr id="18" name="直接箭头连接符 12"/>
            <p:cNvSpPr>
              <a:spLocks noChangeShapeType="1"/>
            </p:cNvSpPr>
            <p:nvPr>
              <p:custDataLst>
                <p:tags r:id="rId32"/>
              </p:custDataLst>
            </p:nvPr>
          </p:nvSpPr>
          <p:spPr bwMode="auto">
            <a:xfrm>
              <a:off x="7695564" y="1600200"/>
              <a:ext cx="39319" cy="742890"/>
            </a:xfrm>
            <a:prstGeom prst="line">
              <a:avLst/>
            </a:prstGeom>
            <a:noFill/>
            <a:ln w="28575" algn="ctr">
              <a:solidFill>
                <a:srgbClr val="EF4009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  <p:sp>
          <p:nvSpPr>
            <p:cNvPr id="20" name="直接箭头连接符 14"/>
            <p:cNvSpPr>
              <a:spLocks noChangeShapeType="1"/>
            </p:cNvSpPr>
            <p:nvPr>
              <p:custDataLst>
                <p:tags r:id="rId33"/>
              </p:custDataLst>
            </p:nvPr>
          </p:nvSpPr>
          <p:spPr bwMode="auto">
            <a:xfrm flipV="1">
              <a:off x="7696055" y="1362075"/>
              <a:ext cx="380810" cy="238125"/>
            </a:xfrm>
            <a:prstGeom prst="line">
              <a:avLst/>
            </a:prstGeom>
            <a:noFill/>
            <a:ln w="28575" algn="ctr">
              <a:solidFill>
                <a:srgbClr val="EF4009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  <p:sp>
          <p:nvSpPr>
            <p:cNvPr id="21" name="TextBox 15"/>
            <p:cNvSpPr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392035" y="2271395"/>
              <a:ext cx="747629" cy="523262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zh-CN" sz="2795" b="1" i="1">
                  <a:latin typeface="Times New Roman" panose="02020603050405020304" charset="0"/>
                  <a:ea typeface="华文楷体" panose="02010600040101010101" pitchFamily="2" charset="-122"/>
                </a:rPr>
                <a:t>G</a:t>
              </a:r>
            </a:p>
          </p:txBody>
        </p:sp>
        <p:sp>
          <p:nvSpPr>
            <p:cNvPr id="22" name="TextBox 16"/>
            <p:cNvSpPr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6868756" y="916649"/>
              <a:ext cx="646435" cy="523262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795" b="1" i="1" dirty="0">
                  <a:latin typeface="Times New Roman" panose="02020603050405020304" charset="0"/>
                  <a:ea typeface="华文楷体" panose="02010600040101010101" pitchFamily="2" charset="-122"/>
                </a:rPr>
                <a:t>F</a:t>
              </a:r>
              <a:r>
                <a:rPr lang="en-US" altLang="zh-CN" sz="2795" b="1" i="1" baseline="-25000" dirty="0">
                  <a:latin typeface="Times New Roman" panose="02020603050405020304" charset="0"/>
                  <a:ea typeface="华文楷体" panose="02010600040101010101" pitchFamily="2" charset="-122"/>
                </a:rPr>
                <a:t>N</a:t>
              </a:r>
              <a:r>
                <a:rPr lang="zh-CN" altLang="en-US" sz="2795" b="1" i="1" baseline="-25000" dirty="0">
                  <a:latin typeface="Times New Roman" panose="02020603050405020304" charset="0"/>
                  <a:ea typeface="华文楷体" panose="02010600040101010101" pitchFamily="2" charset="-122"/>
                </a:rPr>
                <a:t> </a:t>
              </a:r>
            </a:p>
          </p:txBody>
        </p:sp>
        <p:sp>
          <p:nvSpPr>
            <p:cNvPr id="23" name="TextBox 17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7886160" y="840105"/>
              <a:ext cx="498187" cy="523262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795" b="1" i="1">
                  <a:latin typeface="Times New Roman" panose="02020603050405020304" charset="0"/>
                  <a:ea typeface="华文楷体" panose="02010600040101010101" pitchFamily="2" charset="-122"/>
                </a:rPr>
                <a:t>F</a:t>
              </a:r>
              <a:r>
                <a:rPr lang="en-US" altLang="zh-CN" sz="2795" b="1" i="1" baseline="-25000">
                  <a:latin typeface="Times New Roman" panose="02020603050405020304" charset="0"/>
                  <a:ea typeface="华文楷体" panose="02010600040101010101" pitchFamily="2" charset="-122"/>
                </a:rPr>
                <a:t>f</a:t>
              </a:r>
            </a:p>
          </p:txBody>
        </p:sp>
        <p:sp>
          <p:nvSpPr>
            <p:cNvPr id="19" name="直接箭头连接符 13"/>
            <p:cNvSpPr>
              <a:spLocks noChangeShapeType="1"/>
            </p:cNvSpPr>
            <p:nvPr>
              <p:custDataLst>
                <p:tags r:id="rId37"/>
              </p:custDataLst>
            </p:nvPr>
          </p:nvSpPr>
          <p:spPr bwMode="auto">
            <a:xfrm flipH="1" flipV="1">
              <a:off x="7373761" y="986468"/>
              <a:ext cx="322294" cy="613731"/>
            </a:xfrm>
            <a:prstGeom prst="line">
              <a:avLst/>
            </a:prstGeom>
            <a:noFill/>
            <a:ln w="28575" algn="ctr">
              <a:solidFill>
                <a:srgbClr val="EF4009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/>
            </a:p>
          </p:txBody>
        </p:sp>
      </p:grpSp>
      <p:grpSp>
        <p:nvGrpSpPr>
          <p:cNvPr id="42" name="组合 41"/>
          <p:cNvGrpSpPr/>
          <p:nvPr>
            <p:custDataLst>
              <p:tags r:id="rId12"/>
            </p:custDataLst>
          </p:nvPr>
        </p:nvGrpSpPr>
        <p:grpSpPr>
          <a:xfrm>
            <a:off x="9053888" y="4788767"/>
            <a:ext cx="1007815" cy="430226"/>
            <a:chOff x="10181576" y="4371995"/>
            <a:chExt cx="1010310" cy="431291"/>
          </a:xfrm>
        </p:grpSpPr>
        <p:sp>
          <p:nvSpPr>
            <p:cNvPr id="38" name="文本框 37"/>
            <p:cNvSpPr txBox="1"/>
            <p:nvPr>
              <p:custDataLst>
                <p:tags r:id="rId30"/>
              </p:custDataLst>
            </p:nvPr>
          </p:nvSpPr>
          <p:spPr>
            <a:xfrm>
              <a:off x="10181576" y="4403519"/>
              <a:ext cx="630578" cy="399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l-GR" altLang="zh-CN" sz="1995" b="1" i="1" u="none" strike="noStrike" kern="1200" cap="none" spc="15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charset="0"/>
                  <a:ea typeface="华文楷体" panose="02010600040101010101" pitchFamily="2" charset="-122"/>
                  <a:cs typeface="Times New Roman" panose="02020603050405020304" charset="0"/>
                  <a:sym typeface="+mn-ea"/>
                </a:rPr>
                <a:t>θ</a:t>
              </a:r>
              <a:endParaRPr lang="zh-CN" altLang="en-US" sz="1995"/>
            </a:p>
          </p:txBody>
        </p:sp>
        <p:sp>
          <p:nvSpPr>
            <p:cNvPr id="39" name="文本框 38"/>
            <p:cNvSpPr txBox="1"/>
            <p:nvPr>
              <p:custDataLst>
                <p:tags r:id="rId31"/>
              </p:custDataLst>
            </p:nvPr>
          </p:nvSpPr>
          <p:spPr>
            <a:xfrm>
              <a:off x="10561308" y="4371995"/>
              <a:ext cx="630578" cy="399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l-GR" altLang="zh-CN" sz="1995" b="1" i="1" u="none" strike="noStrike" kern="1200" cap="none" spc="150" normalizeH="0" baseline="0" noProof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Times New Roman" panose="02020603050405020304" charset="0"/>
                  <a:ea typeface="华文楷体" panose="02010600040101010101" pitchFamily="2" charset="-122"/>
                  <a:cs typeface="Times New Roman" panose="02020603050405020304" charset="0"/>
                  <a:sym typeface="+mn-ea"/>
                </a:rPr>
                <a:t>θ</a:t>
              </a:r>
              <a:endParaRPr lang="zh-CN" altLang="en-US" sz="1995"/>
            </a:p>
          </p:txBody>
        </p:sp>
      </p:grpSp>
      <p:grpSp>
        <p:nvGrpSpPr>
          <p:cNvPr id="32" name="组合 37"/>
          <p:cNvGrpSpPr/>
          <p:nvPr>
            <p:custDataLst>
              <p:tags r:id="rId13"/>
            </p:custDataLst>
          </p:nvPr>
        </p:nvGrpSpPr>
        <p:grpSpPr>
          <a:xfrm>
            <a:off x="7841691" y="3842867"/>
            <a:ext cx="2933308" cy="2195559"/>
            <a:chOff x="6019800" y="761369"/>
            <a:chExt cx="2938335" cy="2200074"/>
          </a:xfrm>
        </p:grpSpPr>
        <p:sp>
          <p:nvSpPr>
            <p:cNvPr id="33" name="直接箭头连接符 19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 flipH="1">
              <a:off x="6396820" y="876823"/>
              <a:ext cx="2561315" cy="1436354"/>
            </a:xfrm>
            <a:prstGeom prst="line">
              <a:avLst/>
            </a:prstGeom>
            <a:noFill/>
            <a:ln w="19050" algn="ctr">
              <a:solidFill>
                <a:srgbClr val="7030A0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 dirty="0">
                <a:solidFill>
                  <a:prstClr val="black"/>
                </a:solidFill>
                <a:latin typeface="Calibri" panose="020F0502020204030204"/>
                <a:ea typeface="微软雅黑"/>
                <a:cs typeface="Arial"/>
              </a:endParaRPr>
            </a:p>
          </p:txBody>
        </p:sp>
        <p:sp>
          <p:nvSpPr>
            <p:cNvPr id="34" name="直接箭头连接符 21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7230379" y="761369"/>
              <a:ext cx="1072021" cy="2053995"/>
            </a:xfrm>
            <a:prstGeom prst="line">
              <a:avLst/>
            </a:prstGeom>
            <a:noFill/>
            <a:ln w="19050" algn="ctr">
              <a:solidFill>
                <a:srgbClr val="7030A0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 dirty="0">
                <a:solidFill>
                  <a:prstClr val="black"/>
                </a:solidFill>
                <a:latin typeface="Calibri" panose="020F0502020204030204"/>
                <a:ea typeface="微软雅黑"/>
                <a:cs typeface="Arial"/>
              </a:endParaRPr>
            </a:p>
          </p:txBody>
        </p:sp>
        <p:sp>
          <p:nvSpPr>
            <p:cNvPr id="35" name="TextBox 22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019800" y="1752600"/>
              <a:ext cx="361298" cy="52304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795" b="1" i="1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x</a:t>
              </a:r>
              <a:endParaRPr lang="zh-CN" altLang="en-US" sz="2795" b="1" i="1">
                <a:solidFill>
                  <a:prstClr val="black"/>
                </a:solidFill>
                <a:latin typeface="Times New Roman" panose="02020603050405020304" charset="0"/>
                <a:cs typeface="Arial"/>
              </a:endParaRPr>
            </a:p>
          </p:txBody>
        </p:sp>
        <p:sp>
          <p:nvSpPr>
            <p:cNvPr id="37" name="TextBox 23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8305800" y="2438400"/>
              <a:ext cx="341579" cy="523043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795" b="1" i="1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y</a:t>
              </a:r>
            </a:p>
          </p:txBody>
        </p:sp>
      </p:grpSp>
      <p:grpSp>
        <p:nvGrpSpPr>
          <p:cNvPr id="40" name="组合 38"/>
          <p:cNvGrpSpPr/>
          <p:nvPr>
            <p:custDataLst>
              <p:tags r:id="rId14"/>
            </p:custDataLst>
          </p:nvPr>
        </p:nvGrpSpPr>
        <p:grpSpPr>
          <a:xfrm>
            <a:off x="8747499" y="4460809"/>
            <a:ext cx="1540369" cy="912143"/>
            <a:chOff x="6934200" y="1371600"/>
            <a:chExt cx="1544250" cy="914400"/>
          </a:xfrm>
        </p:grpSpPr>
        <p:sp>
          <p:nvSpPr>
            <p:cNvPr id="43" name="直接连接符 26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H="1" flipV="1">
              <a:off x="7391400" y="1752600"/>
              <a:ext cx="304800" cy="533400"/>
            </a:xfrm>
            <a:prstGeom prst="line">
              <a:avLst/>
            </a:prstGeom>
            <a:noFill/>
            <a:ln w="19050" algn="ctr">
              <a:solidFill>
                <a:srgbClr val="1B8DFF"/>
              </a:solidFill>
              <a:prstDash val="sysDash"/>
              <a:round/>
            </a:ln>
          </p:spPr>
          <p:txBody>
            <a:bodyPr/>
            <a:lstStyle/>
            <a:p>
              <a:endParaRPr lang="zh-CN" altLang="en-US" sz="135">
                <a:solidFill>
                  <a:prstClr val="black"/>
                </a:solidFill>
                <a:latin typeface="Calibri" panose="020F0502020204030204"/>
                <a:ea typeface="微软雅黑"/>
                <a:cs typeface="Arial"/>
              </a:endParaRPr>
            </a:p>
          </p:txBody>
        </p:sp>
        <p:sp>
          <p:nvSpPr>
            <p:cNvPr id="44" name="直接连接符 43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7772400" y="2133600"/>
              <a:ext cx="265481" cy="133290"/>
            </a:xfrm>
            <a:prstGeom prst="line">
              <a:avLst/>
            </a:prstGeom>
            <a:noFill/>
            <a:ln w="19050" algn="ctr">
              <a:solidFill>
                <a:srgbClr val="1B8DFF"/>
              </a:solidFill>
              <a:prstDash val="sysDash"/>
              <a:round/>
            </a:ln>
          </p:spPr>
          <p:txBody>
            <a:bodyPr/>
            <a:lstStyle/>
            <a:p>
              <a:endParaRPr lang="zh-CN" altLang="en-US" sz="135">
                <a:solidFill>
                  <a:prstClr val="black"/>
                </a:solidFill>
                <a:latin typeface="Calibri" panose="020F0502020204030204"/>
                <a:ea typeface="微软雅黑"/>
                <a:cs typeface="Arial"/>
              </a:endParaRPr>
            </a:p>
          </p:txBody>
        </p:sp>
        <p:sp>
          <p:nvSpPr>
            <p:cNvPr id="45" name="直接箭头连接符 30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7391400" y="1600200"/>
              <a:ext cx="304800" cy="152400"/>
            </a:xfrm>
            <a:prstGeom prst="line">
              <a:avLst/>
            </a:prstGeom>
            <a:noFill/>
            <a:ln w="19050" algn="ctr">
              <a:solidFill>
                <a:srgbClr val="0000FF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>
                <a:solidFill>
                  <a:prstClr val="black"/>
                </a:solidFill>
                <a:latin typeface="Calibri" panose="020F0502020204030204"/>
                <a:ea typeface="微软雅黑"/>
                <a:cs typeface="Arial"/>
              </a:endParaRPr>
            </a:p>
          </p:txBody>
        </p:sp>
        <p:sp>
          <p:nvSpPr>
            <p:cNvPr id="46" name="直接箭头连接符 32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>
              <a:off x="7696200" y="1600200"/>
              <a:ext cx="304800" cy="609600"/>
            </a:xfrm>
            <a:prstGeom prst="line">
              <a:avLst/>
            </a:prstGeom>
            <a:noFill/>
            <a:ln w="19050" algn="ctr">
              <a:solidFill>
                <a:srgbClr val="0000FF"/>
              </a:solidFill>
              <a:round/>
              <a:tailEnd type="arrow" w="med" len="med"/>
            </a:ln>
          </p:spPr>
          <p:txBody>
            <a:bodyPr/>
            <a:lstStyle/>
            <a:p>
              <a:endParaRPr lang="zh-CN" altLang="en-US" sz="135" dirty="0">
                <a:solidFill>
                  <a:prstClr val="black"/>
                </a:solidFill>
                <a:latin typeface="Calibri" panose="020F0502020204030204"/>
                <a:ea typeface="微软雅黑"/>
                <a:cs typeface="Arial"/>
              </a:endParaRPr>
            </a:p>
          </p:txBody>
        </p:sp>
        <p:sp>
          <p:nvSpPr>
            <p:cNvPr id="47" name="TextBox 33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934200" y="1371600"/>
              <a:ext cx="477450" cy="399767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995" b="1" i="1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F</a:t>
              </a:r>
              <a:r>
                <a:rPr lang="en-US" altLang="zh-CN" sz="1995" b="1" i="1" baseline="-25000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1</a:t>
              </a:r>
              <a:r>
                <a:rPr lang="zh-CN" altLang="en-US" sz="1995" b="1" i="1" baseline="-25000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 </a:t>
              </a:r>
              <a:endParaRPr lang="zh-CN" altLang="en-US" sz="1995" b="1" i="1">
                <a:solidFill>
                  <a:prstClr val="black"/>
                </a:solidFill>
                <a:latin typeface="Times New Roman" panose="02020603050405020304" charset="0"/>
                <a:cs typeface="Arial"/>
              </a:endParaRPr>
            </a:p>
          </p:txBody>
        </p:sp>
        <p:sp>
          <p:nvSpPr>
            <p:cNvPr id="48" name="TextBox 34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001000" y="1828800"/>
              <a:ext cx="477450" cy="399767"/>
            </a:xfrm>
            <a:prstGeom prst="rect">
              <a:avLst/>
            </a:prstGeom>
            <a:noFill/>
            <a:ln w="9525" algn="ctr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1995" b="1" i="1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F</a:t>
              </a:r>
              <a:r>
                <a:rPr lang="en-US" altLang="zh-CN" sz="1995" b="1" i="1" baseline="-25000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2</a:t>
              </a:r>
              <a:r>
                <a:rPr lang="zh-CN" altLang="en-US" sz="1995" b="1" i="1" baseline="-25000">
                  <a:solidFill>
                    <a:prstClr val="black"/>
                  </a:solidFill>
                  <a:latin typeface="Times New Roman" panose="02020603050405020304" charset="0"/>
                  <a:cs typeface="Arial"/>
                </a:rPr>
                <a:t> </a:t>
              </a:r>
              <a:endParaRPr lang="zh-CN" altLang="en-US" sz="1995" b="1" i="1">
                <a:solidFill>
                  <a:prstClr val="black"/>
                </a:solidFill>
                <a:latin typeface="Times New Roman" panose="02020603050405020304" charset="0"/>
                <a:cs typeface="Arial"/>
              </a:endParaRPr>
            </a:p>
          </p:txBody>
        </p:sp>
      </p:grpSp>
      <p:grpSp>
        <p:nvGrpSpPr>
          <p:cNvPr id="3" name="Group 28"/>
          <p:cNvGrpSpPr/>
          <p:nvPr>
            <p:custDataLst>
              <p:tags r:id="rId15"/>
            </p:custDataLst>
          </p:nvPr>
        </p:nvGrpSpPr>
        <p:grpSpPr>
          <a:xfrm>
            <a:off x="1028302" y="6985"/>
            <a:ext cx="2443135" cy="711200"/>
            <a:chOff x="690" y="-10"/>
            <a:chExt cx="1565" cy="448"/>
          </a:xfrm>
        </p:grpSpPr>
        <p:sp>
          <p:nvSpPr>
            <p:cNvPr id="2" name="Rectangle 8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711" y="-10"/>
              <a:ext cx="1523" cy="448"/>
            </a:xfrm>
            <a:prstGeom prst="rect">
              <a:avLst/>
            </a:prstGeom>
            <a:solidFill>
              <a:srgbClr val="9A713C"/>
            </a:solidFill>
            <a:ln w="9525" algn="ctr">
              <a:noFill/>
              <a:miter lim="800000"/>
            </a:ln>
          </p:spPr>
          <p:txBody>
            <a:bodyPr lIns="121914" tIns="60957" rIns="121914" bIns="60957" anchor="ctr"/>
            <a:lstStyle/>
            <a:p>
              <a:pPr marL="0" marR="0" lvl="0" indent="0" algn="ctr" defTabSz="68453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26" name="TextBox 3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690" y="-10"/>
              <a:ext cx="1565" cy="4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问题模型</a:t>
              </a:r>
              <a:r>
                <a:rPr kumimoji="0" lang="en-US" altLang="zh-CN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1</a:t>
              </a:r>
            </a:p>
          </p:txBody>
        </p:sp>
      </p:grpSp>
      <p:sp>
        <p:nvSpPr>
          <p:cNvPr id="30" name="AutoShape 10"/>
          <p:cNvSpPr>
            <a:spLocks noChangeArrowheads="1"/>
          </p:cNvSpPr>
          <p:nvPr userDrawn="1">
            <p:custDataLst>
              <p:tags r:id="rId16"/>
            </p:custDataLst>
          </p:nvPr>
        </p:nvSpPr>
        <p:spPr bwMode="auto">
          <a:xfrm>
            <a:off x="12584" y="256109"/>
            <a:ext cx="917549" cy="701778"/>
          </a:xfrm>
          <a:prstGeom prst="flowChartOffpageConnector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  <p:sp>
        <p:nvSpPr>
          <p:cNvPr id="4" name="Text Box 24"/>
          <p:cNvSpPr txBox="1">
            <a:spLocks noChangeArrowheads="1"/>
          </p:cNvSpPr>
          <p:nvPr userDrawn="1">
            <p:custDataLst>
              <p:tags r:id="rId17"/>
            </p:custDataLst>
          </p:nvPr>
        </p:nvSpPr>
        <p:spPr bwMode="auto">
          <a:xfrm rot="16200000">
            <a:off x="91674" y="-93605"/>
            <a:ext cx="759439" cy="917549"/>
          </a:xfrm>
          <a:prstGeom prst="rect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kern="0" cap="none" spc="0" normalizeH="0" baseline="0" noProof="0" dirty="0">
                <a:solidFill>
                  <a:prstClr val="white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715222" y="1927860"/>
            <a:ext cx="9454727" cy="5016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以滑梯上正匀速下滑的小孩为研究对象，受力分析如图所示，</a:t>
            </a:r>
          </a:p>
        </p:txBody>
      </p:sp>
      <p:sp>
        <p:nvSpPr>
          <p:cNvPr id="16" name="文本框 15"/>
          <p:cNvSpPr txBox="1"/>
          <p:nvPr>
            <p:custDataLst>
              <p:tags r:id="rId2"/>
            </p:custDataLst>
          </p:nvPr>
        </p:nvSpPr>
        <p:spPr>
          <a:xfrm>
            <a:off x="804579" y="2677054"/>
            <a:ext cx="5979795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支持力和摩擦力的合力与重力等值反向</a:t>
            </a: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804545" y="1115060"/>
            <a:ext cx="2666365" cy="5016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913765"/>
            <a:r>
              <a:rPr lang="zh-CN" altLang="en-US" sz="266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方法二：合成法</a:t>
            </a:r>
          </a:p>
        </p:txBody>
      </p:sp>
      <p:sp>
        <p:nvSpPr>
          <p:cNvPr id="52" name="矩形 51"/>
          <p:cNvSpPr/>
          <p:nvPr>
            <p:custDataLst>
              <p:tags r:id="rId4"/>
            </p:custDataLst>
          </p:nvPr>
        </p:nvSpPr>
        <p:spPr>
          <a:xfrm rot="19801046">
            <a:off x="8636627" y="4468861"/>
            <a:ext cx="466400" cy="334253"/>
          </a:xfrm>
          <a:prstGeom prst="rect">
            <a:avLst/>
          </a:prstGeom>
          <a:solidFill>
            <a:srgbClr val="FFEED2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95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53" name="组合 52"/>
          <p:cNvGrpSpPr/>
          <p:nvPr>
            <p:custDataLst>
              <p:tags r:id="rId5"/>
            </p:custDataLst>
          </p:nvPr>
        </p:nvGrpSpPr>
        <p:grpSpPr>
          <a:xfrm>
            <a:off x="7207385" y="3603235"/>
            <a:ext cx="2871348" cy="2176473"/>
            <a:chOff x="591" y="4658"/>
            <a:chExt cx="4533" cy="3436"/>
          </a:xfrm>
        </p:grpSpPr>
        <p:sp>
          <p:nvSpPr>
            <p:cNvPr id="54" name="直角三角形 53"/>
            <p:cNvSpPr/>
            <p:nvPr>
              <p:custDataLst>
                <p:tags r:id="rId26"/>
              </p:custDataLst>
            </p:nvPr>
          </p:nvSpPr>
          <p:spPr>
            <a:xfrm flipH="1">
              <a:off x="1205" y="5903"/>
              <a:ext cx="3262" cy="1856"/>
            </a:xfrm>
            <a:prstGeom prst="rt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"/>
            </a:p>
          </p:txBody>
        </p:sp>
        <p:grpSp>
          <p:nvGrpSpPr>
            <p:cNvPr id="55" name="组合 54"/>
            <p:cNvGrpSpPr/>
            <p:nvPr>
              <p:custDataLst>
                <p:tags r:id="rId27"/>
              </p:custDataLst>
            </p:nvPr>
          </p:nvGrpSpPr>
          <p:grpSpPr>
            <a:xfrm>
              <a:off x="2628" y="4930"/>
              <a:ext cx="553" cy="1343"/>
              <a:chOff x="2628" y="5947"/>
              <a:chExt cx="553" cy="1343"/>
            </a:xfrm>
          </p:grpSpPr>
          <p:cxnSp>
            <p:nvCxnSpPr>
              <p:cNvPr id="56" name="直接箭头连接符 55"/>
              <p:cNvCxnSpPr/>
              <p:nvPr>
                <p:custDataLst>
                  <p:tags r:id="rId38"/>
                </p:custDataLst>
              </p:nvPr>
            </p:nvCxnSpPr>
            <p:spPr>
              <a:xfrm flipH="1" flipV="1">
                <a:off x="2628" y="6328"/>
                <a:ext cx="553" cy="962"/>
              </a:xfrm>
              <a:prstGeom prst="straightConnector1">
                <a:avLst/>
              </a:prstGeom>
              <a:ln w="28575">
                <a:solidFill>
                  <a:srgbClr val="0033CC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/>
              <p:cNvSpPr txBox="1"/>
              <p:nvPr>
                <p:custDataLst>
                  <p:tags r:id="rId39"/>
                </p:custDataLst>
              </p:nvPr>
            </p:nvSpPr>
            <p:spPr>
              <a:xfrm>
                <a:off x="2654" y="5947"/>
                <a:ext cx="321" cy="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5" b="1" i="1">
                    <a:solidFill>
                      <a:srgbClr val="0033CC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r>
                  <a:rPr lang="en-US" altLang="zh-CN" sz="135" b="1" baseline="-25000">
                    <a:solidFill>
                      <a:srgbClr val="0033CC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</a:t>
                </a:r>
              </a:p>
            </p:txBody>
          </p:sp>
        </p:grpSp>
        <p:grpSp>
          <p:nvGrpSpPr>
            <p:cNvPr id="58" name="组合 57"/>
            <p:cNvGrpSpPr/>
            <p:nvPr>
              <p:custDataLst>
                <p:tags r:id="rId28"/>
              </p:custDataLst>
            </p:nvPr>
          </p:nvGrpSpPr>
          <p:grpSpPr>
            <a:xfrm>
              <a:off x="3187" y="4658"/>
              <a:ext cx="446" cy="2920"/>
              <a:chOff x="3187" y="5675"/>
              <a:chExt cx="446" cy="2920"/>
            </a:xfrm>
          </p:grpSpPr>
          <p:cxnSp>
            <p:nvCxnSpPr>
              <p:cNvPr id="64" name="直接箭头连接符 63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3218" y="7325"/>
                <a:ext cx="0" cy="1270"/>
              </a:xfrm>
              <a:prstGeom prst="straightConnector1">
                <a:avLst/>
              </a:prstGeom>
              <a:ln w="28575">
                <a:solidFill>
                  <a:srgbClr val="0033CC"/>
                </a:solidFill>
                <a:headEnd type="oval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文本框 64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3187" y="8405"/>
                <a:ext cx="309" cy="1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5" b="1" i="1">
                    <a:ln>
                      <a:noFill/>
                    </a:ln>
                    <a:solidFill>
                      <a:srgbClr val="0033CC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</a:t>
                </a:r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3315" y="5675"/>
                <a:ext cx="318" cy="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5" b="1" i="1">
                    <a:ln>
                      <a:noFill/>
                    </a:ln>
                    <a:solidFill>
                      <a:srgbClr val="0033CC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G’</a:t>
                </a:r>
              </a:p>
            </p:txBody>
          </p:sp>
        </p:grpSp>
        <p:grpSp>
          <p:nvGrpSpPr>
            <p:cNvPr id="67" name="组合 66"/>
            <p:cNvGrpSpPr/>
            <p:nvPr>
              <p:custDataLst>
                <p:tags r:id="rId29"/>
              </p:custDataLst>
            </p:nvPr>
          </p:nvGrpSpPr>
          <p:grpSpPr>
            <a:xfrm>
              <a:off x="3252" y="5398"/>
              <a:ext cx="517" cy="876"/>
              <a:chOff x="3252" y="6415"/>
              <a:chExt cx="517" cy="876"/>
            </a:xfrm>
          </p:grpSpPr>
          <p:cxnSp>
            <p:nvCxnSpPr>
              <p:cNvPr id="68" name="直接箭头连接符 67"/>
              <p:cNvCxnSpPr/>
              <p:nvPr>
                <p:custDataLst>
                  <p:tags r:id="rId33"/>
                </p:custDataLst>
              </p:nvPr>
            </p:nvCxnSpPr>
            <p:spPr>
              <a:xfrm rot="10800000" flipH="1">
                <a:off x="3252" y="6994"/>
                <a:ext cx="517" cy="297"/>
              </a:xfrm>
              <a:prstGeom prst="straightConnector1">
                <a:avLst/>
              </a:prstGeom>
              <a:ln w="28575">
                <a:solidFill>
                  <a:srgbClr val="0033CC"/>
                </a:solidFill>
                <a:headEnd type="none"/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文本框 68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3424" y="6415"/>
                <a:ext cx="314" cy="1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35" b="1" i="1">
                    <a:solidFill>
                      <a:srgbClr val="0033CC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r>
                  <a:rPr lang="en-US" altLang="zh-CN" sz="135" b="1" baseline="-25000">
                    <a:solidFill>
                      <a:srgbClr val="0033CC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</a:p>
            </p:txBody>
          </p:sp>
        </p:grpSp>
        <p:sp>
          <p:nvSpPr>
            <p:cNvPr id="70" name="文本框 69"/>
            <p:cNvSpPr txBox="1"/>
            <p:nvPr>
              <p:custDataLst>
                <p:tags r:id="rId30"/>
              </p:custDataLst>
            </p:nvPr>
          </p:nvSpPr>
          <p:spPr>
            <a:xfrm rot="21431814">
              <a:off x="591" y="7193"/>
              <a:ext cx="706" cy="9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4800" b="1" i="1" baseline="-25000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</a:p>
          </p:txBody>
        </p:sp>
        <p:sp>
          <p:nvSpPr>
            <p:cNvPr id="71" name="文本框 70"/>
            <p:cNvSpPr txBox="1"/>
            <p:nvPr>
              <p:custDataLst>
                <p:tags r:id="rId31"/>
              </p:custDataLst>
            </p:nvPr>
          </p:nvSpPr>
          <p:spPr>
            <a:xfrm rot="21431814">
              <a:off x="4418" y="5267"/>
              <a:ext cx="706" cy="9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4800" b="1" i="1" baseline="-25000"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</a:p>
          </p:txBody>
        </p:sp>
        <p:sp>
          <p:nvSpPr>
            <p:cNvPr id="72" name="文本框 71"/>
            <p:cNvSpPr txBox="1"/>
            <p:nvPr>
              <p:custDataLst>
                <p:tags r:id="rId32"/>
              </p:custDataLst>
            </p:nvPr>
          </p:nvSpPr>
          <p:spPr>
            <a:xfrm rot="21431814">
              <a:off x="4407" y="7114"/>
              <a:ext cx="706" cy="90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4800" b="1" i="1" baseline="-25000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</a:p>
          </p:txBody>
        </p:sp>
      </p:grpSp>
      <p:sp>
        <p:nvSpPr>
          <p:cNvPr id="73" name="文本框 72"/>
          <p:cNvSpPr txBox="1"/>
          <p:nvPr>
            <p:custDataLst>
              <p:tags r:id="rId6"/>
            </p:custDataLst>
          </p:nvPr>
        </p:nvSpPr>
        <p:spPr>
          <a:xfrm rot="21431814">
            <a:off x="7914295" y="5205184"/>
            <a:ext cx="285750" cy="330835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2395" b="1" i="1" baseline="-25000">
                <a:latin typeface="Times New Roman" panose="02020603050405020304" charset="0"/>
                <a:cs typeface="Times New Roman" panose="02020603050405020304" charset="0"/>
              </a:rPr>
              <a:t>θ</a:t>
            </a:r>
            <a:endParaRPr lang="zh-CN" altLang="en-US" sz="2395" b="1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74" name="直接箭头连接符 73"/>
          <p:cNvCxnSpPr/>
          <p:nvPr>
            <p:custDataLst>
              <p:tags r:id="rId7"/>
            </p:custDataLst>
          </p:nvPr>
        </p:nvCxnSpPr>
        <p:spPr>
          <a:xfrm flipH="1">
            <a:off x="8874240" y="3391499"/>
            <a:ext cx="37413" cy="125073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>
            <p:custDataLst>
              <p:tags r:id="rId8"/>
            </p:custDataLst>
          </p:nvPr>
        </p:nvSpPr>
        <p:spPr>
          <a:xfrm rot="21431814">
            <a:off x="8655908" y="4095785"/>
            <a:ext cx="302895" cy="370840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r>
              <a:rPr lang="el-GR" altLang="zh-CN" sz="2795" b="1" i="1" baseline="-25000">
                <a:latin typeface="Times New Roman" panose="02020603050405020304" charset="0"/>
                <a:cs typeface="Times New Roman" panose="02020603050405020304" charset="0"/>
              </a:rPr>
              <a:t>θ</a:t>
            </a:r>
          </a:p>
        </p:txBody>
      </p:sp>
      <p:cxnSp>
        <p:nvCxnSpPr>
          <p:cNvPr id="76" name="直接箭头连接符 75"/>
          <p:cNvCxnSpPr/>
          <p:nvPr>
            <p:custDataLst>
              <p:tags r:id="rId9"/>
            </p:custDataLst>
          </p:nvPr>
        </p:nvCxnSpPr>
        <p:spPr>
          <a:xfrm flipH="1">
            <a:off x="8514156" y="3843680"/>
            <a:ext cx="360084" cy="173187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/>
          <p:nvPr>
            <p:custDataLst>
              <p:tags r:id="rId10"/>
            </p:custDataLst>
          </p:nvPr>
        </p:nvCxnSpPr>
        <p:spPr>
          <a:xfrm>
            <a:off x="8921099" y="3867116"/>
            <a:ext cx="293321" cy="595685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prstDash val="sysDot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>
            <p:custDataLst>
              <p:tags r:id="rId11"/>
            </p:custDataLst>
          </p:nvPr>
        </p:nvCxnSpPr>
        <p:spPr>
          <a:xfrm flipV="1">
            <a:off x="8878963" y="3787564"/>
            <a:ext cx="17217" cy="829869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本框 78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419766" y="3441883"/>
                <a:ext cx="2352760" cy="5024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665" b="1" i="1" dirty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rPr>
                      <m:t>F</m:t>
                    </m:r>
                    <m:r>
                      <m:rPr>
                        <m:nor/>
                      </m:rPr>
                      <a:rPr lang="en-US" altLang="zh-CN" sz="2665" b="1" i="0" baseline="-25000" dirty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rPr>
                      <m:t>f</m:t>
                    </m:r>
                    <m:r>
                      <a:rPr lang="en-US" altLang="zh-CN" sz="2665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665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ambria Math" panose="02040503050406030204" pitchFamily="18" charset="0"/>
                      </a:rPr>
                      <m:t>𝑮</m:t>
                    </m:r>
                    <m:func>
                      <m:func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zh-CN" altLang="en-US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2665" b="1" dirty="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  </a:t>
                </a:r>
              </a:p>
            </p:txBody>
          </p:sp>
        </mc:Choice>
        <mc:Fallback xmlns="">
          <p:sp>
            <p:nvSpPr>
              <p:cNvPr id="79" name="文本框 7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1"/>
                </p:custDataLst>
              </p:nvPr>
            </p:nvSpPr>
            <p:spPr>
              <a:xfrm>
                <a:off x="1419766" y="3441883"/>
                <a:ext cx="2352760" cy="50244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3871868" y="3476972"/>
                <a:ext cx="2290242" cy="50244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665" b="1" i="1" dirty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rPr>
                      <m:t>F</m:t>
                    </m:r>
                    <m:r>
                      <m:rPr>
                        <m:nor/>
                      </m:rPr>
                      <a:rPr lang="en-US" altLang="zh-CN" sz="2665" b="1" i="0" baseline="-25000" dirty="0">
                        <a:latin typeface="Times New Roman" panose="02020603050405020304" charset="0"/>
                        <a:ea typeface="宋体" panose="02010600030101010101" pitchFamily="2" charset="-122"/>
                        <a:cs typeface="Times New Roman" panose="02020603050405020304" charset="0"/>
                        <a:sym typeface="+mn-ea"/>
                      </a:rPr>
                      <m:t>N</m:t>
                    </m:r>
                    <m:r>
                      <a:rPr lang="en-US" altLang="zh-CN" sz="2665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665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pitchFamily="2" charset="-122"/>
                        <a:cs typeface="Cambria Math" panose="02040503050406030204" pitchFamily="18" charset="0"/>
                      </a:rPr>
                      <m:t>𝑮</m:t>
                    </m:r>
                    <m:func>
                      <m:func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zh-CN" altLang="en-US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zh-CN" altLang="en-US" sz="2665" b="1" dirty="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 </a:t>
                </a:r>
              </a:p>
            </p:txBody>
          </p:sp>
        </mc:Choice>
        <mc:Fallback xmlns="">
          <p:sp>
            <p:nvSpPr>
              <p:cNvPr id="80" name="文本框 7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3"/>
                </p:custDataLst>
              </p:nvPr>
            </p:nvSpPr>
            <p:spPr>
              <a:xfrm>
                <a:off x="3871868" y="3476972"/>
                <a:ext cx="2290242" cy="50244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文本框 80"/>
          <p:cNvSpPr txBox="1"/>
          <p:nvPr>
            <p:custDataLst>
              <p:tags r:id="rId14"/>
            </p:custDataLst>
          </p:nvPr>
        </p:nvSpPr>
        <p:spPr>
          <a:xfrm>
            <a:off x="1812441" y="4221907"/>
            <a:ext cx="1482725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2665" b="1" i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665" b="1" baseline="-25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zh-CN" altLang="en-US" sz="2665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＝</a:t>
            </a:r>
            <a:r>
              <a:rPr lang="el-GR" altLang="zh-CN" sz="2665" b="1" i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μ</a:t>
            </a:r>
            <a:r>
              <a:rPr lang="en-US" altLang="zh-CN" sz="2665" b="1" i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</a:t>
            </a:r>
            <a:r>
              <a:rPr lang="en-US" altLang="zh-CN" sz="2665" b="1" baseline="-25000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</a:t>
            </a:r>
            <a:r>
              <a:rPr lang="en-US" altLang="zh-CN" sz="2665" b="1" dirty="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</a:p>
        </p:txBody>
      </p:sp>
      <p:sp>
        <p:nvSpPr>
          <p:cNvPr id="82" name="文本框 81"/>
          <p:cNvSpPr txBox="1"/>
          <p:nvPr>
            <p:custDataLst>
              <p:tags r:id="rId15"/>
            </p:custDataLst>
          </p:nvPr>
        </p:nvSpPr>
        <p:spPr>
          <a:xfrm>
            <a:off x="3566987" y="4242664"/>
            <a:ext cx="2358390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解得  </a:t>
            </a:r>
            <a:r>
              <a:rPr lang="en-US" altLang="zh-CN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tan</a:t>
            </a:r>
            <a:r>
              <a:rPr lang="el-GR" altLang="zh-CN" sz="2665" b="1" i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θ</a:t>
            </a:r>
            <a:r>
              <a:rPr lang="zh-CN" altLang="en-US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2665" b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=</a:t>
            </a:r>
            <a:r>
              <a:rPr lang="zh-CN" altLang="en-US" sz="2665" b="1" i="1" spc="15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文本框 82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812773" y="4955592"/>
                <a:ext cx="4344035" cy="67818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zh-CN" altLang="en-US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由几何关系可得：</a:t>
                </a:r>
                <a:r>
                  <a:rPr lang="en-US" altLang="zh-CN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</a:rPr>
                  <a:t>tan</a:t>
                </a:r>
                <a:r>
                  <a:rPr lang="el-GR" altLang="zh-CN" sz="2665" b="1" i="1" spc="150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θ</a:t>
                </a:r>
                <a14:m>
                  <m:oMath xmlns:m="http://schemas.openxmlformats.org/officeDocument/2006/math">
                    <m:r>
                      <a:rPr lang="en-US" altLang="zh-CN" sz="2665" b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MS Mincho" panose="02020609040205080304" charset="-128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𝑩𝑪</m:t>
                        </m:r>
                      </m:num>
                      <m:den>
                        <m:r>
                          <a:rPr lang="en-US" altLang="zh-CN" sz="2665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  <a:cs typeface="Cambria Math" panose="02040503050406030204" pitchFamily="18" charset="0"/>
                          </a:rPr>
                          <m:t>𝑨𝑪</m:t>
                        </m:r>
                      </m:den>
                    </m:f>
                  </m:oMath>
                </a14:m>
                <a:r>
                  <a:rPr lang="zh-CN" altLang="en-US" sz="2665" b="1">
                    <a:solidFill>
                      <a:schemeClr val="tx1"/>
                    </a:solidFill>
                    <a:latin typeface="Times New Roman" panose="02020603050405020304" charset="0"/>
                    <a:ea typeface="宋体" panose="02010600030101010101" pitchFamily="2" charset="-122"/>
                    <a:cs typeface="Times New Roman" panose="02020603050405020304" charset="0"/>
                    <a:sym typeface="+mn-ea"/>
                  </a:rPr>
                  <a:t> 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83" name="文本框 8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45"/>
                </p:custDataLst>
              </p:nvPr>
            </p:nvSpPr>
            <p:spPr>
              <a:xfrm>
                <a:off x="1812773" y="4955592"/>
                <a:ext cx="4344035" cy="678180"/>
              </a:xfrm>
              <a:prstGeom prst="rect">
                <a:avLst/>
              </a:prstGeom>
              <a:blipFill rotWithShape="1">
                <a:blip r:embed="rId46"/>
                <a:stretch>
                  <a:fillRect l="-11" t="-8" r="-2006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文本框 83"/>
          <p:cNvSpPr txBox="1"/>
          <p:nvPr>
            <p:custDataLst>
              <p:tags r:id="rId17"/>
            </p:custDataLst>
          </p:nvPr>
        </p:nvSpPr>
        <p:spPr>
          <a:xfrm>
            <a:off x="1689094" y="5863109"/>
            <a:ext cx="4649470" cy="50165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zh-CN" altLang="en-US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可得：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h=</a:t>
            </a:r>
            <a:r>
              <a:rPr lang="el-GR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μ</a:t>
            </a:r>
            <a:r>
              <a:rPr lang="el-GR" altLang="zh-CN" sz="2665" b="1" i="1">
                <a:solidFill>
                  <a:schemeClr val="tx1"/>
                </a:solidFill>
                <a:latin typeface="微软雅黑" panose="020B0503020204020204" charset="-122"/>
                <a:ea typeface="微软雅黑"/>
                <a:cs typeface="Times New Roman" panose="02020603050405020304" charset="0"/>
                <a:sym typeface="+mn-ea"/>
              </a:rPr>
              <a:t>·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AC=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0.4×6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m=</a:t>
            </a:r>
            <a:r>
              <a:rPr lang="en-US" altLang="zh-CN" sz="2665" b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2.4</a:t>
            </a:r>
            <a:r>
              <a:rPr lang="en-US" altLang="zh-CN" sz="2665" b="1" i="1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</a:t>
            </a:r>
          </a:p>
        </p:txBody>
      </p:sp>
      <p:sp>
        <p:nvSpPr>
          <p:cNvPr id="89" name="文本框 88"/>
          <p:cNvSpPr txBox="1"/>
          <p:nvPr>
            <p:custDataLst>
              <p:tags r:id="rId18"/>
            </p:custDataLst>
          </p:nvPr>
        </p:nvSpPr>
        <p:spPr>
          <a:xfrm>
            <a:off x="8893387" y="5075767"/>
            <a:ext cx="342053" cy="501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665" b="1" i="1">
                <a:ln>
                  <a:noFill/>
                </a:ln>
                <a:solidFill>
                  <a:srgbClr val="0033CC"/>
                </a:solidFill>
                <a:latin typeface="Times New Roman" panose="02020603050405020304" charset="0"/>
                <a:cs typeface="Times New Roman" panose="02020603050405020304" charset="0"/>
              </a:rPr>
              <a:t>G</a:t>
            </a:r>
          </a:p>
        </p:txBody>
      </p:sp>
      <p:sp>
        <p:nvSpPr>
          <p:cNvPr id="92" name="文本框 91"/>
          <p:cNvSpPr txBox="1"/>
          <p:nvPr>
            <p:custDataLst>
              <p:tags r:id="rId19"/>
            </p:custDataLst>
          </p:nvPr>
        </p:nvSpPr>
        <p:spPr>
          <a:xfrm>
            <a:off x="9071187" y="4414520"/>
            <a:ext cx="640080" cy="501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665" b="1" i="1">
                <a:solidFill>
                  <a:srgbClr val="0033CC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sz="2665" b="1" baseline="-25000">
                <a:solidFill>
                  <a:srgbClr val="0033CC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</a:p>
        </p:txBody>
      </p:sp>
      <p:sp>
        <p:nvSpPr>
          <p:cNvPr id="95" name="文本框 94"/>
          <p:cNvSpPr txBox="1"/>
          <p:nvPr>
            <p:custDataLst>
              <p:tags r:id="rId20"/>
            </p:custDataLst>
          </p:nvPr>
        </p:nvSpPr>
        <p:spPr>
          <a:xfrm>
            <a:off x="7874000" y="3937000"/>
            <a:ext cx="695113" cy="501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665" b="1" i="1">
                <a:solidFill>
                  <a:srgbClr val="0033CC"/>
                </a:solidFill>
                <a:latin typeface="Times New Roman" panose="02020603050405020304" charset="0"/>
                <a:cs typeface="Times New Roman" panose="02020603050405020304" charset="0"/>
              </a:rPr>
              <a:t>F</a:t>
            </a:r>
            <a:r>
              <a:rPr lang="en-US" altLang="zh-CN" sz="2665" b="1" baseline="-25000">
                <a:solidFill>
                  <a:srgbClr val="0033CC"/>
                </a:solidFill>
                <a:latin typeface="Times New Roman" panose="02020603050405020304" charset="0"/>
                <a:cs typeface="Times New Roman" panose="02020603050405020304" charset="0"/>
              </a:rPr>
              <a:t>N</a:t>
            </a:r>
          </a:p>
        </p:txBody>
      </p:sp>
      <p:grpSp>
        <p:nvGrpSpPr>
          <p:cNvPr id="3" name="Group 28"/>
          <p:cNvGrpSpPr/>
          <p:nvPr>
            <p:custDataLst>
              <p:tags r:id="rId21"/>
            </p:custDataLst>
          </p:nvPr>
        </p:nvGrpSpPr>
        <p:grpSpPr>
          <a:xfrm>
            <a:off x="1028302" y="6985"/>
            <a:ext cx="2443135" cy="711200"/>
            <a:chOff x="690" y="-10"/>
            <a:chExt cx="1565" cy="448"/>
          </a:xfrm>
        </p:grpSpPr>
        <p:sp>
          <p:nvSpPr>
            <p:cNvPr id="4" name="Rectangle 8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11" y="-10"/>
              <a:ext cx="1523" cy="448"/>
            </a:xfrm>
            <a:prstGeom prst="rect">
              <a:avLst/>
            </a:prstGeom>
            <a:solidFill>
              <a:srgbClr val="9A713C"/>
            </a:solidFill>
            <a:ln w="9525" algn="ctr">
              <a:noFill/>
              <a:miter lim="800000"/>
            </a:ln>
          </p:spPr>
          <p:txBody>
            <a:bodyPr lIns="121914" tIns="60957" rIns="121914" bIns="60957" anchor="ctr"/>
            <a:lstStyle/>
            <a:p>
              <a:pPr marL="0" marR="0" lvl="0" indent="0" algn="ctr" defTabSz="68453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5" name="TextBox 3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690" y="-10"/>
              <a:ext cx="1565" cy="4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问题模型</a:t>
              </a:r>
              <a:r>
                <a:rPr kumimoji="0" lang="en-US" altLang="zh-CN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1</a:t>
              </a:r>
            </a:p>
          </p:txBody>
        </p:sp>
      </p:grpSp>
      <p:sp>
        <p:nvSpPr>
          <p:cNvPr id="30" name="AutoShape 10"/>
          <p:cNvSpPr>
            <a:spLocks noChangeArrowheads="1"/>
          </p:cNvSpPr>
          <p:nvPr userDrawn="1">
            <p:custDataLst>
              <p:tags r:id="rId22"/>
            </p:custDataLst>
          </p:nvPr>
        </p:nvSpPr>
        <p:spPr bwMode="auto">
          <a:xfrm>
            <a:off x="12584" y="256109"/>
            <a:ext cx="917549" cy="701778"/>
          </a:xfrm>
          <a:prstGeom prst="flowChartOffpageConnector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 userDrawn="1">
            <p:custDataLst>
              <p:tags r:id="rId23"/>
            </p:custDataLst>
          </p:nvPr>
        </p:nvSpPr>
        <p:spPr bwMode="auto">
          <a:xfrm rot="16200000">
            <a:off x="91674" y="-93605"/>
            <a:ext cx="759439" cy="917549"/>
          </a:xfrm>
          <a:prstGeom prst="rect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kern="0" cap="none" spc="0" normalizeH="0" baseline="0" noProof="0" dirty="0">
                <a:solidFill>
                  <a:prstClr val="white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6327140" y="4400127"/>
            <a:ext cx="5291667" cy="19399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65" b="1" u="sng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合成法</a:t>
            </a:r>
            <a:r>
              <a:rPr lang="zh-CN" altLang="en-US" sz="2665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665" b="1">
                <a:latin typeface="宋体" panose="02010600030101010101" pitchFamily="2" charset="-122"/>
                <a:ea typeface="宋体" panose="02010600030101010101" pitchFamily="2" charset="-122"/>
              </a:rPr>
              <a:t>把物体所受的力合成为两个力，则这两个力大小相等、方向相反，并且在同一条直线上。</a:t>
            </a: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804333" y="4400127"/>
            <a:ext cx="4806527" cy="18417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65" b="1" u="sng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正交分解法</a:t>
            </a:r>
            <a:r>
              <a:rPr lang="zh-CN" altLang="en-US" sz="2665" b="1" dirty="0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sz="2665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把物体所受的力在两个互相垂直的方向上分解，每个方向上合力都为0。</a:t>
            </a: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89660" y="2054013"/>
            <a:ext cx="3386667" cy="22013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660640" y="1622213"/>
            <a:ext cx="2624667" cy="2633133"/>
          </a:xfrm>
          <a:prstGeom prst="rect">
            <a:avLst/>
          </a:prstGeom>
        </p:spPr>
      </p:pic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804333" y="1175173"/>
            <a:ext cx="2893907" cy="5016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defTabSz="913765"/>
            <a:r>
              <a:rPr lang="zh-CN" altLang="en-US" sz="2665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</a:rPr>
              <a:t>两种方法的特点：</a:t>
            </a:r>
          </a:p>
        </p:txBody>
      </p:sp>
      <p:grpSp>
        <p:nvGrpSpPr>
          <p:cNvPr id="6" name="Group 28"/>
          <p:cNvGrpSpPr/>
          <p:nvPr>
            <p:custDataLst>
              <p:tags r:id="rId6"/>
            </p:custDataLst>
          </p:nvPr>
        </p:nvGrpSpPr>
        <p:grpSpPr>
          <a:xfrm>
            <a:off x="1028302" y="6985"/>
            <a:ext cx="2443135" cy="711200"/>
            <a:chOff x="690" y="-10"/>
            <a:chExt cx="1565" cy="448"/>
          </a:xfrm>
        </p:grpSpPr>
        <p:sp>
          <p:nvSpPr>
            <p:cNvPr id="7" name="Rectangle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711" y="-10"/>
              <a:ext cx="1523" cy="448"/>
            </a:xfrm>
            <a:prstGeom prst="rect">
              <a:avLst/>
            </a:prstGeom>
            <a:solidFill>
              <a:srgbClr val="9A713C"/>
            </a:solidFill>
            <a:ln w="9525" algn="ctr">
              <a:noFill/>
              <a:miter lim="800000"/>
            </a:ln>
          </p:spPr>
          <p:txBody>
            <a:bodyPr lIns="121914" tIns="60957" rIns="121914" bIns="60957" anchor="ctr"/>
            <a:lstStyle/>
            <a:p>
              <a:pPr marL="0" marR="0" lvl="0" indent="0" algn="ctr" defTabSz="68453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altLang="zh-CN" sz="3600" b="0" i="0" u="none" strike="noStrike" kern="0" cap="none" spc="0" normalizeH="0" baseline="0" noProof="0">
                <a:ln>
                  <a:noFill/>
                </a:ln>
                <a:solidFill>
                  <a:srgbClr val="0099CC"/>
                </a:solidFill>
                <a:effectLst/>
                <a:uLnTx/>
                <a:uFillTx/>
                <a:latin typeface="微软雅黑" panose="020B0503020204020204" charset="-122"/>
                <a:ea typeface="微软雅黑"/>
              </a:endParaRPr>
            </a:p>
          </p:txBody>
        </p:sp>
        <p:sp>
          <p:nvSpPr>
            <p:cNvPr id="8" name="TextBox 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690" y="-10"/>
              <a:ext cx="1565" cy="40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问题模型</a:t>
              </a:r>
              <a:r>
                <a:rPr kumimoji="0" lang="en-US" altLang="zh-CN" sz="3600" b="1" i="0" u="sng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/>
                </a:rPr>
                <a:t>1</a:t>
              </a:r>
            </a:p>
          </p:txBody>
        </p:sp>
      </p:grpSp>
      <p:sp>
        <p:nvSpPr>
          <p:cNvPr id="30" name="AutoShape 10"/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12584" y="256109"/>
            <a:ext cx="917549" cy="701778"/>
          </a:xfrm>
          <a:prstGeom prst="flowChartOffpageConnector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0099CC"/>
              </a:solidFill>
              <a:effectLst/>
              <a:uLnTx/>
              <a:uFillTx/>
              <a:latin typeface="微软雅黑" panose="020B0503020204020204" charset="-122"/>
              <a:ea typeface="微软雅黑"/>
            </a:endParaRPr>
          </a:p>
        </p:txBody>
      </p:sp>
      <p:sp>
        <p:nvSpPr>
          <p:cNvPr id="37" name="Text Box 24"/>
          <p:cNvSpPr txBox="1"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 rot="16200000">
            <a:off x="91674" y="-93605"/>
            <a:ext cx="759439" cy="917549"/>
          </a:xfrm>
          <a:prstGeom prst="rect">
            <a:avLst/>
          </a:prstGeom>
          <a:solidFill>
            <a:srgbClr val="9A713C"/>
          </a:solidFill>
          <a:ln w="9525">
            <a:noFill/>
            <a:miter lim="800000"/>
          </a:ln>
        </p:spPr>
        <p:txBody>
          <a:bodyPr vert="eaVert" wrap="square">
            <a:spAutoFit/>
          </a:bodyPr>
          <a:lstStyle/>
          <a:p>
            <a:pPr marR="0" indent="0" algn="ctr" defTabSz="91440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735" b="1" i="0" kern="0" cap="none" spc="0" normalizeH="0" baseline="0" noProof="0" dirty="0">
                <a:solidFill>
                  <a:prstClr val="white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9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77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7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7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6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8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5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5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6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60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4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6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33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3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4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9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0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1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29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39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2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3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7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3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8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9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5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3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4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8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4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5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69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3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3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9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4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5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6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6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9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80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7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78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6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9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9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7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9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2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3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5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88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8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0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2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6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4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5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6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9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000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7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998"/>
</p:tagLst>
</file>

<file path=ppt/tags/tag306.xml><?xml version="1.0" encoding="utf-8"?>
<p:tagLst xmlns:p="http://schemas.openxmlformats.org/presentationml/2006/main">
  <p:tag name="AS_UNIQUEID" val="1807"/>
</p:tagLst>
</file>

<file path=ppt/tags/tag308.xml><?xml version="1.0" encoding="utf-8"?>
<p:tagLst xmlns:p="http://schemas.openxmlformats.org/presentationml/2006/main">
  <p:tag name="AS_UNIQUEID" val="1809"/>
</p:tagLst>
</file>

<file path=ppt/tags/tag312.xml><?xml version="1.0" encoding="utf-8"?>
<p:tagLst xmlns:p="http://schemas.openxmlformats.org/presentationml/2006/main">
  <p:tag name="AS_UNIQUEID" val="1813"/>
</p:tagLst>
</file>

<file path=ppt/tags/tag376.xml><?xml version="1.0" encoding="utf-8"?>
<p:tagLst xmlns:p="http://schemas.openxmlformats.org/presentationml/2006/main">
  <p:tag name="AS_UNIQUEID" val="1813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7"/>
</p:tagLst>
</file>

<file path=ppt/tags/tag1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and Chinese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功" id="{305D7A6B-F211-124E-A565-AFD60AE97881}" vid="{BCE79254-6837-AE48-BBE5-2699EE225D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4</TotalTime>
  <Words>730</Words>
  <Application>Microsoft Macintosh PowerPoint</Application>
  <PresentationFormat>Widescreen</PresentationFormat>
  <Paragraphs>112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2" baseType="lpstr">
      <vt:lpstr>楷体</vt:lpstr>
      <vt:lpstr>隶书</vt:lpstr>
      <vt:lpstr>微软雅黑</vt:lpstr>
      <vt:lpstr>黑体</vt:lpstr>
      <vt:lpstr>宋体</vt:lpstr>
      <vt:lpstr>Aptos</vt:lpstr>
      <vt:lpstr>Arial</vt:lpstr>
      <vt:lpstr>Calibri</vt:lpstr>
      <vt:lpstr>Cambria Math</vt:lpstr>
      <vt:lpstr>Times New Roman</vt:lpstr>
      <vt:lpstr>Verdana</vt:lpstr>
      <vt:lpstr>Office 主题​​</vt:lpstr>
      <vt:lpstr>Equation</vt:lpstr>
      <vt:lpstr>共点力的平衡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Xingyu Shu</dc:creator>
  <cp:lastModifiedBy>Xingyu Shu</cp:lastModifiedBy>
  <cp:revision>1</cp:revision>
  <dcterms:created xsi:type="dcterms:W3CDTF">2026-10-26T01:15:32Z</dcterms:created>
  <dcterms:modified xsi:type="dcterms:W3CDTF">2026-10-26T01:19:53Z</dcterms:modified>
</cp:coreProperties>
</file>