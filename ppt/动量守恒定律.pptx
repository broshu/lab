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39" r:id="rId6"/>
    <p:sldId id="261" r:id="rId7"/>
    <p:sldId id="286" r:id="rId8"/>
    <p:sldId id="319" r:id="rId9"/>
    <p:sldId id="288" r:id="rId10"/>
    <p:sldId id="321" r:id="rId11"/>
    <p:sldId id="289" r:id="rId12"/>
    <p:sldId id="342" r:id="rId13"/>
    <p:sldId id="322" r:id="rId14"/>
    <p:sldId id="294" r:id="rId15"/>
    <p:sldId id="324" r:id="rId16"/>
    <p:sldId id="295" r:id="rId17"/>
    <p:sldId id="326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07894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动量守恒定律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law of conservation of momentum</a:t>
            </a:r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001C1-025E-0AF5-5A11-060CAFD5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动量定理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284647-A22E-A20A-653B-640F7EA5B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在上节课，我们通过牛顿第二定律推导出了动量定理</a:t>
                </a:r>
                <a:endParaRPr lang="en-US" altLang="zh-CN" dirty="0"/>
              </a:p>
              <a:p>
                <a:r>
                  <a:rPr lang="zh-CN" altLang="en-US" dirty="0"/>
                  <a:t>表达式：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284647-A22E-A20A-653B-640F7EA5B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40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E1C42-51E5-6B0D-0449-F05656EFD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运用动量观点思考：</a:t>
            </a:r>
            <a:endParaRPr lang="en-US" dirty="0"/>
          </a:p>
        </p:txBody>
      </p:sp>
      <p:pic>
        <p:nvPicPr>
          <p:cNvPr id="1026" name="Picture 2" descr="Rear-Ending Cases: Need To Know!">
            <a:extLst>
              <a:ext uri="{FF2B5EF4-FFF2-40B4-BE49-F238E27FC236}">
                <a16:creationId xmlns:a16="http://schemas.microsoft.com/office/drawing/2014/main" id="{1FC26BA7-64C2-7F95-898F-A0FA7D19133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9365" y="1825625"/>
            <a:ext cx="4799269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6310E869-EB20-F115-A0E8-C5C6CCF8E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zh-CN" altLang="en-US" dirty="0"/>
              <a:t>此时能量守恒吗？</a:t>
            </a:r>
            <a:endParaRPr lang="en-US" altLang="zh-CN" dirty="0"/>
          </a:p>
          <a:p>
            <a:r>
              <a:rPr lang="zh-CN" altLang="en-US" dirty="0"/>
              <a:t>遵循牛顿第三定律吗？</a:t>
            </a:r>
            <a:endParaRPr lang="en-US" altLang="zh-CN" dirty="0"/>
          </a:p>
          <a:p>
            <a:r>
              <a:rPr lang="zh-CN" altLang="en-US" dirty="0"/>
              <a:t>如何用动量定理列式？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2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4B038-9FD6-B749-24BD-1973D16D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手榴弹爆炸符合动量守恒定律吗？</a:t>
            </a:r>
            <a:endParaRPr lang="en-US" dirty="0"/>
          </a:p>
        </p:txBody>
      </p:sp>
      <p:pic>
        <p:nvPicPr>
          <p:cNvPr id="2050" name="Picture 2" descr="ELI5: a grenade explosion : r/explainlikeimfive">
            <a:extLst>
              <a:ext uri="{FF2B5EF4-FFF2-40B4-BE49-F238E27FC236}">
                <a16:creationId xmlns:a16="http://schemas.microsoft.com/office/drawing/2014/main" id="{6DF81889-5A97-4631-9415-813787A050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2" y="2996406"/>
            <a:ext cx="35718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99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33140-7981-0A77-0D1B-B723CC43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动量守恒的条件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CB4DF-D860-46B4-2B26-16EA74CF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系统不受外力</a:t>
            </a:r>
            <a:endParaRPr lang="en-US" altLang="zh-CN" dirty="0"/>
          </a:p>
          <a:p>
            <a:r>
              <a:rPr lang="zh-CN" altLang="en-US" dirty="0"/>
              <a:t>系统受外力矢量和为</a:t>
            </a:r>
            <a:r>
              <a:rPr lang="en-US" altLang="zh-CN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3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">
            <a:extLst>
              <a:ext uri="{FF2B5EF4-FFF2-40B4-BE49-F238E27FC236}">
                <a16:creationId xmlns:a16="http://schemas.microsoft.com/office/drawing/2014/main" id="{06984567-4502-3AC0-76BE-9F611B6DEC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67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7" name="yt_shape_10717"/>
          <p:cNvSpPr txBox="1"/>
          <p:nvPr/>
        </p:nvSpPr>
        <p:spPr>
          <a:xfrm>
            <a:off x="324071" y="46799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动量守恒的判断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</a:t>
            </a:r>
            <a:endParaRPr lang="en-US" altLang="zh-CN" sz="2800" b="0" i="0" u="none" dirty="0">
              <a:solidFill>
                <a:srgbClr val="0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叙述的情况中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757d0"/>
              </a:rPr>
              <a:t>系统动量守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恒的是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0718" name="yt_image_10718" title="H_154.04993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4181" y="467999"/>
            <a:ext cx="4190836" cy="146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0720" title="H_282.2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1622367"/>
          <a:ext cx="11543919" cy="3584448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斜向上抛出的手榴弹在空中炸开时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如图甲所示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小车停在光滑水平面上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车上的人在车上走动时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0937e"/>
                        </a:rPr>
                        <a:t>人与车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组成的系统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子弹射入紧靠墙角的木块中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子弹与木块组成的系统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如图乙所示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子弹射入放在光滑水平面上的木块中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7_ef83a"/>
                        </a:rPr>
                        <a:t>子弹与木块组成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的系统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850" y="16986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850" y="23844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850" y="41116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2" name="yt_shape_10722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手榴弹在空中炸开时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系统内力远大于外力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97b27"/>
              </a:rPr>
              <a:t>因此动量守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题图甲小车停在光滑水平面上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车上的人在车上走动时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95ca5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人与车组成的系统所受合外力为零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30af1"/>
              </a:rPr>
              <a:t>子弹射入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紧靠墙角的木块中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子弹与木块组成的系统所受合外力不为零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7577e"/>
              </a:rPr>
              <a:t>因此动量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题图乙子弹射入放在光滑水平面上的木块中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f7e44"/>
              </a:rPr>
              <a:t>子弹与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木块组成的系统所受合外力为零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2" name="yt_shape_10732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动量守恒定律的普适性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在微观粒子发生碰撞时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acda0"/>
              </a:rPr>
              <a:t>运用动量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守恒定律还可测量微观粒子的质量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例如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氢原子核的质量是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67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baseline="3000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27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8913"/>
              </a:rPr>
              <a:t> 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它以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的速度与一个原来静止的未知原子核相碰撞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07087"/>
              </a:rPr>
              <a:t>碰撞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后以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的速度被反弹回来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而未知原子核以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ab0e4"/>
              </a:rPr>
              <a:t>的速度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向前运动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则未知原子核的质量与氢原子核的质量比值为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733" name="yt_table_10733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444781"/>
          <a:ext cx="3884930" cy="1194816"/>
        </p:xfrm>
        <a:graphic>
          <a:graphicData uri="http://schemas.openxmlformats.org/drawingml/2006/table">
            <a:tbl>
              <a:tblPr/>
              <a:tblGrid>
                <a:gridCol w="2586355">
                  <a:extLst>
                    <a:ext uri="{9D8B030D-6E8A-4147-A177-3AD203B41FA5}">
                      <a16:colId xmlns:a16="http://schemas.microsoft.com/office/drawing/2014/main" val="1007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10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9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662650" y="35274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35" name="yt_shape_10735"/>
              <p:cNvSpPr txBox="1"/>
              <p:nvPr/>
            </p:nvSpPr>
            <p:spPr>
              <a:xfrm>
                <a:off x="324071" y="467999"/>
                <a:ext cx="11924914" cy="208512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令氢原子核与未知原子核的质量分别为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8db7e"/>
                  </a:rPr>
                  <a:t>根据动量守恒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定律有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220d"/>
                  </a:rPr>
                  <a:t> 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0735" name="yt_shape_107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085123"/>
              </a:xfrm>
              <a:prstGeom prst="rect">
                <a:avLst/>
              </a:prstGeom>
              <a:blipFill>
                <a:blip r:embed="rId2"/>
                <a:stretch>
                  <a:fillRect l="-1789" t="-1170" b="-23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7" name="yt_shape_10737"/>
          <p:cNvSpPr txBox="1"/>
          <p:nvPr/>
        </p:nvSpPr>
        <p:spPr>
          <a:xfrm>
            <a:off x="324071" y="467999"/>
            <a:ext cx="11924914" cy="38881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动量守恒定律的简单应用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endParaRPr lang="en-US" altLang="zh-CN" sz="2800" b="0" i="0" u="none" dirty="0">
              <a:solidFill>
                <a:srgbClr val="000000"/>
              </a:solidFill>
              <a:effectLst/>
              <a:latin typeface="宋体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某同学质量为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9214a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在军事训练中要求他从岸上以</a:t>
            </a:r>
            <a:endParaRPr lang="en-US" altLang="zh-CN" sz="2800" b="0" i="0" u="none" dirty="0">
              <a:solidFill>
                <a:srgbClr val="0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9b7d3"/>
              </a:rPr>
              <a:t>的速度水平向右跳到一条向他缓缓飘来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的小船</a:t>
            </a:r>
            <a:endParaRPr lang="en-US" altLang="zh-CN" sz="2800" b="0" i="0" u="none" dirty="0">
              <a:solidFill>
                <a:srgbClr val="0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然后去执行任务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小船的质量是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原来</a:t>
            </a:r>
            <a:endParaRPr lang="en-US" altLang="zh-CN" sz="2800" b="0" i="0" u="none" dirty="0">
              <a:solidFill>
                <a:srgbClr val="000000"/>
              </a:solidFill>
              <a:effectLst/>
              <a:latin typeface="Times New Roman" pitchFamily="28"/>
              <a:ea typeface="宋体" pitchFamily="28"/>
            </a:endParaRP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的速度是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e8db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该同学上船后又跑了几步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最终停在船上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不计阻力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该同学停在船上时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小船的速度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pic>
        <p:nvPicPr>
          <p:cNvPr id="10740" name="yt_image_10740" title="H_173.4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5858" y="576965"/>
            <a:ext cx="3258340" cy="220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yt_shape_10739"/>
          <p:cNvSpPr txBox="1"/>
          <p:nvPr/>
        </p:nvSpPr>
        <p:spPr>
          <a:xfrm>
            <a:off x="324071" y="4040559"/>
            <a:ext cx="5993628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方向水平向右　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0746"/>
          <p:cNvSpPr txBox="1"/>
          <p:nvPr/>
        </p:nvSpPr>
        <p:spPr>
          <a:xfrm>
            <a:off x="387642" y="1053981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以向右为正方向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设该同学与船的质量分别为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ba7ee"/>
              </a:rPr>
              <a:t>该同学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上船后最终相对静止时共同速度为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由系统动量守恒可得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24ff9"/>
              </a:rPr>
              <a:t>m</a:t>
            </a:r>
            <a:b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0747"/>
              <p:cNvSpPr txBox="1"/>
              <p:nvPr/>
            </p:nvSpPr>
            <p:spPr>
              <a:xfrm>
                <a:off x="387571" y="2843450"/>
                <a:ext cx="10841109" cy="141320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60×2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100×0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60+100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可知该同学停在船上时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小船的速度大小为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方向水平向右。</a:t>
                </a:r>
              </a:p>
            </p:txBody>
          </p:sp>
        </mc:Choice>
        <mc:Fallback xmlns:p14="http://schemas.microsoft.com/office/powerpoint/2010/main" xmlns="">
          <p:sp>
            <p:nvSpPr>
              <p:cNvPr id="3" name="yt_shape_107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" y="2843450"/>
                <a:ext cx="10841109" cy="1413207"/>
              </a:xfrm>
              <a:prstGeom prst="rect">
                <a:avLst/>
              </a:prstGeom>
              <a:blipFill>
                <a:blip r:embed="rId2"/>
                <a:stretch>
                  <a:fillRect l="-2025" r="-731" b="-150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8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2" name="yt_shape_10742"/>
          <p:cNvSpPr txBox="1"/>
          <p:nvPr/>
        </p:nvSpPr>
        <p:spPr>
          <a:xfrm>
            <a:off x="324000" y="467999"/>
            <a:ext cx="520655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全过程中小船受到的冲量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0743"/>
          <p:cNvSpPr txBox="1"/>
          <p:nvPr/>
        </p:nvSpPr>
        <p:spPr>
          <a:xfrm>
            <a:off x="324000" y="1203348"/>
            <a:ext cx="5456622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方向水平向右</a:t>
            </a:r>
          </a:p>
        </p:txBody>
      </p:sp>
      <p:pic>
        <p:nvPicPr>
          <p:cNvPr id="10744" name="yt_image_10744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9165" y="468852"/>
            <a:ext cx="2962127" cy="200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yt_shape_10749"/>
          <p:cNvSpPr txBox="1"/>
          <p:nvPr/>
        </p:nvSpPr>
        <p:spPr>
          <a:xfrm>
            <a:off x="187752" y="1939723"/>
            <a:ext cx="10076476" cy="173868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以向右为正方向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根据动量定理可得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－（－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－（－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可知全过程中小船受到的冲量大小为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方向水平向右。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8" name="yt_shape_10768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弹簧的一端固定在竖直墙上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1a5b9"/>
              </a:rPr>
              <a:t>的光滑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弧形槽静止在光滑水平面上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底部与水平面平滑连接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一个质量也为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62b0"/>
              </a:rPr>
              <a:t>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小球从槽上高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处由静止开始自由下滑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0769" name="yt_image_10769" title="H_112.84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7122" y="2409832"/>
            <a:ext cx="3737754" cy="14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771" name="yt_table_1077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893372"/>
          <a:ext cx="10721975" cy="2389632"/>
        </p:xfrm>
        <a:graphic>
          <a:graphicData uri="http://schemas.openxmlformats.org/drawingml/2006/table">
            <a:tbl>
              <a:tblPr/>
              <a:tblGrid>
                <a:gridCol w="10721975">
                  <a:extLst>
                    <a:ext uri="{9D8B030D-6E8A-4147-A177-3AD203B41FA5}">
                      <a16:colId xmlns:a16="http://schemas.microsoft.com/office/drawing/2014/main" val="10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在小球下滑的过程中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小球和槽组成的系统水平方向动量守恒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在小球下滑的过程中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小球和槽组成的系统动量守恒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小球与弹簧作用时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小球与弹簧组成的系统动量守恒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小球与弹簧作用时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小球与弹簧组成的系统动量不守恒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7250" y="391877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250" y="589058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3" name="yt_shape_10773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 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在小球下滑的过程中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小球和槽组成的系统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14b0d"/>
              </a:rPr>
              <a:t>在水平方向上不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则水平方向上动量守恒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小球与弹簧接触后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306e7"/>
              </a:rPr>
              <a:t>小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球与弹簧组成的系统受到墙的作用力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墙对系统的作用力是外力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122ed"/>
              </a:rPr>
              <a:t>则系统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动量不守恒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4" name="yt_shape_10774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一个小孩将质量为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初速度大小为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仰角为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c0d8a"/>
              </a:rPr>
              <a:t>θ</a:t>
            </a:r>
            <a:b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的石头抛入一个装有砂子的总质量为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的静止的砂车中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8c3ea"/>
              </a:rPr>
              <a:t>砂车与水平地面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间的摩擦可以忽略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石头和砂车获得共同速度后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砂车底部出现一小孔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e37a8"/>
              </a:rPr>
              <a:t>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砂子从小孔中漏出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0775" name="yt_image_10775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95353" y="2495587"/>
            <a:ext cx="2693060" cy="126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yt_table_10777" title="H_235.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8671" y="2538099"/>
              <a:ext cx="9473375" cy="2990850"/>
            </p:xfrm>
            <a:graphic>
              <a:graphicData uri="http://schemas.openxmlformats.org/drawingml/2006/table">
                <a:tbl>
                  <a:tblPr/>
                  <a:tblGrid>
                    <a:gridCol w="9473375">
                      <a:extLst>
                        <a:ext uri="{9D8B030D-6E8A-4147-A177-3AD203B41FA5}">
                          <a16:colId xmlns:a16="http://schemas.microsoft.com/office/drawing/2014/main" val="100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石头和砂车的共同速度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cos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石头和砂车获得共同速度后漏砂过程中系统动量守恒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砂子漏出后做直线运动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水平方向的速度变小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当漏出质量为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en-US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的砂子时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砂车的速度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v'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cos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7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5="http://schemas.microsoft.com/office/powerpoint/2012/main" xmlns:p14="http://schemas.microsoft.com/office/powerpoint/2010/main" xmlns="">
          <p:graphicFrame>
            <p:nvGraphicFramePr>
              <p:cNvPr id="4" name="yt_table_10777" title="H_235.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136348"/>
                  </p:ext>
                </p:extLst>
              </p:nvPr>
            </p:nvGraphicFramePr>
            <p:xfrm>
              <a:off x="298671" y="2538099"/>
              <a:ext cx="9473375" cy="3131566"/>
            </p:xfrm>
            <a:graphic>
              <a:graphicData uri="http://schemas.openxmlformats.org/drawingml/2006/table">
                <a:tbl>
                  <a:tblPr/>
                  <a:tblGrid>
                    <a:gridCol w="9473375">
                      <a:extLst>
                        <a:ext uri="{9D8B030D-6E8A-4147-A177-3AD203B41FA5}">
                          <a16:colId xmlns:a16="http://schemas.microsoft.com/office/drawing/2014/main" val="10073"/>
                        </a:ext>
                      </a:extLst>
                    </a:gridCol>
                  </a:tblGrid>
                  <a:tr h="968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b="-2289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4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石头和砂车获得共同速度后漏砂过程中系统动量守恒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5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砂子漏出后做直线运动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水平方向的速度变小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6"/>
                      </a:ext>
                    </a:extLst>
                  </a:tr>
                  <a:tr h="968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223899" b="-5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 4"/>
          <p:cNvSpPr/>
          <p:nvPr/>
        </p:nvSpPr>
        <p:spPr>
          <a:xfrm>
            <a:off x="97255" y="28035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78" name="yt_shape_10778"/>
              <p:cNvSpPr txBox="1"/>
              <p:nvPr/>
            </p:nvSpPr>
            <p:spPr>
              <a:xfrm>
                <a:off x="324071" y="467999"/>
                <a:ext cx="11924914" cy="557511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 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石头与砂车组成的系统在水平方向所受合力为零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ca4f2"/>
                  </a:rPr>
                  <a:t>系统在水平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以水平向右为正方向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θ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ac961"/>
                  </a:rPr>
                  <a:t>1</a:t>
                </a:r>
                <a:b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解得石头与砂车的共同速度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cos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𝜃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6451d"/>
                  </a:rPr>
                  <a:t>石头和砂车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获得共同速度后漏砂过程中系统所受合外力不为零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系统动量不守恒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acf4"/>
                  </a:rPr>
                  <a:t>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砂子漏出后在水平方向有初速度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只受重力作用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a56c0"/>
                  </a:rPr>
                  <a:t>砂子做平抛运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在水平方向的速度不变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88dce"/>
                  </a:rPr>
                  <a:t>系统在水平方向所受合外力为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系统在水平方向动量守恒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系统总质量不变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6a1b"/>
                  </a:rPr>
                  <a:t>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系统在水平方向速度不变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即砂车的速度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cos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𝜃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0778" name="yt_shape_107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575116"/>
              </a:xfrm>
              <a:prstGeom prst="rect">
                <a:avLst/>
              </a:prstGeom>
              <a:blipFill>
                <a:blip r:embed="rId2"/>
                <a:stretch>
                  <a:fillRect l="-1789" t="-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0" name="yt_shape_10780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课堂小结</a:t>
            </a:r>
          </a:p>
        </p:txBody>
      </p:sp>
      <p:pic>
        <p:nvPicPr>
          <p:cNvPr id="10781" name="yt_image_10781" title="H_277.0299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6130" y="1209055"/>
            <a:ext cx="7099739" cy="351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115</TotalTime>
  <Words>1368</Words>
  <Application>Microsoft Macintosh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方正新报宋_GBK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动量守恒定律</vt:lpstr>
      <vt:lpstr>动量定理</vt:lpstr>
      <vt:lpstr>运用动量观点思考：</vt:lpstr>
      <vt:lpstr>手榴弹爆炸符合动量守恒定律吗？</vt:lpstr>
      <vt:lpstr>动量守恒的条件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2024-09-18T01:22:13Z</dcterms:created>
  <dcterms:modified xsi:type="dcterms:W3CDTF">2026-09-16T08:21:33Z</dcterms:modified>
</cp:coreProperties>
</file>