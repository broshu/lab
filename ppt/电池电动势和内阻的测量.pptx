
<file path=[Content_Types].xml><?xml version="1.0" encoding="utf-8"?>
<Types xmlns="http://schemas.openxmlformats.org/package/2006/content-types">
  <Default Extension="bin" ContentType="image/png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1190" r:id="rId3"/>
    <p:sldId id="1191" r:id="rId4"/>
    <p:sldId id="1192" r:id="rId5"/>
    <p:sldId id="1193" r:id="rId6"/>
    <p:sldId id="1194" r:id="rId7"/>
    <p:sldId id="1195" r:id="rId8"/>
    <p:sldId id="1196" r:id="rId9"/>
    <p:sldId id="284" r:id="rId10"/>
    <p:sldId id="300" r:id="rId11"/>
    <p:sldId id="301" r:id="rId12"/>
    <p:sldId id="302" r:id="rId13"/>
    <p:sldId id="285" r:id="rId14"/>
    <p:sldId id="286" r:id="rId15"/>
    <p:sldId id="333" r:id="rId16"/>
    <p:sldId id="334" r:id="rId17"/>
    <p:sldId id="335" r:id="rId18"/>
    <p:sldId id="336" r:id="rId19"/>
    <p:sldId id="287" r:id="rId20"/>
    <p:sldId id="304" r:id="rId21"/>
    <p:sldId id="337" r:id="rId22"/>
    <p:sldId id="305" r:id="rId23"/>
    <p:sldId id="306" r:id="rId24"/>
    <p:sldId id="307" r:id="rId25"/>
    <p:sldId id="288" r:id="rId26"/>
    <p:sldId id="289" r:id="rId27"/>
    <p:sldId id="308" r:id="rId28"/>
    <p:sldId id="310" r:id="rId29"/>
    <p:sldId id="29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6"/>
          <p:cNvSpPr txBox="1"/>
          <p:nvPr userDrawn="1"/>
        </p:nvSpPr>
        <p:spPr>
          <a:xfrm>
            <a:off x="706382" y="28047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物理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必修第三册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0" y="8758"/>
            <a:ext cx="508986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580369" y="14429"/>
            <a:ext cx="90025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圆角矩形 1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26">
            <a:hlinkClick r:id="rId3" action="ppaction://hlinksldjump"/>
          </p:cNvPr>
          <p:cNvSpPr txBox="1"/>
          <p:nvPr userDrawn="1"/>
        </p:nvSpPr>
        <p:spPr>
          <a:xfrm>
            <a:off x="11519592" y="6454003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257991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etail.1688.com/offer/36578814289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tail.1688.com/offer/36578814289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39.xml"/><Relationship Id="rId18" Type="http://schemas.openxmlformats.org/officeDocument/2006/relationships/tags" Target="../tags/tag44.xml"/><Relationship Id="rId26" Type="http://schemas.openxmlformats.org/officeDocument/2006/relationships/tags" Target="../tags/tag52.xml"/><Relationship Id="rId3" Type="http://schemas.openxmlformats.org/officeDocument/2006/relationships/tags" Target="../tags/tag29.xml"/><Relationship Id="rId21" Type="http://schemas.openxmlformats.org/officeDocument/2006/relationships/tags" Target="../tags/tag47.xml"/><Relationship Id="rId34" Type="http://schemas.openxmlformats.org/officeDocument/2006/relationships/tags" Target="../tags/tag60.xml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17" Type="http://schemas.openxmlformats.org/officeDocument/2006/relationships/tags" Target="../tags/tag43.xml"/><Relationship Id="rId25" Type="http://schemas.openxmlformats.org/officeDocument/2006/relationships/tags" Target="../tags/tag51.xml"/><Relationship Id="rId33" Type="http://schemas.openxmlformats.org/officeDocument/2006/relationships/tags" Target="../tags/tag59.xml"/><Relationship Id="rId2" Type="http://schemas.openxmlformats.org/officeDocument/2006/relationships/tags" Target="../tags/tag28.xml"/><Relationship Id="rId16" Type="http://schemas.openxmlformats.org/officeDocument/2006/relationships/tags" Target="../tags/tag42.xml"/><Relationship Id="rId20" Type="http://schemas.openxmlformats.org/officeDocument/2006/relationships/tags" Target="../tags/tag46.xml"/><Relationship Id="rId29" Type="http://schemas.openxmlformats.org/officeDocument/2006/relationships/tags" Target="../tags/tag55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24" Type="http://schemas.openxmlformats.org/officeDocument/2006/relationships/tags" Target="../tags/tag50.xml"/><Relationship Id="rId32" Type="http://schemas.openxmlformats.org/officeDocument/2006/relationships/tags" Target="../tags/tag58.xml"/><Relationship Id="rId5" Type="http://schemas.openxmlformats.org/officeDocument/2006/relationships/tags" Target="../tags/tag31.xml"/><Relationship Id="rId15" Type="http://schemas.openxmlformats.org/officeDocument/2006/relationships/tags" Target="../tags/tag41.xml"/><Relationship Id="rId23" Type="http://schemas.openxmlformats.org/officeDocument/2006/relationships/tags" Target="../tags/tag49.xml"/><Relationship Id="rId28" Type="http://schemas.openxmlformats.org/officeDocument/2006/relationships/tags" Target="../tags/tag54.xml"/><Relationship Id="rId10" Type="http://schemas.openxmlformats.org/officeDocument/2006/relationships/tags" Target="../tags/tag36.xml"/><Relationship Id="rId19" Type="http://schemas.openxmlformats.org/officeDocument/2006/relationships/tags" Target="../tags/tag45.xml"/><Relationship Id="rId31" Type="http://schemas.openxmlformats.org/officeDocument/2006/relationships/tags" Target="../tags/tag57.xml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tags" Target="../tags/tag40.xml"/><Relationship Id="rId22" Type="http://schemas.openxmlformats.org/officeDocument/2006/relationships/tags" Target="../tags/tag48.xml"/><Relationship Id="rId27" Type="http://schemas.openxmlformats.org/officeDocument/2006/relationships/tags" Target="../tags/tag53.xml"/><Relationship Id="rId30" Type="http://schemas.openxmlformats.org/officeDocument/2006/relationships/tags" Target="../tags/tag56.xml"/><Relationship Id="rId35" Type="http://schemas.openxmlformats.org/officeDocument/2006/relationships/slideLayout" Target="../slideLayouts/slideLayout2.xml"/><Relationship Id="rId8" Type="http://schemas.openxmlformats.org/officeDocument/2006/relationships/tags" Target="../tags/tag34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73.xml"/><Relationship Id="rId18" Type="http://schemas.openxmlformats.org/officeDocument/2006/relationships/tags" Target="../tags/tag78.xml"/><Relationship Id="rId26" Type="http://schemas.openxmlformats.org/officeDocument/2006/relationships/tags" Target="../tags/tag86.xml"/><Relationship Id="rId3" Type="http://schemas.openxmlformats.org/officeDocument/2006/relationships/tags" Target="../tags/tag63.xml"/><Relationship Id="rId21" Type="http://schemas.openxmlformats.org/officeDocument/2006/relationships/tags" Target="../tags/tag81.xml"/><Relationship Id="rId34" Type="http://schemas.openxmlformats.org/officeDocument/2006/relationships/tags" Target="../tags/tag94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17" Type="http://schemas.openxmlformats.org/officeDocument/2006/relationships/tags" Target="../tags/tag77.xml"/><Relationship Id="rId25" Type="http://schemas.openxmlformats.org/officeDocument/2006/relationships/tags" Target="../tags/tag85.xml"/><Relationship Id="rId33" Type="http://schemas.openxmlformats.org/officeDocument/2006/relationships/tags" Target="../tags/tag93.xml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20" Type="http://schemas.openxmlformats.org/officeDocument/2006/relationships/tags" Target="../tags/tag80.xml"/><Relationship Id="rId29" Type="http://schemas.openxmlformats.org/officeDocument/2006/relationships/tags" Target="../tags/tag89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24" Type="http://schemas.openxmlformats.org/officeDocument/2006/relationships/tags" Target="../tags/tag84.xml"/><Relationship Id="rId32" Type="http://schemas.openxmlformats.org/officeDocument/2006/relationships/tags" Target="../tags/tag92.xml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23" Type="http://schemas.openxmlformats.org/officeDocument/2006/relationships/tags" Target="../tags/tag83.xml"/><Relationship Id="rId28" Type="http://schemas.openxmlformats.org/officeDocument/2006/relationships/tags" Target="../tags/tag88.xml"/><Relationship Id="rId10" Type="http://schemas.openxmlformats.org/officeDocument/2006/relationships/tags" Target="../tags/tag70.xml"/><Relationship Id="rId19" Type="http://schemas.openxmlformats.org/officeDocument/2006/relationships/tags" Target="../tags/tag79.xml"/><Relationship Id="rId31" Type="http://schemas.openxmlformats.org/officeDocument/2006/relationships/tags" Target="../tags/tag91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Relationship Id="rId22" Type="http://schemas.openxmlformats.org/officeDocument/2006/relationships/tags" Target="../tags/tag82.xml"/><Relationship Id="rId27" Type="http://schemas.openxmlformats.org/officeDocument/2006/relationships/tags" Target="../tags/tag87.xml"/><Relationship Id="rId30" Type="http://schemas.openxmlformats.org/officeDocument/2006/relationships/tags" Target="../tags/tag90.xml"/><Relationship Id="rId35" Type="http://schemas.openxmlformats.org/officeDocument/2006/relationships/slideLayout" Target="../slideLayouts/slideLayout2.xml"/><Relationship Id="rId8" Type="http://schemas.openxmlformats.org/officeDocument/2006/relationships/tags" Target="../tags/tag6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bin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bin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bin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AAFEC-A2DF-40F1-21F4-68ACE86DD9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电池电动势和内阻的测量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52369-36C8-4588-E55B-2E1040D4D1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记得通知选考班中午</a:t>
            </a:r>
            <a:r>
              <a:rPr lang="en-US" altLang="zh-CN" dirty="0"/>
              <a:t>12</a:t>
            </a:r>
            <a:r>
              <a:rPr lang="zh-CN" altLang="en-US" dirty="0"/>
              <a:t>：</a:t>
            </a:r>
            <a:r>
              <a:rPr lang="en-US" altLang="zh-CN" dirty="0"/>
              <a:t>30</a:t>
            </a:r>
            <a:r>
              <a:rPr lang="zh-CN" altLang="en-US" dirty="0"/>
              <a:t>到老行政楼</a:t>
            </a:r>
            <a:r>
              <a:rPr lang="en-US" altLang="zh-CN" dirty="0"/>
              <a:t>114</a:t>
            </a:r>
            <a:r>
              <a:rPr lang="zh-CN" altLang="en-US" dirty="0"/>
              <a:t>领取选必一的教材、教辅和实验手册，每班</a:t>
            </a:r>
            <a:r>
              <a:rPr lang="en-US" altLang="zh-CN" dirty="0"/>
              <a:t>4</a:t>
            </a:r>
            <a:r>
              <a:rPr lang="zh-CN" altLang="en-US" dirty="0"/>
              <a:t>人</a:t>
            </a:r>
            <a:endParaRPr lang="en-US" altLang="zh-CN" dirty="0"/>
          </a:p>
          <a:p>
            <a:r>
              <a:rPr lang="zh-CN" altLang="en-US" dirty="0"/>
              <a:t>明天去实验室上课，带实验手册，课本，绿色三维设计</a:t>
            </a:r>
            <a:endParaRPr lang="en-US" altLang="zh-CN" dirty="0"/>
          </a:p>
          <a:p>
            <a:r>
              <a:rPr lang="zh-CN" altLang="en-US" dirty="0"/>
              <a:t>这个实验下次考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101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AE6CBB-4C79-BE6C-6760-901769266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如何测量电池的电动势？</a:t>
            </a:r>
            <a:endParaRPr lang="en-US"/>
          </a:p>
        </p:txBody>
      </p:sp>
      <p:pic>
        <p:nvPicPr>
          <p:cNvPr id="5" name="内容占位符 4" descr="塑料盒子里&#10;&#10;中度可信度描述已自动生成">
            <a:extLst>
              <a:ext uri="{FF2B5EF4-FFF2-40B4-BE49-F238E27FC236}">
                <a16:creationId xmlns:a16="http://schemas.microsoft.com/office/drawing/2014/main" id="{72902B3C-800F-2E49-8DFE-FCB360D08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/>
        </p:blipFill>
        <p:spPr>
          <a:xfrm>
            <a:off x="3195108" y="1825625"/>
            <a:ext cx="5801784" cy="4351338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2845346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AE6CBB-4C79-BE6C-6760-901769266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如何测量电池的内阻？</a:t>
            </a:r>
            <a:endParaRPr lang="en-US"/>
          </a:p>
        </p:txBody>
      </p:sp>
      <p:pic>
        <p:nvPicPr>
          <p:cNvPr id="5" name="内容占位符 4" descr="塑料盒子里&#10;&#10;中度可信度描述已自动生成">
            <a:extLst>
              <a:ext uri="{FF2B5EF4-FFF2-40B4-BE49-F238E27FC236}">
                <a16:creationId xmlns:a16="http://schemas.microsoft.com/office/drawing/2014/main" id="{72902B3C-800F-2E49-8DFE-FCB360D08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/>
        </p:blipFill>
        <p:spPr>
          <a:xfrm>
            <a:off x="3195108" y="1825625"/>
            <a:ext cx="5801784" cy="4351338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009620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505CFB-2AD7-C300-5C8C-494E66AA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伏安法</a:t>
            </a:r>
            <a:endParaRPr 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07E1076-B00B-3C9A-F9D9-8213D658EA6A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206240" y="2557621"/>
            <a:ext cx="3779520" cy="2887345"/>
            <a:chOff x="7135" y="5613"/>
            <a:chExt cx="5952" cy="4547"/>
          </a:xfrm>
        </p:grpSpPr>
        <p:sp>
          <p:nvSpPr>
            <p:cNvPr id="6" name="Line 27">
              <a:extLst>
                <a:ext uri="{FF2B5EF4-FFF2-40B4-BE49-F238E27FC236}">
                  <a16:creationId xmlns:a16="http://schemas.microsoft.com/office/drawing/2014/main" id="{593506EF-2FF3-1B6D-1485-42274921B6DE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flipV="1">
              <a:off x="11549" y="6580"/>
              <a:ext cx="1510" cy="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F8C9EC2-C711-9AE4-486D-5574D9D9932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0912" y="6194"/>
              <a:ext cx="771" cy="7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C5B17B69-EA1C-E49D-6316-CF8D886DFDF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436" y="6388"/>
              <a:ext cx="1770" cy="383"/>
            </a:xfrm>
            <a:prstGeom prst="rect">
              <a:avLst/>
            </a:prstGeom>
            <a:solidFill>
              <a:srgbClr val="BBE0E3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  <a:endParaRPr lang="zh-CN" altLang="en-US" sz="22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9" name="Line 14">
              <a:extLst>
                <a:ext uri="{FF2B5EF4-FFF2-40B4-BE49-F238E27FC236}">
                  <a16:creationId xmlns:a16="http://schemas.microsoft.com/office/drawing/2014/main" id="{654419E4-551D-9E6C-3364-50683BC17512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7177" y="5636"/>
              <a:ext cx="212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0" name="Line 15">
              <a:extLst>
                <a:ext uri="{FF2B5EF4-FFF2-40B4-BE49-F238E27FC236}">
                  <a16:creationId xmlns:a16="http://schemas.microsoft.com/office/drawing/2014/main" id="{5A4D6044-4B27-F447-5F42-D0E06D5272E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flipH="1">
              <a:off x="9298" y="5613"/>
              <a:ext cx="0" cy="77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1" name="Line 16">
              <a:extLst>
                <a:ext uri="{FF2B5EF4-FFF2-40B4-BE49-F238E27FC236}">
                  <a16:creationId xmlns:a16="http://schemas.microsoft.com/office/drawing/2014/main" id="{244F4F35-5BAC-520F-10B3-18C7142A874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flipH="1">
              <a:off x="7200" y="5636"/>
              <a:ext cx="0" cy="386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2" name="Line 17">
              <a:extLst>
                <a:ext uri="{FF2B5EF4-FFF2-40B4-BE49-F238E27FC236}">
                  <a16:creationId xmlns:a16="http://schemas.microsoft.com/office/drawing/2014/main" id="{39D5874F-C8E4-54A7-C7CA-1550DC932DF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200" y="9476"/>
              <a:ext cx="141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3" name="Line 18">
              <a:extLst>
                <a:ext uri="{FF2B5EF4-FFF2-40B4-BE49-F238E27FC236}">
                  <a16:creationId xmlns:a16="http://schemas.microsoft.com/office/drawing/2014/main" id="{9500AE55-93F7-4487-F0C2-02400918CFE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flipH="1">
              <a:off x="8615" y="8911"/>
              <a:ext cx="0" cy="10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4" name="Line 19">
              <a:extLst>
                <a:ext uri="{FF2B5EF4-FFF2-40B4-BE49-F238E27FC236}">
                  <a16:creationId xmlns:a16="http://schemas.microsoft.com/office/drawing/2014/main" id="{B587F54C-5DFC-1B75-6546-4AE4727A9C29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 flipH="1" flipV="1">
              <a:off x="8791" y="9092"/>
              <a:ext cx="0" cy="62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5" name="Line 20">
              <a:extLst>
                <a:ext uri="{FF2B5EF4-FFF2-40B4-BE49-F238E27FC236}">
                  <a16:creationId xmlns:a16="http://schemas.microsoft.com/office/drawing/2014/main" id="{607E6D02-0E71-4D7E-43F9-587F05BF7DD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791" y="9476"/>
              <a:ext cx="141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6" name="Line 21">
              <a:extLst>
                <a:ext uri="{FF2B5EF4-FFF2-40B4-BE49-F238E27FC236}">
                  <a16:creationId xmlns:a16="http://schemas.microsoft.com/office/drawing/2014/main" id="{669EF59B-7ACE-79F4-C3D4-33617325F987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flipV="1">
              <a:off x="10206" y="8897"/>
              <a:ext cx="530" cy="579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7" name="Line 22">
              <a:extLst>
                <a:ext uri="{FF2B5EF4-FFF2-40B4-BE49-F238E27FC236}">
                  <a16:creationId xmlns:a16="http://schemas.microsoft.com/office/drawing/2014/main" id="{5FA65C7E-C91A-A4F8-848D-C15C30FABA0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0911" y="9476"/>
              <a:ext cx="212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8" name="Line 23">
              <a:extLst>
                <a:ext uri="{FF2B5EF4-FFF2-40B4-BE49-F238E27FC236}">
                  <a16:creationId xmlns:a16="http://schemas.microsoft.com/office/drawing/2014/main" id="{0ED99A28-04CD-4258-4559-590501D5872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 flipH="1">
              <a:off x="13036" y="6580"/>
              <a:ext cx="0" cy="289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9" name="Line 26">
              <a:extLst>
                <a:ext uri="{FF2B5EF4-FFF2-40B4-BE49-F238E27FC236}">
                  <a16:creationId xmlns:a16="http://schemas.microsoft.com/office/drawing/2014/main" id="{3B35ED91-8F35-3017-858E-D5598BB2909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0206" y="6580"/>
              <a:ext cx="70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20" name="Text Box 28">
              <a:extLst>
                <a:ext uri="{FF2B5EF4-FFF2-40B4-BE49-F238E27FC236}">
                  <a16:creationId xmlns:a16="http://schemas.microsoft.com/office/drawing/2014/main" id="{98AC6FDE-37E7-1A7C-C809-F0712018620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9803" y="7350"/>
              <a:ext cx="789" cy="79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r>
                <a:rPr lang="en-US" altLang="zh-CN" sz="2800" b="1">
                  <a:solidFill>
                    <a:srgbClr val="DA4ADC"/>
                  </a:solidFill>
                  <a:latin typeface="黑体" panose="02010609060101010101" charset="-122"/>
                  <a:ea typeface="黑体" panose="02010609060101010101" charset="-122"/>
                  <a:cs typeface="Times New Roman" panose="02020603050405020304"/>
                </a:rPr>
                <a:t>V</a:t>
              </a:r>
            </a:p>
          </p:txBody>
        </p:sp>
        <p:sp>
          <p:nvSpPr>
            <p:cNvPr id="21" name="Oval 29">
              <a:extLst>
                <a:ext uri="{FF2B5EF4-FFF2-40B4-BE49-F238E27FC236}">
                  <a16:creationId xmlns:a16="http://schemas.microsoft.com/office/drawing/2014/main" id="{B02206AA-17E9-FBE7-2D8F-E39596F9C89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710" y="7341"/>
              <a:ext cx="771" cy="772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  <a:endParaRPr lang="zh-CN" altLang="en-US" sz="28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2" name="Line 30">
              <a:extLst>
                <a:ext uri="{FF2B5EF4-FFF2-40B4-BE49-F238E27FC236}">
                  <a16:creationId xmlns:a16="http://schemas.microsoft.com/office/drawing/2014/main" id="{B90F6465-BFF0-060C-5915-C35ECF46A122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0449" y="7738"/>
              <a:ext cx="2587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23" name="Line 31">
              <a:extLst>
                <a:ext uri="{FF2B5EF4-FFF2-40B4-BE49-F238E27FC236}">
                  <a16:creationId xmlns:a16="http://schemas.microsoft.com/office/drawing/2014/main" id="{E5E21E86-25EE-437E-D559-762E3428B4ED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 flipH="1">
              <a:off x="7200" y="7738"/>
              <a:ext cx="247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24" name="Text Box 32">
              <a:extLst>
                <a:ext uri="{FF2B5EF4-FFF2-40B4-BE49-F238E27FC236}">
                  <a16:creationId xmlns:a16="http://schemas.microsoft.com/office/drawing/2014/main" id="{9B7BC19B-2866-62BB-C824-2B9F980A09E7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10206" y="9476"/>
              <a:ext cx="1236" cy="6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r>
                <a:rPr lang="en-US" altLang="zh-CN" sz="220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S</a:t>
              </a:r>
            </a:p>
          </p:txBody>
        </p:sp>
        <p:sp>
          <p:nvSpPr>
            <p:cNvPr id="25" name="Text Box 34">
              <a:extLst>
                <a:ext uri="{FF2B5EF4-FFF2-40B4-BE49-F238E27FC236}">
                  <a16:creationId xmlns:a16="http://schemas.microsoft.com/office/drawing/2014/main" id="{00BB7383-8AFE-61C6-E6AA-F1C64C41AD60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9444" y="5722"/>
              <a:ext cx="1064" cy="122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r>
                <a:rPr lang="en-US" altLang="zh-CN" sz="240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R</a:t>
              </a:r>
            </a:p>
          </p:txBody>
        </p:sp>
        <p:sp>
          <p:nvSpPr>
            <p:cNvPr id="26" name="Oval 91">
              <a:extLst>
                <a:ext uri="{FF2B5EF4-FFF2-40B4-BE49-F238E27FC236}">
                  <a16:creationId xmlns:a16="http://schemas.microsoft.com/office/drawing/2014/main" id="{3B5C157C-2F8D-7533-B4BE-28E489C73E75}"/>
                </a:ext>
              </a:extLst>
            </p:cNvPr>
            <p:cNvSpPr>
              <a:spLocks noChangeAspect="1"/>
            </p:cNvSpPr>
            <p:nvPr>
              <p:custDataLst>
                <p:tags r:id="rId22"/>
              </p:custDataLst>
            </p:nvPr>
          </p:nvSpPr>
          <p:spPr>
            <a:xfrm>
              <a:off x="7135" y="7687"/>
              <a:ext cx="113" cy="111"/>
            </a:xfrm>
            <a:prstGeom prst="ellipse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/>
            <a:lstStyle/>
            <a:p>
              <a:pPr algn="ctr"/>
              <a:endParaRPr lang="zh-CN" altLang="en-US" sz="22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7" name="Oval 92">
              <a:extLst>
                <a:ext uri="{FF2B5EF4-FFF2-40B4-BE49-F238E27FC236}">
                  <a16:creationId xmlns:a16="http://schemas.microsoft.com/office/drawing/2014/main" id="{89EF8E05-DBF3-E679-552F-B9A7A1C5C2DB}"/>
                </a:ext>
              </a:extLst>
            </p:cNvPr>
            <p:cNvSpPr>
              <a:spLocks noChangeAspect="1"/>
            </p:cNvSpPr>
            <p:nvPr>
              <p:custDataLst>
                <p:tags r:id="rId23"/>
              </p:custDataLst>
            </p:nvPr>
          </p:nvSpPr>
          <p:spPr>
            <a:xfrm>
              <a:off x="12975" y="7683"/>
              <a:ext cx="113" cy="111"/>
            </a:xfrm>
            <a:prstGeom prst="ellipse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/>
            <a:lstStyle/>
            <a:p>
              <a:pPr algn="ctr"/>
              <a:endParaRPr lang="zh-CN" altLang="en-US" sz="22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8" name="Text Box 24">
              <a:extLst>
                <a:ext uri="{FF2B5EF4-FFF2-40B4-BE49-F238E27FC236}">
                  <a16:creationId xmlns:a16="http://schemas.microsoft.com/office/drawing/2014/main" id="{8F86C4C2-2A4C-B639-DD23-116EBA19C3AF}"/>
                </a:ext>
              </a:extLst>
            </p:cNvPr>
            <p:cNvSpPr txBox="1"/>
            <p:nvPr>
              <p:custDataLst>
                <p:tags r:id="rId24"/>
              </p:custDataLst>
            </p:nvPr>
          </p:nvSpPr>
          <p:spPr>
            <a:xfrm>
              <a:off x="10990" y="6162"/>
              <a:ext cx="1064" cy="78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r>
                <a:rPr lang="en-US" altLang="zh-CN" sz="2800" b="1">
                  <a:solidFill>
                    <a:srgbClr val="DA4ADC"/>
                  </a:solidFill>
                  <a:latin typeface="黑体" panose="02010609060101010101" charset="-122"/>
                  <a:ea typeface="黑体" panose="02010609060101010101" charset="-122"/>
                  <a:cs typeface="Times New Roman" panose="02020603050405020304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0951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F9B292-AE4C-872A-11A3-343D0DDFD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经过精密的实验，我得到了：</a:t>
            </a:r>
            <a:endParaRPr 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5198A4D-1E22-DBC1-6CF4-DD0ED799644E}"/>
              </a:ext>
            </a:extLst>
          </p:cNvPr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3" t="12492" b="-1"/>
          <a:stretch>
            <a:fillRect/>
          </a:stretch>
        </p:blipFill>
        <p:spPr>
          <a:xfrm rot="16200000">
            <a:off x="3605214" y="-246618"/>
            <a:ext cx="4981574" cy="849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038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作图 2">
            <a:hlinkClick r:id="" action="ppaction://media"/>
            <a:extLst>
              <a:ext uri="{FF2B5EF4-FFF2-40B4-BE49-F238E27FC236}">
                <a16:creationId xmlns:a16="http://schemas.microsoft.com/office/drawing/2014/main" id="{7AEE7E69-D550-F108-8C4B-3FA91E133BD2}"/>
              </a:ext>
            </a:extLst>
          </p:cNvPr>
          <p:cNvPicPr>
            <a:picLocks noGrp="1" noChangeAspect="1"/>
          </p:cNvPicPr>
          <p:nvPr>
            <p:ph idx="1"/>
            <a:videoFile r:link="rId2"/>
            <p:custDataLst>
              <p:tags r:id="rId3"/>
            </p:custDataLst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28511" y="522288"/>
            <a:ext cx="10334977" cy="581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7660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FF72AF-3563-CF72-B143-6D4750EF6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误差分析</a:t>
            </a:r>
            <a:endParaRPr 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71846BC-821B-E7D3-DD08-2E44FC577E07}"/>
              </a:ext>
            </a:extLst>
          </p:cNvPr>
          <p:cNvGrpSpPr/>
          <p:nvPr/>
        </p:nvGrpSpPr>
        <p:grpSpPr>
          <a:xfrm>
            <a:off x="4687252" y="3048159"/>
            <a:ext cx="2817495" cy="1906270"/>
            <a:chOff x="1645920" y="1373505"/>
            <a:chExt cx="2817495" cy="1906270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8D4C85EF-3553-D5DC-15C0-4E1ADD9EB53C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1889125" y="1373505"/>
              <a:ext cx="2206625" cy="1761490"/>
              <a:chOff x="2975" y="2163"/>
              <a:chExt cx="3475" cy="2774"/>
            </a:xfrm>
          </p:grpSpPr>
          <p:sp>
            <p:nvSpPr>
              <p:cNvPr id="24" name="直接连接符 599073">
                <a:extLst>
                  <a:ext uri="{FF2B5EF4-FFF2-40B4-BE49-F238E27FC236}">
                    <a16:creationId xmlns:a16="http://schemas.microsoft.com/office/drawing/2014/main" id="{757AEE44-26BF-58C6-3BC6-7FE3EF759F4B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 flipH="1">
                <a:off x="3019" y="2688"/>
                <a:ext cx="2098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矩形 599064">
                <a:extLst>
                  <a:ext uri="{FF2B5EF4-FFF2-40B4-BE49-F238E27FC236}">
                    <a16:creationId xmlns:a16="http://schemas.microsoft.com/office/drawing/2014/main" id="{5FA33146-A664-6222-B0A1-A2FA4E3C57CA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5022" y="2562"/>
                <a:ext cx="617" cy="224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6" name="直接连接符 599065">
                <a:extLst>
                  <a:ext uri="{FF2B5EF4-FFF2-40B4-BE49-F238E27FC236}">
                    <a16:creationId xmlns:a16="http://schemas.microsoft.com/office/drawing/2014/main" id="{E9BB879D-7FD4-32BE-BCEE-981E76DFE66D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5308" y="2163"/>
                <a:ext cx="1" cy="399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直接连接符 599066">
                <a:extLst>
                  <a:ext uri="{FF2B5EF4-FFF2-40B4-BE49-F238E27FC236}">
                    <a16:creationId xmlns:a16="http://schemas.microsoft.com/office/drawing/2014/main" id="{D5C4D010-2059-1095-8408-2F59DF434A8B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5308" y="2163"/>
                <a:ext cx="541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" name="直接连接符 599067">
                <a:extLst>
                  <a:ext uri="{FF2B5EF4-FFF2-40B4-BE49-F238E27FC236}">
                    <a16:creationId xmlns:a16="http://schemas.microsoft.com/office/drawing/2014/main" id="{1F64F82B-90B6-229D-7C80-A13021C11D54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5849" y="2163"/>
                <a:ext cx="1" cy="50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" name="直接连接符 599068">
                <a:extLst>
                  <a:ext uri="{FF2B5EF4-FFF2-40B4-BE49-F238E27FC236}">
                    <a16:creationId xmlns:a16="http://schemas.microsoft.com/office/drawing/2014/main" id="{7FC04606-8005-CD97-7CC6-FB761E1DFD2C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5623" y="2667"/>
                <a:ext cx="794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直接连接符 599074">
                <a:extLst>
                  <a:ext uri="{FF2B5EF4-FFF2-40B4-BE49-F238E27FC236}">
                    <a16:creationId xmlns:a16="http://schemas.microsoft.com/office/drawing/2014/main" id="{BA3AA791-6455-EBEC-A105-ED6E74BB3FD8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3017" y="2688"/>
                <a:ext cx="1" cy="1953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" name="直接连接符 599075">
                <a:extLst>
                  <a:ext uri="{FF2B5EF4-FFF2-40B4-BE49-F238E27FC236}">
                    <a16:creationId xmlns:a16="http://schemas.microsoft.com/office/drawing/2014/main" id="{5A3810C6-441A-1CD0-82B9-5ABDAAAD89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3004" y="3767"/>
                <a:ext cx="3402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" name="直接连接符 599080">
                <a:extLst>
                  <a:ext uri="{FF2B5EF4-FFF2-40B4-BE49-F238E27FC236}">
                    <a16:creationId xmlns:a16="http://schemas.microsoft.com/office/drawing/2014/main" id="{70CD403B-B516-0A62-3FC3-59D713C0FBC3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6408" y="2667"/>
                <a:ext cx="1" cy="2015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" name="直接连接符 599081">
                <a:extLst>
                  <a:ext uri="{FF2B5EF4-FFF2-40B4-BE49-F238E27FC236}">
                    <a16:creationId xmlns:a16="http://schemas.microsoft.com/office/drawing/2014/main" id="{D8C698C2-CA6A-462E-7421-A6672D64AEE7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3004" y="4661"/>
                <a:ext cx="735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" name="矩形 599082">
                <a:extLst>
                  <a:ext uri="{FF2B5EF4-FFF2-40B4-BE49-F238E27FC236}">
                    <a16:creationId xmlns:a16="http://schemas.microsoft.com/office/drawing/2014/main" id="{6B9817C1-E36F-FA6E-19BC-5A1AB009C8E7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3861" y="4451"/>
                <a:ext cx="134" cy="48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anchor="t"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5" name="直接连接符 599083">
                <a:extLst>
                  <a:ext uri="{FF2B5EF4-FFF2-40B4-BE49-F238E27FC236}">
                    <a16:creationId xmlns:a16="http://schemas.microsoft.com/office/drawing/2014/main" id="{C3EE53D9-3CAD-FDF5-0359-A98FE67BE76D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3878" y="4536"/>
                <a:ext cx="1" cy="324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" name="直接连接符 599084">
                <a:extLst>
                  <a:ext uri="{FF2B5EF4-FFF2-40B4-BE49-F238E27FC236}">
                    <a16:creationId xmlns:a16="http://schemas.microsoft.com/office/drawing/2014/main" id="{811F3319-A3FB-A3B2-5B08-CB3018A6B934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 flipH="1">
                <a:off x="3767" y="4451"/>
                <a:ext cx="0" cy="487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直接连接符 599085">
                <a:extLst>
                  <a:ext uri="{FF2B5EF4-FFF2-40B4-BE49-F238E27FC236}">
                    <a16:creationId xmlns:a16="http://schemas.microsoft.com/office/drawing/2014/main" id="{8B291E09-D088-37F6-7624-7B122B0F835F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3876" y="4661"/>
                <a:ext cx="524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38" name="xjhzja18">
                <a:extLst>
                  <a:ext uri="{FF2B5EF4-FFF2-40B4-BE49-F238E27FC236}">
                    <a16:creationId xmlns:a16="http://schemas.microsoft.com/office/drawing/2014/main" id="{16DA2EA3-EBF2-0182-B347-1830D03066E7}"/>
                  </a:ext>
                </a:extLst>
              </p:cNvPr>
              <p:cNvGrpSpPr/>
              <p:nvPr>
                <p:custDataLst>
                  <p:tags r:id="rId24"/>
                </p:custDataLst>
              </p:nvPr>
            </p:nvGrpSpPr>
            <p:grpSpPr>
              <a:xfrm>
                <a:off x="4437" y="4431"/>
                <a:ext cx="419" cy="436"/>
                <a:chOff x="3248" y="4092"/>
                <a:chExt cx="362" cy="312"/>
              </a:xfrm>
            </p:grpSpPr>
            <p:sp>
              <p:nvSpPr>
                <p:cNvPr id="45" name="矩形 599087">
                  <a:extLst>
                    <a:ext uri="{FF2B5EF4-FFF2-40B4-BE49-F238E27FC236}">
                      <a16:creationId xmlns:a16="http://schemas.microsoft.com/office/drawing/2014/main" id="{25F4FAC0-8D8C-FD8D-B39A-36994CAD9D50}"/>
                    </a:ext>
                  </a:extLst>
                </p:cNvPr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3248" y="4092"/>
                  <a:ext cx="362" cy="31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 anchor="t"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46" name="组合 599088">
                  <a:extLst>
                    <a:ext uri="{FF2B5EF4-FFF2-40B4-BE49-F238E27FC236}">
                      <a16:creationId xmlns:a16="http://schemas.microsoft.com/office/drawing/2014/main" id="{9334CD8F-C13B-22F5-028E-5ED9D1D9A884}"/>
                    </a:ext>
                  </a:extLst>
                </p:cNvPr>
                <p:cNvGrpSpPr/>
                <p:nvPr>
                  <p:custDataLst>
                    <p:tags r:id="rId32"/>
                  </p:custDataLst>
                </p:nvPr>
              </p:nvGrpSpPr>
              <p:grpSpPr>
                <a:xfrm>
                  <a:off x="3248" y="4092"/>
                  <a:ext cx="362" cy="156"/>
                  <a:chOff x="2162" y="3936"/>
                  <a:chExt cx="362" cy="156"/>
                </a:xfrm>
              </p:grpSpPr>
              <p:sp>
                <p:nvSpPr>
                  <p:cNvPr id="47" name="直接连接符 599089">
                    <a:extLst>
                      <a:ext uri="{FF2B5EF4-FFF2-40B4-BE49-F238E27FC236}">
                        <a16:creationId xmlns:a16="http://schemas.microsoft.com/office/drawing/2014/main" id="{62ABC9E4-12FF-3AE1-DFEC-43E48EE02CBA}"/>
                      </a:ext>
                    </a:extLst>
                  </p:cNvPr>
                  <p:cNvSpPr/>
                  <p:nvPr>
                    <p:custDataLst>
                      <p:tags r:id="rId33"/>
                    </p:custDataLst>
                  </p:nvPr>
                </p:nvSpPr>
                <p:spPr>
                  <a:xfrm flipV="1">
                    <a:off x="2162" y="3936"/>
                    <a:ext cx="362" cy="156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oval" w="sm" len="sm"/>
                    <a:tailEnd type="none" w="sm" len="sm"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48" name="直接连接符 599090">
                    <a:extLst>
                      <a:ext uri="{FF2B5EF4-FFF2-40B4-BE49-F238E27FC236}">
                        <a16:creationId xmlns:a16="http://schemas.microsoft.com/office/drawing/2014/main" id="{05C7FFD9-9F64-E53F-E278-70C613534D01}"/>
                      </a:ext>
                    </a:extLst>
                  </p:cNvPr>
                  <p:cNvSpPr/>
                  <p:nvPr>
                    <p:custDataLst>
                      <p:tags r:id="rId34"/>
                    </p:custDataLst>
                  </p:nvPr>
                </p:nvSpPr>
                <p:spPr>
                  <a:xfrm flipH="1">
                    <a:off x="2524" y="4092"/>
                    <a:ext cx="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</p:grpSp>
          </p:grpSp>
          <p:sp>
            <p:nvSpPr>
              <p:cNvPr id="39" name="直接连接符 599091">
                <a:extLst>
                  <a:ext uri="{FF2B5EF4-FFF2-40B4-BE49-F238E27FC236}">
                    <a16:creationId xmlns:a16="http://schemas.microsoft.com/office/drawing/2014/main" id="{C53FC782-296D-EF1E-5540-03F715515F4B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4940" y="4661"/>
                <a:ext cx="1487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7196F9F3-50D8-F6F1-6237-39123B01320D}"/>
                  </a:ext>
                </a:extLst>
              </p:cNvPr>
              <p:cNvGrpSpPr/>
              <p:nvPr>
                <p:custDataLst>
                  <p:tags r:id="rId26"/>
                </p:custDataLst>
              </p:nvPr>
            </p:nvGrpSpPr>
            <p:grpSpPr>
              <a:xfrm>
                <a:off x="4287" y="3409"/>
                <a:ext cx="682" cy="716"/>
                <a:chOff x="5138" y="734"/>
                <a:chExt cx="682" cy="716"/>
              </a:xfrm>
            </p:grpSpPr>
            <p:sp>
              <p:nvSpPr>
                <p:cNvPr id="43" name="椭圆 599110">
                  <a:extLst>
                    <a:ext uri="{FF2B5EF4-FFF2-40B4-BE49-F238E27FC236}">
                      <a16:creationId xmlns:a16="http://schemas.microsoft.com/office/drawing/2014/main" id="{B0B9272B-5555-57D6-AD24-21BC3DA08FFD}"/>
                    </a:ext>
                  </a:extLst>
                </p:cNvPr>
                <p:cNvSpPr>
                  <a:spLocks noChangeAspect="1"/>
                </p:cNvSpPr>
                <p:nvPr>
                  <p:custDataLst>
                    <p:tags r:id="rId29"/>
                  </p:custDataLst>
                </p:nvPr>
              </p:nvSpPr>
              <p:spPr>
                <a:xfrm>
                  <a:off x="5253" y="865"/>
                  <a:ext cx="454" cy="454"/>
                </a:xfrm>
                <a:prstGeom prst="ellipse">
                  <a:avLst/>
                </a:prstGeom>
                <a:solidFill>
                  <a:schemeClr val="bg1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4" name="文本框 599105">
                  <a:extLst>
                    <a:ext uri="{FF2B5EF4-FFF2-40B4-BE49-F238E27FC236}">
                      <a16:creationId xmlns:a16="http://schemas.microsoft.com/office/drawing/2014/main" id="{10B1A4E0-47D5-A44C-98F8-3543FE9CB7FF}"/>
                    </a:ext>
                  </a:extLst>
                </p:cNvPr>
                <p:cNvSpPr txBox="1"/>
                <p:nvPr>
                  <p:custDataLst>
                    <p:tags r:id="rId30"/>
                  </p:custDataLst>
                </p:nvPr>
              </p:nvSpPr>
              <p:spPr>
                <a:xfrm>
                  <a:off x="5138" y="734"/>
                  <a:ext cx="682" cy="7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/>
                <a:lstStyle/>
                <a:p>
                  <a:pPr algn="ctr"/>
                  <a:r>
                    <a:rPr lang="en-US" altLang="zh-CN" sz="2400">
                      <a:solidFill>
                        <a:srgbClr val="000000"/>
                      </a:solidFill>
                      <a:latin typeface="黑体" panose="02010609060101010101" charset="-122"/>
                      <a:ea typeface="黑体" panose="02010609060101010101" charset="-122"/>
                    </a:rPr>
                    <a:t>V</a:t>
                  </a:r>
                </a:p>
              </p:txBody>
            </p:sp>
          </p:grp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4389C1D6-1BD1-48CB-A856-D898290849E4}"/>
                  </a:ext>
                </a:extLst>
              </p:cNvPr>
              <p:cNvSpPr>
                <a:spLocks noChangeAspect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2975" y="3724"/>
                <a:ext cx="85" cy="8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03CDA0F6-5EB0-2ED8-1A9C-1CCDFF407F30}"/>
                  </a:ext>
                </a:extLst>
              </p:cNvPr>
              <p:cNvSpPr>
                <a:spLocks noChangeAspect="1"/>
              </p:cNvSpPr>
              <p:nvPr>
                <p:custDataLst>
                  <p:tags r:id="rId28"/>
                </p:custDataLst>
              </p:nvPr>
            </p:nvSpPr>
            <p:spPr>
              <a:xfrm>
                <a:off x="6366" y="3724"/>
                <a:ext cx="85" cy="8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CE72699A-4DD2-FB20-FAAD-84BD2D41E37D}"/>
                </a:ext>
              </a:extLst>
            </p:cNvPr>
            <p:cNvGrpSpPr/>
            <p:nvPr/>
          </p:nvGrpSpPr>
          <p:grpSpPr>
            <a:xfrm>
              <a:off x="1645920" y="1478280"/>
              <a:ext cx="2817495" cy="1801495"/>
              <a:chOff x="1645920" y="1478280"/>
              <a:chExt cx="2817495" cy="1801495"/>
            </a:xfrm>
          </p:grpSpPr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F4F07C32-2CE7-D69B-A873-53E8CC52674D}"/>
                  </a:ext>
                </a:extLst>
              </p:cNvPr>
              <p:cNvGrpSpPr/>
              <p:nvPr>
                <p:custDataLst>
                  <p:tags r:id="rId2"/>
                </p:custDataLst>
              </p:nvPr>
            </p:nvGrpSpPr>
            <p:grpSpPr>
              <a:xfrm>
                <a:off x="1645920" y="2044700"/>
                <a:ext cx="2817495" cy="1235075"/>
                <a:chOff x="2911" y="6852"/>
                <a:chExt cx="4436" cy="2078"/>
              </a:xfrm>
            </p:grpSpPr>
            <p:sp>
              <p:nvSpPr>
                <p:cNvPr id="20" name="直接连接符 599051">
                  <a:extLst>
                    <a:ext uri="{FF2B5EF4-FFF2-40B4-BE49-F238E27FC236}">
                      <a16:creationId xmlns:a16="http://schemas.microsoft.com/office/drawing/2014/main" id="{110D3203-3019-8454-A07C-A794D248F2C0}"/>
                    </a:ext>
                  </a:extLst>
                </p:cNvPr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2925" y="6861"/>
                  <a:ext cx="4422" cy="0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1" name="直接连接符 599052">
                  <a:extLst>
                    <a:ext uri="{FF2B5EF4-FFF2-40B4-BE49-F238E27FC236}">
                      <a16:creationId xmlns:a16="http://schemas.microsoft.com/office/drawing/2014/main" id="{F1BCCB30-A4CF-6ED9-D08E-7106DD202B05}"/>
                    </a:ext>
                  </a:extLst>
                </p:cNvPr>
                <p:cNvSpPr/>
                <p:nvPr>
                  <p:custDataLst>
                    <p:tags r:id="rId7"/>
                  </p:custDataLst>
                </p:nvPr>
              </p:nvSpPr>
              <p:spPr>
                <a:xfrm flipH="1">
                  <a:off x="2924" y="6852"/>
                  <a:ext cx="0" cy="2078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2" name="直接连接符 599053">
                  <a:extLst>
                    <a:ext uri="{FF2B5EF4-FFF2-40B4-BE49-F238E27FC236}">
                      <a16:creationId xmlns:a16="http://schemas.microsoft.com/office/drawing/2014/main" id="{787DD96B-F61D-F9DF-63B7-94867F80984E}"/>
                    </a:ext>
                  </a:extLst>
                </p:cNvPr>
                <p:cNvSpPr/>
                <p:nvPr>
                  <p:custDataLst>
                    <p:tags r:id="rId8"/>
                  </p:custDataLst>
                </p:nvPr>
              </p:nvSpPr>
              <p:spPr>
                <a:xfrm flipH="1" flipV="1">
                  <a:off x="7317" y="6861"/>
                  <a:ext cx="0" cy="2057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3" name="直接连接符 599054">
                  <a:extLst>
                    <a:ext uri="{FF2B5EF4-FFF2-40B4-BE49-F238E27FC236}">
                      <a16:creationId xmlns:a16="http://schemas.microsoft.com/office/drawing/2014/main" id="{B1B19049-3ECF-7D35-6EA4-B376B2A7887F}"/>
                    </a:ext>
                  </a:extLst>
                </p:cNvPr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2911" y="8925"/>
                  <a:ext cx="4422" cy="0"/>
                </a:xfrm>
                <a:prstGeom prst="line">
                  <a:avLst/>
                </a:prstGeom>
                <a:ln w="9525" cap="flat" cmpd="sng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38A34861-8C01-3D85-6548-6382902E6AF2}"/>
                  </a:ext>
                </a:extLst>
              </p:cNvPr>
              <p:cNvGrpSpPr/>
              <p:nvPr>
                <p:custDataLst>
                  <p:tags r:id="rId3"/>
                </p:custDataLst>
              </p:nvPr>
            </p:nvGrpSpPr>
            <p:grpSpPr>
              <a:xfrm>
                <a:off x="2360930" y="1478280"/>
                <a:ext cx="433070" cy="454660"/>
                <a:chOff x="5138" y="734"/>
                <a:chExt cx="682" cy="716"/>
              </a:xfrm>
            </p:grpSpPr>
            <p:sp>
              <p:nvSpPr>
                <p:cNvPr id="18" name="椭圆 599110">
                  <a:extLst>
                    <a:ext uri="{FF2B5EF4-FFF2-40B4-BE49-F238E27FC236}">
                      <a16:creationId xmlns:a16="http://schemas.microsoft.com/office/drawing/2014/main" id="{4A91B27C-BD26-6A0E-0340-18F21514B3A5}"/>
                    </a:ext>
                  </a:extLst>
                </p:cNvPr>
                <p:cNvSpPr>
                  <a:spLocks noChangeAspect="1"/>
                </p:cNvSpPr>
                <p:nvPr>
                  <p:custDataLst>
                    <p:tags r:id="rId4"/>
                  </p:custDataLst>
                </p:nvPr>
              </p:nvSpPr>
              <p:spPr>
                <a:xfrm>
                  <a:off x="5253" y="865"/>
                  <a:ext cx="454" cy="454"/>
                </a:xfrm>
                <a:prstGeom prst="ellipse">
                  <a:avLst/>
                </a:prstGeom>
                <a:solidFill>
                  <a:schemeClr val="bg1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" name="文本框 599105">
                  <a:extLst>
                    <a:ext uri="{FF2B5EF4-FFF2-40B4-BE49-F238E27FC236}">
                      <a16:creationId xmlns:a16="http://schemas.microsoft.com/office/drawing/2014/main" id="{78E3D8B8-3B19-A724-877F-1173EB41763E}"/>
                    </a:ext>
                  </a:extLst>
                </p:cNvPr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5138" y="734"/>
                  <a:ext cx="682" cy="7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/>
                <a:lstStyle/>
                <a:p>
                  <a:pPr algn="ctr"/>
                  <a:r>
                    <a:rPr lang="en-US" altLang="zh-CN" sz="2400">
                      <a:solidFill>
                        <a:srgbClr val="000000"/>
                      </a:solidFill>
                      <a:latin typeface="黑体" panose="02010609060101010101" charset="-122"/>
                      <a:ea typeface="黑体" panose="02010609060101010101" charset="-122"/>
                    </a:rPr>
                    <a:t>A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075837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982A1B-39B4-CB47-03BD-9BE9E4FB3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误差分析</a:t>
            </a:r>
            <a:endParaRPr 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E074C4C-D953-2E8F-FC7C-9F7D7B34D26F}"/>
              </a:ext>
            </a:extLst>
          </p:cNvPr>
          <p:cNvGrpSpPr/>
          <p:nvPr/>
        </p:nvGrpSpPr>
        <p:grpSpPr>
          <a:xfrm>
            <a:off x="4709795" y="3017044"/>
            <a:ext cx="2772410" cy="1968500"/>
            <a:chOff x="1654175" y="3691255"/>
            <a:chExt cx="2772410" cy="196850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F934326E-AF87-9A45-AF5F-9DF7D0CA8668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1654175" y="4954270"/>
              <a:ext cx="2772410" cy="705485"/>
              <a:chOff x="3225" y="7197"/>
              <a:chExt cx="4535" cy="1381"/>
            </a:xfrm>
          </p:grpSpPr>
          <p:sp>
            <p:nvSpPr>
              <p:cNvPr id="35" name="直接连接符 599056">
                <a:extLst>
                  <a:ext uri="{FF2B5EF4-FFF2-40B4-BE49-F238E27FC236}">
                    <a16:creationId xmlns:a16="http://schemas.microsoft.com/office/drawing/2014/main" id="{7FA5431A-3B74-EB3F-3D89-C43846382F1A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3243" y="7201"/>
                <a:ext cx="4517" cy="2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" name="直接连接符 599057">
                <a:extLst>
                  <a:ext uri="{FF2B5EF4-FFF2-40B4-BE49-F238E27FC236}">
                    <a16:creationId xmlns:a16="http://schemas.microsoft.com/office/drawing/2014/main" id="{0EAAD3BA-52FE-5DAD-5592-6BF9EB1013B5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 flipH="1">
                <a:off x="3238" y="7206"/>
                <a:ext cx="0" cy="1349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直接连接符 599058">
                <a:extLst>
                  <a:ext uri="{FF2B5EF4-FFF2-40B4-BE49-F238E27FC236}">
                    <a16:creationId xmlns:a16="http://schemas.microsoft.com/office/drawing/2014/main" id="{672257CD-59FC-8B8A-6777-B67DE263AB32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 flipH="1" flipV="1">
                <a:off x="7740" y="7197"/>
                <a:ext cx="17" cy="137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" name="直接连接符 599059">
                <a:extLst>
                  <a:ext uri="{FF2B5EF4-FFF2-40B4-BE49-F238E27FC236}">
                    <a16:creationId xmlns:a16="http://schemas.microsoft.com/office/drawing/2014/main" id="{D3A4BB2A-A9B5-5C52-C185-08A7DBF03F16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3225" y="8578"/>
                <a:ext cx="4516" cy="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272F7B09-73AC-234C-3FE0-6258D7A0602E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1962785" y="3691255"/>
              <a:ext cx="2206625" cy="1761490"/>
              <a:chOff x="3091" y="5813"/>
              <a:chExt cx="3475" cy="2774"/>
            </a:xfrm>
          </p:grpSpPr>
          <p:sp>
            <p:nvSpPr>
              <p:cNvPr id="10" name="直接连接符 599073">
                <a:extLst>
                  <a:ext uri="{FF2B5EF4-FFF2-40B4-BE49-F238E27FC236}">
                    <a16:creationId xmlns:a16="http://schemas.microsoft.com/office/drawing/2014/main" id="{9BA034AF-5AAC-D8C1-D9DA-A5291F3F52A2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3135" y="6338"/>
                <a:ext cx="2098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矩形 599064">
                <a:extLst>
                  <a:ext uri="{FF2B5EF4-FFF2-40B4-BE49-F238E27FC236}">
                    <a16:creationId xmlns:a16="http://schemas.microsoft.com/office/drawing/2014/main" id="{EF363705-3548-6A98-0890-26B9AC04744A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5138" y="6212"/>
                <a:ext cx="617" cy="224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12" name="直接连接符 599065">
                <a:extLst>
                  <a:ext uri="{FF2B5EF4-FFF2-40B4-BE49-F238E27FC236}">
                    <a16:creationId xmlns:a16="http://schemas.microsoft.com/office/drawing/2014/main" id="{68662A3B-3192-7C01-F343-C3D259048F88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5424" y="5813"/>
                <a:ext cx="1" cy="399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" name="直接连接符 599066">
                <a:extLst>
                  <a:ext uri="{FF2B5EF4-FFF2-40B4-BE49-F238E27FC236}">
                    <a16:creationId xmlns:a16="http://schemas.microsoft.com/office/drawing/2014/main" id="{34F665F3-F6E1-ADCB-6B90-EC06F106B34F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5424" y="5813"/>
                <a:ext cx="541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直接连接符 599067">
                <a:extLst>
                  <a:ext uri="{FF2B5EF4-FFF2-40B4-BE49-F238E27FC236}">
                    <a16:creationId xmlns:a16="http://schemas.microsoft.com/office/drawing/2014/main" id="{22B01346-D887-E2BB-8375-D0B1FB479A4A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5965" y="5813"/>
                <a:ext cx="1" cy="50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直接连接符 599068">
                <a:extLst>
                  <a:ext uri="{FF2B5EF4-FFF2-40B4-BE49-F238E27FC236}">
                    <a16:creationId xmlns:a16="http://schemas.microsoft.com/office/drawing/2014/main" id="{53D5D008-87C8-FC15-226A-E0CC2784CC6A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5739" y="6317"/>
                <a:ext cx="794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直接连接符 599074">
                <a:extLst>
                  <a:ext uri="{FF2B5EF4-FFF2-40B4-BE49-F238E27FC236}">
                    <a16:creationId xmlns:a16="http://schemas.microsoft.com/office/drawing/2014/main" id="{EA9CFDD5-EBE4-1145-7597-B00AF4710DFC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3133" y="6338"/>
                <a:ext cx="1" cy="1953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直接连接符 599075">
                <a:extLst>
                  <a:ext uri="{FF2B5EF4-FFF2-40B4-BE49-F238E27FC236}">
                    <a16:creationId xmlns:a16="http://schemas.microsoft.com/office/drawing/2014/main" id="{EC1B77EF-3E85-E671-DBF2-BE18AA843623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3120" y="7417"/>
                <a:ext cx="3402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" name="直接连接符 599080">
                <a:extLst>
                  <a:ext uri="{FF2B5EF4-FFF2-40B4-BE49-F238E27FC236}">
                    <a16:creationId xmlns:a16="http://schemas.microsoft.com/office/drawing/2014/main" id="{98C28C9B-2B56-7924-00FB-85C296D6CC18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6524" y="6317"/>
                <a:ext cx="1" cy="2015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" name="直接连接符 599081">
                <a:extLst>
                  <a:ext uri="{FF2B5EF4-FFF2-40B4-BE49-F238E27FC236}">
                    <a16:creationId xmlns:a16="http://schemas.microsoft.com/office/drawing/2014/main" id="{76B87EA6-47DE-5298-E5AB-FDB0BB374319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3120" y="8311"/>
                <a:ext cx="735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" name="矩形 599082">
                <a:extLst>
                  <a:ext uri="{FF2B5EF4-FFF2-40B4-BE49-F238E27FC236}">
                    <a16:creationId xmlns:a16="http://schemas.microsoft.com/office/drawing/2014/main" id="{70D1EF59-2A15-2D87-E3E9-54451CBC18F0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3977" y="8101"/>
                <a:ext cx="134" cy="48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anchor="t"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1" name="直接连接符 599083">
                <a:extLst>
                  <a:ext uri="{FF2B5EF4-FFF2-40B4-BE49-F238E27FC236}">
                    <a16:creationId xmlns:a16="http://schemas.microsoft.com/office/drawing/2014/main" id="{6FFA9453-48BE-0CF9-D70F-6CFC7DA6C1A1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3994" y="8186"/>
                <a:ext cx="1" cy="324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直接连接符 599084">
                <a:extLst>
                  <a:ext uri="{FF2B5EF4-FFF2-40B4-BE49-F238E27FC236}">
                    <a16:creationId xmlns:a16="http://schemas.microsoft.com/office/drawing/2014/main" id="{594E6C41-984A-DA75-A990-0B6CFB95E26C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 flipH="1">
                <a:off x="3883" y="8101"/>
                <a:ext cx="0" cy="487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直接连接符 599085">
                <a:extLst>
                  <a:ext uri="{FF2B5EF4-FFF2-40B4-BE49-F238E27FC236}">
                    <a16:creationId xmlns:a16="http://schemas.microsoft.com/office/drawing/2014/main" id="{468C3C0D-0FDA-4DFF-B3CB-76B612DA69E7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3992" y="8311"/>
                <a:ext cx="524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24" name="xjhzja18">
                <a:extLst>
                  <a:ext uri="{FF2B5EF4-FFF2-40B4-BE49-F238E27FC236}">
                    <a16:creationId xmlns:a16="http://schemas.microsoft.com/office/drawing/2014/main" id="{B8F6B5D4-0481-80F5-44B5-76FF5D1A1052}"/>
                  </a:ext>
                </a:extLst>
              </p:cNvPr>
              <p:cNvGrpSpPr/>
              <p:nvPr>
                <p:custDataLst>
                  <p:tags r:id="rId20"/>
                </p:custDataLst>
              </p:nvPr>
            </p:nvGrpSpPr>
            <p:grpSpPr>
              <a:xfrm>
                <a:off x="4553" y="8081"/>
                <a:ext cx="419" cy="436"/>
                <a:chOff x="3248" y="4092"/>
                <a:chExt cx="362" cy="312"/>
              </a:xfrm>
            </p:grpSpPr>
            <p:sp>
              <p:nvSpPr>
                <p:cNvPr id="31" name="矩形 599087">
                  <a:extLst>
                    <a:ext uri="{FF2B5EF4-FFF2-40B4-BE49-F238E27FC236}">
                      <a16:creationId xmlns:a16="http://schemas.microsoft.com/office/drawing/2014/main" id="{DE0DD693-DC09-9421-C239-7D6D457D6709}"/>
                    </a:ext>
                  </a:extLst>
                </p:cNvPr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3248" y="4092"/>
                  <a:ext cx="362" cy="31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 anchor="t"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2" name="组合 599088">
                  <a:extLst>
                    <a:ext uri="{FF2B5EF4-FFF2-40B4-BE49-F238E27FC236}">
                      <a16:creationId xmlns:a16="http://schemas.microsoft.com/office/drawing/2014/main" id="{A228A744-EEA7-CE3F-7F74-20139A2AFDA0}"/>
                    </a:ext>
                  </a:extLst>
                </p:cNvPr>
                <p:cNvGrpSpPr/>
                <p:nvPr>
                  <p:custDataLst>
                    <p:tags r:id="rId28"/>
                  </p:custDataLst>
                </p:nvPr>
              </p:nvGrpSpPr>
              <p:grpSpPr>
                <a:xfrm>
                  <a:off x="3248" y="4092"/>
                  <a:ext cx="362" cy="156"/>
                  <a:chOff x="2162" y="3936"/>
                  <a:chExt cx="362" cy="156"/>
                </a:xfrm>
              </p:grpSpPr>
              <p:sp>
                <p:nvSpPr>
                  <p:cNvPr id="33" name="直接连接符 599089">
                    <a:extLst>
                      <a:ext uri="{FF2B5EF4-FFF2-40B4-BE49-F238E27FC236}">
                        <a16:creationId xmlns:a16="http://schemas.microsoft.com/office/drawing/2014/main" id="{A995DC8B-69BA-4200-4A1A-C382ADD16AB6}"/>
                      </a:ext>
                    </a:extLst>
                  </p:cNvPr>
                  <p:cNvSpPr/>
                  <p:nvPr>
                    <p:custDataLst>
                      <p:tags r:id="rId29"/>
                    </p:custDataLst>
                  </p:nvPr>
                </p:nvSpPr>
                <p:spPr>
                  <a:xfrm flipV="1">
                    <a:off x="2162" y="3936"/>
                    <a:ext cx="362" cy="156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oval" w="sm" len="sm"/>
                    <a:tailEnd type="none" w="sm" len="sm"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  <p:sp>
                <p:nvSpPr>
                  <p:cNvPr id="34" name="直接连接符 599090">
                    <a:extLst>
                      <a:ext uri="{FF2B5EF4-FFF2-40B4-BE49-F238E27FC236}">
                        <a16:creationId xmlns:a16="http://schemas.microsoft.com/office/drawing/2014/main" id="{5B507445-BD54-6E65-F1EC-A2C653D30FB9}"/>
                      </a:ext>
                    </a:extLst>
                  </p:cNvPr>
                  <p:cNvSpPr/>
                  <p:nvPr>
                    <p:custDataLst>
                      <p:tags r:id="rId30"/>
                    </p:custDataLst>
                  </p:nvPr>
                </p:nvSpPr>
                <p:spPr>
                  <a:xfrm flipH="1">
                    <a:off x="2524" y="4092"/>
                    <a:ext cx="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lstStyle/>
                  <a:p>
                    <a:endParaRPr/>
                  </a:p>
                </p:txBody>
              </p:sp>
            </p:grpSp>
          </p:grpSp>
          <p:sp>
            <p:nvSpPr>
              <p:cNvPr id="25" name="直接连接符 599091">
                <a:extLst>
                  <a:ext uri="{FF2B5EF4-FFF2-40B4-BE49-F238E27FC236}">
                    <a16:creationId xmlns:a16="http://schemas.microsoft.com/office/drawing/2014/main" id="{E330E8A4-A860-2E4B-D657-0AC1D7886F9E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5056" y="8311"/>
                <a:ext cx="1487" cy="1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199CDB97-1EC3-7430-4C3E-7CBD049A33C8}"/>
                  </a:ext>
                </a:extLst>
              </p:cNvPr>
              <p:cNvGrpSpPr/>
              <p:nvPr>
                <p:custDataLst>
                  <p:tags r:id="rId22"/>
                </p:custDataLst>
              </p:nvPr>
            </p:nvGrpSpPr>
            <p:grpSpPr>
              <a:xfrm>
                <a:off x="4403" y="7059"/>
                <a:ext cx="682" cy="716"/>
                <a:chOff x="5138" y="734"/>
                <a:chExt cx="682" cy="716"/>
              </a:xfrm>
            </p:grpSpPr>
            <p:sp>
              <p:nvSpPr>
                <p:cNvPr id="29" name="椭圆 599110">
                  <a:extLst>
                    <a:ext uri="{FF2B5EF4-FFF2-40B4-BE49-F238E27FC236}">
                      <a16:creationId xmlns:a16="http://schemas.microsoft.com/office/drawing/2014/main" id="{4934CEE7-ED9D-ABD3-525F-E73C9109D72A}"/>
                    </a:ext>
                  </a:extLst>
                </p:cNvPr>
                <p:cNvSpPr>
                  <a:spLocks noChangeAspect="1"/>
                </p:cNvSpPr>
                <p:nvPr>
                  <p:custDataLst>
                    <p:tags r:id="rId25"/>
                  </p:custDataLst>
                </p:nvPr>
              </p:nvSpPr>
              <p:spPr>
                <a:xfrm>
                  <a:off x="5253" y="865"/>
                  <a:ext cx="454" cy="454"/>
                </a:xfrm>
                <a:prstGeom prst="ellipse">
                  <a:avLst/>
                </a:prstGeom>
                <a:solidFill>
                  <a:schemeClr val="bg1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" name="文本框 599105">
                  <a:extLst>
                    <a:ext uri="{FF2B5EF4-FFF2-40B4-BE49-F238E27FC236}">
                      <a16:creationId xmlns:a16="http://schemas.microsoft.com/office/drawing/2014/main" id="{FECC9D31-7CA9-576A-34FB-0B09370A34F6}"/>
                    </a:ext>
                  </a:extLst>
                </p:cNvPr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5138" y="734"/>
                  <a:ext cx="682" cy="7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/>
                <a:lstStyle/>
                <a:p>
                  <a:pPr algn="ctr"/>
                  <a:r>
                    <a:rPr lang="en-US" altLang="zh-CN" sz="2400">
                      <a:solidFill>
                        <a:srgbClr val="000000"/>
                      </a:solidFill>
                      <a:latin typeface="黑体" panose="02010609060101010101" charset="-122"/>
                      <a:ea typeface="黑体" panose="02010609060101010101" charset="-122"/>
                    </a:rPr>
                    <a:t>V</a:t>
                  </a:r>
                </a:p>
              </p:txBody>
            </p:sp>
          </p:grp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BEA89019-4FEF-403C-95E5-A281F3BB54ED}"/>
                  </a:ext>
                </a:extLst>
              </p:cNvPr>
              <p:cNvSpPr>
                <a:spLocks noChangeAspec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3091" y="7374"/>
                <a:ext cx="85" cy="8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26B5B38E-E1B3-2CA0-089F-AA79B534C67F}"/>
                  </a:ext>
                </a:extLst>
              </p:cNvPr>
              <p:cNvSpPr>
                <a:spLocks noChangeAspect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6482" y="7374"/>
                <a:ext cx="85" cy="8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8C4F2AFE-CC53-B352-6503-669A57DBA207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3444875" y="5055870"/>
              <a:ext cx="433070" cy="454660"/>
              <a:chOff x="5138" y="734"/>
              <a:chExt cx="682" cy="716"/>
            </a:xfrm>
          </p:grpSpPr>
          <p:sp>
            <p:nvSpPr>
              <p:cNvPr id="8" name="椭圆 599110">
                <a:extLst>
                  <a:ext uri="{FF2B5EF4-FFF2-40B4-BE49-F238E27FC236}">
                    <a16:creationId xmlns:a16="http://schemas.microsoft.com/office/drawing/2014/main" id="{1F4EE7AD-1428-91EE-E869-4F7D7E57BCDE}"/>
                  </a:ext>
                </a:extLst>
              </p:cNvPr>
              <p:cNvSpPr>
                <a:spLocks noChangeAspec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5253" y="865"/>
                <a:ext cx="454" cy="454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" name="文本框 599105">
                <a:extLst>
                  <a:ext uri="{FF2B5EF4-FFF2-40B4-BE49-F238E27FC236}">
                    <a16:creationId xmlns:a16="http://schemas.microsoft.com/office/drawing/2014/main" id="{7722DEEA-2C4D-495F-4633-E85F55A51918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138" y="734"/>
                <a:ext cx="682" cy="71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zh-CN" sz="2400">
                    <a:solidFill>
                      <a:srgbClr val="000000"/>
                    </a:solidFill>
                    <a:latin typeface="黑体" panose="02010609060101010101" charset="-122"/>
                    <a:ea typeface="黑体" panose="02010609060101010101" charset="-122"/>
                  </a:rPr>
                  <a:t>A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63487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1" name="yt_shape_16981"/>
          <p:cNvSpPr txBox="1"/>
          <p:nvPr/>
        </p:nvSpPr>
        <p:spPr>
          <a:xfrm>
            <a:off x="267086" y="1102999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1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河北石家庄阶段练习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4_4e58f"/>
              </a:rPr>
              <a:t>在测定一节干电池的电动势和内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阻的实验中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要求尽量减小实验误差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已知实验室除待测电池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开关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f971e"/>
              </a:rPr>
              <a:t>导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线外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还有下列器材可供选用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sp>
        <p:nvSpPr>
          <p:cNvPr id="16982" name="yt_shape_16982"/>
          <p:cNvSpPr txBox="1"/>
          <p:nvPr/>
        </p:nvSpPr>
        <p:spPr>
          <a:xfrm>
            <a:off x="267015" y="2873297"/>
            <a:ext cx="7519110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电流表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量程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内阻约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16983" name="yt_shape_16983"/>
          <p:cNvSpPr txBox="1"/>
          <p:nvPr/>
        </p:nvSpPr>
        <p:spPr>
          <a:xfrm>
            <a:off x="267015" y="3456282"/>
            <a:ext cx="7139198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电流表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量程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内阻约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16984" name="yt_shape_16984"/>
          <p:cNvSpPr txBox="1"/>
          <p:nvPr/>
        </p:nvSpPr>
        <p:spPr>
          <a:xfrm>
            <a:off x="267015" y="4039267"/>
            <a:ext cx="589578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电压表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内阻约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16985" name="yt_shape_16985"/>
          <p:cNvSpPr txBox="1"/>
          <p:nvPr/>
        </p:nvSpPr>
        <p:spPr>
          <a:xfrm>
            <a:off x="267015" y="4622252"/>
            <a:ext cx="627569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电压表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内阻约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16986" name="yt_shape_16986"/>
          <p:cNvSpPr txBox="1"/>
          <p:nvPr/>
        </p:nvSpPr>
        <p:spPr>
          <a:xfrm>
            <a:off x="267015" y="5205237"/>
            <a:ext cx="4595810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滑动变阻器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16987" name="yt_shape_16987"/>
          <p:cNvSpPr txBox="1"/>
          <p:nvPr/>
        </p:nvSpPr>
        <p:spPr>
          <a:xfrm>
            <a:off x="267015" y="5788222"/>
            <a:ext cx="4756110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滑动变阻器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500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sp>
        <p:nvSpPr>
          <p:cNvPr id="10" name="yt_shape_16980"/>
          <p:cNvSpPr txBox="1"/>
          <p:nvPr/>
        </p:nvSpPr>
        <p:spPr>
          <a:xfrm>
            <a:off x="267015" y="569776"/>
            <a:ext cx="3590727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7030A0"/>
                </a:solidFill>
                <a:effectLst/>
                <a:latin typeface="微软雅黑" pitchFamily="28"/>
                <a:ea typeface="微软雅黑" pitchFamily="28"/>
              </a:rPr>
              <a:t>类型一</a:t>
            </a:r>
            <a:r>
              <a:rPr lang="zh-CN" altLang="zh-CN" sz="2800" b="0" i="0" u="none">
                <a:solidFill>
                  <a:srgbClr val="7030A0"/>
                </a:solidFill>
                <a:effectLst/>
                <a:latin typeface="宋体" pitchFamily="28"/>
                <a:ea typeface="宋体" pitchFamily="28"/>
              </a:rPr>
              <a:t>｜</a:t>
            </a:r>
            <a:r>
              <a:rPr lang="zh-CN" altLang="zh-CN" sz="2800" b="1" i="0" u="none">
                <a:solidFill>
                  <a:srgbClr val="7030A0"/>
                </a:solidFill>
                <a:effectLst/>
                <a:latin typeface="微软雅黑" pitchFamily="28"/>
                <a:ea typeface="微软雅黑" pitchFamily="28"/>
              </a:rPr>
              <a:t>教材原型实验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6="http://schemas.microsoft.com/office/drawing/2014/main" xmlns:a14="http://schemas.microsoft.com/office/drawing/2010/main" xmlns:p14="http://schemas.microsoft.com/office/powerpoint/2010/main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8" name="yt_shape_16988"/>
          <p:cNvSpPr txBox="1"/>
          <p:nvPr/>
        </p:nvSpPr>
        <p:spPr>
          <a:xfrm>
            <a:off x="324000" y="467999"/>
            <a:ext cx="1113125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应该选择的实验电路是图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中的</a:t>
            </a:r>
            <a:r>
              <a:rPr sz="25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</a:t>
            </a:r>
            <a:r>
              <a:rPr sz="11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选填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或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,isEnd"/>
              </a:rPr>
              <a:t>）。</a:t>
            </a:r>
          </a:p>
        </p:txBody>
      </p:sp>
      <p:pic>
        <p:nvPicPr>
          <p:cNvPr id="16989" name="yt_image_16989" title="H_188.37495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7188" y="1203348"/>
            <a:ext cx="4477622" cy="239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991" name="yt_shape_16991"/>
          <p:cNvSpPr txBox="1"/>
          <p:nvPr/>
        </p:nvSpPr>
        <p:spPr>
          <a:xfrm>
            <a:off x="324071" y="3645970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因为干电池内电阻比较小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与电流表内阻相差不多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6_3a4ba"/>
              </a:rPr>
              <a:t>则应该选择的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实验电路是图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中的甲。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3BDEC7E-019F-8EFD-4E36-1EA221ED9CB4}"/>
              </a:ext>
            </a:extLst>
          </p:cNvPr>
          <p:cNvSpPr txBox="1"/>
          <p:nvPr/>
        </p:nvSpPr>
        <p:spPr>
          <a:xfrm>
            <a:off x="6279189" y="421193"/>
            <a:ext cx="535686" cy="620662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甲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1" grpId="0" build="allAtOnce"/>
      <p:bldP spid="2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2" name="yt_shape_16992"/>
          <p:cNvSpPr txBox="1"/>
          <p:nvPr/>
        </p:nvSpPr>
        <p:spPr>
          <a:xfrm>
            <a:off x="324071" y="467999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为了操作方便且测量结果尽量准确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电流表应选用</a:t>
            </a:r>
            <a:r>
              <a:rPr sz="2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</a:t>
            </a:r>
            <a:r>
              <a:rPr sz="17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d5151,isEnd"/>
              </a:rPr>
              <a:t>电压表应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选用</a:t>
            </a:r>
            <a:r>
              <a:rPr sz="25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</a:t>
            </a:r>
            <a:r>
              <a:rPr sz="14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滑动变阻器应选用</a:t>
            </a:r>
            <a:r>
              <a:rPr sz="25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</a:t>
            </a:r>
            <a:r>
              <a:rPr sz="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填写器材前的字母代号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,isEnd"/>
              </a:rPr>
              <a:t>）</a:t>
            </a:r>
          </a:p>
        </p:txBody>
      </p:sp>
      <p:sp>
        <p:nvSpPr>
          <p:cNvPr id="16993" name="yt_shape_16993"/>
          <p:cNvSpPr txBox="1"/>
          <p:nvPr/>
        </p:nvSpPr>
        <p:spPr>
          <a:xfrm>
            <a:off x="324071" y="1654226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为了操作方便且测量结果尽量准确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电流表应选用量程为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ad0c5"/>
              </a:rPr>
              <a:t>的</a:t>
            </a:r>
            <a:b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电压表应选用量程为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滑动变阻器应选用最大阻值为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A9A70C-9860-3D10-1A43-08B8B43C6A50}"/>
              </a:ext>
            </a:extLst>
          </p:cNvPr>
          <p:cNvSpPr txBox="1"/>
          <p:nvPr/>
        </p:nvSpPr>
        <p:spPr>
          <a:xfrm>
            <a:off x="9301859" y="421193"/>
            <a:ext cx="437261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A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CD645E-BDE8-FD53-89B5-A72D7659FE7E}"/>
              </a:ext>
            </a:extLst>
          </p:cNvPr>
          <p:cNvSpPr txBox="1"/>
          <p:nvPr/>
        </p:nvSpPr>
        <p:spPr>
          <a:xfrm>
            <a:off x="1300860" y="1018601"/>
            <a:ext cx="416624" cy="620662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C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82301BD-1AF4-CEB5-E2F6-07F92D016495}"/>
              </a:ext>
            </a:extLst>
          </p:cNvPr>
          <p:cNvSpPr txBox="1"/>
          <p:nvPr/>
        </p:nvSpPr>
        <p:spPr>
          <a:xfrm>
            <a:off x="5448998" y="1018601"/>
            <a:ext cx="397573" cy="620662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E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3" grpId="0" build="allAtOnce"/>
      <p:bldP spid="2" grpId="0" build="allAtOnce"/>
      <p:bldP spid="3" grpId="0" build="allAtOnce"/>
      <p:bldP spid="4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4" name="yt_shape_16994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是在坐标纸上绘制的电压表示数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随电流表示数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变化的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图线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ab43e,isEnd"/>
              </a:rPr>
              <a:t>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请据此图线判断被测干电池的电动势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sz="2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      </a:t>
            </a:r>
            <a:r>
              <a:rPr sz="1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132ef,isEnd"/>
              </a:rPr>
              <a:t>r</a:t>
            </a:r>
            <a:b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sz="25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      </a:t>
            </a:r>
            <a:r>
              <a:rPr sz="3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结果均保留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位小数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,isEnd"/>
              </a:rPr>
              <a:t>）</a:t>
            </a:r>
          </a:p>
        </p:txBody>
      </p:sp>
      <p:pic>
        <p:nvPicPr>
          <p:cNvPr id="16995" name="yt_image_16995" title="H_239.37495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78953" y="2344865"/>
            <a:ext cx="4478493" cy="276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210C73F-425B-9B29-217F-A001A1BF9FCF}"/>
              </a:ext>
            </a:extLst>
          </p:cNvPr>
          <p:cNvSpPr txBox="1"/>
          <p:nvPr/>
        </p:nvSpPr>
        <p:spPr>
          <a:xfrm>
            <a:off x="6852348" y="1018601"/>
            <a:ext cx="891286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1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  <a:cs typeface="+mn-cs"/>
              </a:rPr>
              <a:t>.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4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9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DB8E44-E468-560B-F8E0-6C818F720431}"/>
              </a:ext>
            </a:extLst>
          </p:cNvPr>
          <p:cNvSpPr txBox="1"/>
          <p:nvPr/>
        </p:nvSpPr>
        <p:spPr>
          <a:xfrm>
            <a:off x="945260" y="1616009"/>
            <a:ext cx="891286" cy="620662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0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  <a:cs typeface="+mn-cs"/>
              </a:rPr>
              <a:t>.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5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3</a:t>
            </a:r>
            <a:endParaRPr lang="zh-CN" alt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yt_shape_16997"/>
              <p:cNvSpPr txBox="1"/>
              <p:nvPr/>
            </p:nvSpPr>
            <p:spPr>
              <a:xfrm>
                <a:off x="267086" y="4951764"/>
                <a:ext cx="11924914" cy="140256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hangingPunct="0">
                  <a:lnSpc>
                    <a:spcPct val="140000"/>
                  </a:lnSpc>
                </a:pPr>
                <a:r>
                  <a:rPr lang="zh-CN" altLang="zh-CN" sz="2800" dirty="0">
                    <a:solidFill>
                      <a:srgbClr val="0000FF"/>
                    </a:solidFill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图像可知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干电池的电动势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49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内阻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49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55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4deb0"/>
                  </a:rPr>
                  <a:t>Ω</a:t>
                </a:r>
                <a:b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53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:p15="http://schemas.microsoft.com/office/powerpoint/2012/main" xmlns:p14="http://schemas.microsoft.com/office/powerpoint/2010/main" xmlns:a16="http://schemas.microsoft.com/office/drawing/2014/main" xmlns="">
          <p:sp>
            <p:nvSpPr>
              <p:cNvPr id="6" name="yt_shape_169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4951764"/>
                <a:ext cx="11924914" cy="1402563"/>
              </a:xfrm>
              <a:prstGeom prst="rect">
                <a:avLst/>
              </a:prstGeom>
              <a:blipFill>
                <a:blip r:embed="rId3"/>
                <a:stretch>
                  <a:fillRect l="-1840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3" grpId="0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9" name="yt_shape_16999"/>
          <p:cNvSpPr txBox="1"/>
          <p:nvPr/>
        </p:nvSpPr>
        <p:spPr>
          <a:xfrm>
            <a:off x="324000" y="366399"/>
            <a:ext cx="1436291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31849B"/>
                </a:solidFill>
                <a:effectLst/>
                <a:latin typeface="微软雅黑" pitchFamily="28"/>
                <a:ea typeface="微软雅黑" pitchFamily="28"/>
              </a:rPr>
              <a:t>规律总结</a:t>
            </a:r>
          </a:p>
        </p:txBody>
      </p:sp>
      <p:graphicFrame>
        <p:nvGraphicFramePr>
          <p:cNvPr id="17000" name="yt_table_17000" title="H_519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00" y="929655"/>
          <a:ext cx="11543997" cy="54521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5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8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46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14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项目</a:t>
                      </a:r>
                    </a:p>
                  </a:txBody>
                  <a:tcPr anchor="ctr">
                    <a:lnL w="9522" cap="flat" cmpd="sng" algn="ctr">
                      <a:noFill/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14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电流表外接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14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电流表内接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noFill/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14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电路图</a:t>
                      </a:r>
                    </a:p>
                  </a:txBody>
                  <a:tcPr anchor="ctr">
                    <a:lnL w="9522" cap="flat" cmpd="sng" algn="ctr">
                      <a:noFill/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14000"/>
                        </a:lnSpc>
                      </a:pPr>
                      <a:r>
                        <a:rPr lang="en-US" altLang="zh-CN" sz="9000" b="0" i="0" u="none">
                          <a:solidFill>
                            <a:srgbClr val="1EE3CF"/>
                          </a:solidFill>
                          <a:effectLst/>
                          <a:latin typeface="Times New Roman" pitchFamily="90"/>
                          <a:ea typeface="Times New Roman" pitchFamily="90"/>
                          <a:sym typeface="Finished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             </a:t>
                      </a:r>
                      <a:r>
                        <a:rPr lang="en-US" altLang="zh-CN" sz="2400" b="0" i="0" u="none">
                          <a:solidFill>
                            <a:srgbClr val="1EE3CF"/>
                          </a:solidFill>
                          <a:effectLst/>
                          <a:latin typeface="Times New Roman" pitchFamily="24"/>
                          <a:ea typeface="宋体" pitchFamily="24"/>
                          <a:sym typeface=""/>
                        </a:rPr>
                        <a:t> 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14000"/>
                        </a:lnSpc>
                      </a:pPr>
                      <a:r>
                        <a:rPr lang="en-US" altLang="zh-CN" sz="8800" b="0" i="0" u="none">
                          <a:solidFill>
                            <a:srgbClr val="1EE3CF"/>
                          </a:solidFill>
                          <a:effectLst/>
                          <a:latin typeface="Times New Roman" pitchFamily="88"/>
                          <a:ea typeface="Times New Roman" pitchFamily="88"/>
                          <a:sym typeface="Finished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              </a:t>
                      </a:r>
                      <a:r>
                        <a:rPr lang="en-US" altLang="zh-CN" sz="300" b="0" i="0" u="none">
                          <a:solidFill>
                            <a:srgbClr val="1EE3CF"/>
                          </a:solidFill>
                          <a:effectLst/>
                          <a:latin typeface="Times New Roman" pitchFamily="3"/>
                          <a:ea typeface="宋体" pitchFamily="3"/>
                          <a:sym typeface=""/>
                        </a:rPr>
                        <a:t> 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noFill/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14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误差原因</a:t>
                      </a:r>
                    </a:p>
                  </a:txBody>
                  <a:tcPr anchor="ctr">
                    <a:lnL w="9522" cap="flat" cmpd="sng" algn="ctr">
                      <a:noFill/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14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由于电压表分流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  <a:sym typeface="_⨹_4_d676c"/>
                        </a:rPr>
                        <a:t>使电流表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的测量值偏小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14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由于电流表分压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  <a:sym typeface="_⨹_5_9515d"/>
                        </a:rPr>
                        <a:t>使电压表的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测量值偏小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noFill/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14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  <a:sym typeface="_⨹_4_ae763"/>
                        </a:rPr>
                        <a:t>理论图像</a:t>
                      </a:r>
                      <a:b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</a:b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与测量图像</a:t>
                      </a:r>
                    </a:p>
                  </a:txBody>
                  <a:tcPr anchor="ctr">
                    <a:lnL w="9522" cap="flat" cmpd="sng" algn="ctr">
                      <a:noFill/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14000"/>
                        </a:lnSpc>
                      </a:pPr>
                      <a:r>
                        <a:rPr lang="en-US" altLang="zh-CN" sz="8550" b="0" i="0" u="none">
                          <a:solidFill>
                            <a:srgbClr val="1EE3CF"/>
                          </a:solidFill>
                          <a:effectLst/>
                          <a:latin typeface="Times New Roman" pitchFamily="86"/>
                          <a:ea typeface="Times New Roman" pitchFamily="86"/>
                          <a:sym typeface="Finished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                 </a:t>
                      </a:r>
                      <a:r>
                        <a:rPr lang="en-US" altLang="zh-CN" sz="100" b="0" i="0" u="none">
                          <a:solidFill>
                            <a:srgbClr val="1EE3CF"/>
                          </a:solidFill>
                          <a:effectLst/>
                          <a:latin typeface="Times New Roman" pitchFamily="1"/>
                          <a:ea typeface="宋体" pitchFamily="1"/>
                          <a:sym typeface=""/>
                        </a:rPr>
                        <a:t> 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14000"/>
                        </a:lnSpc>
                      </a:pPr>
                      <a:r>
                        <a:rPr lang="en-US" altLang="zh-CN" sz="8300" b="0" i="0" u="none">
                          <a:solidFill>
                            <a:srgbClr val="1EE3CF"/>
                          </a:solidFill>
                          <a:effectLst/>
                          <a:latin typeface="Times New Roman" pitchFamily="83"/>
                          <a:ea typeface="Times New Roman" pitchFamily="83"/>
                          <a:sym typeface="Finished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                  </a:t>
                      </a:r>
                      <a:r>
                        <a:rPr lang="en-US" altLang="zh-CN" sz="900" b="0" i="0" u="none">
                          <a:solidFill>
                            <a:srgbClr val="1EE3CF"/>
                          </a:solidFill>
                          <a:effectLst/>
                          <a:latin typeface="Times New Roman" pitchFamily="9"/>
                          <a:ea typeface="宋体" pitchFamily="9"/>
                          <a:sym typeface=""/>
                        </a:rPr>
                        <a:t> 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noFill/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14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结论</a:t>
                      </a:r>
                    </a:p>
                  </a:txBody>
                  <a:tcPr anchor="ctr">
                    <a:lnL w="9522" cap="flat" cmpd="sng" algn="ctr">
                      <a:noFill/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14000"/>
                        </a:lnSpc>
                      </a:pP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E</a:t>
                      </a:r>
                      <a:r>
                        <a:rPr lang="zh-CN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测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＜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E</a:t>
                      </a:r>
                      <a:r>
                        <a:rPr lang="zh-CN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真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zh-CN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测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＜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zh-CN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真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14000"/>
                        </a:lnSpc>
                      </a:pP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E</a:t>
                      </a:r>
                      <a:r>
                        <a:rPr lang="zh-CN" altLang="zh-CN" sz="28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测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E</a:t>
                      </a:r>
                      <a:r>
                        <a:rPr lang="zh-CN" altLang="zh-CN" sz="28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真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zh-CN" altLang="zh-CN" sz="28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测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＞</a:t>
                      </a:r>
                      <a:r>
                        <a:rPr lang="en-US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zh-CN" altLang="zh-CN" sz="2800" b="0" i="0" u="none" baseline="-25000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楷体" pitchFamily="28"/>
                        </a:rPr>
                        <a:t>真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noFill/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yt_shape_1746690964643">
            <a:extLst>
              <a:ext uri="{FF2B5EF4-FFF2-40B4-BE49-F238E27FC236}">
                <a16:creationId xmlns:a16="http://schemas.microsoft.com/office/drawing/2014/main" id="{07E5740E-D8DD-466A-822F-661081738A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157" y="1698074"/>
            <a:ext cx="1460675" cy="1381640"/>
          </a:xfrm>
          <a:prstGeom prst="rect">
            <a:avLst/>
          </a:prstGeom>
        </p:spPr>
      </p:pic>
      <p:pic>
        <p:nvPicPr>
          <p:cNvPr id="5" name="yt_shape_1746690964700">
            <a:extLst>
              <a:ext uri="{FF2B5EF4-FFF2-40B4-BE49-F238E27FC236}">
                <a16:creationId xmlns:a16="http://schemas.microsoft.com/office/drawing/2014/main" id="{46CCFAC6-ED30-61B8-0F5F-3786C7CF2C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685" y="1583085"/>
            <a:ext cx="1475106" cy="1357568"/>
          </a:xfrm>
          <a:prstGeom prst="rect">
            <a:avLst/>
          </a:prstGeom>
        </p:spPr>
      </p:pic>
      <p:pic>
        <p:nvPicPr>
          <p:cNvPr id="7" name="yt_shape_1746690964897">
            <a:extLst>
              <a:ext uri="{FF2B5EF4-FFF2-40B4-BE49-F238E27FC236}">
                <a16:creationId xmlns:a16="http://schemas.microsoft.com/office/drawing/2014/main" id="{74ED0825-20A6-FB51-E3EF-AE547C57BE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662" y="4333382"/>
            <a:ext cx="1704570" cy="1349200"/>
          </a:xfrm>
          <a:prstGeom prst="rect">
            <a:avLst/>
          </a:prstGeom>
        </p:spPr>
      </p:pic>
      <p:pic>
        <p:nvPicPr>
          <p:cNvPr id="9" name="yt_shape_1746690964954">
            <a:extLst>
              <a:ext uri="{FF2B5EF4-FFF2-40B4-BE49-F238E27FC236}">
                <a16:creationId xmlns:a16="http://schemas.microsoft.com/office/drawing/2014/main" id="{45F41003-0697-4256-64D9-4EC02841C5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182" y="4285860"/>
            <a:ext cx="1801265" cy="13205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2" name="yt_shape_17002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2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江苏南通月考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5_937d7,isEnd"/>
              </a:rPr>
              <a:t>年我国一些品牌的电动汽车广泛使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用了刀片电池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为了研究某款刀片电池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某学习小组进行了如下的实验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,isEnd"/>
              </a:rPr>
              <a:t>：</a:t>
            </a:r>
          </a:p>
          <a:p>
            <a:pPr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图甲为用游标卡尺测量刀片电池厚度的示意图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808f5,isEnd"/>
              </a:rPr>
              <a:t>其读数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</a:t>
            </a:r>
            <a:r>
              <a:rPr sz="25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        </a:t>
            </a:r>
            <a:r>
              <a:rPr sz="19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,isEnd"/>
              </a:rPr>
              <a:t>。</a:t>
            </a:r>
          </a:p>
        </p:txBody>
      </p:sp>
      <p:pic>
        <p:nvPicPr>
          <p:cNvPr id="17004" name="yt_image_17004" title="H_253.12495">
            <a:extLst>
              <a:ext uri="">
                <a16:creationId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01404" y="2523748"/>
            <a:ext cx="5958190" cy="321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E45E3B1-1A1E-F223-318A-78A617F2684D}"/>
              </a:ext>
            </a:extLst>
          </p:cNvPr>
          <p:cNvSpPr txBox="1"/>
          <p:nvPr/>
        </p:nvSpPr>
        <p:spPr>
          <a:xfrm>
            <a:off x="945260" y="2213417"/>
            <a:ext cx="1069087" cy="620662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10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  <a:cs typeface="+mn-cs"/>
              </a:rPr>
              <a:t>.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8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0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5" name="yt_shape_17006"/>
          <p:cNvSpPr txBox="1"/>
          <p:nvPr/>
        </p:nvSpPr>
        <p:spPr>
          <a:xfrm>
            <a:off x="425671" y="3191301"/>
            <a:ext cx="5460942" cy="17870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由图甲可知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刀片电池厚度为</a:t>
            </a:r>
            <a:r>
              <a:rPr lang="en-US" altLang="zh-CN" sz="2800" b="0" i="1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40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×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02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80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4b686"/>
              </a:rPr>
              <a:t> </a:t>
            </a:r>
            <a:r>
              <a:rPr lang="en-US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mm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6="http://schemas.microsoft.com/office/drawing/2014/main" xmlns:a14="http://schemas.microsoft.com/office/drawing/2010/main"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5" grpId="0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7" name="yt_shape_17007"/>
          <p:cNvSpPr txBox="1"/>
          <p:nvPr/>
        </p:nvSpPr>
        <p:spPr>
          <a:xfrm>
            <a:off x="267086" y="549326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为了测量该电池的电动势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和内阻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3_20557,isEnd"/>
              </a:rPr>
              <a:t>某同学设计了如图乙所示的实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当单刀双掷开关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接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进行实验时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误差来源于</a:t>
            </a:r>
            <a:r>
              <a:rPr sz="2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                      </a:t>
            </a:r>
            <a:r>
              <a:rPr sz="16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d3810,isEnd"/>
              </a:rPr>
              <a:t>填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电压表分流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或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电流表分压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,isEnd"/>
              </a:rPr>
              <a:t>）。</a:t>
            </a:r>
          </a:p>
        </p:txBody>
      </p:sp>
      <p:pic>
        <p:nvPicPr>
          <p:cNvPr id="17008" name="yt_image_17008">
            <a:extLst>
              <a:ext uri="">
                <a16:creationId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73018" y="2471988"/>
            <a:ext cx="6731992" cy="298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9AD954E-CFEF-9C04-0BF8-375337EF9AD8}"/>
              </a:ext>
            </a:extLst>
          </p:cNvPr>
          <p:cNvSpPr txBox="1"/>
          <p:nvPr/>
        </p:nvSpPr>
        <p:spPr>
          <a:xfrm>
            <a:off x="8495574" y="1099928"/>
            <a:ext cx="1958086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电流表分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压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" name="yt_shape_17010"/>
          <p:cNvSpPr txBox="1"/>
          <p:nvPr/>
        </p:nvSpPr>
        <p:spPr>
          <a:xfrm>
            <a:off x="457544" y="5458075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若单刀双掷开关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接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进行实验时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电流表读数为真实的干路电流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bc9fc"/>
              </a:rPr>
              <a:t>，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而电压表读数不是真实的路端电压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误差来源于电流表分压。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6" grpId="0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1" name="yt_shape_17011"/>
          <p:cNvSpPr txBox="1"/>
          <p:nvPr/>
        </p:nvSpPr>
        <p:spPr>
          <a:xfrm>
            <a:off x="267086" y="612826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为了排除电流表和电压表内阻的影响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2_130ac,isEnd"/>
              </a:rPr>
              <a:t>实验小组改变电路进行了两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次实验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sz="25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  </a:t>
            </a:r>
            <a:r>
              <a:rPr sz="15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100" spc="-100">
                <a:latin typeface="Times New Roman"/>
              </a:rPr>
              <a:t>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,isEnd"/>
              </a:rPr>
              <a:t>。</a:t>
            </a:r>
          </a:p>
        </p:txBody>
      </p:sp>
      <p:graphicFrame>
        <p:nvGraphicFramePr>
          <p:cNvPr id="17012" name="yt_table_17012" title="H_141.12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267081" y="1799053"/>
          <a:ext cx="8588375" cy="1792224"/>
        </p:xfrm>
        <a:graphic>
          <a:graphicData uri="http://schemas.openxmlformats.org/drawingml/2006/table">
            <a:tbl>
              <a:tblPr/>
              <a:tblGrid>
                <a:gridCol w="8588375">
                  <a:extLst>
                    <a:ext uri="{9D8B030D-6E8A-4147-A177-3AD203B41FA5}">
                      <a16:colId xmlns:a16="http://schemas.microsoft.com/office/drawing/2014/main" val="10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闭合开关前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应将滑动变阻器的滑片滑至最右边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单刀双掷开关由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接到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时应断开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保持开关闭合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调节滑动变阻器读取多组数据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3"/>
                  </a:ext>
                </a:extLst>
              </a:tr>
            </a:tbl>
          </a:graphicData>
        </a:graphic>
      </p:graphicFrame>
      <p:sp>
        <p:nvSpPr>
          <p:cNvPr id="17014" name="yt_shape_17014"/>
          <p:cNvSpPr txBox="1"/>
          <p:nvPr/>
        </p:nvSpPr>
        <p:spPr>
          <a:xfrm>
            <a:off x="267086" y="364166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为了保证电路安全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闭合开关前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4_bae91"/>
              </a:rPr>
              <a:t>应将滑动变阻器的滑片滑至最右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边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单刀双掷开关由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接到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时不需要断开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1c9ab"/>
              </a:rPr>
              <a:t>保持开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关闭合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调节滑动变阻器读取多组数据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1C7196E-3102-3280-6A3A-5BAB07EADD5E}"/>
              </a:ext>
            </a:extLst>
          </p:cNvPr>
          <p:cNvSpPr txBox="1"/>
          <p:nvPr/>
        </p:nvSpPr>
        <p:spPr>
          <a:xfrm>
            <a:off x="4799875" y="1163428"/>
            <a:ext cx="673799" cy="620662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A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C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14" grpId="0" build="allAtOnce"/>
      <p:bldP spid="2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015" name="yt_shape_17015"/>
              <p:cNvSpPr txBox="1"/>
              <p:nvPr/>
            </p:nvSpPr>
            <p:spPr>
              <a:xfrm>
                <a:off x="324071" y="467999"/>
                <a:ext cx="11924914" cy="204440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根据正确的实验操作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记录数据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绘制了如图丙所示的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、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两条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_5a92f,isEnd"/>
                  </a:rPr>
                  <a:t>I</a:t>
                </a:r>
                <a:b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图线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根据图线得可得电池的电动势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sz="4300" u="sng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/>
                  </a:rPr>
                  <a:t> </a:t>
                </a:r>
                <a:r>
                  <a:rPr sz="2000" u="sng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/>
                  </a:rPr>
                  <a:t>               </a:t>
                </a:r>
                <a:r>
                  <a:rPr sz="800" u="sng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/>
                  </a:rPr>
                  <a:t> 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内阻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sz="4300" u="sng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/>
                  </a:rPr>
                  <a:t> </a:t>
                </a:r>
                <a:r>
                  <a:rPr sz="2000" u="sng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/>
                  </a:rPr>
                  <a:t>              </a:t>
                </a:r>
                <a:r>
                  <a:rPr sz="1300" u="sng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/>
                  </a:rPr>
                  <a:t> 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。（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2_0b3f0,isEnd"/>
                  </a:rPr>
                  <a:t>结果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用丙图中的符号表示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  <a:sym typeface=",isEnd"/>
                  </a:rPr>
                  <a:t>）</a:t>
                </a:r>
              </a:p>
            </p:txBody>
          </p:sp>
        </mc:Choice>
        <mc:Fallback xmlns:a16="http://schemas.microsoft.com/office/drawing/2014/main" xmlns="">
          <p:sp>
            <p:nvSpPr>
              <p:cNvPr id="17015" name="yt_shape_170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2044406"/>
              </a:xfrm>
              <a:prstGeom prst="rect">
                <a:avLst/>
              </a:prstGeom>
              <a:blipFill>
                <a:blip r:embed="rId2"/>
                <a:stretch>
                  <a:fillRect l="-1789" t="-1194" b="-95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4B99D26D-35C8-34DE-67AB-93FD7C47D4F2}"/>
              </a:ext>
            </a:extLst>
          </p:cNvPr>
          <p:cNvSpPr txBox="1"/>
          <p:nvPr/>
        </p:nvSpPr>
        <p:spPr>
          <a:xfrm>
            <a:off x="6852348" y="961870"/>
            <a:ext cx="581724" cy="1012775"/>
          </a:xfrm>
          <a:prstGeom prst="rect">
            <a:avLst/>
          </a:prstGeom>
          <a:noFill/>
        </p:spPr>
        <p:txBody>
          <a:bodyPr vert="horz" wrap="none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en-US" altLang="zh-CN" sz="2800" b="0" i="1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U</a:t>
            </a:r>
            <a:r>
              <a:rPr kumimoji="0" lang="en-US" altLang="zh-CN" sz="2800" b="0" i="1" strike="noStrike" kern="1200" cap="none" spc="0" normalizeH="0" baseline="-25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A</a:t>
            </a:r>
            <a:endParaRPr lang="zh-CN" alt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9F3C8B5-4EAA-1E9B-7F44-1F0E95030D55}"/>
                  </a:ext>
                </a:extLst>
              </p:cNvPr>
              <p:cNvSpPr txBox="1"/>
              <p:nvPr/>
            </p:nvSpPr>
            <p:spPr>
              <a:xfrm>
                <a:off x="9525698" y="937651"/>
                <a:ext cx="536893" cy="1012775"/>
              </a:xfrm>
              <a:prstGeom prst="rect">
                <a:avLst/>
              </a:prstGeom>
              <a:noFill/>
            </p:spPr>
            <p:txBody>
              <a:bodyPr vert="horz" wrap="none" rtlCol="0" anchor="ctr">
                <a:noAutofit/>
              </a:bodyPr>
              <a:lstStyle/>
              <a:p>
                <a:pPr>
                  <a:lnSpc>
                    <a:spcPct val="140000"/>
                  </a:lnSpc>
                </a:pPr>
                <a:r>
                  <a:rPr kumimoji="0" lang="zh-CN" altLang="zh-CN" sz="300" b="0" i="0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itchFamily="3"/>
                    <a:ea typeface="宋体" pitchFamily="3"/>
                  </a:rPr>
                  <a:t>​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2800" b="0" i="1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altLang="zh-CN" sz="2800" b="0" i="1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kumimoji="0" lang="en-US" altLang="zh-CN" sz="2800" b="0" i="1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0" lang="en-US" altLang="zh-CN" sz="2800" b="0" i="1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0" lang="en-US" altLang="zh-CN" sz="2800" b="0" i="1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>
                  <a:solidFill>
                    <a:srgbClr val="FF0000"/>
                  </a:solidFill>
                </a:endParaRPr>
              </a:p>
            </p:txBody>
          </p:sp>
        </mc:Choice>
        <mc:Fallback xmlns:a16="http://schemas.microsoft.com/office/drawing/2014/main"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9F3C8B5-4EAA-1E9B-7F44-1F0E95030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698" y="937651"/>
                <a:ext cx="536893" cy="1012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3" grpId="0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017" name="yt_shape_17017"/>
              <p:cNvSpPr txBox="1"/>
              <p:nvPr/>
            </p:nvSpPr>
            <p:spPr>
              <a:xfrm>
                <a:off x="324071" y="468103"/>
                <a:ext cx="11924914" cy="515525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10000"/>
                  </a:lnSpc>
                </a:pPr>
                <a:r>
                  <a:rPr lang="zh-CN" altLang="zh-CN" sz="2800" b="0" i="0" u="none" spc="15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spc="150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接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相对于电源电流表采用了内接法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a4a48"/>
                  </a:rPr>
                  <a:t>根据闭合电路欧姆</a:t>
                </a:r>
                <a:b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定律有</a:t>
                </a:r>
              </a:p>
              <a:p>
                <a:pPr algn="l" eaLnBrk="1" latinLnBrk="0" hangingPunct="0">
                  <a:lnSpc>
                    <a:spcPct val="110000"/>
                  </a:lnSpc>
                </a:pP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1" u="none" spc="150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  <a:p>
                <a:pPr algn="l" eaLnBrk="1" latinLnBrk="0" hangingPunct="0">
                  <a:lnSpc>
                    <a:spcPct val="110000"/>
                  </a:lnSpc>
                </a:pP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</a:p>
              <a:p>
                <a:pPr algn="l" eaLnBrk="1" latinLnBrk="0" hangingPunct="0">
                  <a:lnSpc>
                    <a:spcPct val="110000"/>
                  </a:lnSpc>
                </a:pP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可知电动势的测量值等于真实值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内阻的测量值偏大</a:t>
                </a:r>
              </a:p>
              <a:p>
                <a:pPr algn="l" eaLnBrk="1" latinLnBrk="0" hangingPunct="0">
                  <a:lnSpc>
                    <a:spcPct val="110000"/>
                  </a:lnSpc>
                </a:pP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spc="150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接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相对于电源电流表采用了外接法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根据闭合电路欧姆定律</a:t>
                </a:r>
              </a:p>
              <a:p>
                <a:pPr algn="l" eaLnBrk="1" latinLnBrk="0" hangingPunct="0">
                  <a:lnSpc>
                    <a:spcPct val="110000"/>
                  </a:lnSpc>
                </a:pP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pc="15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V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Ir</a:t>
                </a:r>
              </a:p>
              <a:p>
                <a:pPr algn="l" eaLnBrk="1" latinLnBrk="0" hangingPunct="0">
                  <a:lnSpc>
                    <a:spcPct val="110000"/>
                  </a:lnSpc>
                </a:pP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有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pc="15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r>
                          <a:rPr lang="en-US" altLang="zh-CN" sz="2800" b="0" i="1" spc="15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 spc="150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短</a:t>
                </a:r>
              </a:p>
              <a:p>
                <a:pPr algn="l" eaLnBrk="1" latinLnBrk="0" hangingPunct="0">
                  <a:lnSpc>
                    <a:spcPct val="110000"/>
                  </a:lnSpc>
                </a:pP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综上所述可知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spc="150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接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对应图像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en-US" altLang="zh-CN" sz="2800" b="0" i="0" u="none" spc="150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接</a:t>
                </a:r>
                <a:r>
                  <a:rPr lang="en-US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对应图像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则有</a:t>
                </a:r>
              </a:p>
              <a:p>
                <a:pPr algn="l" eaLnBrk="1" latinLnBrk="0" hangingPunct="0">
                  <a:lnSpc>
                    <a:spcPct val="110000"/>
                  </a:lnSpc>
                </a:pP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1" u="none" spc="150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 spc="150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短</a:t>
                </a:r>
                <a:r>
                  <a:rPr lang="zh-CN" altLang="zh-CN" sz="2800" b="0" i="0" u="none" spc="15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spc="15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1" u="none" spc="150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</a:p>
            </p:txBody>
          </p:sp>
        </mc:Choice>
        <mc:Fallback xmlns:a16="http://schemas.microsoft.com/office/drawing/2014/main" xmlns="">
          <p:sp>
            <p:nvSpPr>
              <p:cNvPr id="17017" name="yt_shape_170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8103"/>
                <a:ext cx="11924914" cy="5155257"/>
              </a:xfrm>
              <a:prstGeom prst="rect">
                <a:avLst/>
              </a:prstGeom>
              <a:blipFill>
                <a:blip r:embed="rId2"/>
                <a:stretch>
                  <a:fillRect l="-1789" t="-2367" b="-3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yt_shape_17019">
                <a:extLst>
                  <a:ext uri="{FF2B5EF4-FFF2-40B4-BE49-F238E27FC236}">
                    <a16:creationId xmlns:a16="http://schemas.microsoft.com/office/drawing/2014/main" id="{692C2642-4E33-74F6-ECA8-7D08F8CD37FF}"/>
                  </a:ext>
                </a:extLst>
              </p:cNvPr>
              <p:cNvSpPr txBox="1"/>
              <p:nvPr/>
            </p:nvSpPr>
            <p:spPr>
              <a:xfrm>
                <a:off x="324071" y="5674160"/>
                <a:ext cx="2647391" cy="804323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1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zh-CN" sz="2800" b="0" i="0" baseline="-200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宋体" panose="02040503050406030204" pitchFamily="56" charset="0"/>
                              </a:rPr>
                              <m:t>短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:a16="http://schemas.microsoft.com/office/drawing/2014/main" xmlns="">
          <p:sp>
            <p:nvSpPr>
              <p:cNvPr id="2" name="yt_shape_17019">
                <a:extLst>
                  <a:ext uri="{FF2B5EF4-FFF2-40B4-BE49-F238E27FC236}">
                    <a16:creationId xmlns:a16="http://schemas.microsoft.com/office/drawing/2014/main" id="{692C2642-4E33-74F6-ECA8-7D08F8CD3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5674160"/>
                <a:ext cx="2647391" cy="804323"/>
              </a:xfrm>
              <a:prstGeom prst="rect">
                <a:avLst/>
              </a:prstGeom>
              <a:blipFill>
                <a:blip r:embed="rId3"/>
                <a:stretch>
                  <a:fillRect l="-8065"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1" name="yt_shape_17021"/>
          <p:cNvSpPr txBox="1"/>
          <p:nvPr/>
        </p:nvSpPr>
        <p:spPr>
          <a:xfrm>
            <a:off x="324000" y="467999"/>
            <a:ext cx="3949799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7030A0"/>
                </a:solidFill>
                <a:effectLst/>
                <a:latin typeface="微软雅黑" pitchFamily="28"/>
                <a:ea typeface="微软雅黑" pitchFamily="28"/>
              </a:rPr>
              <a:t>类型二</a:t>
            </a:r>
            <a:r>
              <a:rPr lang="zh-CN" altLang="zh-CN" sz="2800" b="0" i="0" u="none">
                <a:solidFill>
                  <a:srgbClr val="7030A0"/>
                </a:solidFill>
                <a:effectLst/>
                <a:latin typeface="宋体" pitchFamily="28"/>
                <a:ea typeface="宋体" pitchFamily="28"/>
              </a:rPr>
              <a:t>｜</a:t>
            </a:r>
            <a:r>
              <a:rPr lang="zh-CN" altLang="zh-CN" sz="2800" b="1" i="0" u="none">
                <a:solidFill>
                  <a:srgbClr val="7030A0"/>
                </a:solidFill>
                <a:effectLst/>
                <a:latin typeface="微软雅黑" pitchFamily="28"/>
                <a:ea typeface="微软雅黑" pitchFamily="28"/>
              </a:rPr>
              <a:t>拓展与创新实验</a:t>
            </a:r>
          </a:p>
        </p:txBody>
      </p:sp>
      <p:sp>
        <p:nvSpPr>
          <p:cNvPr id="17022" name="yt_shape_17022"/>
          <p:cNvSpPr txBox="1"/>
          <p:nvPr/>
        </p:nvSpPr>
        <p:spPr>
          <a:xfrm>
            <a:off x="324071" y="1052010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3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江苏南通期末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7_0a08e"/>
              </a:rPr>
              <a:t>小李设计了如图甲所示的电路来研究太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阳能电池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其中定值电阻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17023" name="yt_image_17023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0326" y="2390601"/>
            <a:ext cx="7291347" cy="288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6="http://schemas.microsoft.com/office/drawing/2014/main" xmlns:a14="http://schemas.microsoft.com/office/drawing/2010/main" xmlns:p14="http://schemas.microsoft.com/office/powerpoint/2010/main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5" name="yt_shape_17025"/>
          <p:cNvSpPr txBox="1"/>
          <p:nvPr/>
        </p:nvSpPr>
        <p:spPr>
          <a:xfrm>
            <a:off x="324000" y="467999"/>
            <a:ext cx="807913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依据原理图甲用笔画线代替导线连接好电路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</a:p>
        </p:txBody>
      </p:sp>
      <p:pic>
        <p:nvPicPr>
          <p:cNvPr id="17026" name="yt_image_17026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86134" y="1203348"/>
            <a:ext cx="4219730" cy="371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028" name="yt_shape_17028"/>
          <p:cNvSpPr txBox="1"/>
          <p:nvPr/>
        </p:nvSpPr>
        <p:spPr>
          <a:xfrm>
            <a:off x="324000" y="4971241"/>
            <a:ext cx="2513509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答案：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见解析图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28" grpId="0" build="allAtOnce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t_shape_17029"/>
          <p:cNvSpPr txBox="1"/>
          <p:nvPr/>
        </p:nvSpPr>
        <p:spPr>
          <a:xfrm>
            <a:off x="374800" y="767352"/>
            <a:ext cx="4308872" cy="533223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 dirty="0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电路连线如图所示。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FB6AD7A-67D9-F3DF-CD88-7071AF5CE475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088" y="1681752"/>
            <a:ext cx="4204972" cy="367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330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0" name="yt_shape_17030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光照一定时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调节滑动变阻器测得多组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数据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描绘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a147f,isEnd"/>
              </a:rPr>
              <a:t>如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图乙所示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则电池电动势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sz="2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   </a:t>
            </a:r>
            <a:r>
              <a:rPr sz="4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在电流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≤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≤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150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b28d3,isEnd"/>
              </a:rPr>
              <a:t>电池的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sz="25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   </a:t>
            </a:r>
            <a:r>
              <a:rPr sz="7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均保留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位有效数字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,isEnd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31" name="yt_shape_17031"/>
              <p:cNvSpPr txBox="1"/>
              <p:nvPr/>
            </p:nvSpPr>
            <p:spPr>
              <a:xfrm>
                <a:off x="324000" y="2257468"/>
                <a:ext cx="7550000" cy="3140032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根据闭合电路欧姆定律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结合图像可知电池电动势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9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在电流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≤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≤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150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电池的内阻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9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8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.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:p15="http://schemas.microsoft.com/office/powerpoint/2012/main" xmlns:p14="http://schemas.microsoft.com/office/powerpoint/2010/main" xmlns:a16="http://schemas.microsoft.com/office/drawing/2014/main" xmlns="">
          <p:sp>
            <p:nvSpPr>
              <p:cNvPr id="17031" name="yt_shape_170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2257468"/>
                <a:ext cx="7550000" cy="3140032"/>
              </a:xfrm>
              <a:prstGeom prst="rect">
                <a:avLst/>
              </a:prstGeom>
              <a:blipFill>
                <a:blip r:embed="rId2"/>
                <a:stretch>
                  <a:fillRect l="-2825" t="-777" r="-13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EBF9302-C4BF-8C68-D109-D4592B31D2D5}"/>
              </a:ext>
            </a:extLst>
          </p:cNvPr>
          <p:cNvSpPr txBox="1"/>
          <p:nvPr/>
        </p:nvSpPr>
        <p:spPr>
          <a:xfrm>
            <a:off x="5074348" y="1018601"/>
            <a:ext cx="713485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2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  <a:cs typeface="+mn-cs"/>
              </a:rPr>
              <a:t>.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9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497E46-AFFB-EE03-D18C-52EC8F0620E6}"/>
              </a:ext>
            </a:extLst>
          </p:cNvPr>
          <p:cNvSpPr txBox="1"/>
          <p:nvPr/>
        </p:nvSpPr>
        <p:spPr>
          <a:xfrm>
            <a:off x="1794573" y="1616009"/>
            <a:ext cx="713485" cy="620662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3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  <a:cs typeface="+mn-cs"/>
              </a:rPr>
              <a:t>.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3</a:t>
            </a:r>
            <a:endParaRPr lang="zh-CN" altLang="en-US">
              <a:solidFill>
                <a:srgbClr val="C00000"/>
              </a:solidFill>
            </a:endParaRPr>
          </a:p>
        </p:txBody>
      </p:sp>
      <p:pic>
        <p:nvPicPr>
          <p:cNvPr id="6" name="yt_image_17023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41291"/>
          <a:stretch/>
        </p:blipFill>
        <p:spPr bwMode="auto">
          <a:xfrm>
            <a:off x="8192364" y="2407559"/>
            <a:ext cx="3891521" cy="2625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0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0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0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31" grpId="0" build="allAtOnce"/>
      <p:bldP spid="2" grpId="0" build="allAtOnce"/>
      <p:bldP spid="3" grpId="0" build="allAtOnce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3" name="yt_shape_17033"/>
          <p:cNvSpPr txBox="1"/>
          <p:nvPr/>
        </p:nvSpPr>
        <p:spPr>
          <a:xfrm>
            <a:off x="324071" y="467999"/>
            <a:ext cx="11543998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因电表的内阻影响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该实验中电动势测量值</a:t>
            </a:r>
            <a:r>
              <a:rPr sz="2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      </a:t>
            </a:r>
            <a:r>
              <a:rPr sz="1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选填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346d1,isEnd"/>
              </a:rPr>
              <a:t>偏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大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不变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或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偏小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,isEnd"/>
              </a:rPr>
              <a:t>）</a:t>
            </a:r>
          </a:p>
        </p:txBody>
      </p:sp>
      <p:sp>
        <p:nvSpPr>
          <p:cNvPr id="17034" name="yt_shape_17034"/>
          <p:cNvSpPr txBox="1"/>
          <p:nvPr/>
        </p:nvSpPr>
        <p:spPr>
          <a:xfrm>
            <a:off x="324071" y="1635055"/>
            <a:ext cx="9323168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因电压表分流导致电流表测干路电流偏小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cf752"/>
              </a:rPr>
              <a:t>作出测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量图像和真实图像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如图所示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可知实验中电动势测量值偏小。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D3834CC-0772-0476-EFE2-0968543A90EE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339" y="1635055"/>
            <a:ext cx="2529590" cy="236272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66EBC75-663A-2FC8-C1C4-9AC5FCF9FB9B}"/>
              </a:ext>
            </a:extLst>
          </p:cNvPr>
          <p:cNvSpPr txBox="1"/>
          <p:nvPr/>
        </p:nvSpPr>
        <p:spPr>
          <a:xfrm>
            <a:off x="8235059" y="421193"/>
            <a:ext cx="891286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偏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小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34" grpId="0" build="allAtOnce"/>
      <p:bldP spid="2" grpId="0" build="allAtOnce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5" name="yt_shape_17035"/>
          <p:cNvSpPr txBox="1"/>
          <p:nvPr/>
        </p:nvSpPr>
        <p:spPr>
          <a:xfrm>
            <a:off x="324071" y="467999"/>
            <a:ext cx="11543998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当电流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150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随着电流增大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电池的电阻</a:t>
            </a:r>
            <a:r>
              <a:rPr sz="2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      </a:t>
            </a:r>
            <a:r>
              <a:rPr sz="1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b22b6,isEnd"/>
              </a:rPr>
              <a:t>选填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增大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减小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或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不变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当电压表的示数为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98dfc,isEnd"/>
              </a:rPr>
              <a:t>电池的输出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功率为</a:t>
            </a:r>
            <a:r>
              <a:rPr sz="25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      </a:t>
            </a:r>
            <a:r>
              <a:rPr sz="3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保留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位有效数字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,isEnd"/>
              </a:rPr>
              <a:t>）</a:t>
            </a:r>
          </a:p>
        </p:txBody>
      </p:sp>
      <p:sp>
        <p:nvSpPr>
          <p:cNvPr id="17036" name="yt_shape_17036"/>
          <p:cNvSpPr txBox="1"/>
          <p:nvPr/>
        </p:nvSpPr>
        <p:spPr>
          <a:xfrm>
            <a:off x="324071" y="2257468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当电流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＞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150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时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随着电流增大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图像斜率变大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5_2a474"/>
              </a:rPr>
              <a:t>电池的电阻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增大。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当电压表的示数为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时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电池的输出功率为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UI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30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44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W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56FC5CB-8B76-12CE-A265-21B4D03F9700}"/>
              </a:ext>
            </a:extLst>
          </p:cNvPr>
          <p:cNvSpPr txBox="1"/>
          <p:nvPr/>
        </p:nvSpPr>
        <p:spPr>
          <a:xfrm>
            <a:off x="9154223" y="421193"/>
            <a:ext cx="891286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增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大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EB4002-EE89-A52D-B448-F780778127CA}"/>
              </a:ext>
            </a:extLst>
          </p:cNvPr>
          <p:cNvSpPr txBox="1"/>
          <p:nvPr/>
        </p:nvSpPr>
        <p:spPr>
          <a:xfrm>
            <a:off x="1656460" y="1616009"/>
            <a:ext cx="891286" cy="620662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0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宋体" pitchFamily="28"/>
                <a:ea typeface="宋体" pitchFamily="28"/>
                <a:cs typeface="+mn-cs"/>
              </a:rPr>
              <a:t>.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4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4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36" grpId="0" build="allAtOnce"/>
      <p:bldP spid="2" grpId="0" build="allAtOnce"/>
      <p:bldP spid="3" grpId="0" build="allAtOnce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7" name="yt_shape_17037"/>
          <p:cNvSpPr txBox="1"/>
          <p:nvPr/>
        </p:nvSpPr>
        <p:spPr>
          <a:xfrm>
            <a:off x="324000" y="467999"/>
            <a:ext cx="1436291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31849B"/>
                </a:solidFill>
                <a:effectLst/>
                <a:latin typeface="微软雅黑" pitchFamily="28"/>
                <a:ea typeface="微软雅黑" pitchFamily="28"/>
              </a:rPr>
              <a:t>创新分析</a:t>
            </a:r>
          </a:p>
        </p:txBody>
      </p:sp>
      <p:sp>
        <p:nvSpPr>
          <p:cNvPr id="17038" name="yt_shape_17038"/>
          <p:cNvSpPr txBox="1"/>
          <p:nvPr/>
        </p:nvSpPr>
        <p:spPr>
          <a:xfrm>
            <a:off x="324071" y="1056691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实验器材的创新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用太阳能电池代替干电池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定值电阻</a:t>
            </a:r>
            <a:r>
              <a:rPr lang="en-US" altLang="zh-CN" sz="2800" b="0" i="1" u="none" spc="15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spc="150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3_d00bf"/>
              </a:rPr>
              <a:t>充当保</a:t>
            </a:r>
            <a:b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 spc="15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护电阻。</a:t>
            </a:r>
          </a:p>
        </p:txBody>
      </p:sp>
      <p:sp>
        <p:nvSpPr>
          <p:cNvPr id="17039" name="yt_shape_17039"/>
          <p:cNvSpPr txBox="1"/>
          <p:nvPr/>
        </p:nvSpPr>
        <p:spPr>
          <a:xfrm>
            <a:off x="324000" y="2242918"/>
            <a:ext cx="1021433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数据处理的创新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定值电阻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等效为电源内阻的一部分。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40" name="yt_shape_17040"/>
              <p:cNvSpPr txBox="1"/>
              <p:nvPr/>
            </p:nvSpPr>
            <p:spPr>
              <a:xfrm>
                <a:off x="324071" y="2825903"/>
                <a:ext cx="11924914" cy="143058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②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利用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图像中在电流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≤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≤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150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mA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图线的斜率绝对值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k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Δ</m:t>
                            </m:r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Δ</m:t>
                            </m:r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_b6d74"/>
                  </a:rPr>
                  <a:t>0</a:t>
                </a:r>
                <a:b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求解内阻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。</a:t>
                </a:r>
              </a:p>
            </p:txBody>
          </p:sp>
        </mc:Choice>
        <mc:Fallback xmlns:p14="http://schemas.microsoft.com/office/powerpoint/2010/main" xmlns:p15="http://schemas.microsoft.com/office/powerpoint/2012/main" xmlns="">
          <p:sp>
            <p:nvSpPr>
              <p:cNvPr id="17040" name="yt_shape_17040" descr="{&quot;rangeId&quot;:16,&quot;color&quot;:&quot;B&quot;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2825903"/>
                <a:ext cx="11543998" cy="1430584"/>
              </a:xfrm>
              <a:prstGeom prst="rect">
                <a:avLst/>
              </a:prstGeom>
              <a:blipFill>
                <a:blip r:embed="rId2"/>
                <a:stretch>
                  <a:fillRect l="-1848" b="-145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4="http://schemas.microsoft.com/office/drawing/2010/main" xmlns:p14="http://schemas.microsoft.com/office/powerpoint/2010/main"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2" name="yt_shape_17042"/>
          <p:cNvSpPr txBox="1"/>
          <p:nvPr/>
        </p:nvSpPr>
        <p:spPr>
          <a:xfrm>
            <a:off x="324071" y="467999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4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湖南郴州期末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7_4c630"/>
              </a:rPr>
              <a:t>某国产新能源汽车电池采用的是刀片电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池技术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现将其中一块电芯拆解出来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测量其电池电动势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和内阻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5260a"/>
              </a:rPr>
              <a:t>实验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小组设计了如图甲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乙所示的实验电路图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已知电流表的内阻为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30ff6"/>
              </a:rPr>
              <a:t> 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电压表的内阻约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kΩ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滑动变阻器的最大电阻为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额定电流为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d1c9d"/>
              </a:rPr>
              <a:t> 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定值电阻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17043" name="yt_image_17043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p14="http://schemas.microsoft.com/office/powerpoint/2010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151" y="3616316"/>
            <a:ext cx="7161697" cy="226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6="http://schemas.microsoft.com/office/drawing/2014/main" xmlns:a14="http://schemas.microsoft.com/office/drawing/2010/main" xmlns:p14="http://schemas.microsoft.com/office/powerpoint/2010/main"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5" name="yt_shape_17045"/>
          <p:cNvSpPr txBox="1"/>
          <p:nvPr/>
        </p:nvSpPr>
        <p:spPr>
          <a:xfrm>
            <a:off x="324071" y="468103"/>
            <a:ext cx="11543998" cy="10408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eaLnBrk="1" latinLnBrk="0" hangingPunct="0">
              <a:lnSpc>
                <a:spcPct val="13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为了减小误差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提高实验的精度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本实验应选择图</a:t>
            </a:r>
            <a:r>
              <a:rPr sz="2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</a:t>
            </a:r>
            <a:r>
              <a:rPr sz="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095f8,isEnd"/>
              </a:rPr>
              <a:t>选填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或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进行实验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,isEnd"/>
              </a:rPr>
              <a:t>。</a:t>
            </a:r>
          </a:p>
        </p:txBody>
      </p:sp>
      <p:sp>
        <p:nvSpPr>
          <p:cNvPr id="17046" name="yt_shape_17046"/>
          <p:cNvSpPr txBox="1"/>
          <p:nvPr/>
        </p:nvSpPr>
        <p:spPr>
          <a:xfrm>
            <a:off x="324071" y="1559765"/>
            <a:ext cx="11543998" cy="106003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误差的原因主要是来源于电压表和电流表不是理想电表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4_2d0a1"/>
              </a:rPr>
              <a:t>但由于实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验仪器中电流表内阻已知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所以选图乙误差更小。</a:t>
            </a:r>
          </a:p>
        </p:txBody>
      </p:sp>
      <p:sp>
        <p:nvSpPr>
          <p:cNvPr id="17047" name="yt_shape_17047"/>
          <p:cNvSpPr txBox="1"/>
          <p:nvPr/>
        </p:nvSpPr>
        <p:spPr>
          <a:xfrm>
            <a:off x="324071" y="2670599"/>
            <a:ext cx="11543998" cy="10408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eaLnBrk="1" latinLnBrk="0" hangingPunct="0">
              <a:lnSpc>
                <a:spcPct val="13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闭合开关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前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将滑动变阻器的滑片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移至最</a:t>
            </a:r>
            <a:r>
              <a:rPr sz="2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</a:t>
            </a:r>
            <a:r>
              <a:rPr sz="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选填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左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060bb,isEnd"/>
              </a:rPr>
              <a:t>”</a:t>
            </a:r>
            <a:b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或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右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,isEnd"/>
              </a:rPr>
              <a:t>）。</a:t>
            </a:r>
          </a:p>
        </p:txBody>
      </p:sp>
      <p:sp>
        <p:nvSpPr>
          <p:cNvPr id="17048" name="yt_shape_17048"/>
          <p:cNvSpPr txBox="1"/>
          <p:nvPr/>
        </p:nvSpPr>
        <p:spPr>
          <a:xfrm>
            <a:off x="324071" y="3762261"/>
            <a:ext cx="11543998" cy="106003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微软雅黑" pitchFamily="28"/>
                <a:ea typeface="微软雅黑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滑动变阻器限流接法从保护电路角度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闭合开关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7_65fc9"/>
              </a:rPr>
              <a:t>前滑动变阻器的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滑片应滑至最左端。</a:t>
            </a:r>
          </a:p>
        </p:txBody>
      </p:sp>
      <p:sp>
        <p:nvSpPr>
          <p:cNvPr id="2" name="yt_shape_17049">
            <a:extLst>
              <a:ext uri="{FF2B5EF4-FFF2-40B4-BE49-F238E27FC236}">
                <a16:creationId xmlns:a16="http://schemas.microsoft.com/office/drawing/2014/main" id="{BD4BBB0D-244A-1F73-A787-24E148E84C6E}"/>
              </a:ext>
            </a:extLst>
          </p:cNvPr>
          <p:cNvSpPr txBox="1"/>
          <p:nvPr/>
        </p:nvSpPr>
        <p:spPr>
          <a:xfrm>
            <a:off x="324071" y="4873096"/>
            <a:ext cx="11924914" cy="162018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3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闭合开关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后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移动滑片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改变滑动变阻器的接入阻值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cbbce"/>
              </a:rPr>
              <a:t>记录下几组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电压表示数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和对应的电流表示数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6_b3615"/>
              </a:rPr>
              <a:t>将实验记录的数据在坐标系内描点作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图像如图丙所示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图中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57F018-765C-56C5-74F0-158323742FD2}"/>
              </a:ext>
            </a:extLst>
          </p:cNvPr>
          <p:cNvSpPr txBox="1"/>
          <p:nvPr/>
        </p:nvSpPr>
        <p:spPr>
          <a:xfrm>
            <a:off x="9301859" y="421297"/>
            <a:ext cx="535686" cy="648348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乙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A42FE6-7643-949B-C60D-8F53FB63D932}"/>
              </a:ext>
            </a:extLst>
          </p:cNvPr>
          <p:cNvSpPr txBox="1"/>
          <p:nvPr/>
        </p:nvSpPr>
        <p:spPr>
          <a:xfrm>
            <a:off x="8276334" y="2623793"/>
            <a:ext cx="535686" cy="648348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左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46" grpId="0" build="allAtOnce"/>
      <p:bldP spid="17047" grpId="0" build="allAtOnce"/>
      <p:bldP spid="17048" grpId="0" build="allAtOnce"/>
      <p:bldP spid="2" grpId="0" build="allAtOnce"/>
      <p:bldP spid="3" grpId="0" build="allAtOnce"/>
      <p:bldP spid="4" grpId="0" build="allAtOnce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0" name="yt_shape_17050"/>
          <p:cNvSpPr txBox="1"/>
          <p:nvPr/>
        </p:nvSpPr>
        <p:spPr>
          <a:xfrm>
            <a:off x="324071" y="493399"/>
            <a:ext cx="11924914" cy="153477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根据以上信息可知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该电源电动势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的准确值为</a:t>
            </a:r>
            <a:r>
              <a:rPr sz="28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</a:t>
            </a:r>
            <a:r>
              <a:rPr sz="15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内阻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a4650,isEnd"/>
              </a:rPr>
              <a:t>的准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确值为</a:t>
            </a:r>
            <a:r>
              <a:rPr sz="44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                     </a:t>
            </a:r>
            <a:r>
              <a:rPr sz="11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均用已知量的字母表示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,isEnd"/>
              </a:rPr>
              <a:t>）。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52" name="yt_shape_17052"/>
              <p:cNvSpPr txBox="1"/>
              <p:nvPr/>
            </p:nvSpPr>
            <p:spPr>
              <a:xfrm>
                <a:off x="324000" y="2066266"/>
                <a:ext cx="9766135" cy="3069558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由闭合电路欧姆定律得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又因为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图像的纵轴截距为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斜率绝对值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k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所以电源电动势为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内阻为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:a16="http://schemas.microsoft.com/office/drawing/2014/main" xmlns="">
          <p:sp>
            <p:nvSpPr>
              <p:cNvPr id="17052" name="yt_shape_170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2066266"/>
                <a:ext cx="9766135" cy="3069558"/>
              </a:xfrm>
              <a:prstGeom prst="rect">
                <a:avLst/>
              </a:prstGeom>
              <a:blipFill>
                <a:blip r:embed="rId2"/>
                <a:stretch>
                  <a:fillRect l="-2185" t="-795" r="-999" b="-11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00550E36-6414-AAEB-1179-FBB7F4F27AE3}"/>
              </a:ext>
            </a:extLst>
          </p:cNvPr>
          <p:cNvSpPr txBox="1"/>
          <p:nvPr/>
        </p:nvSpPr>
        <p:spPr>
          <a:xfrm>
            <a:off x="8808148" y="351762"/>
            <a:ext cx="556324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en-US" altLang="zh-CN" sz="2800" b="0" i="1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U</a:t>
            </a:r>
            <a:r>
              <a:rPr kumimoji="0" lang="en-US" altLang="zh-CN" sz="2800" b="0" i="0" strike="noStrike" kern="1200" cap="none" spc="0" normalizeH="0" baseline="-25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0</a:t>
            </a:r>
            <a:endParaRPr lang="zh-CN" alt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E93C0D6-B83C-3576-35EB-4BA4CE6DDC8E}"/>
                  </a:ext>
                </a:extLst>
              </p:cNvPr>
              <p:cNvSpPr txBox="1"/>
              <p:nvPr/>
            </p:nvSpPr>
            <p:spPr>
              <a:xfrm>
                <a:off x="1656460" y="812328"/>
                <a:ext cx="1928558" cy="1016140"/>
              </a:xfrm>
              <a:prstGeom prst="rect">
                <a:avLst/>
              </a:prstGeom>
              <a:noFill/>
            </p:spPr>
            <p:txBody>
              <a:bodyPr vert="horz" wrap="none" rtlCol="0" anchor="ctr">
                <a:noAutofit/>
              </a:bodyPr>
              <a:lstStyle/>
              <a:p>
                <a:pPr>
                  <a:lnSpc>
                    <a:spcPct val="14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2800" b="0" i="1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altLang="zh-CN" sz="2800" b="0" i="1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kumimoji="0" lang="en-US" altLang="zh-CN" sz="2800" b="0" i="0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0" lang="en-US" altLang="zh-CN" sz="2800" b="0" i="1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0" lang="en-US" altLang="zh-CN" sz="2800" b="0" i="0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zh-CN" altLang="zh-CN" sz="2800" b="0" i="0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>
                      <a:solidFill>
                        <a:srgbClr val="000000"/>
                      </a:solidFill>
                    </a:uFill>
                    <a:latin typeface="宋体" pitchFamily="28"/>
                    <a:ea typeface="宋体" pitchFamily="28"/>
                  </a:rPr>
                  <a:t>－</a:t>
                </a:r>
                <a:r>
                  <a:rPr kumimoji="0" lang="en-US" altLang="zh-CN" sz="2800" b="0" i="1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>
                      <a:solidFill>
                        <a:srgbClr val="000000"/>
                      </a:solidFill>
                    </a:uFill>
                    <a:latin typeface="Times New Roman" pitchFamily="28"/>
                    <a:ea typeface="宋体" pitchFamily="28"/>
                  </a:rPr>
                  <a:t>R</a:t>
                </a:r>
                <a:r>
                  <a:rPr kumimoji="0" lang="en-US" altLang="zh-CN" sz="2800" b="0" i="0" strike="noStrike" kern="1200" cap="none" spc="0" normalizeH="0" baseline="-2500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>
                      <a:solidFill>
                        <a:srgbClr val="000000"/>
                      </a:solidFill>
                    </a:uFill>
                    <a:latin typeface="Times New Roman" pitchFamily="28"/>
                    <a:ea typeface="宋体" pitchFamily="28"/>
                  </a:rPr>
                  <a:t>0</a:t>
                </a:r>
                <a:r>
                  <a:rPr kumimoji="0" lang="zh-CN" altLang="zh-CN" sz="2800" b="0" i="0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>
                      <a:solidFill>
                        <a:srgbClr val="000000"/>
                      </a:solidFill>
                    </a:uFill>
                    <a:latin typeface="宋体" pitchFamily="28"/>
                    <a:ea typeface="宋体" pitchFamily="28"/>
                  </a:rPr>
                  <a:t>－</a:t>
                </a:r>
                <a:r>
                  <a:rPr kumimoji="0" lang="en-US" altLang="zh-CN" sz="2800" b="0" i="1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>
                      <a:solidFill>
                        <a:srgbClr val="000000"/>
                      </a:solidFill>
                    </a:uFill>
                    <a:latin typeface="Times New Roman" pitchFamily="28"/>
                    <a:ea typeface="宋体" pitchFamily="28"/>
                  </a:rPr>
                  <a:t>R</a:t>
                </a:r>
                <a:r>
                  <a:rPr kumimoji="0" lang="en-US" altLang="zh-CN" sz="2800" b="0" i="0" strike="noStrike" kern="1200" cap="none" spc="0" normalizeH="0" baseline="-2500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>
                      <a:solidFill>
                        <a:srgbClr val="000000"/>
                      </a:solidFill>
                    </a:uFill>
                    <a:latin typeface="Times New Roman" pitchFamily="28"/>
                    <a:ea typeface="宋体" pitchFamily="28"/>
                  </a:rPr>
                  <a:t>A</a:t>
                </a:r>
                <a:endParaRPr lang="zh-CN" altLang="en-US">
                  <a:solidFill>
                    <a:srgbClr val="C00000"/>
                  </a:solidFill>
                </a:endParaRPr>
              </a:p>
            </p:txBody>
          </p:sp>
        </mc:Choice>
        <mc:Fallback xmlns:a16="http://schemas.microsoft.com/office/drawing/2014/main"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E93C0D6-B83C-3576-35EB-4BA4CE6DD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460" y="812328"/>
                <a:ext cx="1928558" cy="1016140"/>
              </a:xfrm>
              <a:prstGeom prst="rect">
                <a:avLst/>
              </a:prstGeom>
              <a:blipFill>
                <a:blip r:embed="rId3"/>
                <a:stretch>
                  <a:fillRect r="-2532" b="-17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0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0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0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52" grpId="0" build="allAtOnce"/>
      <p:bldP spid="2" grpId="0" build="allAtOnce"/>
      <p:bldP spid="3" grpId="0" build="allAtOnce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4" name="yt_shape_17054"/>
          <p:cNvSpPr txBox="1"/>
          <p:nvPr/>
        </p:nvSpPr>
        <p:spPr>
          <a:xfrm>
            <a:off x="324000" y="467999"/>
            <a:ext cx="1436291" cy="53790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31849B"/>
                </a:solidFill>
                <a:effectLst/>
                <a:latin typeface="微软雅黑" pitchFamily="28"/>
                <a:ea typeface="微软雅黑" pitchFamily="28"/>
              </a:rPr>
              <a:t>创新分析</a:t>
            </a:r>
          </a:p>
        </p:txBody>
      </p:sp>
      <p:sp>
        <p:nvSpPr>
          <p:cNvPr id="17055" name="yt_shape_17055"/>
          <p:cNvSpPr txBox="1"/>
          <p:nvPr/>
        </p:nvSpPr>
        <p:spPr>
          <a:xfrm>
            <a:off x="324071" y="1056691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实验原理的创新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由于电流表内阻已知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11_c96d9"/>
              </a:rPr>
              <a:t>电流表的分压误差可以避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免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所以选图乙误差更小。</a:t>
            </a:r>
          </a:p>
        </p:txBody>
      </p:sp>
      <p:sp>
        <p:nvSpPr>
          <p:cNvPr id="17056" name="yt_shape_17056"/>
          <p:cNvSpPr txBox="1"/>
          <p:nvPr/>
        </p:nvSpPr>
        <p:spPr>
          <a:xfrm>
            <a:off x="324071" y="2242918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实验器材的创新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定值电阻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充当保护电阻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10_557b1"/>
              </a:rPr>
              <a:t>已知内阻的电流表既可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以当电流表使用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同时可以当成电阻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或电压表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使用。</a:t>
            </a:r>
          </a:p>
        </p:txBody>
      </p:sp>
      <p:sp>
        <p:nvSpPr>
          <p:cNvPr id="17057" name="yt_shape_17057"/>
          <p:cNvSpPr txBox="1"/>
          <p:nvPr/>
        </p:nvSpPr>
        <p:spPr>
          <a:xfrm>
            <a:off x="324071" y="3429145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数据处理的创新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定值电阻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及电流表内阻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R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8_b0d3b"/>
              </a:rPr>
              <a:t>都等效为电源内阻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的一部分。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58" name="yt_shape_17058"/>
              <p:cNvSpPr txBox="1"/>
              <p:nvPr/>
            </p:nvSpPr>
            <p:spPr>
              <a:xfrm>
                <a:off x="324000" y="4615372"/>
                <a:ext cx="10961975" cy="931537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②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利用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图像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可得斜率绝对值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k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求解电源内阻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。</a:t>
                </a:r>
              </a:p>
            </p:txBody>
          </p:sp>
        </mc:Choice>
        <mc:Fallback xmlns:p14="http://schemas.microsoft.com/office/powerpoint/2010/main" xmlns:p15="http://schemas.microsoft.com/office/powerpoint/2012/main" xmlns="">
          <p:sp>
            <p:nvSpPr>
              <p:cNvPr id="17058" name="yt_shape_17058" descr="{&quot;rangeId&quot;:18,&quot;color&quot;:&quot;B&quot;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4615372"/>
                <a:ext cx="10961975" cy="931537"/>
              </a:xfrm>
              <a:prstGeom prst="rect">
                <a:avLst/>
              </a:prstGeom>
              <a:blipFill>
                <a:blip r:embed="rId2"/>
                <a:stretch>
                  <a:fillRect l="-1947" r="-779" b="-65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a14="http://schemas.microsoft.com/office/drawing/2010/main" xmlns:p14="http://schemas.microsoft.com/office/powerpoint/2010/main"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4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4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4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4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4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4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4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4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4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7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7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3"/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4"/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7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"/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"/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5"/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"/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"/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"/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"/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"/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6"/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7"/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"/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"/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4"/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5"/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6"/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7"/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"/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9"/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0"/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"/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"/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"/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1"/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"/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10</TotalTime>
  <Words>2089</Words>
  <Application>Microsoft Macintosh PowerPoint</Application>
  <PresentationFormat>Widescreen</PresentationFormat>
  <Paragraphs>125</Paragraphs>
  <Slides>29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方正新报宋_GBK</vt:lpstr>
      <vt:lpstr>微软雅黑</vt:lpstr>
      <vt:lpstr>黑体</vt:lpstr>
      <vt:lpstr>宋体</vt:lpstr>
      <vt:lpstr>Arial</vt:lpstr>
      <vt:lpstr>Cambria Math</vt:lpstr>
      <vt:lpstr>Times New Roman</vt:lpstr>
      <vt:lpstr>Office 主题​​</vt:lpstr>
      <vt:lpstr>电池电动势和内阻的测量</vt:lpstr>
      <vt:lpstr>如何测量电池的电动势？</vt:lpstr>
      <vt:lpstr>如何测量电池的内阻？</vt:lpstr>
      <vt:lpstr>伏安法</vt:lpstr>
      <vt:lpstr>经过精密的实验，我得到了：</vt:lpstr>
      <vt:lpstr>PowerPoint Presentation</vt:lpstr>
      <vt:lpstr>误差分析</vt:lpstr>
      <vt:lpstr>误差分析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3</cp:revision>
  <dcterms:created xsi:type="dcterms:W3CDTF">2026-09-08T00:36:36Z</dcterms:created>
  <dcterms:modified xsi:type="dcterms:W3CDTF">2026-09-08T00:50:26Z</dcterms:modified>
</cp:coreProperties>
</file>