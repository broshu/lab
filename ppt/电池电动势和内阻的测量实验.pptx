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D782EBB-6D0B-3A49-9ED0-A0C25867126C}" v="16" dt="2025-09-16T02:13:16.27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0596" autoAdjust="0"/>
    <p:restoredTop sz="94660"/>
  </p:normalViewPr>
  <p:slideViewPr>
    <p:cSldViewPr snapToGrid="0">
      <p:cViewPr varScale="1">
        <p:scale>
          <a:sx n="127" d="100"/>
          <a:sy n="127" d="100"/>
        </p:scale>
        <p:origin x="856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microsoft.com/office/2015/10/relationships/revisionInfo" Target="revisionInfo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B9BAE26-56B8-2430-61FE-210867C46BB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 b="1" baseline="0">
                <a:latin typeface="Times New Roman" panose="02020603050405020304" pitchFamily="18" charset="0"/>
                <a:ea typeface="宋体" panose="02010600030101010101" pitchFamily="2" charset="-122"/>
              </a:defRPr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E37BB5E0-8FB4-28ED-7516-8F1B6E23286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 b="1" baseline="0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B12B10A-941C-D939-27AC-6B15C7D349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A95057-F28B-4021-A46F-4C2D267CFC9D}" type="datetimeFigureOut">
              <a:rPr lang="en-US" smtClean="0"/>
              <a:t>9/9/26</a:t>
            </a:fld>
            <a:endParaRPr 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49AD2BD-88C2-A651-59BE-1F23AE6AAA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A89C6D7-3953-E131-FC50-ABB0C76B8C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AAF9C8-72C8-4B1A-B60F-A2190CE5FB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831045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6787BA6-2A8E-5FA0-58D6-C944834A09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1" i="0" baseline="0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AD54497-2070-1B06-6BF5-7537BD4B785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baseline="0"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>
              <a:defRPr baseline="0"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>
              <a:defRPr baseline="0"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>
              <a:defRPr baseline="0"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>
              <a:defRPr baseline="0">
                <a:latin typeface="Times New Roman" panose="02020603050405020304" pitchFamily="18" charset="0"/>
                <a:ea typeface="宋体" panose="02010600030101010101" pitchFamily="2" charset="-122"/>
              </a:defRPr>
            </a:lvl5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4E8D4BD-E88E-12E0-8F46-4ED0DD7A37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A95057-F28B-4021-A46F-4C2D267CFC9D}" type="datetimeFigureOut">
              <a:rPr lang="en-US" smtClean="0"/>
              <a:t>9/9/26</a:t>
            </a:fld>
            <a:endParaRPr 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B0FAC07-7BC7-4FEA-4C23-59EAF4C59C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44D76C5-DC12-60D9-043D-68225995A9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AAF9C8-72C8-4B1A-B60F-A2190CE5FB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35376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AD54497-2070-1B06-6BF5-7537BD4B785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523081"/>
            <a:ext cx="10515600" cy="5811838"/>
          </a:xfrm>
        </p:spPr>
        <p:txBody>
          <a:bodyPr/>
          <a:lstStyle>
            <a:lvl1pPr marL="0" indent="0">
              <a:buNone/>
              <a:defRPr baseline="0"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>
              <a:defRPr baseline="0"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>
              <a:defRPr baseline="0"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>
              <a:defRPr baseline="0"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>
              <a:defRPr baseline="0">
                <a:latin typeface="Times New Roman" panose="02020603050405020304" pitchFamily="18" charset="0"/>
                <a:ea typeface="宋体" panose="02010600030101010101" pitchFamily="2" charset="-122"/>
              </a:defRPr>
            </a:lvl5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4E8D4BD-E88E-12E0-8F46-4ED0DD7A37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A95057-F28B-4021-A46F-4C2D267CFC9D}" type="datetimeFigureOut">
              <a:rPr lang="en-US" smtClean="0"/>
              <a:t>9/9/26</a:t>
            </a:fld>
            <a:endParaRPr 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B0FAC07-7BC7-4FEA-4C23-59EAF4C59C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44D76C5-DC12-60D9-043D-68225995A9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AAF9C8-72C8-4B1A-B60F-A2190CE5FB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394532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16037C5-4353-B18D-E7F6-50395C0532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766218"/>
            <a:ext cx="10515600" cy="1325563"/>
          </a:xfrm>
        </p:spPr>
        <p:txBody>
          <a:bodyPr/>
          <a:lstStyle>
            <a:lvl1pPr algn="ctr">
              <a:defRPr b="1">
                <a:solidFill>
                  <a:schemeClr val="accent6">
                    <a:lumMod val="75000"/>
                  </a:schemeClr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D095E053-2D55-7D42-832A-64D9FD71F0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A95057-F28B-4021-A46F-4C2D267CFC9D}" type="datetimeFigureOut">
              <a:rPr lang="en-US" smtClean="0"/>
              <a:t>9/9/26</a:t>
            </a:fld>
            <a:endParaRPr 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7409B3BC-5091-C9EB-93DC-DAA2C04852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F9B95254-26E7-464E-C68E-165FA68099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AAF9C8-72C8-4B1A-B60F-A2190CE5FB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350047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D135E84-15A1-7FC9-AFAF-8FADC46CD1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1">
                <a:solidFill>
                  <a:schemeClr val="accent6">
                    <a:lumMod val="75000"/>
                  </a:schemeClr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E4AF478-0EFE-AC89-ED8A-29756B0B9EE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49BB167-44B9-706B-D666-89AE18CB9E2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/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2CE7B3BB-7A6E-45B9-71DF-CB6C64FBAB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A95057-F28B-4021-A46F-4C2D267CFC9D}" type="datetimeFigureOut">
              <a:rPr lang="en-US" smtClean="0"/>
              <a:t>9/9/26</a:t>
            </a:fld>
            <a:endParaRPr 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23162526-EB46-7571-519E-1D9919B8F9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0FDE84E-A2DC-6924-24F0-2B9796818C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AAF9C8-72C8-4B1A-B60F-A2190CE5FB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04904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73554D5-D7A9-A1DD-900A-2FD838DA3D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>
            <a:lvl1pPr>
              <a:defRPr b="1">
                <a:solidFill>
                  <a:schemeClr val="accent6">
                    <a:lumMod val="75000"/>
                  </a:schemeClr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13E7B749-E7A9-21B5-B42B-E0A39C25CCC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E07C0BC1-B0B5-7AAD-E11A-81B8F71F4C5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E339032A-E84E-69B4-CBA0-AA0E80DEEB5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295D864D-D9D2-FFDB-0B84-6A573F795DE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/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21228042-54E5-4EAA-2940-C44C574436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A95057-F28B-4021-A46F-4C2D267CFC9D}" type="datetimeFigureOut">
              <a:rPr lang="en-US" smtClean="0"/>
              <a:t>9/9/26</a:t>
            </a:fld>
            <a:endParaRPr 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B0899DAD-BFB9-32DF-3CE6-59BAD615A3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D7AF6A48-CE64-6945-8AD6-C8258AA9AF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AAF9C8-72C8-4B1A-B60F-A2190CE5FB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259610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1C416FE3-9FFB-D473-650E-C0FF08387F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EF6876DD-7317-1E24-5465-9C24EFCE528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38481CF-CAF6-E439-D9F9-98DE38F8876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CA95057-F28B-4021-A46F-4C2D267CFC9D}" type="datetimeFigureOut">
              <a:rPr lang="en-US" smtClean="0"/>
              <a:t>9/9/26</a:t>
            </a:fld>
            <a:endParaRPr 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3123095-2A83-7320-9954-6441CBEAF26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D8FB62F-A58A-E29F-AA4A-4628B24796A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0AAF9C8-72C8-4B1A-B60F-A2190CE5FB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6700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6" r:id="rId3"/>
    <p:sldLayoutId id="2147483654" r:id="rId4"/>
    <p:sldLayoutId id="2147483652" r:id="rId5"/>
    <p:sldLayoutId id="2147483653" r:id="rId6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13" Type="http://schemas.openxmlformats.org/officeDocument/2006/relationships/tags" Target="../tags/tag13.xml"/><Relationship Id="rId18" Type="http://schemas.openxmlformats.org/officeDocument/2006/relationships/tags" Target="../tags/tag18.xml"/><Relationship Id="rId26" Type="http://schemas.openxmlformats.org/officeDocument/2006/relationships/tags" Target="../tags/tag26.xml"/><Relationship Id="rId3" Type="http://schemas.openxmlformats.org/officeDocument/2006/relationships/tags" Target="../tags/tag3.xml"/><Relationship Id="rId21" Type="http://schemas.openxmlformats.org/officeDocument/2006/relationships/tags" Target="../tags/tag21.xml"/><Relationship Id="rId34" Type="http://schemas.openxmlformats.org/officeDocument/2006/relationships/tags" Target="../tags/tag34.xml"/><Relationship Id="rId7" Type="http://schemas.openxmlformats.org/officeDocument/2006/relationships/tags" Target="../tags/tag7.xml"/><Relationship Id="rId12" Type="http://schemas.openxmlformats.org/officeDocument/2006/relationships/tags" Target="../tags/tag12.xml"/><Relationship Id="rId17" Type="http://schemas.openxmlformats.org/officeDocument/2006/relationships/tags" Target="../tags/tag17.xml"/><Relationship Id="rId25" Type="http://schemas.openxmlformats.org/officeDocument/2006/relationships/tags" Target="../tags/tag25.xml"/><Relationship Id="rId33" Type="http://schemas.openxmlformats.org/officeDocument/2006/relationships/tags" Target="../tags/tag33.xml"/><Relationship Id="rId2" Type="http://schemas.openxmlformats.org/officeDocument/2006/relationships/tags" Target="../tags/tag2.xml"/><Relationship Id="rId16" Type="http://schemas.openxmlformats.org/officeDocument/2006/relationships/tags" Target="../tags/tag16.xml"/><Relationship Id="rId20" Type="http://schemas.openxmlformats.org/officeDocument/2006/relationships/tags" Target="../tags/tag20.xml"/><Relationship Id="rId29" Type="http://schemas.openxmlformats.org/officeDocument/2006/relationships/tags" Target="../tags/tag29.xml"/><Relationship Id="rId1" Type="http://schemas.openxmlformats.org/officeDocument/2006/relationships/tags" Target="../tags/tag1.xml"/><Relationship Id="rId6" Type="http://schemas.openxmlformats.org/officeDocument/2006/relationships/tags" Target="../tags/tag6.xml"/><Relationship Id="rId11" Type="http://schemas.openxmlformats.org/officeDocument/2006/relationships/tags" Target="../tags/tag11.xml"/><Relationship Id="rId24" Type="http://schemas.openxmlformats.org/officeDocument/2006/relationships/tags" Target="../tags/tag24.xml"/><Relationship Id="rId32" Type="http://schemas.openxmlformats.org/officeDocument/2006/relationships/tags" Target="../tags/tag32.xml"/><Relationship Id="rId5" Type="http://schemas.openxmlformats.org/officeDocument/2006/relationships/tags" Target="../tags/tag5.xml"/><Relationship Id="rId15" Type="http://schemas.openxmlformats.org/officeDocument/2006/relationships/tags" Target="../tags/tag15.xml"/><Relationship Id="rId23" Type="http://schemas.openxmlformats.org/officeDocument/2006/relationships/tags" Target="../tags/tag23.xml"/><Relationship Id="rId28" Type="http://schemas.openxmlformats.org/officeDocument/2006/relationships/tags" Target="../tags/tag28.xml"/><Relationship Id="rId10" Type="http://schemas.openxmlformats.org/officeDocument/2006/relationships/tags" Target="../tags/tag10.xml"/><Relationship Id="rId19" Type="http://schemas.openxmlformats.org/officeDocument/2006/relationships/tags" Target="../tags/tag19.xml"/><Relationship Id="rId31" Type="http://schemas.openxmlformats.org/officeDocument/2006/relationships/tags" Target="../tags/tag31.xml"/><Relationship Id="rId4" Type="http://schemas.openxmlformats.org/officeDocument/2006/relationships/tags" Target="../tags/tag4.xml"/><Relationship Id="rId9" Type="http://schemas.openxmlformats.org/officeDocument/2006/relationships/tags" Target="../tags/tag9.xml"/><Relationship Id="rId14" Type="http://schemas.openxmlformats.org/officeDocument/2006/relationships/tags" Target="../tags/tag14.xml"/><Relationship Id="rId22" Type="http://schemas.openxmlformats.org/officeDocument/2006/relationships/tags" Target="../tags/tag22.xml"/><Relationship Id="rId27" Type="http://schemas.openxmlformats.org/officeDocument/2006/relationships/tags" Target="../tags/tag27.xml"/><Relationship Id="rId30" Type="http://schemas.openxmlformats.org/officeDocument/2006/relationships/tags" Target="../tags/tag30.xml"/><Relationship Id="rId35" Type="http://schemas.openxmlformats.org/officeDocument/2006/relationships/slideLayout" Target="../slideLayouts/slideLayout2.xml"/><Relationship Id="rId8" Type="http://schemas.openxmlformats.org/officeDocument/2006/relationships/tags" Target="../tags/tag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051ED0C-D326-A8BC-BBCB-AF04CB6B315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kumimoji="1" lang="zh-CN" altLang="en-US" dirty="0"/>
              <a:t>电池电动势和内阻的测量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3226B8CD-BFCA-2CA2-A927-F02FE8435D1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kumimoji="1" lang="zh-CN" altLang="en-US" dirty="0"/>
              <a:t>实验</a:t>
            </a:r>
          </a:p>
        </p:txBody>
      </p:sp>
    </p:spTree>
    <p:extLst>
      <p:ext uri="{BB962C8B-B14F-4D97-AF65-F5344CB8AC3E}">
        <p14:creationId xmlns:p14="http://schemas.microsoft.com/office/powerpoint/2010/main" val="184571839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7241C45-5623-B6A6-B0D7-D4B6829CAC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实验步骤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B0AB7FD0-B1B5-4651-1E7E-0DB4F5887344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pPr marL="0" indent="0">
              <a:buNone/>
            </a:pPr>
            <a:r>
              <a:rPr kumimoji="1" lang="en-US" altLang="zh-CN" dirty="0"/>
              <a:t>1. </a:t>
            </a:r>
            <a:r>
              <a:rPr kumimoji="1" lang="zh-CN" altLang="en-US" dirty="0"/>
              <a:t>选定电流表、电压表的量程，按照电路图把器材连接好。</a:t>
            </a:r>
          </a:p>
          <a:p>
            <a:pPr marL="0" indent="0">
              <a:buNone/>
            </a:pPr>
            <a:r>
              <a:rPr kumimoji="1" lang="en-US" altLang="zh-CN" dirty="0"/>
              <a:t>2. </a:t>
            </a:r>
            <a:r>
              <a:rPr kumimoji="1" lang="zh-CN" altLang="en-US" dirty="0"/>
              <a:t>把滑动变阻器滑片移到电阻最大的一端（图中左端）。</a:t>
            </a:r>
          </a:p>
          <a:p>
            <a:pPr marL="0" indent="0">
              <a:buNone/>
            </a:pPr>
            <a:endParaRPr kumimoji="1" lang="zh-CN" altLang="en-US" dirty="0"/>
          </a:p>
        </p:txBody>
      </p:sp>
      <p:pic>
        <p:nvPicPr>
          <p:cNvPr id="5" name="yt_image_16918" title="H_184.68">
            <a:extLst>
              <a:ext uri="{FF2B5EF4-FFF2-40B4-BE49-F238E27FC236}">
                <a16:creationId xmlns:a16="http://schemas.microsoft.com/office/drawing/2014/main" id="{14018EDF-9F36-A369-2080-DC1F79C2A129}"/>
              </a:ext>
              <a:ext uri="">
                <a16:creationId xmlns:a16="http://schemas.microsoft.com/office/drawing/2014/main" xmlns:p14="http://schemas.microsoft.com/office/powerpoint/2010/main" xmlns:m="http://schemas.openxmlformats.org/officeDocument/2006/math" xmlns:mc="http://schemas.openxmlformats.org/markup-compatibility/2006" xmlns:a14="http://schemas.microsoft.com/office/drawing/2010/main" xmlns="" id="{5351258F-BC95-41E6-9372-C2FE361B0291}"/>
              </a:ext>
            </a:extLst>
          </p:cNvPr>
          <p:cNvPicPr>
            <a:picLocks noGrp="1" noChangeAspect="1" noChangeArrowheads="1"/>
          </p:cNvPicPr>
          <p:nvPr>
            <p:ph sz="half"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838200" y="2179240"/>
            <a:ext cx="5181600" cy="36441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4437148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EA6FB6C-34BB-3F68-6455-AD8ABCD0EA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实验步骤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F2E3956-63DA-DC96-FDAD-D81ED875099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zh-CN" dirty="0">
                <a:solidFill>
                  <a:srgbClr val="000000"/>
                </a:solidFill>
                <a:latin typeface="Times New Roman" pitchFamily="30"/>
                <a:ea typeface="宋体" pitchFamily="30"/>
              </a:rPr>
              <a:t>闭合开关</a:t>
            </a:r>
            <a:r>
              <a:rPr lang="zh-CN" altLang="zh-CN" dirty="0">
                <a:solidFill>
                  <a:srgbClr val="000000"/>
                </a:solidFill>
                <a:latin typeface="宋体" pitchFamily="30"/>
                <a:ea typeface="宋体" pitchFamily="30"/>
              </a:rPr>
              <a:t>，</a:t>
            </a:r>
            <a:r>
              <a:rPr lang="zh-CN" altLang="zh-CN" dirty="0">
                <a:solidFill>
                  <a:srgbClr val="000000"/>
                </a:solidFill>
                <a:latin typeface="Times New Roman" pitchFamily="30"/>
                <a:ea typeface="宋体" pitchFamily="30"/>
              </a:rPr>
              <a:t>调节滑动变阻器</a:t>
            </a:r>
            <a:r>
              <a:rPr lang="zh-CN" altLang="zh-CN" dirty="0">
                <a:solidFill>
                  <a:srgbClr val="000000"/>
                </a:solidFill>
                <a:latin typeface="宋体" pitchFamily="30"/>
                <a:ea typeface="宋体" pitchFamily="30"/>
              </a:rPr>
              <a:t>，</a:t>
            </a:r>
            <a:r>
              <a:rPr lang="zh-CN" altLang="zh-CN" dirty="0">
                <a:solidFill>
                  <a:srgbClr val="000000"/>
                </a:solidFill>
                <a:latin typeface="Times New Roman" pitchFamily="30"/>
                <a:ea typeface="宋体" pitchFamily="30"/>
              </a:rPr>
              <a:t>使电流表有明显示数</a:t>
            </a:r>
            <a:r>
              <a:rPr lang="zh-CN" altLang="zh-CN" dirty="0">
                <a:solidFill>
                  <a:srgbClr val="000000"/>
                </a:solidFill>
                <a:latin typeface="宋体" pitchFamily="30"/>
                <a:ea typeface="宋体" pitchFamily="30"/>
              </a:rPr>
              <a:t>，</a:t>
            </a:r>
            <a:r>
              <a:rPr lang="zh-CN" altLang="zh-CN" dirty="0">
                <a:solidFill>
                  <a:srgbClr val="000000"/>
                </a:solidFill>
                <a:latin typeface="Times New Roman" pitchFamily="30"/>
                <a:ea typeface="宋体" pitchFamily="30"/>
                <a:sym typeface="_⨹_6_b4eee"/>
              </a:rPr>
              <a:t>读出电压</a:t>
            </a:r>
            <a:br>
              <a:rPr lang="zh-CN" altLang="zh-CN" dirty="0">
                <a:solidFill>
                  <a:srgbClr val="000000"/>
                </a:solidFill>
                <a:latin typeface="Times New Roman" pitchFamily="30"/>
                <a:ea typeface="宋体" pitchFamily="30"/>
              </a:rPr>
            </a:br>
            <a:r>
              <a:rPr lang="zh-CN" altLang="zh-CN" dirty="0">
                <a:solidFill>
                  <a:srgbClr val="000000"/>
                </a:solidFill>
                <a:latin typeface="Times New Roman" pitchFamily="30"/>
                <a:ea typeface="宋体" pitchFamily="30"/>
              </a:rPr>
              <a:t>数</a:t>
            </a:r>
            <a:r>
              <a:rPr lang="en-US" altLang="zh-CN" i="1" dirty="0">
                <a:solidFill>
                  <a:srgbClr val="000000"/>
                </a:solidFill>
                <a:latin typeface="Times New Roman" pitchFamily="30"/>
                <a:ea typeface="宋体" pitchFamily="30"/>
              </a:rPr>
              <a:t>U</a:t>
            </a:r>
            <a:r>
              <a:rPr lang="zh-CN" altLang="zh-CN" dirty="0">
                <a:solidFill>
                  <a:srgbClr val="000000"/>
                </a:solidFill>
                <a:latin typeface="Times New Roman" pitchFamily="30"/>
                <a:ea typeface="宋体" pitchFamily="30"/>
              </a:rPr>
              <a:t>和电流表示数</a:t>
            </a:r>
            <a:r>
              <a:rPr lang="en-US" altLang="zh-CN" i="1" dirty="0">
                <a:solidFill>
                  <a:srgbClr val="000000"/>
                </a:solidFill>
                <a:latin typeface="Times New Roman" pitchFamily="30"/>
                <a:ea typeface="宋体" pitchFamily="30"/>
              </a:rPr>
              <a:t>I</a:t>
            </a:r>
            <a:r>
              <a:rPr lang="zh-CN" altLang="zh-CN" dirty="0">
                <a:solidFill>
                  <a:srgbClr val="000000"/>
                </a:solidFill>
                <a:latin typeface="宋体" pitchFamily="30"/>
                <a:ea typeface="宋体" pitchFamily="30"/>
              </a:rPr>
              <a:t>，</a:t>
            </a:r>
            <a:r>
              <a:rPr lang="zh-CN" altLang="zh-CN" dirty="0">
                <a:solidFill>
                  <a:srgbClr val="000000"/>
                </a:solidFill>
                <a:latin typeface="Times New Roman" pitchFamily="30"/>
                <a:ea typeface="宋体" pitchFamily="30"/>
              </a:rPr>
              <a:t>并填入表格</a:t>
            </a:r>
            <a:r>
              <a:rPr lang="zh-CN" altLang="zh-CN" dirty="0">
                <a:solidFill>
                  <a:srgbClr val="000000"/>
                </a:solidFill>
                <a:latin typeface="宋体" pitchFamily="30"/>
                <a:ea typeface="宋体" pitchFamily="30"/>
              </a:rPr>
              <a:t>。</a:t>
            </a:r>
            <a:endParaRPr lang="en-US" altLang="zh-CN" dirty="0">
              <a:solidFill>
                <a:srgbClr val="000000"/>
              </a:solidFill>
              <a:latin typeface="宋体" pitchFamily="30"/>
              <a:ea typeface="宋体" pitchFamily="30"/>
            </a:endParaRPr>
          </a:p>
          <a:p>
            <a:r>
              <a:rPr lang="zh-CN" altLang="zh-CN" dirty="0">
                <a:solidFill>
                  <a:srgbClr val="000000"/>
                </a:solidFill>
                <a:latin typeface="Times New Roman" pitchFamily="30"/>
                <a:ea typeface="宋体" pitchFamily="30"/>
              </a:rPr>
              <a:t>多次改变滑片的位置</a:t>
            </a:r>
            <a:r>
              <a:rPr lang="zh-CN" altLang="zh-CN" dirty="0">
                <a:solidFill>
                  <a:srgbClr val="000000"/>
                </a:solidFill>
                <a:latin typeface="宋体" pitchFamily="30"/>
                <a:ea typeface="宋体" pitchFamily="30"/>
              </a:rPr>
              <a:t>，</a:t>
            </a:r>
            <a:r>
              <a:rPr lang="zh-CN" altLang="zh-CN" dirty="0">
                <a:solidFill>
                  <a:srgbClr val="000000"/>
                </a:solidFill>
                <a:latin typeface="Times New Roman" pitchFamily="30"/>
                <a:ea typeface="宋体" pitchFamily="30"/>
              </a:rPr>
              <a:t>读出对应的多组数据</a:t>
            </a:r>
            <a:r>
              <a:rPr lang="zh-CN" altLang="zh-CN" dirty="0">
                <a:solidFill>
                  <a:srgbClr val="000000"/>
                </a:solidFill>
                <a:latin typeface="宋体" pitchFamily="30"/>
                <a:ea typeface="宋体" pitchFamily="30"/>
              </a:rPr>
              <a:t>，</a:t>
            </a:r>
            <a:r>
              <a:rPr lang="zh-CN" altLang="zh-CN" dirty="0">
                <a:solidFill>
                  <a:srgbClr val="000000"/>
                </a:solidFill>
                <a:latin typeface="Times New Roman" pitchFamily="30"/>
                <a:ea typeface="宋体" pitchFamily="30"/>
              </a:rPr>
              <a:t>并一一填入表中</a:t>
            </a:r>
            <a:r>
              <a:rPr lang="zh-CN" altLang="zh-CN" dirty="0">
                <a:solidFill>
                  <a:srgbClr val="000000"/>
                </a:solidFill>
                <a:latin typeface="宋体" pitchFamily="30"/>
                <a:ea typeface="宋体" pitchFamily="30"/>
              </a:rPr>
              <a:t>。</a:t>
            </a:r>
            <a:endParaRPr lang="en-US" altLang="zh-CN" dirty="0">
              <a:solidFill>
                <a:srgbClr val="000000"/>
              </a:solidFill>
              <a:latin typeface="宋体" pitchFamily="30"/>
              <a:ea typeface="宋体" pitchFamily="30"/>
            </a:endParaRPr>
          </a:p>
          <a:p>
            <a:endParaRPr lang="zh-CN" altLang="zh-CN" dirty="0">
              <a:solidFill>
                <a:srgbClr val="000000"/>
              </a:solidFill>
              <a:latin typeface="宋体" pitchFamily="30"/>
              <a:ea typeface="宋体" pitchFamily="30"/>
            </a:endParaRP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B7B01800-3845-BFCB-F4D4-AEEFA59DA31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0568" y="3278383"/>
            <a:ext cx="10590864" cy="22064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3794371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326468B-B5ED-A83B-0595-FC920D1AF9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 anchor="ctr">
            <a:normAutofit/>
          </a:bodyPr>
          <a:lstStyle/>
          <a:p>
            <a:r>
              <a:rPr kumimoji="1" lang="zh-CN" altLang="en-US" dirty="0"/>
              <a:t>数据处理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82836193-8A89-CA29-98EB-248FAA053F5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>
            <a:normAutofit/>
          </a:bodyPr>
          <a:lstStyle/>
          <a:p>
            <a:r>
              <a:rPr lang="zh-CN" altLang="en-US" dirty="0"/>
              <a:t>以</a:t>
            </a:r>
            <a:r>
              <a:rPr lang="en-US" altLang="zh-CN" dirty="0"/>
              <a:t>I</a:t>
            </a:r>
            <a:r>
              <a:rPr lang="zh-CN" altLang="en-US" dirty="0"/>
              <a:t>为横坐标，</a:t>
            </a:r>
            <a:r>
              <a:rPr lang="en-US" altLang="zh-CN" dirty="0"/>
              <a:t>U</a:t>
            </a:r>
            <a:r>
              <a:rPr lang="zh-CN" altLang="en-US" dirty="0"/>
              <a:t>为纵坐标建立直角坐标系，根据几组</a:t>
            </a:r>
            <a:r>
              <a:rPr lang="en-US" altLang="zh-CN" dirty="0"/>
              <a:t>I</a:t>
            </a:r>
            <a:r>
              <a:rPr lang="zh-CN" altLang="en-US" dirty="0"/>
              <a:t>、</a:t>
            </a:r>
            <a:r>
              <a:rPr lang="en-US" altLang="zh-CN" dirty="0"/>
              <a:t>U</a:t>
            </a:r>
            <a:r>
              <a:rPr lang="zh-CN" altLang="en-US" dirty="0"/>
              <a:t>的</a:t>
            </a:r>
            <a:br>
              <a:rPr lang="zh-CN" altLang="en-US" dirty="0"/>
            </a:br>
            <a:r>
              <a:rPr lang="zh-CN" altLang="en-US" dirty="0"/>
              <a:t>测量数据在坐标系中描点。</a:t>
            </a:r>
          </a:p>
          <a:p>
            <a:r>
              <a:rPr lang="zh-CN" altLang="en-US" dirty="0"/>
              <a:t>用直尺画一条直线，使尽量多的点落在这条直线上，不在直</a:t>
            </a:r>
            <a:br>
              <a:rPr lang="zh-CN" altLang="en-US" dirty="0"/>
            </a:br>
            <a:r>
              <a:rPr lang="zh-CN" altLang="en-US" dirty="0"/>
              <a:t>线上的点，能大致均衡地分布在直线两侧。</a:t>
            </a:r>
          </a:p>
          <a:p>
            <a:r>
              <a:rPr lang="zh-CN" altLang="en-US" dirty="0"/>
              <a:t>计算电源电动势和内阻</a:t>
            </a:r>
          </a:p>
        </p:txBody>
      </p:sp>
      <p:pic>
        <p:nvPicPr>
          <p:cNvPr id="5" name="内容占位符 4" descr="图表&#10;&#10;AI 生成的内容可能不正确。">
            <a:extLst>
              <a:ext uri="{FF2B5EF4-FFF2-40B4-BE49-F238E27FC236}">
                <a16:creationId xmlns:a16="http://schemas.microsoft.com/office/drawing/2014/main" id="{81C44299-C310-8F26-53B4-A865501F2572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6172200" y="2472402"/>
            <a:ext cx="5181600" cy="3057783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248105144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4F8B5A3-8E9B-2FA0-4613-8362CE58DE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试试另一种接法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FC20439-942B-A27A-D1E5-E0B941A2376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B0A99778-40AF-B833-829A-0EF2CFACA82D}"/>
              </a:ext>
            </a:extLst>
          </p:cNvPr>
          <p:cNvGrpSpPr/>
          <p:nvPr/>
        </p:nvGrpSpPr>
        <p:grpSpPr>
          <a:xfrm>
            <a:off x="4709795" y="3017044"/>
            <a:ext cx="2772410" cy="1968500"/>
            <a:chOff x="1654175" y="3691255"/>
            <a:chExt cx="2772410" cy="1968500"/>
          </a:xfrm>
        </p:grpSpPr>
        <p:grpSp>
          <p:nvGrpSpPr>
            <p:cNvPr id="5" name="组合 4">
              <a:extLst>
                <a:ext uri="{FF2B5EF4-FFF2-40B4-BE49-F238E27FC236}">
                  <a16:creationId xmlns:a16="http://schemas.microsoft.com/office/drawing/2014/main" id="{66712FE0-2F90-F453-6603-6E79ECDA6A0F}"/>
                </a:ext>
              </a:extLst>
            </p:cNvPr>
            <p:cNvGrpSpPr/>
            <p:nvPr>
              <p:custDataLst>
                <p:tags r:id="rId1"/>
              </p:custDataLst>
            </p:nvPr>
          </p:nvGrpSpPr>
          <p:grpSpPr>
            <a:xfrm>
              <a:off x="1654175" y="4954270"/>
              <a:ext cx="2772410" cy="705485"/>
              <a:chOff x="3225" y="7197"/>
              <a:chExt cx="4535" cy="1381"/>
            </a:xfrm>
          </p:grpSpPr>
          <p:sp>
            <p:nvSpPr>
              <p:cNvPr id="35" name="直接连接符 599056">
                <a:extLst>
                  <a:ext uri="{FF2B5EF4-FFF2-40B4-BE49-F238E27FC236}">
                    <a16:creationId xmlns:a16="http://schemas.microsoft.com/office/drawing/2014/main" id="{BDE24FD2-A5E5-F513-C7E5-CE8EA39525D6}"/>
                  </a:ext>
                </a:extLst>
              </p:cNvPr>
              <p:cNvSpPr/>
              <p:nvPr>
                <p:custDataLst>
                  <p:tags r:id="rId31"/>
                </p:custDataLst>
              </p:nvPr>
            </p:nvSpPr>
            <p:spPr>
              <a:xfrm>
                <a:off x="3243" y="7201"/>
                <a:ext cx="4517" cy="2"/>
              </a:xfrm>
              <a:prstGeom prst="line">
                <a:avLst/>
              </a:prstGeom>
              <a:ln w="9525" cap="flat" cmpd="sng">
                <a:solidFill>
                  <a:srgbClr val="FF0000"/>
                </a:solidFill>
                <a:prstDash val="dash"/>
                <a:round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36" name="直接连接符 599057">
                <a:extLst>
                  <a:ext uri="{FF2B5EF4-FFF2-40B4-BE49-F238E27FC236}">
                    <a16:creationId xmlns:a16="http://schemas.microsoft.com/office/drawing/2014/main" id="{8D4A2C14-222E-03A5-5C65-0E837A28E6F2}"/>
                  </a:ext>
                </a:extLst>
              </p:cNvPr>
              <p:cNvSpPr/>
              <p:nvPr>
                <p:custDataLst>
                  <p:tags r:id="rId32"/>
                </p:custDataLst>
              </p:nvPr>
            </p:nvSpPr>
            <p:spPr>
              <a:xfrm flipH="1">
                <a:off x="3238" y="7206"/>
                <a:ext cx="0" cy="1349"/>
              </a:xfrm>
              <a:prstGeom prst="line">
                <a:avLst/>
              </a:prstGeom>
              <a:ln w="9525" cap="flat" cmpd="sng">
                <a:solidFill>
                  <a:srgbClr val="FF0000"/>
                </a:solidFill>
                <a:prstDash val="dash"/>
                <a:round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37" name="直接连接符 599058">
                <a:extLst>
                  <a:ext uri="{FF2B5EF4-FFF2-40B4-BE49-F238E27FC236}">
                    <a16:creationId xmlns:a16="http://schemas.microsoft.com/office/drawing/2014/main" id="{6D2FEB47-312B-1DF8-95BC-20C207E662DB}"/>
                  </a:ext>
                </a:extLst>
              </p:cNvPr>
              <p:cNvSpPr/>
              <p:nvPr>
                <p:custDataLst>
                  <p:tags r:id="rId33"/>
                </p:custDataLst>
              </p:nvPr>
            </p:nvSpPr>
            <p:spPr>
              <a:xfrm flipH="1" flipV="1">
                <a:off x="7740" y="7197"/>
                <a:ext cx="17" cy="1370"/>
              </a:xfrm>
              <a:prstGeom prst="line">
                <a:avLst/>
              </a:prstGeom>
              <a:ln w="9525" cap="flat" cmpd="sng">
                <a:solidFill>
                  <a:srgbClr val="FF0000"/>
                </a:solidFill>
                <a:prstDash val="dash"/>
                <a:round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38" name="直接连接符 599059">
                <a:extLst>
                  <a:ext uri="{FF2B5EF4-FFF2-40B4-BE49-F238E27FC236}">
                    <a16:creationId xmlns:a16="http://schemas.microsoft.com/office/drawing/2014/main" id="{57738838-A843-ED7C-E4C7-5C6F40C6CD31}"/>
                  </a:ext>
                </a:extLst>
              </p:cNvPr>
              <p:cNvSpPr/>
              <p:nvPr>
                <p:custDataLst>
                  <p:tags r:id="rId34"/>
                </p:custDataLst>
              </p:nvPr>
            </p:nvSpPr>
            <p:spPr>
              <a:xfrm>
                <a:off x="3225" y="8578"/>
                <a:ext cx="4516" cy="0"/>
              </a:xfrm>
              <a:prstGeom prst="line">
                <a:avLst/>
              </a:prstGeom>
              <a:ln w="9525" cap="flat" cmpd="sng">
                <a:solidFill>
                  <a:srgbClr val="FF0000"/>
                </a:solidFill>
                <a:prstDash val="dash"/>
                <a:round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/>
              </a:p>
            </p:txBody>
          </p:sp>
        </p:grpSp>
        <p:grpSp>
          <p:nvGrpSpPr>
            <p:cNvPr id="6" name="组合 5">
              <a:extLst>
                <a:ext uri="{FF2B5EF4-FFF2-40B4-BE49-F238E27FC236}">
                  <a16:creationId xmlns:a16="http://schemas.microsoft.com/office/drawing/2014/main" id="{F78CF930-E35F-A0E9-9AF6-E7F9BD642BF0}"/>
                </a:ext>
              </a:extLst>
            </p:cNvPr>
            <p:cNvGrpSpPr/>
            <p:nvPr>
              <p:custDataLst>
                <p:tags r:id="rId2"/>
              </p:custDataLst>
            </p:nvPr>
          </p:nvGrpSpPr>
          <p:grpSpPr>
            <a:xfrm>
              <a:off x="1962785" y="3691255"/>
              <a:ext cx="2206625" cy="1761490"/>
              <a:chOff x="3091" y="5813"/>
              <a:chExt cx="3475" cy="2774"/>
            </a:xfrm>
          </p:grpSpPr>
          <p:sp>
            <p:nvSpPr>
              <p:cNvPr id="10" name="直接连接符 599073">
                <a:extLst>
                  <a:ext uri="{FF2B5EF4-FFF2-40B4-BE49-F238E27FC236}">
                    <a16:creationId xmlns:a16="http://schemas.microsoft.com/office/drawing/2014/main" id="{B36B9CA0-6825-0658-2D3C-8FC941F63945}"/>
                  </a:ext>
                </a:extLst>
              </p:cNvPr>
              <p:cNvSpPr/>
              <p:nvPr>
                <p:custDataLst>
                  <p:tags r:id="rId6"/>
                </p:custDataLst>
              </p:nvPr>
            </p:nvSpPr>
            <p:spPr>
              <a:xfrm flipH="1">
                <a:off x="3135" y="6338"/>
                <a:ext cx="2098" cy="1"/>
              </a:xfrm>
              <a:prstGeom prst="line">
                <a:avLst/>
              </a:prstGeom>
              <a:ln w="9525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11" name="矩形 599064">
                <a:extLst>
                  <a:ext uri="{FF2B5EF4-FFF2-40B4-BE49-F238E27FC236}">
                    <a16:creationId xmlns:a16="http://schemas.microsoft.com/office/drawing/2014/main" id="{41A4D6FE-7097-8F05-D261-B820076F3F80}"/>
                  </a:ext>
                </a:extLst>
              </p:cNvPr>
              <p:cNvSpPr/>
              <p:nvPr>
                <p:custDataLst>
                  <p:tags r:id="rId7"/>
                </p:custDataLst>
              </p:nvPr>
            </p:nvSpPr>
            <p:spPr>
              <a:xfrm>
                <a:off x="5138" y="6212"/>
                <a:ext cx="617" cy="224"/>
              </a:xfrm>
              <a:prstGeom prst="rect">
                <a:avLst/>
              </a:prstGeom>
              <a:solidFill>
                <a:schemeClr val="bg1"/>
              </a:solidFill>
              <a:ln w="9525" cap="flat" cmpd="sng">
                <a:solidFill>
                  <a:srgbClr val="000000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anchor="t"/>
              <a:lstStyle/>
              <a:p>
                <a:endParaRPr lang="zh-CN" altLang="en-US" sz="2400">
                  <a:latin typeface="Arial" panose="020B0604020202020204" pitchFamily="34" charset="0"/>
                </a:endParaRPr>
              </a:p>
            </p:txBody>
          </p:sp>
          <p:sp>
            <p:nvSpPr>
              <p:cNvPr id="12" name="直接连接符 599065">
                <a:extLst>
                  <a:ext uri="{FF2B5EF4-FFF2-40B4-BE49-F238E27FC236}">
                    <a16:creationId xmlns:a16="http://schemas.microsoft.com/office/drawing/2014/main" id="{6ADA0560-DC1A-B441-A323-ED1F6ABC2437}"/>
                  </a:ext>
                </a:extLst>
              </p:cNvPr>
              <p:cNvSpPr/>
              <p:nvPr>
                <p:custDataLst>
                  <p:tags r:id="rId8"/>
                </p:custDataLst>
              </p:nvPr>
            </p:nvSpPr>
            <p:spPr>
              <a:xfrm>
                <a:off x="5424" y="5813"/>
                <a:ext cx="1" cy="399"/>
              </a:xfrm>
              <a:prstGeom prst="line">
                <a:avLst/>
              </a:prstGeom>
              <a:ln w="9525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triangle" w="med" len="med"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13" name="直接连接符 599066">
                <a:extLst>
                  <a:ext uri="{FF2B5EF4-FFF2-40B4-BE49-F238E27FC236}">
                    <a16:creationId xmlns:a16="http://schemas.microsoft.com/office/drawing/2014/main" id="{63F1DFDE-E1C6-037F-89AB-0A3FE4D66097}"/>
                  </a:ext>
                </a:extLst>
              </p:cNvPr>
              <p:cNvSpPr/>
              <p:nvPr>
                <p:custDataLst>
                  <p:tags r:id="rId9"/>
                </p:custDataLst>
              </p:nvPr>
            </p:nvSpPr>
            <p:spPr>
              <a:xfrm>
                <a:off x="5424" y="5813"/>
                <a:ext cx="541" cy="1"/>
              </a:xfrm>
              <a:prstGeom prst="line">
                <a:avLst/>
              </a:prstGeom>
              <a:ln w="9525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14" name="直接连接符 599067">
                <a:extLst>
                  <a:ext uri="{FF2B5EF4-FFF2-40B4-BE49-F238E27FC236}">
                    <a16:creationId xmlns:a16="http://schemas.microsoft.com/office/drawing/2014/main" id="{CBBA15F4-965B-ED49-8DD0-16C4ECAAFDBC}"/>
                  </a:ext>
                </a:extLst>
              </p:cNvPr>
              <p:cNvSpPr/>
              <p:nvPr>
                <p:custDataLst>
                  <p:tags r:id="rId10"/>
                </p:custDataLst>
              </p:nvPr>
            </p:nvSpPr>
            <p:spPr>
              <a:xfrm>
                <a:off x="5965" y="5813"/>
                <a:ext cx="1" cy="504"/>
              </a:xfrm>
              <a:prstGeom prst="line">
                <a:avLst/>
              </a:prstGeom>
              <a:ln w="9525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15" name="直接连接符 599068">
                <a:extLst>
                  <a:ext uri="{FF2B5EF4-FFF2-40B4-BE49-F238E27FC236}">
                    <a16:creationId xmlns:a16="http://schemas.microsoft.com/office/drawing/2014/main" id="{190BB86C-6FAA-A182-51FA-43990EAA5D2B}"/>
                  </a:ext>
                </a:extLst>
              </p:cNvPr>
              <p:cNvSpPr/>
              <p:nvPr>
                <p:custDataLst>
                  <p:tags r:id="rId11"/>
                </p:custDataLst>
              </p:nvPr>
            </p:nvSpPr>
            <p:spPr>
              <a:xfrm>
                <a:off x="5739" y="6317"/>
                <a:ext cx="794" cy="1"/>
              </a:xfrm>
              <a:prstGeom prst="line">
                <a:avLst/>
              </a:prstGeom>
              <a:ln w="9525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16" name="直接连接符 599074">
                <a:extLst>
                  <a:ext uri="{FF2B5EF4-FFF2-40B4-BE49-F238E27FC236}">
                    <a16:creationId xmlns:a16="http://schemas.microsoft.com/office/drawing/2014/main" id="{1735EBCF-6B62-D894-87BF-B50844A81A63}"/>
                  </a:ext>
                </a:extLst>
              </p:cNvPr>
              <p:cNvSpPr/>
              <p:nvPr>
                <p:custDataLst>
                  <p:tags r:id="rId12"/>
                </p:custDataLst>
              </p:nvPr>
            </p:nvSpPr>
            <p:spPr>
              <a:xfrm>
                <a:off x="3133" y="6338"/>
                <a:ext cx="1" cy="1953"/>
              </a:xfrm>
              <a:prstGeom prst="line">
                <a:avLst/>
              </a:prstGeom>
              <a:ln w="9525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17" name="直接连接符 599075">
                <a:extLst>
                  <a:ext uri="{FF2B5EF4-FFF2-40B4-BE49-F238E27FC236}">
                    <a16:creationId xmlns:a16="http://schemas.microsoft.com/office/drawing/2014/main" id="{6F63ACA0-9E20-8BD6-4C7D-1057B3F008C0}"/>
                  </a:ext>
                </a:extLst>
              </p:cNvPr>
              <p:cNvSpPr/>
              <p:nvPr>
                <p:custDataLst>
                  <p:tags r:id="rId13"/>
                </p:custDataLst>
              </p:nvPr>
            </p:nvSpPr>
            <p:spPr>
              <a:xfrm>
                <a:off x="3120" y="7417"/>
                <a:ext cx="3402" cy="0"/>
              </a:xfrm>
              <a:prstGeom prst="line">
                <a:avLst/>
              </a:prstGeom>
              <a:ln w="9525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18" name="直接连接符 599080">
                <a:extLst>
                  <a:ext uri="{FF2B5EF4-FFF2-40B4-BE49-F238E27FC236}">
                    <a16:creationId xmlns:a16="http://schemas.microsoft.com/office/drawing/2014/main" id="{18B5AB4E-436D-7CC2-274C-0483DDA78397}"/>
                  </a:ext>
                </a:extLst>
              </p:cNvPr>
              <p:cNvSpPr/>
              <p:nvPr>
                <p:custDataLst>
                  <p:tags r:id="rId14"/>
                </p:custDataLst>
              </p:nvPr>
            </p:nvSpPr>
            <p:spPr>
              <a:xfrm>
                <a:off x="6524" y="6317"/>
                <a:ext cx="1" cy="2015"/>
              </a:xfrm>
              <a:prstGeom prst="line">
                <a:avLst/>
              </a:prstGeom>
              <a:ln w="9525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19" name="直接连接符 599081">
                <a:extLst>
                  <a:ext uri="{FF2B5EF4-FFF2-40B4-BE49-F238E27FC236}">
                    <a16:creationId xmlns:a16="http://schemas.microsoft.com/office/drawing/2014/main" id="{86082EF4-7F93-7880-4E7D-3B49CE60C193}"/>
                  </a:ext>
                </a:extLst>
              </p:cNvPr>
              <p:cNvSpPr/>
              <p:nvPr>
                <p:custDataLst>
                  <p:tags r:id="rId15"/>
                </p:custDataLst>
              </p:nvPr>
            </p:nvSpPr>
            <p:spPr>
              <a:xfrm>
                <a:off x="3120" y="8311"/>
                <a:ext cx="735" cy="1"/>
              </a:xfrm>
              <a:prstGeom prst="line">
                <a:avLst/>
              </a:prstGeom>
              <a:ln w="9525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20" name="矩形 599082">
                <a:extLst>
                  <a:ext uri="{FF2B5EF4-FFF2-40B4-BE49-F238E27FC236}">
                    <a16:creationId xmlns:a16="http://schemas.microsoft.com/office/drawing/2014/main" id="{E6093858-3747-32C4-0758-61F2811190CB}"/>
                  </a:ext>
                </a:extLst>
              </p:cNvPr>
              <p:cNvSpPr/>
              <p:nvPr>
                <p:custDataLst>
                  <p:tags r:id="rId16"/>
                </p:custDataLst>
              </p:nvPr>
            </p:nvSpPr>
            <p:spPr>
              <a:xfrm>
                <a:off x="3977" y="8101"/>
                <a:ext cx="134" cy="487"/>
              </a:xfrm>
              <a:prstGeom prst="rect">
                <a:avLst/>
              </a:prstGeom>
              <a:solidFill>
                <a:srgbClr val="FFFFFF"/>
              </a:solidFill>
              <a:ln w="9525">
                <a:noFill/>
              </a:ln>
            </p:spPr>
            <p:txBody>
              <a:bodyPr anchor="t"/>
              <a:lstStyle/>
              <a:p>
                <a:endParaRPr lang="zh-CN" altLang="en-US" sz="2400">
                  <a:latin typeface="Arial" panose="020B0604020202020204" pitchFamily="34" charset="0"/>
                </a:endParaRPr>
              </a:p>
            </p:txBody>
          </p:sp>
          <p:sp>
            <p:nvSpPr>
              <p:cNvPr id="21" name="直接连接符 599083">
                <a:extLst>
                  <a:ext uri="{FF2B5EF4-FFF2-40B4-BE49-F238E27FC236}">
                    <a16:creationId xmlns:a16="http://schemas.microsoft.com/office/drawing/2014/main" id="{9A926CDD-589B-1306-A45C-FF93639C29D9}"/>
                  </a:ext>
                </a:extLst>
              </p:cNvPr>
              <p:cNvSpPr/>
              <p:nvPr>
                <p:custDataLst>
                  <p:tags r:id="rId17"/>
                </p:custDataLst>
              </p:nvPr>
            </p:nvSpPr>
            <p:spPr>
              <a:xfrm>
                <a:off x="3994" y="8186"/>
                <a:ext cx="1" cy="324"/>
              </a:xfrm>
              <a:prstGeom prst="line">
                <a:avLst/>
              </a:prstGeom>
              <a:ln w="19050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22" name="直接连接符 599084">
                <a:extLst>
                  <a:ext uri="{FF2B5EF4-FFF2-40B4-BE49-F238E27FC236}">
                    <a16:creationId xmlns:a16="http://schemas.microsoft.com/office/drawing/2014/main" id="{CBE0C53A-EDD6-9E77-225A-931E7115286A}"/>
                  </a:ext>
                </a:extLst>
              </p:cNvPr>
              <p:cNvSpPr/>
              <p:nvPr>
                <p:custDataLst>
                  <p:tags r:id="rId18"/>
                </p:custDataLst>
              </p:nvPr>
            </p:nvSpPr>
            <p:spPr>
              <a:xfrm flipH="1">
                <a:off x="3883" y="8101"/>
                <a:ext cx="0" cy="487"/>
              </a:xfrm>
              <a:prstGeom prst="line">
                <a:avLst/>
              </a:prstGeom>
              <a:ln w="9525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23" name="直接连接符 599085">
                <a:extLst>
                  <a:ext uri="{FF2B5EF4-FFF2-40B4-BE49-F238E27FC236}">
                    <a16:creationId xmlns:a16="http://schemas.microsoft.com/office/drawing/2014/main" id="{24FF1B57-7EA9-97B2-21C8-4D6FA7B0C2C0}"/>
                  </a:ext>
                </a:extLst>
              </p:cNvPr>
              <p:cNvSpPr/>
              <p:nvPr>
                <p:custDataLst>
                  <p:tags r:id="rId19"/>
                </p:custDataLst>
              </p:nvPr>
            </p:nvSpPr>
            <p:spPr>
              <a:xfrm>
                <a:off x="3992" y="8311"/>
                <a:ext cx="524" cy="1"/>
              </a:xfrm>
              <a:prstGeom prst="line">
                <a:avLst/>
              </a:prstGeom>
              <a:ln w="9525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/>
              </a:p>
            </p:txBody>
          </p:sp>
          <p:grpSp>
            <p:nvGrpSpPr>
              <p:cNvPr id="24" name="xjhzja18">
                <a:extLst>
                  <a:ext uri="{FF2B5EF4-FFF2-40B4-BE49-F238E27FC236}">
                    <a16:creationId xmlns:a16="http://schemas.microsoft.com/office/drawing/2014/main" id="{D8ADF205-8760-F051-FE9E-D8A890017ED3}"/>
                  </a:ext>
                </a:extLst>
              </p:cNvPr>
              <p:cNvGrpSpPr/>
              <p:nvPr>
                <p:custDataLst>
                  <p:tags r:id="rId20"/>
                </p:custDataLst>
              </p:nvPr>
            </p:nvGrpSpPr>
            <p:grpSpPr>
              <a:xfrm>
                <a:off x="4553" y="8081"/>
                <a:ext cx="419" cy="436"/>
                <a:chOff x="3248" y="4092"/>
                <a:chExt cx="362" cy="312"/>
              </a:xfrm>
            </p:grpSpPr>
            <p:sp>
              <p:nvSpPr>
                <p:cNvPr id="31" name="矩形 599087">
                  <a:extLst>
                    <a:ext uri="{FF2B5EF4-FFF2-40B4-BE49-F238E27FC236}">
                      <a16:creationId xmlns:a16="http://schemas.microsoft.com/office/drawing/2014/main" id="{D5AEA996-A766-2E70-4007-42995E86CB74}"/>
                    </a:ext>
                  </a:extLst>
                </p:cNvPr>
                <p:cNvSpPr/>
                <p:nvPr>
                  <p:custDataLst>
                    <p:tags r:id="rId27"/>
                  </p:custDataLst>
                </p:nvPr>
              </p:nvSpPr>
              <p:spPr>
                <a:xfrm>
                  <a:off x="3248" y="4092"/>
                  <a:ext cx="362" cy="312"/>
                </a:xfrm>
                <a:prstGeom prst="rect">
                  <a:avLst/>
                </a:prstGeom>
                <a:solidFill>
                  <a:srgbClr val="FFFFFF"/>
                </a:solidFill>
                <a:ln w="9525">
                  <a:noFill/>
                </a:ln>
              </p:spPr>
              <p:txBody>
                <a:bodyPr anchor="t"/>
                <a:lstStyle/>
                <a:p>
                  <a:endParaRPr lang="zh-CN" altLang="en-US" sz="2400">
                    <a:latin typeface="Arial" panose="020B0604020202020204" pitchFamily="34" charset="0"/>
                  </a:endParaRPr>
                </a:p>
              </p:txBody>
            </p:sp>
            <p:grpSp>
              <p:nvGrpSpPr>
                <p:cNvPr id="32" name="组合 599088">
                  <a:extLst>
                    <a:ext uri="{FF2B5EF4-FFF2-40B4-BE49-F238E27FC236}">
                      <a16:creationId xmlns:a16="http://schemas.microsoft.com/office/drawing/2014/main" id="{F096137D-51EA-6A96-83FC-CC77FEAFCE4E}"/>
                    </a:ext>
                  </a:extLst>
                </p:cNvPr>
                <p:cNvGrpSpPr/>
                <p:nvPr>
                  <p:custDataLst>
                    <p:tags r:id="rId28"/>
                  </p:custDataLst>
                </p:nvPr>
              </p:nvGrpSpPr>
              <p:grpSpPr>
                <a:xfrm>
                  <a:off x="3248" y="4092"/>
                  <a:ext cx="362" cy="156"/>
                  <a:chOff x="2162" y="3936"/>
                  <a:chExt cx="362" cy="156"/>
                </a:xfrm>
              </p:grpSpPr>
              <p:sp>
                <p:nvSpPr>
                  <p:cNvPr id="33" name="直接连接符 599089">
                    <a:extLst>
                      <a:ext uri="{FF2B5EF4-FFF2-40B4-BE49-F238E27FC236}">
                        <a16:creationId xmlns:a16="http://schemas.microsoft.com/office/drawing/2014/main" id="{4B7EAB72-1B19-1501-6BBC-9F235B78BEDB}"/>
                      </a:ext>
                    </a:extLst>
                  </p:cNvPr>
                  <p:cNvSpPr/>
                  <p:nvPr>
                    <p:custDataLst>
                      <p:tags r:id="rId29"/>
                    </p:custDataLst>
                  </p:nvPr>
                </p:nvSpPr>
                <p:spPr>
                  <a:xfrm flipV="1">
                    <a:off x="2162" y="3936"/>
                    <a:ext cx="362" cy="156"/>
                  </a:xfrm>
                  <a:prstGeom prst="line">
                    <a:avLst/>
                  </a:prstGeom>
                  <a:ln w="9525" cap="flat" cmpd="sng">
                    <a:solidFill>
                      <a:srgbClr val="000000"/>
                    </a:solidFill>
                    <a:prstDash val="solid"/>
                    <a:round/>
                    <a:headEnd type="oval" w="sm" len="sm"/>
                    <a:tailEnd type="none" w="sm" len="sm"/>
                  </a:ln>
                </p:spPr>
                <p:txBody>
                  <a:bodyPr/>
                  <a:lstStyle/>
                  <a:p>
                    <a:endParaRPr/>
                  </a:p>
                </p:txBody>
              </p:sp>
              <p:sp>
                <p:nvSpPr>
                  <p:cNvPr id="34" name="直接连接符 599090">
                    <a:extLst>
                      <a:ext uri="{FF2B5EF4-FFF2-40B4-BE49-F238E27FC236}">
                        <a16:creationId xmlns:a16="http://schemas.microsoft.com/office/drawing/2014/main" id="{AF402E1E-801D-ABF1-D283-B460E7BF81F2}"/>
                      </a:ext>
                    </a:extLst>
                  </p:cNvPr>
                  <p:cNvSpPr/>
                  <p:nvPr>
                    <p:custDataLst>
                      <p:tags r:id="rId30"/>
                    </p:custDataLst>
                  </p:nvPr>
                </p:nvSpPr>
                <p:spPr>
                  <a:xfrm flipH="1">
                    <a:off x="2524" y="4092"/>
                    <a:ext cx="0" cy="0"/>
                  </a:xfrm>
                  <a:prstGeom prst="line">
                    <a:avLst/>
                  </a:prstGeom>
                  <a:ln w="9525" cap="flat" cmpd="sng">
                    <a:solidFill>
                      <a:srgbClr val="000000"/>
                    </a:solidFill>
                    <a:prstDash val="solid"/>
                    <a:round/>
                    <a:headEnd type="oval" w="sm" len="sm"/>
                    <a:tailEnd type="oval" w="sm" len="sm"/>
                  </a:ln>
                </p:spPr>
                <p:txBody>
                  <a:bodyPr/>
                  <a:lstStyle/>
                  <a:p>
                    <a:endParaRPr/>
                  </a:p>
                </p:txBody>
              </p:sp>
            </p:grpSp>
          </p:grpSp>
          <p:sp>
            <p:nvSpPr>
              <p:cNvPr id="25" name="直接连接符 599091">
                <a:extLst>
                  <a:ext uri="{FF2B5EF4-FFF2-40B4-BE49-F238E27FC236}">
                    <a16:creationId xmlns:a16="http://schemas.microsoft.com/office/drawing/2014/main" id="{A8964243-05C1-4330-B05D-E442DC067803}"/>
                  </a:ext>
                </a:extLst>
              </p:cNvPr>
              <p:cNvSpPr/>
              <p:nvPr>
                <p:custDataLst>
                  <p:tags r:id="rId21"/>
                </p:custDataLst>
              </p:nvPr>
            </p:nvSpPr>
            <p:spPr>
              <a:xfrm>
                <a:off x="5056" y="8311"/>
                <a:ext cx="1487" cy="1"/>
              </a:xfrm>
              <a:prstGeom prst="line">
                <a:avLst/>
              </a:prstGeom>
              <a:ln w="9525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/>
              </a:p>
            </p:txBody>
          </p:sp>
          <p:grpSp>
            <p:nvGrpSpPr>
              <p:cNvPr id="26" name="组合 25">
                <a:extLst>
                  <a:ext uri="{FF2B5EF4-FFF2-40B4-BE49-F238E27FC236}">
                    <a16:creationId xmlns:a16="http://schemas.microsoft.com/office/drawing/2014/main" id="{FEB6C278-4F62-F143-C0BE-B2A8DF55C513}"/>
                  </a:ext>
                </a:extLst>
              </p:cNvPr>
              <p:cNvGrpSpPr/>
              <p:nvPr>
                <p:custDataLst>
                  <p:tags r:id="rId22"/>
                </p:custDataLst>
              </p:nvPr>
            </p:nvGrpSpPr>
            <p:grpSpPr>
              <a:xfrm>
                <a:off x="4403" y="7059"/>
                <a:ext cx="682" cy="716"/>
                <a:chOff x="5138" y="734"/>
                <a:chExt cx="682" cy="716"/>
              </a:xfrm>
            </p:grpSpPr>
            <p:sp>
              <p:nvSpPr>
                <p:cNvPr id="29" name="椭圆 599110">
                  <a:extLst>
                    <a:ext uri="{FF2B5EF4-FFF2-40B4-BE49-F238E27FC236}">
                      <a16:creationId xmlns:a16="http://schemas.microsoft.com/office/drawing/2014/main" id="{7880CF66-5E2D-C714-A1ED-57AA33EFBEDE}"/>
                    </a:ext>
                  </a:extLst>
                </p:cNvPr>
                <p:cNvSpPr>
                  <a:spLocks noChangeAspect="1"/>
                </p:cNvSpPr>
                <p:nvPr>
                  <p:custDataLst>
                    <p:tags r:id="rId25"/>
                  </p:custDataLst>
                </p:nvPr>
              </p:nvSpPr>
              <p:spPr>
                <a:xfrm>
                  <a:off x="5253" y="865"/>
                  <a:ext cx="454" cy="454"/>
                </a:xfrm>
                <a:prstGeom prst="ellipse">
                  <a:avLst/>
                </a:prstGeom>
                <a:solidFill>
                  <a:schemeClr val="bg1"/>
                </a:solidFill>
                <a:ln w="9525" cap="flat" cmpd="sng">
                  <a:solidFill>
                    <a:srgbClr val="000000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 anchor="t"/>
                <a:lstStyle/>
                <a:p>
                  <a:endParaRPr lang="zh-CN" altLang="en-US" sz="2400"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30" name="文本框 599105">
                  <a:extLst>
                    <a:ext uri="{FF2B5EF4-FFF2-40B4-BE49-F238E27FC236}">
                      <a16:creationId xmlns:a16="http://schemas.microsoft.com/office/drawing/2014/main" id="{0A03624F-ED1F-3F39-AA97-DB1E66921A5F}"/>
                    </a:ext>
                  </a:extLst>
                </p:cNvPr>
                <p:cNvSpPr txBox="1"/>
                <p:nvPr>
                  <p:custDataLst>
                    <p:tags r:id="rId26"/>
                  </p:custDataLst>
                </p:nvPr>
              </p:nvSpPr>
              <p:spPr>
                <a:xfrm>
                  <a:off x="5138" y="734"/>
                  <a:ext cx="682" cy="716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lIns="0" tIns="0" rIns="0" bIns="0" anchor="ctr" anchorCtr="0"/>
                <a:lstStyle/>
                <a:p>
                  <a:pPr algn="ctr"/>
                  <a:r>
                    <a:rPr lang="en-US" altLang="zh-CN" sz="2400">
                      <a:solidFill>
                        <a:srgbClr val="000000"/>
                      </a:solidFill>
                      <a:latin typeface="黑体" panose="02010609060101010101" charset="-122"/>
                      <a:ea typeface="黑体" panose="02010609060101010101" charset="-122"/>
                    </a:rPr>
                    <a:t>V</a:t>
                  </a:r>
                </a:p>
              </p:txBody>
            </p:sp>
          </p:grpSp>
          <p:sp>
            <p:nvSpPr>
              <p:cNvPr id="27" name="椭圆 26">
                <a:extLst>
                  <a:ext uri="{FF2B5EF4-FFF2-40B4-BE49-F238E27FC236}">
                    <a16:creationId xmlns:a16="http://schemas.microsoft.com/office/drawing/2014/main" id="{DE4F7659-FD8A-4618-8BCF-3EC9B86D4687}"/>
                  </a:ext>
                </a:extLst>
              </p:cNvPr>
              <p:cNvSpPr>
                <a:spLocks noChangeAspect="1"/>
              </p:cNvSpPr>
              <p:nvPr>
                <p:custDataLst>
                  <p:tags r:id="rId23"/>
                </p:custDataLst>
              </p:nvPr>
            </p:nvSpPr>
            <p:spPr>
              <a:xfrm>
                <a:off x="3091" y="7374"/>
                <a:ext cx="85" cy="85"/>
              </a:xfrm>
              <a:prstGeom prst="ellipse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8" name="椭圆 27">
                <a:extLst>
                  <a:ext uri="{FF2B5EF4-FFF2-40B4-BE49-F238E27FC236}">
                    <a16:creationId xmlns:a16="http://schemas.microsoft.com/office/drawing/2014/main" id="{7690E723-278E-C250-31D8-167AC7E7E6AB}"/>
                  </a:ext>
                </a:extLst>
              </p:cNvPr>
              <p:cNvSpPr>
                <a:spLocks noChangeAspect="1"/>
              </p:cNvSpPr>
              <p:nvPr>
                <p:custDataLst>
                  <p:tags r:id="rId24"/>
                </p:custDataLst>
              </p:nvPr>
            </p:nvSpPr>
            <p:spPr>
              <a:xfrm>
                <a:off x="6482" y="7374"/>
                <a:ext cx="85" cy="85"/>
              </a:xfrm>
              <a:prstGeom prst="ellipse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7" name="组合 6">
              <a:extLst>
                <a:ext uri="{FF2B5EF4-FFF2-40B4-BE49-F238E27FC236}">
                  <a16:creationId xmlns:a16="http://schemas.microsoft.com/office/drawing/2014/main" id="{465640C3-4D5B-EBBD-3A14-94FBC71A6AC8}"/>
                </a:ext>
              </a:extLst>
            </p:cNvPr>
            <p:cNvGrpSpPr/>
            <p:nvPr>
              <p:custDataLst>
                <p:tags r:id="rId3"/>
              </p:custDataLst>
            </p:nvPr>
          </p:nvGrpSpPr>
          <p:grpSpPr>
            <a:xfrm>
              <a:off x="3444875" y="5055870"/>
              <a:ext cx="433070" cy="454660"/>
              <a:chOff x="5138" y="734"/>
              <a:chExt cx="682" cy="716"/>
            </a:xfrm>
          </p:grpSpPr>
          <p:sp>
            <p:nvSpPr>
              <p:cNvPr id="8" name="椭圆 599110">
                <a:extLst>
                  <a:ext uri="{FF2B5EF4-FFF2-40B4-BE49-F238E27FC236}">
                    <a16:creationId xmlns:a16="http://schemas.microsoft.com/office/drawing/2014/main" id="{87F3412E-B87F-B030-1FD3-9A67E59C37BB}"/>
                  </a:ext>
                </a:extLst>
              </p:cNvPr>
              <p:cNvSpPr>
                <a:spLocks noChangeAspect="1"/>
              </p:cNvSpPr>
              <p:nvPr>
                <p:custDataLst>
                  <p:tags r:id="rId4"/>
                </p:custDataLst>
              </p:nvPr>
            </p:nvSpPr>
            <p:spPr>
              <a:xfrm>
                <a:off x="5253" y="865"/>
                <a:ext cx="454" cy="454"/>
              </a:xfrm>
              <a:prstGeom prst="ellipse">
                <a:avLst/>
              </a:prstGeom>
              <a:solidFill>
                <a:schemeClr val="bg1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anchor="t"/>
              <a:lstStyle/>
              <a:p>
                <a:endParaRPr lang="zh-CN" altLang="en-US" sz="2400">
                  <a:latin typeface="Arial" panose="020B0604020202020204" pitchFamily="34" charset="0"/>
                </a:endParaRPr>
              </a:p>
            </p:txBody>
          </p:sp>
          <p:sp>
            <p:nvSpPr>
              <p:cNvPr id="9" name="文本框 599105">
                <a:extLst>
                  <a:ext uri="{FF2B5EF4-FFF2-40B4-BE49-F238E27FC236}">
                    <a16:creationId xmlns:a16="http://schemas.microsoft.com/office/drawing/2014/main" id="{0E9AD0BF-A69C-1357-BF81-5B0BC92856EC}"/>
                  </a:ext>
                </a:extLst>
              </p:cNvPr>
              <p:cNvSpPr txBox="1"/>
              <p:nvPr>
                <p:custDataLst>
                  <p:tags r:id="rId5"/>
                </p:custDataLst>
              </p:nvPr>
            </p:nvSpPr>
            <p:spPr>
              <a:xfrm>
                <a:off x="5138" y="734"/>
                <a:ext cx="682" cy="716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lIns="0" tIns="0" rIns="0" bIns="0" anchor="ctr" anchorCtr="0"/>
              <a:lstStyle/>
              <a:p>
                <a:pPr algn="ctr"/>
                <a:r>
                  <a:rPr lang="en-US" altLang="zh-CN" sz="2400">
                    <a:solidFill>
                      <a:srgbClr val="000000"/>
                    </a:solidFill>
                    <a:latin typeface="黑体" panose="02010609060101010101" charset="-122"/>
                    <a:ea typeface="黑体" panose="02010609060101010101" charset="-122"/>
                  </a:rPr>
                  <a:t>A</a:t>
                </a: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834742398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77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787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791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32"/>
  <p:tag name="KSO_WM_BEAUTIFY_FLAG" val="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27"/>
  <p:tag name="KSO_WM_BEAUTIFY_FLAG" val="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95"/>
  <p:tag name="KSO_WM_BEAUTIFY_FLAG" val="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86"/>
  <p:tag name="KSO_WM_BEAUTIFY_FLAG" val="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87"/>
  <p:tag name="KSO_WM_BEAUTIFY_FLAG" val="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88"/>
  <p:tag name="KSO_WM_BEAUTIFY_FLAG" val="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89"/>
  <p:tag name="KSO_WM_BEAUTIFY_FLAG" val="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90"/>
  <p:tag name="KSO_WM_BEAUTIFY_FLAG" val="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96"/>
  <p:tag name="KSO_WM_BEAUTIFY_FLAG" val="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97"/>
  <p:tag name="KSO_WM_BEAUTIFY_FLAG" val="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02"/>
  <p:tag name="KSO_WM_BEAUTIFY_FLAG" val="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03"/>
  <p:tag name="KSO_WM_BEAUTIFY_FLAG" val="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04"/>
  <p:tag name="KSO_WM_BEAUTIFY_FLAG" val="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05"/>
  <p:tag name="KSO_WM_BEAUTIFY_FLAG" val="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06"/>
  <p:tag name="KSO_WM_BEAUTIFY_FLAG" val="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07"/>
  <p:tag name="KSO_WM_BEAUTIFY_FLAG" val="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08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13"/>
  <p:tag name="KSO_WM_BEAUTIFY_FLAG" val="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788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789"/>
  <p:tag name="KSO_WM_BEAUTIFY_FLAG" val="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790"/>
  <p:tag name="KSO_WM_BEAUTIFY_FLAG" val="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32"/>
  <p:tag name="KSO_WM_BEAUTIFY_FLAG" val="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27"/>
  <p:tag name="KSO_WM_BEAUTIFY_FLAG" val="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09"/>
  <p:tag name="KSO_WM_BEAUTIFY_FLAG" val="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10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11"/>
  <p:tag name="KSO_WM_BEAUTIFY_FLAG" val="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12"/>
  <p:tag name="KSO_WM_BEAUTIFY_FLAG" val="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78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79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80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81"/>
</p:tagLst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Stand Chinese">
      <a:majorFont>
        <a:latin typeface="Times New Roman"/>
        <a:ea typeface="宋体"/>
        <a:cs typeface=""/>
      </a:majorFont>
      <a:minorFont>
        <a:latin typeface="Times New Roman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功" id="{305D7A6B-F211-124E-A565-AFD60AE97881}" vid="{BCE79254-6837-AE48-BBE5-2699EE225D4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主题​​</Template>
  <TotalTime>23</TotalTime>
  <Words>182</Words>
  <Application>Microsoft Macintosh PowerPoint</Application>
  <PresentationFormat>Widescreen</PresentationFormat>
  <Paragraphs>15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0" baseType="lpstr">
      <vt:lpstr>黑体</vt:lpstr>
      <vt:lpstr>宋体</vt:lpstr>
      <vt:lpstr>Arial</vt:lpstr>
      <vt:lpstr>Times New Roman</vt:lpstr>
      <vt:lpstr>Office 主题​​</vt:lpstr>
      <vt:lpstr>电池电动势和内阻的测量</vt:lpstr>
      <vt:lpstr>实验步骤</vt:lpstr>
      <vt:lpstr>实验步骤</vt:lpstr>
      <vt:lpstr>数据处理</vt:lpstr>
      <vt:lpstr>试试另一种接法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Xingyu Shu</dc:creator>
  <cp:lastModifiedBy>Xingyu Shu</cp:lastModifiedBy>
  <cp:revision>2</cp:revision>
  <dcterms:created xsi:type="dcterms:W3CDTF">2025-09-15T06:56:15Z</dcterms:created>
  <dcterms:modified xsi:type="dcterms:W3CDTF">2026-09-09T01:05:10Z</dcterms:modified>
</cp:coreProperties>
</file>