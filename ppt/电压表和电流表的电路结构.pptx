
<file path=[Content_Types].xml><?xml version="1.0" encoding="utf-8"?>
<Types xmlns="http://schemas.openxmlformats.org/package/2006/content-types">
  <Default Extension="bin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9" r:id="rId4"/>
    <p:sldId id="270" r:id="rId5"/>
    <p:sldId id="272" r:id="rId6"/>
    <p:sldId id="273" r:id="rId7"/>
    <p:sldId id="274" r:id="rId8"/>
    <p:sldId id="332" r:id="rId9"/>
    <p:sldId id="275" r:id="rId10"/>
    <p:sldId id="311" r:id="rId11"/>
    <p:sldId id="276" r:id="rId12"/>
    <p:sldId id="278" r:id="rId13"/>
    <p:sldId id="313" r:id="rId14"/>
    <p:sldId id="279" r:id="rId15"/>
    <p:sldId id="314" r:id="rId16"/>
    <p:sldId id="281" r:id="rId17"/>
    <p:sldId id="264" r:id="rId18"/>
    <p:sldId id="283" r:id="rId19"/>
    <p:sldId id="285" r:id="rId20"/>
    <p:sldId id="316" r:id="rId21"/>
    <p:sldId id="289" r:id="rId22"/>
    <p:sldId id="318" r:id="rId23"/>
    <p:sldId id="266" r:id="rId24"/>
    <p:sldId id="290" r:id="rId25"/>
    <p:sldId id="319" r:id="rId26"/>
    <p:sldId id="292" r:id="rId27"/>
    <p:sldId id="320" r:id="rId28"/>
    <p:sldId id="293" r:id="rId29"/>
    <p:sldId id="321" r:id="rId30"/>
    <p:sldId id="294" r:id="rId31"/>
    <p:sldId id="322" r:id="rId32"/>
    <p:sldId id="267" r:id="rId33"/>
    <p:sldId id="333" r:id="rId34"/>
    <p:sldId id="334" r:id="rId35"/>
    <p:sldId id="335" r:id="rId36"/>
    <p:sldId id="336" r:id="rId37"/>
    <p:sldId id="337" r:id="rId38"/>
    <p:sldId id="338" r:id="rId39"/>
    <p:sldId id="339" r:id="rId40"/>
    <p:sldId id="340" r:id="rId41"/>
    <p:sldId id="341" r:id="rId42"/>
    <p:sldId id="342" r:id="rId43"/>
    <p:sldId id="343" r:id="rId44"/>
    <p:sldId id="344" r:id="rId45"/>
    <p:sldId id="345" r:id="rId46"/>
    <p:sldId id="346" r:id="rId47"/>
    <p:sldId id="347" r:id="rId48"/>
    <p:sldId id="348" r:id="rId49"/>
    <p:sldId id="349" r:id="rId50"/>
    <p:sldId id="350" r:id="rId51"/>
    <p:sldId id="351" r:id="rId52"/>
    <p:sldId id="352" r:id="rId53"/>
    <p:sldId id="353" r:id="rId54"/>
    <p:sldId id="354" r:id="rId55"/>
    <p:sldId id="355" r:id="rId5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80"/>
    <a:srgbClr val="BC3F00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003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3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75297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-2"/>
            <a:ext cx="12192000" cy="6875297"/>
          </a:xfrm>
          <a:prstGeom prst="rect">
            <a:avLst/>
          </a:prstGeom>
          <a:solidFill>
            <a:schemeClr val="bg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724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75297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-2"/>
            <a:ext cx="12192000" cy="6875297"/>
          </a:xfrm>
          <a:prstGeom prst="rect">
            <a:avLst/>
          </a:prstGeom>
          <a:solidFill>
            <a:schemeClr val="bg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>
            <a:hlinkClick r:id="rId3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26">
            <a:hlinkClick r:id="rId4" action="ppaction://hlinksldjump"/>
          </p:cNvPr>
          <p:cNvSpPr txBox="1"/>
          <p:nvPr userDrawn="1"/>
        </p:nvSpPr>
        <p:spPr>
          <a:xfrm>
            <a:off x="11519592" y="6454003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2514679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6"/>
          <p:cNvSpPr txBox="1"/>
          <p:nvPr userDrawn="1"/>
        </p:nvSpPr>
        <p:spPr>
          <a:xfrm>
            <a:off x="706382" y="28047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物理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·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必修第三册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0" y="8758"/>
            <a:ext cx="508986" cy="357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580369" y="14429"/>
            <a:ext cx="90025" cy="357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 userDrawn="1"/>
        </p:nvCxnSpPr>
        <p:spPr>
          <a:xfrm>
            <a:off x="773038" y="366455"/>
            <a:ext cx="11377264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圆角矩形 13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26">
            <a:hlinkClick r:id="rId3" action="ppaction://hlinksldjump"/>
          </p:cNvPr>
          <p:cNvSpPr txBox="1"/>
          <p:nvPr userDrawn="1"/>
        </p:nvSpPr>
        <p:spPr>
          <a:xfrm>
            <a:off x="11519592" y="6454003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327615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26">
            <a:hlinkClick r:id="rId3" action="ppaction://hlinksldjump"/>
          </p:cNvPr>
          <p:cNvSpPr txBox="1"/>
          <p:nvPr userDrawn="1"/>
        </p:nvSpPr>
        <p:spPr>
          <a:xfrm>
            <a:off x="11508077" y="6459951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1029805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0532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369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1" r:id="rId3"/>
    <p:sldLayoutId id="2147483650" r:id="rId4"/>
    <p:sldLayoutId id="214748365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4.bin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" Target="slide39.xml"/><Relationship Id="rId13" Type="http://schemas.openxmlformats.org/officeDocument/2006/relationships/slide" Target="slide49.xml"/><Relationship Id="rId3" Type="http://schemas.openxmlformats.org/officeDocument/2006/relationships/image" Target="../media/image41.png"/><Relationship Id="rId7" Type="http://schemas.openxmlformats.org/officeDocument/2006/relationships/slide" Target="slide38.xml"/><Relationship Id="rId12" Type="http://schemas.openxmlformats.org/officeDocument/2006/relationships/slide" Target="slide47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6" Type="http://schemas.openxmlformats.org/officeDocument/2006/relationships/slide" Target="slide37.xml"/><Relationship Id="rId11" Type="http://schemas.openxmlformats.org/officeDocument/2006/relationships/slide" Target="slide45.xml"/><Relationship Id="rId5" Type="http://schemas.openxmlformats.org/officeDocument/2006/relationships/slide" Target="slide35.xml"/><Relationship Id="rId15" Type="http://schemas.openxmlformats.org/officeDocument/2006/relationships/slide" Target="slide53.xml"/><Relationship Id="rId10" Type="http://schemas.openxmlformats.org/officeDocument/2006/relationships/slide" Target="slide43.xml"/><Relationship Id="rId4" Type="http://schemas.openxmlformats.org/officeDocument/2006/relationships/slide" Target="slide33.xml"/><Relationship Id="rId9" Type="http://schemas.openxmlformats.org/officeDocument/2006/relationships/slide" Target="slide41.xml"/><Relationship Id="rId14" Type="http://schemas.openxmlformats.org/officeDocument/2006/relationships/slide" Target="slide5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" Target="slide43.xml"/><Relationship Id="rId13" Type="http://schemas.openxmlformats.org/officeDocument/2006/relationships/slide" Target="slide53.xml"/><Relationship Id="rId3" Type="http://schemas.openxmlformats.org/officeDocument/2006/relationships/slide" Target="slide35.xml"/><Relationship Id="rId7" Type="http://schemas.openxmlformats.org/officeDocument/2006/relationships/slide" Target="slide41.xml"/><Relationship Id="rId12" Type="http://schemas.openxmlformats.org/officeDocument/2006/relationships/slide" Target="slide51.xml"/><Relationship Id="rId2" Type="http://schemas.openxmlformats.org/officeDocument/2006/relationships/slide" Target="slide33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9.xml"/><Relationship Id="rId11" Type="http://schemas.openxmlformats.org/officeDocument/2006/relationships/slide" Target="slide49.xml"/><Relationship Id="rId5" Type="http://schemas.openxmlformats.org/officeDocument/2006/relationships/slide" Target="slide38.xml"/><Relationship Id="rId10" Type="http://schemas.openxmlformats.org/officeDocument/2006/relationships/slide" Target="slide47.xml"/><Relationship Id="rId4" Type="http://schemas.openxmlformats.org/officeDocument/2006/relationships/slide" Target="slide37.xml"/><Relationship Id="rId9" Type="http://schemas.openxmlformats.org/officeDocument/2006/relationships/slide" Target="slide45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51.xml"/><Relationship Id="rId3" Type="http://schemas.openxmlformats.org/officeDocument/2006/relationships/slide" Target="slide33.xml"/><Relationship Id="rId7" Type="http://schemas.openxmlformats.org/officeDocument/2006/relationships/slide" Target="slide39.xml"/><Relationship Id="rId12" Type="http://schemas.openxmlformats.org/officeDocument/2006/relationships/slide" Target="slide49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6" Type="http://schemas.openxmlformats.org/officeDocument/2006/relationships/slide" Target="slide38.xml"/><Relationship Id="rId11" Type="http://schemas.openxmlformats.org/officeDocument/2006/relationships/slide" Target="slide47.xml"/><Relationship Id="rId5" Type="http://schemas.openxmlformats.org/officeDocument/2006/relationships/slide" Target="slide37.xml"/><Relationship Id="rId10" Type="http://schemas.openxmlformats.org/officeDocument/2006/relationships/slide" Target="slide45.xml"/><Relationship Id="rId4" Type="http://schemas.openxmlformats.org/officeDocument/2006/relationships/slide" Target="slide35.xml"/><Relationship Id="rId9" Type="http://schemas.openxmlformats.org/officeDocument/2006/relationships/slide" Target="slide43.xml"/><Relationship Id="rId14" Type="http://schemas.openxmlformats.org/officeDocument/2006/relationships/slide" Target="slide5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51.xml"/><Relationship Id="rId3" Type="http://schemas.openxmlformats.org/officeDocument/2006/relationships/slide" Target="slide33.xml"/><Relationship Id="rId7" Type="http://schemas.openxmlformats.org/officeDocument/2006/relationships/slide" Target="slide39.xml"/><Relationship Id="rId12" Type="http://schemas.openxmlformats.org/officeDocument/2006/relationships/slide" Target="slide49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Relationship Id="rId6" Type="http://schemas.openxmlformats.org/officeDocument/2006/relationships/slide" Target="slide38.xml"/><Relationship Id="rId11" Type="http://schemas.openxmlformats.org/officeDocument/2006/relationships/slide" Target="slide47.xml"/><Relationship Id="rId5" Type="http://schemas.openxmlformats.org/officeDocument/2006/relationships/slide" Target="slide37.xml"/><Relationship Id="rId10" Type="http://schemas.openxmlformats.org/officeDocument/2006/relationships/slide" Target="slide45.xml"/><Relationship Id="rId4" Type="http://schemas.openxmlformats.org/officeDocument/2006/relationships/slide" Target="slide35.xml"/><Relationship Id="rId9" Type="http://schemas.openxmlformats.org/officeDocument/2006/relationships/slide" Target="slide43.xml"/><Relationship Id="rId14" Type="http://schemas.openxmlformats.org/officeDocument/2006/relationships/slide" Target="slide53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51.xml"/><Relationship Id="rId3" Type="http://schemas.openxmlformats.org/officeDocument/2006/relationships/slide" Target="slide33.xml"/><Relationship Id="rId7" Type="http://schemas.openxmlformats.org/officeDocument/2006/relationships/slide" Target="slide39.xml"/><Relationship Id="rId12" Type="http://schemas.openxmlformats.org/officeDocument/2006/relationships/slide" Target="slide49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Relationship Id="rId6" Type="http://schemas.openxmlformats.org/officeDocument/2006/relationships/slide" Target="slide38.xml"/><Relationship Id="rId11" Type="http://schemas.openxmlformats.org/officeDocument/2006/relationships/slide" Target="slide47.xml"/><Relationship Id="rId5" Type="http://schemas.openxmlformats.org/officeDocument/2006/relationships/slide" Target="slide37.xml"/><Relationship Id="rId10" Type="http://schemas.openxmlformats.org/officeDocument/2006/relationships/slide" Target="slide45.xml"/><Relationship Id="rId4" Type="http://schemas.openxmlformats.org/officeDocument/2006/relationships/slide" Target="slide35.xml"/><Relationship Id="rId9" Type="http://schemas.openxmlformats.org/officeDocument/2006/relationships/slide" Target="slide43.xml"/><Relationship Id="rId14" Type="http://schemas.openxmlformats.org/officeDocument/2006/relationships/slide" Target="slide53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51.xml"/><Relationship Id="rId3" Type="http://schemas.openxmlformats.org/officeDocument/2006/relationships/slide" Target="slide33.xml"/><Relationship Id="rId7" Type="http://schemas.openxmlformats.org/officeDocument/2006/relationships/slide" Target="slide39.xml"/><Relationship Id="rId12" Type="http://schemas.openxmlformats.org/officeDocument/2006/relationships/slide" Target="slide49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6" Type="http://schemas.openxmlformats.org/officeDocument/2006/relationships/slide" Target="slide38.xml"/><Relationship Id="rId11" Type="http://schemas.openxmlformats.org/officeDocument/2006/relationships/slide" Target="slide47.xml"/><Relationship Id="rId5" Type="http://schemas.openxmlformats.org/officeDocument/2006/relationships/slide" Target="slide37.xml"/><Relationship Id="rId10" Type="http://schemas.openxmlformats.org/officeDocument/2006/relationships/slide" Target="slide45.xml"/><Relationship Id="rId4" Type="http://schemas.openxmlformats.org/officeDocument/2006/relationships/slide" Target="slide35.xml"/><Relationship Id="rId9" Type="http://schemas.openxmlformats.org/officeDocument/2006/relationships/slide" Target="slide43.xml"/><Relationship Id="rId14" Type="http://schemas.openxmlformats.org/officeDocument/2006/relationships/slide" Target="slide5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51.xml"/><Relationship Id="rId3" Type="http://schemas.openxmlformats.org/officeDocument/2006/relationships/slide" Target="slide33.xml"/><Relationship Id="rId7" Type="http://schemas.openxmlformats.org/officeDocument/2006/relationships/slide" Target="slide39.xml"/><Relationship Id="rId12" Type="http://schemas.openxmlformats.org/officeDocument/2006/relationships/slide" Target="slide49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6" Type="http://schemas.openxmlformats.org/officeDocument/2006/relationships/slide" Target="slide38.xml"/><Relationship Id="rId11" Type="http://schemas.openxmlformats.org/officeDocument/2006/relationships/slide" Target="slide47.xml"/><Relationship Id="rId5" Type="http://schemas.openxmlformats.org/officeDocument/2006/relationships/slide" Target="slide37.xml"/><Relationship Id="rId10" Type="http://schemas.openxmlformats.org/officeDocument/2006/relationships/slide" Target="slide45.xml"/><Relationship Id="rId4" Type="http://schemas.openxmlformats.org/officeDocument/2006/relationships/slide" Target="slide35.xml"/><Relationship Id="rId9" Type="http://schemas.openxmlformats.org/officeDocument/2006/relationships/slide" Target="slide43.xml"/><Relationship Id="rId14" Type="http://schemas.openxmlformats.org/officeDocument/2006/relationships/slide" Target="slide53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51.xml"/><Relationship Id="rId3" Type="http://schemas.openxmlformats.org/officeDocument/2006/relationships/slide" Target="slide33.xml"/><Relationship Id="rId7" Type="http://schemas.openxmlformats.org/officeDocument/2006/relationships/slide" Target="slide39.xml"/><Relationship Id="rId12" Type="http://schemas.openxmlformats.org/officeDocument/2006/relationships/slide" Target="slide49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6" Type="http://schemas.openxmlformats.org/officeDocument/2006/relationships/slide" Target="slide38.xml"/><Relationship Id="rId11" Type="http://schemas.openxmlformats.org/officeDocument/2006/relationships/slide" Target="slide47.xml"/><Relationship Id="rId5" Type="http://schemas.openxmlformats.org/officeDocument/2006/relationships/slide" Target="slide37.xml"/><Relationship Id="rId10" Type="http://schemas.openxmlformats.org/officeDocument/2006/relationships/slide" Target="slide45.xml"/><Relationship Id="rId4" Type="http://schemas.openxmlformats.org/officeDocument/2006/relationships/slide" Target="slide35.xml"/><Relationship Id="rId9" Type="http://schemas.openxmlformats.org/officeDocument/2006/relationships/slide" Target="slide43.xml"/><Relationship Id="rId14" Type="http://schemas.openxmlformats.org/officeDocument/2006/relationships/slide" Target="slide5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51.xml"/><Relationship Id="rId3" Type="http://schemas.openxmlformats.org/officeDocument/2006/relationships/slide" Target="slide33.xml"/><Relationship Id="rId7" Type="http://schemas.openxmlformats.org/officeDocument/2006/relationships/slide" Target="slide39.xml"/><Relationship Id="rId12" Type="http://schemas.openxmlformats.org/officeDocument/2006/relationships/slide" Target="slide49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6" Type="http://schemas.openxmlformats.org/officeDocument/2006/relationships/slide" Target="slide38.xml"/><Relationship Id="rId11" Type="http://schemas.openxmlformats.org/officeDocument/2006/relationships/slide" Target="slide47.xml"/><Relationship Id="rId5" Type="http://schemas.openxmlformats.org/officeDocument/2006/relationships/slide" Target="slide37.xml"/><Relationship Id="rId10" Type="http://schemas.openxmlformats.org/officeDocument/2006/relationships/slide" Target="slide45.xml"/><Relationship Id="rId4" Type="http://schemas.openxmlformats.org/officeDocument/2006/relationships/slide" Target="slide35.xml"/><Relationship Id="rId9" Type="http://schemas.openxmlformats.org/officeDocument/2006/relationships/slide" Target="slide43.xml"/><Relationship Id="rId14" Type="http://schemas.openxmlformats.org/officeDocument/2006/relationships/slide" Target="slide53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slide" Target="slide43.xml"/><Relationship Id="rId13" Type="http://schemas.openxmlformats.org/officeDocument/2006/relationships/slide" Target="slide53.xml"/><Relationship Id="rId3" Type="http://schemas.openxmlformats.org/officeDocument/2006/relationships/slide" Target="slide35.xml"/><Relationship Id="rId7" Type="http://schemas.openxmlformats.org/officeDocument/2006/relationships/slide" Target="slide41.xml"/><Relationship Id="rId12" Type="http://schemas.openxmlformats.org/officeDocument/2006/relationships/slide" Target="slide51.xml"/><Relationship Id="rId2" Type="http://schemas.openxmlformats.org/officeDocument/2006/relationships/slide" Target="slide33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9.xml"/><Relationship Id="rId11" Type="http://schemas.openxmlformats.org/officeDocument/2006/relationships/slide" Target="slide49.xml"/><Relationship Id="rId5" Type="http://schemas.openxmlformats.org/officeDocument/2006/relationships/slide" Target="slide38.xml"/><Relationship Id="rId10" Type="http://schemas.openxmlformats.org/officeDocument/2006/relationships/slide" Target="slide47.xml"/><Relationship Id="rId4" Type="http://schemas.openxmlformats.org/officeDocument/2006/relationships/slide" Target="slide37.xml"/><Relationship Id="rId9" Type="http://schemas.openxmlformats.org/officeDocument/2006/relationships/slide" Target="slide45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51.xml"/><Relationship Id="rId3" Type="http://schemas.openxmlformats.org/officeDocument/2006/relationships/slide" Target="slide33.xml"/><Relationship Id="rId7" Type="http://schemas.openxmlformats.org/officeDocument/2006/relationships/slide" Target="slide39.xml"/><Relationship Id="rId12" Type="http://schemas.openxmlformats.org/officeDocument/2006/relationships/slide" Target="slide49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6" Type="http://schemas.openxmlformats.org/officeDocument/2006/relationships/slide" Target="slide38.xml"/><Relationship Id="rId11" Type="http://schemas.openxmlformats.org/officeDocument/2006/relationships/slide" Target="slide47.xml"/><Relationship Id="rId5" Type="http://schemas.openxmlformats.org/officeDocument/2006/relationships/slide" Target="slide37.xml"/><Relationship Id="rId10" Type="http://schemas.openxmlformats.org/officeDocument/2006/relationships/slide" Target="slide45.xml"/><Relationship Id="rId4" Type="http://schemas.openxmlformats.org/officeDocument/2006/relationships/slide" Target="slide35.xml"/><Relationship Id="rId9" Type="http://schemas.openxmlformats.org/officeDocument/2006/relationships/slide" Target="slide43.xml"/><Relationship Id="rId14" Type="http://schemas.openxmlformats.org/officeDocument/2006/relationships/slide" Target="slide53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51.xml"/><Relationship Id="rId3" Type="http://schemas.openxmlformats.org/officeDocument/2006/relationships/slide" Target="slide33.xml"/><Relationship Id="rId7" Type="http://schemas.openxmlformats.org/officeDocument/2006/relationships/slide" Target="slide39.xml"/><Relationship Id="rId12" Type="http://schemas.openxmlformats.org/officeDocument/2006/relationships/slide" Target="slide49.xm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Relationship Id="rId6" Type="http://schemas.openxmlformats.org/officeDocument/2006/relationships/slide" Target="slide38.xml"/><Relationship Id="rId11" Type="http://schemas.openxmlformats.org/officeDocument/2006/relationships/slide" Target="slide47.xml"/><Relationship Id="rId5" Type="http://schemas.openxmlformats.org/officeDocument/2006/relationships/slide" Target="slide37.xml"/><Relationship Id="rId10" Type="http://schemas.openxmlformats.org/officeDocument/2006/relationships/slide" Target="slide45.xml"/><Relationship Id="rId4" Type="http://schemas.openxmlformats.org/officeDocument/2006/relationships/slide" Target="slide35.xml"/><Relationship Id="rId9" Type="http://schemas.openxmlformats.org/officeDocument/2006/relationships/slide" Target="slide43.xml"/><Relationship Id="rId14" Type="http://schemas.openxmlformats.org/officeDocument/2006/relationships/slide" Target="slide53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slide" Target="slide39.xml"/><Relationship Id="rId13" Type="http://schemas.openxmlformats.org/officeDocument/2006/relationships/slide" Target="slide49.xml"/><Relationship Id="rId3" Type="http://schemas.openxmlformats.org/officeDocument/2006/relationships/image" Target="../media/image52.png"/><Relationship Id="rId7" Type="http://schemas.openxmlformats.org/officeDocument/2006/relationships/slide" Target="slide38.xml"/><Relationship Id="rId12" Type="http://schemas.openxmlformats.org/officeDocument/2006/relationships/slide" Target="slide47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6" Type="http://schemas.openxmlformats.org/officeDocument/2006/relationships/slide" Target="slide37.xml"/><Relationship Id="rId11" Type="http://schemas.openxmlformats.org/officeDocument/2006/relationships/slide" Target="slide45.xml"/><Relationship Id="rId5" Type="http://schemas.openxmlformats.org/officeDocument/2006/relationships/slide" Target="slide35.xml"/><Relationship Id="rId15" Type="http://schemas.openxmlformats.org/officeDocument/2006/relationships/slide" Target="slide53.xml"/><Relationship Id="rId10" Type="http://schemas.openxmlformats.org/officeDocument/2006/relationships/slide" Target="slide43.xml"/><Relationship Id="rId4" Type="http://schemas.openxmlformats.org/officeDocument/2006/relationships/slide" Target="slide33.xml"/><Relationship Id="rId9" Type="http://schemas.openxmlformats.org/officeDocument/2006/relationships/slide" Target="slide41.xml"/><Relationship Id="rId14" Type="http://schemas.openxmlformats.org/officeDocument/2006/relationships/slide" Target="slide5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51.xml"/><Relationship Id="rId3" Type="http://schemas.openxmlformats.org/officeDocument/2006/relationships/slide" Target="slide33.xml"/><Relationship Id="rId7" Type="http://schemas.openxmlformats.org/officeDocument/2006/relationships/slide" Target="slide39.xml"/><Relationship Id="rId12" Type="http://schemas.openxmlformats.org/officeDocument/2006/relationships/slide" Target="slide49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Relationship Id="rId6" Type="http://schemas.openxmlformats.org/officeDocument/2006/relationships/slide" Target="slide38.xml"/><Relationship Id="rId11" Type="http://schemas.openxmlformats.org/officeDocument/2006/relationships/slide" Target="slide47.xml"/><Relationship Id="rId5" Type="http://schemas.openxmlformats.org/officeDocument/2006/relationships/slide" Target="slide37.xml"/><Relationship Id="rId10" Type="http://schemas.openxmlformats.org/officeDocument/2006/relationships/slide" Target="slide45.xml"/><Relationship Id="rId4" Type="http://schemas.openxmlformats.org/officeDocument/2006/relationships/slide" Target="slide35.xml"/><Relationship Id="rId9" Type="http://schemas.openxmlformats.org/officeDocument/2006/relationships/slide" Target="slide43.xml"/><Relationship Id="rId14" Type="http://schemas.openxmlformats.org/officeDocument/2006/relationships/slide" Target="slide53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51.xml"/><Relationship Id="rId3" Type="http://schemas.openxmlformats.org/officeDocument/2006/relationships/slide" Target="slide33.xml"/><Relationship Id="rId7" Type="http://schemas.openxmlformats.org/officeDocument/2006/relationships/slide" Target="slide39.xml"/><Relationship Id="rId12" Type="http://schemas.openxmlformats.org/officeDocument/2006/relationships/slide" Target="slide49.xm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Relationship Id="rId6" Type="http://schemas.openxmlformats.org/officeDocument/2006/relationships/slide" Target="slide38.xml"/><Relationship Id="rId11" Type="http://schemas.openxmlformats.org/officeDocument/2006/relationships/slide" Target="slide47.xml"/><Relationship Id="rId5" Type="http://schemas.openxmlformats.org/officeDocument/2006/relationships/slide" Target="slide37.xml"/><Relationship Id="rId10" Type="http://schemas.openxmlformats.org/officeDocument/2006/relationships/slide" Target="slide45.xml"/><Relationship Id="rId4" Type="http://schemas.openxmlformats.org/officeDocument/2006/relationships/slide" Target="slide35.xml"/><Relationship Id="rId9" Type="http://schemas.openxmlformats.org/officeDocument/2006/relationships/slide" Target="slide43.xml"/><Relationship Id="rId14" Type="http://schemas.openxmlformats.org/officeDocument/2006/relationships/slide" Target="slide53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51.xml"/><Relationship Id="rId3" Type="http://schemas.openxmlformats.org/officeDocument/2006/relationships/slide" Target="slide33.xml"/><Relationship Id="rId7" Type="http://schemas.openxmlformats.org/officeDocument/2006/relationships/slide" Target="slide39.xml"/><Relationship Id="rId12" Type="http://schemas.openxmlformats.org/officeDocument/2006/relationships/slide" Target="slide49.xml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Relationship Id="rId6" Type="http://schemas.openxmlformats.org/officeDocument/2006/relationships/slide" Target="slide38.xml"/><Relationship Id="rId11" Type="http://schemas.openxmlformats.org/officeDocument/2006/relationships/slide" Target="slide47.xml"/><Relationship Id="rId5" Type="http://schemas.openxmlformats.org/officeDocument/2006/relationships/slide" Target="slide37.xml"/><Relationship Id="rId10" Type="http://schemas.openxmlformats.org/officeDocument/2006/relationships/slide" Target="slide45.xml"/><Relationship Id="rId4" Type="http://schemas.openxmlformats.org/officeDocument/2006/relationships/slide" Target="slide35.xml"/><Relationship Id="rId9" Type="http://schemas.openxmlformats.org/officeDocument/2006/relationships/slide" Target="slide43.xml"/><Relationship Id="rId14" Type="http://schemas.openxmlformats.org/officeDocument/2006/relationships/slide" Target="slide53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51.xml"/><Relationship Id="rId3" Type="http://schemas.openxmlformats.org/officeDocument/2006/relationships/slide" Target="slide33.xml"/><Relationship Id="rId7" Type="http://schemas.openxmlformats.org/officeDocument/2006/relationships/slide" Target="slide39.xml"/><Relationship Id="rId12" Type="http://schemas.openxmlformats.org/officeDocument/2006/relationships/slide" Target="slide49.xm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6" Type="http://schemas.openxmlformats.org/officeDocument/2006/relationships/slide" Target="slide38.xml"/><Relationship Id="rId11" Type="http://schemas.openxmlformats.org/officeDocument/2006/relationships/slide" Target="slide47.xml"/><Relationship Id="rId5" Type="http://schemas.openxmlformats.org/officeDocument/2006/relationships/slide" Target="slide37.xml"/><Relationship Id="rId10" Type="http://schemas.openxmlformats.org/officeDocument/2006/relationships/slide" Target="slide45.xml"/><Relationship Id="rId4" Type="http://schemas.openxmlformats.org/officeDocument/2006/relationships/slide" Target="slide35.xml"/><Relationship Id="rId9" Type="http://schemas.openxmlformats.org/officeDocument/2006/relationships/slide" Target="slide43.xml"/><Relationship Id="rId14" Type="http://schemas.openxmlformats.org/officeDocument/2006/relationships/slide" Target="slide53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51.xml"/><Relationship Id="rId3" Type="http://schemas.openxmlformats.org/officeDocument/2006/relationships/slide" Target="slide33.xml"/><Relationship Id="rId7" Type="http://schemas.openxmlformats.org/officeDocument/2006/relationships/slide" Target="slide39.xml"/><Relationship Id="rId12" Type="http://schemas.openxmlformats.org/officeDocument/2006/relationships/slide" Target="slide49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6" Type="http://schemas.openxmlformats.org/officeDocument/2006/relationships/slide" Target="slide38.xml"/><Relationship Id="rId11" Type="http://schemas.openxmlformats.org/officeDocument/2006/relationships/slide" Target="slide47.xml"/><Relationship Id="rId5" Type="http://schemas.openxmlformats.org/officeDocument/2006/relationships/slide" Target="slide37.xml"/><Relationship Id="rId10" Type="http://schemas.openxmlformats.org/officeDocument/2006/relationships/slide" Target="slide45.xml"/><Relationship Id="rId4" Type="http://schemas.openxmlformats.org/officeDocument/2006/relationships/slide" Target="slide35.xml"/><Relationship Id="rId9" Type="http://schemas.openxmlformats.org/officeDocument/2006/relationships/slide" Target="slide43.xml"/><Relationship Id="rId14" Type="http://schemas.openxmlformats.org/officeDocument/2006/relationships/slide" Target="slide53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51.xml"/><Relationship Id="rId3" Type="http://schemas.openxmlformats.org/officeDocument/2006/relationships/slide" Target="slide33.xml"/><Relationship Id="rId7" Type="http://schemas.openxmlformats.org/officeDocument/2006/relationships/slide" Target="slide39.xml"/><Relationship Id="rId12" Type="http://schemas.openxmlformats.org/officeDocument/2006/relationships/slide" Target="slide49.xm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6" Type="http://schemas.openxmlformats.org/officeDocument/2006/relationships/slide" Target="slide38.xml"/><Relationship Id="rId11" Type="http://schemas.openxmlformats.org/officeDocument/2006/relationships/slide" Target="slide47.xml"/><Relationship Id="rId5" Type="http://schemas.openxmlformats.org/officeDocument/2006/relationships/slide" Target="slide37.xml"/><Relationship Id="rId10" Type="http://schemas.openxmlformats.org/officeDocument/2006/relationships/slide" Target="slide45.xml"/><Relationship Id="rId4" Type="http://schemas.openxmlformats.org/officeDocument/2006/relationships/slide" Target="slide35.xml"/><Relationship Id="rId9" Type="http://schemas.openxmlformats.org/officeDocument/2006/relationships/slide" Target="slide43.xml"/><Relationship Id="rId14" Type="http://schemas.openxmlformats.org/officeDocument/2006/relationships/slide" Target="slide53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51.xml"/><Relationship Id="rId3" Type="http://schemas.openxmlformats.org/officeDocument/2006/relationships/slide" Target="slide33.xml"/><Relationship Id="rId7" Type="http://schemas.openxmlformats.org/officeDocument/2006/relationships/slide" Target="slide39.xml"/><Relationship Id="rId12" Type="http://schemas.openxmlformats.org/officeDocument/2006/relationships/slide" Target="slide49.xm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6" Type="http://schemas.openxmlformats.org/officeDocument/2006/relationships/slide" Target="slide38.xml"/><Relationship Id="rId11" Type="http://schemas.openxmlformats.org/officeDocument/2006/relationships/slide" Target="slide47.xml"/><Relationship Id="rId5" Type="http://schemas.openxmlformats.org/officeDocument/2006/relationships/slide" Target="slide37.xml"/><Relationship Id="rId10" Type="http://schemas.openxmlformats.org/officeDocument/2006/relationships/slide" Target="slide45.xml"/><Relationship Id="rId4" Type="http://schemas.openxmlformats.org/officeDocument/2006/relationships/slide" Target="slide35.xml"/><Relationship Id="rId9" Type="http://schemas.openxmlformats.org/officeDocument/2006/relationships/slide" Target="slide43.xml"/><Relationship Id="rId14" Type="http://schemas.openxmlformats.org/officeDocument/2006/relationships/slide" Target="slide53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slide" Target="slide39.xml"/><Relationship Id="rId13" Type="http://schemas.openxmlformats.org/officeDocument/2006/relationships/slide" Target="slide49.xml"/><Relationship Id="rId3" Type="http://schemas.openxmlformats.org/officeDocument/2006/relationships/image" Target="../media/image61.png"/><Relationship Id="rId7" Type="http://schemas.openxmlformats.org/officeDocument/2006/relationships/slide" Target="slide38.xml"/><Relationship Id="rId12" Type="http://schemas.openxmlformats.org/officeDocument/2006/relationships/slide" Target="slide47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Relationship Id="rId6" Type="http://schemas.openxmlformats.org/officeDocument/2006/relationships/slide" Target="slide37.xml"/><Relationship Id="rId11" Type="http://schemas.openxmlformats.org/officeDocument/2006/relationships/slide" Target="slide45.xml"/><Relationship Id="rId5" Type="http://schemas.openxmlformats.org/officeDocument/2006/relationships/slide" Target="slide35.xml"/><Relationship Id="rId15" Type="http://schemas.openxmlformats.org/officeDocument/2006/relationships/slide" Target="slide53.xml"/><Relationship Id="rId10" Type="http://schemas.openxmlformats.org/officeDocument/2006/relationships/slide" Target="slide43.xml"/><Relationship Id="rId4" Type="http://schemas.openxmlformats.org/officeDocument/2006/relationships/slide" Target="slide33.xml"/><Relationship Id="rId9" Type="http://schemas.openxmlformats.org/officeDocument/2006/relationships/slide" Target="slide41.xml"/><Relationship Id="rId14" Type="http://schemas.openxmlformats.org/officeDocument/2006/relationships/slide" Target="slide51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slide" Target="slide43.xml"/><Relationship Id="rId13" Type="http://schemas.openxmlformats.org/officeDocument/2006/relationships/slide" Target="slide53.xml"/><Relationship Id="rId3" Type="http://schemas.openxmlformats.org/officeDocument/2006/relationships/slide" Target="slide35.xml"/><Relationship Id="rId7" Type="http://schemas.openxmlformats.org/officeDocument/2006/relationships/slide" Target="slide41.xml"/><Relationship Id="rId12" Type="http://schemas.openxmlformats.org/officeDocument/2006/relationships/slide" Target="slide51.xml"/><Relationship Id="rId2" Type="http://schemas.openxmlformats.org/officeDocument/2006/relationships/slide" Target="slide33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9.xml"/><Relationship Id="rId11" Type="http://schemas.openxmlformats.org/officeDocument/2006/relationships/slide" Target="slide49.xml"/><Relationship Id="rId5" Type="http://schemas.openxmlformats.org/officeDocument/2006/relationships/slide" Target="slide38.xml"/><Relationship Id="rId10" Type="http://schemas.openxmlformats.org/officeDocument/2006/relationships/slide" Target="slide47.xml"/><Relationship Id="rId4" Type="http://schemas.openxmlformats.org/officeDocument/2006/relationships/slide" Target="slide37.xml"/><Relationship Id="rId9" Type="http://schemas.openxmlformats.org/officeDocument/2006/relationships/slide" Target="slide4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YTSlide_10_1_0.9_1.3_0.9_1.1__1_1_0_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" y="2144142"/>
            <a:ext cx="12208713" cy="290410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050" y="2152649"/>
            <a:ext cx="12192000" cy="2895600"/>
          </a:xfrm>
          <a:prstGeom prst="rect">
            <a:avLst/>
          </a:prstGeom>
          <a:solidFill>
            <a:schemeClr val="tx1">
              <a:lumMod val="50000"/>
              <a:lumOff val="50000"/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8016" y="2845494"/>
            <a:ext cx="1219200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latinLnBrk="0" hangingPunct="0"/>
            <a:r>
              <a:rPr lang="zh-CN" altLang="en-US" sz="5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第2课时　电压表和电流表的电路结构</a:t>
            </a:r>
          </a:p>
        </p:txBody>
      </p:sp>
    </p:spTree>
    <p:extLst>
      <p:ext uri="{BB962C8B-B14F-4D97-AF65-F5344CB8AC3E}">
        <p14:creationId xmlns:p14="http://schemas.microsoft.com/office/powerpoint/2010/main" val="35294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428750"/>
            <a:ext cx="12192000" cy="367030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3953061" y="2060475"/>
            <a:ext cx="0" cy="595635"/>
          </a:xfrm>
          <a:prstGeom prst="line">
            <a:avLst/>
          </a:prstGeom>
          <a:ln w="22225">
            <a:solidFill>
              <a:srgbClr val="22252A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644576" y="3302066"/>
            <a:ext cx="0" cy="595635"/>
          </a:xfrm>
          <a:prstGeom prst="line">
            <a:avLst/>
          </a:prstGeom>
          <a:ln w="22225">
            <a:solidFill>
              <a:srgbClr val="C00000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948306" y="2068901"/>
            <a:ext cx="1798820" cy="1798820"/>
            <a:chOff x="2329306" y="2634955"/>
            <a:chExt cx="1798820" cy="1798820"/>
          </a:xfrm>
        </p:grpSpPr>
        <p:sp>
          <p:nvSpPr>
            <p:cNvPr id="13" name="矩形 12"/>
            <p:cNvSpPr/>
            <p:nvPr/>
          </p:nvSpPr>
          <p:spPr>
            <a:xfrm>
              <a:off x="2329306" y="2634955"/>
              <a:ext cx="1798820" cy="17988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797975" y="2969317"/>
              <a:ext cx="864339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6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01</a:t>
              </a:r>
              <a:endParaRPr lang="zh-CN" altLang="en-US" sz="66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814911" y="3723965"/>
              <a:ext cx="8178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PART</a:t>
              </a:r>
              <a:endParaRPr lang="zh-CN" altLang="en-US" sz="24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</p:grpSp>
      <p:sp>
        <p:nvSpPr>
          <p:cNvPr id="16" name="文本框 15">
            <a:hlinkClick r:id="rId2" action="ppaction://hlinksldjump"/>
          </p:cNvPr>
          <p:cNvSpPr txBox="1"/>
          <p:nvPr/>
        </p:nvSpPr>
        <p:spPr>
          <a:xfrm>
            <a:off x="4543575" y="1942793"/>
            <a:ext cx="26468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知识点</a:t>
            </a:r>
          </a:p>
        </p:txBody>
      </p:sp>
      <p:sp>
        <p:nvSpPr>
          <p:cNvPr id="17" name="文本框 16">
            <a:hlinkClick r:id="rId2" action="ppaction://hlinksldjump"/>
          </p:cNvPr>
          <p:cNvSpPr txBox="1"/>
          <p:nvPr/>
        </p:nvSpPr>
        <p:spPr>
          <a:xfrm>
            <a:off x="4553834" y="3037082"/>
            <a:ext cx="69557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电压表和电流表的电路结构</a:t>
            </a:r>
          </a:p>
        </p:txBody>
      </p:sp>
    </p:spTree>
    <p:extLst>
      <p:ext uri="{BB962C8B-B14F-4D97-AF65-F5344CB8AC3E}">
        <p14:creationId xmlns:p14="http://schemas.microsoft.com/office/powerpoint/2010/main" val="355885603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36" name="yt_image_14936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7015" y="391574"/>
            <a:ext cx="2431845" cy="63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38" name="yt_shape_14938"/>
          <p:cNvSpPr txBox="1"/>
          <p:nvPr/>
        </p:nvSpPr>
        <p:spPr>
          <a:xfrm>
            <a:off x="267015" y="1081983"/>
            <a:ext cx="10541347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情境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小量程电流表的满偏电流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。</a:t>
            </a:r>
          </a:p>
        </p:txBody>
      </p:sp>
      <p:pic>
        <p:nvPicPr>
          <p:cNvPr id="14939" name="yt_image_14939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62264" y="1818358"/>
            <a:ext cx="1753500" cy="1135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41" name="yt_shape_14941"/>
          <p:cNvSpPr txBox="1"/>
          <p:nvPr/>
        </p:nvSpPr>
        <p:spPr>
          <a:xfrm>
            <a:off x="267086" y="3003957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问题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小量程电流表的指针满偏时两端的电压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多大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2cfb5"/>
              </a:rPr>
              <a:t>能用它直接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测量较大的电压吗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</a:p>
        </p:txBody>
      </p:sp>
      <p:sp>
        <p:nvSpPr>
          <p:cNvPr id="14942" name="yt_shape_14942"/>
          <p:cNvSpPr txBox="1"/>
          <p:nvPr/>
        </p:nvSpPr>
        <p:spPr>
          <a:xfrm>
            <a:off x="267015" y="4171013"/>
            <a:ext cx="5073440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提示：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不能。</a:t>
            </a:r>
          </a:p>
        </p:txBody>
      </p:sp>
      <p:sp>
        <p:nvSpPr>
          <p:cNvPr id="8" name="yt_shape_14943"/>
          <p:cNvSpPr txBox="1"/>
          <p:nvPr/>
        </p:nvSpPr>
        <p:spPr>
          <a:xfrm>
            <a:off x="146271" y="4900042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小量程电流表的满偏电流</a:t>
            </a:r>
            <a:r>
              <a:rPr lang="en-US" altLang="zh-CN" sz="2800" b="0" i="1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spc="150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mA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1_38ff5"/>
              </a:rPr>
              <a:t>能用它直接测量较大的电</a:t>
            </a:r>
            <a:b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流吗</a:t>
            </a:r>
            <a:r>
              <a:rPr lang="zh-CN" altLang="zh-CN" sz="2800" b="0" i="0" u="none" spc="150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？</a:t>
            </a:r>
          </a:p>
        </p:txBody>
      </p:sp>
      <p:sp>
        <p:nvSpPr>
          <p:cNvPr id="9" name="yt_shape_14944"/>
          <p:cNvSpPr txBox="1"/>
          <p:nvPr/>
        </p:nvSpPr>
        <p:spPr>
          <a:xfrm>
            <a:off x="222400" y="6067098"/>
            <a:ext cx="2154436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提示：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不能。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42" grpId="0" build="allAtOnce"/>
      <p:bldP spid="8" grpId="0"/>
      <p:bldP spid="9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6" name="yt_shape_14946"/>
          <p:cNvSpPr txBox="1"/>
          <p:nvPr/>
        </p:nvSpPr>
        <p:spPr>
          <a:xfrm>
            <a:off x="324000" y="467999"/>
            <a:ext cx="2457789" cy="56534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950" b="0" i="0" u="none" spc="-2950">
                <a:solidFill>
                  <a:srgbClr val="1EE3CF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2950" b="0" i="0" u="none" spc="18428">
                <a:solidFill>
                  <a:srgbClr val="1EE3CF"/>
                </a:solidFill>
                <a:effectLst/>
                <a:latin typeface="Times New Roman" pitchFamily="30"/>
                <a:ea typeface="宋体" pitchFamily="30"/>
              </a:rPr>
              <a:t> </a:t>
            </a:r>
          </a:p>
        </p:txBody>
      </p:sp>
      <p:pic>
        <p:nvPicPr>
          <p:cNvPr id="14945" name="yt_image_14945" title="H_50.37496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4000" y="467999"/>
            <a:ext cx="2431845" cy="63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48" name="yt_shape_14948"/>
          <p:cNvSpPr txBox="1"/>
          <p:nvPr/>
        </p:nvSpPr>
        <p:spPr>
          <a:xfrm>
            <a:off x="324000" y="1158408"/>
            <a:ext cx="6094617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小量程电流表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表头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的三个参量</a:t>
            </a:r>
          </a:p>
        </p:txBody>
      </p:sp>
      <p:pic>
        <p:nvPicPr>
          <p:cNvPr id="14949" name="yt_image_14949" title="H_209.37495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58677" y="2028530"/>
            <a:ext cx="7696845" cy="292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5839334" y="2034880"/>
            <a:ext cx="675766" cy="3865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7998334" y="2714330"/>
            <a:ext cx="1336166" cy="3865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7826884" y="3593403"/>
            <a:ext cx="1336166" cy="3865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1" name="yt_shape_14951"/>
          <p:cNvSpPr txBox="1"/>
          <p:nvPr/>
        </p:nvSpPr>
        <p:spPr>
          <a:xfrm>
            <a:off x="324000" y="467999"/>
            <a:ext cx="2603277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电表改装原理</a:t>
            </a:r>
          </a:p>
        </p:txBody>
      </p:sp>
      <p:sp>
        <p:nvSpPr>
          <p:cNvPr id="14952" name="yt_shape_14952"/>
          <p:cNvSpPr txBox="1"/>
          <p:nvPr/>
        </p:nvSpPr>
        <p:spPr>
          <a:xfrm>
            <a:off x="324071" y="1052010"/>
            <a:ext cx="11543998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表头改装成电压表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将表头</a:t>
            </a:r>
            <a:r>
              <a:rPr sz="28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  </a:t>
            </a:r>
            <a:r>
              <a:rPr sz="8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联一个较</a:t>
            </a:r>
            <a:r>
              <a:rPr sz="28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  </a:t>
            </a:r>
            <a:r>
              <a:rPr sz="8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82603,isEnd"/>
              </a:rPr>
              <a:t>该电阻常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被叫作</a:t>
            </a:r>
            <a:r>
              <a:rPr sz="24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        </a:t>
            </a:r>
            <a:r>
              <a:rPr sz="4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如图甲所示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,isEnd"/>
              </a:rPr>
              <a:t>。</a:t>
            </a:r>
          </a:p>
        </p:txBody>
      </p:sp>
      <p:pic>
        <p:nvPicPr>
          <p:cNvPr id="14953" name="yt_image_14953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19232" y="2371430"/>
            <a:ext cx="5953535" cy="1477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55" name="yt_shape_14955"/>
          <p:cNvSpPr txBox="1"/>
          <p:nvPr/>
        </p:nvSpPr>
        <p:spPr>
          <a:xfrm>
            <a:off x="324071" y="3734754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表头改装成电流表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将表头</a:t>
            </a:r>
            <a:r>
              <a:rPr sz="28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  </a:t>
            </a:r>
            <a:r>
              <a:rPr sz="8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联一个较</a:t>
            </a:r>
            <a:r>
              <a:rPr sz="28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  </a:t>
            </a:r>
            <a:r>
              <a:rPr sz="8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64541,isEnd"/>
              </a:rPr>
              <a:t>该电阻常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被叫作</a:t>
            </a:r>
            <a:r>
              <a:rPr sz="24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        </a:t>
            </a:r>
            <a:r>
              <a:rPr sz="4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如图乙所示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,isEnd"/>
              </a:rPr>
              <a:t>。</a:t>
            </a:r>
          </a:p>
        </p:txBody>
      </p:sp>
      <p:pic>
        <p:nvPicPr>
          <p:cNvPr id="14956" name="yt_image_14956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69496" y="4897828"/>
            <a:ext cx="6053005" cy="169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8AD1626-ECDA-4EAC-4503-758870D1493D}"/>
              </a:ext>
            </a:extLst>
          </p:cNvPr>
          <p:cNvSpPr txBox="1"/>
          <p:nvPr/>
        </p:nvSpPr>
        <p:spPr>
          <a:xfrm>
            <a:off x="5745860" y="1005204"/>
            <a:ext cx="891286" cy="69102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串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　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86240A-C10A-8EDD-3F3B-0D44A42289E5}"/>
              </a:ext>
            </a:extLst>
          </p:cNvPr>
          <p:cNvSpPr txBox="1"/>
          <p:nvPr/>
        </p:nvSpPr>
        <p:spPr>
          <a:xfrm>
            <a:off x="8235059" y="1005204"/>
            <a:ext cx="891286" cy="69102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大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　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DA8E317-1CAF-953C-B914-B4C77D796438}"/>
              </a:ext>
            </a:extLst>
          </p:cNvPr>
          <p:cNvSpPr txBox="1"/>
          <p:nvPr/>
        </p:nvSpPr>
        <p:spPr>
          <a:xfrm>
            <a:off x="1656460" y="1602612"/>
            <a:ext cx="1246887" cy="601676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分压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　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33D6F7-1E0E-DF07-0C05-0733F7497422}"/>
              </a:ext>
            </a:extLst>
          </p:cNvPr>
          <p:cNvSpPr txBox="1"/>
          <p:nvPr/>
        </p:nvSpPr>
        <p:spPr>
          <a:xfrm>
            <a:off x="5745860" y="3687948"/>
            <a:ext cx="891286" cy="69102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并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　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3D1BE5-BF58-2299-32F6-5C6249EBFC2C}"/>
              </a:ext>
            </a:extLst>
          </p:cNvPr>
          <p:cNvSpPr txBox="1"/>
          <p:nvPr/>
        </p:nvSpPr>
        <p:spPr>
          <a:xfrm>
            <a:off x="8235059" y="3687948"/>
            <a:ext cx="891286" cy="69102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小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　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EC79E6-0AC6-E6BF-A883-AF0868620C68}"/>
              </a:ext>
            </a:extLst>
          </p:cNvPr>
          <p:cNvSpPr txBox="1"/>
          <p:nvPr/>
        </p:nvSpPr>
        <p:spPr>
          <a:xfrm>
            <a:off x="1656460" y="4285356"/>
            <a:ext cx="1246887" cy="601676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分流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　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5" grpId="0" build="allAtOnce"/>
      <p:bldP spid="2" grpId="0" build="allAtOnce"/>
      <p:bldP spid="3" grpId="0" build="allAtOnce"/>
      <p:bldP spid="4" grpId="0" build="allAtOnce"/>
      <p:bldP spid="5" grpId="0" build="allAtOnce"/>
      <p:bldP spid="6" grpId="0" build="allAtOnce"/>
      <p:bldP spid="7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8" name="yt_shape_14958"/>
          <p:cNvSpPr txBox="1"/>
          <p:nvPr/>
        </p:nvSpPr>
        <p:spPr>
          <a:xfrm>
            <a:off x="324000" y="467999"/>
            <a:ext cx="2154436" cy="5379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31849B"/>
                </a:solidFill>
                <a:effectLst/>
                <a:latin typeface="微软雅黑" pitchFamily="28"/>
                <a:ea typeface="微软雅黑" pitchFamily="28"/>
              </a:rPr>
              <a:t>【易错辨析】</a:t>
            </a:r>
          </a:p>
        </p:txBody>
      </p:sp>
      <p:sp>
        <p:nvSpPr>
          <p:cNvPr id="14959" name="yt_shape_14959"/>
          <p:cNvSpPr txBox="1"/>
          <p:nvPr/>
        </p:nvSpPr>
        <p:spPr>
          <a:xfrm>
            <a:off x="324071" y="1056691"/>
            <a:ext cx="11543998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  <a:tabLst>
                <a:tab pos="9586393" algn="l"/>
              </a:tabLst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把小量程的电流表改装成大量程的电流表后表头的三个参量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bf31b"/>
              </a:rPr>
              <a:t>、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都变大了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en-US" altLang="zh-CN" sz="300" b="0" i="0" u="none">
                <a:solidFill>
                  <a:srgbClr val="000000"/>
                </a:solidFill>
                <a:effectLst/>
                <a:latin typeface="Times New Roman" pitchFamily="3"/>
                <a:ea typeface="宋体" pitchFamily="3"/>
              </a:rPr>
              <a:t>	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3D4263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zh-CN" altLang="zh-CN" sz="2800" b="0" i="0" u="none">
                <a:solidFill>
                  <a:srgbClr val="3D4263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sp>
        <p:nvSpPr>
          <p:cNvPr id="14960" name="yt_shape_14960"/>
          <p:cNvSpPr txBox="1"/>
          <p:nvPr/>
        </p:nvSpPr>
        <p:spPr>
          <a:xfrm>
            <a:off x="324071" y="2242918"/>
            <a:ext cx="11543998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  <a:tabLst>
                <a:tab pos="9586393" algn="l"/>
              </a:tabLst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小量程的电流表串联的分压电阻越大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改装后电压表的量程越大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7b953"/>
              </a:rPr>
              <a:t>。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300" b="0" i="0" u="none">
                <a:solidFill>
                  <a:srgbClr val="000000"/>
                </a:solidFill>
                <a:effectLst/>
                <a:latin typeface="Times New Roman" pitchFamily="3"/>
                <a:ea typeface="宋体" pitchFamily="3"/>
              </a:rPr>
              <a:t>	</a:t>
            </a:r>
            <a:r>
              <a:rPr lang="zh-CN" altLang="zh-CN" sz="2800" b="0" i="0" u="none" spc="2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 spc="250">
                <a:solidFill>
                  <a:srgbClr val="3D4263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 spc="250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Times New Roman" pitchFamily="28"/>
              </a:rPr>
              <a:t>√</a:t>
            </a:r>
            <a:r>
              <a:rPr lang="zh-CN" altLang="zh-CN" sz="2800" b="0" i="0" u="none" spc="250">
                <a:solidFill>
                  <a:srgbClr val="3D4263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 spc="2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sp>
        <p:nvSpPr>
          <p:cNvPr id="14961" name="yt_shape_14961"/>
          <p:cNvSpPr txBox="1"/>
          <p:nvPr/>
        </p:nvSpPr>
        <p:spPr>
          <a:xfrm>
            <a:off x="324071" y="3429145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  <a:tabLst>
                <a:tab pos="9586393" algn="l"/>
              </a:tabLst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小量程的电流表并联的分流电阻越大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改装后电压表的量程越大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f9f70"/>
              </a:rPr>
              <a:t>。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300" b="0" i="0" u="none">
                <a:solidFill>
                  <a:srgbClr val="000000"/>
                </a:solidFill>
                <a:effectLst/>
                <a:latin typeface="Times New Roman" pitchFamily="3"/>
                <a:ea typeface="宋体" pitchFamily="3"/>
              </a:rPr>
              <a:t>	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3D4263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zh-CN" altLang="zh-CN" sz="2800" b="0" i="0" u="none">
                <a:solidFill>
                  <a:srgbClr val="3D4263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0E53725-60B1-94C9-82DC-3697139A20C7}"/>
              </a:ext>
            </a:extLst>
          </p:cNvPr>
          <p:cNvSpPr txBox="1"/>
          <p:nvPr/>
        </p:nvSpPr>
        <p:spPr>
          <a:xfrm>
            <a:off x="10531855" y="1607293"/>
            <a:ext cx="535686" cy="620662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itchFamily="28"/>
                <a:ea typeface="宋体" pitchFamily="28"/>
              </a:rPr>
              <a:t>×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C4D99D-DF50-DC3A-3F38-1CF6980F2356}"/>
              </a:ext>
            </a:extLst>
          </p:cNvPr>
          <p:cNvSpPr txBox="1"/>
          <p:nvPr/>
        </p:nvSpPr>
        <p:spPr>
          <a:xfrm>
            <a:off x="10595355" y="2793520"/>
            <a:ext cx="407099" cy="620662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zh-CN" altLang="zh-CN" sz="2800" b="0" i="0" strike="noStrike" kern="1200" cap="none" spc="25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Times New Roman" pitchFamily="28"/>
              </a:rPr>
              <a:t>√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9283DA-772A-D95D-3F29-A75B23C98E4A}"/>
              </a:ext>
            </a:extLst>
          </p:cNvPr>
          <p:cNvSpPr txBox="1"/>
          <p:nvPr/>
        </p:nvSpPr>
        <p:spPr>
          <a:xfrm>
            <a:off x="10531855" y="3979747"/>
            <a:ext cx="535686" cy="601676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itchFamily="28"/>
                <a:ea typeface="宋体" pitchFamily="28"/>
              </a:rPr>
              <a:t>×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p14="http://schemas.microsoft.com/office/powerpoint/2010/main" xmlns:a16="http://schemas.microsoft.com/office/drawing/2014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9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9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60" grpId="0" build="allAtOnce"/>
      <p:bldP spid="14961" grpId="0" build="allAtOnce"/>
      <p:bldP spid="2" grpId="0" build="allAtOnce"/>
      <p:bldP spid="3" grpId="0" build="allAtOnce"/>
      <p:bldP spid="4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3" name="yt_shape_14963"/>
          <p:cNvSpPr txBox="1"/>
          <p:nvPr/>
        </p:nvSpPr>
        <p:spPr>
          <a:xfrm>
            <a:off x="324000" y="467999"/>
            <a:ext cx="2457789" cy="56534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950" b="0" i="0" u="none" spc="-2950">
                <a:solidFill>
                  <a:srgbClr val="1EE3CF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2950" b="0" i="0" u="none" spc="18428">
                <a:solidFill>
                  <a:srgbClr val="1EE3CF"/>
                </a:solidFill>
                <a:effectLst/>
                <a:latin typeface="Times New Roman" pitchFamily="30"/>
                <a:ea typeface="宋体" pitchFamily="30"/>
              </a:rPr>
              <a:t> </a:t>
            </a:r>
          </a:p>
        </p:txBody>
      </p:sp>
      <p:pic>
        <p:nvPicPr>
          <p:cNvPr id="14962" name="yt_image_14962">
            <a:extLst>
              <a:ext uri="">
                <a16:creationId xmlns="" xmlns:a14="http://schemas.microsoft.com/office/drawing/2010/main" xmlns:p14="http://schemas.microsoft.com/office/powerpoint/2010/main" xmlns:mc="http://schemas.openxmlformats.org/markup-compatibility/2006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4000" y="467999"/>
            <a:ext cx="2431845" cy="63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65" name="yt_shape_14965"/>
          <p:cNvSpPr txBox="1"/>
          <p:nvPr/>
        </p:nvSpPr>
        <p:spPr>
          <a:xfrm>
            <a:off x="3402955" y="1158408"/>
            <a:ext cx="5386090" cy="5379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表头改装成电压表、电流表的比较</a:t>
            </a:r>
          </a:p>
        </p:txBody>
      </p:sp>
      <p:graphicFrame>
        <p:nvGraphicFramePr>
          <p:cNvPr id="14966" name="yt_table_14966" title="H_270.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354652"/>
              </p:ext>
            </p:extLst>
          </p:nvPr>
        </p:nvGraphicFramePr>
        <p:xfrm>
          <a:off x="324000" y="1899464"/>
          <a:ext cx="11543997" cy="34366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40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6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6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99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项目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改装成电压表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改装成电流表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99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内部电路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12450" b="0" i="0" u="none">
                          <a:solidFill>
                            <a:srgbClr val="1EE3CF"/>
                          </a:solidFill>
                          <a:effectLst/>
                          <a:latin typeface="Times New Roman" pitchFamily="124"/>
                          <a:ea typeface="Times New Roman" pitchFamily="124"/>
                          <a:sym typeface="Finished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"/>
                        </a:rPr>
                        <a:t>           </a:t>
                      </a:r>
                      <a:r>
                        <a:rPr lang="en-US" altLang="zh-CN" sz="1000" b="0" i="0" u="none">
                          <a:solidFill>
                            <a:srgbClr val="1EE3CF"/>
                          </a:solidFill>
                          <a:effectLst/>
                          <a:latin typeface="Times New Roman" pitchFamily="10"/>
                          <a:ea typeface="宋体" pitchFamily="10"/>
                          <a:sym typeface=""/>
                        </a:rPr>
                        <a:t> 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11550" b="0" i="0" u="none">
                          <a:solidFill>
                            <a:srgbClr val="1EE3CF"/>
                          </a:solidFill>
                          <a:effectLst/>
                          <a:latin typeface="Times New Roman" pitchFamily="116"/>
                          <a:ea typeface="Times New Roman" pitchFamily="116"/>
                          <a:sym typeface="Finished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"/>
                        </a:rPr>
                        <a:t>              </a:t>
                      </a:r>
                      <a:r>
                        <a:rPr lang="en-US" altLang="zh-CN" sz="500" b="0" i="0" u="none">
                          <a:solidFill>
                            <a:srgbClr val="1EE3CF"/>
                          </a:solidFill>
                          <a:effectLst/>
                          <a:latin typeface="Times New Roman" pitchFamily="5"/>
                          <a:ea typeface="宋体" pitchFamily="5"/>
                          <a:sym typeface=""/>
                        </a:rPr>
                        <a:t> 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yt_shape_1746690669791">
            <a:extLst>
              <a:ext uri="{FF2B5EF4-FFF2-40B4-BE49-F238E27FC236}">
                <a16:creationId xmlns:a16="http://schemas.microsoft.com/office/drawing/2014/main" id="{4E254F02-519F-067C-A0B4-915BB43725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107" y="2997487"/>
            <a:ext cx="1405127" cy="1980221"/>
          </a:xfrm>
          <a:prstGeom prst="rect">
            <a:avLst/>
          </a:prstGeom>
        </p:spPr>
      </p:pic>
      <p:pic>
        <p:nvPicPr>
          <p:cNvPr id="5" name="yt_shape_1746690669849">
            <a:extLst>
              <a:ext uri="{FF2B5EF4-FFF2-40B4-BE49-F238E27FC236}">
                <a16:creationId xmlns:a16="http://schemas.microsoft.com/office/drawing/2014/main" id="{9E25B4F9-D69B-4C3B-00CC-58547C6783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9442" y="3033138"/>
            <a:ext cx="1627377" cy="1908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968" name="yt_table_14968" title="H_480.36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9861112"/>
                  </p:ext>
                </p:extLst>
              </p:nvPr>
            </p:nvGraphicFramePr>
            <p:xfrm>
              <a:off x="324000" y="467999"/>
              <a:ext cx="11543997" cy="562807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774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5240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1679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6799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项目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改装成电压表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改装成电流表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799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改装原理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串联分压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并联分流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799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5_4adf2"/>
                            </a:rPr>
                            <a:t>改装后的量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程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U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I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g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（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＋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g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）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I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R</m:t>
                                  </m:r>
                                  <m:r>
                                    <a:rPr lang="zh-CN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＋</m:t>
                                  </m:r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R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I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g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799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5_c6a0f"/>
                            </a:rPr>
                            <a:t>量程扩大的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倍数</a:t>
                          </a:r>
                          <a:r>
                            <a:rPr lang="zh-CN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　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n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U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U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宋体" pitchFamily="28"/>
                            <a:ea typeface="宋体" pitchFamily="28"/>
                          </a:endParaRP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n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I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I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宋体" pitchFamily="28"/>
                            <a:ea typeface="宋体" pitchFamily="28"/>
                          </a:endParaRP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6799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5_ce557"/>
                            </a:rPr>
                            <a:t>接入电阻的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阻值</a:t>
                          </a:r>
                          <a:r>
                            <a:rPr lang="zh-CN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　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U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I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－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g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＝（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n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－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）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g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I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I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I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n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−</m:t>
                                  </m:r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</m:t>
                                  </m:r>
                                </m:den>
                              </m:f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宋体" pitchFamily="28"/>
                            <a:ea typeface="宋体" pitchFamily="28"/>
                          </a:endParaRP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6799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5_73654"/>
                            </a:rPr>
                            <a:t>改装后的总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内阻</a:t>
                          </a:r>
                          <a:r>
                            <a:rPr lang="zh-CN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　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g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＋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nR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g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0" u="none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R</m:t>
                                  </m:r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R</m:t>
                                  </m:r>
                                  <m:r>
                                    <a:rPr lang="zh-CN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＋</m:t>
                                  </m:r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n</m:t>
                                  </m:r>
                                </m:den>
                              </m:f>
                            </m:oMath>
                          </a14:m>
                          <a:endParaRPr lang="zh-CN" altLang="zh-CN" sz="2800" b="0" i="0" u="none" dirty="0">
                            <a:solidFill>
                              <a:srgbClr val="000000"/>
                            </a:solidFill>
                            <a:effectLst/>
                            <a:latin typeface="宋体" pitchFamily="28"/>
                            <a:ea typeface="宋体" pitchFamily="28"/>
                          </a:endParaRP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 xmlns:p14="http://schemas.microsoft.com/office/powerpoint/2010/main" xmlns:a16="http://schemas.microsoft.com/office/drawing/2014/main">
          <p:graphicFrame>
            <p:nvGraphicFramePr>
              <p:cNvPr id="14968" name="yt_table_14968" title="H_480.36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9861112"/>
                  </p:ext>
                </p:extLst>
              </p:nvPr>
            </p:nvGraphicFramePr>
            <p:xfrm>
              <a:off x="324000" y="467999"/>
              <a:ext cx="11543997" cy="584441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774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5240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1679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88848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项目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改装成电压表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改装成电流表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88848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改装原理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串联分压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并联分流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0940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5_4adf2"/>
                            </a:rPr>
                            <a:t>改装后的</a:t>
                          </a:r>
                          <a:r>
                            <a:rPr lang="zh-CN" altLang="zh-CN" sz="2800" b="0" i="0" u="non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5_4adf2"/>
                            </a:rPr>
                            <a:t>量</a:t>
                          </a:r>
                          <a:r>
                            <a:rPr lang="zh-CN" altLang="zh-CN" sz="2800" b="0" i="0" u="non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程</a:t>
                          </a:r>
                          <a:endParaRPr lang="zh-CN" altLang="zh-CN" sz="2800" b="0" i="0" u="none" dirty="0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U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I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g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（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＋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g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）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  <a:blipFill>
                          <a:blip r:embed="rId2"/>
                          <a:stretch>
                            <a:fillRect l="-228423" t="-124044" r="-347" b="-3021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086930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5_c6a0f"/>
                            </a:rPr>
                            <a:t>量程扩大</a:t>
                          </a:r>
                          <a:r>
                            <a:rPr lang="zh-CN" altLang="zh-CN" sz="2800" b="0" i="0" u="non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5_c6a0f"/>
                            </a:rPr>
                            <a:t>的</a:t>
                          </a:r>
                          <a:r>
                            <a:rPr lang="zh-CN" altLang="zh-CN" sz="2800" b="0" i="0" u="non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倍数</a:t>
                          </a:r>
                          <a:r>
                            <a:rPr lang="zh-CN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　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  <a:blipFill>
                          <a:blip r:embed="rId2"/>
                          <a:stretch>
                            <a:fillRect l="-52900" t="-230337" r="-67169" b="-2106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  <a:blipFill>
                          <a:blip r:embed="rId2"/>
                          <a:stretch>
                            <a:fillRect l="-228423" t="-230337" r="-347" b="-2106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24395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5_ce557"/>
                            </a:rPr>
                            <a:t>接入电阻</a:t>
                          </a:r>
                          <a:r>
                            <a:rPr lang="zh-CN" altLang="zh-CN" sz="2800" b="0" i="0" u="non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5_ce557"/>
                            </a:rPr>
                            <a:t>的</a:t>
                          </a:r>
                          <a:r>
                            <a:rPr lang="zh-CN" altLang="zh-CN" sz="2800" b="0" i="0" u="non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阻值</a:t>
                          </a:r>
                          <a:r>
                            <a:rPr lang="zh-CN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　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  <a:blipFill>
                          <a:blip r:embed="rId2"/>
                          <a:stretch>
                            <a:fillRect l="-52900" t="-317838" r="-67169" b="-10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  <a:blipFill>
                          <a:blip r:embed="rId2"/>
                          <a:stretch>
                            <a:fillRect l="-228423" t="-317838" r="-347" b="-102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145985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5_73654"/>
                            </a:rPr>
                            <a:t>改装后的</a:t>
                          </a:r>
                          <a:r>
                            <a:rPr lang="zh-CN" altLang="zh-CN" sz="2800" b="0" i="0" u="non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5_73654"/>
                            </a:rPr>
                            <a:t>总</a:t>
                          </a:r>
                          <a:r>
                            <a:rPr lang="zh-CN" altLang="zh-CN" sz="2800" b="0" i="0" u="non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内阻</a:t>
                          </a:r>
                          <a:r>
                            <a:rPr lang="zh-CN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　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g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＋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nR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g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  <a:blipFill>
                          <a:blip r:embed="rId2"/>
                          <a:stretch>
                            <a:fillRect l="-228423" t="-411170" r="-347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0" name="yt_shape_14970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表头改装成电压表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7_f3e5c"/>
              </a:rPr>
              <a:t>如图为实验室常用的两个量程的电压表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原理图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当使用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两接线柱时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量程为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当使用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485a4"/>
              </a:rPr>
              <a:t>两接线柱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量程为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已知电流计的内阻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500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满偏电流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75d6c"/>
              </a:rPr>
              <a:t> 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μA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求分压电阻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的阻值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pic>
        <p:nvPicPr>
          <p:cNvPr id="14971" name="yt_image_14971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5166" y="3013074"/>
            <a:ext cx="2621667" cy="2185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73" name="yt_shape_14973"/>
          <p:cNvSpPr txBox="1"/>
          <p:nvPr/>
        </p:nvSpPr>
        <p:spPr>
          <a:xfrm>
            <a:off x="324000" y="5249367"/>
            <a:ext cx="5081519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95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en-US" altLang="zh-CN" sz="2800" b="0" i="0" u="none" baseline="30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en-US" altLang="zh-CN" sz="2800" b="0" i="0" u="none" baseline="30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73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974" name="yt_shape_14974"/>
              <p:cNvSpPr txBox="1"/>
              <p:nvPr/>
            </p:nvSpPr>
            <p:spPr>
              <a:xfrm>
                <a:off x="324071" y="467999"/>
                <a:ext cx="11924914" cy="379655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当使用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O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两接线柱时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量程为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即当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AO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e1d30"/>
                  </a:rPr>
                  <a:t>流过电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流计的电流为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这时在表的内部只有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与电流计串联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不起作用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7ad9a"/>
                  </a:rPr>
                  <a:t>所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以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𝐴𝑂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𝑔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代入数据得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95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当使用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O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两接线柱时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1700f"/>
                  </a:rPr>
                  <a:t>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量程为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即当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BO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流过电流计的电流为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这时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2db50"/>
                  </a:rPr>
                  <a:t>2</a:t>
                </a:r>
                <a:b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与电流计串联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𝐵𝑂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g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代入数据得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14974" name="yt_shape_149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3796552"/>
              </a:xfrm>
              <a:prstGeom prst="rect">
                <a:avLst/>
              </a:prstGeom>
              <a:blipFill>
                <a:blip r:embed="rId2"/>
                <a:stretch>
                  <a:fillRect l="-1789" t="-6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7" name="yt_shape_14977"/>
          <p:cNvSpPr txBox="1"/>
          <p:nvPr/>
        </p:nvSpPr>
        <p:spPr>
          <a:xfrm>
            <a:off x="324000" y="467999"/>
            <a:ext cx="2457789" cy="56534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950" b="0" i="0" u="none" spc="-2950">
                <a:solidFill>
                  <a:srgbClr val="1EE3CF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2950" b="0" i="0" u="none" spc="18428">
                <a:solidFill>
                  <a:srgbClr val="1EE3CF"/>
                </a:solidFill>
                <a:effectLst/>
                <a:latin typeface="Times New Roman" pitchFamily="30"/>
                <a:ea typeface="宋体" pitchFamily="30"/>
              </a:rPr>
              <a:t> </a:t>
            </a:r>
          </a:p>
        </p:txBody>
      </p:sp>
      <p:pic>
        <p:nvPicPr>
          <p:cNvPr id="14976" name="yt_image_14976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xmlns:m="http://schemas.openxmlformats.org/officeDocument/2006/math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4000" y="467999"/>
            <a:ext cx="2431845" cy="63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79" name="yt_shape_14979"/>
          <p:cNvSpPr txBox="1"/>
          <p:nvPr/>
        </p:nvSpPr>
        <p:spPr>
          <a:xfrm>
            <a:off x="324071" y="1158408"/>
            <a:ext cx="11543998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如图是两个量程的电压表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当使用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两个端点时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032f7"/>
              </a:rPr>
              <a:t>量程为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当使用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两个端点时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量程是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已知表头电阻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300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0d1bf"/>
              </a:rPr>
              <a:t> 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满偏电流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4981" name="yt_table_14981_skip" title="H_94.08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091108"/>
              </p:ext>
            </p:extLst>
          </p:nvPr>
        </p:nvGraphicFramePr>
        <p:xfrm>
          <a:off x="324066" y="2947877"/>
          <a:ext cx="7990206" cy="1194816"/>
        </p:xfrm>
        <a:graphic>
          <a:graphicData uri="http://schemas.openxmlformats.org/drawingml/2006/table">
            <a:tbl>
              <a:tblPr/>
              <a:tblGrid>
                <a:gridCol w="4461193">
                  <a:extLst>
                    <a:ext uri="{9D8B030D-6E8A-4147-A177-3AD203B41FA5}">
                      <a16:colId xmlns:a16="http://schemas.microsoft.com/office/drawing/2014/main" val="10474"/>
                    </a:ext>
                  </a:extLst>
                </a:gridCol>
                <a:gridCol w="3529013">
                  <a:extLst>
                    <a:ext uri="{9D8B030D-6E8A-4147-A177-3AD203B41FA5}">
                      <a16:colId xmlns:a16="http://schemas.microsoft.com/office/drawing/2014/main" val="10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7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×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×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×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×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0"/>
                  </a:ext>
                </a:extLst>
              </a:tr>
            </a:tbl>
          </a:graphicData>
        </a:graphic>
      </p:graphicFrame>
      <p:pic>
        <p:nvPicPr>
          <p:cNvPr id="14980" name="yt_image_14980_skip" title="H_100.12496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xmlns:m="http://schemas.openxmlformats.org/officeDocument/2006/math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049447" y="2681177"/>
            <a:ext cx="2818622" cy="1271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983" name="yt_shape_14983"/>
              <p:cNvSpPr txBox="1"/>
              <p:nvPr/>
            </p:nvSpPr>
            <p:spPr>
              <a:xfrm>
                <a:off x="324071" y="4270252"/>
                <a:ext cx="11924914" cy="179735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由题意知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g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1×1</m:t>
                        </m:r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−</m:t>
                            </m:r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300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700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g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2d71a"/>
                  </a:rPr>
                  <a:t>g</a:t>
                </a:r>
                <a:b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15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1×1</m:t>
                        </m:r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−</m:t>
                            </m:r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300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700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en-US" altLang="zh-CN" sz="2800" b="0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故选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p15="http://schemas.microsoft.com/office/powerpoint/2012/main" xmlns:p14="http://schemas.microsoft.com/office/powerpoint/2010/main" xmlns:a16="http://schemas.microsoft.com/office/drawing/2014/main" xmlns:m="http://schemas.openxmlformats.org/officeDocument/2006/math">
          <p:sp>
            <p:nvSpPr>
              <p:cNvPr id="14983" name="yt_shape_149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270252"/>
                <a:ext cx="11924914" cy="1797352"/>
              </a:xfrm>
              <a:prstGeom prst="rect">
                <a:avLst/>
              </a:prstGeom>
              <a:blipFill>
                <a:blip r:embed="rId4"/>
                <a:stretch>
                  <a:fillRect l="-1789" b="-57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50800" y="2913812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0800" y="3521877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 xmlns:m="http://schemas.openxmlformats.org/officeDocument/2006/math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49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83" grpId="0" build="allAtOnce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5" name="yt_shape_14985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表头改装成电流表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如果将满偏电流和内阻分别为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152b0"/>
              </a:rPr>
              <a:t>、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的表头分别按如图甲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8_35f1d"/>
              </a:rPr>
              <a:t>图乙所示的两种方式改装成双量程的电流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则满足题中要求的定值电阻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的阻值分别为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4986" name="yt_image_14986">
            <a:extLst>
              <a:ext uri="">
                <a16:creationId xmlns="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89331" y="2463079"/>
            <a:ext cx="5655337" cy="2291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yt_table_14988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167506"/>
              </p:ext>
            </p:extLst>
          </p:nvPr>
        </p:nvGraphicFramePr>
        <p:xfrm>
          <a:off x="324137" y="2414150"/>
          <a:ext cx="6264275" cy="2389632"/>
        </p:xfrm>
        <a:graphic>
          <a:graphicData uri="http://schemas.openxmlformats.org/drawingml/2006/table">
            <a:tbl>
              <a:tblPr/>
              <a:tblGrid>
                <a:gridCol w="6264275">
                  <a:extLst>
                    <a:ext uri="{9D8B030D-6E8A-4147-A177-3AD203B41FA5}">
                      <a16:colId xmlns:a16="http://schemas.microsoft.com/office/drawing/2014/main" val="104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4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08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67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4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08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67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40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8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67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4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08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36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7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4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0" y="2463079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991" name="yt_shape_14991"/>
              <p:cNvSpPr txBox="1"/>
              <p:nvPr/>
            </p:nvSpPr>
            <p:spPr>
              <a:xfrm>
                <a:off x="324071" y="467999"/>
                <a:ext cx="11924914" cy="440671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按题图甲接法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由并联电路中电流跟电阻成反比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g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g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e64f7"/>
                  </a:rPr>
                  <a:t>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2×1</m:t>
                        </m:r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−</m:t>
                            </m:r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2×1</m:t>
                        </m:r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−</m:t>
                            </m:r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08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g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′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g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2×1</m:t>
                        </m:r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−</m:t>
                            </m:r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2×1</m:t>
                        </m:r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−</m:t>
                            </m:r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5d6cb"/>
                  </a:rPr>
                  <a:t>。按题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图乙接法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量程为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串联后与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并联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量程为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ca20a"/>
                  </a:rPr>
                  <a:t>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串联后与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并联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则有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）＝（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8000c"/>
                  </a:rPr>
                  <a:t>－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）（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67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。综上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cc914"/>
                  </a:rPr>
                  <a:t>D</a:t>
                </a:r>
                <a:b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>
          <p:sp>
            <p:nvSpPr>
              <p:cNvPr id="14991" name="yt_shape_149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4406719"/>
              </a:xfrm>
              <a:prstGeom prst="rect">
                <a:avLst/>
              </a:prstGeom>
              <a:blipFill>
                <a:blip r:embed="rId2"/>
                <a:stretch>
                  <a:fillRect l="-1789" b="-34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4" name="yt_shape_14994"/>
          <p:cNvSpPr txBox="1"/>
          <p:nvPr/>
        </p:nvSpPr>
        <p:spPr>
          <a:xfrm>
            <a:off x="324000" y="467999"/>
            <a:ext cx="2457789" cy="56534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950" b="0" i="0" u="none" spc="-2950">
                <a:solidFill>
                  <a:srgbClr val="1EE3CF"/>
                </a:solidFill>
                <a:effectLst/>
                <a:latin typeface="Times New Roman" pitchFamily="30"/>
                <a:ea typeface="宋体" pitchFamily="30"/>
              </a:rPr>
              <a:t> </a:t>
            </a:r>
            <a:r>
              <a:rPr lang="en-US" altLang="zh-CN" sz="2950" b="0" i="0" u="none" spc="18428">
                <a:solidFill>
                  <a:srgbClr val="1EE3CF"/>
                </a:solidFill>
                <a:effectLst/>
                <a:latin typeface="Times New Roman" pitchFamily="30"/>
                <a:ea typeface="宋体" pitchFamily="30"/>
              </a:rPr>
              <a:t> </a:t>
            </a:r>
          </a:p>
        </p:txBody>
      </p:sp>
      <p:pic>
        <p:nvPicPr>
          <p:cNvPr id="14993" name="yt_image_14993">
            <a:extLst>
              <a:ext uri="">
                <a16:creationId xmlns=""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xmlns:m="http://schemas.openxmlformats.org/officeDocument/2006/math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4000" y="467999"/>
            <a:ext cx="2431845" cy="63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96" name="yt_shape_14996"/>
          <p:cNvSpPr txBox="1"/>
          <p:nvPr/>
        </p:nvSpPr>
        <p:spPr>
          <a:xfrm>
            <a:off x="324071" y="1158408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鲁科版必修第三册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P92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改编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2_82480"/>
              </a:rPr>
              <a:t>实验室常用的两个量程的电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流表原理如图所示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当使用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两接线柱时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量程为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当使用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72a7c"/>
              </a:rPr>
              <a:t>B</a:t>
            </a:r>
            <a:b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两接线柱时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量程为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已知电流计的内阻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满偏电流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32437"/>
              </a:rPr>
              <a:t> 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分流电阻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的阻值应为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998" name="yt_table_14998_skip" title="H_125.2500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2430106"/>
                  </p:ext>
                </p:extLst>
              </p:nvPr>
            </p:nvGraphicFramePr>
            <p:xfrm>
              <a:off x="324066" y="3551119"/>
              <a:ext cx="6136006" cy="1590676"/>
            </p:xfrm>
            <a:graphic>
              <a:graphicData uri="http://schemas.openxmlformats.org/drawingml/2006/table">
                <a:tbl>
                  <a:tblPr/>
                  <a:tblGrid>
                    <a:gridCol w="3534093">
                      <a:extLst>
                        <a:ext uri="{9D8B030D-6E8A-4147-A177-3AD203B41FA5}">
                          <a16:colId xmlns:a16="http://schemas.microsoft.com/office/drawing/2014/main" val="10477"/>
                        </a:ext>
                      </a:extLst>
                    </a:gridCol>
                    <a:gridCol w="2601913">
                      <a:extLst>
                        <a:ext uri="{9D8B030D-6E8A-4147-A177-3AD203B41FA5}">
                          <a16:colId xmlns:a16="http://schemas.microsoft.com/office/drawing/2014/main" val="104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199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Ω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20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199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Ω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199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Ω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20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199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Ω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186"/>
                      </a:ext>
                    </a:extLst>
                  </a:tr>
                </a:tbl>
              </a:graphicData>
            </a:graphic>
          </p:graphicFrame>
        </mc:Choice>
        <mc:Fallback xmlns="" xmlns:p15="http://schemas.microsoft.com/office/powerpoint/2012/main" xmlns:p14="http://schemas.microsoft.com/office/powerpoint/2010/main" xmlns:a16="http://schemas.microsoft.com/office/drawing/2014/main" xmlns:m="http://schemas.openxmlformats.org/officeDocument/2006/math">
          <p:graphicFrame>
            <p:nvGraphicFramePr>
              <p:cNvPr id="14998" name="yt_table_14998_skip" descr="{&quot;rangeId&quot;:92,&quot;type&quot;:&quot;Option&quot;,&quot;drawing&quot;:[&quot;yt_image_14997&quot;]}" title="H_125.2500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2430106"/>
                  </p:ext>
                </p:extLst>
              </p:nvPr>
            </p:nvGraphicFramePr>
            <p:xfrm>
              <a:off x="324066" y="3551119"/>
              <a:ext cx="6136006" cy="1590676"/>
            </p:xfrm>
            <a:graphic>
              <a:graphicData uri="http://schemas.openxmlformats.org/drawingml/2006/table">
                <a:tbl>
                  <a:tblPr/>
                  <a:tblGrid>
                    <a:gridCol w="3534093">
                      <a:extLst>
                        <a:ext uri="{9D8B030D-6E8A-4147-A177-3AD203B41FA5}">
                          <a16:colId xmlns:a16="http://schemas.microsoft.com/office/drawing/2014/main" val="10477"/>
                        </a:ext>
                      </a:extLst>
                    </a:gridCol>
                    <a:gridCol w="2601913">
                      <a:extLst>
                        <a:ext uri="{9D8B030D-6E8A-4147-A177-3AD203B41FA5}">
                          <a16:colId xmlns:a16="http://schemas.microsoft.com/office/drawing/2014/main" val="10478"/>
                        </a:ext>
                      </a:extLst>
                    </a:gridCol>
                  </a:tblGrid>
                  <a:tr h="79533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r="-73621" b="-1152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l="-135831" b="-1152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85"/>
                      </a:ext>
                    </a:extLst>
                  </a:tr>
                  <a:tr h="79533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t="-100000" r="-73621" b="-152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l="-135831" t="-100000" b="-152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8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4997" name="yt_image_14997_skip" title="H_171">
            <a:extLst>
              <a:ext uri="">
                <a16:creationId xmlns="" xmlns:p14="http://schemas.microsoft.com/office/powerpoint/2010/main" xmlns:a14="http://schemas.microsoft.com/office/drawing/2010/main" xmlns:mc="http://schemas.openxmlformats.org/markup-compatibility/2006" xmlns:p15="http://schemas.microsoft.com/office/powerpoint/2012/main" xmlns:a16="http://schemas.microsoft.com/office/drawing/2014/main" xmlns:m="http://schemas.openxmlformats.org/officeDocument/2006/math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710207" y="3092395"/>
            <a:ext cx="2914550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85005" y="3734658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564638" y="4453109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 xmlns:m="http://schemas.openxmlformats.org/officeDocument/2006/math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999" name="yt_shape_14999"/>
              <p:cNvSpPr txBox="1"/>
              <p:nvPr/>
            </p:nvSpPr>
            <p:spPr>
              <a:xfrm>
                <a:off x="324071" y="467999"/>
                <a:ext cx="11924914" cy="3469668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并联分流电路的特点就是电压相同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在改装的电流表中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ba534"/>
                  </a:rPr>
                  <a:t>各量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程达到满偏电流时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通过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仿宋" pitchFamily="28"/>
                    <a:ea typeface="仿宋" pitchFamily="28"/>
                  </a:rPr>
                  <a:t>“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表头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仿宋" pitchFamily="28"/>
                    <a:ea typeface="仿宋" pitchFamily="28"/>
                  </a:rPr>
                  <a:t>”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的电流仍为满偏电流。接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O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c1def"/>
                  </a:rPr>
                  <a:t>有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＝（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）（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接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O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有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）＝（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fa726"/>
                  </a:rPr>
                  <a:t>，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由于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003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25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199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8475d"/>
                  </a:rPr>
                  <a:t>＝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20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199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。故选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14999" name="yt_shape_149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3469668"/>
              </a:xfrm>
              <a:prstGeom prst="rect">
                <a:avLst/>
              </a:prstGeom>
              <a:blipFill>
                <a:blip r:embed="rId2"/>
                <a:stretch>
                  <a:fillRect l="-1789" t="-703" b="-24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1" name="yt_shape_15001"/>
          <p:cNvSpPr txBox="1"/>
          <p:nvPr/>
        </p:nvSpPr>
        <p:spPr>
          <a:xfrm>
            <a:off x="324000" y="468103"/>
            <a:ext cx="1436291" cy="47327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20000"/>
              </a:lnSpc>
            </a:pPr>
            <a:r>
              <a:rPr lang="zh-CN" altLang="zh-CN" sz="2800" b="1" i="0" u="none">
                <a:solidFill>
                  <a:srgbClr val="31849B"/>
                </a:solidFill>
                <a:effectLst/>
                <a:latin typeface="微软雅黑" pitchFamily="28"/>
                <a:ea typeface="微软雅黑" pitchFamily="28"/>
              </a:rPr>
              <a:t>方法技巧</a:t>
            </a:r>
          </a:p>
        </p:txBody>
      </p:sp>
      <p:sp>
        <p:nvSpPr>
          <p:cNvPr id="15002" name="yt_shape_15002"/>
          <p:cNvSpPr txBox="1"/>
          <p:nvPr/>
        </p:nvSpPr>
        <p:spPr>
          <a:xfrm>
            <a:off x="4121100" y="992174"/>
            <a:ext cx="3949799" cy="47327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2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关于电表改装的四点理解</a:t>
            </a:r>
          </a:p>
        </p:txBody>
      </p:sp>
      <p:sp>
        <p:nvSpPr>
          <p:cNvPr id="15003" name="yt_shape_15003"/>
          <p:cNvSpPr txBox="1"/>
          <p:nvPr/>
        </p:nvSpPr>
        <p:spPr>
          <a:xfrm>
            <a:off x="324071" y="1516245"/>
            <a:ext cx="11543998" cy="98462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2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电表改装的问题实际上是串、并联电路中电流、电压的计算问题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75604"/>
              </a:rPr>
              <a:t>，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只要把表头看成一个电阻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即可。</a:t>
            </a:r>
          </a:p>
        </p:txBody>
      </p:sp>
      <p:sp>
        <p:nvSpPr>
          <p:cNvPr id="15004" name="yt_shape_15004"/>
          <p:cNvSpPr txBox="1"/>
          <p:nvPr/>
        </p:nvSpPr>
        <p:spPr>
          <a:xfrm>
            <a:off x="324071" y="2551674"/>
            <a:ext cx="11543998" cy="98462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2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无论表头改装成电压表还是电流表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它的三个参量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2_10620"/>
              </a:rPr>
              <a:t>都不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变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通过表头的最大电流并不改变。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05" name="yt_shape_15005"/>
              <p:cNvSpPr txBox="1"/>
              <p:nvPr/>
            </p:nvSpPr>
            <p:spPr>
              <a:xfrm>
                <a:off x="324071" y="3587103"/>
                <a:ext cx="11543998" cy="141641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2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由改装后电压表的电阻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串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nR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其中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𝑛</m:t>
                        </m:r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＝</m:t>
                        </m:r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800" b="0" i="0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g</m:t>
                                </m:r>
                              </m:sub>
                            </m:sSub>
                          </m:den>
                        </m:f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＝</m:t>
                        </m:r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800" b="0" i="0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g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800" b="0" i="0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g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可知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  <a:sym typeface="_⨹_1_105c6"/>
                  </a:rPr>
                  <a:t>，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电压表量程越大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其分压电阻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越大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电压表内阻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越大。</a:t>
                </a:r>
              </a:p>
            </p:txBody>
          </p:sp>
        </mc:Choice>
        <mc:Fallback xmlns="" xmlns:a16="http://schemas.microsoft.com/office/drawing/2014/main" xmlns:p15="http://schemas.microsoft.com/office/powerpoint/2012/main" xmlns:p14="http://schemas.microsoft.com/office/powerpoint/2010/main">
          <p:sp>
            <p:nvSpPr>
              <p:cNvPr id="15005" name="yt_shape_15005" descr="{&quot;rangeId&quot;:64,&quot;color&quot;:&quot;B&quot;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3587103"/>
                <a:ext cx="11543998" cy="1416413"/>
              </a:xfrm>
              <a:prstGeom prst="rect">
                <a:avLst/>
              </a:prstGeom>
              <a:blipFill>
                <a:blip r:embed="rId2"/>
                <a:stretch>
                  <a:fillRect l="-1848" b="-145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yt_shape_15007">
                <a:extLst>
                  <a:ext uri="{FF2B5EF4-FFF2-40B4-BE49-F238E27FC236}">
                    <a16:creationId xmlns:a16="http://schemas.microsoft.com/office/drawing/2014/main" id="{0D776FBA-8F3F-73B1-B313-E34990512A37}"/>
                  </a:ext>
                </a:extLst>
              </p:cNvPr>
              <p:cNvSpPr txBox="1"/>
              <p:nvPr/>
            </p:nvSpPr>
            <p:spPr>
              <a:xfrm>
                <a:off x="324071" y="5054316"/>
                <a:ext cx="11924914" cy="142244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2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由改装后电流表的内阻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0" i="0" baseline="-200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并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g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0" i="0" baseline="-200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并</m:t>
                            </m:r>
                          </m:sub>
                        </m:sSub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g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g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𝑛</m:t>
                        </m:r>
                      </m:den>
                    </m:f>
                    <m:d>
                      <m:d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其中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𝑛</m:t>
                        </m:r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＝</m:t>
                        </m:r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800" b="0" i="0">
                                    <a:solidFill>
                                      <a:srgbClr val="01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g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可知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  <a:sym typeface="_⨹_4_bddcc"/>
                  </a:rPr>
                  <a:t>电流表的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量程越大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其分流电阻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并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越小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电流表的内阻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越小。</a:t>
                </a:r>
              </a:p>
            </p:txBody>
          </p:sp>
        </mc:Choice>
        <mc:Fallback xmlns="" xmlns:a16="http://schemas.microsoft.com/office/drawing/2014/main" xmlns:p15="http://schemas.microsoft.com/office/powerpoint/2012/main" xmlns:p14="http://schemas.microsoft.com/office/powerpoint/2010/main">
          <p:sp>
            <p:nvSpPr>
              <p:cNvPr id="2" name="yt_shape_15007" descr="{&quot;rangeId&quot;:65,&quot;color&quot;:&quot;B&quot;}">
                <a:extLst>
                  <a:ext uri="{FF2B5EF4-FFF2-40B4-BE49-F238E27FC236}">
                    <a16:creationId xmlns:a16="http://schemas.microsoft.com/office/drawing/2014/main" id="{0D776FBA-8F3F-73B1-B313-E34990512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5054316"/>
                <a:ext cx="11543998" cy="1422441"/>
              </a:xfrm>
              <a:prstGeom prst="rect">
                <a:avLst/>
              </a:prstGeom>
              <a:blipFill>
                <a:blip r:embed="rId3"/>
                <a:stretch>
                  <a:fillRect l="-1848" r="-264" b="-15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428750"/>
            <a:ext cx="12192000" cy="367030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3953061" y="2060475"/>
            <a:ext cx="0" cy="595635"/>
          </a:xfrm>
          <a:prstGeom prst="line">
            <a:avLst/>
          </a:prstGeom>
          <a:ln w="22225">
            <a:solidFill>
              <a:srgbClr val="22252A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644576" y="3302066"/>
            <a:ext cx="0" cy="595635"/>
          </a:xfrm>
          <a:prstGeom prst="line">
            <a:avLst/>
          </a:prstGeom>
          <a:ln w="22225">
            <a:solidFill>
              <a:srgbClr val="C00000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948306" y="2068901"/>
            <a:ext cx="1798820" cy="1798820"/>
            <a:chOff x="2329306" y="2634955"/>
            <a:chExt cx="1798820" cy="1798820"/>
          </a:xfrm>
        </p:grpSpPr>
        <p:sp>
          <p:nvSpPr>
            <p:cNvPr id="13" name="矩形 12"/>
            <p:cNvSpPr/>
            <p:nvPr/>
          </p:nvSpPr>
          <p:spPr>
            <a:xfrm>
              <a:off x="2329306" y="2634955"/>
              <a:ext cx="1798820" cy="17988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797975" y="2969317"/>
              <a:ext cx="864339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6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04</a:t>
              </a:r>
              <a:endParaRPr lang="zh-CN" altLang="en-US" sz="66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814911" y="3723965"/>
              <a:ext cx="8178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PART</a:t>
              </a:r>
              <a:endParaRPr lang="zh-CN" altLang="en-US" sz="24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</p:grpSp>
      <p:sp>
        <p:nvSpPr>
          <p:cNvPr id="17" name="文本框 16">
            <a:hlinkClick r:id="rId2" action="ppaction://hlinksldjump"/>
          </p:cNvPr>
          <p:cNvSpPr txBox="1"/>
          <p:nvPr/>
        </p:nvSpPr>
        <p:spPr>
          <a:xfrm>
            <a:off x="5122776" y="2635593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素养培优</a:t>
            </a:r>
          </a:p>
        </p:txBody>
      </p:sp>
    </p:spTree>
    <p:extLst>
      <p:ext uri="{BB962C8B-B14F-4D97-AF65-F5344CB8AC3E}">
        <p14:creationId xmlns:p14="http://schemas.microsoft.com/office/powerpoint/2010/main" val="2108563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3" name="yt_shape_15013"/>
          <p:cNvSpPr txBox="1"/>
          <p:nvPr/>
        </p:nvSpPr>
        <p:spPr>
          <a:xfrm>
            <a:off x="349400" y="899799"/>
            <a:ext cx="6553076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伏安法测电阻时电流表两种接法的比较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014" name="yt_table_15014" title="H_347.22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8789250"/>
                  </p:ext>
                </p:extLst>
              </p:nvPr>
            </p:nvGraphicFramePr>
            <p:xfrm>
              <a:off x="349400" y="1636174"/>
              <a:ext cx="11543997" cy="4409631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79864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8899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5535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6799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比较项目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电流表内接法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电流表外接法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799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电路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6750" b="0" i="0" u="none">
                              <a:solidFill>
                                <a:srgbClr val="1EE3CF"/>
                              </a:solidFill>
                              <a:effectLst/>
                              <a:latin typeface="Times New Roman" pitchFamily="68"/>
                              <a:ea typeface="Times New Roman" pitchFamily="68"/>
                              <a:sym typeface="Finished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1EE3CF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"/>
                            </a:rPr>
                            <a:t>                  </a:t>
                          </a:r>
                          <a:r>
                            <a:rPr lang="en-US" altLang="zh-CN" sz="700" b="0" i="0" u="none">
                              <a:solidFill>
                                <a:srgbClr val="1EE3CF"/>
                              </a:solidFill>
                              <a:effectLst/>
                              <a:latin typeface="Times New Roman" pitchFamily="7"/>
                              <a:ea typeface="宋体" pitchFamily="7"/>
                              <a:sym typeface=""/>
                            </a:rPr>
                            <a:t> 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6800" b="0" i="0" u="none">
                              <a:solidFill>
                                <a:srgbClr val="1EE3CF"/>
                              </a:solidFill>
                              <a:effectLst/>
                              <a:latin typeface="Times New Roman" pitchFamily="68"/>
                              <a:ea typeface="Times New Roman" pitchFamily="68"/>
                              <a:sym typeface="Finished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1EE3CF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"/>
                            </a:rPr>
                            <a:t>                </a:t>
                          </a:r>
                          <a:r>
                            <a:rPr lang="en-US" altLang="zh-CN" sz="1900" b="0" i="0" u="none">
                              <a:solidFill>
                                <a:srgbClr val="1EE3CF"/>
                              </a:solidFill>
                              <a:effectLst/>
                              <a:latin typeface="Times New Roman" pitchFamily="19"/>
                              <a:ea typeface="宋体" pitchFamily="19"/>
                              <a:sym typeface=""/>
                            </a:rPr>
                            <a:t> 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799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误差来源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电流表的分压作用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电压表的分流作用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799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误差分析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测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U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zh-CN" altLang="zh-CN" sz="2800" b="0" i="0" baseline="-200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宋体" panose="02040503050406030204" pitchFamily="56" charset="0"/>
                                        </a:rPr>
                                        <m:t>测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I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zh-CN" altLang="zh-CN" sz="2800" b="0" i="0" baseline="-200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宋体" panose="02040503050406030204" pitchFamily="56" charset="0"/>
                                        </a:rPr>
                                        <m:t>测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U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x</m:t>
                                      </m:r>
                                    </m:sub>
                                  </m:sSub>
                                  <m:r>
                                    <a:rPr lang="zh-CN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＋</m:t>
                                  </m:r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U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I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x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1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＋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＞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1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测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U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zh-CN" altLang="zh-CN" sz="2800" b="0" i="0" baseline="-200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宋体" panose="02040503050406030204" pitchFamily="56" charset="0"/>
                                        </a:rPr>
                                        <m:t>测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I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zh-CN" altLang="zh-CN" sz="2800" b="0" i="0" baseline="-200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宋体" panose="02040503050406030204" pitchFamily="56" charset="0"/>
                                        </a:rPr>
                                        <m:t>测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U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x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I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x</m:t>
                                      </m:r>
                                    </m:sub>
                                  </m:sSub>
                                  <m:r>
                                    <a:rPr lang="zh-CN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＋</m:t>
                                  </m:r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I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𝑉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＜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R</a:t>
                          </a:r>
                          <a:r>
                            <a:rPr lang="en-US" altLang="zh-CN" sz="2800" b="0" i="1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x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67999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适用情况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测大电阻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测小电阻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 xmlns:p15="http://schemas.microsoft.com/office/powerpoint/2012/main" xmlns:p14="http://schemas.microsoft.com/office/powerpoint/2010/main" xmlns:a16="http://schemas.microsoft.com/office/drawing/2014/main">
          <p:graphicFrame>
            <p:nvGraphicFramePr>
              <p:cNvPr id="15014" name="yt_table_15014" title="H_347.22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8789250"/>
                  </p:ext>
                </p:extLst>
              </p:nvPr>
            </p:nvGraphicFramePr>
            <p:xfrm>
              <a:off x="349400" y="1636174"/>
              <a:ext cx="11543997" cy="478104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79864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8899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5535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88848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比较项目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电流表内接法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电流表外接法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542288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电路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6750" b="0" i="0" u="none">
                              <a:solidFill>
                                <a:srgbClr val="1EE3CF"/>
                              </a:solidFill>
                              <a:effectLst/>
                              <a:latin typeface="Times New Roman" pitchFamily="68"/>
                              <a:ea typeface="Times New Roman" pitchFamily="68"/>
                              <a:sym typeface="Finished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1EE3CF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"/>
                            </a:rPr>
                            <a:t>                  </a:t>
                          </a:r>
                          <a:r>
                            <a:rPr lang="en-US" altLang="zh-CN" sz="700" b="0" i="0" u="none">
                              <a:solidFill>
                                <a:srgbClr val="1EE3CF"/>
                              </a:solidFill>
                              <a:effectLst/>
                              <a:latin typeface="Times New Roman" pitchFamily="7"/>
                              <a:ea typeface="宋体" pitchFamily="7"/>
                              <a:sym typeface=""/>
                            </a:rPr>
                            <a:t> 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6800" b="0" i="0" u="none">
                              <a:solidFill>
                                <a:srgbClr val="1EE3CF"/>
                              </a:solidFill>
                              <a:effectLst/>
                              <a:latin typeface="Times New Roman" pitchFamily="68"/>
                              <a:ea typeface="Times New Roman" pitchFamily="68"/>
                              <a:sym typeface="Finished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1EE3CF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"/>
                            </a:rPr>
                            <a:t>                </a:t>
                          </a:r>
                          <a:r>
                            <a:rPr lang="en-US" altLang="zh-CN" sz="1900" b="0" i="0" u="none">
                              <a:solidFill>
                                <a:srgbClr val="1EE3CF"/>
                              </a:solidFill>
                              <a:effectLst/>
                              <a:latin typeface="Times New Roman" pitchFamily="19"/>
                              <a:ea typeface="宋体" pitchFamily="19"/>
                              <a:sym typeface=""/>
                            </a:rPr>
                            <a:t> 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88848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误差来源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电流表的分压作用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电压表的分流作用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172210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误差分析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  <a:blipFill>
                          <a:blip r:embed="rId2"/>
                          <a:stretch>
                            <a:fillRect l="-30610" t="-248705" r="-65564" b="-658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  <a:blipFill>
                          <a:blip r:embed="rId2"/>
                          <a:stretch>
                            <a:fillRect l="-199526" t="-248705" r="-158" b="-658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88848"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适用情况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测大电阻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测小电阻</a:t>
                          </a:r>
                        </a:p>
                      </a:txBody>
                      <a:tcPr anchor="ctr">
                        <a:lnL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L>
                        <a:lnR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R>
                        <a:lnT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T>
                        <a:lnB w="952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yt_shape_1746690670076">
            <a:extLst>
              <a:ext uri="{FF2B5EF4-FFF2-40B4-BE49-F238E27FC236}">
                <a16:creationId xmlns:a16="http://schemas.microsoft.com/office/drawing/2014/main" id="{EA0E958B-C85A-2A79-9FEC-8DA8813DC1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353" y="2508357"/>
            <a:ext cx="1836927" cy="1179429"/>
          </a:xfrm>
          <a:prstGeom prst="rect">
            <a:avLst/>
          </a:prstGeom>
        </p:spPr>
      </p:pic>
      <p:pic>
        <p:nvPicPr>
          <p:cNvPr id="5" name="yt_shape_1746690670133">
            <a:extLst>
              <a:ext uri="{FF2B5EF4-FFF2-40B4-BE49-F238E27FC236}">
                <a16:creationId xmlns:a16="http://schemas.microsoft.com/office/drawing/2014/main" id="{157F56B2-5D0E-CBC9-3C7E-B25774FAD8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8350" y="2510019"/>
            <a:ext cx="1698817" cy="1176104"/>
          </a:xfrm>
          <a:prstGeom prst="rect">
            <a:avLst/>
          </a:prstGeom>
        </p:spPr>
      </p:pic>
      <p:sp>
        <p:nvSpPr>
          <p:cNvPr id="7" name="yt_shape_15012"/>
          <p:cNvSpPr txBox="1"/>
          <p:nvPr/>
        </p:nvSpPr>
        <p:spPr>
          <a:xfrm>
            <a:off x="3428353" y="387319"/>
            <a:ext cx="5386090" cy="5379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7030A0"/>
                </a:solidFill>
                <a:effectLst/>
                <a:latin typeface="微软雅黑" pitchFamily="28"/>
                <a:ea typeface="微软雅黑" pitchFamily="28"/>
              </a:rPr>
              <a:t>伏安法测电阻时电流表的两种接法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7" name="yt_shape_15017"/>
          <p:cNvSpPr txBox="1"/>
          <p:nvPr/>
        </p:nvSpPr>
        <p:spPr>
          <a:xfrm>
            <a:off x="349400" y="1166499"/>
            <a:ext cx="8045472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直接比较法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适用于已知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的大约值的情况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5018" name="yt_shape_15018"/>
          <p:cNvSpPr txBox="1"/>
          <p:nvPr/>
        </p:nvSpPr>
        <p:spPr>
          <a:xfrm>
            <a:off x="349400" y="1749484"/>
            <a:ext cx="8540800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≫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采用内接法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≪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采用外接法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5019" name="yt_shape_15019"/>
          <p:cNvSpPr txBox="1"/>
          <p:nvPr/>
        </p:nvSpPr>
        <p:spPr>
          <a:xfrm>
            <a:off x="349400" y="2332469"/>
            <a:ext cx="11344452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比值比较法或临界值法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适用于已知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的大约值及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的情况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20" name="yt_shape_15020"/>
              <p:cNvSpPr txBox="1"/>
              <p:nvPr/>
            </p:nvSpPr>
            <p:spPr>
              <a:xfrm>
                <a:off x="349400" y="2915454"/>
                <a:ext cx="7142596" cy="931152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当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V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＜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A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即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1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A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V</m:t>
                            </m:r>
                          </m:sub>
                        </m:sSub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用电流表内接法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</a:p>
            </p:txBody>
          </p:sp>
        </mc:Choice>
        <mc:Fallback xmlns="" xmlns:a16="http://schemas.microsoft.com/office/drawing/2014/main" xmlns:p14="http://schemas.microsoft.com/office/powerpoint/2010/main" xmlns:p15="http://schemas.microsoft.com/office/powerpoint/2012/main">
          <p:sp>
            <p:nvSpPr>
              <p:cNvPr id="15020" name="yt_shape_150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00" y="2915454"/>
                <a:ext cx="7142596" cy="931152"/>
              </a:xfrm>
              <a:prstGeom prst="rect">
                <a:avLst/>
              </a:prstGeom>
              <a:blipFill>
                <a:blip r:embed="rId2"/>
                <a:stretch>
                  <a:fillRect l="-2986" r="-1621" b="-65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22" name="yt_shape_15022"/>
              <p:cNvSpPr txBox="1"/>
              <p:nvPr/>
            </p:nvSpPr>
            <p:spPr>
              <a:xfrm>
                <a:off x="349400" y="3897394"/>
                <a:ext cx="7142596" cy="931152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当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V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A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即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1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＜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A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V</m:t>
                            </m:r>
                          </m:sub>
                        </m:sSub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用电流表外接法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</a:p>
            </p:txBody>
          </p:sp>
        </mc:Choice>
        <mc:Fallback xmlns="" xmlns:a16="http://schemas.microsoft.com/office/drawing/2014/main" xmlns:p14="http://schemas.microsoft.com/office/powerpoint/2010/main" xmlns:p15="http://schemas.microsoft.com/office/powerpoint/2012/main">
          <p:sp>
            <p:nvSpPr>
              <p:cNvPr id="15022" name="yt_shape_150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00" y="3897394"/>
                <a:ext cx="7142596" cy="931152"/>
              </a:xfrm>
              <a:prstGeom prst="rect">
                <a:avLst/>
              </a:prstGeom>
              <a:blipFill>
                <a:blip r:embed="rId3"/>
                <a:stretch>
                  <a:fillRect l="-2986" r="-1621" b="-65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24" name="yt_shape_15024"/>
              <p:cNvSpPr txBox="1"/>
              <p:nvPr/>
            </p:nvSpPr>
            <p:spPr>
              <a:xfrm>
                <a:off x="349400" y="4879334"/>
                <a:ext cx="7891969" cy="665695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当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1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A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V</m:t>
                            </m:r>
                          </m:sub>
                        </m:sSub>
                      </m:e>
                    </m:rad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两种接法效果相同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均可选择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 xmlns:p15="http://schemas.microsoft.com/office/powerpoint/2012/main">
          <p:sp>
            <p:nvSpPr>
              <p:cNvPr id="15024" name="yt_shape_150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00" y="4879334"/>
                <a:ext cx="7891969" cy="665695"/>
              </a:xfrm>
              <a:prstGeom prst="rect">
                <a:avLst/>
              </a:prstGeom>
              <a:blipFill>
                <a:blip r:embed="rId4"/>
                <a:stretch>
                  <a:fillRect l="-2703" r="-1390" b="-26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yt_shape_15016"/>
          <p:cNvSpPr txBox="1"/>
          <p:nvPr/>
        </p:nvSpPr>
        <p:spPr>
          <a:xfrm>
            <a:off x="349400" y="582488"/>
            <a:ext cx="4757713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电流表两种接法的选择方法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5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5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5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19" grpId="0"/>
      <p:bldP spid="15020" grpId="0"/>
      <p:bldP spid="15022" grpId="0"/>
      <p:bldP spid="150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6" name="yt_shape_15026"/>
          <p:cNvSpPr txBox="1"/>
          <p:nvPr/>
        </p:nvSpPr>
        <p:spPr>
          <a:xfrm>
            <a:off x="324000" y="468103"/>
            <a:ext cx="9908162" cy="49988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3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试触法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适用于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的阻值关系不能确定的情况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5027" name="yt_shape_15027"/>
          <p:cNvSpPr txBox="1"/>
          <p:nvPr/>
        </p:nvSpPr>
        <p:spPr>
          <a:xfrm>
            <a:off x="324071" y="1018783"/>
            <a:ext cx="11543998" cy="106003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3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把电压表的接线端分别接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分别读出电压表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39873"/>
              </a:rPr>
              <a:t>电流表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的示数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</p:txBody>
      </p:sp>
      <p:pic>
        <p:nvPicPr>
          <p:cNvPr id="15028" name="yt_image_15028">
            <a:extLst>
              <a:ext uri="">
                <a16:creationId xmlns="" xmlns:mc="http://schemas.openxmlformats.org/markup-compatibility/2006" xmlns:a14="http://schemas.microsoft.com/office/drawing/2010/main" xmlns:p15="http://schemas.microsoft.com/office/powerpoint/2012/main" xmlns:p14="http://schemas.microsoft.com/office/powerpoint/2010/main" xmlns:a16="http://schemas.microsoft.com/office/drawing/2014/main" xmlns:m="http://schemas.openxmlformats.org/officeDocument/2006/math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3309" y="2129617"/>
            <a:ext cx="2345380" cy="1195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030" name="yt_shape_15030"/>
              <p:cNvSpPr txBox="1"/>
              <p:nvPr/>
            </p:nvSpPr>
            <p:spPr>
              <a:xfrm>
                <a:off x="324071" y="3375804"/>
                <a:ext cx="11543998" cy="151426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①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若电流表的示数变化明显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即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｜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｜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｜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｜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8_e596f"/>
                  </a:rPr>
                  <a:t>说明电压表的分流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对电路影响大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表明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1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较大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应选用电流表内接法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</a:p>
            </p:txBody>
          </p:sp>
        </mc:Choice>
        <mc:Fallback xmlns="" xmlns:p15="http://schemas.microsoft.com/office/powerpoint/2012/main" xmlns:p14="http://schemas.microsoft.com/office/powerpoint/2010/main" xmlns:a16="http://schemas.microsoft.com/office/drawing/2014/main" xmlns:m="http://schemas.openxmlformats.org/officeDocument/2006/math">
          <p:sp>
            <p:nvSpPr>
              <p:cNvPr id="15030" name="yt_shape_15030" descr="{&quot;rangeId&quot;:17,&quot;color&quot;:&quot;B&quot;,&quot;hasSerialNum&quot;:1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3375804"/>
                <a:ext cx="11543998" cy="1514261"/>
              </a:xfrm>
              <a:prstGeom prst="rect">
                <a:avLst/>
              </a:prstGeom>
              <a:blipFill>
                <a:blip r:embed="rId3"/>
                <a:stretch>
                  <a:fillRect l="-1848" r="-475" b="-137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yt_shape_15032">
                <a:extLst>
                  <a:ext uri="{FF2B5EF4-FFF2-40B4-BE49-F238E27FC236}">
                    <a16:creationId xmlns:a16="http://schemas.microsoft.com/office/drawing/2014/main" id="{8B352C27-978B-55E8-3ABB-0563632D79B1}"/>
                  </a:ext>
                </a:extLst>
              </p:cNvPr>
              <p:cNvSpPr txBox="1"/>
              <p:nvPr/>
            </p:nvSpPr>
            <p:spPr>
              <a:xfrm>
                <a:off x="324071" y="4940865"/>
                <a:ext cx="11924914" cy="151426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②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若电压表的示数变化明显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即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｜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｜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＜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｜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｜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8_ae4b0"/>
                  </a:rPr>
                  <a:t>说明电流表的分压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对电路影响大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表明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1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较小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应选用电流表外接法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</a:p>
            </p:txBody>
          </p:sp>
        </mc:Choice>
        <mc:Fallback xmlns="" xmlns:p15="http://schemas.microsoft.com/office/powerpoint/2012/main" xmlns:p14="http://schemas.microsoft.com/office/powerpoint/2010/main" xmlns:a16="http://schemas.microsoft.com/office/drawing/2014/main" xmlns:m="http://schemas.openxmlformats.org/officeDocument/2006/math">
          <p:sp>
            <p:nvSpPr>
              <p:cNvPr id="2" name="yt_shape_15032" descr="{&quot;rangeId&quot;:17,&quot;color&quot;:&quot;B&quot;,&quot;hasSerialNum&quot;:1}">
                <a:extLst>
                  <a:ext uri="{FF2B5EF4-FFF2-40B4-BE49-F238E27FC236}">
                    <a16:creationId xmlns:a16="http://schemas.microsoft.com/office/drawing/2014/main" id="{8B352C27-978B-55E8-3ABB-0563632D7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940865"/>
                <a:ext cx="11543998" cy="1514261"/>
              </a:xfrm>
              <a:prstGeom prst="rect">
                <a:avLst/>
              </a:prstGeom>
              <a:blipFill>
                <a:blip r:embed="rId4"/>
                <a:stretch>
                  <a:fillRect l="-1848" r="-475" b="-137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4" name="yt_shape_15034"/>
          <p:cNvSpPr txBox="1"/>
          <p:nvPr/>
        </p:nvSpPr>
        <p:spPr>
          <a:xfrm>
            <a:off x="324071" y="467999"/>
            <a:ext cx="11924914" cy="184340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【典例】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云南腾冲期末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3299c"/>
              </a:rPr>
              <a:t>间电压恒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定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当开关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接通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点时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电压表示数为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电流表示数为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8c52a"/>
              </a:rPr>
              <a:t>当开关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接通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点时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电压表示数为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电流表示数为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15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77128"/>
              </a:rPr>
              <a:t>由此可知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5035" name="yt_image_15035" title="H_108">
            <a:extLst>
              <a:ext uri="">
                <a16:creationId xmlns="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00390" y="2751836"/>
            <a:ext cx="3300151" cy="150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yt_table_15037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300146"/>
              </p:ext>
            </p:extLst>
          </p:nvPr>
        </p:nvGraphicFramePr>
        <p:xfrm>
          <a:off x="324137" y="2311400"/>
          <a:ext cx="5408613" cy="2389632"/>
        </p:xfrm>
        <a:graphic>
          <a:graphicData uri="http://schemas.openxmlformats.org/drawingml/2006/table">
            <a:tbl>
              <a:tblPr/>
              <a:tblGrid>
                <a:gridCol w="5408613">
                  <a:extLst>
                    <a:ext uri="{9D8B030D-6E8A-4147-A177-3AD203B41FA5}">
                      <a16:colId xmlns:a16="http://schemas.microsoft.com/office/drawing/2014/main" val="104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接在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点时的测量值较准确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接在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点时的测量值较准确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0" i="1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x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的真实值是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70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电流表的内阻是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0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46124" y="2878836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124" y="3422547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040" name="yt_shape_15040"/>
              <p:cNvSpPr txBox="1"/>
              <p:nvPr/>
            </p:nvSpPr>
            <p:spPr>
              <a:xfrm>
                <a:off x="324071" y="467999"/>
                <a:ext cx="11924914" cy="408663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接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和接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比较两次测量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电压表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2d38c"/>
                  </a:rPr>
                  <a:t>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即电流表的示数变化较大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0_4a9e4"/>
                  </a:rPr>
                  <a:t>这说明电压表的分流较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因此接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点时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采用电流表内接法测电阻误差较小。设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N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66beb"/>
                  </a:rPr>
                  <a:t>间的电压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电流表的内阻为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由题意得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接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73a81"/>
                  </a:rPr>
                  <a:t>＋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接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52b69"/>
                  </a:rPr>
                  <a:t>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联立解得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70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>
          <p:sp>
            <p:nvSpPr>
              <p:cNvPr id="15040" name="yt_shape_150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4086632"/>
              </a:xfrm>
              <a:prstGeom prst="rect">
                <a:avLst/>
              </a:prstGeom>
              <a:blipFill>
                <a:blip r:embed="rId2"/>
                <a:stretch>
                  <a:fillRect l="-1789" b="-44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428750"/>
            <a:ext cx="12192000" cy="367030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3953061" y="2060475"/>
            <a:ext cx="0" cy="595635"/>
          </a:xfrm>
          <a:prstGeom prst="line">
            <a:avLst/>
          </a:prstGeom>
          <a:ln w="22225">
            <a:solidFill>
              <a:srgbClr val="22252A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644576" y="3302066"/>
            <a:ext cx="0" cy="595635"/>
          </a:xfrm>
          <a:prstGeom prst="line">
            <a:avLst/>
          </a:prstGeom>
          <a:ln w="22225">
            <a:solidFill>
              <a:srgbClr val="C00000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948306" y="2068901"/>
            <a:ext cx="1798820" cy="1798820"/>
            <a:chOff x="2329306" y="2634955"/>
            <a:chExt cx="1798820" cy="1798820"/>
          </a:xfrm>
        </p:grpSpPr>
        <p:sp>
          <p:nvSpPr>
            <p:cNvPr id="13" name="矩形 12"/>
            <p:cNvSpPr/>
            <p:nvPr/>
          </p:nvSpPr>
          <p:spPr>
            <a:xfrm>
              <a:off x="2329306" y="2634955"/>
              <a:ext cx="1798820" cy="17988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666528" y="2969317"/>
              <a:ext cx="1127233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6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05</a:t>
              </a:r>
              <a:endParaRPr lang="zh-CN" altLang="en-US" sz="66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814911" y="3723965"/>
              <a:ext cx="8178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PART</a:t>
              </a:r>
              <a:endParaRPr lang="zh-CN" altLang="en-US" sz="24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</p:grpSp>
      <p:sp>
        <p:nvSpPr>
          <p:cNvPr id="17" name="文本框 16">
            <a:hlinkClick r:id="rId2" action="ppaction://hlinksldjump"/>
          </p:cNvPr>
          <p:cNvSpPr txBox="1"/>
          <p:nvPr/>
        </p:nvSpPr>
        <p:spPr>
          <a:xfrm>
            <a:off x="5122776" y="2635593"/>
            <a:ext cx="54745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随堂演练  教师独具</a:t>
            </a:r>
          </a:p>
        </p:txBody>
      </p:sp>
    </p:spTree>
    <p:extLst>
      <p:ext uri="{BB962C8B-B14F-4D97-AF65-F5344CB8AC3E}">
        <p14:creationId xmlns:p14="http://schemas.microsoft.com/office/powerpoint/2010/main" val="2727336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5" name="yt_shape_15045"/>
          <p:cNvSpPr txBox="1"/>
          <p:nvPr/>
        </p:nvSpPr>
        <p:spPr>
          <a:xfrm>
            <a:off x="267086" y="582159"/>
            <a:ext cx="11924914" cy="2322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电压表的改装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如图所示是有两个量程的电压表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ec407"/>
              </a:rPr>
              <a:t>当使用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两个端点时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量程为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当使用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两个端点时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量程为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3edbd"/>
              </a:rPr>
              <a:t> 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已知电流表的内阻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500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满偏电流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则电阻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c074b"/>
              </a:rPr>
              <a:t>的值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5047" name="yt_table_15047_skip" title="H_94.08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446184"/>
              </p:ext>
            </p:extLst>
          </p:nvPr>
        </p:nvGraphicFramePr>
        <p:xfrm>
          <a:off x="267081" y="2955699"/>
          <a:ext cx="7990206" cy="1194816"/>
        </p:xfrm>
        <a:graphic>
          <a:graphicData uri="http://schemas.openxmlformats.org/drawingml/2006/table">
            <a:tbl>
              <a:tblPr/>
              <a:tblGrid>
                <a:gridCol w="4461193">
                  <a:extLst>
                    <a:ext uri="{9D8B030D-6E8A-4147-A177-3AD203B41FA5}">
                      <a16:colId xmlns:a16="http://schemas.microsoft.com/office/drawing/2014/main" val="10480"/>
                    </a:ext>
                  </a:extLst>
                </a:gridCol>
                <a:gridCol w="3529013">
                  <a:extLst>
                    <a:ext uri="{9D8B030D-6E8A-4147-A177-3AD203B41FA5}">
                      <a16:colId xmlns:a16="http://schemas.microsoft.com/office/drawing/2014/main" val="10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9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×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9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×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9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×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9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×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2"/>
                  </a:ext>
                </a:extLst>
              </a:tr>
            </a:tbl>
          </a:graphicData>
        </a:graphic>
      </p:graphicFrame>
      <p:pic>
        <p:nvPicPr>
          <p:cNvPr id="15046" name="yt_image_15046_skip" title="H_122.37496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57999" y="2596353"/>
            <a:ext cx="2662117" cy="155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0" y="2955699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3553107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9" name="yt_shape_15049"/>
          <p:cNvSpPr txBox="1"/>
          <p:nvPr/>
        </p:nvSpPr>
        <p:spPr>
          <a:xfrm>
            <a:off x="324071" y="467999"/>
            <a:ext cx="11677429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spc="150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当使用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两个端点时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接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电压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电流表满偏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_e59f8"/>
              </a:rPr>
              <a:t>即电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流为满偏电流。根据串联电路规律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有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1" u="none" spc="15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spc="150" baseline="-2500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）＝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解得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ecc02"/>
              </a:rPr>
              <a:t>＝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9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en-US" altLang="zh-CN" sz="2800" b="0" i="0" u="none" spc="150" baseline="30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同理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当使用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两端点时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接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100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46a10"/>
              </a:rPr>
              <a:t> </a:t>
            </a:r>
            <a:b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电压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电流表满偏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有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1" u="none" spc="15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spc="150" baseline="-2500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）＝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100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解得</a:t>
            </a:r>
            <a:r>
              <a:rPr lang="en-US" altLang="zh-CN" sz="2800" b="0" i="1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spc="150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9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en-US" altLang="zh-CN" sz="2800" b="0" i="0" u="none" spc="150" baseline="30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b4fac"/>
              </a:rPr>
              <a:t> </a:t>
            </a:r>
            <a:b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 spc="150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0" name="yt_shape_15050"/>
          <p:cNvSpPr txBox="1"/>
          <p:nvPr/>
        </p:nvSpPr>
        <p:spPr>
          <a:xfrm>
            <a:off x="324071" y="467999"/>
            <a:ext cx="11543998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电流表的改装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广东佛山期中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7b743"/>
              </a:rPr>
              <a:t>将表头和定值电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并联后改装为新的电表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经过测试得知改装后的电表测量值略偏小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bfe40"/>
              </a:rPr>
              <a:t>。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为了校准改装后的电表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5052" name="yt_table_15052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481"/>
              </p:ext>
            </p:extLst>
          </p:nvPr>
        </p:nvGraphicFramePr>
        <p:xfrm>
          <a:off x="324066" y="2238297"/>
          <a:ext cx="11702834" cy="3584448"/>
        </p:xfrm>
        <a:graphic>
          <a:graphicData uri="http://schemas.openxmlformats.org/drawingml/2006/table">
            <a:tbl>
              <a:tblPr/>
              <a:tblGrid>
                <a:gridCol w="11702834">
                  <a:extLst>
                    <a:ext uri="{9D8B030D-6E8A-4147-A177-3AD203B41FA5}">
                      <a16:colId xmlns:a16="http://schemas.microsoft.com/office/drawing/2014/main" val="10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改装后的电表是电流表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3_abeb8"/>
                        </a:rPr>
                        <a:t>可以将一个阻值合适的电阻与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串联进行校准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改装后的电表是电流表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3_a040d"/>
                        </a:rPr>
                        <a:t>可以将一个阻值合适的电阻与</a:t>
                      </a:r>
                      <a:b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0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并联进行校准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改装后的电表是电压表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3_b9377"/>
                        </a:rPr>
                        <a:t>可以将一个阻值合适的电阻与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0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串联进行校准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改装后的电表是电压表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3_737b3"/>
                        </a:rPr>
                        <a:t>可以将一个阻值合适的电阻与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0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并联进行校准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6"/>
                  </a:ext>
                </a:extLst>
              </a:tr>
            </a:tbl>
          </a:graphicData>
        </a:graphic>
      </p:graphicFrame>
      <p:pic>
        <p:nvPicPr>
          <p:cNvPr id="15051" name="yt_image_15051_skip" title="H_133.75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12887" y="2322356"/>
            <a:ext cx="2414013" cy="1528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0" y="2322356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4" name="yt_shape_15054"/>
          <p:cNvSpPr txBox="1"/>
          <p:nvPr/>
        </p:nvSpPr>
        <p:spPr>
          <a:xfrm>
            <a:off x="298671" y="518799"/>
            <a:ext cx="11474229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表头与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并联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改装后的电表为大量程的电流表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5_b657d"/>
              </a:rPr>
              <a:t>改装后电表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测量值略偏小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即流过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的电流偏大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即电阻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的阻值偏小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5_9dada"/>
              </a:rPr>
              <a:t>因此可以将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一个阻值合适的电阻与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串联进行校准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如果并联一个电阻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5_e0a36"/>
              </a:rPr>
              <a:t>则并联后的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总电阻更小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所以不能采用并联。故选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5" name="yt_shape_15055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两挡电表的改装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某小组用微安表头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量程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μA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内阻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900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b846e"/>
              </a:rPr>
              <a:t>改装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成一个量程为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和一个量程为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的两挡电表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电阻箱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111b1"/>
              </a:rPr>
              <a:t>和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电阻箱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可以根据需要调节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根据上述要求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5057" name="yt_table_15057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344174"/>
              </p:ext>
            </p:extLst>
          </p:nvPr>
        </p:nvGraphicFramePr>
        <p:xfrm>
          <a:off x="324066" y="2257468"/>
          <a:ext cx="5384800" cy="2389632"/>
        </p:xfrm>
        <a:graphic>
          <a:graphicData uri="http://schemas.openxmlformats.org/drawingml/2006/table">
            <a:tbl>
              <a:tblPr/>
              <a:tblGrid>
                <a:gridCol w="5384800">
                  <a:extLst>
                    <a:ext uri="{9D8B030D-6E8A-4147-A177-3AD203B41FA5}">
                      <a16:colId xmlns:a16="http://schemas.microsoft.com/office/drawing/2014/main" val="104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为电压挡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的阻值为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90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的阻值为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910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用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挡时电表的内阻为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kΩ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00"/>
                  </a:ext>
                </a:extLst>
              </a:tr>
            </a:tbl>
          </a:graphicData>
        </a:graphic>
      </p:graphicFrame>
      <p:pic>
        <p:nvPicPr>
          <p:cNvPr id="15056" name="yt_image_15056_skip" title="H_190.75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64647" y="2257468"/>
            <a:ext cx="3601562" cy="242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146348" y="3468730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059" name="yt_shape_15059"/>
              <p:cNvSpPr txBox="1"/>
              <p:nvPr/>
            </p:nvSpPr>
            <p:spPr>
              <a:xfrm>
                <a:off x="324071" y="467999"/>
                <a:ext cx="11924914" cy="517276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用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挡时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表头与电阻并联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将表头改装成电流表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eafc0"/>
                  </a:rPr>
                  <a:t>；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改装的电流表量程为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扩成了满偏电流的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倍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9_e94c6"/>
                  </a:rPr>
                  <a:t>根据并联电路电流与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电阻规律可知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应为表头内阻的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da574"/>
                  </a:rPr>
                  <a:t>微安表头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量程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μA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内阻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900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改装成一个量程为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的电流表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其内阻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ae27f"/>
                  </a:rPr>
                  <a:t>＝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100×900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100+900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90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接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挡时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是将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的电流表改装成电压表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70947"/>
                  </a:rPr>
                  <a:t>改装的电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压表量程是表头满偏电压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09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300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倍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故电压表总内阻为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cc797"/>
                  </a:rPr>
                  <a:t>电流表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内阻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90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300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倍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000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910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>
          <p:sp>
            <p:nvSpPr>
              <p:cNvPr id="15059" name="yt_shape_150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5172763"/>
              </a:xfrm>
              <a:prstGeom prst="rect">
                <a:avLst/>
              </a:prstGeom>
              <a:blipFill>
                <a:blip r:embed="rId2"/>
                <a:stretch>
                  <a:fillRect l="-1789" t="-472" b="-14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1" name="yt_shape_15061"/>
          <p:cNvSpPr txBox="1"/>
          <p:nvPr/>
        </p:nvSpPr>
        <p:spPr>
          <a:xfrm>
            <a:off x="324071" y="467999"/>
            <a:ext cx="11924914" cy="2322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伏安法测电阻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用电流表和电压表测量电阻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1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的阻值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a0abc"/>
              </a:rPr>
              <a:t>c</a:t>
            </a:r>
            <a:b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端与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端相连时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电流表示数为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电压表示数为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端与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64e6b"/>
              </a:rPr>
              <a:t>端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相连时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电流表示数为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电压表示数为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d3246"/>
              </a:rPr>
              <a:t>比较这两次结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5063" name="yt_table_15063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635345"/>
              </p:ext>
            </p:extLst>
          </p:nvPr>
        </p:nvGraphicFramePr>
        <p:xfrm>
          <a:off x="324066" y="2841539"/>
          <a:ext cx="7515225" cy="2389632"/>
        </p:xfrm>
        <a:graphic>
          <a:graphicData uri="http://schemas.openxmlformats.org/drawingml/2006/table">
            <a:tbl>
              <a:tblPr/>
              <a:tblGrid>
                <a:gridCol w="7515225">
                  <a:extLst>
                    <a:ext uri="{9D8B030D-6E8A-4147-A177-3AD203B41FA5}">
                      <a16:colId xmlns:a16="http://schemas.microsoft.com/office/drawing/2014/main" val="10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电阻的真实值更接近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543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且大于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543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电阻的真实值更接近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543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且小于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543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电阻的真实值更接近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442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且大于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442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电阻的真实值更接近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442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且小于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442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04"/>
                  </a:ext>
                </a:extLst>
              </a:tr>
            </a:tbl>
          </a:graphicData>
        </a:graphic>
      </p:graphicFrame>
      <p:pic>
        <p:nvPicPr>
          <p:cNvPr id="15062" name="yt_image_15062_skip" title="H_79.12496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63123" y="2791294"/>
            <a:ext cx="2517110" cy="110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25400" y="3503868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065" name="yt_shape_15065"/>
              <p:cNvSpPr txBox="1"/>
              <p:nvPr/>
            </p:nvSpPr>
            <p:spPr>
              <a:xfrm>
                <a:off x="267086" y="658499"/>
                <a:ext cx="11924914" cy="341820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比较两次的电压表读数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20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50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7d9bc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08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电流表示数变化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60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60</m:t>
                        </m:r>
                      </m:den>
                    </m:f>
                  </m:oMath>
                </a14:m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≈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13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可见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b70a4"/>
                  </a:rPr>
                  <a:t>即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电流变化明显一些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3_84289"/>
                  </a:rPr>
                  <a:t>可见电压表内阻带来的影响比电流表内阻带来的影响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大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故应采用内接法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1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V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60×1</m:t>
                        </m:r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−</m:t>
                            </m:r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A</m:t>
                        </m:r>
                      </m:den>
                    </m:f>
                  </m:oMath>
                </a14:m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≈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543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此法测量值偏大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3ab60"/>
                  </a:rPr>
                  <a:t>因此选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项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>
          <p:sp>
            <p:nvSpPr>
              <p:cNvPr id="15065" name="yt_shape_150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86" y="658499"/>
                <a:ext cx="11924914" cy="3418201"/>
              </a:xfrm>
              <a:prstGeom prst="rect">
                <a:avLst/>
              </a:prstGeom>
              <a:blipFill>
                <a:blip r:embed="rId2"/>
                <a:stretch>
                  <a:fillRect l="-18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428750"/>
            <a:ext cx="12192000" cy="367030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3953061" y="2060475"/>
            <a:ext cx="0" cy="595635"/>
          </a:xfrm>
          <a:prstGeom prst="line">
            <a:avLst/>
          </a:prstGeom>
          <a:ln w="22225">
            <a:solidFill>
              <a:srgbClr val="22252A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644576" y="3302066"/>
            <a:ext cx="0" cy="595635"/>
          </a:xfrm>
          <a:prstGeom prst="line">
            <a:avLst/>
          </a:prstGeom>
          <a:ln w="22225">
            <a:solidFill>
              <a:srgbClr val="C00000"/>
            </a:solidFill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948306" y="2068901"/>
            <a:ext cx="1798820" cy="1798820"/>
            <a:chOff x="2329306" y="2634955"/>
            <a:chExt cx="1798820" cy="1798820"/>
          </a:xfrm>
        </p:grpSpPr>
        <p:sp>
          <p:nvSpPr>
            <p:cNvPr id="13" name="矩形 12"/>
            <p:cNvSpPr/>
            <p:nvPr/>
          </p:nvSpPr>
          <p:spPr>
            <a:xfrm>
              <a:off x="2329306" y="2634955"/>
              <a:ext cx="1798820" cy="17988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666528" y="2969317"/>
              <a:ext cx="1127233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6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06</a:t>
              </a:r>
              <a:endParaRPr lang="zh-CN" altLang="en-US" sz="66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814911" y="3723965"/>
              <a:ext cx="8178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Aparajita" panose="020B0604020202020204" pitchFamily="34" charset="0"/>
                  <a:cs typeface="Aparajita" panose="020B0604020202020204" pitchFamily="34" charset="0"/>
                </a:rPr>
                <a:t>PART</a:t>
              </a:r>
              <a:endParaRPr lang="zh-CN" altLang="en-US" sz="2400" dirty="0">
                <a:solidFill>
                  <a:schemeClr val="bg1"/>
                </a:solidFill>
                <a:latin typeface="Aparajita" panose="020B0604020202020204" pitchFamily="34" charset="0"/>
                <a:cs typeface="Aparajita" panose="020B0604020202020204" pitchFamily="34" charset="0"/>
              </a:endParaRPr>
            </a:p>
          </p:txBody>
        </p:sp>
      </p:grpSp>
      <p:sp>
        <p:nvSpPr>
          <p:cNvPr id="17" name="文本框 16">
            <a:hlinkClick r:id="rId2" action="ppaction://hlinksldjump"/>
          </p:cNvPr>
          <p:cNvSpPr txBox="1"/>
          <p:nvPr/>
        </p:nvSpPr>
        <p:spPr>
          <a:xfrm>
            <a:off x="5122776" y="2635593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课时作业</a:t>
            </a:r>
          </a:p>
        </p:txBody>
      </p:sp>
    </p:spTree>
    <p:extLst>
      <p:ext uri="{BB962C8B-B14F-4D97-AF65-F5344CB8AC3E}">
        <p14:creationId xmlns:p14="http://schemas.microsoft.com/office/powerpoint/2010/main" val="877388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1" name="yt_shape_11631"/>
          <p:cNvSpPr txBox="1"/>
          <p:nvPr/>
        </p:nvSpPr>
        <p:spPr>
          <a:xfrm>
            <a:off x="324000" y="1075877"/>
            <a:ext cx="3967433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800080"/>
                </a:solidFill>
                <a:effectLst/>
                <a:latin typeface="Times New Roman" pitchFamily="28"/>
                <a:ea typeface="黑体" pitchFamily="28"/>
              </a:rPr>
              <a:t>知识点一</a:t>
            </a:r>
            <a:r>
              <a:rPr lang="zh-CN" altLang="zh-CN" sz="2800" b="1" i="0" u="none" dirty="0">
                <a:solidFill>
                  <a:srgbClr val="80008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1" i="0" u="none" dirty="0">
                <a:solidFill>
                  <a:srgbClr val="800080"/>
                </a:solidFill>
                <a:effectLst/>
                <a:latin typeface="Times New Roman" pitchFamily="28"/>
                <a:ea typeface="黑体" pitchFamily="28"/>
              </a:rPr>
              <a:t>电压表的改装</a:t>
            </a:r>
          </a:p>
        </p:txBody>
      </p:sp>
      <p:sp>
        <p:nvSpPr>
          <p:cNvPr id="11632" name="yt_shape_11632"/>
          <p:cNvSpPr txBox="1"/>
          <p:nvPr/>
        </p:nvSpPr>
        <p:spPr>
          <a:xfrm>
            <a:off x="324071" y="1658862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浙江浙东北联盟期中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如图所示双量程电压表的内部电路图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60396"/>
              </a:rPr>
              <a:t>，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当使用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两个端点时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量程为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当使用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两个端点时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015a7"/>
              </a:rPr>
              <a:t>量程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已知表头的内阻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400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满偏电流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mA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则电阻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79472"/>
              </a:rPr>
              <a:t>、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的值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1634" name="yt_table_11634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4051573"/>
          <a:ext cx="5429250" cy="2389632"/>
        </p:xfrm>
        <a:graphic>
          <a:graphicData uri="http://schemas.openxmlformats.org/drawingml/2006/table">
            <a:tbl>
              <a:tblPr/>
              <a:tblGrid>
                <a:gridCol w="5429250">
                  <a:extLst>
                    <a:ext uri="{9D8B030D-6E8A-4147-A177-3AD203B41FA5}">
                      <a16:colId xmlns:a16="http://schemas.microsoft.com/office/drawing/2014/main" val="102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600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000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000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15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000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260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200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300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500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9"/>
                  </a:ext>
                </a:extLst>
              </a:tr>
            </a:tbl>
          </a:graphicData>
        </a:graphic>
      </p:graphicFrame>
      <p:pic>
        <p:nvPicPr>
          <p:cNvPr id="11633" name="yt_image_11633_skip" title="H_124.75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57143" y="4051573"/>
            <a:ext cx="4609287" cy="158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10488" y="4230432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8" name="yt_image_10189" title="H_47.87496">
            <a:extLst>
              <a:ext uri="">
                <a16:creationId xmlns="" xmlns:a16="http://schemas.microsoft.com/office/drawing/2014/main" xmlns:p14="http://schemas.microsoft.com/office/powerpoint/2010/main" xmlns:p15="http://schemas.microsoft.com/office/powerpoint/2012/main" xmlns:mc="http://schemas.openxmlformats.org/markup-compatibility/2006" xmlns:a14="http://schemas.microsoft.com/office/drawing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4BACC6">
                <a:shade val="45000"/>
                <a:satMod val="135000"/>
              </a:srgbClr>
              <a:prstClr val="white"/>
            </a:duotone>
          </a:blip>
          <a:srcRect/>
          <a:stretch>
            <a:fillRect/>
          </a:stretch>
        </p:blipFill>
        <p:spPr bwMode="auto">
          <a:xfrm>
            <a:off x="4599218" y="467865"/>
            <a:ext cx="2308195" cy="60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组合 16"/>
          <p:cNvGrpSpPr/>
          <p:nvPr/>
        </p:nvGrpSpPr>
        <p:grpSpPr>
          <a:xfrm>
            <a:off x="3954059" y="6427038"/>
            <a:ext cx="4565782" cy="288000"/>
            <a:chOff x="1463551" y="6425622"/>
            <a:chExt cx="4565782" cy="288000"/>
          </a:xfrm>
        </p:grpSpPr>
        <p:sp>
          <p:nvSpPr>
            <p:cNvPr id="10" name="b9d1b819-7a95-4806-b43d-ba1d20198a02" descr="{&quot;SlideID&quot;:&quot;333&quot;,&quot;SlideNumber&quot;:&quot;35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99df16d0-143f-4b30-b64d-8e93b6eb36f3" descr="{&quot;SlideID&quot;:&quot;335&quot;,&quot;SlideNumber&quot;:&quot;37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99385024-3d00-4224-873b-38f22c15b4c9" descr="{&quot;SlideID&quot;:&quot;337&quot;,&quot;SlideNumber&quot;:&quot;39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6b17b99b-5690-4915-9755-6ff9609bd109" descr="{&quot;SlideID&quot;:&quot;338&quot;,&quot;SlideNumber&quot;:&quot;4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6aa0f7f0-5b1a-454d-8d6f-4f29a831cb3b" descr="{&quot;SlideID&quot;:&quot;339&quot;,&quot;SlideNumber&quot;:&quot;41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eba0609d-06a1-440c-939f-8793260c3cba" descr="{&quot;SlideID&quot;:&quot;341&quot;,&quot;SlideNumber&quot;:&quot;43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2a7eeaa4-e24f-4ce3-9d6a-f99cb4dbf781" descr="{&quot;SlideID&quot;:&quot;343&quot;,&quot;SlideNumber&quot;:&quot;45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008c8c47-150a-4865-a202-8c38bda2ae2c" descr="{&quot;SlideID&quot;:&quot;345&quot;,&quot;SlideNumber&quot;:&quot;47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b180db85-e7e6-4e10-8e19-d024e490b8a4" descr="{&quot;SlideID&quot;:&quot;347&quot;,&quot;SlideNumber&quot;:&quot;49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931cb783-6f4c-4437-a9e2-abf2473754bf" descr="{&quot;SlideID&quot;:&quot;349&quot;,&quot;SlideNumber&quot;:&quot;51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33201f22-bf2b-4be5-b1ae-e090403ffa75" descr="{&quot;SlideID&quot;:&quot;351&quot;,&quot;SlideNumber&quot;:&quot;53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4523c85c-3568-4c0b-acac-898095ff9ec1" descr="{&quot;SlideID&quot;:&quot;353&quot;,&quot;SlideNumber&quot;:&quot;55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7413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34442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6" name="yt_shape_11636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1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当使用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端时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根据欧姆定律得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1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）＝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1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AB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3374d"/>
              </a:rPr>
              <a:t>同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理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当使用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端时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则有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1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）＝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1" i="1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AC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代入数据解得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dd4ac"/>
              </a:rPr>
              <a:t> 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600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000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故选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3954059" y="6427038"/>
            <a:ext cx="4565782" cy="288000"/>
            <a:chOff x="1463551" y="6425622"/>
            <a:chExt cx="4565782" cy="288000"/>
          </a:xfrm>
        </p:grpSpPr>
        <p:sp>
          <p:nvSpPr>
            <p:cNvPr id="10" name="208b9bed-1c7a-4012-a0db-954ffd293f19" descr="{&quot;SlideID&quot;:&quot;333&quot;,&quot;SlideNumber&quot;:&quot;35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69f3609-25f7-4ca0-bac2-fb6d0f1f62c7" descr="{&quot;SlideID&quot;:&quot;335&quot;,&quot;SlideNumber&quot;:&quot;37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bbf6633a-b9de-47ea-bae3-39f0b4eb0813" descr="{&quot;SlideID&quot;:&quot;337&quot;,&quot;SlideNumber&quot;:&quot;39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e1d8f59a-81d8-4255-8216-039340f72a6c" descr="{&quot;SlideID&quot;:&quot;338&quot;,&quot;SlideNumber&quot;:&quot;40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c7b8cc51-aeb5-4d65-95cd-5b0e6d13fd9c" descr="{&quot;SlideID&quot;:&quot;339&quot;,&quot;SlideNumber&quot;:&quot;41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4a3ce438-d2ee-4b83-b2ff-a67597c70e8c" descr="{&quot;SlideID&quot;:&quot;341&quot;,&quot;SlideNumber&quot;:&quot;43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a5862361-4297-4af6-9b05-fec06d9127b2" descr="{&quot;SlideID&quot;:&quot;343&quot;,&quot;SlideNumber&quot;:&quot;45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a6aa1a43-8fce-4351-95c8-6de84bfaca33" descr="{&quot;SlideID&quot;:&quot;345&quot;,&quot;SlideNumber&quot;:&quot;47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70ee6895-cdba-4c34-860b-5294a282968b" descr="{&quot;SlideID&quot;:&quot;347&quot;,&quot;SlideNumber&quot;:&quot;49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8ac2557b-47d4-4594-a892-3ea2c9eb3371" descr="{&quot;SlideID&quot;:&quot;349&quot;,&quot;SlideNumber&quot;:&quot;51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c933343e-809b-4cc8-a18c-d2feda4d656c" descr="{&quot;SlideID&quot;:&quot;351&quot;,&quot;SlideNumber&quot;:&quot;53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fc7a2ff8-5440-45aa-b86a-08ff38839b14" descr="{&quot;SlideID&quot;:&quot;353&quot;,&quot;SlideNumber&quot;:&quot;55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7413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2919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36" grpId="0" build="allAtOnce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7" name="yt_shape_11637"/>
          <p:cNvSpPr txBox="1"/>
          <p:nvPr/>
        </p:nvSpPr>
        <p:spPr>
          <a:xfrm>
            <a:off x="324071" y="467999"/>
            <a:ext cx="11924914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北京昌平区期末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某同学将内阻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满偏电流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81623"/>
              </a:rPr>
              <a:t>mA</a:t>
            </a:r>
            <a:b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的毫安表改装成一个量程为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的电压表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改装完成后进行电压测量时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61bc9"/>
              </a:rPr>
              <a:t>，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毫安表指针位置如图所示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1639" name="yt_table_11639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2238297"/>
          <a:ext cx="7743825" cy="2389632"/>
        </p:xfrm>
        <a:graphic>
          <a:graphicData uri="http://schemas.openxmlformats.org/drawingml/2006/table">
            <a:tbl>
              <a:tblPr/>
              <a:tblGrid>
                <a:gridCol w="7743825">
                  <a:extLst>
                    <a:ext uri="{9D8B030D-6E8A-4147-A177-3AD203B41FA5}">
                      <a16:colId xmlns:a16="http://schemas.microsoft.com/office/drawing/2014/main" val="10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改装时应在毫安表上串联一个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580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的电阻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改装时应在毫安表上并联一个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580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的电阻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图中表示测量的电压为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图中表示测量的电压为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06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23"/>
                  </a:ext>
                </a:extLst>
              </a:tr>
            </a:tbl>
          </a:graphicData>
        </a:graphic>
      </p:graphicFrame>
      <p:pic>
        <p:nvPicPr>
          <p:cNvPr id="11638" name="yt_image_11638_skip" title="H_179.37495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89524" y="2238297"/>
            <a:ext cx="3276612" cy="227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97425" y="2440820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954059" y="6427038"/>
            <a:ext cx="4565782" cy="288000"/>
            <a:chOff x="1463551" y="6425622"/>
            <a:chExt cx="4565782" cy="288000"/>
          </a:xfrm>
        </p:grpSpPr>
        <p:sp>
          <p:nvSpPr>
            <p:cNvPr id="11" name="87055768-f57a-483e-880e-525a5d2e78f3" descr="{&quot;SlideID&quot;:&quot;333&quot;,&quot;SlideNumber&quot;:&quot;3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41587b57-955f-4c02-879a-2f90776e6d5e" descr="{&quot;SlideID&quot;:&quot;335&quot;,&quot;SlideNumber&quot;:&quot;37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1a4e61cf-c8a6-488d-bf14-eb1b7d174206" descr="{&quot;SlideID&quot;:&quot;337&quot;,&quot;SlideNumber&quot;:&quot;39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b77fcfed-6d64-4a9a-a732-c2960244a073" descr="{&quot;SlideID&quot;:&quot;338&quot;,&quot;SlideNumber&quot;:&quot;40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1a3e2d2b-24a5-4e3e-bafb-1499e0c8d6fc" descr="{&quot;SlideID&quot;:&quot;339&quot;,&quot;SlideNumber&quot;:&quot;4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743b7f40-bcdf-4e14-adb0-bd4060adfd4b" descr="{&quot;SlideID&quot;:&quot;341&quot;,&quot;SlideNumber&quot;:&quot;4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8283801e-14e9-4415-8dfc-3a05ca5796b3" descr="{&quot;SlideID&quot;:&quot;343&quot;,&quot;SlideNumber&quot;:&quot;45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85cc6fbe-67b5-435a-b85d-fb666a33aef3" descr="{&quot;SlideID&quot;:&quot;345&quot;,&quot;SlideNumber&quot;:&quot;47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42728284-966f-415c-97d6-f3570ac2f6a4" descr="{&quot;SlideID&quot;:&quot;347&quot;,&quot;SlideNumber&quot;:&quot;4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3230315f-c0b3-45c8-945e-387e414cf9e8" descr="{&quot;SlideID&quot;:&quot;349&quot;,&quot;SlideNumber&quot;:&quot;5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05b8ae71-b632-4bd0-b4ff-090fcf3c4358" descr="{&quot;SlideID&quot;:&quot;351&quot;,&quot;SlideNumber&quot;:&quot;5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9bd077c7-edd7-4b60-a009-adceb672fbcf" descr="{&quot;SlideID&quot;:&quot;353&quot;,&quot;SlideNumber&quot;:&quot;55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7413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06619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641" name="yt_shape_11641"/>
              <p:cNvSpPr txBox="1"/>
              <p:nvPr/>
            </p:nvSpPr>
            <p:spPr>
              <a:xfrm>
                <a:off x="324071" y="467999"/>
                <a:ext cx="11924914" cy="274741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改装电压表需要串联一个电阻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所串联的电阻阻值为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9ac4a"/>
                  </a:rPr>
                  <a:t>＝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𝟑𝐕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zh-CN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𝟐𝟎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𝛀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×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𝟓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×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</m:t>
                        </m:r>
                        <m:sSup>
                          <m:sSup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−</m:t>
                            </m:r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𝟑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 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𝐀</m:t>
                        </m:r>
                        <m:r>
                          <a:rPr lang="zh-CN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𝟓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×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</m:t>
                        </m:r>
                        <m:sSup>
                          <m:sSup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−</m:t>
                            </m:r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𝟑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 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𝐀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580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电压表改装后的量程为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b4957"/>
                  </a:rPr>
                  <a:t> 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表盘一共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格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则一格表示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06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指针指在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格的位置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2aa3c"/>
                  </a:rPr>
                  <a:t>读数为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30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06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1641" name="yt_shape_116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2747419"/>
              </a:xfrm>
              <a:prstGeom prst="rect">
                <a:avLst/>
              </a:prstGeom>
              <a:blipFill>
                <a:blip r:embed="rId2"/>
                <a:stretch>
                  <a:fillRect l="-1789" t="-889" b="-7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954059" y="6427038"/>
            <a:ext cx="4565782" cy="288000"/>
            <a:chOff x="1463551" y="6425622"/>
            <a:chExt cx="4565782" cy="288000"/>
          </a:xfrm>
        </p:grpSpPr>
        <p:sp>
          <p:nvSpPr>
            <p:cNvPr id="11" name="c1b2f65a-94f6-476c-83d9-cd8fc5c08a60" descr="{&quot;SlideID&quot;:&quot;333&quot;,&quot;SlideNumber&quot;:&quot;3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eb923599-7eee-4c1b-a9de-6dd9ad9b7b5f" descr="{&quot;SlideID&quot;:&quot;335&quot;,&quot;SlideNumber&quot;:&quot;37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cd2df77c-8a14-4b45-83a6-ebaead08fb7c" descr="{&quot;SlideID&quot;:&quot;337&quot;,&quot;SlideNumber&quot;:&quot;39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c7cdaa7b-b19b-4af3-bbb2-6f8c06acdc80" descr="{&quot;SlideID&quot;:&quot;338&quot;,&quot;SlideNumber&quot;:&quot;40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b69fba02-4e83-4e1e-ad8d-82d1d752f194" descr="{&quot;SlideID&quot;:&quot;339&quot;,&quot;SlideNumber&quot;:&quot;4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db524e90-cad4-4809-ab84-0c804de23e22" descr="{&quot;SlideID&quot;:&quot;341&quot;,&quot;SlideNumber&quot;:&quot;4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57060ca5-d8fc-476a-9a86-38e02cd71072" descr="{&quot;SlideID&quot;:&quot;343&quot;,&quot;SlideNumber&quot;:&quot;45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09f766b9-dca9-4530-8e36-fb2517b2118a" descr="{&quot;SlideID&quot;:&quot;345&quot;,&quot;SlideNumber&quot;:&quot;47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147b04b9-1c87-4fab-8d83-77a6972308fa" descr="{&quot;SlideID&quot;:&quot;347&quot;,&quot;SlideNumber&quot;:&quot;4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28f114c0-1c93-40e8-aa28-efebde8220d4" descr="{&quot;SlideID&quot;:&quot;349&quot;,&quot;SlideNumber&quot;:&quot;5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e0daf41c-4afa-4aa6-a53c-692cc9648ed0" descr="{&quot;SlideID&quot;:&quot;351&quot;,&quot;SlideNumber&quot;:&quot;5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2ac5a2f4-34ea-42b4-ae82-4a42e4dca48b" descr="{&quot;SlideID&quot;:&quot;353&quot;,&quot;SlideNumber&quot;:&quot;55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7413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73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41" grpId="0" build="allAtOnce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3" name="yt_shape_11643"/>
          <p:cNvSpPr txBox="1"/>
          <p:nvPr/>
        </p:nvSpPr>
        <p:spPr>
          <a:xfrm>
            <a:off x="324000" y="467999"/>
            <a:ext cx="3967433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800080"/>
                </a:solidFill>
                <a:effectLst/>
                <a:latin typeface="Times New Roman" pitchFamily="28"/>
                <a:ea typeface="黑体" pitchFamily="28"/>
              </a:rPr>
              <a:t>知识点二</a:t>
            </a:r>
            <a:r>
              <a:rPr lang="zh-CN" altLang="zh-CN" sz="2800" b="1" i="0" u="none" dirty="0">
                <a:solidFill>
                  <a:srgbClr val="80008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1" i="0" u="none" dirty="0">
                <a:solidFill>
                  <a:srgbClr val="800080"/>
                </a:solidFill>
                <a:effectLst/>
                <a:latin typeface="Times New Roman" pitchFamily="28"/>
                <a:ea typeface="黑体" pitchFamily="28"/>
              </a:rPr>
              <a:t>电流表的改装</a:t>
            </a:r>
          </a:p>
        </p:txBody>
      </p:sp>
      <p:sp>
        <p:nvSpPr>
          <p:cNvPr id="11644" name="yt_shape_11644"/>
          <p:cNvSpPr txBox="1"/>
          <p:nvPr/>
        </p:nvSpPr>
        <p:spPr>
          <a:xfrm>
            <a:off x="324071" y="1050984"/>
            <a:ext cx="11543998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陕西汉中月考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一电流表的满偏电流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mA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内电阻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95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5e926"/>
              </a:rPr>
              <a:t> 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要把它改装成一个量程为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的电流表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应在电流表上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1645" name="yt_table_11645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2237211"/>
          <a:ext cx="4708525" cy="2389632"/>
        </p:xfrm>
        <a:graphic>
          <a:graphicData uri="http://schemas.openxmlformats.org/drawingml/2006/table">
            <a:tbl>
              <a:tblPr/>
              <a:tblGrid>
                <a:gridCol w="4708525">
                  <a:extLst>
                    <a:ext uri="{9D8B030D-6E8A-4147-A177-3AD203B41FA5}">
                      <a16:colId xmlns:a16="http://schemas.microsoft.com/office/drawing/2014/main" val="102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串联一个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的电阻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并联一个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的电阻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串联一个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75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的电阻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并联一个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75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的电阻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2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647" name="yt_shape_11647"/>
              <p:cNvSpPr txBox="1"/>
              <p:nvPr/>
            </p:nvSpPr>
            <p:spPr>
              <a:xfrm>
                <a:off x="324071" y="4677104"/>
                <a:ext cx="11924914" cy="164840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把该电流表改装成一个量程为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的电流表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17351"/>
                  </a:rPr>
                  <a:t>需要并联分流电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阻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电阻阻值为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𝐠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𝐠</m:t>
                            </m:r>
                          </m:sub>
                        </m:sSub>
                      </m:num>
                      <m:den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𝑰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𝐠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𝟑𝟎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×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𝟗𝟓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𝟔𝟎𝟎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𝟑𝟎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 xmlns:p15="http://schemas.microsoft.com/office/powerpoint/2012/main">
          <p:sp>
            <p:nvSpPr>
              <p:cNvPr id="11647" name="yt_shape_116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7104"/>
                <a:ext cx="11924914" cy="1648400"/>
              </a:xfrm>
              <a:prstGeom prst="rect">
                <a:avLst/>
              </a:prstGeom>
              <a:blipFill>
                <a:blip r:embed="rId2"/>
                <a:stretch>
                  <a:fillRect l="-1789" t="-1476" b="-3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49676" y="3031023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954059" y="6427038"/>
            <a:ext cx="4565782" cy="288000"/>
            <a:chOff x="1463551" y="6425622"/>
            <a:chExt cx="4565782" cy="288000"/>
          </a:xfrm>
        </p:grpSpPr>
        <p:sp>
          <p:nvSpPr>
            <p:cNvPr id="11" name="be86eb67-fbb7-4be8-a981-a41909342bfb" descr="{&quot;SlideID&quot;:&quot;333&quot;,&quot;SlideNumber&quot;:&quot;3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ef8f8940-16e8-4ce8-a142-f2c70bcb85bd" descr="{&quot;SlideID&quot;:&quot;335&quot;,&quot;SlideNumber&quot;:&quot;37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18c80275-029f-4eb0-a54b-326c8570612b" descr="{&quot;SlideID&quot;:&quot;337&quot;,&quot;SlideNumber&quot;:&quot;39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caabdbd2-20d1-43ae-8b95-a77a17a6c3e6" descr="{&quot;SlideID&quot;:&quot;338&quot;,&quot;SlideNumber&quot;:&quot;40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5e76bc34-3e9a-4066-b30d-5839ca09bfb2" descr="{&quot;SlideID&quot;:&quot;339&quot;,&quot;SlideNumber&quot;:&quot;4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e9bda66a-e649-4907-9a5a-5cfc5650a904" descr="{&quot;SlideID&quot;:&quot;341&quot;,&quot;SlideNumber&quot;:&quot;4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455cc359-782d-4b85-aa49-e73036a85a33" descr="{&quot;SlideID&quot;:&quot;343&quot;,&quot;SlideNumber&quot;:&quot;45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0795ddac-60e4-4809-9f31-69e4964c6e7b" descr="{&quot;SlideID&quot;:&quot;345&quot;,&quot;SlideNumber&quot;:&quot;47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d5d8fad6-279c-4b65-99ed-30f0f8db9dc3" descr="{&quot;SlideID&quot;:&quot;347&quot;,&quot;SlideNumber&quot;:&quot;4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7baf214b-0d86-43ad-9a8c-71ef99d00c41" descr="{&quot;SlideID&quot;:&quot;349&quot;,&quot;SlideNumber&quot;:&quot;5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a98b4ccb-2c73-45b4-a8ed-b5783e6a8eee" descr="{&quot;SlideID&quot;:&quot;351&quot;,&quot;SlideNumber&quot;:&quot;5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0eb09468-f061-42e6-a7f6-d3ca14613a45" descr="{&quot;SlideID&quot;:&quot;353&quot;,&quot;SlideNumber&quot;:&quot;55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7413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41792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47" grpId="0" build="allAtOnce"/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9" name="yt_shape_11649"/>
          <p:cNvSpPr txBox="1"/>
          <p:nvPr/>
        </p:nvSpPr>
        <p:spPr>
          <a:xfrm>
            <a:off x="324071" y="467999"/>
            <a:ext cx="11543998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河北张家口期中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如图所示为双量程电流表的内部结构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31ee4"/>
              </a:rPr>
              <a:t>由表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头和定值电阻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组成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表头的满偏电流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mA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内阻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fadc2"/>
              </a:rPr>
              <a:t>，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定值电阻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接线柱对应的量程为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1651" name="yt_table_11651_skip" title="H_94.08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2257468"/>
          <a:ext cx="5173980" cy="1194816"/>
        </p:xfrm>
        <a:graphic>
          <a:graphicData uri="http://schemas.openxmlformats.org/drawingml/2006/table">
            <a:tbl>
              <a:tblPr/>
              <a:tblGrid>
                <a:gridCol w="3053080">
                  <a:extLst>
                    <a:ext uri="{9D8B030D-6E8A-4147-A177-3AD203B41FA5}">
                      <a16:colId xmlns:a16="http://schemas.microsoft.com/office/drawing/2014/main" val="10235"/>
                    </a:ext>
                  </a:extLst>
                </a:gridCol>
                <a:gridCol w="2120900">
                  <a:extLst>
                    <a:ext uri="{9D8B030D-6E8A-4147-A177-3AD203B41FA5}">
                      <a16:colId xmlns:a16="http://schemas.microsoft.com/office/drawing/2014/main" val="102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4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mA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6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mA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13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mA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15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mA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29"/>
                  </a:ext>
                </a:extLst>
              </a:tr>
            </a:tbl>
          </a:graphicData>
        </a:graphic>
      </p:graphicFrame>
      <p:pic>
        <p:nvPicPr>
          <p:cNvPr id="11650" name="yt_image_11650_skip" title="H_122.37496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29607" y="2257468"/>
            <a:ext cx="3036477" cy="155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53" name="yt_shape_11653"/>
          <p:cNvSpPr txBox="1"/>
          <p:nvPr/>
        </p:nvSpPr>
        <p:spPr>
          <a:xfrm>
            <a:off x="324071" y="3862418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1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当接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接线柱时表头与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串联后再与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并联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5_b4f1c"/>
              </a:rPr>
              <a:t>的电流与表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头的电流关系为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1" i="1" u="none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 err="1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）＝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代入数据解得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13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mA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3_fdc97"/>
              </a:rPr>
              <a:t>接线柱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对应的量程为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1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15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mA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故选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3206385" y="3077588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954059" y="6427038"/>
            <a:ext cx="4565782" cy="288000"/>
            <a:chOff x="1463551" y="6425622"/>
            <a:chExt cx="4565782" cy="288000"/>
          </a:xfrm>
        </p:grpSpPr>
        <p:sp>
          <p:nvSpPr>
            <p:cNvPr id="11" name="1848d217-0735-44a4-ac23-682802cb913d" descr="{&quot;SlideID&quot;:&quot;333&quot;,&quot;SlideNumber&quot;:&quot;3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413b456a-6c26-4a08-bcb4-5e395a51fee2" descr="{&quot;SlideID&quot;:&quot;335&quot;,&quot;SlideNumber&quot;:&quot;37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59d3ee46-f74c-46a6-806f-ce8eb0376ac1" descr="{&quot;SlideID&quot;:&quot;337&quot;,&quot;SlideNumber&quot;:&quot;39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615abb3b-2e22-4b75-8352-cc533838d320" descr="{&quot;SlideID&quot;:&quot;338&quot;,&quot;SlideNumber&quot;:&quot;40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1da7d791-26ce-4018-b573-1a1f19b4b778" descr="{&quot;SlideID&quot;:&quot;339&quot;,&quot;SlideNumber&quot;:&quot;4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cc5c58b0-3e65-4664-aaf9-a93f316e3cd7" descr="{&quot;SlideID&quot;:&quot;341&quot;,&quot;SlideNumber&quot;:&quot;4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1be11ddb-83b5-43af-948e-857ad2225be5" descr="{&quot;SlideID&quot;:&quot;343&quot;,&quot;SlideNumber&quot;:&quot;45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990fa62a-bedc-4c10-8d4f-352a7595d175" descr="{&quot;SlideID&quot;:&quot;345&quot;,&quot;SlideNumber&quot;:&quot;47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65493663-be87-4ac4-b322-45120d6a92de" descr="{&quot;SlideID&quot;:&quot;347&quot;,&quot;SlideNumber&quot;:&quot;4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ba9a9f9f-33ca-48f7-86a8-6032675cc344" descr="{&quot;SlideID&quot;:&quot;349&quot;,&quot;SlideNumber&quot;:&quot;5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1fd01332-4658-4869-b3eb-a858d5398133" descr="{&quot;SlideID&quot;:&quot;351&quot;,&quot;SlideNumber&quot;:&quot;5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e3890151-6689-4d0a-979d-abb6313b82cd" descr="{&quot;SlideID&quot;:&quot;353&quot;,&quot;SlideNumber&quot;:&quot;55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7413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27687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53" grpId="0" build="allAtOnce"/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4" name="yt_shape_11654"/>
          <p:cNvSpPr txBox="1"/>
          <p:nvPr/>
        </p:nvSpPr>
        <p:spPr>
          <a:xfrm>
            <a:off x="324071" y="467999"/>
            <a:ext cx="11924914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浙江金华联考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用内阻为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110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满偏电流为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8d16b"/>
              </a:rPr>
              <a:t>mA</a:t>
            </a:r>
            <a:b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的表头改装成量程为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的双量程电流表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接线柱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90547"/>
              </a:rPr>
              <a:t>为公共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接线柱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1656" name="yt_table_11656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2238297"/>
          <a:ext cx="8201470" cy="2389632"/>
        </p:xfrm>
        <a:graphic>
          <a:graphicData uri="http://schemas.openxmlformats.org/drawingml/2006/table">
            <a:tbl>
              <a:tblPr/>
              <a:tblGrid>
                <a:gridCol w="8201470">
                  <a:extLst>
                    <a:ext uri="{9D8B030D-6E8A-4147-A177-3AD203B41FA5}">
                      <a16:colId xmlns:a16="http://schemas.microsoft.com/office/drawing/2014/main" val="102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～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量程电流表内阻比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～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6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量程内阻大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用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两个接线柱时电流表的量程为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～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＋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3"/>
                  </a:ext>
                </a:extLst>
              </a:tr>
            </a:tbl>
          </a:graphicData>
        </a:graphic>
      </p:graphicFrame>
      <p:pic>
        <p:nvPicPr>
          <p:cNvPr id="11655" name="yt_image_11655_skip" title="H_154.75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71183" y="2238297"/>
            <a:ext cx="2894870" cy="196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36613" y="2937209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954059" y="6427038"/>
            <a:ext cx="4565782" cy="288000"/>
            <a:chOff x="1463551" y="6425622"/>
            <a:chExt cx="4565782" cy="288000"/>
          </a:xfrm>
        </p:grpSpPr>
        <p:sp>
          <p:nvSpPr>
            <p:cNvPr id="11" name="0da05465-6c1f-46a7-a8a5-3bbd88ede834" descr="{&quot;SlideID&quot;:&quot;333&quot;,&quot;SlideNumber&quot;:&quot;3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7b73da31-c032-4135-bf7c-ef80e393320d" descr="{&quot;SlideID&quot;:&quot;335&quot;,&quot;SlideNumber&quot;:&quot;37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25d5d0f0-b587-47aa-9d38-9a1acc4884c4" descr="{&quot;SlideID&quot;:&quot;337&quot;,&quot;SlideNumber&quot;:&quot;39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17ddd329-ab91-45f9-a3a7-43ee2050a2c0" descr="{&quot;SlideID&quot;:&quot;338&quot;,&quot;SlideNumber&quot;:&quot;40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0c6cc8ee-2a95-476f-a570-907764f449ea" descr="{&quot;SlideID&quot;:&quot;339&quot;,&quot;SlideNumber&quot;:&quot;4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69a15a83-1391-48d7-be6f-55db9cec6e15" descr="{&quot;SlideID&quot;:&quot;341&quot;,&quot;SlideNumber&quot;:&quot;4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fdfebfb1-fcc5-4797-a2aa-95ebdcf1ec09" descr="{&quot;SlideID&quot;:&quot;343&quot;,&quot;SlideNumber&quot;:&quot;45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cb815c4e-d6f0-4e56-a74d-1ab06d2f35ba" descr="{&quot;SlideID&quot;:&quot;345&quot;,&quot;SlideNumber&quot;:&quot;47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285d3e38-f508-4b57-9b1a-af8f13a56e8e" descr="{&quot;SlideID&quot;:&quot;347&quot;,&quot;SlideNumber&quot;:&quot;4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cda153a4-d380-459c-8c7d-04681a019728" descr="{&quot;SlideID&quot;:&quot;349&quot;,&quot;SlideNumber&quot;:&quot;5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73386f32-482b-4074-bb01-2d6f39fdf115" descr="{&quot;SlideID&quot;:&quot;351&quot;,&quot;SlideNumber&quot;:&quot;5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2ab23d00-464c-4841-9908-37126df41ea9" descr="{&quot;SlideID&quot;:&quot;353&quot;,&quot;SlideNumber&quot;:&quot;55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7413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08694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658" name="yt_shape_11658"/>
              <p:cNvSpPr txBox="1"/>
              <p:nvPr/>
            </p:nvSpPr>
            <p:spPr>
              <a:xfrm>
                <a:off x="324071" y="467999"/>
                <a:ext cx="11924914" cy="586032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根据电路可知用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和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接线柱时电流表的量程分别为</a:t>
                </a:r>
                <a:r>
                  <a:rPr lang="en-US" altLang="zh-CN" sz="2800" b="1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1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f10c5"/>
                  </a:rPr>
                  <a:t>g</a:t>
                </a:r>
                <a:b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𝐠</m:t>
                            </m:r>
                          </m:sub>
                        </m:sSub>
                        <m:r>
                          <a:rPr lang="zh-CN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𝐠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  <m:r>
                          <a:rPr lang="zh-CN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1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𝐠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𝟏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则有</a:t>
                </a:r>
                <a:r>
                  <a:rPr lang="en-US" altLang="zh-CN" sz="2800" b="1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1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:r>
                  <a:rPr lang="en-US" altLang="zh-CN" sz="2800" b="1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1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所以用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e5b5f"/>
                  </a:rPr>
                  <a:t>两个接线柱时电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流表的量程为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用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两个接线柱时电流表的量程为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7230d"/>
                  </a:rPr>
                  <a:t>将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数据代入可解得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则有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2840c"/>
                  </a:rPr>
                  <a:t>错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量程电流表内阻为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𝟏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1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CN" sz="2800" b="1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zh-CN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＋</m:t>
                            </m:r>
                            <m:sSub>
                              <m:sSubPr>
                                <m:ctrlPr>
                                  <a:rPr lang="en-US" altLang="zh-CN" sz="2800" b="1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CN" sz="2800" b="1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𝐠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𝟏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𝐠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𝟐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×</m:t>
                        </m:r>
                        <m:r>
                          <a:rPr lang="zh-CN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𝟖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+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𝟏𝟏𝟎</m:t>
                        </m:r>
                        <m:r>
                          <a:rPr lang="zh-CN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𝟐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+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𝟖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+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𝟏𝟏𝟎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𝟐𝟑𝟔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𝟏𝟐𝟎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91847"/>
                  </a:rPr>
                  <a:t>，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量程电流表内阻为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1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'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zh-CN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𝟏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  <m:r>
                          <a:rPr lang="zh-CN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𝟏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𝐠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zh-CN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𝟐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+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𝟖</m:t>
                        </m:r>
                        <m:r>
                          <a:rPr lang="zh-CN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×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𝟏𝟏𝟎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𝟐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+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𝟖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+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𝟏𝟏𝟎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𝟏𝟏𝟎𝟎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𝟏𝟐𝟎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7b71f"/>
                  </a:rPr>
                  <a:t>，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量程电表内阻比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量程内阻小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1658" name="yt_shape_116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5860322"/>
              </a:xfrm>
              <a:prstGeom prst="rect">
                <a:avLst/>
              </a:prstGeom>
              <a:blipFill>
                <a:blip r:embed="rId2"/>
                <a:stretch>
                  <a:fillRect l="-1789" t="-416" b="-2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954059" y="6427038"/>
            <a:ext cx="4565782" cy="288000"/>
            <a:chOff x="1463551" y="6425622"/>
            <a:chExt cx="4565782" cy="288000"/>
          </a:xfrm>
        </p:grpSpPr>
        <p:sp>
          <p:nvSpPr>
            <p:cNvPr id="11" name="3f21c004-96de-40cc-8b83-9f5783dfe128" descr="{&quot;SlideID&quot;:&quot;333&quot;,&quot;SlideNumber&quot;:&quot;3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ba4480a5-1830-43b3-b451-341ca2b3c13f" descr="{&quot;SlideID&quot;:&quot;335&quot;,&quot;SlideNumber&quot;:&quot;37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152b77d4-d1b2-49fd-a68f-e002f2d634a3" descr="{&quot;SlideID&quot;:&quot;337&quot;,&quot;SlideNumber&quot;:&quot;39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b3684cbe-fa2e-4487-b78f-179b48538b46" descr="{&quot;SlideID&quot;:&quot;338&quot;,&quot;SlideNumber&quot;:&quot;40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40db7236-ef0a-4454-9657-e76e1ff1f09f" descr="{&quot;SlideID&quot;:&quot;339&quot;,&quot;SlideNumber&quot;:&quot;4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20f85954-b873-4683-9a57-790cd27c06a8" descr="{&quot;SlideID&quot;:&quot;341&quot;,&quot;SlideNumber&quot;:&quot;4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7d8f430c-81b1-4794-a099-cc2425b02140" descr="{&quot;SlideID&quot;:&quot;343&quot;,&quot;SlideNumber&quot;:&quot;45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c5a33631-56ea-4485-978b-3fff67c3eab2" descr="{&quot;SlideID&quot;:&quot;345&quot;,&quot;SlideNumber&quot;:&quot;47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5a40f6d6-3b90-4d86-b240-b2067b9e3e86" descr="{&quot;SlideID&quot;:&quot;347&quot;,&quot;SlideNumber&quot;:&quot;4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3cd2fe09-ac45-401a-9b16-7c97c52a9c72" descr="{&quot;SlideID&quot;:&quot;349&quot;,&quot;SlideNumber&quot;:&quot;5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d2f93e6c-9d3a-49c8-91b1-d6b12b271ba8" descr="{&quot;SlideID&quot;:&quot;351&quot;,&quot;SlideNumber&quot;:&quot;5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7c8856ee-dcb7-4262-b25c-d215494d904f" descr="{&quot;SlideID&quot;:&quot;353&quot;,&quot;SlideNumber&quot;:&quot;55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7413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767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58" grpId="0" build="allAtOnce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0" name="yt_shape_11660"/>
          <p:cNvSpPr txBox="1"/>
          <p:nvPr/>
        </p:nvSpPr>
        <p:spPr>
          <a:xfrm>
            <a:off x="324071" y="467999"/>
            <a:ext cx="11924914" cy="292599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800080"/>
                </a:solidFill>
                <a:effectLst/>
                <a:latin typeface="Times New Roman" pitchFamily="28"/>
                <a:ea typeface="黑体" pitchFamily="28"/>
              </a:rPr>
              <a:t>知识点三</a:t>
            </a:r>
            <a:r>
              <a:rPr lang="zh-CN" altLang="zh-CN" sz="2800" b="1" i="0" u="none" dirty="0">
                <a:solidFill>
                  <a:srgbClr val="80008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1" i="0" u="none" dirty="0">
                <a:solidFill>
                  <a:srgbClr val="800080"/>
                </a:solidFill>
                <a:effectLst/>
                <a:latin typeface="Times New Roman" pitchFamily="28"/>
                <a:ea typeface="黑体" pitchFamily="28"/>
              </a:rPr>
              <a:t>伏安法测电阻中电流表的两种接法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用伏安法测电阻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的实验中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6_a20a5"/>
              </a:rPr>
              <a:t>测量电路中电表的连接方式如图甲或</a:t>
            </a:r>
            <a:b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乙所示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把电压表读数和电流表读数的比值作为电阻的测量值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38167"/>
              </a:rPr>
              <a:t>考虑到实</a:t>
            </a:r>
            <a:b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际电表内阻对测量的影响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两种连接方式都存在系统误差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2522a"/>
              </a:rPr>
              <a:t>下列判断正确</a:t>
            </a:r>
            <a:b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的是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1663" name="yt_table_11663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71" y="4110573"/>
          <a:ext cx="7551739" cy="2389632"/>
        </p:xfrm>
        <a:graphic>
          <a:graphicData uri="http://schemas.openxmlformats.org/drawingml/2006/table">
            <a:tbl>
              <a:tblPr/>
              <a:tblGrid>
                <a:gridCol w="7551739">
                  <a:extLst>
                    <a:ext uri="{9D8B030D-6E8A-4147-A177-3AD203B41FA5}">
                      <a16:colId xmlns:a16="http://schemas.microsoft.com/office/drawing/2014/main" val="102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若采用图甲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误差是由电压表分流引起的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若采用图甲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电阻的测量值小于真实值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若采用图乙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误差是由电流表分压引起的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若采用图乙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电阻的测量值小于真实值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7"/>
                  </a:ext>
                </a:extLst>
              </a:tr>
            </a:tbl>
          </a:graphicData>
        </a:graphic>
      </p:graphicFrame>
      <p:pic>
        <p:nvPicPr>
          <p:cNvPr id="11662" name="yt_image_11662_skip" title="H_121.12496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26100" y="2836697"/>
            <a:ext cx="4625124" cy="1443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48657" y="6073170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954059" y="6427038"/>
            <a:ext cx="4565782" cy="288000"/>
            <a:chOff x="1463551" y="6425622"/>
            <a:chExt cx="4565782" cy="288000"/>
          </a:xfrm>
        </p:grpSpPr>
        <p:sp>
          <p:nvSpPr>
            <p:cNvPr id="11" name="778f16ed-d037-4497-a45c-f73f39b90fcb" descr="{&quot;SlideID&quot;:&quot;333&quot;,&quot;SlideNumber&quot;:&quot;3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4681cf06-d08c-4615-9493-f4ae5f54ef01" descr="{&quot;SlideID&quot;:&quot;335&quot;,&quot;SlideNumber&quot;:&quot;37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3bba8b6f-1da2-4675-80a3-a52835d74c4e" descr="{&quot;SlideID&quot;:&quot;337&quot;,&quot;SlideNumber&quot;:&quot;39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3a92e6e5-0365-4a72-9e9d-e552400233f8" descr="{&quot;SlideID&quot;:&quot;338&quot;,&quot;SlideNumber&quot;:&quot;40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8c452494-0444-4579-960b-8b97152a5e5d" descr="{&quot;SlideID&quot;:&quot;339&quot;,&quot;SlideNumber&quot;:&quot;4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1292d94b-834b-4cd4-be00-132d4706122d" descr="{&quot;SlideID&quot;:&quot;341&quot;,&quot;SlideNumber&quot;:&quot;4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98aa6a1e-630d-4586-8bc4-c59151e06c41" descr="{&quot;SlideID&quot;:&quot;343&quot;,&quot;SlideNumber&quot;:&quot;45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d75bde57-4164-45a0-b6bb-40e0a76ef1a4" descr="{&quot;SlideID&quot;:&quot;345&quot;,&quot;SlideNumber&quot;:&quot;47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d56e1df6-563c-49f8-a50e-35f078c0a9a8" descr="{&quot;SlideID&quot;:&quot;347&quot;,&quot;SlideNumber&quot;:&quot;4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8cfb281a-06c7-4c6c-8109-0a67aed6bf85" descr="{&quot;SlideID&quot;:&quot;349&quot;,&quot;SlideNumber&quot;:&quot;5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b4b9a75d-4534-4bac-8cc6-28b063162402" descr="{&quot;SlideID&quot;:&quot;351&quot;,&quot;SlideNumber&quot;:&quot;5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bfd85f2c-afa0-4f96-bc93-a8f0076ea404" descr="{&quot;SlideID&quot;:&quot;353&quot;,&quot;SlideNumber&quot;:&quot;55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7413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58331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5" name="yt_shape_11665"/>
          <p:cNvSpPr txBox="1"/>
          <p:nvPr/>
        </p:nvSpPr>
        <p:spPr>
          <a:xfrm>
            <a:off x="324071" y="467999"/>
            <a:ext cx="11924914" cy="354840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1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若采用题图甲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0_9cbf0"/>
              </a:rPr>
              <a:t>电压表测量的是待测电阻和电流表串联后两端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的电压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误差是由电流表分压引起的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电压的测量值偏大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6_1ce38"/>
              </a:rPr>
              <a:t>根据欧姆定律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可知电阻的测量值大于真实值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若采用题图乙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4_03479"/>
              </a:rPr>
              <a:t>电流表测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量的是通过电压表和待测电阻的电流之和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误差是由电压表分流引起的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57ff8"/>
              </a:rPr>
              <a:t>，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电流的测量值大于真实值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根据欧姆定律可知电阻的测量值小于真实值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ceadf"/>
              </a:rPr>
              <a:t>，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正确。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3954059" y="6427038"/>
            <a:ext cx="4565782" cy="288000"/>
            <a:chOff x="1463551" y="6425622"/>
            <a:chExt cx="4565782" cy="288000"/>
          </a:xfrm>
        </p:grpSpPr>
        <p:sp>
          <p:nvSpPr>
            <p:cNvPr id="11" name="6184ef17-ca44-4ea4-b21d-c05eeb407e46" descr="{&quot;SlideID&quot;:&quot;333&quot;,&quot;SlideNumber&quot;:&quot;35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bd545802-b310-4817-9a7c-d333b5424c33" descr="{&quot;SlideID&quot;:&quot;335&quot;,&quot;SlideNumber&quot;:&quot;37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e8157db4-71b5-47f4-bc5c-7f547df51d1c" descr="{&quot;SlideID&quot;:&quot;337&quot;,&quot;SlideNumber&quot;:&quot;39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908a0557-51d0-40be-a047-9c84f77f2a4d" descr="{&quot;SlideID&quot;:&quot;338&quot;,&quot;SlideNumber&quot;:&quot;40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a773ba6d-95bd-4323-94ba-2123075eebe5" descr="{&quot;SlideID&quot;:&quot;339&quot;,&quot;SlideNumber&quot;:&quot;41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ba1bd3c8-9c17-4179-af4b-e447e06478ed" descr="{&quot;SlideID&quot;:&quot;341&quot;,&quot;SlideNumber&quot;:&quot;43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1ed25c97-948d-4db8-b3ff-abeda957102c" descr="{&quot;SlideID&quot;:&quot;343&quot;,&quot;SlideNumber&quot;:&quot;45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e49c4c8f-aaa8-4d13-841f-85c44c39d855" descr="{&quot;SlideID&quot;:&quot;345&quot;,&quot;SlideNumber&quot;:&quot;47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b1ec05c9-3e2d-400a-8f14-386ce03e076d" descr="{&quot;SlideID&quot;:&quot;347&quot;,&quot;SlideNumber&quot;:&quot;49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f301677a-a0a5-474b-9202-610e711419de" descr="{&quot;SlideID&quot;:&quot;349&quot;,&quot;SlideNumber&quot;:&quot;51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12a75d4a-3ed3-4e18-b99e-b9bbd759fc33" descr="{&quot;SlideID&quot;:&quot;351&quot;,&quot;SlideNumber&quot;:&quot;53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20be1b71-521f-4ee5-a43a-75ce9c8f6e10" descr="{&quot;SlideID&quot;:&quot;353&quot;,&quot;SlideNumber&quot;:&quot;55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7413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305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65" grpId="0" build="allAtOnce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6" name="yt_shape_11666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7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为测量某电阻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的阻值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分别连接成如图所示的甲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乙两电路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4c94d"/>
              </a:rPr>
              <a:t>在甲电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路中电压表和电流表的示数分别为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0_bfb22"/>
              </a:rPr>
              <a:t>乙电路中两电表示数分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别为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为了减少测量误差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1668" name="yt_table_11668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2257468"/>
          <a:ext cx="6494463" cy="2389632"/>
        </p:xfrm>
        <a:graphic>
          <a:graphicData uri="http://schemas.openxmlformats.org/drawingml/2006/table">
            <a:tbl>
              <a:tblPr/>
              <a:tblGrid>
                <a:gridCol w="6494463">
                  <a:extLst>
                    <a:ext uri="{9D8B030D-6E8A-4147-A177-3AD203B41FA5}">
                      <a16:colId xmlns:a16="http://schemas.microsoft.com/office/drawing/2014/main" val="102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应选用甲电路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其真实值小于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80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应选用乙电路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其真实值大于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应选用甲电路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其真实值大于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80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应选用乙电路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其真实值小于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1"/>
                  </a:ext>
                </a:extLst>
              </a:tr>
            </a:tbl>
          </a:graphicData>
        </a:graphic>
      </p:graphicFrame>
      <p:pic>
        <p:nvPicPr>
          <p:cNvPr id="11667" name="yt_image_11667_skip" title="H_127.75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81728" y="2257468"/>
            <a:ext cx="4984785" cy="162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62739" y="2427757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954059" y="6427038"/>
            <a:ext cx="4565782" cy="288000"/>
            <a:chOff x="1463551" y="6425622"/>
            <a:chExt cx="4565782" cy="288000"/>
          </a:xfrm>
        </p:grpSpPr>
        <p:sp>
          <p:nvSpPr>
            <p:cNvPr id="11" name="73f45c5e-8475-4a9e-917d-6f55ad03dca1" descr="{&quot;SlideID&quot;:&quot;333&quot;,&quot;SlideNumber&quot;:&quot;3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cc3d6062-f34e-4e32-b7b1-7a21a790c622" descr="{&quot;SlideID&quot;:&quot;335&quot;,&quot;SlideNumber&quot;:&quot;37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573f96f8-5fc2-442d-a784-b678376304ca" descr="{&quot;SlideID&quot;:&quot;337&quot;,&quot;SlideNumber&quot;:&quot;39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d8b7c9c6-9f61-4a6c-8d02-8bc55b077ca4" descr="{&quot;SlideID&quot;:&quot;338&quot;,&quot;SlideNumber&quot;:&quot;40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beba8e87-97ba-44c8-b576-f1495dccb26e" descr="{&quot;SlideID&quot;:&quot;339&quot;,&quot;SlideNumber&quot;:&quot;4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3dac2064-3612-4eaa-a453-2efc2498f12e" descr="{&quot;SlideID&quot;:&quot;341&quot;,&quot;SlideNumber&quot;:&quot;4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2574a21-1842-45c0-83ca-96df2210d5d9" descr="{&quot;SlideID&quot;:&quot;343&quot;,&quot;SlideNumber&quot;:&quot;45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b1525aea-7773-41de-8ca0-fa1c92482b12" descr="{&quot;SlideID&quot;:&quot;345&quot;,&quot;SlideNumber&quot;:&quot;47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93600f06-f18d-4efa-ac30-cac9bdbc056a" descr="{&quot;SlideID&quot;:&quot;347&quot;,&quot;SlideNumber&quot;:&quot;4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55eea6fa-c483-42c6-b4e6-d1c9ec2140d8" descr="{&quot;SlideID&quot;:&quot;349&quot;,&quot;SlideNumber&quot;:&quot;5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4dd80ae0-8dd5-42f8-b061-0cae4ca3c8b7" descr="{&quot;SlideID&quot;:&quot;351&quot;,&quot;SlideNumber&quot;:&quot;5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e6d8f425-cea8-4cb3-8225-703f4686646e" descr="{&quot;SlideID&quot;:&quot;353&quot;,&quot;SlideNumber&quot;:&quot;55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7413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54988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670" name="yt_shape_11670"/>
              <p:cNvSpPr txBox="1"/>
              <p:nvPr/>
            </p:nvSpPr>
            <p:spPr>
              <a:xfrm>
                <a:off x="324071" y="467999"/>
                <a:ext cx="11924914" cy="496462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由题意可知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题图甲中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电流测量是准确的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5dae6"/>
                  </a:rPr>
                  <a:t>题图乙中电压测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量是准确的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两图中电流表示数变化量大小为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15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05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80a3e"/>
                  </a:rPr>
                  <a:t> 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电压表示数变化量大小为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𝚫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𝑰</m:t>
                        </m:r>
                      </m:num>
                      <m:den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𝑰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𝟎</m:t>
                        </m:r>
                        <m:r>
                          <m:rPr>
                            <m:nor/>
                          </m:rP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𝟎𝟓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𝟎</m:t>
                        </m:r>
                        <m:r>
                          <m:rPr>
                            <m:nor/>
                          </m:rP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𝟏𝟓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  <a:sym typeface="_⨹_9_193ff"/>
                          </a:rPr>
                        </m:ctrlPr>
                      </m:fPr>
                      <m:num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  <a:sym typeface="_⨹_9_193ff"/>
                          </a:rPr>
                          <m:t>𝚫</m:t>
                        </m:r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  <a:sym typeface="_⨹_9_193ff"/>
                          </a:rPr>
                          <m:t>𝑼</m:t>
                        </m:r>
                      </m:num>
                      <m:den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  <a:sym typeface="_⨹_9_193ff"/>
                          </a:rPr>
                          <m:t>𝑼</m:t>
                        </m:r>
                      </m:den>
                    </m:f>
                  </m:oMath>
                </a14:m>
                <a:br>
                  <a:rPr lang="en-US" altLang="zh-CN" sz="2800" b="1" i="1" dirty="0">
                    <a:solidFill>
                      <a:srgbClr val="C00000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56" charset="0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𝟔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所以两种接法中电流表示数变化较大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电压表示数变化较小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7f666"/>
                  </a:rPr>
                  <a:t>说明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电压表的分流效果较大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故采用电流表内接法误差较小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13b37"/>
                  </a:rPr>
                  <a:t>即题图甲误差较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测得数据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𝑼</m:t>
                        </m:r>
                      </m:num>
                      <m:den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𝑰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𝟏𝟐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𝟎</m:t>
                        </m:r>
                        <m:r>
                          <m:rPr>
                            <m:nor/>
                          </m:rP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𝟏𝟓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因测量值是电流表与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串联的阻值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2d4cd"/>
                  </a:rPr>
                  <a:t>，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所以待测电阻真实值比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小。故选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1670" name="yt_shape_116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4964629"/>
              </a:xfrm>
              <a:prstGeom prst="rect">
                <a:avLst/>
              </a:prstGeom>
              <a:blipFill>
                <a:blip r:embed="rId2"/>
                <a:stretch>
                  <a:fillRect l="-1789" t="-491" b="-35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954059" y="6427038"/>
            <a:ext cx="4565782" cy="288000"/>
            <a:chOff x="1463551" y="6425622"/>
            <a:chExt cx="4565782" cy="288000"/>
          </a:xfrm>
        </p:grpSpPr>
        <p:sp>
          <p:nvSpPr>
            <p:cNvPr id="11" name="4dc9dd92-0f35-45d4-afe7-79d4d6c62a76" descr="{&quot;SlideID&quot;:&quot;333&quot;,&quot;SlideNumber&quot;:&quot;3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c11fee14-3849-40f6-8870-d51ce817bc7e" descr="{&quot;SlideID&quot;:&quot;335&quot;,&quot;SlideNumber&quot;:&quot;37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355bc20e-d4ae-416f-96a6-c2428049554f" descr="{&quot;SlideID&quot;:&quot;337&quot;,&quot;SlideNumber&quot;:&quot;39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f21d174d-64aa-4d85-a3ad-198114827116" descr="{&quot;SlideID&quot;:&quot;338&quot;,&quot;SlideNumber&quot;:&quot;40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f8e81eb3-bc1e-49c0-819a-ca87d7388b3b" descr="{&quot;SlideID&quot;:&quot;339&quot;,&quot;SlideNumber&quot;:&quot;4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fd56bd19-8d13-438e-a1ce-b42574dc0f7a" descr="{&quot;SlideID&quot;:&quot;341&quot;,&quot;SlideNumber&quot;:&quot;4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34fd4010-ae87-49eb-a7f4-ce814791619b" descr="{&quot;SlideID&quot;:&quot;343&quot;,&quot;SlideNumber&quot;:&quot;45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29ce7663-790b-4be5-ac8c-400257b4708a" descr="{&quot;SlideID&quot;:&quot;345&quot;,&quot;SlideNumber&quot;:&quot;47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af187c00-ef25-4e60-aab8-47ad1cc1d0f2" descr="{&quot;SlideID&quot;:&quot;347&quot;,&quot;SlideNumber&quot;:&quot;4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2f628b55-6ef4-4cce-858e-e6a2ab5cd380" descr="{&quot;SlideID&quot;:&quot;349&quot;,&quot;SlideNumber&quot;:&quot;5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85ca3540-5815-4456-8eb3-467e49b80247" descr="{&quot;SlideID&quot;:&quot;351&quot;,&quot;SlideNumber&quot;:&quot;5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e3669fc6-5303-4384-a1f0-f2c29067493d" descr="{&quot;SlideID&quot;:&quot;353&quot;,&quot;SlideNumber&quot;:&quot;55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7413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1440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6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0" grpId="0" build="allAtOnce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4" name="yt_shape_11674"/>
          <p:cNvSpPr txBox="1"/>
          <p:nvPr/>
        </p:nvSpPr>
        <p:spPr>
          <a:xfrm>
            <a:off x="267086" y="1121142"/>
            <a:ext cx="11924914" cy="23227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浙江衢州联考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甲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3_76bc5"/>
              </a:rPr>
              <a:t>乙两表都是由一个灵敏电流计</a:t>
            </a:r>
            <a:b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和一个变阻器</a:t>
            </a:r>
            <a:r>
              <a:rPr lang="en-US" altLang="zh-CN" sz="2800" b="1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组成的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已知灵敏电流计的满偏电流</a:t>
            </a:r>
            <a:r>
              <a:rPr lang="en-US" altLang="zh-CN" sz="2800" b="1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1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mA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ec7d8"/>
              </a:rPr>
              <a:t>内电阻</a:t>
            </a:r>
            <a:b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1" i="1" u="none" dirty="0" err="1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 err="1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200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用它们改装成量程更大的电流表和电压表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2ca90"/>
              </a:rPr>
              <a:t>则下列说法正确</a:t>
            </a:r>
            <a:b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的是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1676" name="yt_table_11676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267086" y="3785353"/>
          <a:ext cx="8486204" cy="2389632"/>
        </p:xfrm>
        <a:graphic>
          <a:graphicData uri="http://schemas.openxmlformats.org/drawingml/2006/table">
            <a:tbl>
              <a:tblPr/>
              <a:tblGrid>
                <a:gridCol w="8486204">
                  <a:extLst>
                    <a:ext uri="{9D8B030D-6E8A-4147-A177-3AD203B41FA5}">
                      <a16:colId xmlns:a16="http://schemas.microsoft.com/office/drawing/2014/main" val="102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甲表是电压表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1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越小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量程越大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乙表是电流表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1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越大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量程越大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甲表改装成量程为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6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的电流表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则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乙表改装成量程为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的电压表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则</a:t>
                      </a:r>
                      <a:r>
                        <a:rPr lang="en-US" altLang="zh-CN" sz="2800" b="1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800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5"/>
                  </a:ext>
                </a:extLst>
              </a:tr>
            </a:tbl>
          </a:graphicData>
        </a:graphic>
      </p:graphicFrame>
      <p:pic>
        <p:nvPicPr>
          <p:cNvPr id="11675" name="yt_image_11675_skip" title="H_175.12495">
            <a:extLst>
              <a:ext uri="">
                <a16:creationId xmlns="" xmlns:m="http://schemas.openxmlformats.org/officeDocument/2006/math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88041" y="3123643"/>
            <a:ext cx="5751411" cy="1944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0" y="5757740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7" name="yt_image_14265" title="H_47.87496">
            <a:extLst>
              <a:ext uri="">
                <a16:creationId xmlns="" xmlns:m="http://schemas.openxmlformats.org/officeDocument/2006/math" xmlns:a16="http://schemas.microsoft.com/office/drawing/2014/main" xmlns:p14="http://schemas.microsoft.com/office/powerpoint/2010/main" xmlns:p15="http://schemas.microsoft.com/office/powerpoint/2012/main" xmlns:mc="http://schemas.openxmlformats.org/markup-compatibility/2006" xmlns:a14="http://schemas.microsoft.com/office/drawing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4BACC6">
                <a:shade val="45000"/>
                <a:satMod val="135000"/>
              </a:srgbClr>
              <a:prstClr val="white"/>
            </a:duotone>
          </a:blip>
          <a:srcRect/>
          <a:stretch>
            <a:fillRect/>
          </a:stretch>
        </p:blipFill>
        <p:spPr bwMode="auto">
          <a:xfrm>
            <a:off x="4414028" y="513130"/>
            <a:ext cx="2308195" cy="60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组合 16"/>
          <p:cNvGrpSpPr/>
          <p:nvPr/>
        </p:nvGrpSpPr>
        <p:grpSpPr>
          <a:xfrm>
            <a:off x="3954059" y="6427038"/>
            <a:ext cx="4565782" cy="288000"/>
            <a:chOff x="1463551" y="6425622"/>
            <a:chExt cx="4565782" cy="288000"/>
          </a:xfrm>
        </p:grpSpPr>
        <p:sp>
          <p:nvSpPr>
            <p:cNvPr id="11" name="78dd0c15-1980-4f38-a765-43953fc56275" descr="{&quot;SlideID&quot;:&quot;333&quot;,&quot;SlideNumber&quot;:&quot;35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a58d5551-8f70-4938-a505-c137e2b805ce" descr="{&quot;SlideID&quot;:&quot;335&quot;,&quot;SlideNumber&quot;:&quot;37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d2426eeb-64c8-48e3-af9c-7a1277d4363f" descr="{&quot;SlideID&quot;:&quot;337&quot;,&quot;SlideNumber&quot;:&quot;39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af68caf0-61ef-441a-bc47-e2dcc9f247d0" descr="{&quot;SlideID&quot;:&quot;338&quot;,&quot;SlideNumber&quot;:&quot;4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21074b47-7b2e-4795-818f-b68cdf3330f7" descr="{&quot;SlideID&quot;:&quot;339&quot;,&quot;SlideNumber&quot;:&quot;41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29cdc2bb-255b-4a21-b8e7-f66f77c81517" descr="{&quot;SlideID&quot;:&quot;341&quot;,&quot;SlideNumber&quot;:&quot;43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d58f136c-b5ae-4bb7-b223-98b17e0dab0d" descr="{&quot;SlideID&quot;:&quot;343&quot;,&quot;SlideNumber&quot;:&quot;45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da60aac4-04df-458f-baa3-ac6f4234457d" descr="{&quot;SlideID&quot;:&quot;345&quot;,&quot;SlideNumber&quot;:&quot;47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67eef339-467e-4fb8-b943-f4bf9ba27a73" descr="{&quot;SlideID&quot;:&quot;347&quot;,&quot;SlideNumber&quot;:&quot;49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0c506bad-4ae7-43ba-a277-333ff69774e1" descr="{&quot;SlideID&quot;:&quot;349&quot;,&quot;SlideNumber&quot;:&quot;51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5af8d549-8afd-42f5-81d6-a4077918a2f1" descr="{&quot;SlideID&quot;:&quot;351&quot;,&quot;SlideNumber&quot;:&quot;53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7f0149a6-80b4-4623-89b0-96c7c0666170" descr="{&quot;SlideID&quot;:&quot;353&quot;,&quot;SlideNumber&quot;:&quot;55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7413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20359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m="http://schemas.openxmlformats.org/officeDocument/2006/math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678" name="yt_shape_11678"/>
              <p:cNvSpPr txBox="1"/>
              <p:nvPr/>
            </p:nvSpPr>
            <p:spPr>
              <a:xfrm>
                <a:off x="324071" y="467999"/>
                <a:ext cx="11924914" cy="415075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甲表由一个灵敏电流计和一个变阻器并联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8_f8dc2"/>
                  </a:rPr>
                  <a:t>利用并联电阻的分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流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改装成电流表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电流表的量程为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𝐠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𝐠</m:t>
                            </m:r>
                          </m:sub>
                        </m:sSub>
                      </m:num>
                      <m:den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𝑹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越小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量程越大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93df4"/>
                  </a:rPr>
                  <a:t>，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乙表由一个灵敏电流计和一个变阻器串联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8_dd43a"/>
                  </a:rPr>
                  <a:t>利用串联电阻的分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压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改装成电压表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电压表的量程为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1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越大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a640a"/>
                  </a:rPr>
                  <a:t>量程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越大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𝐠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𝐠</m:t>
                            </m:r>
                          </m:sub>
                        </m:sSub>
                      </m:num>
                      <m:den>
                        <m:r>
                          <a:rPr lang="en-US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𝑹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≈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33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1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24138"/>
                  </a:rPr>
                  <a:t>g</a:t>
                </a:r>
                <a:b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800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1678" name="yt_shape_116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4150752"/>
              </a:xfrm>
              <a:prstGeom prst="rect">
                <a:avLst/>
              </a:prstGeom>
              <a:blipFill>
                <a:blip r:embed="rId2"/>
                <a:stretch>
                  <a:fillRect l="-1789" t="-587" b="-42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954059" y="6427038"/>
            <a:ext cx="4565782" cy="288000"/>
            <a:chOff x="1463551" y="6425622"/>
            <a:chExt cx="4565782" cy="288000"/>
          </a:xfrm>
        </p:grpSpPr>
        <p:sp>
          <p:nvSpPr>
            <p:cNvPr id="11" name="57106457-63d4-41e3-82a2-eb1567f5576a" descr="{&quot;SlideID&quot;:&quot;333&quot;,&quot;SlideNumber&quot;:&quot;3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39fdab3e-8398-4ce1-b87b-d520aa5d8ed5" descr="{&quot;SlideID&quot;:&quot;335&quot;,&quot;SlideNumber&quot;:&quot;37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8bc9d25a-c8d1-4b85-afaf-f6b7e3e32184" descr="{&quot;SlideID&quot;:&quot;337&quot;,&quot;SlideNumber&quot;:&quot;39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b3455a01-1268-45a7-86a6-fd56061637fa" descr="{&quot;SlideID&quot;:&quot;338&quot;,&quot;SlideNumber&quot;:&quot;40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43f530fa-ba76-4905-83b4-62317a183c59" descr="{&quot;SlideID&quot;:&quot;339&quot;,&quot;SlideNumber&quot;:&quot;4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af963a00-c85b-4bf6-be85-2bd215c85d47" descr="{&quot;SlideID&quot;:&quot;341&quot;,&quot;SlideNumber&quot;:&quot;4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c175bfd2-8cbb-457a-b4de-7666f1557475" descr="{&quot;SlideID&quot;:&quot;343&quot;,&quot;SlideNumber&quot;:&quot;45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6cd112f5-63dd-4cfd-9965-0ae2a10ad818" descr="{&quot;SlideID&quot;:&quot;345&quot;,&quot;SlideNumber&quot;:&quot;47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ad7778d6-4ca7-4d8a-acd7-bcb8786502b1" descr="{&quot;SlideID&quot;:&quot;347&quot;,&quot;SlideNumber&quot;:&quot;4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6e4bdadf-ea46-43b7-9d7a-9736bd7b2706" descr="{&quot;SlideID&quot;:&quot;349&quot;,&quot;SlideNumber&quot;:&quot;5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d35f7a8a-ea11-4ea8-8d6a-8f66639c6917" descr="{&quot;SlideID&quot;:&quot;351&quot;,&quot;SlideNumber&quot;:&quot;5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d110a4b9-346a-4123-bf35-42d4621a0c4e" descr="{&quot;SlideID&quot;:&quot;353&quot;,&quot;SlideNumber&quot;:&quot;55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7413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1935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8" grpId="0" build="allAtOnce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0" name="yt_shape_11680"/>
          <p:cNvSpPr txBox="1"/>
          <p:nvPr/>
        </p:nvSpPr>
        <p:spPr>
          <a:xfrm>
            <a:off x="324000" y="467999"/>
            <a:ext cx="360676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9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</a:p>
        </p:txBody>
      </p:sp>
      <p:sp>
        <p:nvSpPr>
          <p:cNvPr id="11683" name="yt_shape_11683"/>
          <p:cNvSpPr txBox="1"/>
          <p:nvPr/>
        </p:nvSpPr>
        <p:spPr>
          <a:xfrm>
            <a:off x="684676" y="569122"/>
            <a:ext cx="11241713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将一只满偏电流为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mA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内阻为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900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6bac2"/>
              </a:rPr>
              <a:t>的表头改装成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测电流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电压两用的电表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</a:t>
            </a:r>
            <a:r>
              <a:rPr lang="en-US" altLang="zh-CN" sz="2800" b="1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100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210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f8152"/>
              </a:rPr>
              <a:t>下列说法正确的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是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5" name="yt_image_11681">
            <a:extLst>
              <a:ext uri="">
                <a16:creationId xmlns="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68091" y="2875393"/>
            <a:ext cx="3614946" cy="2532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组合 15"/>
          <p:cNvGrpSpPr/>
          <p:nvPr/>
        </p:nvGrpSpPr>
        <p:grpSpPr>
          <a:xfrm>
            <a:off x="3954059" y="6427038"/>
            <a:ext cx="4565782" cy="288000"/>
            <a:chOff x="1463551" y="6425622"/>
            <a:chExt cx="4565782" cy="288000"/>
          </a:xfrm>
        </p:grpSpPr>
        <p:sp>
          <p:nvSpPr>
            <p:cNvPr id="11" name="bb0a2a67-7dcf-4780-8a09-556468064275" descr="{&quot;SlideID&quot;:&quot;333&quot;,&quot;SlideNumber&quot;:&quot;3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2388725d-f14f-4084-b727-e3a60a99bfed" descr="{&quot;SlideID&quot;:&quot;335&quot;,&quot;SlideNumber&quot;:&quot;37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0d0f63a7-c9d7-4db8-9253-6fb01659d775" descr="{&quot;SlideID&quot;:&quot;337&quot;,&quot;SlideNumber&quot;:&quot;39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23495953-532f-4560-80b2-c0271d574cd6" descr="{&quot;SlideID&quot;:&quot;338&quot;,&quot;SlideNumber&quot;:&quot;40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b2eee2ef-27e8-4d40-95e1-1372f70966f1" descr="{&quot;SlideID&quot;:&quot;339&quot;,&quot;SlideNumber&quot;:&quot;4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6f8c8948-b8b1-4c4b-a6a9-26013578ab54" descr="{&quot;SlideID&quot;:&quot;341&quot;,&quot;SlideNumber&quot;:&quot;4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3a3b5521-88b0-41bf-b8e4-621724736622" descr="{&quot;SlideID&quot;:&quot;343&quot;,&quot;SlideNumber&quot;:&quot;45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c7654d44-5d58-481a-943b-4f9e5245b10d" descr="{&quot;SlideID&quot;:&quot;345&quot;,&quot;SlideNumber&quot;:&quot;47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6791c415-35cd-48f5-80f3-ae7f4464f576" descr="{&quot;SlideID&quot;:&quot;347&quot;,&quot;SlideNumber&quot;:&quot;4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8e522aeb-2aff-442f-a96e-2e58cdd3e91d" descr="{&quot;SlideID&quot;:&quot;349&quot;,&quot;SlideNumber&quot;:&quot;5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d3bacd05-67c5-41c6-a2f5-7c69cb6f9b84" descr="{&quot;SlideID&quot;:&quot;351&quot;,&quot;SlideNumber&quot;:&quot;5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e8cc6414-1172-45f1-87c9-7ce37e233ba8" descr="{&quot;SlideID&quot;:&quot;353&quot;,&quot;SlideNumber&quot;:&quot;55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7413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48258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6="http://schemas.microsoft.com/office/drawing/2014/main" xmlns:a14="http://schemas.microsoft.com/office/drawing/2010/main" xmlns:p14="http://schemas.microsoft.com/office/powerpoint/2010/main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84" name="yt_table_11684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467999"/>
          <a:ext cx="7377114" cy="2389632"/>
        </p:xfrm>
        <a:graphic>
          <a:graphicData uri="http://schemas.openxmlformats.org/drawingml/2006/table">
            <a:tbl>
              <a:tblPr/>
              <a:tblGrid>
                <a:gridCol w="7377114">
                  <a:extLst>
                    <a:ext uri="{9D8B030D-6E8A-4147-A177-3AD203B41FA5}">
                      <a16:colId xmlns:a16="http://schemas.microsoft.com/office/drawing/2014/main" val="102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接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O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两端是电流表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量程为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～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mA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接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O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两端是电压表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量程为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～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接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O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两端是电流表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量程为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～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60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mA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接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O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1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两端是电压表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量程为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～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15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686" name="yt_shape_11686"/>
              <p:cNvSpPr txBox="1"/>
              <p:nvPr/>
            </p:nvSpPr>
            <p:spPr>
              <a:xfrm>
                <a:off x="324071" y="2907892"/>
                <a:ext cx="11924914" cy="331475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由电路图可知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接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O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两端时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表头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与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并联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18751"/>
                  </a:rPr>
                  <a:t>是电流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表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量程为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𝐠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由题电路图可知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b6866"/>
                  </a:rPr>
                  <a:t>接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O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两端时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表头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与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并联后再与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串联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是电压表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其量程为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4031c"/>
                  </a:rPr>
                  <a:t>＝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800" b="1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CN" sz="2800" b="1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𝐠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800" b="1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CN" sz="2800" b="1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𝟏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800" b="1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CN" sz="2800" b="1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𝐠</m:t>
                                </m:r>
                              </m:sub>
                            </m:sSub>
                            <m:r>
                              <a:rPr lang="zh-CN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＋</m:t>
                            </m:r>
                            <m:sSub>
                              <m:sSubPr>
                                <m:ctrlPr>
                                  <a:rPr lang="en-US" altLang="zh-CN" sz="2800" b="1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CN" sz="2800" b="1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𝟏</m:t>
                                </m:r>
                              </m:sub>
                            </m:sSub>
                          </m:den>
                        </m:f>
                        <m:r>
                          <a:rPr lang="zh-CN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1686" name="yt_shape_116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2907892"/>
                <a:ext cx="11924914" cy="3314754"/>
              </a:xfrm>
              <a:prstGeom prst="rect">
                <a:avLst/>
              </a:prstGeom>
              <a:blipFill>
                <a:blip r:embed="rId2"/>
                <a:stretch>
                  <a:fillRect l="-1789" t="-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75322" y="1253274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75322" y="664429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954059" y="6427038"/>
            <a:ext cx="4565782" cy="288000"/>
            <a:chOff x="1463551" y="6425622"/>
            <a:chExt cx="4565782" cy="288000"/>
          </a:xfrm>
        </p:grpSpPr>
        <p:sp>
          <p:nvSpPr>
            <p:cNvPr id="11" name="64c5f49e-993a-4443-a76e-f05cef26ee2c" descr="{&quot;SlideID&quot;:&quot;333&quot;,&quot;SlideNumber&quot;:&quot;3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f0a5792a-e8d5-485d-9aab-d5ddc2bf9b58" descr="{&quot;SlideID&quot;:&quot;335&quot;,&quot;SlideNumber&quot;:&quot;37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9941bcb6-7f82-4c2b-bd83-a6dce1472cf7" descr="{&quot;SlideID&quot;:&quot;337&quot;,&quot;SlideNumber&quot;:&quot;39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76b2c522-4f27-4d93-9c66-c73547827da6" descr="{&quot;SlideID&quot;:&quot;338&quot;,&quot;SlideNumber&quot;:&quot;40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1472625c-ed92-4467-8c4d-d85f2a47f47e" descr="{&quot;SlideID&quot;:&quot;339&quot;,&quot;SlideNumber&quot;:&quot;4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245dd113-c27a-4938-87c4-6ec2de38137a" descr="{&quot;SlideID&quot;:&quot;341&quot;,&quot;SlideNumber&quot;:&quot;4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1c70ef98-06e1-48b2-8ed0-ee8c43e0af0f" descr="{&quot;SlideID&quot;:&quot;343&quot;,&quot;SlideNumber&quot;:&quot;45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b768ca0b-8843-4cb4-b32a-e6fa0163c977" descr="{&quot;SlideID&quot;:&quot;345&quot;,&quot;SlideNumber&quot;:&quot;47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f1cb1cf5-8424-4d95-87e5-e7f20b0848f5" descr="{&quot;SlideID&quot;:&quot;347&quot;,&quot;SlideNumber&quot;:&quot;4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1d27570b-b70d-4013-8d18-841b75b09ee4" descr="{&quot;SlideID&quot;:&quot;349&quot;,&quot;SlideNumber&quot;:&quot;5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b38389c9-2372-43cc-b2e5-72dc7340c3f5" descr="{&quot;SlideID&quot;:&quot;351&quot;,&quot;SlideNumber&quot;:&quot;5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73706cb3-cb99-45a0-9f6c-3068f31dc400" descr="{&quot;SlideID&quot;:&quot;353&quot;,&quot;SlideNumber&quot;:&quot;55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7413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105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86" grpId="0" build="allAtOnce"/>
      <p:bldP spid="4" grpId="0"/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8" name="yt_shape_11688"/>
          <p:cNvSpPr txBox="1"/>
          <p:nvPr/>
        </p:nvSpPr>
        <p:spPr>
          <a:xfrm>
            <a:off x="324071" y="467999"/>
            <a:ext cx="11543998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电流表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的量程为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内阻为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bd0c2"/>
              </a:rPr>
              <a:t>2</a:t>
            </a:r>
            <a:br>
              <a:rPr lang="en-US" altLang="zh-CN" sz="2800" b="1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则下列分析正确的是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1690" name="yt_table_11690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71" y="3997234"/>
          <a:ext cx="10975305" cy="2389632"/>
        </p:xfrm>
        <a:graphic>
          <a:graphicData uri="http://schemas.openxmlformats.org/drawingml/2006/table">
            <a:tbl>
              <a:tblPr/>
              <a:tblGrid>
                <a:gridCol w="10975305">
                  <a:extLst>
                    <a:ext uri="{9D8B030D-6E8A-4147-A177-3AD203B41FA5}">
                      <a16:colId xmlns:a16="http://schemas.microsoft.com/office/drawing/2014/main" val="10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将接线柱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接入电路时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接线柱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6_c4500"/>
                        </a:rPr>
                        <a:t>间最大电流为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将接线柱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接入电路时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接线柱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6_84f6f"/>
                        </a:rPr>
                        <a:t>间最大电流为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9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将接线柱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接入电路时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接线柱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6_48b91"/>
                        </a:rPr>
                        <a:t>间最大电压为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8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将接线柱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接入电路时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接线柱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6_192a2"/>
                        </a:rPr>
                        <a:t>间最大电压为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3"/>
                  </a:ext>
                </a:extLst>
              </a:tr>
            </a:tbl>
          </a:graphicData>
        </a:graphic>
      </p:graphicFrame>
      <p:pic>
        <p:nvPicPr>
          <p:cNvPr id="11689" name="yt_image_11689_skip" title="H_163.75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45203" y="1166347"/>
            <a:ext cx="3523110" cy="283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49676" y="5994451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954059" y="6427038"/>
            <a:ext cx="4565782" cy="288000"/>
            <a:chOff x="1463551" y="6425622"/>
            <a:chExt cx="4565782" cy="288000"/>
          </a:xfrm>
        </p:grpSpPr>
        <p:sp>
          <p:nvSpPr>
            <p:cNvPr id="11" name="dab68389-c416-4cd1-b558-bc86bac856f4" descr="{&quot;SlideID&quot;:&quot;333&quot;,&quot;SlideNumber&quot;:&quot;3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1e31c3e4-13ba-4e91-b378-7bb4518caf55" descr="{&quot;SlideID&quot;:&quot;335&quot;,&quot;SlideNumber&quot;:&quot;37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86cfd0cf-2c95-4ffd-bdfc-241c745ea855" descr="{&quot;SlideID&quot;:&quot;337&quot;,&quot;SlideNumber&quot;:&quot;39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74b8ef77-c288-448e-85a2-531116afc612" descr="{&quot;SlideID&quot;:&quot;338&quot;,&quot;SlideNumber&quot;:&quot;40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652ac80c-ddb3-43ac-9d2d-b8d5efb43edc" descr="{&quot;SlideID&quot;:&quot;339&quot;,&quot;SlideNumber&quot;:&quot;4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16e7a61e-6381-4418-a543-6ac9e5543e24" descr="{&quot;SlideID&quot;:&quot;341&quot;,&quot;SlideNumber&quot;:&quot;4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51dc8f4f-d380-4a60-9aa9-24e887491485" descr="{&quot;SlideID&quot;:&quot;343&quot;,&quot;SlideNumber&quot;:&quot;45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e49530f9-cb20-48f3-b9c2-d49721979d76" descr="{&quot;SlideID&quot;:&quot;345&quot;,&quot;SlideNumber&quot;:&quot;47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e591872d-3e55-4ff5-9052-97ce6e2ca024" descr="{&quot;SlideID&quot;:&quot;347&quot;,&quot;SlideNumber&quot;:&quot;4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57d17efb-b617-467c-ac0d-bdecfd44eed6" descr="{&quot;SlideID&quot;:&quot;349&quot;,&quot;SlideNumber&quot;:&quot;5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b8e7c849-d9ae-4921-8d92-8c9411d5f551" descr="{&quot;SlideID&quot;:&quot;351&quot;,&quot;SlideNumber&quot;:&quot;5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7c8812ba-9718-4573-8790-530505d3f4c8" descr="{&quot;SlideID&quot;:&quot;353&quot;,&quot;SlideNumber&quot;:&quot;55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7413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82066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692" name="yt_shape_11692"/>
              <p:cNvSpPr txBox="1"/>
              <p:nvPr/>
            </p:nvSpPr>
            <p:spPr>
              <a:xfrm>
                <a:off x="324071" y="467999"/>
                <a:ext cx="11924914" cy="388548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当接线柱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接入电路时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是在电流表上并联一个定值电阻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57162"/>
                  </a:rPr>
                  <a:t>，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所以改装成了大量程电流表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改装后的量程为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𝐀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𝐀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𝟎</m:t>
                            </m:r>
                            <m:r>
                              <m:rPr>
                                <m:nor/>
                              </m:rP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.</m:t>
                            </m:r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𝟔</m:t>
                            </m:r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×</m:t>
                            </m:r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𝟎</m:t>
                            </m:r>
                            <m:r>
                              <m:rPr>
                                <m:nor/>
                              </m:rP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.</m:t>
                            </m:r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𝟓</m:t>
                            </m:r>
                          </m:den>
                        </m:f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+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𝟎</m:t>
                        </m:r>
                        <m:r>
                          <m:rPr>
                            <m:nor/>
                          </m:rP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𝟔</m:t>
                        </m:r>
                      </m:e>
                    </m:d>
                  </m:oMath>
                </a14:m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abc91"/>
                  </a:rPr>
                  <a:t>A</a:t>
                </a:r>
                <a:b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即接线柱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间最大电流为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当接线柱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7b0f4"/>
                  </a:rPr>
                  <a:t>3</a:t>
                </a:r>
                <a:b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接入电路时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在原有改装电流表基础上串联一个定值电阻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6_711f1"/>
                  </a:rPr>
                  <a:t>所以改装成了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一个大量程电压表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改装后的量程为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en-US" altLang="zh-CN" sz="2800" b="1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1" i="0" u="none" baseline="-25000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IR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＝（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42681"/>
                  </a:rPr>
                  <a:t>）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即接线柱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间最大电压为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1692" name="yt_shape_116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3885487"/>
              </a:xfrm>
              <a:prstGeom prst="rect">
                <a:avLst/>
              </a:prstGeom>
              <a:blipFill>
                <a:blip r:embed="rId2"/>
                <a:stretch>
                  <a:fillRect l="-1789" t="-628" b="-47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954059" y="6427038"/>
            <a:ext cx="4565782" cy="288000"/>
            <a:chOff x="1463551" y="6425622"/>
            <a:chExt cx="4565782" cy="288000"/>
          </a:xfrm>
        </p:grpSpPr>
        <p:sp>
          <p:nvSpPr>
            <p:cNvPr id="11" name="f0229273-5adf-447a-afc1-d93bfa531b7d" descr="{&quot;SlideID&quot;:&quot;333&quot;,&quot;SlideNumber&quot;:&quot;3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143777ff-08c6-4a69-bc84-312185fc0b87" descr="{&quot;SlideID&quot;:&quot;335&quot;,&quot;SlideNumber&quot;:&quot;37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f816cfd1-fae8-42bc-93ab-3ef1e733e81a" descr="{&quot;SlideID&quot;:&quot;337&quot;,&quot;SlideNumber&quot;:&quot;39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0ca9d0ec-e085-4935-b5e6-474425153de3" descr="{&quot;SlideID&quot;:&quot;338&quot;,&quot;SlideNumber&quot;:&quot;40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ff496dad-12ac-4bb1-98a1-35e4285a8eaf" descr="{&quot;SlideID&quot;:&quot;339&quot;,&quot;SlideNumber&quot;:&quot;4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d742bba6-8e45-41d8-a3fb-3d95a9d62a6f" descr="{&quot;SlideID&quot;:&quot;341&quot;,&quot;SlideNumber&quot;:&quot;4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9e8e7b46-d3e0-4be2-8bea-587802254695" descr="{&quot;SlideID&quot;:&quot;343&quot;,&quot;SlideNumber&quot;:&quot;45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486488b8-9673-4a91-b193-8495178b023e" descr="{&quot;SlideID&quot;:&quot;345&quot;,&quot;SlideNumber&quot;:&quot;47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b1afdda3-0cf3-406f-8964-51d895e5637d" descr="{&quot;SlideID&quot;:&quot;347&quot;,&quot;SlideNumber&quot;:&quot;4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b1e251e3-757c-4e96-a785-7c5e4a49fae0" descr="{&quot;SlideID&quot;:&quot;349&quot;,&quot;SlideNumber&quot;:&quot;5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cd3cfc36-0c19-4386-a271-5b106c66554d" descr="{&quot;SlideID&quot;:&quot;351&quot;,&quot;SlideNumber&quot;:&quot;5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4456b982-5d03-4734-9477-f8a6eb0440b9" descr="{&quot;SlideID&quot;:&quot;353&quot;,&quot;SlideNumber&quot;:&quot;55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7413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010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92" grpId="0" build="allAtOnce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4" name="yt_shape_11694"/>
          <p:cNvSpPr txBox="1"/>
          <p:nvPr/>
        </p:nvSpPr>
        <p:spPr>
          <a:xfrm>
            <a:off x="324071" y="467999"/>
            <a:ext cx="11543998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11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浙江湖州期末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甲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乙为电表的接线柱面板图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247ca"/>
              </a:rPr>
              <a:t>图</a:t>
            </a:r>
            <a:b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中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①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⑥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为接线柱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共有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个量程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1696" name="yt_table_11696_skip" title="H_235.2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150" y="3376789"/>
          <a:ext cx="11543919" cy="2987040"/>
        </p:xfrm>
        <a:graphic>
          <a:graphicData uri="http://schemas.openxmlformats.org/drawingml/2006/table">
            <a:tbl>
              <a:tblPr/>
              <a:tblGrid>
                <a:gridCol w="11543919">
                  <a:extLst>
                    <a:ext uri="{9D8B030D-6E8A-4147-A177-3AD203B41FA5}">
                      <a16:colId xmlns:a16="http://schemas.microsoft.com/office/drawing/2014/main" val="10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甲图是电压表的接线柱面板图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若图乙中</a:t>
                      </a:r>
                      <a:r>
                        <a:rPr lang="en-US" altLang="zh-CN" sz="2800" b="1" i="1" u="none" dirty="0" err="1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en-US" altLang="zh-CN" sz="2800" b="1" i="0" u="none" baseline="-25000" dirty="0" err="1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g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为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100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则量程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是量程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倍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若图甲中量程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为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6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则量程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为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使用图甲中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①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和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③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两个接线柱进行测量时发现测量值偏小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4_489b5"/>
                        </a:rPr>
                        <a:t>可以在这</a:t>
                      </a:r>
                      <a:b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两个接线柱间并联一个大电阻进行调节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7"/>
                  </a:ext>
                </a:extLst>
              </a:tr>
            </a:tbl>
          </a:graphicData>
        </a:graphic>
      </p:graphicFrame>
      <p:pic>
        <p:nvPicPr>
          <p:cNvPr id="11695" name="yt_image_11695_skip" title="H_165.5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0232" y="1654226"/>
            <a:ext cx="6450888" cy="189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10488" y="4085479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954059" y="6427038"/>
            <a:ext cx="4565782" cy="288000"/>
            <a:chOff x="1463551" y="6425622"/>
            <a:chExt cx="4565782" cy="288000"/>
          </a:xfrm>
        </p:grpSpPr>
        <p:sp>
          <p:nvSpPr>
            <p:cNvPr id="11" name="6aafa3b5-7826-490f-ab2d-fe06096d4e74" descr="{&quot;SlideID&quot;:&quot;333&quot;,&quot;SlideNumber&quot;:&quot;3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26dbe3fe-77af-4c37-845e-a9aa625f2683" descr="{&quot;SlideID&quot;:&quot;335&quot;,&quot;SlideNumber&quot;:&quot;37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1f7b6553-a18d-493d-bd06-60b38ee89a21" descr="{&quot;SlideID&quot;:&quot;337&quot;,&quot;SlideNumber&quot;:&quot;39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2d9e5eb5-e9cd-441b-836c-1f3e4ce1d0db" descr="{&quot;SlideID&quot;:&quot;338&quot;,&quot;SlideNumber&quot;:&quot;40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15e5fbf3-65ce-4613-b3ca-0ab699dbf2c2" descr="{&quot;SlideID&quot;:&quot;339&quot;,&quot;SlideNumber&quot;:&quot;4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12f6fd9f-0967-4e8e-b430-984d48fea234" descr="{&quot;SlideID&quot;:&quot;341&quot;,&quot;SlideNumber&quot;:&quot;4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4b34890b-c4a8-4f98-a6f0-d9ddb884066e" descr="{&quot;SlideID&quot;:&quot;343&quot;,&quot;SlideNumber&quot;:&quot;45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f3d0aa55-5189-4b64-b6f1-276a4bdceb8f" descr="{&quot;SlideID&quot;:&quot;345&quot;,&quot;SlideNumber&quot;:&quot;47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73426c16-2580-495f-af68-bae4dd74f112" descr="{&quot;SlideID&quot;:&quot;347&quot;,&quot;SlideNumber&quot;:&quot;4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6d0bc88a-7312-4cde-bb68-e3b89918f931" descr="{&quot;SlideID&quot;:&quot;349&quot;,&quot;SlideNumber&quot;:&quot;5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02d4977-db99-4f72-8143-ac9251f1cc4e" descr="{&quot;SlideID&quot;:&quot;351&quot;,&quot;SlideNumber&quot;:&quot;5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76c559b5-34ff-4c36-8101-6f85c23d6ced" descr="{&quot;SlideID&quot;:&quot;353&quot;,&quot;SlideNumber&quot;:&quot;55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7413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83800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698" name="yt_shape_11698"/>
              <p:cNvSpPr txBox="1"/>
              <p:nvPr/>
            </p:nvSpPr>
            <p:spPr>
              <a:xfrm>
                <a:off x="324071" y="467999"/>
                <a:ext cx="11924914" cy="504054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</a:t>
                </a: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宋体" pitchFamily="28"/>
                    <a:ea typeface="宋体" pitchFamily="28"/>
                  </a:rPr>
                  <a:t>：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题图甲中电流表与电阻并联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是电流表的接线柱面板图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b66f4"/>
                  </a:rPr>
                  <a:t>错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题图乙中量程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的量程为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900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000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量程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12cf4"/>
                  </a:rPr>
                  <a:t>的量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程为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900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000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15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000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所以量程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是量程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倍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d5818"/>
                  </a:rPr>
                  <a:t>，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若题图甲中量程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为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𝐠</m:t>
                            </m:r>
                          </m:sub>
                        </m:sSub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×</m:t>
                        </m:r>
                        <m:r>
                          <a:rPr lang="zh-CN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𝟏𝟎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+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𝟏𝟑𝟎</m:t>
                        </m:r>
                        <m:r>
                          <a:rPr lang="zh-CN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𝟎</m:t>
                        </m:r>
                        <m:r>
                          <m:rPr>
                            <m:nor/>
                          </m:rP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𝟐𝟐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+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𝟎</m:t>
                        </m:r>
                        <m:r>
                          <m:rPr>
                            <m:nor/>
                          </m:rP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𝟖𝟖</m:t>
                        </m:r>
                      </m:den>
                    </m:f>
                  </m:oMath>
                </a14:m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2cd52"/>
                  </a:rPr>
                  <a:t>量程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为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1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1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zh-CN" sz="2800" b="1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𝐠</m:t>
                            </m:r>
                          </m:sub>
                        </m:sSub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×</m:t>
                        </m:r>
                        <m:r>
                          <a:rPr lang="zh-CN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𝟏𝟎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+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𝟏𝟑𝟎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+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𝟎</m:t>
                        </m:r>
                        <m:r>
                          <m:rPr>
                            <m:nor/>
                          </m:rP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𝟖𝟖</m:t>
                        </m:r>
                        <m:r>
                          <a:rPr lang="zh-CN" altLang="zh-CN" sz="2800" b="1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</m:num>
                      <m:den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𝟎</m:t>
                        </m:r>
                        <m:r>
                          <m:rPr>
                            <m:nor/>
                          </m:rP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1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𝟐𝟐</m:t>
                        </m:r>
                      </m:den>
                    </m:f>
                  </m:oMath>
                </a14:m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≈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使用题图甲中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①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③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b3da7"/>
                  </a:rPr>
                  <a:t>两个接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线柱进行测量时发现测量值偏小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7_8ba90"/>
                  </a:rPr>
                  <a:t>可以在这两个接线柱间串联一个小电阻</a:t>
                </a:r>
                <a:b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进行调节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1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1698" name="yt_shape_116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5040547"/>
              </a:xfrm>
              <a:prstGeom prst="rect">
                <a:avLst/>
              </a:prstGeom>
              <a:blipFill>
                <a:blip r:embed="rId2"/>
                <a:stretch>
                  <a:fillRect l="-1789" t="-484" b="-33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954059" y="6427038"/>
            <a:ext cx="4565782" cy="288000"/>
            <a:chOff x="1463551" y="6425622"/>
            <a:chExt cx="4565782" cy="288000"/>
          </a:xfrm>
        </p:grpSpPr>
        <p:sp>
          <p:nvSpPr>
            <p:cNvPr id="11" name="18f55d3e-ebe3-4b60-883f-0cdee7646acb" descr="{&quot;SlideID&quot;:&quot;333&quot;,&quot;SlideNumber&quot;:&quot;35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2de2acfa-d64a-4e98-9462-a0a3c21320f4" descr="{&quot;SlideID&quot;:&quot;335&quot;,&quot;SlideNumber&quot;:&quot;37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0a4f1b14-bc5c-464e-8942-0769416260f2" descr="{&quot;SlideID&quot;:&quot;337&quot;,&quot;SlideNumber&quot;:&quot;39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c285729d-59c0-4593-8c72-0bf27522365d" descr="{&quot;SlideID&quot;:&quot;338&quot;,&quot;SlideNumber&quot;:&quot;40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69d3745f-26e0-442f-8d7b-be7cc049834c" descr="{&quot;SlideID&quot;:&quot;339&quot;,&quot;SlideNumber&quot;:&quot;41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819ae621-0172-4cde-8eff-e1433d7e4ff7" descr="{&quot;SlideID&quot;:&quot;341&quot;,&quot;SlideNumber&quot;:&quot;43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e2ebd8a4-d44e-45e6-be08-646e9bee1431" descr="{&quot;SlideID&quot;:&quot;343&quot;,&quot;SlideNumber&quot;:&quot;45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0cdf1183-e2b9-48f9-bca8-689e1c83e292" descr="{&quot;SlideID&quot;:&quot;345&quot;,&quot;SlideNumber&quot;:&quot;47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7141f57d-a1aa-45db-9ecb-aafea1c07dfb" descr="{&quot;SlideID&quot;:&quot;347&quot;,&quot;SlideNumber&quot;:&quot;49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b94d815b-17c4-47bb-8abd-86d647a3f630" descr="{&quot;SlideID&quot;:&quot;349&quot;,&quot;SlideNumber&quot;:&quot;51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90691126-cac5-408f-b347-851f1497cba4" descr="{&quot;SlideID&quot;:&quot;351&quot;,&quot;SlideNumber&quot;:&quot;53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390eca9c-e8dc-4b68-b4bb-d029ce1d142a" descr="{&quot;SlideID&quot;:&quot;353&quot;,&quot;SlideNumber&quot;:&quot;55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7413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03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98" grpId="0" build="allAtOnce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2" name="yt_shape_11702"/>
          <p:cNvSpPr txBox="1"/>
          <p:nvPr/>
        </p:nvSpPr>
        <p:spPr>
          <a:xfrm>
            <a:off x="324071" y="1160330"/>
            <a:ext cx="11924914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12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1_ba26e"/>
              </a:rPr>
              <a:t>四个相同的表头分别改装成两个电流表和两个电</a:t>
            </a:r>
            <a:b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压表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电流表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1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的量程大于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1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的量程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电压表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1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的量程大于</a:t>
            </a:r>
            <a:r>
              <a:rPr lang="en-US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1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的量程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b392b"/>
              </a:rPr>
              <a:t>把</a:t>
            </a:r>
            <a:b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它们按图接入电路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1704" name="yt_table_11704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71" y="3022068"/>
          <a:ext cx="7589839" cy="2389632"/>
        </p:xfrm>
        <a:graphic>
          <a:graphicData uri="http://schemas.openxmlformats.org/drawingml/2006/table">
            <a:tbl>
              <a:tblPr/>
              <a:tblGrid>
                <a:gridCol w="7589839">
                  <a:extLst>
                    <a:ext uri="{9D8B030D-6E8A-4147-A177-3AD203B41FA5}">
                      <a16:colId xmlns:a16="http://schemas.microsoft.com/office/drawing/2014/main" val="102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电流表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的读数大于电流表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的读数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电流表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的偏转角小于电流表</a:t>
                      </a:r>
                      <a:r>
                        <a:rPr lang="en-US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1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的偏转角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电压表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800" b="1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的读数等于电压表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800" b="1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的读数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电压表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800" b="1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的偏转角等于电压表</a:t>
                      </a:r>
                      <a:r>
                        <a:rPr lang="en-US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en-US" altLang="zh-CN" sz="2800" b="1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1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的偏转角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1"/>
                  </a:ext>
                </a:extLst>
              </a:tr>
            </a:tbl>
          </a:graphicData>
        </a:graphic>
      </p:graphicFrame>
      <p:pic>
        <p:nvPicPr>
          <p:cNvPr id="11703" name="yt_image_11703_skip" title="H_138.5">
            <a:extLst>
              <a:ext uri="">
                <a16:creationId xmlns=""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92001" y="3178823"/>
            <a:ext cx="3374157" cy="175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06132" y="5019285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06133" y="3178591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8" name="yt_image_10265" title="H_47.87496">
            <a:extLst>
              <a:ext uri="">
                <a16:creationId xmlns="" xmlns:a16="http://schemas.microsoft.com/office/drawing/2014/main" xmlns:p14="http://schemas.microsoft.com/office/powerpoint/2010/main" xmlns:p15="http://schemas.microsoft.com/office/powerpoint/2012/main" xmlns:mc="http://schemas.openxmlformats.org/markup-compatibility/2006" xmlns:a14="http://schemas.microsoft.com/office/drawing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4BACC6">
                <a:shade val="45000"/>
                <a:satMod val="135000"/>
              </a:srgbClr>
              <a:prstClr val="white"/>
            </a:duotone>
          </a:blip>
          <a:srcRect/>
          <a:stretch>
            <a:fillRect/>
          </a:stretch>
        </p:blipFill>
        <p:spPr bwMode="auto">
          <a:xfrm>
            <a:off x="4375420" y="552318"/>
            <a:ext cx="2308195" cy="60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组合 17"/>
          <p:cNvGrpSpPr/>
          <p:nvPr/>
        </p:nvGrpSpPr>
        <p:grpSpPr>
          <a:xfrm>
            <a:off x="3954059" y="6427038"/>
            <a:ext cx="4565782" cy="288000"/>
            <a:chOff x="1463551" y="6425622"/>
            <a:chExt cx="4565782" cy="288000"/>
          </a:xfrm>
        </p:grpSpPr>
        <p:sp>
          <p:nvSpPr>
            <p:cNvPr id="11" name="ab1809b5-cd2a-4b27-a123-2089c45ab9d8" descr="{&quot;SlideID&quot;:&quot;333&quot;,&quot;SlideNumber&quot;:&quot;35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7150dde5-a193-4d7f-b0a1-8441e9e5f645" descr="{&quot;SlideID&quot;:&quot;335&quot;,&quot;SlideNumber&quot;:&quot;37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5aea3132-3f0f-4e21-afff-639abdc52a2d" descr="{&quot;SlideID&quot;:&quot;337&quot;,&quot;SlideNumber&quot;:&quot;39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73d9b713-a608-4fad-b74c-0f2a5be60b6c" descr="{&quot;SlideID&quot;:&quot;338&quot;,&quot;SlideNumber&quot;:&quot;40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6be1e5f3-e5e6-4cb3-b7a9-aa4fa8f49cec" descr="{&quot;SlideID&quot;:&quot;339&quot;,&quot;SlideNumber&quot;:&quot;41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ccf97d37-8418-4e1c-9c60-64963acbf72b" descr="{&quot;SlideID&quot;:&quot;341&quot;,&quot;SlideNumber&quot;:&quot;43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d741e793-97ed-4f4b-bdd6-76e6013f1d6e" descr="{&quot;SlideID&quot;:&quot;343&quot;,&quot;SlideNumber&quot;:&quot;45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e8345711-15d9-49c1-87b4-231d6a7ee2de" descr="{&quot;SlideID&quot;:&quot;345&quot;,&quot;SlideNumber&quot;:&quot;47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044752eb-9561-45ce-88e1-64c680edcced" descr="{&quot;SlideID&quot;:&quot;347&quot;,&quot;SlideNumber&quot;:&quot;49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f32c6dc2-5f91-4a93-a387-d0b14c078ff5" descr="{&quot;SlideID&quot;:&quot;349&quot;,&quot;SlideNumber&quot;:&quot;51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c9148945-0253-4e18-9b60-b159fb0583e3" descr="{&quot;SlideID&quot;:&quot;351&quot;,&quot;SlideNumber&quot;:&quot;53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95728c18-25e1-4ced-aedc-1e6ae29d39cf" descr="{&quot;SlideID&quot;:&quot;353&quot;,&quot;SlideNumber&quot;:&quot;55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741333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98263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a14="http://schemas.microsoft.com/office/drawing/2010/main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6" name="yt_shape_11706"/>
          <p:cNvSpPr txBox="1"/>
          <p:nvPr/>
        </p:nvSpPr>
        <p:spPr>
          <a:xfrm>
            <a:off x="324071" y="467999"/>
            <a:ext cx="11924914" cy="535813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</a:t>
            </a:r>
            <a:r>
              <a:rPr lang="zh-CN" altLang="zh-CN" sz="2800" b="1" i="0" u="none" dirty="0">
                <a:solidFill>
                  <a:srgbClr val="0000FF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由题图可知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两电流表并联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故两电流表两端的电压相等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1af29"/>
              </a:rPr>
              <a:t>，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两表由相同的电流表改装而成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而将电流表扩大量程时需并联一小电阻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26756"/>
              </a:rPr>
              <a:t>，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故相当于四个电阻并联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两表头中电流相同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两表的偏转角度相同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_9b989"/>
              </a:rPr>
              <a:t>而电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流表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的量程大于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的量程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故电流表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的内阻小于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的内阻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_78678"/>
              </a:rPr>
              <a:t>中的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电流要大于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中的电流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的读数比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的读数大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2f515"/>
              </a:rPr>
              <a:t>两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电压表串联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故通过两表的电流相等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电压表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的量程大于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的量程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964e6"/>
              </a:rPr>
              <a:t>则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的电阻大于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的电阻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的读数比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的读数大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通过表头的电流相等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a9078"/>
              </a:rPr>
              <a:t>，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表头指针的偏转角度相等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即电压表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的偏转角度等于电压表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1" i="0" u="none" baseline="-25000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4_5934d"/>
              </a:rPr>
              <a:t>的偏转角</a:t>
            </a:r>
            <a:b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度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1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错误。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3954059" y="6427038"/>
            <a:ext cx="4565782" cy="288000"/>
            <a:chOff x="1463551" y="6425622"/>
            <a:chExt cx="4565782" cy="288000"/>
          </a:xfrm>
        </p:grpSpPr>
        <p:sp>
          <p:nvSpPr>
            <p:cNvPr id="11" name="7298ae0e-babe-41c3-9276-2268c5e988f8" descr="{&quot;SlideID&quot;:&quot;333&quot;,&quot;SlideNumber&quot;:&quot;35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4635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07087e28-bde6-4786-8627-201f70901aff" descr="{&quot;SlideID&quot;:&quot;335&quot;,&quot;SlideNumber&quot;:&quot;37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185353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6ad00d07-ba01-485b-a5dc-f05bac2f1c26" descr="{&quot;SlideID&quot;:&quot;337&quot;,&quot;SlideNumber&quot;:&quot;39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24351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d09ed33c-cc96-42cf-abdb-f399964ac43d" descr="{&quot;SlideID&quot;:&quot;338&quot;,&quot;SlideNumber&quot;:&quot;40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263350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fcf33b5e-4adf-42ee-9af7-ec3dd1a22167" descr="{&quot;SlideID&quot;:&quot;339&quot;,&quot;SlideNumber&quot;:&quot;41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02348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511e0dfc-fb05-4068-9865-45c2ca3b0257" descr="{&quot;SlideID&quot;:&quot;341&quot;,&quot;SlideNumber&quot;:&quot;43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413469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bfc0e3f6-1711-4c97-bfd6-3fe328119229" descr="{&quot;SlideID&quot;:&quot;343&quot;,&quot;SlideNumber&quot;:&quot;45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3803451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3e15967d-5222-4d76-9683-1e7f7a68cabc" descr="{&quot;SlideID&quot;:&quot;345&quot;,&quot;SlideNumber&quot;:&quot;47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193433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6676da6b-7d68-4efe-9227-91e268de0930" descr="{&quot;SlideID&quot;:&quot;347&quot;,&quot;SlideNumber&quot;:&quot;49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58341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26f80bf1-2e24-44af-9dda-76eb62409758" descr="{&quot;SlideID&quot;:&quot;349&quot;,&quot;SlideNumber&quot;:&quot;51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4973397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7cd59bce-1344-49d5-ae60-8278e6fe1d81" descr="{&quot;SlideID&quot;:&quot;351&quot;,&quot;SlideNumber&quot;:&quot;53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357365" y="6425622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830a0888-330f-415a-8322-aedd86b173d3" descr="{&quot;SlideID&quot;:&quot;353&quot;,&quot;SlideNumber&quot;:&quot;55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1BB7B06A-172E-C14E-BC86-4ECADFBA4CA4}"/>
                </a:ext>
              </a:extLst>
            </p:cNvPr>
            <p:cNvSpPr/>
            <p:nvPr/>
          </p:nvSpPr>
          <p:spPr>
            <a:xfrm>
              <a:off x="5741333" y="6425622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9120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06" grpId="0" build="allAtOnce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0250"/>
            <a:ext cx="12211050" cy="29718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C2CE74F-02DD-4AC0-A86F-3C8DF00FACEC}"/>
              </a:ext>
            </a:extLst>
          </p:cNvPr>
          <p:cNvSpPr txBox="1"/>
          <p:nvPr/>
        </p:nvSpPr>
        <p:spPr>
          <a:xfrm>
            <a:off x="3348171" y="1981200"/>
            <a:ext cx="671296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13800" b="1" i="0" u="none" strike="noStrike" kern="1200" normalizeH="0" baseline="0" noProof="0" dirty="0">
                <a:ln w="10160">
                  <a:solidFill>
                    <a:schemeClr val="bg2"/>
                  </a:solidFill>
                  <a:prstDash val="solid"/>
                </a:ln>
                <a:gradFill flip="none" rotWithShape="1">
                  <a:gsLst>
                    <a:gs pos="0">
                      <a:srgbClr val="FFFFFF">
                        <a:shade val="30000"/>
                        <a:satMod val="115000"/>
                      </a:srgbClr>
                    </a:gs>
                    <a:gs pos="50000">
                      <a:srgbClr val="FFFFFF">
                        <a:shade val="67500"/>
                        <a:satMod val="115000"/>
                      </a:srgbClr>
                    </a:gs>
                    <a:gs pos="100000">
                      <a:srgbClr val="FFFFFF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Impact" panose="020B0806030902050204" pitchFamily="34" charset="0"/>
                <a:ea typeface="宋体" pitchFamily="2" charset="-122"/>
                <a:cs typeface="+mn-cs"/>
              </a:rPr>
              <a:t>THANKS</a:t>
            </a:r>
            <a:endParaRPr kumimoji="0" lang="zh-CN" altLang="en-US" sz="13800" b="1" i="0" u="none" strike="noStrike" kern="1200" normalizeH="0" baseline="0" noProof="0" dirty="0">
              <a:ln w="10160">
                <a:solidFill>
                  <a:schemeClr val="bg2"/>
                </a:solidFill>
                <a:prstDash val="solid"/>
              </a:ln>
              <a:gradFill flip="none" rotWithShape="1">
                <a:gsLst>
                  <a:gs pos="0">
                    <a:srgbClr val="FFFFFF">
                      <a:shade val="30000"/>
                      <a:satMod val="115000"/>
                    </a:srgbClr>
                  </a:gs>
                  <a:gs pos="50000">
                    <a:srgbClr val="FFFFFF">
                      <a:shade val="67500"/>
                      <a:satMod val="115000"/>
                    </a:srgbClr>
                  </a:gs>
                  <a:gs pos="100000">
                    <a:srgbClr val="FFFFFF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Impact" panose="020B080603090205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78DE397-53CD-43DF-B436-EAF0D0085C34}"/>
              </a:ext>
            </a:extLst>
          </p:cNvPr>
          <p:cNvSpPr/>
          <p:nvPr/>
        </p:nvSpPr>
        <p:spPr>
          <a:xfrm>
            <a:off x="3280974" y="3089196"/>
            <a:ext cx="593143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5400" b="1" i="0" u="none" strike="noStrike" kern="1200" normalizeH="0" baseline="0" noProof="0" dirty="0">
                <a:ln w="6600">
                  <a:solidFill>
                    <a:schemeClr val="accent4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dist="38100" dir="2700000" algn="tl" rotWithShape="0">
                    <a:schemeClr val="accent2"/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 Light" panose="020B0502040204020203" pitchFamily="34" charset="-122"/>
              </a:rPr>
              <a:t>演示完毕 感谢观看</a:t>
            </a:r>
          </a:p>
        </p:txBody>
      </p:sp>
    </p:spTree>
    <p:extLst>
      <p:ext uri="{BB962C8B-B14F-4D97-AF65-F5344CB8AC3E}">
        <p14:creationId xmlns:p14="http://schemas.microsoft.com/office/powerpoint/2010/main" val="37278458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 xmlns:a16="http://schemas.microsoft.com/office/drawing/2014/main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6319</Words>
  <Application>Microsoft Macintosh PowerPoint</Application>
  <PresentationFormat>Widescreen</PresentationFormat>
  <Paragraphs>518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7" baseType="lpstr">
      <vt:lpstr>方正新报宋_GBK</vt:lpstr>
      <vt:lpstr>仿宋</vt:lpstr>
      <vt:lpstr>楷体</vt:lpstr>
      <vt:lpstr>微软雅黑</vt:lpstr>
      <vt:lpstr>宋体</vt:lpstr>
      <vt:lpstr>华文细黑</vt:lpstr>
      <vt:lpstr>Aparajita</vt:lpstr>
      <vt:lpstr>Arial</vt:lpstr>
      <vt:lpstr>Cambria Math</vt:lpstr>
      <vt:lpstr>Impact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三维设计;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三维设计</dc:creator>
  <cp:lastModifiedBy>Xingyu Shu</cp:lastModifiedBy>
  <cp:revision>8</cp:revision>
  <dcterms:created xsi:type="dcterms:W3CDTF">2025-04-22T02:39:12Z</dcterms:created>
  <dcterms:modified xsi:type="dcterms:W3CDTF">2026-06-03T02:43:39Z</dcterms:modified>
</cp:coreProperties>
</file>