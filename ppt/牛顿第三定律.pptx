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heme/theme2.xml" ContentType="application/vnd.openxmlformats-officedocument.them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1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notesSlides/notesSlide2.xml" ContentType="application/vnd.openxmlformats-officedocument.presentationml.notesSlide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notesSlides/notesSlide3.xml" ContentType="application/vnd.openxmlformats-officedocument.presentationml.notesSlide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notesSlides/notesSlide4.xml" ContentType="application/vnd.openxmlformats-officedocument.presentationml.notesSlide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notesSlides/notesSlide5.xml" ContentType="application/vnd.openxmlformats-officedocument.presentationml.notesSlide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notesSlides/notesSlide6.xml" ContentType="application/vnd.openxmlformats-officedocument.presentationml.notesSlide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notesSlides/notesSlide7.xml" ContentType="application/vnd.openxmlformats-officedocument.presentationml.notesSlide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notesSlides/notesSlide8.xml" ContentType="application/vnd.openxmlformats-officedocument.presentationml.notesSlide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notesSlides/notesSlide9.xml" ContentType="application/vnd.openxmlformats-officedocument.presentationml.notesSlide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notesSlides/notesSlide10.xml" ContentType="application/vnd.openxmlformats-officedocument.presentationml.notesSlide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notesSlides/notesSlide11.xml" ContentType="application/vnd.openxmlformats-officedocument.presentationml.notesSlide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notesSlides/notesSlide12.xml" ContentType="application/vnd.openxmlformats-officedocument.presentationml.notesSlide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notesSlides/notesSlide13.xml" ContentType="application/vnd.openxmlformats-officedocument.presentationml.notesSlide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notesSlides/notesSlide14.xml" ContentType="application/vnd.openxmlformats-officedocument.presentationml.notesSlide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notesSlides/notesSlide15.xml" ContentType="application/vnd.openxmlformats-officedocument.presentationml.notesSlide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397" r:id="rId3"/>
    <p:sldId id="390" r:id="rId4"/>
    <p:sldId id="365" r:id="rId5"/>
    <p:sldId id="367" r:id="rId6"/>
    <p:sldId id="368" r:id="rId7"/>
    <p:sldId id="369" r:id="rId8"/>
    <p:sldId id="370" r:id="rId9"/>
    <p:sldId id="399" r:id="rId10"/>
    <p:sldId id="400" r:id="rId11"/>
    <p:sldId id="374" r:id="rId12"/>
    <p:sldId id="375" r:id="rId13"/>
    <p:sldId id="401" r:id="rId14"/>
    <p:sldId id="376" r:id="rId15"/>
    <p:sldId id="378" r:id="rId16"/>
    <p:sldId id="379" r:id="rId17"/>
    <p:sldId id="402" r:id="rId18"/>
    <p:sldId id="257" r:id="rId19"/>
    <p:sldId id="258" r:id="rId20"/>
    <p:sldId id="484" r:id="rId21"/>
    <p:sldId id="485" r:id="rId22"/>
    <p:sldId id="515" r:id="rId23"/>
    <p:sldId id="454" r:id="rId24"/>
    <p:sldId id="512" r:id="rId25"/>
    <p:sldId id="513" r:id="rId26"/>
    <p:sldId id="514" r:id="rId27"/>
    <p:sldId id="318" r:id="rId28"/>
    <p:sldId id="335" r:id="rId29"/>
    <p:sldId id="33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76" y="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5CA906-38A4-E64B-99EA-C80B6A9CDBD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6FCA60-0397-6940-BAA7-BC96C2030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665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5" Type="http://schemas.openxmlformats.org/officeDocument/2006/relationships/slide" Target="../slides/slide2.xml"/><Relationship Id="rId4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" Type="http://schemas.openxmlformats.org/officeDocument/2006/relationships/tags" Target="../tags/tag53.xml"/><Relationship Id="rId5" Type="http://schemas.openxmlformats.org/officeDocument/2006/relationships/slide" Target="../slides/slide3.xml"/><Relationship Id="rId4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67.xml"/><Relationship Id="rId2" Type="http://schemas.openxmlformats.org/officeDocument/2006/relationships/tags" Target="../tags/tag66.xml"/><Relationship Id="rId1" Type="http://schemas.openxmlformats.org/officeDocument/2006/relationships/tags" Target="../tags/tag65.xml"/><Relationship Id="rId5" Type="http://schemas.openxmlformats.org/officeDocument/2006/relationships/slide" Target="../slides/slide4.xml"/><Relationship Id="rId4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84.xml"/><Relationship Id="rId2" Type="http://schemas.openxmlformats.org/officeDocument/2006/relationships/tags" Target="../tags/tag83.xml"/><Relationship Id="rId1" Type="http://schemas.openxmlformats.org/officeDocument/2006/relationships/tags" Target="../tags/tag82.xml"/><Relationship Id="rId5" Type="http://schemas.openxmlformats.org/officeDocument/2006/relationships/slide" Target="../slides/slide5.xml"/><Relationship Id="rId4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105.xml"/><Relationship Id="rId2" Type="http://schemas.openxmlformats.org/officeDocument/2006/relationships/tags" Target="../tags/tag104.xml"/><Relationship Id="rId1" Type="http://schemas.openxmlformats.org/officeDocument/2006/relationships/tags" Target="../tags/tag103.xml"/><Relationship Id="rId5" Type="http://schemas.openxmlformats.org/officeDocument/2006/relationships/slide" Target="../slides/slide6.xml"/><Relationship Id="rId4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14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5" Type="http://schemas.openxmlformats.org/officeDocument/2006/relationships/slide" Target="../slides/slide7.xml"/><Relationship Id="rId4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24.xml"/><Relationship Id="rId2" Type="http://schemas.openxmlformats.org/officeDocument/2006/relationships/tags" Target="../tags/tag123.xml"/><Relationship Id="rId1" Type="http://schemas.openxmlformats.org/officeDocument/2006/relationships/tags" Target="../tags/tag122.xml"/><Relationship Id="rId5" Type="http://schemas.openxmlformats.org/officeDocument/2006/relationships/slide" Target="../slides/slide8.xml"/><Relationship Id="rId4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129.xml"/><Relationship Id="rId2" Type="http://schemas.openxmlformats.org/officeDocument/2006/relationships/tags" Target="../tags/tag128.xml"/><Relationship Id="rId1" Type="http://schemas.openxmlformats.org/officeDocument/2006/relationships/tags" Target="../tags/tag127.xml"/><Relationship Id="rId5" Type="http://schemas.openxmlformats.org/officeDocument/2006/relationships/slide" Target="../slides/slide9.xml"/><Relationship Id="rId4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134.xml"/><Relationship Id="rId2" Type="http://schemas.openxmlformats.org/officeDocument/2006/relationships/tags" Target="../tags/tag133.xml"/><Relationship Id="rId1" Type="http://schemas.openxmlformats.org/officeDocument/2006/relationships/tags" Target="../tags/tag132.xml"/><Relationship Id="rId5" Type="http://schemas.openxmlformats.org/officeDocument/2006/relationships/slide" Target="../slides/slide10.xml"/><Relationship Id="rId4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145.xml"/><Relationship Id="rId2" Type="http://schemas.openxmlformats.org/officeDocument/2006/relationships/tags" Target="../tags/tag144.xml"/><Relationship Id="rId1" Type="http://schemas.openxmlformats.org/officeDocument/2006/relationships/tags" Target="../tags/tag143.xml"/><Relationship Id="rId5" Type="http://schemas.openxmlformats.org/officeDocument/2006/relationships/slide" Target="../slides/slide11.xml"/><Relationship Id="rId4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153.xml"/><Relationship Id="rId2" Type="http://schemas.openxmlformats.org/officeDocument/2006/relationships/tags" Target="../tags/tag152.xml"/><Relationship Id="rId1" Type="http://schemas.openxmlformats.org/officeDocument/2006/relationships/tags" Target="../tags/tag151.xml"/><Relationship Id="rId5" Type="http://schemas.openxmlformats.org/officeDocument/2006/relationships/slide" Target="../slides/slide12.xml"/><Relationship Id="rId4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158.xml"/><Relationship Id="rId2" Type="http://schemas.openxmlformats.org/officeDocument/2006/relationships/tags" Target="../tags/tag157.xml"/><Relationship Id="rId1" Type="http://schemas.openxmlformats.org/officeDocument/2006/relationships/tags" Target="../tags/tag156.xml"/><Relationship Id="rId5" Type="http://schemas.openxmlformats.org/officeDocument/2006/relationships/slide" Target="../slides/slide13.xml"/><Relationship Id="rId4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168.xml"/><Relationship Id="rId2" Type="http://schemas.openxmlformats.org/officeDocument/2006/relationships/tags" Target="../tags/tag167.xml"/><Relationship Id="rId1" Type="http://schemas.openxmlformats.org/officeDocument/2006/relationships/tags" Target="../tags/tag166.xml"/><Relationship Id="rId5" Type="http://schemas.openxmlformats.org/officeDocument/2006/relationships/slide" Target="../slides/slide14.xml"/><Relationship Id="rId4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182.xml"/><Relationship Id="rId2" Type="http://schemas.openxmlformats.org/officeDocument/2006/relationships/tags" Target="../tags/tag181.xml"/><Relationship Id="rId1" Type="http://schemas.openxmlformats.org/officeDocument/2006/relationships/tags" Target="../tags/tag180.xml"/><Relationship Id="rId5" Type="http://schemas.openxmlformats.org/officeDocument/2006/relationships/slide" Target="../slides/slide15.xml"/><Relationship Id="rId4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notesMaster" Target="../notesMasters/notesMaster1.xml"/><Relationship Id="rId2" Type="http://schemas.openxmlformats.org/officeDocument/2006/relationships/tags" Target="../tags/tag203.xml"/><Relationship Id="rId1" Type="http://schemas.openxmlformats.org/officeDocument/2006/relationships/tags" Target="../tags/tag202.xml"/><Relationship Id="rId4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我们首先看两个现象，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 1、拿鸡蛋去碰石头，鸡蛋给石头一个力的作用F1 ，可是鸡蛋却破了。这个现象说明石头同时也给了鸡蛋一个力的作用 F2 。鸡蛋和石头之间的力的作用是相互的。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 2、穿旱冰鞋的人使劲推桌子，给了桌子一个力的作用F1 ，可是人却后退了。这个现象说明桌子同时也给了人一个力的作用 F2 。人和桌子之间也有相互作用力。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你还能列举生活中的例子说明物体间力的作用是相互的。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14452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>
                <a:latin typeface="华文楷体" panose="02010600040101010101" pitchFamily="2" charset="-122"/>
                <a:ea typeface="华文楷体" panose="02010600040101010101" pitchFamily="2" charset="-122"/>
              </a:rPr>
              <a:t>     这样的例子有很多，我们看这几个例子。</a:t>
            </a:r>
          </a:p>
          <a:p>
            <a:r>
              <a:rPr lang="zh-CN" altLang="en-US">
                <a:latin typeface="华文楷体" panose="02010600040101010101" pitchFamily="2" charset="-122"/>
                <a:ea typeface="华文楷体" panose="02010600040101010101" pitchFamily="2" charset="-122"/>
              </a:rPr>
              <a:t>    人划船时，桨向后推水，水就向前推桨，使船前进。桨和水之间力的作用是相互的。</a:t>
            </a:r>
          </a:p>
          <a:p>
            <a:r>
              <a:rPr lang="zh-CN" altLang="en-US">
                <a:latin typeface="华文楷体" panose="02010600040101010101" pitchFamily="2" charset="-122"/>
                <a:ea typeface="华文楷体" panose="02010600040101010101" pitchFamily="2" charset="-122"/>
              </a:rPr>
              <a:t>    地球吸引卫星，卫星也吸引地球。地球和卫星之间有相互作用的吸引力。</a:t>
            </a:r>
          </a:p>
          <a:p>
            <a:r>
              <a:rPr lang="zh-CN" altLang="en-US">
                <a:latin typeface="华文楷体" panose="02010600040101010101" pitchFamily="2" charset="-122"/>
                <a:ea typeface="华文楷体" panose="02010600040101010101" pitchFamily="2" charset="-122"/>
              </a:rPr>
              <a:t>   汽车驱动轮向后推地面，地面就给车轮一个向前的力，使汽车前进。车轮和地面之间有相互作用力。</a:t>
            </a:r>
          </a:p>
          <a:p>
            <a:r>
              <a:rPr lang="zh-CN" altLang="en-US">
                <a:latin typeface="华文楷体" panose="02010600040101010101" pitchFamily="2" charset="-122"/>
                <a:ea typeface="华文楷体" panose="02010600040101010101" pitchFamily="2" charset="-122"/>
              </a:rPr>
              <a:t>    磁悬浮地球仪的地球仪和底座之间也有相互作用的排斥力。</a:t>
            </a:r>
          </a:p>
          <a:p>
            <a:endParaRPr lang="zh-CN" altLang="en-US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>
                <a:latin typeface="华文楷体" panose="02010600040101010101" pitchFamily="2" charset="-122"/>
                <a:ea typeface="华文楷体" panose="02010600040101010101" pitchFamily="2" charset="-122"/>
              </a:rPr>
              <a:t>   大量的观察和实验的结果表明，当一个物体对另一个物体施加力的作用时，后一个物体对前一个物体也施加了力的作用。物体间力的作用是相互的。物体间相互作用的这一对力，通常叫做作用力与反作用力</a:t>
            </a:r>
          </a:p>
          <a:p>
            <a:r>
              <a:rPr lang="zh-CN" altLang="en-US">
                <a:latin typeface="华文楷体" panose="02010600040101010101" pitchFamily="2" charset="-122"/>
                <a:ea typeface="华文楷体" panose="02010600040101010101" pitchFamily="2" charset="-122"/>
              </a:rPr>
              <a:t>    早在17世纪，伟大的物理学家牛顿就对其进行仔细地观察和深入的研究，得出了著名的牛顿第三定律。今天我们也试着来分析研究作用力与反作用力的关系。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 sz="1200" b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 大家仔细观察刚才我们举的例子，总结关于作用力和反作用力的特点。  我们可以从力的大小、方向、作用点、力的种类这几方面考虑。 </a:t>
            </a:r>
          </a:p>
          <a:p>
            <a:r>
              <a:rPr lang="zh-CN" altLang="en-US" sz="1200" b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</a:t>
            </a:r>
          </a:p>
          <a:p>
            <a:r>
              <a:rPr lang="zh-CN" altLang="en-US" sz="1200" b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   有的同学说了，从这些现象中，我们可以看出他们总是作用在一条直线上，而且方向相反。还可以看出，作用力与反作用力总是作用在两个物体上，仔细分析，也不难发现，作用力与反作用力都是同一种类的力。鸡蛋和石头之间的相互作用力是弹力，地球和卫星之间的相互作用力都是引力、车轮给地面的和地面给车轮的力都是摩擦力、地球仪和底座之间的相互作用力则都是电磁力。</a:t>
            </a:r>
          </a:p>
          <a:p>
            <a:endParaRPr lang="zh-CN" altLang="en-US" sz="1200" b="0"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1200" b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   那么，作用力与反作用力的大小有什么关系呢？通过观察，我们能定量得到力的大小之间关系吗？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/>
              <a:t>      那么我们如何进行实验测量呢？选择什么样的物体作为我们的研究对象？需要测量哪些物理量？如何进行测量呢？选择什么测量工具呢？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/>
              <a:t> 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/>
              <a:t>      大家可以试着设计自己的实验方案。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/>
              <a:t>      每个同学的设计可能都不完全一样。有的同学这样来进行实验。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b="0"/>
              <a:t>       我们一起看这个实验方案，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b="0"/>
              <a:t>       在这个实验设计中，研究对象选择两个弹簧测力计之间的相互作用力，实验装置如图所示，在这个实验中，需要测量的物理量分别是B对A的拉力和A对B的拉力。测量工具显然就是弹簧测力计本身了。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 b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b="0"/>
              <a:t>      大家仔细体会这个实验设计的巧妙，把测量工具和相互作用的物体统一起来，使得实验装置本身很简单，小实验体现了大道理。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b="0"/>
              <a:t>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b="0"/>
              <a:t>      我们一起看看实验现象吧。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 b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/>
              <a:t>      大家仔细观察，手拉弹簧秤A，使力逐渐增大，两个弹簧秤的指针同时移动。暂停，读数，两个弹簧秤的示数都是1.70牛 , 加大拉力，再次读数，两个弹簧秤的示数都是2.50牛，再加大拉力，读数，两个弹簧秤的示数都是4.00牛。 从实验数据可以看出，在这三个时刻，作用力与反作用力大小相等。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/>
              <a:t>      那么，是不是时时刻刻作用力和反作用力的大小都有这样的关系呢？为了清楚地知道时时刻刻作用力和反作用力的大小关系，我们换用更精密的且能实时记录力的变化的仪器—力传感器来进行实验。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这就是我们使用的力传感器，可以实时测量力的大小和方向，并且通过电脑描绘出力随时间的变化图像。我们先演示一下物体处于静止状态时的情形，大家注意观察。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    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这就是我们使用的力传感器，可以实时测量力的大小和方向，并且通过电脑描绘出力随时间的变化图像。我们先演示一下物体处于静止状态时的情形，大家注意观察。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    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081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这就是我们使用的力传感器，可以实时测量力的大小和方向，并且通过电脑描绘出力随时间的变化图像。我们先演示一下物体处于静止状态时的情形，大家注意观察。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    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52423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20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通过前面的定性分析和定量研究，我们得到了作用力与反作用力的特点，有……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20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那么，你能用一句话，把这些特点概括起来吗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11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200" b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    在很早之前，牛顿经过研究指出：两个物体之间的作用力和反作用力总是大小相等，方向相反，作用在同一条直线上。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200" b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    总是---代表的是无论什么时间、什么位置、什么运动状态，什么种类的力都满足这样的特点。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200" b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    大家想一想，这一句话是不是就把前面我们得出的相互作用力的特点都概括了呢？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200" b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这就是著名的牛顿第三定律。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 sz="1200" b="0">
              <a:solidFill>
                <a:srgbClr val="0000FF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200" b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     当然，不是我们今天这么几个实验，就可以得出牛顿第三定律的，牛顿第三定律的得出经历了漫长的历史过程，在整个过程中，科学家通过对大量现象进行观察，猜想、验证、归纳 ，这才形成我们今天看到的牛顿第三定律，他看似简单，但他是连接一个物体受到的力与其他物体受到的力的桥梁，有了它就会把研究对象从一个物体扩展到多个物体，拓宽了分析问题的思路。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12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pPr lvl="0">
              <a:defRPr/>
            </a:pPr>
            <a:r>
              <a:rPr lang="zh-CN" altLang="en-US"/>
              <a:t>      知道了作用力和反作用力之间的关系，我们来回顾一下这两个现象，大家思考</a:t>
            </a:r>
          </a:p>
          <a:p>
            <a:pPr lvl="0">
              <a:defRPr/>
            </a:pPr>
            <a:r>
              <a:rPr lang="zh-CN" altLang="en-US"/>
              <a:t>     1、拿鸡蛋去碰石头，可是鸡蛋却破了。那么他们施加给对方的力依然大小相等吗？</a:t>
            </a:r>
          </a:p>
          <a:p>
            <a:pPr lvl="0">
              <a:defRPr/>
            </a:pPr>
            <a:r>
              <a:rPr lang="zh-CN" altLang="en-US"/>
              <a:t>     2、穿旱冰鞋的人使劲推桌子，可是自己却后退了。那么他们施加给对方的力，大小相等吗？</a:t>
            </a:r>
          </a:p>
          <a:p>
            <a:pPr lvl="0">
              <a:defRPr/>
            </a:pPr>
            <a:endParaRPr lang="zh-CN" altLang="en-US"/>
          </a:p>
          <a:p>
            <a:pPr lvl="0">
              <a:defRPr/>
            </a:pPr>
            <a:r>
              <a:rPr lang="zh-CN" altLang="en-US"/>
              <a:t>      答案是肯定的，因为他们是相互作用力，等大反向共线。</a:t>
            </a:r>
          </a:p>
          <a:p>
            <a:pPr lvl="0">
              <a:defRPr/>
            </a:pPr>
            <a:r>
              <a:rPr lang="zh-CN" altLang="en-US"/>
              <a:t>      可是有的同学还是有点疑惑。我们一起看看。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58505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pPr lvl="0">
              <a:defRPr/>
            </a:pPr>
            <a:r>
              <a:rPr lang="zh-CN" altLang="en-US"/>
              <a:t>      知道了作用力和反作用力之间的关系，我们来回顾一下这两个现象，大家思考</a:t>
            </a:r>
          </a:p>
          <a:p>
            <a:pPr lvl="0">
              <a:defRPr/>
            </a:pPr>
            <a:r>
              <a:rPr lang="zh-CN" altLang="en-US"/>
              <a:t>     1、拿鸡蛋去碰石头，可是鸡蛋却破了。那么他们施加给对方的力依然大小相等吗？</a:t>
            </a:r>
          </a:p>
          <a:p>
            <a:pPr lvl="0">
              <a:defRPr/>
            </a:pPr>
            <a:r>
              <a:rPr lang="zh-CN" altLang="en-US"/>
              <a:t>     2、穿旱冰鞋的人使劲推桌子，可是自己却后退了。那么他们施加给对方的力，大小相等吗？</a:t>
            </a:r>
          </a:p>
          <a:p>
            <a:pPr lvl="0">
              <a:defRPr/>
            </a:pPr>
            <a:endParaRPr lang="zh-CN" altLang="en-US"/>
          </a:p>
          <a:p>
            <a:pPr lvl="0">
              <a:defRPr/>
            </a:pPr>
            <a:r>
              <a:rPr lang="zh-CN" altLang="en-US"/>
              <a:t>      答案是肯定的，因为他们是相互作用力，等大反向共线。</a:t>
            </a:r>
          </a:p>
          <a:p>
            <a:pPr lvl="0">
              <a:defRPr/>
            </a:pPr>
            <a:r>
              <a:rPr lang="zh-CN" altLang="en-US"/>
              <a:t>      可是有的同学还是有点疑惑。我们一起看看。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14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 b="0"/>
              <a:t>     我们一起回忆一下，什么是平衡力，</a:t>
            </a:r>
          </a:p>
          <a:p>
            <a:r>
              <a:rPr lang="zh-CN" altLang="en-US" b="0"/>
              <a:t>    作用在同一物体上的两个力，如果大小相等、方向相反，并且在同一直线上，这两个力就彼此平衡。</a:t>
            </a:r>
          </a:p>
          <a:p>
            <a:r>
              <a:rPr lang="zh-CN" altLang="en-US" b="0"/>
              <a:t>   平衡力和相互作用力的主要区别是，平衡力作用在同一个物体上，相互作用力作用在不同的物体上。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EA540E3B-F9C0-48B6-A129-4D327DD30658}" type="slidenum">
              <a:rPr lang="zh-CN" altLang="en-US" smtClean="0"/>
              <a:t>15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  <p:custDataLst>
              <p:tags r:id="rId1"/>
            </p:custDataLst>
          </p:nvPr>
        </p:nvSpPr>
        <p:spPr/>
      </p:sp>
      <p:sp>
        <p:nvSpPr>
          <p:cNvPr id="3" name="文本占位符 2"/>
          <p:cNvSpPr txBox="1">
            <a:spLocks noGrp="1"/>
          </p:cNvSpPr>
          <p:nvPr>
            <p:ph type="body" idx="3"/>
            <p:custDataLst>
              <p:tags r:id="rId2"/>
            </p:custDataLst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200" b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请你画出台秤对物体支持力的反作用力和平衡力。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 sz="1200" b="0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200" b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台秤对物体支持力的反作用力是 物体对台秤的压力，平衡力是物体的重力。你做对了吗？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 sz="1200" b="0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200" b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分析这一对相互作用力和平衡力并 结合他们各自的定义，请你总结相互作用力和平衡力的异同点，并完成下列表格。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 sz="1200" b="0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 sz="1200" b="0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200" b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slideMaster" Target="../slideMasters/slideMaster1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BAE26-56B8-2430-61FE-210867C46B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37BB5E0-8FB4-28ED-7516-8F1B6E232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12B10A-941C-D939-27AC-6B15C7D34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9AD2BD-88C2-A651-59BE-1F23AE6AA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89C6D7-3953-E131-FC50-ABB0C76B8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310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787BA6-2A8E-5FA0-58D6-C944834A0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37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3081"/>
            <a:ext cx="10515600" cy="5811838"/>
          </a:xfrm>
        </p:spPr>
        <p:txBody>
          <a:bodyPr/>
          <a:lstStyle>
            <a:lvl1pPr marL="0" indent="0">
              <a:buNone/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945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6037C5-4353-B18D-E7F6-50395C053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>
            <a:lvl1pPr algn="ctr"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095E053-2D55-7D42-832A-64D9FD71F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409B3BC-5091-C9EB-93DC-DAA2C048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9B95254-26E7-464E-C68E-165FA6809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500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135E84-15A1-7FC9-AFAF-8FADC46CD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4AF478-0EFE-AC89-ED8A-29756B0B9E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9BB167-44B9-706B-D666-89AE18CB9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E7B3BB-7A6E-45B9-71DF-CB6C64FBA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162526-EB46-7571-519E-1D9919B8F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DE84E-A2DC-6924-24F0-2B979681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4904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3554D5-D7A9-A1DD-900A-2FD838DA3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E7B749-E7A9-21B5-B42B-E0A39C25C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7C0BC1-B0B5-7AAD-E11A-81B8F71F4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339032A-E84E-69B4-CBA0-AA0E80DEE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95D864D-D9D2-FFDB-0B84-6A573F795D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228042-54E5-4EAA-2940-C44C57443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0899DAD-BFB9-32DF-3CE6-59BAD615A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7AF6A48-CE64-6945-8AD6-C8258AA9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596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 userDrawn="1">
            <p:custDataLst>
              <p:tags r:id="rId1"/>
            </p:custDataLst>
          </p:nvPr>
        </p:nvGrpSpPr>
        <p:grpSpPr>
          <a:xfrm>
            <a:off x="0" y="3395980"/>
            <a:ext cx="3742690" cy="3462020"/>
            <a:chOff x="0" y="5348"/>
            <a:chExt cx="5894" cy="5452"/>
          </a:xfrm>
        </p:grpSpPr>
        <p:sp>
          <p:nvSpPr>
            <p:cNvPr id="22" name="直角三角形 21"/>
            <p:cNvSpPr/>
            <p:nvPr userDrawn="1">
              <p:custDataLst>
                <p:tags r:id="rId9"/>
              </p:custDataLst>
            </p:nvPr>
          </p:nvSpPr>
          <p:spPr>
            <a:xfrm>
              <a:off x="0" y="5348"/>
              <a:ext cx="2960" cy="5452"/>
            </a:xfrm>
            <a:prstGeom prst="rtTriangle">
              <a:avLst/>
            </a:prstGeom>
            <a:solidFill>
              <a:srgbClr val="0299D8">
                <a:alpha val="12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汉仪宋韵朗黑W" panose="00020600040101010101" charset="-122"/>
              </a:endParaRPr>
            </a:p>
          </p:txBody>
        </p:sp>
        <p:sp>
          <p:nvSpPr>
            <p:cNvPr id="23" name="直角三角形 22"/>
            <p:cNvSpPr/>
            <p:nvPr userDrawn="1">
              <p:custDataLst>
                <p:tags r:id="rId10"/>
              </p:custDataLst>
            </p:nvPr>
          </p:nvSpPr>
          <p:spPr>
            <a:xfrm>
              <a:off x="0" y="7695"/>
              <a:ext cx="5895" cy="3105"/>
            </a:xfrm>
            <a:prstGeom prst="rtTriangle">
              <a:avLst/>
            </a:prstGeom>
            <a:solidFill>
              <a:srgbClr val="0299D8">
                <a:alpha val="1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汉仪宋韵朗黑W" panose="00020600040101010101" charset="-122"/>
              </a:endParaRPr>
            </a:p>
          </p:txBody>
        </p:sp>
        <p:sp>
          <p:nvSpPr>
            <p:cNvPr id="24" name="直角三角形 23"/>
            <p:cNvSpPr/>
            <p:nvPr userDrawn="1">
              <p:custDataLst>
                <p:tags r:id="rId11"/>
              </p:custDataLst>
            </p:nvPr>
          </p:nvSpPr>
          <p:spPr>
            <a:xfrm>
              <a:off x="0" y="6496"/>
              <a:ext cx="2960" cy="4304"/>
            </a:xfrm>
            <a:prstGeom prst="rtTriangle">
              <a:avLst/>
            </a:prstGeom>
            <a:solidFill>
              <a:srgbClr val="95E1E7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汉仪宋韵朗黑W" panose="00020600040101010101" charset="-122"/>
              </a:endParaRPr>
            </a:p>
          </p:txBody>
        </p:sp>
        <p:sp>
          <p:nvSpPr>
            <p:cNvPr id="25" name="直角三角形 24"/>
            <p:cNvSpPr/>
            <p:nvPr userDrawn="1">
              <p:custDataLst>
                <p:tags r:id="rId12"/>
              </p:custDataLst>
            </p:nvPr>
          </p:nvSpPr>
          <p:spPr>
            <a:xfrm>
              <a:off x="0" y="8180"/>
              <a:ext cx="4567" cy="2620"/>
            </a:xfrm>
            <a:prstGeom prst="rtTriangle">
              <a:avLst/>
            </a:prstGeom>
            <a:solidFill>
              <a:schemeClr val="accent2">
                <a:lumMod val="75000"/>
                <a:alpha val="6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汉仪宋韵朗黑W" panose="00020600040101010101" charset="-122"/>
              </a:endParaRPr>
            </a:p>
          </p:txBody>
        </p:sp>
        <p:sp>
          <p:nvSpPr>
            <p:cNvPr id="26" name="直角三角形 25"/>
            <p:cNvSpPr/>
            <p:nvPr userDrawn="1">
              <p:custDataLst>
                <p:tags r:id="rId13"/>
              </p:custDataLst>
            </p:nvPr>
          </p:nvSpPr>
          <p:spPr>
            <a:xfrm>
              <a:off x="0" y="7287"/>
              <a:ext cx="2471" cy="3513"/>
            </a:xfrm>
            <a:prstGeom prst="rtTriangle">
              <a:avLst/>
            </a:prstGeom>
            <a:solidFill>
              <a:srgbClr val="0299D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汉仪宋韵朗黑W" panose="00020600040101010101" charset="-122"/>
              </a:endParaRPr>
            </a:p>
          </p:txBody>
        </p:sp>
        <p:sp>
          <p:nvSpPr>
            <p:cNvPr id="27" name="直角三角形 26"/>
            <p:cNvSpPr/>
            <p:nvPr userDrawn="1">
              <p:custDataLst>
                <p:tags r:id="rId14"/>
              </p:custDataLst>
            </p:nvPr>
          </p:nvSpPr>
          <p:spPr>
            <a:xfrm>
              <a:off x="0" y="8599"/>
              <a:ext cx="2959" cy="2201"/>
            </a:xfrm>
            <a:prstGeom prst="rtTriangle">
              <a:avLst/>
            </a:prstGeom>
            <a:solidFill>
              <a:srgbClr val="0C76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汉仪宋韵朗黑W" panose="00020600040101010101" charset="-122"/>
              </a:endParaRPr>
            </a:p>
          </p:txBody>
        </p:sp>
      </p:grpSp>
      <p:grpSp>
        <p:nvGrpSpPr>
          <p:cNvPr id="28" name="组合 27"/>
          <p:cNvGrpSpPr/>
          <p:nvPr userDrawn="1">
            <p:custDataLst>
              <p:tags r:id="rId2"/>
            </p:custDataLst>
          </p:nvPr>
        </p:nvGrpSpPr>
        <p:grpSpPr>
          <a:xfrm flipH="1" flipV="1">
            <a:off x="8449310" y="0"/>
            <a:ext cx="3742690" cy="3462020"/>
            <a:chOff x="0" y="5348"/>
            <a:chExt cx="5894" cy="5452"/>
          </a:xfrm>
        </p:grpSpPr>
        <p:sp>
          <p:nvSpPr>
            <p:cNvPr id="29" name="直角三角形 28"/>
            <p:cNvSpPr/>
            <p:nvPr userDrawn="1">
              <p:custDataLst>
                <p:tags r:id="rId3"/>
              </p:custDataLst>
            </p:nvPr>
          </p:nvSpPr>
          <p:spPr>
            <a:xfrm>
              <a:off x="0" y="5348"/>
              <a:ext cx="2960" cy="5452"/>
            </a:xfrm>
            <a:prstGeom prst="rtTriangle">
              <a:avLst/>
            </a:prstGeom>
            <a:solidFill>
              <a:srgbClr val="0299D8">
                <a:alpha val="12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汉仪宋韵朗黑W" panose="00020600040101010101" charset="-122"/>
              </a:endParaRPr>
            </a:p>
          </p:txBody>
        </p:sp>
        <p:sp>
          <p:nvSpPr>
            <p:cNvPr id="30" name="直角三角形 29"/>
            <p:cNvSpPr/>
            <p:nvPr userDrawn="1">
              <p:custDataLst>
                <p:tags r:id="rId4"/>
              </p:custDataLst>
            </p:nvPr>
          </p:nvSpPr>
          <p:spPr>
            <a:xfrm>
              <a:off x="0" y="7695"/>
              <a:ext cx="5895" cy="3105"/>
            </a:xfrm>
            <a:prstGeom prst="rtTriangle">
              <a:avLst/>
            </a:prstGeom>
            <a:solidFill>
              <a:srgbClr val="0299D8">
                <a:alpha val="1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汉仪宋韵朗黑W" panose="00020600040101010101" charset="-122"/>
              </a:endParaRPr>
            </a:p>
          </p:txBody>
        </p:sp>
        <p:sp>
          <p:nvSpPr>
            <p:cNvPr id="31" name="直角三角形 30"/>
            <p:cNvSpPr/>
            <p:nvPr userDrawn="1">
              <p:custDataLst>
                <p:tags r:id="rId5"/>
              </p:custDataLst>
            </p:nvPr>
          </p:nvSpPr>
          <p:spPr>
            <a:xfrm>
              <a:off x="0" y="6496"/>
              <a:ext cx="2960" cy="4304"/>
            </a:xfrm>
            <a:prstGeom prst="rtTriangle">
              <a:avLst/>
            </a:prstGeom>
            <a:solidFill>
              <a:srgbClr val="95E1E7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汉仪宋韵朗黑W" panose="00020600040101010101" charset="-122"/>
              </a:endParaRPr>
            </a:p>
          </p:txBody>
        </p:sp>
        <p:sp>
          <p:nvSpPr>
            <p:cNvPr id="32" name="直角三角形 31"/>
            <p:cNvSpPr/>
            <p:nvPr userDrawn="1">
              <p:custDataLst>
                <p:tags r:id="rId6"/>
              </p:custDataLst>
            </p:nvPr>
          </p:nvSpPr>
          <p:spPr>
            <a:xfrm>
              <a:off x="0" y="8180"/>
              <a:ext cx="4567" cy="2620"/>
            </a:xfrm>
            <a:prstGeom prst="rtTriangle">
              <a:avLst/>
            </a:prstGeom>
            <a:solidFill>
              <a:schemeClr val="accent2">
                <a:lumMod val="75000"/>
                <a:alpha val="6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汉仪宋韵朗黑W" panose="00020600040101010101" charset="-122"/>
              </a:endParaRPr>
            </a:p>
          </p:txBody>
        </p:sp>
        <p:sp>
          <p:nvSpPr>
            <p:cNvPr id="33" name="直角三角形 32"/>
            <p:cNvSpPr/>
            <p:nvPr userDrawn="1">
              <p:custDataLst>
                <p:tags r:id="rId7"/>
              </p:custDataLst>
            </p:nvPr>
          </p:nvSpPr>
          <p:spPr>
            <a:xfrm>
              <a:off x="0" y="7287"/>
              <a:ext cx="2471" cy="3513"/>
            </a:xfrm>
            <a:prstGeom prst="rtTriangle">
              <a:avLst/>
            </a:prstGeom>
            <a:solidFill>
              <a:srgbClr val="0299D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汉仪宋韵朗黑W" panose="00020600040101010101" charset="-122"/>
              </a:endParaRPr>
            </a:p>
          </p:txBody>
        </p:sp>
        <p:sp>
          <p:nvSpPr>
            <p:cNvPr id="34" name="直角三角形 33"/>
            <p:cNvSpPr/>
            <p:nvPr userDrawn="1">
              <p:custDataLst>
                <p:tags r:id="rId8"/>
              </p:custDataLst>
            </p:nvPr>
          </p:nvSpPr>
          <p:spPr>
            <a:xfrm>
              <a:off x="0" y="8599"/>
              <a:ext cx="2959" cy="2201"/>
            </a:xfrm>
            <a:prstGeom prst="rtTriangle">
              <a:avLst/>
            </a:prstGeom>
            <a:solidFill>
              <a:srgbClr val="0C76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汉仪宋韵朗黑W" panose="00020600040101010101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64796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C416FE3-9FFB-D473-650E-C0FF08387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6876DD-7317-1E24-5465-9C24EFCE5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8481CF-CAF6-E439-D9F9-98DE38F887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A95057-F28B-4021-A46F-4C2D267CFC9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123095-2A83-7320-9954-6441CBEAF2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D8FB62F-A58A-E29F-AA4A-4628B24796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0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4" r:id="rId4"/>
    <p:sldLayoutId id="2147483652" r:id="rId5"/>
    <p:sldLayoutId id="2147483653" r:id="rId6"/>
    <p:sldLayoutId id="214748365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tags" Target="../tags/tag15.xml"/><Relationship Id="rId7" Type="http://schemas.openxmlformats.org/officeDocument/2006/relationships/notesSlide" Target="../notesSlides/notesSlide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tags" Target="../tags/tag33.xml"/><Relationship Id="rId18" Type="http://schemas.openxmlformats.org/officeDocument/2006/relationships/tags" Target="../tags/tag38.xml"/><Relationship Id="rId26" Type="http://schemas.openxmlformats.org/officeDocument/2006/relationships/tags" Target="../tags/tag46.xml"/><Relationship Id="rId21" Type="http://schemas.openxmlformats.org/officeDocument/2006/relationships/tags" Target="../tags/tag41.xml"/><Relationship Id="rId34" Type="http://schemas.openxmlformats.org/officeDocument/2006/relationships/notesSlide" Target="../notesSlides/notesSlide2.xml"/><Relationship Id="rId7" Type="http://schemas.openxmlformats.org/officeDocument/2006/relationships/tags" Target="../tags/tag27.xml"/><Relationship Id="rId12" Type="http://schemas.openxmlformats.org/officeDocument/2006/relationships/tags" Target="../tags/tag32.xml"/><Relationship Id="rId17" Type="http://schemas.openxmlformats.org/officeDocument/2006/relationships/tags" Target="../tags/tag37.xml"/><Relationship Id="rId25" Type="http://schemas.openxmlformats.org/officeDocument/2006/relationships/tags" Target="../tags/tag45.xml"/><Relationship Id="rId33" Type="http://schemas.openxmlformats.org/officeDocument/2006/relationships/slideLayout" Target="../slideLayouts/slideLayout2.xml"/><Relationship Id="rId38" Type="http://schemas.openxmlformats.org/officeDocument/2006/relationships/image" Target="../media/image5.jpeg"/><Relationship Id="rId2" Type="http://schemas.openxmlformats.org/officeDocument/2006/relationships/tags" Target="../tags/tag22.xml"/><Relationship Id="rId16" Type="http://schemas.openxmlformats.org/officeDocument/2006/relationships/tags" Target="../tags/tag36.xml"/><Relationship Id="rId20" Type="http://schemas.openxmlformats.org/officeDocument/2006/relationships/tags" Target="../tags/tag40.xml"/><Relationship Id="rId29" Type="http://schemas.openxmlformats.org/officeDocument/2006/relationships/tags" Target="../tags/tag49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11" Type="http://schemas.openxmlformats.org/officeDocument/2006/relationships/tags" Target="../tags/tag31.xml"/><Relationship Id="rId24" Type="http://schemas.openxmlformats.org/officeDocument/2006/relationships/tags" Target="../tags/tag44.xml"/><Relationship Id="rId32" Type="http://schemas.openxmlformats.org/officeDocument/2006/relationships/tags" Target="../tags/tag52.xml"/><Relationship Id="rId37" Type="http://schemas.openxmlformats.org/officeDocument/2006/relationships/image" Target="../media/image4.jpeg"/><Relationship Id="rId5" Type="http://schemas.openxmlformats.org/officeDocument/2006/relationships/tags" Target="../tags/tag25.xml"/><Relationship Id="rId15" Type="http://schemas.openxmlformats.org/officeDocument/2006/relationships/tags" Target="../tags/tag35.xml"/><Relationship Id="rId23" Type="http://schemas.openxmlformats.org/officeDocument/2006/relationships/tags" Target="../tags/tag43.xml"/><Relationship Id="rId28" Type="http://schemas.openxmlformats.org/officeDocument/2006/relationships/tags" Target="../tags/tag48.xml"/><Relationship Id="rId36" Type="http://schemas.openxmlformats.org/officeDocument/2006/relationships/image" Target="../media/image3.jpeg"/><Relationship Id="rId10" Type="http://schemas.openxmlformats.org/officeDocument/2006/relationships/tags" Target="../tags/tag30.xml"/><Relationship Id="rId19" Type="http://schemas.openxmlformats.org/officeDocument/2006/relationships/tags" Target="../tags/tag39.xml"/><Relationship Id="rId31" Type="http://schemas.openxmlformats.org/officeDocument/2006/relationships/tags" Target="../tags/tag51.xml"/><Relationship Id="rId4" Type="http://schemas.openxmlformats.org/officeDocument/2006/relationships/tags" Target="../tags/tag24.xml"/><Relationship Id="rId9" Type="http://schemas.openxmlformats.org/officeDocument/2006/relationships/tags" Target="../tags/tag29.xml"/><Relationship Id="rId14" Type="http://schemas.openxmlformats.org/officeDocument/2006/relationships/tags" Target="../tags/tag34.xml"/><Relationship Id="rId22" Type="http://schemas.openxmlformats.org/officeDocument/2006/relationships/tags" Target="../tags/tag42.xml"/><Relationship Id="rId27" Type="http://schemas.openxmlformats.org/officeDocument/2006/relationships/tags" Target="../tags/tag47.xml"/><Relationship Id="rId30" Type="http://schemas.openxmlformats.org/officeDocument/2006/relationships/tags" Target="../tags/tag50.xml"/><Relationship Id="rId35" Type="http://schemas.openxmlformats.org/officeDocument/2006/relationships/image" Target="../media/image2.gif"/><Relationship Id="rId8" Type="http://schemas.openxmlformats.org/officeDocument/2006/relationships/tags" Target="../tags/tag28.xml"/><Relationship Id="rId3" Type="http://schemas.openxmlformats.org/officeDocument/2006/relationships/tags" Target="../tags/tag2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63.xml"/><Relationship Id="rId3" Type="http://schemas.openxmlformats.org/officeDocument/2006/relationships/tags" Target="../tags/tag58.xml"/><Relationship Id="rId7" Type="http://schemas.openxmlformats.org/officeDocument/2006/relationships/tags" Target="../tags/tag62.xml"/><Relationship Id="rId2" Type="http://schemas.openxmlformats.org/officeDocument/2006/relationships/tags" Target="../tags/tag57.xml"/><Relationship Id="rId1" Type="http://schemas.openxmlformats.org/officeDocument/2006/relationships/tags" Target="../tags/tag56.xml"/><Relationship Id="rId6" Type="http://schemas.openxmlformats.org/officeDocument/2006/relationships/tags" Target="../tags/tag61.xml"/><Relationship Id="rId11" Type="http://schemas.openxmlformats.org/officeDocument/2006/relationships/notesSlide" Target="../notesSlides/notesSlide3.xml"/><Relationship Id="rId5" Type="http://schemas.openxmlformats.org/officeDocument/2006/relationships/tags" Target="../tags/tag60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59.xml"/><Relationship Id="rId9" Type="http://schemas.openxmlformats.org/officeDocument/2006/relationships/tags" Target="../tags/tag6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75.xml"/><Relationship Id="rId13" Type="http://schemas.openxmlformats.org/officeDocument/2006/relationships/tags" Target="../tags/tag80.xml"/><Relationship Id="rId3" Type="http://schemas.openxmlformats.org/officeDocument/2006/relationships/tags" Target="../tags/tag70.xml"/><Relationship Id="rId7" Type="http://schemas.openxmlformats.org/officeDocument/2006/relationships/tags" Target="../tags/tag74.xml"/><Relationship Id="rId12" Type="http://schemas.openxmlformats.org/officeDocument/2006/relationships/tags" Target="../tags/tag79.xml"/><Relationship Id="rId17" Type="http://schemas.openxmlformats.org/officeDocument/2006/relationships/image" Target="../media/image6.tiff"/><Relationship Id="rId2" Type="http://schemas.openxmlformats.org/officeDocument/2006/relationships/tags" Target="../tags/tag69.xml"/><Relationship Id="rId16" Type="http://schemas.openxmlformats.org/officeDocument/2006/relationships/notesSlide" Target="../notesSlides/notesSlide4.xml"/><Relationship Id="rId1" Type="http://schemas.openxmlformats.org/officeDocument/2006/relationships/tags" Target="../tags/tag68.xml"/><Relationship Id="rId6" Type="http://schemas.openxmlformats.org/officeDocument/2006/relationships/tags" Target="../tags/tag73.xml"/><Relationship Id="rId11" Type="http://schemas.openxmlformats.org/officeDocument/2006/relationships/tags" Target="../tags/tag78.xml"/><Relationship Id="rId5" Type="http://schemas.openxmlformats.org/officeDocument/2006/relationships/tags" Target="../tags/tag72.xml"/><Relationship Id="rId15" Type="http://schemas.openxmlformats.org/officeDocument/2006/relationships/slideLayout" Target="../slideLayouts/slideLayout2.xml"/><Relationship Id="rId10" Type="http://schemas.openxmlformats.org/officeDocument/2006/relationships/tags" Target="../tags/tag77.xml"/><Relationship Id="rId4" Type="http://schemas.openxmlformats.org/officeDocument/2006/relationships/tags" Target="../tags/tag71.xml"/><Relationship Id="rId9" Type="http://schemas.openxmlformats.org/officeDocument/2006/relationships/tags" Target="../tags/tag76.xml"/><Relationship Id="rId14" Type="http://schemas.openxmlformats.org/officeDocument/2006/relationships/tags" Target="../tags/tag8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92.xml"/><Relationship Id="rId13" Type="http://schemas.openxmlformats.org/officeDocument/2006/relationships/tags" Target="../tags/tag97.xml"/><Relationship Id="rId18" Type="http://schemas.openxmlformats.org/officeDocument/2006/relationships/tags" Target="../tags/tag102.xml"/><Relationship Id="rId3" Type="http://schemas.openxmlformats.org/officeDocument/2006/relationships/tags" Target="../tags/tag87.xml"/><Relationship Id="rId21" Type="http://schemas.openxmlformats.org/officeDocument/2006/relationships/image" Target="../media/image7.png"/><Relationship Id="rId7" Type="http://schemas.openxmlformats.org/officeDocument/2006/relationships/tags" Target="../tags/tag91.xml"/><Relationship Id="rId12" Type="http://schemas.openxmlformats.org/officeDocument/2006/relationships/tags" Target="../tags/tag96.xml"/><Relationship Id="rId17" Type="http://schemas.openxmlformats.org/officeDocument/2006/relationships/tags" Target="../tags/tag101.xml"/><Relationship Id="rId2" Type="http://schemas.openxmlformats.org/officeDocument/2006/relationships/tags" Target="../tags/tag86.xml"/><Relationship Id="rId16" Type="http://schemas.openxmlformats.org/officeDocument/2006/relationships/tags" Target="../tags/tag100.xml"/><Relationship Id="rId20" Type="http://schemas.openxmlformats.org/officeDocument/2006/relationships/notesSlide" Target="../notesSlides/notesSlide5.xml"/><Relationship Id="rId1" Type="http://schemas.openxmlformats.org/officeDocument/2006/relationships/tags" Target="../tags/tag85.xml"/><Relationship Id="rId6" Type="http://schemas.openxmlformats.org/officeDocument/2006/relationships/tags" Target="../tags/tag90.xml"/><Relationship Id="rId11" Type="http://schemas.openxmlformats.org/officeDocument/2006/relationships/tags" Target="../tags/tag95.xml"/><Relationship Id="rId5" Type="http://schemas.openxmlformats.org/officeDocument/2006/relationships/tags" Target="../tags/tag89.xml"/><Relationship Id="rId15" Type="http://schemas.openxmlformats.org/officeDocument/2006/relationships/tags" Target="../tags/tag99.xml"/><Relationship Id="rId10" Type="http://schemas.openxmlformats.org/officeDocument/2006/relationships/tags" Target="../tags/tag94.xml"/><Relationship Id="rId19" Type="http://schemas.openxmlformats.org/officeDocument/2006/relationships/slideLayout" Target="../slideLayouts/slideLayout2.xml"/><Relationship Id="rId4" Type="http://schemas.openxmlformats.org/officeDocument/2006/relationships/tags" Target="../tags/tag88.xml"/><Relationship Id="rId9" Type="http://schemas.openxmlformats.org/officeDocument/2006/relationships/tags" Target="../tags/tag93.xml"/><Relationship Id="rId14" Type="http://schemas.openxmlformats.org/officeDocument/2006/relationships/tags" Target="../tags/tag9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111.xml"/><Relationship Id="rId3" Type="http://schemas.openxmlformats.org/officeDocument/2006/relationships/tags" Target="../tags/tag106.xml"/><Relationship Id="rId7" Type="http://schemas.openxmlformats.org/officeDocument/2006/relationships/tags" Target="../tags/tag110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tags" Target="../tags/tag109.xml"/><Relationship Id="rId11" Type="http://schemas.openxmlformats.org/officeDocument/2006/relationships/image" Target="../media/image8.png"/><Relationship Id="rId5" Type="http://schemas.openxmlformats.org/officeDocument/2006/relationships/tags" Target="../tags/tag108.xml"/><Relationship Id="rId10" Type="http://schemas.openxmlformats.org/officeDocument/2006/relationships/notesSlide" Target="../notesSlides/notesSlide6.xml"/><Relationship Id="rId4" Type="http://schemas.openxmlformats.org/officeDocument/2006/relationships/tags" Target="../tags/tag107.xml"/><Relationship Id="rId9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117.xml"/><Relationship Id="rId7" Type="http://schemas.openxmlformats.org/officeDocument/2006/relationships/tags" Target="../tags/tag121.xml"/><Relationship Id="rId2" Type="http://schemas.openxmlformats.org/officeDocument/2006/relationships/tags" Target="../tags/tag116.xml"/><Relationship Id="rId1" Type="http://schemas.openxmlformats.org/officeDocument/2006/relationships/tags" Target="../tags/tag115.xml"/><Relationship Id="rId6" Type="http://schemas.openxmlformats.org/officeDocument/2006/relationships/tags" Target="../tags/tag120.xml"/><Relationship Id="rId5" Type="http://schemas.openxmlformats.org/officeDocument/2006/relationships/tags" Target="../tags/tag119.xml"/><Relationship Id="rId10" Type="http://schemas.openxmlformats.org/officeDocument/2006/relationships/image" Target="../media/image9.png"/><Relationship Id="rId4" Type="http://schemas.openxmlformats.org/officeDocument/2006/relationships/tags" Target="../tags/tag118.xml"/><Relationship Id="rId9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video" Target="../media/media3.mp4"/><Relationship Id="rId7" Type="http://schemas.openxmlformats.org/officeDocument/2006/relationships/image" Target="../media/image10.png"/><Relationship Id="rId2" Type="http://schemas.microsoft.com/office/2007/relationships/media" Target="../media/media3.mp4"/><Relationship Id="rId1" Type="http://schemas.openxmlformats.org/officeDocument/2006/relationships/tags" Target="../tags/tag125.xml"/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2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video" Target="../media/media4.mp4"/><Relationship Id="rId7" Type="http://schemas.openxmlformats.org/officeDocument/2006/relationships/image" Target="../media/image11.png"/><Relationship Id="rId2" Type="http://schemas.microsoft.com/office/2007/relationships/media" Target="../media/media4.mp4"/><Relationship Id="rId1" Type="http://schemas.openxmlformats.org/officeDocument/2006/relationships/tags" Target="../tags/tag130.xml"/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3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142.xml"/><Relationship Id="rId3" Type="http://schemas.openxmlformats.org/officeDocument/2006/relationships/tags" Target="../tags/tag137.xml"/><Relationship Id="rId7" Type="http://schemas.openxmlformats.org/officeDocument/2006/relationships/tags" Target="../tags/tag141.xml"/><Relationship Id="rId2" Type="http://schemas.openxmlformats.org/officeDocument/2006/relationships/tags" Target="../tags/tag136.xml"/><Relationship Id="rId1" Type="http://schemas.openxmlformats.org/officeDocument/2006/relationships/tags" Target="../tags/tag135.xml"/><Relationship Id="rId6" Type="http://schemas.openxmlformats.org/officeDocument/2006/relationships/tags" Target="../tags/tag140.xml"/><Relationship Id="rId11" Type="http://schemas.openxmlformats.org/officeDocument/2006/relationships/image" Target="../media/image12.png"/><Relationship Id="rId5" Type="http://schemas.openxmlformats.org/officeDocument/2006/relationships/tags" Target="../tags/tag139.xml"/><Relationship Id="rId10" Type="http://schemas.openxmlformats.org/officeDocument/2006/relationships/notesSlide" Target="../notesSlides/notesSlide10.xml"/><Relationship Id="rId4" Type="http://schemas.openxmlformats.org/officeDocument/2006/relationships/tags" Target="../tags/tag138.xml"/><Relationship Id="rId9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tags" Target="../tags/tag148.xml"/><Relationship Id="rId7" Type="http://schemas.openxmlformats.org/officeDocument/2006/relationships/notesSlide" Target="../notesSlides/notesSlide11.xml"/><Relationship Id="rId2" Type="http://schemas.openxmlformats.org/officeDocument/2006/relationships/tags" Target="../tags/tag147.xml"/><Relationship Id="rId1" Type="http://schemas.openxmlformats.org/officeDocument/2006/relationships/tags" Target="../tags/tag146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50.xml"/><Relationship Id="rId4" Type="http://schemas.openxmlformats.org/officeDocument/2006/relationships/tags" Target="../tags/tag149.xml"/><Relationship Id="rId9" Type="http://schemas.openxmlformats.org/officeDocument/2006/relationships/image" Target="../media/image14.gi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5.xml"/><Relationship Id="rId1" Type="http://schemas.openxmlformats.org/officeDocument/2006/relationships/tags" Target="../tags/tag154.xml"/><Relationship Id="rId4" Type="http://schemas.openxmlformats.org/officeDocument/2006/relationships/notesSlide" Target="../notesSlides/notesSlide1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161.xml"/><Relationship Id="rId7" Type="http://schemas.openxmlformats.org/officeDocument/2006/relationships/tags" Target="../tags/tag165.xml"/><Relationship Id="rId2" Type="http://schemas.openxmlformats.org/officeDocument/2006/relationships/tags" Target="../tags/tag160.xml"/><Relationship Id="rId1" Type="http://schemas.openxmlformats.org/officeDocument/2006/relationships/tags" Target="../tags/tag159.xml"/><Relationship Id="rId6" Type="http://schemas.openxmlformats.org/officeDocument/2006/relationships/tags" Target="../tags/tag164.xml"/><Relationship Id="rId11" Type="http://schemas.microsoft.com/office/2007/relationships/hdphoto" Target="../media/hdphoto1.wdp"/><Relationship Id="rId5" Type="http://schemas.openxmlformats.org/officeDocument/2006/relationships/tags" Target="../tags/tag163.xml"/><Relationship Id="rId10" Type="http://schemas.openxmlformats.org/officeDocument/2006/relationships/image" Target="../media/image15.png"/><Relationship Id="rId4" Type="http://schemas.openxmlformats.org/officeDocument/2006/relationships/tags" Target="../tags/tag162.xml"/><Relationship Id="rId9" Type="http://schemas.openxmlformats.org/officeDocument/2006/relationships/notesSlide" Target="../notesSlides/notesSlide1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176.xml"/><Relationship Id="rId13" Type="http://schemas.openxmlformats.org/officeDocument/2006/relationships/notesSlide" Target="../notesSlides/notesSlide14.xml"/><Relationship Id="rId3" Type="http://schemas.openxmlformats.org/officeDocument/2006/relationships/tags" Target="../tags/tag171.xml"/><Relationship Id="rId7" Type="http://schemas.openxmlformats.org/officeDocument/2006/relationships/tags" Target="../tags/tag175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170.xml"/><Relationship Id="rId1" Type="http://schemas.openxmlformats.org/officeDocument/2006/relationships/tags" Target="../tags/tag169.xml"/><Relationship Id="rId6" Type="http://schemas.openxmlformats.org/officeDocument/2006/relationships/tags" Target="../tags/tag174.xml"/><Relationship Id="rId11" Type="http://schemas.openxmlformats.org/officeDocument/2006/relationships/tags" Target="../tags/tag179.xml"/><Relationship Id="rId5" Type="http://schemas.openxmlformats.org/officeDocument/2006/relationships/tags" Target="../tags/tag173.xml"/><Relationship Id="rId10" Type="http://schemas.openxmlformats.org/officeDocument/2006/relationships/tags" Target="../tags/tag178.xml"/><Relationship Id="rId4" Type="http://schemas.openxmlformats.org/officeDocument/2006/relationships/tags" Target="../tags/tag172.xml"/><Relationship Id="rId9" Type="http://schemas.openxmlformats.org/officeDocument/2006/relationships/tags" Target="../tags/tag17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190.xml"/><Relationship Id="rId13" Type="http://schemas.openxmlformats.org/officeDocument/2006/relationships/tags" Target="../tags/tag195.xml"/><Relationship Id="rId18" Type="http://schemas.openxmlformats.org/officeDocument/2006/relationships/tags" Target="../tags/tag200.xml"/><Relationship Id="rId3" Type="http://schemas.openxmlformats.org/officeDocument/2006/relationships/tags" Target="../tags/tag185.xml"/><Relationship Id="rId21" Type="http://schemas.openxmlformats.org/officeDocument/2006/relationships/notesSlide" Target="../notesSlides/notesSlide15.xml"/><Relationship Id="rId7" Type="http://schemas.openxmlformats.org/officeDocument/2006/relationships/tags" Target="../tags/tag189.xml"/><Relationship Id="rId12" Type="http://schemas.openxmlformats.org/officeDocument/2006/relationships/tags" Target="../tags/tag194.xml"/><Relationship Id="rId17" Type="http://schemas.openxmlformats.org/officeDocument/2006/relationships/tags" Target="../tags/tag199.xml"/><Relationship Id="rId2" Type="http://schemas.openxmlformats.org/officeDocument/2006/relationships/tags" Target="../tags/tag184.xml"/><Relationship Id="rId16" Type="http://schemas.openxmlformats.org/officeDocument/2006/relationships/tags" Target="../tags/tag198.xml"/><Relationship Id="rId20" Type="http://schemas.openxmlformats.org/officeDocument/2006/relationships/slideLayout" Target="../slideLayouts/slideLayout2.xml"/><Relationship Id="rId1" Type="http://schemas.openxmlformats.org/officeDocument/2006/relationships/tags" Target="../tags/tag183.xml"/><Relationship Id="rId6" Type="http://schemas.openxmlformats.org/officeDocument/2006/relationships/tags" Target="../tags/tag188.xml"/><Relationship Id="rId11" Type="http://schemas.openxmlformats.org/officeDocument/2006/relationships/tags" Target="../tags/tag193.xml"/><Relationship Id="rId5" Type="http://schemas.openxmlformats.org/officeDocument/2006/relationships/tags" Target="../tags/tag187.xml"/><Relationship Id="rId15" Type="http://schemas.openxmlformats.org/officeDocument/2006/relationships/tags" Target="../tags/tag197.xml"/><Relationship Id="rId10" Type="http://schemas.openxmlformats.org/officeDocument/2006/relationships/tags" Target="../tags/tag192.xml"/><Relationship Id="rId19" Type="http://schemas.openxmlformats.org/officeDocument/2006/relationships/tags" Target="../tags/tag201.xml"/><Relationship Id="rId4" Type="http://schemas.openxmlformats.org/officeDocument/2006/relationships/tags" Target="../tags/tag186.xml"/><Relationship Id="rId9" Type="http://schemas.openxmlformats.org/officeDocument/2006/relationships/tags" Target="../tags/tag191.xml"/><Relationship Id="rId14" Type="http://schemas.openxmlformats.org/officeDocument/2006/relationships/tags" Target="../tags/tag196.xml"/><Relationship Id="rId22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tags" Target="../tags/tag206.xml"/><Relationship Id="rId7" Type="http://schemas.openxmlformats.org/officeDocument/2006/relationships/slideLayout" Target="../slideLayouts/slideLayout7.xml"/><Relationship Id="rId2" Type="http://schemas.openxmlformats.org/officeDocument/2006/relationships/tags" Target="../tags/tag205.xml"/><Relationship Id="rId1" Type="http://schemas.openxmlformats.org/officeDocument/2006/relationships/tags" Target="../tags/tag204.xml"/><Relationship Id="rId6" Type="http://schemas.openxmlformats.org/officeDocument/2006/relationships/tags" Target="../tags/tag209.xml"/><Relationship Id="rId5" Type="http://schemas.openxmlformats.org/officeDocument/2006/relationships/tags" Target="../tags/tag208.xml"/><Relationship Id="rId4" Type="http://schemas.openxmlformats.org/officeDocument/2006/relationships/tags" Target="../tags/tag207.xml"/><Relationship Id="rId9" Type="http://schemas.openxmlformats.org/officeDocument/2006/relationships/image" Target="../media/image20.jpe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tags" Target="../tags/tag212.xml"/><Relationship Id="rId7" Type="http://schemas.openxmlformats.org/officeDocument/2006/relationships/slideLayout" Target="../slideLayouts/slideLayout7.xml"/><Relationship Id="rId2" Type="http://schemas.openxmlformats.org/officeDocument/2006/relationships/tags" Target="../tags/tag211.xml"/><Relationship Id="rId1" Type="http://schemas.openxmlformats.org/officeDocument/2006/relationships/tags" Target="../tags/tag210.xml"/><Relationship Id="rId6" Type="http://schemas.openxmlformats.org/officeDocument/2006/relationships/tags" Target="../tags/tag215.xml"/><Relationship Id="rId5" Type="http://schemas.openxmlformats.org/officeDocument/2006/relationships/tags" Target="../tags/tag214.xml"/><Relationship Id="rId4" Type="http://schemas.openxmlformats.org/officeDocument/2006/relationships/tags" Target="../tags/tag213.xml"/><Relationship Id="rId9" Type="http://schemas.openxmlformats.org/officeDocument/2006/relationships/image" Target="../media/image22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218.xml"/><Relationship Id="rId2" Type="http://schemas.openxmlformats.org/officeDocument/2006/relationships/tags" Target="../tags/tag217.xml"/><Relationship Id="rId1" Type="http://schemas.openxmlformats.org/officeDocument/2006/relationships/tags" Target="../tags/tag216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21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tags" Target="../tags/tag222.xml"/><Relationship Id="rId2" Type="http://schemas.openxmlformats.org/officeDocument/2006/relationships/tags" Target="../tags/tag221.xml"/><Relationship Id="rId1" Type="http://schemas.openxmlformats.org/officeDocument/2006/relationships/tags" Target="../tags/tag220.xml"/><Relationship Id="rId6" Type="http://schemas.openxmlformats.org/officeDocument/2006/relationships/image" Target="../media/image24.png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22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tags" Target="../tags/tag226.xml"/><Relationship Id="rId2" Type="http://schemas.openxmlformats.org/officeDocument/2006/relationships/tags" Target="../tags/tag225.xml"/><Relationship Id="rId1" Type="http://schemas.openxmlformats.org/officeDocument/2006/relationships/tags" Target="../tags/tag224.xml"/><Relationship Id="rId4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28.xml"/><Relationship Id="rId1" Type="http://schemas.openxmlformats.org/officeDocument/2006/relationships/tags" Target="../tags/tag22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tags" Target="../tags/tag231.xml"/><Relationship Id="rId2" Type="http://schemas.openxmlformats.org/officeDocument/2006/relationships/tags" Target="../tags/tag230.xml"/><Relationship Id="rId1" Type="http://schemas.openxmlformats.org/officeDocument/2006/relationships/tags" Target="../tags/tag229.xml"/><Relationship Id="rId6" Type="http://schemas.openxmlformats.org/officeDocument/2006/relationships/image" Target="../media/image25.png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23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tags" Target="../tags/tag235.xml"/><Relationship Id="rId2" Type="http://schemas.openxmlformats.org/officeDocument/2006/relationships/tags" Target="../tags/tag234.xml"/><Relationship Id="rId1" Type="http://schemas.openxmlformats.org/officeDocument/2006/relationships/tags" Target="../tags/tag233.xml"/><Relationship Id="rId6" Type="http://schemas.openxmlformats.org/officeDocument/2006/relationships/image" Target="../media/image26.png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23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tags" Target="../tags/tag239.xml"/><Relationship Id="rId2" Type="http://schemas.openxmlformats.org/officeDocument/2006/relationships/tags" Target="../tags/tag238.xml"/><Relationship Id="rId1" Type="http://schemas.openxmlformats.org/officeDocument/2006/relationships/tags" Target="../tags/tag237.xml"/><Relationship Id="rId6" Type="http://schemas.openxmlformats.org/officeDocument/2006/relationships/image" Target="../media/image27.png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2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546C7-7EC5-2013-6EBC-EE70CF41A1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牛顿第三定律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64AEB1-A93B-B63E-E213-383B2B6E4E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Newton's Third Law</a:t>
            </a:r>
          </a:p>
        </p:txBody>
      </p:sp>
    </p:spTree>
    <p:extLst>
      <p:ext uri="{BB962C8B-B14F-4D97-AF65-F5344CB8AC3E}">
        <p14:creationId xmlns:p14="http://schemas.microsoft.com/office/powerpoint/2010/main" val="1681658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393bee282ecfb9d230942f797044734">
            <a:hlinkClick r:id="" action="ppaction://media"/>
          </p:cNvPr>
          <p:cNvPicPr>
            <a:picLocks noChangeAspect="1"/>
          </p:cNvPicPr>
          <p:nvPr>
            <a:videoFile r:link="rId2"/>
            <p:custDataLst>
              <p:tags r:id="rId3"/>
            </p:custDataLst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2503881" y="1165778"/>
            <a:ext cx="7184238" cy="386106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BBE19A01-5691-2578-EC7B-CF2C70A7F938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612806" y="69203"/>
            <a:ext cx="31726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新课导入</a:t>
            </a:r>
            <a:endParaRPr lang="zh-CN" altLang="en-US" sz="36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0924A8-0C58-6119-ED96-49D55E7239A7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775534" y="5231735"/>
            <a:ext cx="103158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>
                <a:latin typeface="宋体" panose="02010600030101010101" pitchFamily="2" charset="-122"/>
                <a:ea typeface="宋体" panose="02010600030101010101" pitchFamily="2" charset="-122"/>
              </a:rPr>
              <a:t>思考：你看到了哪些力？这些力有什么特点？</a:t>
            </a:r>
            <a:endParaRPr lang="zh-CN" altLang="en-US" sz="28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63155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5466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/>
          <p:cNvPicPr>
            <a:picLocks noChangeAspect="1" noChangeArrowheads="1" noCrop="1"/>
          </p:cNvPicPr>
          <p:nvPr>
            <p:custDataLst>
              <p:tags r:id="rId1"/>
            </p:custDataLst>
          </p:nvPr>
        </p:nvPicPr>
        <p:blipFill>
          <a:blip r:embed="rId3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flipH="1">
            <a:off x="6073036" y="3175208"/>
            <a:ext cx="2923534" cy="1682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644071" y="937194"/>
            <a:ext cx="3022346" cy="2016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组合 2"/>
          <p:cNvGrpSpPr/>
          <p:nvPr>
            <p:custDataLst>
              <p:tags r:id="rId3"/>
            </p:custDataLst>
          </p:nvPr>
        </p:nvGrpSpPr>
        <p:grpSpPr>
          <a:xfrm>
            <a:off x="4113133" y="2556000"/>
            <a:ext cx="1460473" cy="517104"/>
            <a:chOff x="3430485" y="3320632"/>
            <a:chExt cx="1460473" cy="517104"/>
          </a:xfrm>
        </p:grpSpPr>
        <p:cxnSp>
          <p:nvCxnSpPr>
            <p:cNvPr id="30" name="直接箭头连接符 29"/>
            <p:cNvCxnSpPr/>
            <p:nvPr>
              <p:custDataLst>
                <p:tags r:id="rId31"/>
              </p:custDataLst>
            </p:nvPr>
          </p:nvCxnSpPr>
          <p:spPr>
            <a:xfrm flipH="1">
              <a:off x="3430485" y="3320632"/>
              <a:ext cx="900000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文本框 32"/>
            <p:cNvSpPr txBox="1"/>
            <p:nvPr>
              <p:custDataLst>
                <p:tags r:id="rId32"/>
              </p:custDataLst>
            </p:nvPr>
          </p:nvSpPr>
          <p:spPr>
            <a:xfrm>
              <a:off x="3851731" y="3376071"/>
              <a:ext cx="10392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400" b="1" i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lang="en-US" altLang="zh-CN" sz="2400" b="1" baseline="-2500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sz="2400" b="1" baseline="-25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" name="组合 1"/>
          <p:cNvGrpSpPr/>
          <p:nvPr>
            <p:custDataLst>
              <p:tags r:id="rId4"/>
            </p:custDataLst>
          </p:nvPr>
        </p:nvGrpSpPr>
        <p:grpSpPr>
          <a:xfrm>
            <a:off x="3152418" y="2554264"/>
            <a:ext cx="918680" cy="536295"/>
            <a:chOff x="2420154" y="3301441"/>
            <a:chExt cx="918680" cy="536295"/>
          </a:xfrm>
        </p:grpSpPr>
        <p:cxnSp>
          <p:nvCxnSpPr>
            <p:cNvPr id="25" name="直接箭头连接符 24"/>
            <p:cNvCxnSpPr/>
            <p:nvPr>
              <p:custDataLst>
                <p:tags r:id="rId29"/>
              </p:custDataLst>
            </p:nvPr>
          </p:nvCxnSpPr>
          <p:spPr>
            <a:xfrm>
              <a:off x="2438834" y="3301441"/>
              <a:ext cx="900000" cy="0"/>
            </a:xfrm>
            <a:prstGeom prst="straightConnector1">
              <a:avLst/>
            </a:prstGeom>
            <a:ln w="47625">
              <a:solidFill>
                <a:srgbClr val="24B0FF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文本框 33"/>
            <p:cNvSpPr txBox="1"/>
            <p:nvPr>
              <p:custDataLst>
                <p:tags r:id="rId30"/>
              </p:custDataLst>
            </p:nvPr>
          </p:nvSpPr>
          <p:spPr>
            <a:xfrm>
              <a:off x="2420154" y="3376071"/>
              <a:ext cx="845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400" b="1" i="1">
                  <a:solidFill>
                    <a:srgbClr val="00B0F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lang="en-US" altLang="zh-CN" sz="2400" b="1" baseline="-25000">
                  <a:solidFill>
                    <a:srgbClr val="00B0F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2400" b="1" baseline="-2500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7" name="文本框 26"/>
          <p:cNvSpPr txBox="1"/>
          <p:nvPr>
            <p:custDataLst>
              <p:tags r:id="rId5"/>
            </p:custDataLst>
          </p:nvPr>
        </p:nvSpPr>
        <p:spPr>
          <a:xfrm>
            <a:off x="7149427" y="4328796"/>
            <a:ext cx="8452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i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zh-CN" sz="2400" b="1" baseline="-25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2400" b="1" baseline="-250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直接箭头连接符 45"/>
          <p:cNvCxnSpPr/>
          <p:nvPr>
            <p:custDataLst>
              <p:tags r:id="rId6"/>
            </p:custDataLst>
          </p:nvPr>
        </p:nvCxnSpPr>
        <p:spPr>
          <a:xfrm>
            <a:off x="7655785" y="4587197"/>
            <a:ext cx="601894" cy="333"/>
          </a:xfrm>
          <a:prstGeom prst="straightConnector1">
            <a:avLst/>
          </a:prstGeom>
          <a:ln w="47625">
            <a:solidFill>
              <a:srgbClr val="FF0000"/>
            </a:solidFill>
            <a:headEnd type="triangle"/>
            <a:tailEnd type="none"/>
          </a:ln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/>
          <p:cNvCxnSpPr/>
          <p:nvPr>
            <p:custDataLst>
              <p:tags r:id="rId7"/>
            </p:custDataLst>
          </p:nvPr>
        </p:nvCxnSpPr>
        <p:spPr>
          <a:xfrm flipH="1">
            <a:off x="8257679" y="4587197"/>
            <a:ext cx="594120" cy="1"/>
          </a:xfrm>
          <a:prstGeom prst="straightConnector1">
            <a:avLst/>
          </a:prstGeom>
          <a:ln w="38100">
            <a:solidFill>
              <a:srgbClr val="00B0F0"/>
            </a:solidFill>
            <a:headEnd type="triangle"/>
            <a:tailEnd type="none"/>
          </a:ln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文本框 55"/>
          <p:cNvSpPr txBox="1"/>
          <p:nvPr>
            <p:custDataLst>
              <p:tags r:id="rId8"/>
            </p:custDataLst>
          </p:nvPr>
        </p:nvSpPr>
        <p:spPr>
          <a:xfrm>
            <a:off x="8514216" y="4144130"/>
            <a:ext cx="1039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i="1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zh-CN" sz="2400" b="1" baseline="-2500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2400" b="1" baseline="-2500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>
            <p:custDataLst>
              <p:tags r:id="rId9"/>
            </p:custDataLst>
          </p:nvPr>
        </p:nvSpPr>
        <p:spPr>
          <a:xfrm>
            <a:off x="1698619" y="5417617"/>
            <a:ext cx="900629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800" b="1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物体间相互作用的一对力，通常叫做</a:t>
            </a:r>
            <a:r>
              <a:rPr lang="zh-CN" altLang="en-US" sz="2800" b="1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作用力与反作用力</a:t>
            </a:r>
            <a:r>
              <a:rPr lang="zh-CN" altLang="en-US" sz="2800" b="1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。</a:t>
            </a:r>
            <a:endParaRPr lang="zh-CN" altLang="en-US" sz="2800" b="1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10"/>
            </p:custDataLst>
          </p:nvPr>
        </p:nvSpPr>
        <p:spPr>
          <a:xfrm>
            <a:off x="344066" y="83360"/>
            <a:ext cx="31726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概念生成</a:t>
            </a:r>
            <a:endParaRPr lang="zh-CN" altLang="en-US" sz="36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/>
          <p:cNvSpPr txBox="1"/>
          <p:nvPr>
            <p:custDataLst>
              <p:tags r:id="rId11"/>
            </p:custDataLst>
          </p:nvPr>
        </p:nvSpPr>
        <p:spPr>
          <a:xfrm>
            <a:off x="9114780" y="4325289"/>
            <a:ext cx="1146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摩擦力</a:t>
            </a:r>
          </a:p>
        </p:txBody>
      </p:sp>
      <p:sp>
        <p:nvSpPr>
          <p:cNvPr id="5" name="文本框 4"/>
          <p:cNvSpPr txBox="1"/>
          <p:nvPr>
            <p:custDataLst>
              <p:tags r:id="rId12"/>
            </p:custDataLst>
          </p:nvPr>
        </p:nvSpPr>
        <p:spPr>
          <a:xfrm>
            <a:off x="1956957" y="2584909"/>
            <a:ext cx="751582" cy="367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弹力</a:t>
            </a:r>
          </a:p>
        </p:txBody>
      </p:sp>
      <p:sp>
        <p:nvSpPr>
          <p:cNvPr id="6" name="文本框 5"/>
          <p:cNvSpPr txBox="1"/>
          <p:nvPr>
            <p:custDataLst>
              <p:tags r:id="rId13"/>
            </p:custDataLst>
          </p:nvPr>
        </p:nvSpPr>
        <p:spPr>
          <a:xfrm>
            <a:off x="9096527" y="2657605"/>
            <a:ext cx="869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弹力</a:t>
            </a:r>
          </a:p>
        </p:txBody>
      </p:sp>
      <p:sp>
        <p:nvSpPr>
          <p:cNvPr id="7" name="文本框 6"/>
          <p:cNvSpPr txBox="1"/>
          <p:nvPr>
            <p:custDataLst>
              <p:tags r:id="rId14"/>
            </p:custDataLst>
          </p:nvPr>
        </p:nvSpPr>
        <p:spPr>
          <a:xfrm>
            <a:off x="1930412" y="4346587"/>
            <a:ext cx="804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引力</a:t>
            </a:r>
          </a:p>
        </p:txBody>
      </p:sp>
      <p:pic>
        <p:nvPicPr>
          <p:cNvPr id="35" name="图片 34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539" y="3147733"/>
            <a:ext cx="2973416" cy="1822726"/>
          </a:xfrm>
          <a:prstGeom prst="rect">
            <a:avLst/>
          </a:prstGeom>
        </p:spPr>
      </p:pic>
      <p:grpSp>
        <p:nvGrpSpPr>
          <p:cNvPr id="36" name="组合 35"/>
          <p:cNvGrpSpPr/>
          <p:nvPr>
            <p:custDataLst>
              <p:tags r:id="rId16"/>
            </p:custDataLst>
          </p:nvPr>
        </p:nvGrpSpPr>
        <p:grpSpPr>
          <a:xfrm>
            <a:off x="3052153" y="3212446"/>
            <a:ext cx="947807" cy="584775"/>
            <a:chOff x="994299" y="2533611"/>
            <a:chExt cx="1401845" cy="824143"/>
          </a:xfrm>
        </p:grpSpPr>
        <p:cxnSp>
          <p:nvCxnSpPr>
            <p:cNvPr id="37" name="直接箭头连接符 36"/>
            <p:cNvCxnSpPr/>
            <p:nvPr>
              <p:custDataLst>
                <p:tags r:id="rId27"/>
              </p:custDataLst>
            </p:nvPr>
          </p:nvCxnSpPr>
          <p:spPr>
            <a:xfrm flipH="1">
              <a:off x="994299" y="3323881"/>
              <a:ext cx="1401845" cy="0"/>
            </a:xfrm>
            <a:prstGeom prst="straightConnector1">
              <a:avLst/>
            </a:prstGeom>
            <a:ln w="57150">
              <a:solidFill>
                <a:srgbClr val="00B0F0"/>
              </a:solidFill>
              <a:tailEnd type="triangle"/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本框 37"/>
            <p:cNvSpPr txBox="1"/>
            <p:nvPr>
              <p:custDataLst>
                <p:tags r:id="rId28"/>
              </p:custDataLst>
            </p:nvPr>
          </p:nvSpPr>
          <p:spPr>
            <a:xfrm>
              <a:off x="1410210" y="2533611"/>
              <a:ext cx="860742" cy="8241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sz="3200">
                  <a:solidFill>
                    <a:srgbClr val="00B0F0"/>
                  </a:solidFill>
                </a:rPr>
                <a:t>F</a:t>
              </a:r>
              <a:r>
                <a:rPr lang="en-US" altLang="zh-CN" sz="3200" b="1" baseline="-25000">
                  <a:solidFill>
                    <a:srgbClr val="00B0F0"/>
                  </a:solidFill>
                </a:rPr>
                <a:t>1</a:t>
              </a:r>
              <a:endParaRPr lang="zh-CN" altLang="en-US" sz="3200" b="1" baseline="-25000">
                <a:solidFill>
                  <a:srgbClr val="00B0F0"/>
                </a:solidFill>
              </a:endParaRPr>
            </a:p>
          </p:txBody>
        </p:sp>
      </p:grpSp>
      <p:grpSp>
        <p:nvGrpSpPr>
          <p:cNvPr id="39" name="组合 38"/>
          <p:cNvGrpSpPr/>
          <p:nvPr>
            <p:custDataLst>
              <p:tags r:id="rId17"/>
            </p:custDataLst>
          </p:nvPr>
        </p:nvGrpSpPr>
        <p:grpSpPr>
          <a:xfrm>
            <a:off x="4071211" y="3212446"/>
            <a:ext cx="918355" cy="584775"/>
            <a:chOff x="3275860" y="2522055"/>
            <a:chExt cx="1358284" cy="824143"/>
          </a:xfrm>
        </p:grpSpPr>
        <p:cxnSp>
          <p:nvCxnSpPr>
            <p:cNvPr id="40" name="直接箭头连接符 39"/>
            <p:cNvCxnSpPr/>
            <p:nvPr>
              <p:custDataLst>
                <p:tags r:id="rId25"/>
              </p:custDataLst>
            </p:nvPr>
          </p:nvCxnSpPr>
          <p:spPr>
            <a:xfrm flipV="1">
              <a:off x="3275860" y="3323881"/>
              <a:ext cx="1358284" cy="8878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  <a:effectLst/>
            <a:scene3d>
              <a:camera prst="orthographicFront"/>
              <a:lightRig rig="threePt" dir="t"/>
            </a:scene3d>
            <a:sp3d>
              <a:bevelT prst="angle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文本框 40"/>
            <p:cNvSpPr txBox="1"/>
            <p:nvPr>
              <p:custDataLst>
                <p:tags r:id="rId26"/>
              </p:custDataLst>
            </p:nvPr>
          </p:nvSpPr>
          <p:spPr>
            <a:xfrm>
              <a:off x="3340259" y="2522055"/>
              <a:ext cx="980775" cy="8241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200">
                  <a:solidFill>
                    <a:srgbClr val="FF0000"/>
                  </a:solidFill>
                </a:rPr>
                <a:t>F</a:t>
              </a:r>
              <a:r>
                <a:rPr lang="en-US" altLang="zh-CN" sz="3200" b="1" baseline="-25000">
                  <a:solidFill>
                    <a:srgbClr val="FF0000"/>
                  </a:solidFill>
                </a:rPr>
                <a:t>2</a:t>
              </a:r>
              <a:endParaRPr lang="zh-CN" altLang="en-US" sz="3200" b="1" baseline="-25000">
                <a:solidFill>
                  <a:srgbClr val="FF0000"/>
                </a:solidFill>
              </a:endParaRPr>
            </a:p>
          </p:txBody>
        </p:sp>
      </p:grpSp>
      <p:pic>
        <p:nvPicPr>
          <p:cNvPr id="54" name="图片 53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0296" y="1105229"/>
            <a:ext cx="2923534" cy="1847643"/>
          </a:xfrm>
          <a:prstGeom prst="rect">
            <a:avLst/>
          </a:prstGeom>
        </p:spPr>
      </p:pic>
      <p:grpSp>
        <p:nvGrpSpPr>
          <p:cNvPr id="55" name="组合 54"/>
          <p:cNvGrpSpPr/>
          <p:nvPr>
            <p:custDataLst>
              <p:tags r:id="rId19"/>
            </p:custDataLst>
          </p:nvPr>
        </p:nvGrpSpPr>
        <p:grpSpPr>
          <a:xfrm>
            <a:off x="6443840" y="1350007"/>
            <a:ext cx="974442" cy="595423"/>
            <a:chOff x="779129" y="2772981"/>
            <a:chExt cx="1401845" cy="729818"/>
          </a:xfrm>
        </p:grpSpPr>
        <p:cxnSp>
          <p:nvCxnSpPr>
            <p:cNvPr id="57" name="直接箭头连接符 56"/>
            <p:cNvCxnSpPr/>
            <p:nvPr>
              <p:custDataLst>
                <p:tags r:id="rId23"/>
              </p:custDataLst>
            </p:nvPr>
          </p:nvCxnSpPr>
          <p:spPr>
            <a:xfrm flipH="1">
              <a:off x="779129" y="3502799"/>
              <a:ext cx="1401845" cy="0"/>
            </a:xfrm>
            <a:prstGeom prst="straightConnector1">
              <a:avLst/>
            </a:prstGeom>
            <a:ln w="57150">
              <a:solidFill>
                <a:srgbClr val="00B0F0"/>
              </a:solidFill>
              <a:tailEnd type="triangle"/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文本框 57"/>
            <p:cNvSpPr txBox="1"/>
            <p:nvPr>
              <p:custDataLst>
                <p:tags r:id="rId24"/>
              </p:custDataLst>
            </p:nvPr>
          </p:nvSpPr>
          <p:spPr>
            <a:xfrm>
              <a:off x="1043569" y="2772981"/>
              <a:ext cx="995286" cy="7167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sz="3200">
                  <a:solidFill>
                    <a:srgbClr val="00B0F0"/>
                  </a:solidFill>
                </a:rPr>
                <a:t>F</a:t>
              </a:r>
              <a:r>
                <a:rPr lang="en-US" altLang="zh-CN" sz="3200" b="1" baseline="-25000">
                  <a:solidFill>
                    <a:srgbClr val="00B0F0"/>
                  </a:solidFill>
                </a:rPr>
                <a:t>1</a:t>
              </a:r>
              <a:endParaRPr lang="zh-CN" altLang="en-US" sz="3200" b="1" baseline="-25000">
                <a:solidFill>
                  <a:srgbClr val="00B0F0"/>
                </a:solidFill>
              </a:endParaRPr>
            </a:p>
          </p:txBody>
        </p:sp>
      </p:grpSp>
      <p:grpSp>
        <p:nvGrpSpPr>
          <p:cNvPr id="59" name="组合 58"/>
          <p:cNvGrpSpPr/>
          <p:nvPr>
            <p:custDataLst>
              <p:tags r:id="rId20"/>
            </p:custDataLst>
          </p:nvPr>
        </p:nvGrpSpPr>
        <p:grpSpPr>
          <a:xfrm>
            <a:off x="7655785" y="1339658"/>
            <a:ext cx="944162" cy="584775"/>
            <a:chOff x="3244186" y="2768779"/>
            <a:chExt cx="1358284" cy="716766"/>
          </a:xfrm>
        </p:grpSpPr>
        <p:cxnSp>
          <p:nvCxnSpPr>
            <p:cNvPr id="60" name="直接箭头连接符 59"/>
            <p:cNvCxnSpPr/>
            <p:nvPr>
              <p:custDataLst>
                <p:tags r:id="rId21"/>
              </p:custDataLst>
            </p:nvPr>
          </p:nvCxnSpPr>
          <p:spPr>
            <a:xfrm flipV="1">
              <a:off x="3244186" y="3473779"/>
              <a:ext cx="1358284" cy="8878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  <a:effectLst/>
            <a:scene3d>
              <a:camera prst="orthographicFront"/>
              <a:lightRig rig="threePt" dir="t"/>
            </a:scene3d>
            <a:sp3d>
              <a:bevelT prst="angle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文本框 60"/>
            <p:cNvSpPr txBox="1"/>
            <p:nvPr>
              <p:custDataLst>
                <p:tags r:id="rId22"/>
              </p:custDataLst>
            </p:nvPr>
          </p:nvSpPr>
          <p:spPr>
            <a:xfrm>
              <a:off x="3369074" y="2768779"/>
              <a:ext cx="967782" cy="7167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200">
                  <a:solidFill>
                    <a:srgbClr val="FF0000"/>
                  </a:solidFill>
                </a:rPr>
                <a:t>F</a:t>
              </a:r>
              <a:r>
                <a:rPr lang="en-US" altLang="zh-CN" sz="3200" b="1" baseline="-25000">
                  <a:solidFill>
                    <a:srgbClr val="FF0000"/>
                  </a:solidFill>
                </a:rPr>
                <a:t>2</a:t>
              </a:r>
              <a:endParaRPr lang="zh-CN" altLang="en-US" sz="3200" b="1" baseline="-2500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  <p:cond evt="onBegin" delay="0">
                          <p:tn val="7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  <p:cond evt="onBegin" delay="0">
                          <p:tn val="1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  <p:cond evt="onBegin" delay="0">
                          <p:tn val="16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  <p:cond evt="onBegin" delay="0">
                          <p:tn val="20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  <p:cond evt="onBegin" delay="0">
                          <p:tn val="25"/>
                        </p:cond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  <p:cond evt="onBegin" delay="0">
                          <p:tn val="29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  <p:cond evt="onBegin" delay="0">
                          <p:tn val="33"/>
                        </p:cond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  <p:cond evt="onBegin" delay="0">
                          <p:tn val="37"/>
                        </p:cond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  <p:cond evt="onBegin" delay="0">
                          <p:tn val="41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  <p:cond evt="onBegin" delay="0">
                          <p:tn val="47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 nodeType="clickPar">
                      <p:stCondLst>
                        <p:cond delay="indefinite"/>
                        <p:cond evt="onBegin" delay="0">
                          <p:tn val="53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 nodeType="clickPar">
                      <p:stCondLst>
                        <p:cond delay="indefinite"/>
                        <p:cond evt="onBegin" delay="0">
                          <p:tn val="57"/>
                        </p:cond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  <p:cond evt="onBegin" delay="0">
                          <p:tn val="61"/>
                        </p:cond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 nodeType="clickPar">
                      <p:stCondLst>
                        <p:cond delay="indefinite"/>
                        <p:cond evt="onBegin" delay="0">
                          <p:tn val="65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 nodeType="clickPar">
                      <p:stCondLst>
                        <p:cond delay="indefinite"/>
                        <p:cond evt="onBegin" delay="0">
                          <p:tn val="69"/>
                        </p:cond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56" grpId="0"/>
      <p:bldP spid="31" grpId="0"/>
      <p:bldP spid="4" grpId="0"/>
      <p:bldP spid="5" grpId="0"/>
      <p:bldP spid="6" grpId="0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>
            <a:off x="2775101" y="2239589"/>
            <a:ext cx="418576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总结作用力和反作用力的特点</a:t>
            </a:r>
            <a:endParaRPr lang="zh-CN" altLang="en-US" sz="2400"/>
          </a:p>
        </p:txBody>
      </p:sp>
      <p:cxnSp>
        <p:nvCxnSpPr>
          <p:cNvPr id="14" name="直接连接符 13"/>
          <p:cNvCxnSpPr/>
          <p:nvPr>
            <p:custDataLst>
              <p:tags r:id="rId2"/>
            </p:custDataLst>
          </p:nvPr>
        </p:nvCxnSpPr>
        <p:spPr>
          <a:xfrm flipV="1">
            <a:off x="2574015" y="2084396"/>
            <a:ext cx="5556738" cy="23447"/>
          </a:xfrm>
          <a:prstGeom prst="line">
            <a:avLst/>
          </a:prstGeom>
          <a:ln w="12700">
            <a:solidFill>
              <a:srgbClr val="014E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组合 14"/>
          <p:cNvGrpSpPr/>
          <p:nvPr>
            <p:custDataLst>
              <p:tags r:id="rId3"/>
            </p:custDataLst>
          </p:nvPr>
        </p:nvGrpSpPr>
        <p:grpSpPr>
          <a:xfrm>
            <a:off x="2011304" y="1825799"/>
            <a:ext cx="445481" cy="469613"/>
            <a:chOff x="2121873" y="1511588"/>
            <a:chExt cx="445481" cy="469613"/>
          </a:xfrm>
        </p:grpSpPr>
        <p:sp>
          <p:nvSpPr>
            <p:cNvPr id="16" name="矩形 15"/>
            <p:cNvSpPr/>
            <p:nvPr>
              <p:custDataLst>
                <p:tags r:id="rId8"/>
              </p:custDataLst>
            </p:nvPr>
          </p:nvSpPr>
          <p:spPr>
            <a:xfrm>
              <a:off x="2121873" y="1511588"/>
              <a:ext cx="363415" cy="363415"/>
            </a:xfrm>
            <a:prstGeom prst="rect">
              <a:avLst/>
            </a:prstGeom>
            <a:solidFill>
              <a:srgbClr val="014E6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prstClr val="white"/>
                </a:solidFill>
              </a:endParaRPr>
            </a:p>
          </p:txBody>
        </p:sp>
        <p:sp>
          <p:nvSpPr>
            <p:cNvPr id="17" name="矩形 16"/>
            <p:cNvSpPr/>
            <p:nvPr>
              <p:custDataLst>
                <p:tags r:id="rId9"/>
              </p:custDataLst>
            </p:nvPr>
          </p:nvSpPr>
          <p:spPr>
            <a:xfrm>
              <a:off x="2321171" y="1735018"/>
              <a:ext cx="246183" cy="246183"/>
            </a:xfrm>
            <a:prstGeom prst="rect">
              <a:avLst/>
            </a:prstGeom>
            <a:solidFill>
              <a:srgbClr val="1784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23" name="文本框 22"/>
          <p:cNvSpPr txBox="1"/>
          <p:nvPr>
            <p:custDataLst>
              <p:tags r:id="rId4"/>
            </p:custDataLst>
          </p:nvPr>
        </p:nvSpPr>
        <p:spPr>
          <a:xfrm>
            <a:off x="2574016" y="1440230"/>
            <a:ext cx="55567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00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观察思考</a:t>
            </a:r>
          </a:p>
        </p:txBody>
      </p:sp>
      <p:sp>
        <p:nvSpPr>
          <p:cNvPr id="18" name="矩形 17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2775101" y="2890792"/>
            <a:ext cx="5525402" cy="1027525"/>
          </a:xfrm>
          <a:prstGeom prst="rect">
            <a:avLst/>
          </a:prstGeom>
          <a:noFill/>
          <a:ln w="50800"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n"/>
            </a:pPr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作用在同一条直线上</a:t>
            </a:r>
            <a:r>
              <a:rPr lang="en-US" altLang="zh-CN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  </a:t>
            </a:r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并且方向相反</a:t>
            </a:r>
          </a:p>
          <a:p>
            <a:pPr>
              <a:lnSpc>
                <a:spcPct val="120000"/>
              </a:lnSpc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n"/>
            </a:pPr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作用在两个物体上</a:t>
            </a:r>
            <a:endParaRPr lang="en-US" altLang="zh-CN" sz="2400" b="1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24" name="文本框 23"/>
          <p:cNvSpPr txBox="1"/>
          <p:nvPr>
            <p:custDataLst>
              <p:tags r:id="rId6"/>
            </p:custDataLst>
          </p:nvPr>
        </p:nvSpPr>
        <p:spPr>
          <a:xfrm>
            <a:off x="266417" y="31125"/>
            <a:ext cx="31726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思考与讨论</a:t>
            </a:r>
            <a:endParaRPr lang="zh-CN" altLang="en-US" sz="36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文本框 1"/>
          <p:cNvSpPr txBox="1"/>
          <p:nvPr>
            <p:custDataLst>
              <p:tags r:id="rId7"/>
            </p:custDataLst>
          </p:nvPr>
        </p:nvSpPr>
        <p:spPr>
          <a:xfrm>
            <a:off x="2210540" y="4387578"/>
            <a:ext cx="73773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一对作用力和反作用力的大小有何特点？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32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>
            <p:custDataLst>
              <p:tags r:id="rId1"/>
            </p:custDataLst>
          </p:nvPr>
        </p:nvSpPr>
        <p:spPr>
          <a:xfrm>
            <a:off x="3810001" y="1292537"/>
            <a:ext cx="4224233" cy="523220"/>
          </a:xfrm>
          <a:prstGeom prst="rect">
            <a:avLst/>
          </a:prstGeom>
          <a:ln w="38100">
            <a:solidFill>
              <a:schemeClr val="accent1">
                <a:lumMod val="50000"/>
              </a:schemeClr>
            </a:solidFill>
          </a:ln>
        </p:spPr>
        <p:txBody>
          <a:bodyPr wrap="none">
            <a:spAutoFit/>
          </a:bodyPr>
          <a:lstStyle/>
          <a:p>
            <a:r>
              <a:rPr lang="zh-CN" altLang="en-US" sz="2800" b="1">
                <a:latin typeface="华文楷体" panose="02010600040101010101" pitchFamily="2" charset="-122"/>
                <a:ea typeface="华文楷体" panose="02010600040101010101" pitchFamily="2" charset="-122"/>
              </a:rPr>
              <a:t>我们如何进行实验测量呢 </a:t>
            </a:r>
            <a:endParaRPr lang="en-US" altLang="zh-CN" sz="2800" b="1">
              <a:solidFill>
                <a:srgbClr val="FF000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16" name="矩形 15"/>
          <p:cNvSpPr/>
          <p:nvPr>
            <p:custDataLst>
              <p:tags r:id="rId2"/>
            </p:custDataLst>
          </p:nvPr>
        </p:nvSpPr>
        <p:spPr>
          <a:xfrm>
            <a:off x="2712160" y="2790224"/>
            <a:ext cx="450822" cy="46166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50000">
                <a:srgbClr val="014E6A"/>
              </a:gs>
              <a:gs pos="100000">
                <a:srgbClr val="014E6A"/>
              </a:gs>
            </a:gsLst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C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altLang="zh-CN" sz="2400" b="1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>
            <p:custDataLst>
              <p:tags r:id="rId3"/>
            </p:custDataLst>
          </p:nvPr>
        </p:nvSpPr>
        <p:spPr>
          <a:xfrm>
            <a:off x="3447555" y="2782217"/>
            <a:ext cx="295465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如何搭建实验装置</a:t>
            </a:r>
            <a:r>
              <a:rPr lang="zh-CN" altLang="en-US" sz="2400" b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？</a:t>
            </a:r>
            <a:endParaRPr lang="en-US" altLang="zh-CN" sz="2400" b="1"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矩形 18"/>
          <p:cNvSpPr/>
          <p:nvPr>
            <p:custDataLst>
              <p:tags r:id="rId4"/>
            </p:custDataLst>
          </p:nvPr>
        </p:nvSpPr>
        <p:spPr>
          <a:xfrm>
            <a:off x="2712160" y="2176363"/>
            <a:ext cx="450822" cy="46166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50000">
                <a:srgbClr val="014E6A"/>
              </a:gs>
              <a:gs pos="100000">
                <a:srgbClr val="014E6A"/>
              </a:gs>
            </a:gsLst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C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2400" b="1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" name="矩形 21"/>
          <p:cNvSpPr/>
          <p:nvPr>
            <p:custDataLst>
              <p:tags r:id="rId5"/>
            </p:custDataLst>
          </p:nvPr>
        </p:nvSpPr>
        <p:spPr>
          <a:xfrm>
            <a:off x="3437639" y="2172295"/>
            <a:ext cx="341632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我们的研究对象是什么</a:t>
            </a:r>
            <a:r>
              <a:rPr lang="en-US" altLang="zh-CN" sz="2400" b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?</a:t>
            </a:r>
            <a:endParaRPr lang="zh-CN" altLang="en-US" sz="2400"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>
            <p:custDataLst>
              <p:tags r:id="rId6"/>
            </p:custDataLst>
          </p:nvPr>
        </p:nvSpPr>
        <p:spPr>
          <a:xfrm>
            <a:off x="2712160" y="3423901"/>
            <a:ext cx="450822" cy="46166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50000">
                <a:srgbClr val="014E6A"/>
              </a:gs>
              <a:gs pos="100000">
                <a:srgbClr val="014E6A"/>
              </a:gs>
            </a:gsLst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C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altLang="zh-CN" sz="2400" b="1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>
            <p:custDataLst>
              <p:tags r:id="rId7"/>
            </p:custDataLst>
          </p:nvPr>
        </p:nvSpPr>
        <p:spPr>
          <a:xfrm>
            <a:off x="3421131" y="3423901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需要测量哪些物理量</a:t>
            </a:r>
            <a:r>
              <a:rPr lang="zh-CN" altLang="en-US" sz="2400" b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？</a:t>
            </a:r>
            <a:endParaRPr lang="en-US" altLang="zh-CN" sz="2400" b="1"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矩形 24"/>
          <p:cNvSpPr/>
          <p:nvPr>
            <p:custDataLst>
              <p:tags r:id="rId8"/>
            </p:custDataLst>
          </p:nvPr>
        </p:nvSpPr>
        <p:spPr>
          <a:xfrm>
            <a:off x="2712160" y="4029001"/>
            <a:ext cx="450822" cy="46166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50000">
                <a:srgbClr val="014E6A"/>
              </a:gs>
              <a:gs pos="100000">
                <a:srgbClr val="014E6A"/>
              </a:gs>
            </a:gsLst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C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altLang="zh-CN" sz="2400" b="1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/>
          <p:cNvSpPr/>
          <p:nvPr>
            <p:custDataLst>
              <p:tags r:id="rId9"/>
            </p:custDataLst>
          </p:nvPr>
        </p:nvSpPr>
        <p:spPr>
          <a:xfrm>
            <a:off x="3447555" y="4794952"/>
            <a:ext cx="264687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有什么注意事项？</a:t>
            </a:r>
            <a:endParaRPr lang="en-US" altLang="zh-CN" sz="2400" b="1"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28" name="图片 27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7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68136" y="2897323"/>
            <a:ext cx="1976485" cy="1976485"/>
          </a:xfrm>
          <a:prstGeom prst="rect">
            <a:avLst/>
          </a:prstGeom>
        </p:spPr>
      </p:pic>
      <p:sp>
        <p:nvSpPr>
          <p:cNvPr id="29" name="文本框 28"/>
          <p:cNvSpPr txBox="1"/>
          <p:nvPr>
            <p:custDataLst>
              <p:tags r:id="rId11"/>
            </p:custDataLst>
          </p:nvPr>
        </p:nvSpPr>
        <p:spPr>
          <a:xfrm>
            <a:off x="399913" y="127326"/>
            <a:ext cx="9304867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实验探究：</a:t>
            </a:r>
            <a:r>
              <a:rPr lang="zh-CN" altLang="en-US" sz="28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探究相互作用力大小之间的关系</a:t>
            </a:r>
          </a:p>
          <a:p>
            <a:endParaRPr lang="zh-CN" altLang="en-US" sz="36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0" name="矩形 29"/>
          <p:cNvSpPr/>
          <p:nvPr>
            <p:custDataLst>
              <p:tags r:id="rId12"/>
            </p:custDataLst>
          </p:nvPr>
        </p:nvSpPr>
        <p:spPr>
          <a:xfrm>
            <a:off x="2712160" y="4794953"/>
            <a:ext cx="450822" cy="46166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50000">
                <a:srgbClr val="014E6A"/>
              </a:gs>
              <a:gs pos="100000">
                <a:srgbClr val="014E6A"/>
              </a:gs>
            </a:gsLst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C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US" altLang="zh-CN" sz="2400" b="1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>
            <p:custDataLst>
              <p:tags r:id="rId13"/>
            </p:custDataLst>
          </p:nvPr>
        </p:nvSpPr>
        <p:spPr>
          <a:xfrm>
            <a:off x="3447555" y="4075422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选择什么测量工具呢</a:t>
            </a:r>
            <a:r>
              <a:rPr lang="zh-CN" altLang="en-US" sz="2400" b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？</a:t>
            </a:r>
            <a:endParaRPr lang="en-US" altLang="zh-CN" sz="2400" b="1"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>
            <p:custDataLst>
              <p:tags r:id="rId14"/>
            </p:custDataLst>
          </p:nvPr>
        </p:nvSpPr>
        <p:spPr>
          <a:xfrm>
            <a:off x="8121661" y="1169426"/>
            <a:ext cx="82296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>
                <a:solidFill>
                  <a:srgbClr val="FF0000"/>
                </a:solidFill>
              </a:rPr>
              <a:t>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3" grpId="0"/>
      <p:bldP spid="19" grpId="0" animBg="1"/>
      <p:bldP spid="22" grpId="0"/>
      <p:bldP spid="23" grpId="0" animBg="1"/>
      <p:bldP spid="24" grpId="0"/>
      <p:bldP spid="25" grpId="0" animBg="1"/>
      <p:bldP spid="26" grpId="0"/>
      <p:bldP spid="30" grpId="0" animBg="1"/>
      <p:bldP spid="32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>
            <p:custDataLst>
              <p:tags r:id="rId1"/>
            </p:custDataLst>
          </p:nvPr>
        </p:nvGrpSpPr>
        <p:grpSpPr>
          <a:xfrm>
            <a:off x="4073419" y="2214000"/>
            <a:ext cx="4470922" cy="854801"/>
            <a:chOff x="6075740" y="5172532"/>
            <a:chExt cx="4470922" cy="854801"/>
          </a:xfrm>
        </p:grpSpPr>
        <p:pic>
          <p:nvPicPr>
            <p:cNvPr id="31" name="图片 30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21"/>
            <a:stretch>
              <a:fillRect/>
            </a:stretch>
          </p:blipFill>
          <p:spPr>
            <a:xfrm>
              <a:off x="6298512" y="5172532"/>
              <a:ext cx="4248150" cy="828675"/>
            </a:xfrm>
            <a:prstGeom prst="rect">
              <a:avLst/>
            </a:prstGeom>
          </p:spPr>
        </p:pic>
        <p:pic>
          <p:nvPicPr>
            <p:cNvPr id="32" name="图片 31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 r:embed="rId21"/>
            <a:srcRect l="80483" t="11768"/>
            <a:stretch>
              <a:fillRect/>
            </a:stretch>
          </p:blipFill>
          <p:spPr>
            <a:xfrm flipH="1">
              <a:off x="6075740" y="5241828"/>
              <a:ext cx="890727" cy="785505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>
            <p:custDataLst>
              <p:tags r:id="rId2"/>
            </p:custDataLst>
          </p:nvPr>
        </p:nvSpPr>
        <p:spPr>
          <a:xfrm>
            <a:off x="2678545" y="1680707"/>
            <a:ext cx="1415772" cy="461665"/>
          </a:xfrm>
          <a:prstGeom prst="rect">
            <a:avLst/>
          </a:prstGeom>
          <a:gradFill>
            <a:gsLst>
              <a:gs pos="0">
                <a:srgbClr val="014E6A"/>
              </a:gs>
              <a:gs pos="50000">
                <a:srgbClr val="014E6A"/>
              </a:gs>
              <a:gs pos="100000">
                <a:srgbClr val="014E6A"/>
              </a:gs>
            </a:gsLst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研究对象</a:t>
            </a:r>
            <a:endParaRPr lang="en-US" altLang="zh-CN" sz="2400" b="1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12" name="矩形 11"/>
          <p:cNvSpPr/>
          <p:nvPr>
            <p:custDataLst>
              <p:tags r:id="rId3"/>
            </p:custDataLst>
          </p:nvPr>
        </p:nvSpPr>
        <p:spPr>
          <a:xfrm>
            <a:off x="4170753" y="1680707"/>
            <a:ext cx="4801314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两个弹簧测力计之间的相互作用力</a:t>
            </a:r>
            <a:endParaRPr lang="en-US" altLang="zh-CN" sz="2400" b="1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13" name="矩形 12"/>
          <p:cNvSpPr/>
          <p:nvPr>
            <p:custDataLst>
              <p:tags r:id="rId4"/>
            </p:custDataLst>
          </p:nvPr>
        </p:nvSpPr>
        <p:spPr>
          <a:xfrm>
            <a:off x="2678545" y="3180793"/>
            <a:ext cx="1415772" cy="461665"/>
          </a:xfrm>
          <a:prstGeom prst="rect">
            <a:avLst/>
          </a:prstGeom>
          <a:gradFill>
            <a:gsLst>
              <a:gs pos="0">
                <a:srgbClr val="014E6A"/>
              </a:gs>
              <a:gs pos="50000">
                <a:srgbClr val="014E6A"/>
              </a:gs>
              <a:gs pos="100000">
                <a:srgbClr val="014E6A"/>
              </a:gs>
            </a:gsLst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需要测量</a:t>
            </a:r>
            <a:endParaRPr lang="en-US" altLang="zh-CN" sz="2400" b="1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15" name="矩形 14"/>
          <p:cNvSpPr/>
          <p:nvPr>
            <p:custDataLst>
              <p:tags r:id="rId5"/>
            </p:custDataLst>
          </p:nvPr>
        </p:nvSpPr>
        <p:spPr>
          <a:xfrm>
            <a:off x="4351129" y="3186693"/>
            <a:ext cx="2339102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相互作用的拉力</a:t>
            </a:r>
            <a:endParaRPr lang="en-US" altLang="zh-CN" sz="2400" b="1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16" name="矩形 15"/>
          <p:cNvSpPr/>
          <p:nvPr>
            <p:custDataLst>
              <p:tags r:id="rId6"/>
            </p:custDataLst>
          </p:nvPr>
        </p:nvSpPr>
        <p:spPr>
          <a:xfrm>
            <a:off x="2692833" y="3923211"/>
            <a:ext cx="1415772" cy="461665"/>
          </a:xfrm>
          <a:prstGeom prst="rect">
            <a:avLst/>
          </a:prstGeom>
          <a:gradFill>
            <a:gsLst>
              <a:gs pos="0">
                <a:srgbClr val="014E6A"/>
              </a:gs>
              <a:gs pos="50000">
                <a:srgbClr val="014E6A"/>
              </a:gs>
              <a:gs pos="100000">
                <a:srgbClr val="014E6A"/>
              </a:gs>
            </a:gsLst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测量工具</a:t>
            </a:r>
            <a:endParaRPr lang="en-US" altLang="zh-CN" sz="2400" b="1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17" name="矩形 16"/>
          <p:cNvSpPr/>
          <p:nvPr>
            <p:custDataLst>
              <p:tags r:id="rId7"/>
            </p:custDataLst>
          </p:nvPr>
        </p:nvSpPr>
        <p:spPr>
          <a:xfrm>
            <a:off x="4365417" y="3889540"/>
            <a:ext cx="1723549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弹簧测力计</a:t>
            </a:r>
            <a:endParaRPr lang="en-US" altLang="zh-CN" sz="2400" b="1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18" name="矩形 17"/>
          <p:cNvSpPr/>
          <p:nvPr>
            <p:custDataLst>
              <p:tags r:id="rId8"/>
            </p:custDataLst>
          </p:nvPr>
        </p:nvSpPr>
        <p:spPr>
          <a:xfrm>
            <a:off x="2678545" y="2435283"/>
            <a:ext cx="1415772" cy="461665"/>
          </a:xfrm>
          <a:prstGeom prst="rect">
            <a:avLst/>
          </a:prstGeom>
          <a:gradFill>
            <a:gsLst>
              <a:gs pos="0">
                <a:srgbClr val="014E6A"/>
              </a:gs>
              <a:gs pos="50000">
                <a:srgbClr val="014E6A"/>
              </a:gs>
              <a:gs pos="100000">
                <a:srgbClr val="014E6A"/>
              </a:gs>
            </a:gsLst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实验装置</a:t>
            </a:r>
            <a:endParaRPr lang="en-US" altLang="zh-CN" sz="2400" b="1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cxnSp>
        <p:nvCxnSpPr>
          <p:cNvPr id="19" name="直接箭头连接符 18"/>
          <p:cNvCxnSpPr/>
          <p:nvPr>
            <p:custDataLst>
              <p:tags r:id="rId9"/>
            </p:custDataLst>
          </p:nvPr>
        </p:nvCxnSpPr>
        <p:spPr>
          <a:xfrm>
            <a:off x="5381748" y="2624869"/>
            <a:ext cx="932337" cy="0"/>
          </a:xfrm>
          <a:prstGeom prst="straightConnector1">
            <a:avLst/>
          </a:prstGeom>
          <a:ln w="57150">
            <a:solidFill>
              <a:srgbClr val="FF0000"/>
            </a:solidFill>
            <a:headEnd type="triangle"/>
            <a:tailEnd type="none"/>
          </a:ln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>
            <p:custDataLst>
              <p:tags r:id="rId10"/>
            </p:custDataLst>
          </p:nvPr>
        </p:nvSpPr>
        <p:spPr>
          <a:xfrm>
            <a:off x="5120385" y="2708581"/>
            <a:ext cx="659565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CN" sz="2000" b="1" i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zh-CN" sz="2000" b="1" baseline="-25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2000" b="1" baseline="-250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直接箭头连接符 20"/>
          <p:cNvCxnSpPr/>
          <p:nvPr>
            <p:custDataLst>
              <p:tags r:id="rId11"/>
            </p:custDataLst>
          </p:nvPr>
        </p:nvCxnSpPr>
        <p:spPr>
          <a:xfrm flipH="1">
            <a:off x="6345951" y="2610580"/>
            <a:ext cx="1029628" cy="9533"/>
          </a:xfrm>
          <a:prstGeom prst="straightConnector1">
            <a:avLst/>
          </a:prstGeom>
          <a:ln w="57150">
            <a:solidFill>
              <a:srgbClr val="24B0FF"/>
            </a:solidFill>
            <a:headEnd type="triangle"/>
            <a:tailEnd type="none"/>
          </a:ln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>
            <p:custDataLst>
              <p:tags r:id="rId12"/>
            </p:custDataLst>
          </p:nvPr>
        </p:nvSpPr>
        <p:spPr>
          <a:xfrm>
            <a:off x="7242980" y="2652718"/>
            <a:ext cx="8391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i="1">
                <a:solidFill>
                  <a:srgbClr val="24B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zh-CN" sz="2000" b="1" baseline="-25000">
                <a:solidFill>
                  <a:srgbClr val="24B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2000" b="1" baseline="-25000">
              <a:solidFill>
                <a:srgbClr val="24B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文本框 26"/>
          <p:cNvSpPr txBox="1"/>
          <p:nvPr>
            <p:custDataLst>
              <p:tags r:id="rId13"/>
            </p:custDataLst>
          </p:nvPr>
        </p:nvSpPr>
        <p:spPr>
          <a:xfrm>
            <a:off x="2464256" y="236838"/>
            <a:ext cx="59718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探究相互作用力大小之间的关系</a:t>
            </a:r>
          </a:p>
        </p:txBody>
      </p:sp>
      <p:sp>
        <p:nvSpPr>
          <p:cNvPr id="28" name="文本框 27"/>
          <p:cNvSpPr txBox="1"/>
          <p:nvPr>
            <p:custDataLst>
              <p:tags r:id="rId14"/>
            </p:custDataLst>
          </p:nvPr>
        </p:nvSpPr>
        <p:spPr>
          <a:xfrm>
            <a:off x="399742" y="92923"/>
            <a:ext cx="31726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学生实验</a:t>
            </a:r>
            <a:r>
              <a:rPr lang="en-US" altLang="zh-CN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endParaRPr lang="zh-CN" altLang="en-US" sz="36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3" name="矩形 32"/>
          <p:cNvSpPr/>
          <p:nvPr>
            <p:custDataLst>
              <p:tags r:id="rId15"/>
            </p:custDataLst>
          </p:nvPr>
        </p:nvSpPr>
        <p:spPr>
          <a:xfrm>
            <a:off x="2692833" y="4665629"/>
            <a:ext cx="1415772" cy="461665"/>
          </a:xfrm>
          <a:prstGeom prst="rect">
            <a:avLst/>
          </a:prstGeom>
          <a:gradFill>
            <a:gsLst>
              <a:gs pos="0">
                <a:srgbClr val="014E6A"/>
              </a:gs>
              <a:gs pos="50000">
                <a:srgbClr val="014E6A"/>
              </a:gs>
              <a:gs pos="100000">
                <a:srgbClr val="014E6A"/>
              </a:gs>
            </a:gsLst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注意事项</a:t>
            </a:r>
            <a:endParaRPr lang="en-US" altLang="zh-CN" sz="2400" b="1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4" name="矩形 33"/>
          <p:cNvSpPr/>
          <p:nvPr>
            <p:custDataLst>
              <p:tags r:id="rId16"/>
            </p:custDataLst>
          </p:nvPr>
        </p:nvSpPr>
        <p:spPr>
          <a:xfrm>
            <a:off x="4365417" y="4665628"/>
            <a:ext cx="4185761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zh-CN" altLang="en-US" sz="2400" b="1">
                <a:latin typeface="华文楷体" panose="02010600040101010101" pitchFamily="2" charset="-122"/>
                <a:ea typeface="华文楷体" panose="02010600040101010101" pitchFamily="2" charset="-122"/>
              </a:rPr>
              <a:t>弹簧测力计水平调零；</a:t>
            </a:r>
            <a:endParaRPr lang="en-US" altLang="zh-CN" sz="2400" b="1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2400" b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在弹簧的弹性限度内进行实验</a:t>
            </a:r>
            <a:endParaRPr lang="en-US" altLang="zh-CN" sz="2400" b="1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2" grpId="0"/>
      <p:bldP spid="13" grpId="0" animBg="1"/>
      <p:bldP spid="15" grpId="0"/>
      <p:bldP spid="16" grpId="0" animBg="1"/>
      <p:bldP spid="17" grpId="0"/>
      <p:bldP spid="18" grpId="0" animBg="1"/>
      <p:bldP spid="20" grpId="0"/>
      <p:bldP spid="22" grpId="0"/>
      <p:bldP spid="33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牛顿第三定律实验2：静止时相互作用力的大小关系（弹簧秤）1">
            <a:hlinkClick r:id="" action="ppaction://media"/>
          </p:cNvPr>
          <p:cNvPicPr>
            <a:picLocks noChangeAspect="1"/>
          </p:cNvPicPr>
          <p:nvPr>
            <a:videoFile r:link="rId2"/>
            <p:custDataLst>
              <p:tags r:id="rId3"/>
            </p:custDataLst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780515" y="1477052"/>
            <a:ext cx="6759322" cy="4069717"/>
          </a:xfrm>
          <a:prstGeom prst="rect">
            <a:avLst/>
          </a:prstGeom>
        </p:spPr>
      </p:pic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1861799" y="2382748"/>
            <a:ext cx="8167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>
                <a:solidFill>
                  <a:srgbClr val="FF0000"/>
                </a:solidFill>
              </a:rPr>
              <a:t>B</a:t>
            </a:r>
            <a:endParaRPr lang="zh-CN" altLang="en-US" sz="400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>
            <p:custDataLst>
              <p:tags r:id="rId5"/>
            </p:custDataLst>
          </p:nvPr>
        </p:nvSpPr>
        <p:spPr>
          <a:xfrm>
            <a:off x="4804300" y="2425370"/>
            <a:ext cx="8167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>
                <a:solidFill>
                  <a:schemeClr val="accent5">
                    <a:lumMod val="75000"/>
                  </a:schemeClr>
                </a:solidFill>
              </a:rPr>
              <a:t>A</a:t>
            </a:r>
            <a:endParaRPr lang="zh-CN" altLang="en-US" sz="440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7531223" y="2238808"/>
            <a:ext cx="4660777" cy="2345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500">
                <a:latin typeface="华文楷体" panose="02010600040101010101" pitchFamily="2" charset="-122"/>
                <a:ea typeface="华文楷体" panose="02010600040101010101" pitchFamily="2" charset="-122"/>
              </a:rPr>
              <a:t>1.A</a:t>
            </a:r>
            <a:r>
              <a:rPr lang="zh-CN" altLang="en-US" sz="2500">
                <a:latin typeface="华文楷体" panose="02010600040101010101" pitchFamily="2" charset="-122"/>
                <a:ea typeface="华文楷体" panose="02010600040101010101" pitchFamily="2" charset="-122"/>
              </a:rPr>
              <a:t>不动，匀速拉动</a:t>
            </a:r>
            <a:r>
              <a:rPr lang="en-US" altLang="zh-CN" sz="2500">
                <a:latin typeface="华文楷体" panose="02010600040101010101" pitchFamily="2" charset="-122"/>
                <a:ea typeface="华文楷体" panose="02010600040101010101" pitchFamily="2" charset="-122"/>
              </a:rPr>
              <a:t>B</a:t>
            </a:r>
            <a:r>
              <a:rPr lang="zh-CN" altLang="en-US" sz="2500">
                <a:latin typeface="华文楷体" panose="02010600040101010101" pitchFamily="2" charset="-122"/>
                <a:ea typeface="华文楷体" panose="02010600040101010101" pitchFamily="2" charset="-122"/>
              </a:rPr>
              <a:t>弹簧测力计</a:t>
            </a:r>
            <a:endParaRPr lang="en-US" altLang="zh-CN" sz="250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500">
                <a:latin typeface="华文楷体" panose="02010600040101010101" pitchFamily="2" charset="-122"/>
                <a:ea typeface="华文楷体" panose="02010600040101010101" pitchFamily="2" charset="-122"/>
              </a:rPr>
              <a:t>2.B</a:t>
            </a:r>
            <a:r>
              <a:rPr lang="zh-CN" altLang="en-US" sz="2500">
                <a:latin typeface="华文楷体" panose="02010600040101010101" pitchFamily="2" charset="-122"/>
                <a:ea typeface="华文楷体" panose="02010600040101010101" pitchFamily="2" charset="-122"/>
              </a:rPr>
              <a:t>不动，匀速拉动</a:t>
            </a:r>
            <a:r>
              <a:rPr lang="en-US" altLang="zh-CN" sz="2500">
                <a:latin typeface="华文楷体" panose="02010600040101010101" pitchFamily="2" charset="-122"/>
                <a:ea typeface="华文楷体" panose="02010600040101010101" pitchFamily="2" charset="-122"/>
              </a:rPr>
              <a:t>A</a:t>
            </a:r>
            <a:r>
              <a:rPr lang="zh-CN" altLang="en-US" sz="2500">
                <a:latin typeface="华文楷体" panose="02010600040101010101" pitchFamily="2" charset="-122"/>
                <a:ea typeface="华文楷体" panose="02010600040101010101" pitchFamily="2" charset="-122"/>
              </a:rPr>
              <a:t>弹簧测力计</a:t>
            </a:r>
            <a:endParaRPr lang="en-US" altLang="zh-CN" sz="250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500">
                <a:latin typeface="华文楷体" panose="02010600040101010101" pitchFamily="2" charset="-122"/>
                <a:ea typeface="华文楷体" panose="02010600040101010101" pitchFamily="2" charset="-122"/>
              </a:rPr>
              <a:t>3.A</a:t>
            </a:r>
            <a:r>
              <a:rPr lang="zh-CN" altLang="en-US" sz="2500">
                <a:latin typeface="华文楷体" panose="02010600040101010101" pitchFamily="2" charset="-122"/>
                <a:ea typeface="华文楷体" panose="02010600040101010101" pitchFamily="2" charset="-122"/>
              </a:rPr>
              <a:t>、</a:t>
            </a:r>
            <a:r>
              <a:rPr lang="en-US" altLang="zh-CN" sz="2500">
                <a:latin typeface="华文楷体" panose="02010600040101010101" pitchFamily="2" charset="-122"/>
                <a:ea typeface="华文楷体" panose="02010600040101010101" pitchFamily="2" charset="-122"/>
              </a:rPr>
              <a:t>B</a:t>
            </a:r>
            <a:r>
              <a:rPr lang="zh-CN" altLang="en-US" sz="2500">
                <a:latin typeface="华文楷体" panose="02010600040101010101" pitchFamily="2" charset="-122"/>
                <a:ea typeface="华文楷体" panose="02010600040101010101" pitchFamily="2" charset="-122"/>
              </a:rPr>
              <a:t>匀速对拉</a:t>
            </a:r>
            <a:endParaRPr lang="en-US" altLang="zh-CN" sz="250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500">
                <a:latin typeface="华文楷体" panose="02010600040101010101" pitchFamily="2" charset="-122"/>
                <a:ea typeface="华文楷体" panose="02010600040101010101" pitchFamily="2" charset="-122"/>
              </a:rPr>
              <a:t>4.A</a:t>
            </a:r>
            <a:r>
              <a:rPr lang="zh-CN" altLang="en-US" sz="2500">
                <a:latin typeface="华文楷体" panose="02010600040101010101" pitchFamily="2" charset="-122"/>
                <a:ea typeface="华文楷体" panose="02010600040101010101" pitchFamily="2" charset="-122"/>
              </a:rPr>
              <a:t>、</a:t>
            </a:r>
            <a:r>
              <a:rPr lang="en-US" altLang="zh-CN" sz="2500">
                <a:latin typeface="华文楷体" panose="02010600040101010101" pitchFamily="2" charset="-122"/>
                <a:ea typeface="华文楷体" panose="02010600040101010101" pitchFamily="2" charset="-122"/>
              </a:rPr>
              <a:t>B</a:t>
            </a:r>
            <a:r>
              <a:rPr lang="zh-CN" altLang="en-US" sz="2500">
                <a:latin typeface="华文楷体" panose="02010600040101010101" pitchFamily="2" charset="-122"/>
                <a:ea typeface="华文楷体" panose="02010600040101010101" pitchFamily="2" charset="-122"/>
              </a:rPr>
              <a:t>变速对拉</a:t>
            </a: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3030755" y="329076"/>
            <a:ext cx="59718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探究相互作用力大小之间的关系</a:t>
            </a: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1092200" y="131347"/>
            <a:ext cx="31726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学生实验</a:t>
            </a:r>
            <a:r>
              <a:rPr lang="en-US" altLang="zh-CN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endParaRPr lang="zh-CN" altLang="en-US" sz="36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30625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8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  <p:bldLst>
      <p:bldP spid="2" grpId="0"/>
      <p:bldP spid="5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直接连接符 13"/>
          <p:cNvCxnSpPr/>
          <p:nvPr>
            <p:custDataLst>
              <p:tags r:id="rId1"/>
            </p:custDataLst>
          </p:nvPr>
        </p:nvCxnSpPr>
        <p:spPr>
          <a:xfrm flipV="1">
            <a:off x="3481096" y="2130646"/>
            <a:ext cx="5556738" cy="23447"/>
          </a:xfrm>
          <a:prstGeom prst="line">
            <a:avLst/>
          </a:prstGeom>
          <a:ln w="12700">
            <a:solidFill>
              <a:srgbClr val="014E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组合 15"/>
          <p:cNvGrpSpPr/>
          <p:nvPr>
            <p:custDataLst>
              <p:tags r:id="rId2"/>
            </p:custDataLst>
          </p:nvPr>
        </p:nvGrpSpPr>
        <p:grpSpPr>
          <a:xfrm>
            <a:off x="2918385" y="1872049"/>
            <a:ext cx="445481" cy="469613"/>
            <a:chOff x="2121873" y="1511588"/>
            <a:chExt cx="445481" cy="469613"/>
          </a:xfrm>
        </p:grpSpPr>
        <p:sp>
          <p:nvSpPr>
            <p:cNvPr id="18" name="矩形 17"/>
            <p:cNvSpPr/>
            <p:nvPr>
              <p:custDataLst>
                <p:tags r:id="rId6"/>
              </p:custDataLst>
            </p:nvPr>
          </p:nvSpPr>
          <p:spPr>
            <a:xfrm>
              <a:off x="2121873" y="1511588"/>
              <a:ext cx="363415" cy="363415"/>
            </a:xfrm>
            <a:prstGeom prst="rect">
              <a:avLst/>
            </a:prstGeom>
            <a:solidFill>
              <a:srgbClr val="014E6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prstClr val="white"/>
                </a:solidFill>
              </a:endParaRPr>
            </a:p>
          </p:txBody>
        </p:sp>
        <p:sp>
          <p:nvSpPr>
            <p:cNvPr id="22" name="矩形 21"/>
            <p:cNvSpPr/>
            <p:nvPr>
              <p:custDataLst>
                <p:tags r:id="rId7"/>
              </p:custDataLst>
            </p:nvPr>
          </p:nvSpPr>
          <p:spPr>
            <a:xfrm>
              <a:off x="2321171" y="1735018"/>
              <a:ext cx="246183" cy="246183"/>
            </a:xfrm>
            <a:prstGeom prst="rect">
              <a:avLst/>
            </a:prstGeom>
            <a:solidFill>
              <a:srgbClr val="1784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3481097" y="1499758"/>
            <a:ext cx="597182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000" b="1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探究相互作用力大小之间的关系</a:t>
            </a:r>
          </a:p>
        </p:txBody>
      </p:sp>
      <p:sp>
        <p:nvSpPr>
          <p:cNvPr id="9" name="文本框 8"/>
          <p:cNvSpPr txBox="1"/>
          <p:nvPr>
            <p:custDataLst>
              <p:tags r:id="rId4"/>
            </p:custDataLst>
          </p:nvPr>
        </p:nvSpPr>
        <p:spPr>
          <a:xfrm>
            <a:off x="444130" y="74315"/>
            <a:ext cx="31726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实验探究</a:t>
            </a:r>
            <a:endParaRPr lang="zh-CN" altLang="en-US" sz="36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8B01F6E-A5ED-CFCB-CBFC-3DA57866CD51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0"/>
          <a:srcRect l="4134" t="5062" r="26702" b="12470"/>
          <a:stretch>
            <a:fillRect/>
          </a:stretch>
        </p:blipFill>
        <p:spPr>
          <a:xfrm>
            <a:off x="3750426" y="2341662"/>
            <a:ext cx="5018078" cy="33656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>
            <p:custDataLst>
              <p:tags r:id="rId1"/>
            </p:custDataLst>
          </p:nvPr>
        </p:nvSpPr>
        <p:spPr>
          <a:xfrm>
            <a:off x="444130" y="74315"/>
            <a:ext cx="31726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实验探究</a:t>
            </a:r>
            <a:endParaRPr lang="zh-CN" altLang="en-US" sz="36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" name="传感器静止终结版">
            <a:hlinkClick r:id="" action="ppaction://media"/>
            <a:extLst>
              <a:ext uri="{FF2B5EF4-FFF2-40B4-BE49-F238E27FC236}">
                <a16:creationId xmlns:a16="http://schemas.microsoft.com/office/drawing/2014/main" id="{C63EB258-9931-ACF1-7682-E84025CA889C}"/>
              </a:ext>
            </a:extLst>
          </p:cNvPr>
          <p:cNvPicPr>
            <a:picLocks noChangeAspect="1"/>
          </p:cNvPicPr>
          <p:nvPr>
            <a:videoFile r:link="rId3"/>
            <p:custDataLst>
              <p:tags r:id="rId4"/>
            </p:custDataLst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682840" y="902669"/>
            <a:ext cx="9120628" cy="557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139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66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>
            <p:custDataLst>
              <p:tags r:id="rId1"/>
            </p:custDataLst>
          </p:nvPr>
        </p:nvSpPr>
        <p:spPr>
          <a:xfrm>
            <a:off x="444130" y="74315"/>
            <a:ext cx="31726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实验探究</a:t>
            </a:r>
            <a:endParaRPr lang="zh-CN" altLang="en-US" sz="36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传感器水平运动">
            <a:hlinkClick r:id="" action="ppaction://media"/>
            <a:extLst>
              <a:ext uri="{FF2B5EF4-FFF2-40B4-BE49-F238E27FC236}">
                <a16:creationId xmlns:a16="http://schemas.microsoft.com/office/drawing/2014/main" id="{EE8B59BE-5E6B-61B3-9186-FED03D7E72F6}"/>
              </a:ext>
            </a:extLst>
          </p:cNvPr>
          <p:cNvPicPr>
            <a:picLocks noChangeAspect="1"/>
          </p:cNvPicPr>
          <p:nvPr>
            <a:videoFile r:link="rId3"/>
            <p:custDataLst>
              <p:tags r:id="rId4"/>
            </p:custDataLst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497408" y="919126"/>
            <a:ext cx="9197184" cy="5419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849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729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42254" y="4324302"/>
            <a:ext cx="1116426" cy="1329078"/>
          </a:xfrm>
          <a:prstGeom prst="rect">
            <a:avLst/>
          </a:prstGeom>
        </p:spPr>
      </p:pic>
      <p:cxnSp>
        <p:nvCxnSpPr>
          <p:cNvPr id="9" name="直接连接符 8"/>
          <p:cNvCxnSpPr/>
          <p:nvPr>
            <p:custDataLst>
              <p:tags r:id="rId2"/>
            </p:custDataLst>
          </p:nvPr>
        </p:nvCxnSpPr>
        <p:spPr>
          <a:xfrm flipV="1">
            <a:off x="3419312" y="2278927"/>
            <a:ext cx="5556738" cy="23447"/>
          </a:xfrm>
          <a:prstGeom prst="line">
            <a:avLst/>
          </a:prstGeom>
          <a:ln w="12700">
            <a:solidFill>
              <a:srgbClr val="014E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组合 9"/>
          <p:cNvGrpSpPr/>
          <p:nvPr>
            <p:custDataLst>
              <p:tags r:id="rId3"/>
            </p:custDataLst>
          </p:nvPr>
        </p:nvGrpSpPr>
        <p:grpSpPr>
          <a:xfrm>
            <a:off x="2856601" y="2020330"/>
            <a:ext cx="445481" cy="469613"/>
            <a:chOff x="2121873" y="1511588"/>
            <a:chExt cx="445481" cy="469613"/>
          </a:xfrm>
        </p:grpSpPr>
        <p:sp>
          <p:nvSpPr>
            <p:cNvPr id="11" name="矩形 10"/>
            <p:cNvSpPr/>
            <p:nvPr>
              <p:custDataLst>
                <p:tags r:id="rId7"/>
              </p:custDataLst>
            </p:nvPr>
          </p:nvSpPr>
          <p:spPr>
            <a:xfrm>
              <a:off x="2121873" y="1511588"/>
              <a:ext cx="363415" cy="363415"/>
            </a:xfrm>
            <a:prstGeom prst="rect">
              <a:avLst/>
            </a:prstGeom>
            <a:solidFill>
              <a:srgbClr val="014E6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prstClr val="white"/>
                </a:solidFill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8"/>
              </p:custDataLst>
            </p:nvPr>
          </p:nvSpPr>
          <p:spPr>
            <a:xfrm>
              <a:off x="2321171" y="1735018"/>
              <a:ext cx="246183" cy="246183"/>
            </a:xfrm>
            <a:prstGeom prst="rect">
              <a:avLst/>
            </a:prstGeom>
            <a:solidFill>
              <a:srgbClr val="1784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4"/>
            </p:custDataLst>
          </p:nvPr>
        </p:nvSpPr>
        <p:spPr>
          <a:xfrm>
            <a:off x="3419313" y="1634761"/>
            <a:ext cx="55567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000" b="1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总结归纳</a:t>
            </a:r>
          </a:p>
        </p:txBody>
      </p:sp>
      <p:sp>
        <p:nvSpPr>
          <p:cNvPr id="16" name="云形标注 15"/>
          <p:cNvSpPr/>
          <p:nvPr>
            <p:custDataLst>
              <p:tags r:id="rId5"/>
            </p:custDataLst>
          </p:nvPr>
        </p:nvSpPr>
        <p:spPr>
          <a:xfrm>
            <a:off x="7106119" y="3077272"/>
            <a:ext cx="2752561" cy="981985"/>
          </a:xfrm>
          <a:prstGeom prst="cloudCallout">
            <a:avLst>
              <a:gd name="adj1" fmla="val 12064"/>
              <a:gd name="adj2" fmla="val 10115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b="1">
                <a:solidFill>
                  <a:srgbClr val="FFFF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一句话概括？</a:t>
            </a:r>
            <a:endParaRPr lang="en-US" altLang="zh-CN" sz="2400" b="1">
              <a:solidFill>
                <a:srgbClr val="FFFF0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14" name="矩形 13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3220016" y="2812227"/>
            <a:ext cx="4444175" cy="2389885"/>
          </a:xfrm>
          <a:prstGeom prst="rect">
            <a:avLst/>
          </a:prstGeom>
          <a:noFill/>
          <a:ln w="50800"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120000"/>
              </a:lnSpc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n"/>
            </a:pPr>
            <a:r>
              <a:rPr lang="zh-CN" altLang="en-US" sz="2800" b="1">
                <a:latin typeface="华文楷体" panose="02010600040101010101" pitchFamily="2" charset="-122"/>
                <a:ea typeface="华文楷体" panose="02010600040101010101" pitchFamily="2" charset="-122"/>
              </a:rPr>
              <a:t>作用在两个物体上</a:t>
            </a:r>
            <a:endParaRPr lang="en-US" altLang="zh-CN" sz="2800" b="1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20000"/>
              </a:lnSpc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n"/>
            </a:pPr>
            <a:r>
              <a:rPr lang="zh-CN" altLang="en-US" sz="2800" b="1">
                <a:latin typeface="华文楷体" panose="02010600040101010101" pitchFamily="2" charset="-122"/>
                <a:ea typeface="华文楷体" panose="02010600040101010101" pitchFamily="2" charset="-122"/>
              </a:rPr>
              <a:t>作用在同一条直线上</a:t>
            </a:r>
          </a:p>
          <a:p>
            <a:pPr>
              <a:lnSpc>
                <a:spcPct val="120000"/>
              </a:lnSpc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n"/>
            </a:pPr>
            <a:r>
              <a:rPr lang="zh-CN" altLang="en-US" sz="2800" b="1">
                <a:latin typeface="华文楷体" panose="02010600040101010101" pitchFamily="2" charset="-122"/>
                <a:ea typeface="华文楷体" panose="02010600040101010101" pitchFamily="2" charset="-122"/>
              </a:rPr>
              <a:t>大小相等  方向相反</a:t>
            </a:r>
            <a:endParaRPr lang="en-US" altLang="zh-CN" sz="2800" b="1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>
              <a:lnSpc>
                <a:spcPct val="120000"/>
              </a:lnSpc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n"/>
            </a:pPr>
            <a:r>
              <a:rPr lang="zh-CN" altLang="en-US" sz="2800" b="1">
                <a:latin typeface="华文楷体" panose="02010600040101010101" pitchFamily="2" charset="-122"/>
                <a:ea typeface="华文楷体" panose="02010600040101010101" pitchFamily="2" charset="-122"/>
              </a:rPr>
              <a:t>属于同一性质</a:t>
            </a:r>
            <a:endParaRPr lang="en-US" altLang="zh-CN" sz="2800" b="1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文本框 14"/>
          <p:cNvSpPr txBox="1"/>
          <p:nvPr>
            <p:custDataLst>
              <p:tags r:id="rId1"/>
            </p:custDataLst>
          </p:nvPr>
        </p:nvSpPr>
        <p:spPr>
          <a:xfrm>
            <a:off x="3511760" y="2233364"/>
            <a:ext cx="783390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b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两个物体之间的作用力和反作用力</a:t>
            </a:r>
            <a:r>
              <a:rPr lang="zh-CN" altLang="en-US" sz="2800" b="1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总是</a:t>
            </a:r>
            <a:r>
              <a:rPr lang="zh-CN" altLang="en-US" sz="2800" b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大小相等，方向相反，作用在同一条直线上。</a:t>
            </a:r>
            <a:endParaRPr lang="en-US" altLang="zh-CN" sz="2800" b="1">
              <a:solidFill>
                <a:srgbClr val="FF000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5187" y="2233364"/>
            <a:ext cx="2631578" cy="2740264"/>
          </a:xfrm>
          <a:prstGeom prst="rect">
            <a:avLst/>
          </a:prstGeom>
        </p:spPr>
      </p:pic>
      <p:sp>
        <p:nvSpPr>
          <p:cNvPr id="16" name="文本框 15"/>
          <p:cNvSpPr txBox="1"/>
          <p:nvPr>
            <p:custDataLst>
              <p:tags r:id="rId3"/>
            </p:custDataLst>
          </p:nvPr>
        </p:nvSpPr>
        <p:spPr>
          <a:xfrm>
            <a:off x="1092200" y="131347"/>
            <a:ext cx="36876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牛顿第三定律</a:t>
            </a:r>
            <a:endParaRPr lang="zh-CN" altLang="en-US" sz="36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B113D9F-AB84-4B73-F17A-333D2AEB8D01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8769011" y="4840549"/>
            <a:ext cx="3277987" cy="1843826"/>
          </a:xfrm>
          <a:prstGeom prst="rect">
            <a:avLst/>
          </a:prstGeom>
        </p:spPr>
      </p:pic>
      <p:sp>
        <p:nvSpPr>
          <p:cNvPr id="3" name="矩形 1">
            <a:extLst>
              <a:ext uri="{FF2B5EF4-FFF2-40B4-BE49-F238E27FC236}">
                <a16:creationId xmlns:a16="http://schemas.microsoft.com/office/drawing/2014/main" id="{F6EDBB38-1892-C172-075D-F48555DA7444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6627478" y="3890386"/>
            <a:ext cx="4052360" cy="616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 anchorCtr="0">
            <a:spAutoFit/>
          </a:bodyPr>
          <a:lstStyle>
            <a:lvl1pPr marL="0" indent="0" algn="l" defTabSz="9144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lang="zh-CN" altLang="en-US" sz="1800" b="0" i="0" u="none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457200" indent="0" algn="l" defTabSz="9144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lang="zh-CN" altLang="en-US" sz="1800" b="0" i="0" u="none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914400" indent="0" algn="l" defTabSz="9144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lang="zh-CN" altLang="en-US" sz="1800" b="0" i="0" u="none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371600" indent="0" algn="l" defTabSz="9144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lang="zh-CN" altLang="en-US" sz="1800" b="0" i="0" u="none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1828800" indent="0" algn="l" defTabSz="914400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lang="zh-CN" altLang="en-US" sz="1800" b="0" i="0" u="none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</a:lstStyle>
          <a:p>
            <a:pPr marL="252095" lvl="0" indent="-457200" algn="l">
              <a:lnSpc>
                <a:spcPct val="150000"/>
              </a:lnSpc>
              <a:spcAft>
                <a:spcPct val="0"/>
              </a:spcAft>
              <a:tabLst>
                <a:tab pos="2609850" algn="l"/>
              </a:tabLst>
            </a:pPr>
            <a:r>
              <a:rPr lang="en-US" altLang="zh-CN" sz="2600" b="1" i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zh-CN" altLang="zh-CN" sz="2600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＝－</a:t>
            </a:r>
            <a:r>
              <a:rPr lang="en-US" altLang="zh-CN" sz="2600" b="1" i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zh-CN" sz="2600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′</a:t>
            </a:r>
            <a:endParaRPr lang="zh-CN" altLang="zh-CN" sz="2600" b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3DF56BD1-CB4A-36EF-2FBB-5E106D6DB387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849630" y="1403482"/>
          <a:ext cx="10492740" cy="4582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61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9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222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2475">
                <a:tc gridSpan="3"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zh-CN" altLang="en-US" sz="2800" b="1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一对</a:t>
                      </a:r>
                      <a:r>
                        <a:rPr lang="en-US" altLang="zh-CN" sz="2800" b="1" err="1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作用力与反作用力</a:t>
                      </a:r>
                      <a:endParaRPr lang="en-US" altLang="zh-CN" sz="2800" b="1" i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590">
                <a:tc rowSpan="4"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 err="1">
                          <a:solidFill>
                            <a:srgbClr val="FF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四同</a:t>
                      </a:r>
                      <a:endParaRPr lang="en-US" altLang="en-US" sz="2800" b="1">
                        <a:solidFill>
                          <a:srgbClr val="FF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 err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等大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大小总是相等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905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共线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作用在一条直线上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7055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同时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同时产生、同时变化、同时消失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3555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同性质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同一性质的力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4190">
                <a:tc rowSpan="3"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 err="1">
                          <a:solidFill>
                            <a:srgbClr val="FF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三异</a:t>
                      </a:r>
                      <a:endParaRPr lang="en-US" altLang="en-US" sz="2800" b="1">
                        <a:solidFill>
                          <a:srgbClr val="FF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异向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方向相反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2620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异体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作用在不同的物体上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2770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异效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800" b="1" err="1">
                          <a:latin typeface="宋体" panose="02010600030101010101" pitchFamily="2" charset="-122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效果不能相互抵消，不能认为合力为零</a:t>
                      </a:r>
                      <a:endParaRPr lang="en-US" altLang="en-US" sz="2800" b="1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8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C0AF1AD6-DD94-5DD6-A968-082CD6AA23A9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266575" y="78081"/>
            <a:ext cx="59833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对牛顿第三定律的理解</a:t>
            </a:r>
            <a:endParaRPr lang="zh-CN" altLang="en-US" sz="36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39494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154" r="99103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1003" b="21738"/>
          <a:stretch>
            <a:fillRect/>
          </a:stretch>
        </p:blipFill>
        <p:spPr bwMode="auto">
          <a:xfrm>
            <a:off x="3086512" y="2085853"/>
            <a:ext cx="6018975" cy="2844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接连接符 17"/>
          <p:cNvCxnSpPr/>
          <p:nvPr>
            <p:custDataLst>
              <p:tags r:id="rId2"/>
            </p:custDataLst>
          </p:nvPr>
        </p:nvCxnSpPr>
        <p:spPr>
          <a:xfrm flipV="1">
            <a:off x="3666074" y="1650039"/>
            <a:ext cx="5556738" cy="23447"/>
          </a:xfrm>
          <a:prstGeom prst="line">
            <a:avLst/>
          </a:prstGeom>
          <a:ln w="12700">
            <a:solidFill>
              <a:srgbClr val="014E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组合 18"/>
          <p:cNvGrpSpPr/>
          <p:nvPr>
            <p:custDataLst>
              <p:tags r:id="rId3"/>
            </p:custDataLst>
          </p:nvPr>
        </p:nvGrpSpPr>
        <p:grpSpPr>
          <a:xfrm>
            <a:off x="3129124" y="1443646"/>
            <a:ext cx="445481" cy="469613"/>
            <a:chOff x="2121873" y="1511588"/>
            <a:chExt cx="445481" cy="469613"/>
          </a:xfrm>
        </p:grpSpPr>
        <p:sp>
          <p:nvSpPr>
            <p:cNvPr id="20" name="矩形 19"/>
            <p:cNvSpPr/>
            <p:nvPr>
              <p:custDataLst>
                <p:tags r:id="rId6"/>
              </p:custDataLst>
            </p:nvPr>
          </p:nvSpPr>
          <p:spPr>
            <a:xfrm>
              <a:off x="2121873" y="1511588"/>
              <a:ext cx="363415" cy="363415"/>
            </a:xfrm>
            <a:prstGeom prst="rect">
              <a:avLst/>
            </a:prstGeom>
            <a:solidFill>
              <a:srgbClr val="014E6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prstClr val="white"/>
                </a:solidFill>
              </a:endParaRPr>
            </a:p>
          </p:txBody>
        </p:sp>
        <p:sp>
          <p:nvSpPr>
            <p:cNvPr id="21" name="矩形 20"/>
            <p:cNvSpPr/>
            <p:nvPr>
              <p:custDataLst>
                <p:tags r:id="rId7"/>
              </p:custDataLst>
            </p:nvPr>
          </p:nvSpPr>
          <p:spPr>
            <a:xfrm>
              <a:off x="2321171" y="1735018"/>
              <a:ext cx="246183" cy="246183"/>
            </a:xfrm>
            <a:prstGeom prst="rect">
              <a:avLst/>
            </a:prstGeom>
            <a:solidFill>
              <a:srgbClr val="1784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22" name="文本框 21"/>
          <p:cNvSpPr txBox="1"/>
          <p:nvPr>
            <p:custDataLst>
              <p:tags r:id="rId4"/>
            </p:custDataLst>
          </p:nvPr>
        </p:nvSpPr>
        <p:spPr>
          <a:xfrm>
            <a:off x="3438007" y="1088421"/>
            <a:ext cx="55567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00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拔河比赛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7E8671-9E99-EE92-4AF3-FD345F7C8EF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207270" y="5215581"/>
            <a:ext cx="84743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00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试试画出拔河过程中存在的作用力与反作用力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6150831-7BE2-2A6F-2E0B-D8682C778EAE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702287" y="1408165"/>
          <a:ext cx="8642350" cy="4494302"/>
        </p:xfrm>
        <a:graphic>
          <a:graphicData uri="http://schemas.openxmlformats.org/drawingml/2006/table">
            <a:tbl>
              <a:tblPr/>
              <a:tblGrid>
                <a:gridCol w="554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9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8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8335">
                <a:tc gridSpan="2"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zh-CN" altLang="en-US" sz="2000">
                        <a:solidFill>
                          <a:schemeClr val="tx1"/>
                        </a:solidFill>
                        <a:latin typeface="宋体" panose="02010600030101010101" pitchFamily="2" charset="-122"/>
                      </a:endParaRPr>
                    </a:p>
                  </a:txBody>
                  <a:tcPr marL="91213" marR="91213" marT="45606" marB="45606">
                    <a:lnL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zh-CN" altLang="en-US" sz="2800" b="1">
                          <a:solidFill>
                            <a:srgbClr val="FF0000"/>
                          </a:solidFill>
                          <a:latin typeface="宋体" panose="02010600030101010101" pitchFamily="2" charset="-122"/>
                        </a:rPr>
                        <a:t>作用力和反作用力</a:t>
                      </a:r>
                    </a:p>
                  </a:txBody>
                  <a:tcPr marL="91213" marR="91213" marT="45606" marB="45606" anchor="ctr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20000"/>
                        </a:lnSpc>
                        <a:buNone/>
                      </a:pPr>
                      <a:r>
                        <a:rPr lang="zh-CN" altLang="en-US" sz="2800" b="1">
                          <a:solidFill>
                            <a:srgbClr val="FF0000"/>
                          </a:solidFill>
                          <a:latin typeface="宋体" panose="02010600030101010101" pitchFamily="2" charset="-122"/>
                          <a:cs typeface="宋体" pitchFamily="2" charset="-122"/>
                        </a:rPr>
                        <a:t>平  衡  力</a:t>
                      </a:r>
                    </a:p>
                  </a:txBody>
                  <a:tcPr marL="91213" marR="91213" marT="45606" marB="45606" anchor="ctr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3420">
                <a:tc gridSpan="2"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zh-CN" altLang="en-US" sz="2400" b="1">
                          <a:solidFill>
                            <a:schemeClr val="tx1"/>
                          </a:solidFill>
                          <a:latin typeface="宋体" panose="02010600030101010101" pitchFamily="2" charset="-122"/>
                        </a:rPr>
                        <a:t>共同点</a:t>
                      </a:r>
                    </a:p>
                  </a:txBody>
                  <a:tcPr marL="91213" marR="91213" marT="45606" marB="45606" anchor="ctr">
                    <a:lnL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zh-CN" altLang="en-US" sz="2000">
                        <a:solidFill>
                          <a:schemeClr val="tx1"/>
                        </a:solidFill>
                        <a:latin typeface="宋体" panose="02010600030101010101" pitchFamily="2" charset="-122"/>
                      </a:endParaRPr>
                    </a:p>
                  </a:txBody>
                  <a:tcPr marL="91213" marR="91213" marT="45606" marB="45606" anchor="ctr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1855">
                <a:tc rowSpan="4"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altLang="zh-CN" sz="2000" b="1">
                        <a:solidFill>
                          <a:schemeClr val="tx1"/>
                        </a:solidFill>
                        <a:latin typeface="宋体" panose="02010600030101010101" pitchFamily="2" charset="-122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zh-CN" altLang="en-US" sz="2400" b="1">
                          <a:solidFill>
                            <a:schemeClr val="tx1"/>
                          </a:solidFill>
                          <a:latin typeface="宋体" panose="02010600030101010101" pitchFamily="2" charset="-122"/>
                        </a:rPr>
                        <a:t>区</a:t>
                      </a:r>
                    </a:p>
                    <a:p>
                      <a:pPr marL="0" lvl="0" indent="0" algn="ctr">
                        <a:buNone/>
                      </a:pPr>
                      <a:endParaRPr lang="zh-CN" altLang="en-US" sz="2400" b="1">
                        <a:solidFill>
                          <a:schemeClr val="tx1"/>
                        </a:solidFill>
                        <a:latin typeface="宋体" panose="02010600030101010101" pitchFamily="2" charset="-122"/>
                      </a:endParaRPr>
                    </a:p>
                    <a:p>
                      <a:pPr marL="0" lvl="0" indent="0" algn="ctr">
                        <a:buNone/>
                      </a:pPr>
                      <a:endParaRPr lang="zh-CN" altLang="en-US" sz="2400" b="1">
                        <a:solidFill>
                          <a:schemeClr val="tx1"/>
                        </a:solidFill>
                        <a:latin typeface="宋体" panose="02010600030101010101" pitchFamily="2" charset="-122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zh-CN" altLang="en-US" sz="2400" b="1">
                          <a:solidFill>
                            <a:schemeClr val="tx1"/>
                          </a:solidFill>
                          <a:latin typeface="宋体" panose="02010600030101010101" pitchFamily="2" charset="-122"/>
                        </a:rPr>
                        <a:t>别</a:t>
                      </a:r>
                    </a:p>
                  </a:txBody>
                  <a:tcPr marL="91213" marR="91213" marT="45606" marB="45606" anchor="ctr">
                    <a:lnL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zh-CN" altLang="en-US" sz="2000" b="1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作用</a:t>
                      </a:r>
                    </a:p>
                    <a:p>
                      <a:pPr marL="0" lvl="0" indent="0" algn="l">
                        <a:buNone/>
                      </a:pPr>
                      <a:r>
                        <a:rPr lang="zh-CN" altLang="en-US" sz="2000" b="1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物体</a:t>
                      </a:r>
                    </a:p>
                  </a:txBody>
                  <a:tcPr marL="91213" marR="91213" marT="45606" marB="45606" anchor="ctr" anchorCtr="1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zh-CN" altLang="en-US" sz="2000">
                        <a:solidFill>
                          <a:schemeClr val="tx1"/>
                        </a:solidFill>
                        <a:latin typeface="宋体" panose="02010600030101010101" pitchFamily="2" charset="-122"/>
                      </a:endParaRPr>
                    </a:p>
                  </a:txBody>
                  <a:tcPr marL="91213" marR="91213" marT="45606" marB="45606" anchor="ctr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zh-CN" altLang="en-US" sz="2000">
                        <a:solidFill>
                          <a:schemeClr val="tx1"/>
                        </a:solidFill>
                        <a:latin typeface="宋体" panose="02010600030101010101" pitchFamily="2" charset="-122"/>
                      </a:endParaRPr>
                    </a:p>
                  </a:txBody>
                  <a:tcPr marL="91213" marR="91213" marT="45606" marB="45606" anchor="ctr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24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fontAlgn="ctr">
                        <a:buNone/>
                      </a:pPr>
                      <a:r>
                        <a:rPr lang="zh-CN" altLang="en-US" sz="2000" b="1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作用时间</a:t>
                      </a:r>
                    </a:p>
                  </a:txBody>
                  <a:tcPr marL="91213" marR="91213" marT="45606" marB="45606" anchor="ctr" anchorCtr="1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zh-CN" altLang="en-US" sz="2000">
                        <a:solidFill>
                          <a:schemeClr val="tx1"/>
                        </a:solidFill>
                        <a:latin typeface="宋体" panose="02010600030101010101" pitchFamily="2" charset="-122"/>
                      </a:endParaRPr>
                    </a:p>
                  </a:txBody>
                  <a:tcPr marL="91213" marR="91213" marT="45606" marB="45606" anchor="ctr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zh-CN" altLang="en-US" sz="2000">
                        <a:solidFill>
                          <a:schemeClr val="tx1"/>
                        </a:solidFill>
                        <a:latin typeface="宋体" panose="02010600030101010101" pitchFamily="2" charset="-122"/>
                      </a:endParaRPr>
                    </a:p>
                  </a:txBody>
                  <a:tcPr marL="91213" marR="91213" marT="45606" marB="45606" anchor="ctr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3415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zh-CN" altLang="en-US" sz="2000" b="1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力的性质</a:t>
                      </a:r>
                    </a:p>
                  </a:txBody>
                  <a:tcPr marL="91213" marR="91213" marT="45606" marB="45606" anchor="ctr" anchorCtr="1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zh-CN" altLang="en-US" sz="2000">
                        <a:solidFill>
                          <a:schemeClr val="tx1"/>
                        </a:solidFill>
                        <a:latin typeface="宋体" panose="02010600030101010101" pitchFamily="2" charset="-122"/>
                      </a:endParaRPr>
                    </a:p>
                  </a:txBody>
                  <a:tcPr marL="91213" marR="91213" marT="45606" marB="45606" anchor="ctr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zh-CN" altLang="en-US" sz="2000">
                        <a:solidFill>
                          <a:schemeClr val="tx1"/>
                        </a:solidFill>
                        <a:latin typeface="宋体" panose="02010600030101010101" pitchFamily="2" charset="-122"/>
                      </a:endParaRPr>
                    </a:p>
                  </a:txBody>
                  <a:tcPr marL="91213" marR="91213" marT="45606" marB="45606" anchor="ctr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73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zh-CN" altLang="en-US" sz="2000" b="1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作用效果</a:t>
                      </a:r>
                    </a:p>
                  </a:txBody>
                  <a:tcPr marL="91213" marR="91213" marT="45606" marB="45606" anchor="ctr" anchorCtr="1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zh-CN" altLang="en-US" sz="2000">
                        <a:solidFill>
                          <a:schemeClr val="tx1"/>
                        </a:solidFill>
                        <a:latin typeface="宋体" panose="02010600030101010101" pitchFamily="2" charset="-122"/>
                      </a:endParaRPr>
                    </a:p>
                  </a:txBody>
                  <a:tcPr marL="91213" marR="91213" marT="45606" marB="45606" anchor="ctr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zh-CN" altLang="en-US" sz="2000">
                        <a:solidFill>
                          <a:schemeClr val="tx1"/>
                        </a:solidFill>
                        <a:latin typeface="宋体" panose="02010600030101010101" pitchFamily="2" charset="-122"/>
                      </a:endParaRPr>
                    </a:p>
                  </a:txBody>
                  <a:tcPr marL="91213" marR="91213" marT="45606" marB="45606" anchor="ctr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E11746A-FEFB-6D52-39A5-35C63EA28A1B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7029937" y="2924545"/>
            <a:ext cx="2877418" cy="46037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>
              <a:spcBef>
                <a:spcPct val="50000"/>
              </a:spcBef>
              <a:buClr>
                <a:schemeClr val="bg1"/>
              </a:buClr>
            </a:pP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  <a:cs typeface="幼圆" panose="02010509060101010101" charset="-122"/>
              </a:rPr>
              <a:t>作用在</a:t>
            </a:r>
            <a:r>
              <a:rPr lang="zh-CN" altLang="en-US" sz="2400" b="1">
                <a:latin typeface="楷体" charset="-122"/>
                <a:ea typeface="楷体" charset="-122"/>
                <a:cs typeface="幼圆" panose="02010509060101010101" charset="-122"/>
              </a:rPr>
              <a:t>同一</a:t>
            </a:r>
            <a:r>
              <a:rPr lang="zh-CN" altLang="en-US" sz="2400" b="1">
                <a:solidFill>
                  <a:schemeClr val="tx1">
                    <a:lumMod val="95000"/>
                    <a:lumOff val="5000"/>
                  </a:schemeClr>
                </a:solidFill>
                <a:latin typeface="楷体" charset="-122"/>
                <a:ea typeface="楷体" charset="-122"/>
                <a:cs typeface="幼圆" panose="02010509060101010101" charset="-122"/>
              </a:rPr>
              <a:t>物体</a:t>
            </a: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  <a:cs typeface="幼圆" panose="02010509060101010101" charset="-122"/>
              </a:rPr>
              <a:t>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124AA34-6E9F-5F1E-E2DB-A09F1614DBE3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6951197" y="5320400"/>
            <a:ext cx="3393440" cy="46037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>
              <a:buClr>
                <a:schemeClr val="bg1"/>
              </a:buClr>
            </a:pP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</a:rPr>
              <a:t>效果可抵消，合力为零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017A662-D507-56AC-E319-63012D085D64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7642077" y="4686035"/>
            <a:ext cx="1834515" cy="46037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>
              <a:spcBef>
                <a:spcPct val="50000"/>
              </a:spcBef>
              <a:buClr>
                <a:schemeClr val="bg1"/>
              </a:buClr>
            </a:pP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</a:rPr>
              <a:t>不一定相同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0FFB560-0ABE-B674-ECFA-FD2028841B1B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6951832" y="3682100"/>
            <a:ext cx="3161585" cy="82994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>
              <a:spcBef>
                <a:spcPct val="50000"/>
              </a:spcBef>
              <a:buClr>
                <a:schemeClr val="bg1"/>
              </a:buClr>
            </a:pP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</a:rPr>
              <a:t>不一定同时产生、同时</a:t>
            </a: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  <a:sym typeface="宋体" panose="02010600030101010101" pitchFamily="2" charset="-122"/>
              </a:rPr>
              <a:t>变化</a:t>
            </a: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</a:rPr>
              <a:t>、同时消失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035EF35-37FF-78CC-708C-E3DF55F7CEC8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372337" y="2924545"/>
            <a:ext cx="2734945" cy="46037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>
              <a:spcBef>
                <a:spcPct val="50000"/>
              </a:spcBef>
              <a:buClr>
                <a:schemeClr val="bg1"/>
              </a:buClr>
            </a:pP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  <a:cs typeface="幼圆" panose="02010509060101010101" charset="-122"/>
              </a:rPr>
              <a:t>作用在</a:t>
            </a:r>
            <a:r>
              <a:rPr lang="zh-CN" altLang="en-US" sz="2400" b="1">
                <a:latin typeface="楷体" charset="-122"/>
                <a:ea typeface="楷体" charset="-122"/>
                <a:cs typeface="幼圆" panose="02010509060101010101" charset="-122"/>
              </a:rPr>
              <a:t>不同</a:t>
            </a:r>
            <a:r>
              <a:rPr lang="zh-CN" altLang="en-US" sz="2400" b="1">
                <a:solidFill>
                  <a:schemeClr val="tx1">
                    <a:lumMod val="95000"/>
                    <a:lumOff val="5000"/>
                  </a:schemeClr>
                </a:solidFill>
                <a:latin typeface="楷体" charset="-122"/>
                <a:ea typeface="楷体" charset="-122"/>
                <a:cs typeface="幼圆" panose="02010509060101010101" charset="-122"/>
              </a:rPr>
              <a:t>物体</a:t>
            </a: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  <a:cs typeface="幼圆" panose="02010509060101010101" charset="-122"/>
              </a:rPr>
              <a:t>上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C812933-88C3-610B-3EF6-E695CFB96430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3117702" y="5316590"/>
            <a:ext cx="3399155" cy="46037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>
              <a:buClr>
                <a:schemeClr val="bg1"/>
              </a:buClr>
            </a:pP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</a:rPr>
              <a:t>不可抵消，不能求合力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12546C0-9705-40A5-0756-D6A4CFB34DBE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4077187" y="4686035"/>
            <a:ext cx="1480820" cy="46037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>
              <a:spcBef>
                <a:spcPct val="50000"/>
              </a:spcBef>
              <a:buClr>
                <a:schemeClr val="bg1"/>
              </a:buClr>
            </a:pP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</a:rPr>
              <a:t>一定相同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E67E18B-AB06-6784-D265-C36C762DBC82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3603477" y="3721470"/>
            <a:ext cx="2426970" cy="82994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>
              <a:spcBef>
                <a:spcPct val="50000"/>
              </a:spcBef>
              <a:buClr>
                <a:schemeClr val="bg1"/>
              </a:buClr>
            </a:pP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</a:rPr>
              <a:t>同时产生，同时</a:t>
            </a: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  <a:sym typeface="宋体" panose="02010600030101010101" pitchFamily="2" charset="-122"/>
              </a:rPr>
              <a:t>变化</a:t>
            </a: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</a:rPr>
              <a:t>，同时消失</a:t>
            </a:r>
          </a:p>
        </p:txBody>
      </p:sp>
      <p:sp>
        <p:nvSpPr>
          <p:cNvPr id="20" name="文本框 32805">
            <a:extLst>
              <a:ext uri="{FF2B5EF4-FFF2-40B4-BE49-F238E27FC236}">
                <a16:creationId xmlns:a16="http://schemas.microsoft.com/office/drawing/2014/main" id="{EF7AE545-CF28-39E1-9E58-9718ADCB519E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3639672" y="2116825"/>
            <a:ext cx="5836920" cy="46037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>
              <a:spcBef>
                <a:spcPct val="50000"/>
              </a:spcBef>
              <a:buClr>
                <a:schemeClr val="bg1"/>
              </a:buClr>
            </a:pPr>
            <a:r>
              <a:rPr lang="zh-CN" altLang="en-US" sz="2400" b="1">
                <a:solidFill>
                  <a:schemeClr val="dk1"/>
                </a:solidFill>
                <a:latin typeface="楷体" charset="-122"/>
                <a:ea typeface="楷体" charset="-122"/>
              </a:rPr>
              <a:t>大小相等，方向相反，作用在一条直线上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07A3447-7BAA-A5E7-8ADF-980A96CED060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262453" y="254900"/>
            <a:ext cx="556514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indent="0" defTabSz="9144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kern="1200" cap="none" spc="0" normalizeH="0" baseline="0" noProof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作用力与反作用力与平衡力的关系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  <p:cond evt="onBegin" delay="0">
                          <p:tn val="7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  <p:cond evt="onBegin" delay="0">
                          <p:tn val="1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  <p:cond evt="onBegin" delay="0">
                          <p:tn val="18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  <p:cond evt="onBegin" delay="0">
                          <p:tn val="24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  <p:cond evt="onBegin" delay="0">
                          <p:tn val="30"/>
                        </p:cond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  <p:cond evt="onBegin" delay="0">
                          <p:tn val="36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  <p:cond evt="onBegin" delay="0">
                          <p:tn val="42"/>
                        </p:cond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  <p:cond evt="onBegin" delay="0">
                          <p:tn val="48"/>
                        </p:cond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  <p:cond evt="onBegin" delay="0">
                          <p:tn val="54"/>
                        </p:cond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/>
          <p:nvPr>
            <p:custDataLst>
              <p:tags r:id="rId1"/>
            </p:custDataLst>
          </p:nvPr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13403"/>
          <a:stretch>
            <a:fillRect/>
          </a:stretch>
        </p:blipFill>
        <p:spPr>
          <a:xfrm>
            <a:off x="4492185" y="3662871"/>
            <a:ext cx="1260000" cy="1440000"/>
          </a:xfrm>
          <a:prstGeom prst="rect">
            <a:avLst/>
          </a:prstGeom>
        </p:spPr>
      </p:pic>
      <p:cxnSp>
        <p:nvCxnSpPr>
          <p:cNvPr id="11" name="直接箭头连接符 10"/>
          <p:cNvCxnSpPr/>
          <p:nvPr>
            <p:custDataLst>
              <p:tags r:id="rId2"/>
            </p:custDataLst>
          </p:nvPr>
        </p:nvCxnSpPr>
        <p:spPr>
          <a:xfrm rot="5400000">
            <a:off x="4723831" y="3573818"/>
            <a:ext cx="720000" cy="0"/>
          </a:xfrm>
          <a:prstGeom prst="straightConnector1">
            <a:avLst/>
          </a:prstGeom>
          <a:ln w="38100">
            <a:solidFill>
              <a:srgbClr val="1784AD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>
            <p:custDataLst>
              <p:tags r:id="rId3"/>
            </p:custDataLst>
          </p:nvPr>
        </p:nvSpPr>
        <p:spPr>
          <a:xfrm>
            <a:off x="4492185" y="2986994"/>
            <a:ext cx="9520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i="1">
                <a:solidFill>
                  <a:schemeClr val="accent5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F</a:t>
            </a:r>
            <a:r>
              <a:rPr lang="en-US" altLang="zh-CN" sz="2000" b="1" baseline="-25000">
                <a:solidFill>
                  <a:schemeClr val="accent5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endParaRPr lang="zh-CN" altLang="en-US" sz="2000" b="1" baseline="-25000">
              <a:solidFill>
                <a:schemeClr val="accent5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3" name="直接箭头连接符 12"/>
          <p:cNvCxnSpPr/>
          <p:nvPr>
            <p:custDataLst>
              <p:tags r:id="rId4"/>
            </p:custDataLst>
          </p:nvPr>
        </p:nvCxnSpPr>
        <p:spPr>
          <a:xfrm flipH="1" flipV="1">
            <a:off x="5083831" y="4060529"/>
            <a:ext cx="0" cy="72000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5269012" y="4580474"/>
            <a:ext cx="966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i="1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F ′</a:t>
            </a:r>
            <a:r>
              <a:rPr lang="en-US" altLang="zh-CN" sz="2000" b="1" baseline="-2500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endParaRPr lang="zh-CN" altLang="en-US" sz="2000" b="1" baseline="-25000">
              <a:solidFill>
                <a:srgbClr val="FF0000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>
            <p:custDataLst>
              <p:tags r:id="rId6"/>
            </p:custDataLst>
          </p:nvPr>
        </p:nvSpPr>
        <p:spPr>
          <a:xfrm>
            <a:off x="2609539" y="2442498"/>
            <a:ext cx="693019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Tx/>
              <a:buNone/>
            </a:pPr>
            <a:r>
              <a:rPr lang="zh-CN" altLang="en-US" sz="2400" b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请你画出台秤对物体支持力的反作用力和平衡力。</a:t>
            </a:r>
          </a:p>
        </p:txBody>
      </p:sp>
      <p:pic>
        <p:nvPicPr>
          <p:cNvPr id="16" name="图片 15"/>
          <p:cNvPicPr/>
          <p:nvPr>
            <p:custDataLst>
              <p:tags r:id="rId7"/>
            </p:custDataLst>
          </p:nvPr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13277"/>
          <a:stretch>
            <a:fillRect/>
          </a:stretch>
        </p:blipFill>
        <p:spPr>
          <a:xfrm>
            <a:off x="6658722" y="3623420"/>
            <a:ext cx="1260000" cy="1440000"/>
          </a:xfrm>
          <a:prstGeom prst="rect">
            <a:avLst/>
          </a:prstGeom>
        </p:spPr>
      </p:pic>
      <p:cxnSp>
        <p:nvCxnSpPr>
          <p:cNvPr id="17" name="直接箭头连接符 16"/>
          <p:cNvCxnSpPr/>
          <p:nvPr>
            <p:custDataLst>
              <p:tags r:id="rId8"/>
            </p:custDataLst>
          </p:nvPr>
        </p:nvCxnSpPr>
        <p:spPr>
          <a:xfrm rot="5400000">
            <a:off x="6891652" y="3547975"/>
            <a:ext cx="720000" cy="0"/>
          </a:xfrm>
          <a:prstGeom prst="straightConnector1">
            <a:avLst/>
          </a:prstGeom>
          <a:ln w="38100">
            <a:solidFill>
              <a:srgbClr val="1784AD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>
            <p:custDataLst>
              <p:tags r:id="rId9"/>
            </p:custDataLst>
          </p:nvPr>
        </p:nvSpPr>
        <p:spPr>
          <a:xfrm>
            <a:off x="6722424" y="2970474"/>
            <a:ext cx="10584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i="1">
                <a:solidFill>
                  <a:schemeClr val="accent5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F</a:t>
            </a:r>
            <a:r>
              <a:rPr lang="en-US" altLang="zh-CN" sz="2000" b="1" baseline="-25000">
                <a:solidFill>
                  <a:schemeClr val="accent5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endParaRPr lang="zh-CN" altLang="en-US" sz="2000" b="1" baseline="-25000">
              <a:solidFill>
                <a:schemeClr val="accent5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/>
          <p:cNvCxnSpPr/>
          <p:nvPr>
            <p:custDataLst>
              <p:tags r:id="rId10"/>
            </p:custDataLst>
          </p:nvPr>
        </p:nvCxnSpPr>
        <p:spPr>
          <a:xfrm flipH="1" flipV="1">
            <a:off x="7251652" y="3916620"/>
            <a:ext cx="0" cy="72000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>
            <p:custDataLst>
              <p:tags r:id="rId11"/>
            </p:custDataLst>
          </p:nvPr>
        </p:nvSpPr>
        <p:spPr>
          <a:xfrm>
            <a:off x="7375738" y="4488425"/>
            <a:ext cx="966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i="1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G</a:t>
            </a:r>
            <a:endParaRPr lang="zh-CN" altLang="en-US" sz="2000" b="1" baseline="-25000">
              <a:solidFill>
                <a:srgbClr val="FF0000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" name="矩形 21"/>
          <p:cNvSpPr/>
          <p:nvPr>
            <p:custDataLst>
              <p:tags r:id="rId12"/>
            </p:custDataLst>
          </p:nvPr>
        </p:nvSpPr>
        <p:spPr>
          <a:xfrm>
            <a:off x="3949067" y="5118944"/>
            <a:ext cx="220543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Tx/>
              <a:buNone/>
            </a:pPr>
            <a:r>
              <a:rPr lang="zh-CN" altLang="en-US" sz="2400" b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相互作用力</a:t>
            </a:r>
          </a:p>
        </p:txBody>
      </p:sp>
      <p:sp>
        <p:nvSpPr>
          <p:cNvPr id="23" name="矩形 22"/>
          <p:cNvSpPr/>
          <p:nvPr>
            <p:custDataLst>
              <p:tags r:id="rId13"/>
            </p:custDataLst>
          </p:nvPr>
        </p:nvSpPr>
        <p:spPr>
          <a:xfrm>
            <a:off x="6413383" y="5121315"/>
            <a:ext cx="2215736" cy="507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Tx/>
              <a:buNone/>
            </a:pPr>
            <a:r>
              <a:rPr lang="zh-CN" altLang="en-US" sz="2400" b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平衡力</a:t>
            </a:r>
          </a:p>
        </p:txBody>
      </p:sp>
      <p:cxnSp>
        <p:nvCxnSpPr>
          <p:cNvPr id="21" name="直接连接符 20"/>
          <p:cNvCxnSpPr/>
          <p:nvPr>
            <p:custDataLst>
              <p:tags r:id="rId14"/>
            </p:custDataLst>
          </p:nvPr>
        </p:nvCxnSpPr>
        <p:spPr>
          <a:xfrm flipV="1">
            <a:off x="3617021" y="2130646"/>
            <a:ext cx="5556738" cy="23447"/>
          </a:xfrm>
          <a:prstGeom prst="line">
            <a:avLst/>
          </a:prstGeom>
          <a:ln w="12700">
            <a:solidFill>
              <a:srgbClr val="014E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组合 24"/>
          <p:cNvGrpSpPr/>
          <p:nvPr>
            <p:custDataLst>
              <p:tags r:id="rId15"/>
            </p:custDataLst>
          </p:nvPr>
        </p:nvGrpSpPr>
        <p:grpSpPr>
          <a:xfrm>
            <a:off x="3054310" y="1872049"/>
            <a:ext cx="445481" cy="469613"/>
            <a:chOff x="2121873" y="1511588"/>
            <a:chExt cx="445481" cy="469613"/>
          </a:xfrm>
        </p:grpSpPr>
        <p:sp>
          <p:nvSpPr>
            <p:cNvPr id="26" name="矩形 25"/>
            <p:cNvSpPr/>
            <p:nvPr>
              <p:custDataLst>
                <p:tags r:id="rId18"/>
              </p:custDataLst>
            </p:nvPr>
          </p:nvSpPr>
          <p:spPr>
            <a:xfrm>
              <a:off x="2121873" y="1511588"/>
              <a:ext cx="363415" cy="363415"/>
            </a:xfrm>
            <a:prstGeom prst="rect">
              <a:avLst/>
            </a:prstGeom>
            <a:solidFill>
              <a:srgbClr val="014E6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prstClr val="white"/>
                </a:solidFill>
              </a:endParaRPr>
            </a:p>
          </p:txBody>
        </p:sp>
        <p:sp>
          <p:nvSpPr>
            <p:cNvPr id="27" name="矩形 26"/>
            <p:cNvSpPr/>
            <p:nvPr>
              <p:custDataLst>
                <p:tags r:id="rId19"/>
              </p:custDataLst>
            </p:nvPr>
          </p:nvSpPr>
          <p:spPr>
            <a:xfrm>
              <a:off x="2321171" y="1735018"/>
              <a:ext cx="246183" cy="246183"/>
            </a:xfrm>
            <a:prstGeom prst="rect">
              <a:avLst/>
            </a:prstGeom>
            <a:solidFill>
              <a:srgbClr val="1784A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28" name="文本框 27"/>
          <p:cNvSpPr txBox="1"/>
          <p:nvPr>
            <p:custDataLst>
              <p:tags r:id="rId16"/>
            </p:custDataLst>
          </p:nvPr>
        </p:nvSpPr>
        <p:spPr>
          <a:xfrm>
            <a:off x="3617022" y="1499758"/>
            <a:ext cx="55567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00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练一练</a:t>
            </a:r>
          </a:p>
        </p:txBody>
      </p:sp>
      <p:sp>
        <p:nvSpPr>
          <p:cNvPr id="24" name="文本框 23"/>
          <p:cNvSpPr txBox="1"/>
          <p:nvPr>
            <p:custDataLst>
              <p:tags r:id="rId17"/>
            </p:custDataLst>
          </p:nvPr>
        </p:nvSpPr>
        <p:spPr>
          <a:xfrm>
            <a:off x="621684" y="72615"/>
            <a:ext cx="31726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课堂检测</a:t>
            </a:r>
            <a:endParaRPr lang="zh-CN" altLang="en-US" sz="36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8" grpId="0"/>
      <p:bldP spid="20" grpId="0"/>
      <p:bldP spid="22" grpId="0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5472B8-8E94-E786-49B1-FC57187580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弹力有无的判断</a:t>
            </a:r>
            <a:br>
              <a:rPr lang="en-US" altLang="zh-CN" dirty="0"/>
            </a:br>
            <a:r>
              <a:rPr lang="zh-CN" altLang="en-US" dirty="0"/>
              <a:t>胡克定律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98B86E0-15A8-1812-F169-3125451383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6235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C2C419-2DE7-EB04-3DAE-7D82BADC3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通过平面镜观察桌面微小形变实验试验">
            <a:hlinkClick r:id="" action="ppaction://media"/>
            <a:extLst>
              <a:ext uri="{FF2B5EF4-FFF2-40B4-BE49-F238E27FC236}">
                <a16:creationId xmlns:a16="http://schemas.microsoft.com/office/drawing/2014/main" id="{CDECA7E6-4BE8-C9F8-7280-8F3890E8FA8E}"/>
              </a:ext>
            </a:extLst>
          </p:cNvPr>
          <p:cNvPicPr>
            <a:picLocks noGrp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28144" y="1825625"/>
            <a:ext cx="773571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007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>
                <p:cTn id="7" fill="hold" display="1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A415B-6C6C-3BC2-074E-4909ADA29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体验微小形变">
            <a:hlinkClick r:id="" action="ppaction://media"/>
            <a:extLst>
              <a:ext uri="{FF2B5EF4-FFF2-40B4-BE49-F238E27FC236}">
                <a16:creationId xmlns:a16="http://schemas.microsoft.com/office/drawing/2014/main" id="{F3A01E12-E1C4-7E5A-4CE4-AA5526FDE669}"/>
              </a:ext>
            </a:extLst>
          </p:cNvPr>
          <p:cNvPicPr>
            <a:picLocks noGrp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442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>
                <p:cTn id="7" fill="hold" display="1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图片 99"/>
          <p:cNvPicPr/>
          <p:nvPr>
            <p:custDataLst>
              <p:tags r:id="rId2"/>
            </p:custDataLst>
          </p:nvPr>
        </p:nvPicPr>
        <p:blipFill>
          <a:blip r:embed="rId8"/>
          <a:srcRect r="9459"/>
          <a:stretch>
            <a:fillRect/>
          </a:stretch>
        </p:blipFill>
        <p:spPr>
          <a:xfrm>
            <a:off x="545465" y="1183005"/>
            <a:ext cx="5239385" cy="349377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" name="图片 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377940" y="1183640"/>
            <a:ext cx="5239385" cy="3493135"/>
          </a:xfrm>
          <a:prstGeom prst="rect">
            <a:avLst/>
          </a:prstGeom>
        </p:spPr>
      </p:pic>
      <p:sp>
        <p:nvSpPr>
          <p:cNvPr id="27" name="文本框 26"/>
          <p:cNvSpPr txBox="1"/>
          <p:nvPr>
            <p:custDataLst>
              <p:tags r:id="rId4"/>
            </p:custDataLst>
          </p:nvPr>
        </p:nvSpPr>
        <p:spPr>
          <a:xfrm>
            <a:off x="230505" y="200025"/>
            <a:ext cx="5965825" cy="7562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3200" spc="600">
                <a:solidFill>
                  <a:srgbClr val="0C76B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阿里巴巴普惠体 B" panose="00020600040101010101" pitchFamily="18" charset="-122"/>
              </a:rPr>
              <a:t>观察与了解</a:t>
            </a:r>
          </a:p>
        </p:txBody>
      </p:sp>
      <p:sp>
        <p:nvSpPr>
          <p:cNvPr id="3" name="文本框 2"/>
          <p:cNvSpPr txBox="1"/>
          <p:nvPr>
            <p:custDataLst>
              <p:tags r:id="rId5"/>
            </p:custDataLst>
          </p:nvPr>
        </p:nvSpPr>
        <p:spPr>
          <a:xfrm>
            <a:off x="977900" y="5008880"/>
            <a:ext cx="43421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latin typeface="黑体" panose="02010609060101010101" charset="-122"/>
                <a:ea typeface="黑体" panose="02010609060101010101" charset="-122"/>
              </a:rPr>
              <a:t>摩托车上的减震弹簧</a:t>
            </a:r>
          </a:p>
        </p:txBody>
      </p:sp>
      <p:sp>
        <p:nvSpPr>
          <p:cNvPr id="4" name="文本框 3"/>
          <p:cNvSpPr txBox="1"/>
          <p:nvPr>
            <p:custDataLst>
              <p:tags r:id="rId6"/>
            </p:custDataLst>
          </p:nvPr>
        </p:nvSpPr>
        <p:spPr>
          <a:xfrm>
            <a:off x="6826885" y="5008880"/>
            <a:ext cx="43421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latin typeface="黑体" panose="02010609060101010101" charset="-122"/>
                <a:ea typeface="黑体" panose="02010609060101010101" charset="-122"/>
              </a:rPr>
              <a:t>重型卡车上的减震弹簧</a:t>
            </a:r>
          </a:p>
        </p:txBody>
      </p:sp>
    </p:spTree>
    <p:custDataLst>
      <p:tags r:id="rId1"/>
    </p:custData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图片 101"/>
          <p:cNvPicPr/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080885" y="720090"/>
            <a:ext cx="3429635" cy="48196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3" name="图片 102"/>
          <p:cNvPicPr/>
          <p:nvPr>
            <p:custDataLst>
              <p:tags r:id="rId3"/>
            </p:custDataLst>
          </p:nvPr>
        </p:nvPicPr>
        <p:blipFill>
          <a:blip r:embed="rId9"/>
          <a:srcRect l="18647" r="10189"/>
          <a:stretch>
            <a:fillRect/>
          </a:stretch>
        </p:blipFill>
        <p:spPr>
          <a:xfrm>
            <a:off x="1790065" y="720090"/>
            <a:ext cx="3429635" cy="4819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" name="文本框 26"/>
          <p:cNvSpPr txBox="1"/>
          <p:nvPr>
            <p:custDataLst>
              <p:tags r:id="rId4"/>
            </p:custDataLst>
          </p:nvPr>
        </p:nvSpPr>
        <p:spPr>
          <a:xfrm>
            <a:off x="230505" y="72390"/>
            <a:ext cx="5965825" cy="7562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3200" spc="600">
                <a:solidFill>
                  <a:srgbClr val="0C76B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阿里巴巴普惠体 B" panose="00020600040101010101" pitchFamily="18" charset="-122"/>
              </a:rPr>
              <a:t>观察与了解</a:t>
            </a:r>
          </a:p>
        </p:txBody>
      </p:sp>
      <p:sp>
        <p:nvSpPr>
          <p:cNvPr id="3" name="文本框 2"/>
          <p:cNvSpPr txBox="1"/>
          <p:nvPr>
            <p:custDataLst>
              <p:tags r:id="rId5"/>
            </p:custDataLst>
          </p:nvPr>
        </p:nvSpPr>
        <p:spPr>
          <a:xfrm>
            <a:off x="2007235" y="5716270"/>
            <a:ext cx="29959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30Kg</a:t>
            </a:r>
            <a:r>
              <a:rPr lang="zh-CN" alt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的臂力器</a:t>
            </a:r>
          </a:p>
        </p:txBody>
      </p:sp>
      <p:sp>
        <p:nvSpPr>
          <p:cNvPr id="2" name="文本框 1"/>
          <p:cNvSpPr txBox="1"/>
          <p:nvPr>
            <p:custDataLst>
              <p:tags r:id="rId6"/>
            </p:custDataLst>
          </p:nvPr>
        </p:nvSpPr>
        <p:spPr>
          <a:xfrm>
            <a:off x="7297420" y="5716270"/>
            <a:ext cx="29959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60Kg</a:t>
            </a:r>
            <a:r>
              <a:rPr lang="zh-CN" alt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的握力器</a:t>
            </a:r>
          </a:p>
        </p:txBody>
      </p:sp>
    </p:spTree>
    <p:custDataLst>
      <p:tags r:id="rId1"/>
    </p:custData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600E2E-75C9-73E9-0DC1-3DE297BD3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zh-CN" altLang="en-US" dirty="0"/>
              <a:t>实验发现，在弹性限度内，弹簧的弹力与伸长量成正比</a:t>
            </a:r>
            <a:endParaRPr lang="en-US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7BF5A415-6045-16DE-4C80-97844CC9A94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529330" y="1825625"/>
            <a:ext cx="7133339" cy="4351338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33411204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>
            <p:custDataLst>
              <p:tags r:id="rId1"/>
            </p:custDataLst>
          </p:nvPr>
        </p:nvSpPr>
        <p:spPr>
          <a:xfrm>
            <a:off x="230505" y="200025"/>
            <a:ext cx="7823835" cy="666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3200" spc="600">
                <a:solidFill>
                  <a:srgbClr val="0C76B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阿里巴巴普惠体 B" panose="00020600040101010101" pitchFamily="18" charset="-122"/>
              </a:rPr>
              <a:t>一、胡克定律</a:t>
            </a:r>
          </a:p>
        </p:txBody>
      </p:sp>
      <p:sp>
        <p:nvSpPr>
          <p:cNvPr id="10243" name="文本框 10242"/>
          <p:cNvSpPr txBox="1"/>
          <p:nvPr>
            <p:custDataLst>
              <p:tags r:id="rId2"/>
            </p:custDataLst>
          </p:nvPr>
        </p:nvSpPr>
        <p:spPr>
          <a:xfrm>
            <a:off x="381635" y="1080135"/>
            <a:ext cx="11390630" cy="1434465"/>
          </a:xfrm>
          <a:prstGeom prst="rect">
            <a:avLst/>
          </a:prstGeom>
          <a:noFill/>
          <a:ln w="9525">
            <a:noFill/>
          </a:ln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buClrTx/>
            </a:pPr>
            <a:r>
              <a:rPr lang="en-US" altLang="zh-CN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1.</a:t>
            </a:r>
            <a:r>
              <a:rPr lang="zh-CN" alt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内容：在</a:t>
            </a:r>
            <a:r>
              <a:rPr lang="zh-CN" altLang="en-US" sz="2800">
                <a:solidFill>
                  <a:srgbClr val="FF0000"/>
                </a:solidFill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弹性限度</a:t>
            </a:r>
            <a:r>
              <a:rPr lang="zh-CN" alt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内，弹簧发生弹性形变时，弹力的大小</a:t>
            </a:r>
            <a:r>
              <a:rPr lang="zh-CN" altLang="en-US" sz="2800" i="1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F</a:t>
            </a:r>
            <a:r>
              <a:rPr lang="zh-CN" alt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跟弹簧伸长（或缩短）的长度</a:t>
            </a:r>
            <a:r>
              <a:rPr lang="zh-CN" altLang="en-US" sz="2800" i="1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x</a:t>
            </a:r>
            <a:r>
              <a:rPr lang="zh-CN" alt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成正比。</a:t>
            </a:r>
          </a:p>
        </p:txBody>
      </p:sp>
      <p:sp>
        <p:nvSpPr>
          <p:cNvPr id="3" name="文本框 2"/>
          <p:cNvSpPr txBox="1"/>
          <p:nvPr>
            <p:custDataLst>
              <p:tags r:id="rId3"/>
            </p:custDataLst>
          </p:nvPr>
        </p:nvSpPr>
        <p:spPr>
          <a:xfrm>
            <a:off x="381635" y="2632710"/>
            <a:ext cx="11390630" cy="796290"/>
          </a:xfrm>
          <a:prstGeom prst="rect">
            <a:avLst/>
          </a:prstGeom>
          <a:noFill/>
          <a:ln w="9525">
            <a:noFill/>
          </a:ln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buClrTx/>
            </a:pPr>
            <a:r>
              <a:rPr lang="en-US" altLang="zh-CN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2.</a:t>
            </a:r>
            <a:r>
              <a:rPr lang="zh-CN" alt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公式：</a:t>
            </a:r>
            <a:r>
              <a:rPr lang="zh-CN" altLang="en-US" sz="2800" i="1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F＝kx</a:t>
            </a:r>
          </a:p>
        </p:txBody>
      </p:sp>
      <p:sp>
        <p:nvSpPr>
          <p:cNvPr id="4" name="文本框 3"/>
          <p:cNvSpPr txBox="1"/>
          <p:nvPr>
            <p:custDataLst>
              <p:tags r:id="rId4"/>
            </p:custDataLst>
          </p:nvPr>
        </p:nvSpPr>
        <p:spPr>
          <a:xfrm>
            <a:off x="381635" y="3639820"/>
            <a:ext cx="11348085" cy="2165350"/>
          </a:xfrm>
          <a:prstGeom prst="rect">
            <a:avLst/>
          </a:prstGeom>
          <a:noFill/>
          <a:ln w="9525">
            <a:noFill/>
          </a:ln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buClrTx/>
            </a:pPr>
            <a:r>
              <a:rPr lang="en-US" altLang="zh-CN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3.</a:t>
            </a:r>
            <a:r>
              <a:rPr lang="zh-CN" altLang="en-US" sz="2800" i="1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k</a:t>
            </a:r>
            <a:r>
              <a:rPr lang="zh-CN" alt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为弹簧的劲度系数， 单位是</a:t>
            </a:r>
            <a:r>
              <a:rPr lang="zh-CN" altLang="en-US" sz="2800" i="1">
                <a:solidFill>
                  <a:srgbClr val="FF0000"/>
                </a:solidFill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N/m</a:t>
            </a:r>
            <a:r>
              <a:rPr lang="zh-CN" alt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，只与</a:t>
            </a:r>
            <a:r>
              <a:rPr lang="zh-CN" altLang="en-US" sz="2800">
                <a:solidFill>
                  <a:srgbClr val="FF0000"/>
                </a:solidFill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弹簧本身有关</a:t>
            </a:r>
            <a:r>
              <a:rPr lang="zh-CN" alt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，由弹簧本身的材料、长度、粗细、匝数等因素决定，它反映了弹簧的</a:t>
            </a:r>
            <a:r>
              <a:rPr lang="zh-CN" altLang="en-US" sz="2800">
                <a:solidFill>
                  <a:srgbClr val="FF0000"/>
                </a:solidFill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软硬</a:t>
            </a:r>
            <a:r>
              <a:rPr lang="zh-CN" alt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程度，</a:t>
            </a:r>
            <a:r>
              <a:rPr lang="zh-CN" altLang="en-US" sz="2800" i="1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k</a:t>
            </a:r>
            <a:r>
              <a:rPr lang="zh-CN" alt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越大，弹簧越硬，其长度越难改变．</a:t>
            </a:r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>
            <p:custDataLst>
              <p:tags r:id="rId1"/>
            </p:custDataLst>
          </p:nvPr>
        </p:nvSpPr>
        <p:spPr>
          <a:xfrm>
            <a:off x="230505" y="200025"/>
            <a:ext cx="7823835" cy="666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3200" spc="600">
                <a:solidFill>
                  <a:srgbClr val="0C76B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阿里巴巴普惠体 B" panose="00020600040101010101" pitchFamily="18" charset="-122"/>
              </a:rPr>
              <a:t>一、胡克定律</a:t>
            </a:r>
          </a:p>
        </p:txBody>
      </p:sp>
      <p:sp>
        <p:nvSpPr>
          <p:cNvPr id="10243" name="文本框 10242"/>
          <p:cNvSpPr txBox="1"/>
          <p:nvPr>
            <p:custDataLst>
              <p:tags r:id="rId2"/>
            </p:custDataLst>
          </p:nvPr>
        </p:nvSpPr>
        <p:spPr>
          <a:xfrm>
            <a:off x="381635" y="866775"/>
            <a:ext cx="11390630" cy="779145"/>
          </a:xfrm>
          <a:prstGeom prst="rect">
            <a:avLst/>
          </a:prstGeom>
          <a:noFill/>
          <a:ln w="9525">
            <a:noFill/>
          </a:ln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buClrTx/>
            </a:pPr>
            <a:r>
              <a:rPr 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4</a:t>
            </a:r>
            <a:r>
              <a:rPr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.对胡克定律</a:t>
            </a:r>
            <a:r>
              <a:rPr sz="2800" i="1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F＝kx</a:t>
            </a:r>
            <a:r>
              <a:rPr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的理解和应用</a:t>
            </a:r>
          </a:p>
        </p:txBody>
      </p:sp>
      <p:sp>
        <p:nvSpPr>
          <p:cNvPr id="8" name="矩形 1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81635" y="1561465"/>
            <a:ext cx="11302365" cy="219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350645" algn="l"/>
                <a:tab pos="2700655" algn="l"/>
                <a:tab pos="4050665" algn="l"/>
              </a:tabLst>
              <a:defRPr/>
            </a:pPr>
            <a:r>
              <a:rPr kumimoji="0" lang="en-US" altLang="zh-CN" sz="2800" i="0" u="none" strike="noStrike" kern="1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(1)</a:t>
            </a:r>
            <a:r>
              <a:rPr kumimoji="0" lang="zh-CN" altLang="zh-CN" sz="2800" i="0" u="none" strike="noStrike" kern="1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弹簧发生形变时必须在弹性限度内。</a:t>
            </a:r>
          </a:p>
          <a:p>
            <a:pPr marL="0" marR="0" lvl="0" indent="0" algn="just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350645" algn="l"/>
                <a:tab pos="2700655" algn="l"/>
                <a:tab pos="4050665" algn="l"/>
              </a:tabLst>
              <a:defRPr/>
            </a:pPr>
            <a:r>
              <a:rPr kumimoji="0" lang="en-US" altLang="zh-CN" sz="2800" i="0" u="none" strike="noStrike" kern="1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(2)</a:t>
            </a:r>
            <a:r>
              <a:rPr kumimoji="0" lang="en-US" altLang="zh-CN" sz="2800" i="1" u="none" strike="noStrike" kern="1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x</a:t>
            </a:r>
            <a:r>
              <a:rPr kumimoji="0" lang="zh-CN" altLang="zh-CN" sz="2800" i="0" u="none" strike="noStrike" kern="1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是弹簧的形变量，不是弹簧形变后的总长度。</a:t>
            </a:r>
          </a:p>
          <a:p>
            <a:pPr marL="0" marR="0" lvl="0" indent="0" algn="just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350645" algn="l"/>
                <a:tab pos="2700655" algn="l"/>
                <a:tab pos="4050665" algn="l"/>
              </a:tabLst>
              <a:defRPr/>
            </a:pPr>
            <a:r>
              <a:rPr kumimoji="0" lang="en-US" altLang="zh-CN" sz="2800" i="0" u="none" strike="noStrike" kern="1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(3)</a:t>
            </a:r>
            <a:r>
              <a:rPr kumimoji="0" lang="zh-CN" altLang="zh-CN" sz="2800" i="0" u="none" strike="noStrike" kern="1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如图所示，</a:t>
            </a:r>
            <a:r>
              <a:rPr kumimoji="0" lang="en-US" altLang="zh-CN" sz="2800" i="1" u="none" strike="noStrike" kern="1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F</a:t>
            </a:r>
            <a:r>
              <a:rPr kumimoji="0" lang="zh-CN" altLang="zh-CN" sz="2800" i="0" u="none" strike="noStrike" kern="1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－</a:t>
            </a:r>
            <a:r>
              <a:rPr kumimoji="0" lang="en-US" altLang="zh-CN" sz="2800" i="1" u="none" strike="noStrike" kern="1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x</a:t>
            </a:r>
            <a:r>
              <a:rPr kumimoji="0" lang="zh-CN" altLang="zh-CN" sz="2800" i="0" u="none" strike="noStrike" kern="1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图像为一条经过原点的倾斜直线，图像斜率表示弹簧的劲度系数，在弹性限度内同一根弹簧的劲度系数是不变的。</a:t>
            </a:r>
          </a:p>
        </p:txBody>
      </p:sp>
      <p:pic>
        <p:nvPicPr>
          <p:cNvPr id="32775" name="Picture 9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96118" y="4377690"/>
            <a:ext cx="2865437" cy="22733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>
            <p:custDataLst>
              <p:tags r:id="rId1"/>
            </p:custDataLst>
          </p:nvPr>
        </p:nvSpPr>
        <p:spPr>
          <a:xfrm>
            <a:off x="230505" y="200025"/>
            <a:ext cx="7823835" cy="666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3200" spc="600">
                <a:solidFill>
                  <a:srgbClr val="0C76B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阿里巴巴普惠体 B" panose="00020600040101010101" pitchFamily="18" charset="-122"/>
              </a:rPr>
              <a:t>一、胡克定律</a:t>
            </a:r>
          </a:p>
        </p:txBody>
      </p:sp>
      <p:sp>
        <p:nvSpPr>
          <p:cNvPr id="10243" name="文本框 10242"/>
          <p:cNvSpPr txBox="1"/>
          <p:nvPr>
            <p:custDataLst>
              <p:tags r:id="rId2"/>
            </p:custDataLst>
          </p:nvPr>
        </p:nvSpPr>
        <p:spPr>
          <a:xfrm>
            <a:off x="381635" y="866775"/>
            <a:ext cx="11390630" cy="779145"/>
          </a:xfrm>
          <a:prstGeom prst="rect">
            <a:avLst/>
          </a:prstGeom>
          <a:noFill/>
          <a:ln w="9525">
            <a:noFill/>
          </a:ln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buClrTx/>
            </a:pPr>
            <a:r>
              <a:rPr lang="en-US"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4</a:t>
            </a:r>
            <a:r>
              <a:rPr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.对胡克定律</a:t>
            </a:r>
            <a:r>
              <a:rPr sz="2800" i="1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F＝kx</a:t>
            </a:r>
            <a:r>
              <a:rPr sz="2800"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</a:rPr>
              <a:t>的理解和应用</a:t>
            </a:r>
          </a:p>
        </p:txBody>
      </p:sp>
      <p:sp>
        <p:nvSpPr>
          <p:cNvPr id="8" name="矩形 1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81635" y="1561465"/>
            <a:ext cx="11513185" cy="33604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350645" algn="l"/>
                <a:tab pos="2700655" algn="l"/>
                <a:tab pos="4050665" algn="l"/>
              </a:tabLst>
              <a:defRPr/>
            </a:pPr>
            <a:r>
              <a:rPr lang="en-US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(4)</a:t>
            </a:r>
            <a:r>
              <a:rPr lang="zh-CN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由</a:t>
            </a:r>
            <a:r>
              <a:rPr lang="en-US" altLang="zh-CN" sz="2800" i="1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F</a:t>
            </a:r>
            <a:r>
              <a:rPr lang="en-US" altLang="zh-CN" sz="2800" kern="100" baseline="-250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1</a:t>
            </a:r>
            <a:r>
              <a:rPr lang="zh-CN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＝</a:t>
            </a:r>
            <a:r>
              <a:rPr lang="en-US" altLang="zh-CN" sz="2800" i="1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kx</a:t>
            </a:r>
            <a:r>
              <a:rPr lang="en-US" altLang="zh-CN" sz="2800" kern="100" baseline="-250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1</a:t>
            </a:r>
            <a:r>
              <a:rPr lang="zh-CN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、</a:t>
            </a:r>
            <a:r>
              <a:rPr lang="en-US" altLang="zh-CN" sz="2800" i="1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F</a:t>
            </a:r>
            <a:r>
              <a:rPr lang="en-US" altLang="zh-CN" sz="2800" kern="100" baseline="-250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2</a:t>
            </a:r>
            <a:r>
              <a:rPr lang="zh-CN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＝</a:t>
            </a:r>
            <a:r>
              <a:rPr lang="en-US" altLang="zh-CN" sz="2800" i="1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kx</a:t>
            </a:r>
            <a:r>
              <a:rPr lang="en-US" altLang="zh-CN" sz="2800" kern="100" baseline="-250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2</a:t>
            </a:r>
            <a:r>
              <a:rPr lang="zh-CN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，得</a:t>
            </a:r>
            <a:r>
              <a:rPr lang="en-US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Δ</a:t>
            </a:r>
            <a:r>
              <a:rPr lang="en-US" altLang="zh-CN" sz="2800" i="1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F</a:t>
            </a:r>
            <a:r>
              <a:rPr lang="zh-CN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＝</a:t>
            </a:r>
            <a:r>
              <a:rPr lang="en-US" altLang="zh-CN" sz="2800" i="1" kern="100" noProof="0" err="1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k</a:t>
            </a:r>
            <a:r>
              <a:rPr lang="en-US" altLang="zh-CN" sz="2800" kern="100" noProof="0" err="1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Δ</a:t>
            </a:r>
            <a:r>
              <a:rPr lang="en-US" altLang="zh-CN" sz="2800" i="1" kern="100" noProof="0" err="1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x</a:t>
            </a:r>
            <a:r>
              <a:rPr lang="zh-CN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，即弹力的变化量</a:t>
            </a:r>
            <a:r>
              <a:rPr lang="en-US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Δ</a:t>
            </a:r>
            <a:r>
              <a:rPr lang="en-US" altLang="zh-CN" sz="2800" i="1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F</a:t>
            </a:r>
            <a:r>
              <a:rPr lang="zh-CN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与形变量的变化量</a:t>
            </a:r>
            <a:r>
              <a:rPr lang="en-US" altLang="zh-CN" sz="2800" kern="100" noProof="0" err="1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Δ</a:t>
            </a:r>
            <a:r>
              <a:rPr lang="en-US" altLang="zh-CN" sz="2800" i="1" kern="100" noProof="0" err="1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x</a:t>
            </a:r>
            <a:r>
              <a:rPr lang="zh-CN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也成正比关系。</a:t>
            </a:r>
            <a:endParaRPr kumimoji="0" lang="zh-CN" altLang="zh-CN" sz="2800" i="0" u="none" strike="noStrike" kern="1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charset="0"/>
              <a:ea typeface="黑体" panose="02010609060101010101" charset="-122"/>
              <a:cs typeface="Times New Roman" panose="02020603050405020304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350645" algn="l"/>
                <a:tab pos="2700655" algn="l"/>
                <a:tab pos="4050665" algn="l"/>
              </a:tabLst>
              <a:defRPr/>
            </a:pPr>
            <a:r>
              <a:rPr lang="en-US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(5)</a:t>
            </a:r>
            <a:r>
              <a:rPr lang="zh-CN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胡克定律</a:t>
            </a:r>
            <a:r>
              <a:rPr lang="en-US" altLang="zh-CN" sz="2800" i="1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F</a:t>
            </a:r>
            <a:r>
              <a:rPr lang="zh-CN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＝</a:t>
            </a:r>
            <a:r>
              <a:rPr lang="en-US" altLang="zh-CN" sz="2800" i="1" kern="100" noProof="0" err="1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kx</a:t>
            </a:r>
            <a:r>
              <a:rPr lang="zh-CN" altLang="zh-CN" sz="28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也适用于弹性绳、橡皮筋等产生的弹力的计算，只是它们只能产生拉伸形变，不能产生压缩形变。具体问题中要根据题意判断胡克定律是否适用。</a:t>
            </a:r>
            <a:endParaRPr kumimoji="0" lang="zh-CN" altLang="zh-CN" sz="2800" i="0" u="none" strike="noStrike" kern="1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charset="0"/>
              <a:ea typeface="黑体" panose="02010609060101010101" charset="-122"/>
              <a:cs typeface="Times New Roman" panose="02020603050405020304" charset="0"/>
            </a:endParaRPr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>
            <p:custDataLst>
              <p:tags r:id="rId1"/>
            </p:custDataLst>
          </p:nvPr>
        </p:nvSpPr>
        <p:spPr>
          <a:xfrm>
            <a:off x="230505" y="200025"/>
            <a:ext cx="7823835" cy="666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3200" spc="600">
                <a:solidFill>
                  <a:srgbClr val="0C76B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阿里巴巴普惠体 B" panose="00020600040101010101" pitchFamily="18" charset="-122"/>
              </a:rPr>
              <a:t>二、一般弹力的计算</a:t>
            </a:r>
          </a:p>
        </p:txBody>
      </p:sp>
      <p:sp>
        <p:nvSpPr>
          <p:cNvPr id="8" name="矩形 1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39090" y="1147445"/>
            <a:ext cx="11595100" cy="3841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350645" algn="l"/>
                <a:tab pos="2700655" algn="l"/>
                <a:tab pos="4050665" algn="l"/>
              </a:tabLst>
              <a:defRPr/>
            </a:pPr>
            <a:r>
              <a:rPr lang="en-US" sz="32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         </a:t>
            </a:r>
            <a:r>
              <a:rPr altLang="zh-CN" sz="3200" kern="100" noProof="0">
                <a:ln>
                  <a:noFill/>
                </a:ln>
                <a:effectLst/>
                <a:uLnTx/>
                <a:uFillTx/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对于除弹簧外的其他弹性物体的弹力大小的计算，一般要借助物体的运动状态所遵循的物理规律求解，比如悬挂在竖直细线上的物体处于静止状态时，物体受细线竖直向上的拉力和竖直向下的重力作用，根据二力平衡，可知细线的拉力大小等于物体的重力大小。</a:t>
            </a:r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文本框 105"/>
          <p:cNvSpPr txBox="1"/>
          <p:nvPr>
            <p:custDataLst>
              <p:tags r:id="rId2"/>
            </p:custDataLst>
          </p:nvPr>
        </p:nvSpPr>
        <p:spPr>
          <a:xfrm>
            <a:off x="335280" y="383540"/>
            <a:ext cx="11536680" cy="2172970"/>
          </a:xfrm>
          <a:prstGeom prst="rect">
            <a:avLst/>
          </a:prstGeom>
          <a:noFill/>
          <a:ln w="9525">
            <a:noFill/>
          </a:ln>
        </p:spPr>
        <p:txBody>
          <a:bodyPr>
            <a:noAutofit/>
          </a:bodyPr>
          <a:lstStyle/>
          <a:p>
            <a:pPr indent="0">
              <a:lnSpc>
                <a:spcPct val="150000"/>
              </a:lnSpc>
            </a:pP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1</a:t>
            </a:r>
            <a:r>
              <a:rPr lang="zh-CN" sz="2800" b="0">
                <a:ea typeface="黑体" panose="02010609060101010101" charset="-122"/>
              </a:rPr>
              <a:t>．如图所示，重为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6N</a:t>
            </a:r>
            <a:r>
              <a:rPr lang="zh-CN" sz="2800" b="0">
                <a:ea typeface="黑体" panose="02010609060101010101" charset="-122"/>
              </a:rPr>
              <a:t>的物体挂在轻质弹簧的下端时，弹簧伸长了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0.03m</a:t>
            </a:r>
            <a:r>
              <a:rPr lang="zh-CN" sz="2800" b="0">
                <a:ea typeface="黑体" panose="02010609060101010101" charset="-122"/>
              </a:rPr>
              <a:t>。现换用另一个重为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12N</a:t>
            </a:r>
            <a:r>
              <a:rPr lang="zh-CN" sz="2800" b="0">
                <a:ea typeface="黑体" panose="02010609060101010101" charset="-122"/>
              </a:rPr>
              <a:t>的物体挂在弹簧的下端（形变仍在弹性限度内），这时弹簧的伸长量、劲度系数分别是（　　）</a:t>
            </a:r>
            <a:endParaRPr lang="en-US" sz="2800" b="0">
              <a:latin typeface="Times New Roman" panose="02020603050405020304" charset="0"/>
              <a:ea typeface="黑体" panose="02010609060101010101" charset="-122"/>
            </a:endParaRPr>
          </a:p>
          <a:p>
            <a:pPr indent="0">
              <a:lnSpc>
                <a:spcPct val="150000"/>
              </a:lnSpc>
            </a:pP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A</a:t>
            </a:r>
            <a:r>
              <a:rPr lang="zh-CN" sz="2800" b="0">
                <a:ea typeface="黑体" panose="02010609060101010101" charset="-122"/>
              </a:rPr>
              <a:t>．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0.03m</a:t>
            </a:r>
            <a:r>
              <a:rPr lang="zh-CN" sz="2800" b="0">
                <a:ea typeface="黑体" panose="02010609060101010101" charset="-122"/>
              </a:rPr>
              <a:t>、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100N/m	B</a:t>
            </a:r>
            <a:r>
              <a:rPr lang="zh-CN" sz="2800" b="0">
                <a:ea typeface="黑体" panose="02010609060101010101" charset="-122"/>
              </a:rPr>
              <a:t>．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0.04m</a:t>
            </a:r>
            <a:r>
              <a:rPr lang="zh-CN" sz="2800" b="0">
                <a:ea typeface="黑体" panose="02010609060101010101" charset="-122"/>
              </a:rPr>
              <a:t>、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200N/m</a:t>
            </a:r>
          </a:p>
          <a:p>
            <a:pPr indent="0">
              <a:lnSpc>
                <a:spcPct val="150000"/>
              </a:lnSpc>
            </a:pP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C</a:t>
            </a:r>
            <a:r>
              <a:rPr lang="zh-CN" sz="2800" b="0">
                <a:ea typeface="黑体" panose="02010609060101010101" charset="-122"/>
              </a:rPr>
              <a:t>．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0.05m</a:t>
            </a:r>
            <a:r>
              <a:rPr lang="zh-CN" sz="2800" b="0">
                <a:ea typeface="黑体" panose="02010609060101010101" charset="-122"/>
              </a:rPr>
              <a:t>、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100N/m	D</a:t>
            </a:r>
            <a:r>
              <a:rPr lang="zh-CN" sz="2800" b="0">
                <a:ea typeface="黑体" panose="02010609060101010101" charset="-122"/>
              </a:rPr>
              <a:t>．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0.06m</a:t>
            </a:r>
            <a:r>
              <a:rPr lang="zh-CN" sz="2800" b="0">
                <a:ea typeface="黑体" panose="02010609060101010101" charset="-122"/>
              </a:rPr>
              <a:t>、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200N/m</a:t>
            </a:r>
            <a:endParaRPr lang="en-US" altLang="en-US" sz="2800" b="0">
              <a:latin typeface="Times New Roman" panose="02020603050405020304" charset="0"/>
              <a:ea typeface="黑体" panose="02010609060101010101" charset="-122"/>
            </a:endParaRPr>
          </a:p>
        </p:txBody>
      </p:sp>
      <p:sp>
        <p:nvSpPr>
          <p:cNvPr id="7" name="文本框 6"/>
          <p:cNvSpPr txBox="1"/>
          <p:nvPr>
            <p:custDataLst>
              <p:tags r:id="rId3"/>
            </p:custDataLst>
          </p:nvPr>
        </p:nvSpPr>
        <p:spPr>
          <a:xfrm>
            <a:off x="6546850" y="1785620"/>
            <a:ext cx="516255" cy="5518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800" b="1">
                <a:solidFill>
                  <a:srgbClr val="FF0000"/>
                </a:solidFill>
                <a:latin typeface="Times New Roman" panose="02020603050405020304" charset="0"/>
                <a:ea typeface="思源黑体 CN Light" panose="020B0400000000000000" pitchFamily="34" charset="-122"/>
                <a:cs typeface="Times New Roman" panose="02020603050405020304" charset="0"/>
              </a:rPr>
              <a:t>D</a:t>
            </a:r>
          </a:p>
        </p:txBody>
      </p:sp>
      <p:pic>
        <p:nvPicPr>
          <p:cNvPr id="100003" name="图片 100003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9606915" y="1842135"/>
            <a:ext cx="1074420" cy="268605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文本框 107"/>
          <p:cNvSpPr txBox="1"/>
          <p:nvPr>
            <p:custDataLst>
              <p:tags r:id="rId2"/>
            </p:custDataLst>
          </p:nvPr>
        </p:nvSpPr>
        <p:spPr>
          <a:xfrm>
            <a:off x="245110" y="364490"/>
            <a:ext cx="11709400" cy="2249170"/>
          </a:xfrm>
          <a:prstGeom prst="rect">
            <a:avLst/>
          </a:prstGeom>
          <a:noFill/>
          <a:ln w="9525">
            <a:noFill/>
          </a:ln>
        </p:spPr>
        <p:txBody>
          <a:bodyPr>
            <a:noAutofit/>
          </a:bodyPr>
          <a:lstStyle/>
          <a:p>
            <a:pPr indent="0">
              <a:lnSpc>
                <a:spcPct val="150000"/>
              </a:lnSpc>
            </a:pP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2</a:t>
            </a:r>
            <a:r>
              <a:rPr lang="zh-CN" sz="2700" b="0">
                <a:ea typeface="黑体" panose="02010609060101010101" charset="-122"/>
              </a:rPr>
              <a:t>．如图所示，弹簧测力计和细线的重力及一切摩擦不计，重物的重力</a:t>
            </a:r>
            <a:r>
              <a:rPr lang="en-US" sz="2700" b="0" i="1">
                <a:latin typeface="Times New Roman" panose="02020603050405020304" charset="0"/>
                <a:ea typeface="黑体" panose="02010609060101010101" charset="-122"/>
              </a:rPr>
              <a:t>G</a:t>
            </a:r>
            <a:r>
              <a:rPr lang="zh-CN" sz="2700" b="0">
                <a:ea typeface="黑体" panose="02010609060101010101" charset="-122"/>
              </a:rPr>
              <a:t>＝</a:t>
            </a: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2N</a:t>
            </a:r>
            <a:r>
              <a:rPr lang="zh-CN" sz="2700" b="0">
                <a:ea typeface="黑体" panose="02010609060101010101" charset="-122"/>
              </a:rPr>
              <a:t>，则弹簧测力计</a:t>
            </a: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A</a:t>
            </a:r>
            <a:r>
              <a:rPr lang="zh-CN" sz="2700" b="0">
                <a:ea typeface="黑体" panose="02010609060101010101" charset="-122"/>
              </a:rPr>
              <a:t>和</a:t>
            </a: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B</a:t>
            </a:r>
            <a:r>
              <a:rPr lang="zh-CN" sz="2700" b="0">
                <a:ea typeface="黑体" panose="02010609060101010101" charset="-122"/>
              </a:rPr>
              <a:t>的示数分别为（　　）</a:t>
            </a:r>
            <a:endParaRPr lang="en-US" sz="2700" b="0">
              <a:latin typeface="Times New Roman" panose="02020603050405020304" charset="0"/>
              <a:ea typeface="黑体" panose="02010609060101010101" charset="-122"/>
            </a:endParaRPr>
          </a:p>
          <a:p>
            <a:pPr indent="0">
              <a:lnSpc>
                <a:spcPct val="150000"/>
              </a:lnSpc>
            </a:pP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A</a:t>
            </a:r>
            <a:r>
              <a:rPr lang="zh-CN" sz="2700" b="0">
                <a:ea typeface="黑体" panose="02010609060101010101" charset="-122"/>
              </a:rPr>
              <a:t>．</a:t>
            </a: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2 N</a:t>
            </a:r>
            <a:r>
              <a:rPr lang="zh-CN" sz="2700" b="0">
                <a:ea typeface="黑体" panose="02010609060101010101" charset="-122"/>
              </a:rPr>
              <a:t>，</a:t>
            </a: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0 N	B</a:t>
            </a:r>
            <a:r>
              <a:rPr lang="zh-CN" sz="2700" b="0">
                <a:ea typeface="黑体" panose="02010609060101010101" charset="-122"/>
              </a:rPr>
              <a:t>．</a:t>
            </a: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0 N</a:t>
            </a:r>
            <a:r>
              <a:rPr lang="zh-CN" sz="2700" b="0">
                <a:ea typeface="黑体" panose="02010609060101010101" charset="-122"/>
              </a:rPr>
              <a:t>，</a:t>
            </a: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2 N</a:t>
            </a:r>
          </a:p>
          <a:p>
            <a:pPr indent="0">
              <a:lnSpc>
                <a:spcPct val="150000"/>
              </a:lnSpc>
            </a:pP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C</a:t>
            </a:r>
            <a:r>
              <a:rPr lang="zh-CN" sz="2700" b="0">
                <a:ea typeface="黑体" panose="02010609060101010101" charset="-122"/>
              </a:rPr>
              <a:t>．</a:t>
            </a: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2 N</a:t>
            </a:r>
            <a:r>
              <a:rPr lang="zh-CN" sz="2700" b="0">
                <a:ea typeface="黑体" panose="02010609060101010101" charset="-122"/>
              </a:rPr>
              <a:t>，</a:t>
            </a: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4 N	D</a:t>
            </a:r>
            <a:r>
              <a:rPr lang="zh-CN" sz="2700" b="0">
                <a:ea typeface="黑体" panose="02010609060101010101" charset="-122"/>
              </a:rPr>
              <a:t>．</a:t>
            </a: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2 N</a:t>
            </a:r>
            <a:r>
              <a:rPr lang="zh-CN" sz="2700" b="0">
                <a:ea typeface="黑体" panose="02010609060101010101" charset="-122"/>
              </a:rPr>
              <a:t>，</a:t>
            </a:r>
            <a:r>
              <a:rPr lang="en-US" sz="2700" b="0">
                <a:latin typeface="Times New Roman" panose="02020603050405020304" charset="0"/>
                <a:ea typeface="黑体" panose="02010609060101010101" charset="-122"/>
              </a:rPr>
              <a:t>2 N</a:t>
            </a:r>
            <a:endParaRPr lang="en-US" altLang="en-US" sz="2700" b="0">
              <a:latin typeface="Times New Roman" panose="02020603050405020304" charset="0"/>
              <a:ea typeface="黑体" panose="02010609060101010101" charset="-122"/>
            </a:endParaRPr>
          </a:p>
        </p:txBody>
      </p:sp>
      <p:sp>
        <p:nvSpPr>
          <p:cNvPr id="7" name="文本框 6"/>
          <p:cNvSpPr txBox="1"/>
          <p:nvPr>
            <p:custDataLst>
              <p:tags r:id="rId3"/>
            </p:custDataLst>
          </p:nvPr>
        </p:nvSpPr>
        <p:spPr>
          <a:xfrm>
            <a:off x="5735955" y="1137920"/>
            <a:ext cx="719455" cy="5518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800" b="1">
                <a:solidFill>
                  <a:srgbClr val="FF0000"/>
                </a:solidFill>
                <a:latin typeface="Times New Roman" panose="02020603050405020304" charset="0"/>
                <a:ea typeface="思源黑体 CN Light" panose="020B0400000000000000" pitchFamily="34" charset="-122"/>
                <a:cs typeface="Times New Roman" panose="02020603050405020304" charset="0"/>
              </a:rPr>
              <a:t>D</a:t>
            </a:r>
          </a:p>
        </p:txBody>
      </p:sp>
      <p:pic>
        <p:nvPicPr>
          <p:cNvPr id="100005" name="图片 10000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3233420" y="3484880"/>
            <a:ext cx="5993765" cy="189166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文本框 107"/>
          <p:cNvSpPr txBox="1"/>
          <p:nvPr>
            <p:custDataLst>
              <p:tags r:id="rId2"/>
            </p:custDataLst>
          </p:nvPr>
        </p:nvSpPr>
        <p:spPr>
          <a:xfrm>
            <a:off x="342265" y="383540"/>
            <a:ext cx="11431905" cy="2112645"/>
          </a:xfrm>
          <a:prstGeom prst="rect">
            <a:avLst/>
          </a:prstGeom>
          <a:noFill/>
          <a:ln w="9525">
            <a:noFill/>
          </a:ln>
        </p:spPr>
        <p:txBody>
          <a:bodyPr>
            <a:noAutofit/>
          </a:bodyPr>
          <a:lstStyle/>
          <a:p>
            <a:pPr indent="0">
              <a:lnSpc>
                <a:spcPct val="150000"/>
              </a:lnSpc>
            </a:pP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3</a:t>
            </a:r>
            <a:r>
              <a:rPr lang="zh-CN" sz="2800" b="0">
                <a:ea typeface="黑体" panose="02010609060101010101" charset="-122"/>
              </a:rPr>
              <a:t>．一轻质弹簧的长度和弹力大小的关系如图所示，根据图像判断，下列结论正确的是（　　）</a:t>
            </a:r>
            <a:endParaRPr lang="en-US" sz="2800" b="0">
              <a:latin typeface="Times New Roman" panose="02020603050405020304" charset="0"/>
              <a:ea typeface="黑体" panose="02010609060101010101" charset="-122"/>
            </a:endParaRPr>
          </a:p>
          <a:p>
            <a:pPr indent="0">
              <a:lnSpc>
                <a:spcPct val="150000"/>
              </a:lnSpc>
            </a:pP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A</a:t>
            </a:r>
            <a:r>
              <a:rPr lang="zh-CN" sz="2800" b="0">
                <a:ea typeface="黑体" panose="02010609060101010101" charset="-122"/>
              </a:rPr>
              <a:t>．弹簧的劲度系数为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1N/m	</a:t>
            </a:r>
          </a:p>
          <a:p>
            <a:pPr indent="0">
              <a:lnSpc>
                <a:spcPct val="150000"/>
              </a:lnSpc>
            </a:pP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B</a:t>
            </a:r>
            <a:r>
              <a:rPr lang="zh-CN" sz="2800" b="0">
                <a:ea typeface="黑体" panose="02010609060101010101" charset="-122"/>
              </a:rPr>
              <a:t>．弹簧的劲度系数为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100N/m</a:t>
            </a:r>
          </a:p>
          <a:p>
            <a:pPr indent="0">
              <a:lnSpc>
                <a:spcPct val="150000"/>
              </a:lnSpc>
            </a:pP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C</a:t>
            </a:r>
            <a:r>
              <a:rPr lang="zh-CN" sz="2800" b="0">
                <a:ea typeface="黑体" panose="02010609060101010101" charset="-122"/>
              </a:rPr>
              <a:t>．弹簧的原长为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8cm	</a:t>
            </a:r>
          </a:p>
          <a:p>
            <a:pPr indent="0">
              <a:lnSpc>
                <a:spcPct val="150000"/>
              </a:lnSpc>
            </a:pP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D</a:t>
            </a:r>
            <a:r>
              <a:rPr lang="zh-CN" sz="2800" b="0">
                <a:ea typeface="黑体" panose="02010609060101010101" charset="-122"/>
              </a:rPr>
              <a:t>．弹簧伸长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0.2m</a:t>
            </a:r>
            <a:r>
              <a:rPr lang="zh-CN" sz="2800" b="0">
                <a:ea typeface="黑体" panose="02010609060101010101" charset="-122"/>
              </a:rPr>
              <a:t>时，弹力的大小为</a:t>
            </a:r>
            <a:r>
              <a:rPr lang="en-US" sz="2800" b="0">
                <a:latin typeface="Times New Roman" panose="02020603050405020304" charset="0"/>
                <a:ea typeface="黑体" panose="02010609060101010101" charset="-122"/>
              </a:rPr>
              <a:t>4N</a:t>
            </a:r>
            <a:endParaRPr lang="en-US" altLang="en-US" sz="2800" b="0">
              <a:latin typeface="Times New Roman" panose="02020603050405020304" charset="0"/>
              <a:ea typeface="黑体" panose="02010609060101010101" charset="-122"/>
            </a:endParaRPr>
          </a:p>
        </p:txBody>
      </p:sp>
      <p:sp>
        <p:nvSpPr>
          <p:cNvPr id="7" name="文本框 6"/>
          <p:cNvSpPr txBox="1"/>
          <p:nvPr>
            <p:custDataLst>
              <p:tags r:id="rId3"/>
            </p:custDataLst>
          </p:nvPr>
        </p:nvSpPr>
        <p:spPr>
          <a:xfrm>
            <a:off x="3085465" y="1163320"/>
            <a:ext cx="719455" cy="5518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800" b="1">
                <a:solidFill>
                  <a:srgbClr val="FF0000"/>
                </a:solidFill>
                <a:latin typeface="Times New Roman" panose="02020603050405020304" charset="0"/>
                <a:ea typeface="思源黑体 CN Light" panose="020B0400000000000000" pitchFamily="34" charset="-122"/>
                <a:cs typeface="Times New Roman" panose="02020603050405020304" charset="0"/>
              </a:rPr>
              <a:t>B</a:t>
            </a:r>
          </a:p>
        </p:txBody>
      </p:sp>
      <p:pic>
        <p:nvPicPr>
          <p:cNvPr id="100007" name="图片 100007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8154670" y="1304290"/>
            <a:ext cx="3350260" cy="288544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6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7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7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7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7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7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7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7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66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6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6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69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7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7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4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46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4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4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4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4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5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5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55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58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6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62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63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64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65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6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67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6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69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7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7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72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75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78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79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82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83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84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80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8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76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77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7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74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59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60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56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57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49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50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51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90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91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92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95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96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97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9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93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9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86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87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88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04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05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06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07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08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09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10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1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12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13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14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1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16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17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00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0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02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3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7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8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9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30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3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32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33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34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35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36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37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38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39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40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4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5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19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0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46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47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48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49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50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51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42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43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44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57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58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61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62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63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59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60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53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54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55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69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70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65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66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67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76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77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72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7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74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83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84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85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88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89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90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86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87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79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80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8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96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97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98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91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95"/>
  <p:tag name="KSO_WM_FULL_TEXT_BEAUTIFY_COPY_ID" val="21505"/>
  <p:tag name="KSO_WM_UNIT_TEXT_FILL_FORE_SCHEMECOLOR_INDEX" val="1"/>
  <p:tag name="KSO_WM_UNIT_TEXT_FILL_FORE_SCHEMECOLOR_INDEX_BRIGHTNESS" val="0"/>
  <p:tag name="KSO_WM_UNIT_TEXT_FILL_TYPE" val="1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92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93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94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02"/>
  <p:tag name="KSO_WM_UNIT_TABLE_BEAUTIFY" val="smartTable{c2329683-c299-466e-a556-7b3b968d513b}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04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00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0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02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10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11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12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15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16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13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14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06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07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08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91"/>
  <p:tag name="KSO_WM_FULL_TEXT_BEAUTIFY_COPY_ID" val="32818"/>
  <p:tag name="KSO_WM_UNIT_TABLE_BEAUTIFY" val="smartTable{e830effe-366c-4dee-a0ad-388360776c15}"/>
  <p:tag name="TABLE_ENDDRAG_ORIGIN_RECT" val="680*396"/>
  <p:tag name="TABLE_ENDDRAG_RECT" val="145*112*680*396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92"/>
  <p:tag name="KSO_WM_FULL_TEXT_BEAUTIFY_COPY_ID" val="32798"/>
  <p:tag name="KSO_WM_UNIT_TEXT_FILL_FORE_SCHEMECOLOR_INDEX" val="2"/>
  <p:tag name="KSO_WM_UNIT_TEXT_FILL_FORE_SCHEMECOLOR_INDEX_BRIGHTNESS" val="0"/>
  <p:tag name="KSO_WM_UNIT_TEXT_FILL_TYPE" val="1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93"/>
  <p:tag name="KSO_WM_FULL_TEXT_BEAUTIFY_COPY_ID" val="32799"/>
  <p:tag name="KSO_WM_UNIT_TEXT_FILL_FORE_SCHEMECOLOR_INDEX" val="2"/>
  <p:tag name="KSO_WM_UNIT_TEXT_FILL_FORE_SCHEMECOLOR_INDEX_BRIGHTNESS" val="0"/>
  <p:tag name="KSO_WM_UNIT_TEXT_FILL_TYPE" val="1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94"/>
  <p:tag name="KSO_WM_FULL_TEXT_BEAUTIFY_COPY_ID" val="32800"/>
  <p:tag name="KSO_WM_UNIT_TEXT_FILL_FORE_SCHEMECOLOR_INDEX" val="2"/>
  <p:tag name="KSO_WM_UNIT_TEXT_FILL_FORE_SCHEMECOLOR_INDEX_BRIGHTNESS" val="0"/>
  <p:tag name="KSO_WM_UNIT_TEXT_FILL_TYPE" val="1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95"/>
  <p:tag name="KSO_WM_FULL_TEXT_BEAUTIFY_COPY_ID" val="32801"/>
  <p:tag name="KSO_WM_UNIT_TEXT_FILL_FORE_SCHEMECOLOR_INDEX" val="2"/>
  <p:tag name="KSO_WM_UNIT_TEXT_FILL_FORE_SCHEMECOLOR_INDEX_BRIGHTNESS" val="0"/>
  <p:tag name="KSO_WM_UNIT_TEXT_FILL_TYPE" val="1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96"/>
  <p:tag name="KSO_WM_FULL_TEXT_BEAUTIFY_COPY_ID" val="32802"/>
  <p:tag name="KSO_WM_UNIT_TEXT_FILL_FORE_SCHEMECOLOR_INDEX" val="2"/>
  <p:tag name="KSO_WM_UNIT_TEXT_FILL_FORE_SCHEMECOLOR_INDEX_BRIGHTNESS" val="0"/>
  <p:tag name="KSO_WM_UNIT_TEXT_FILL_TYPE" val="1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97"/>
  <p:tag name="KSO_WM_FULL_TEXT_BEAUTIFY_COPY_ID" val="32803"/>
  <p:tag name="KSO_WM_UNIT_TEXT_FILL_FORE_SCHEMECOLOR_INDEX" val="2"/>
  <p:tag name="KSO_WM_UNIT_TEXT_FILL_FORE_SCHEMECOLOR_INDEX_BRIGHTNESS" val="0"/>
  <p:tag name="KSO_WM_UNIT_TEXT_FILL_TYPE" val="1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98"/>
  <p:tag name="KSO_WM_FULL_TEXT_BEAUTIFY_COPY_ID" val="32804"/>
  <p:tag name="KSO_WM_UNIT_TEXT_FILL_FORE_SCHEMECOLOR_INDEX" val="2"/>
  <p:tag name="KSO_WM_UNIT_TEXT_FILL_FORE_SCHEMECOLOR_INDEX_BRIGHTNESS" val="0"/>
  <p:tag name="KSO_WM_UNIT_TEXT_FILL_TYPE" val="1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99"/>
  <p:tag name="KSO_WM_FULL_TEXT_BEAUTIFY_COPY_ID" val="32805"/>
  <p:tag name="KSO_WM_UNIT_TEXT_FILL_FORE_SCHEMECOLOR_INDEX" val="2"/>
  <p:tag name="KSO_WM_UNIT_TEXT_FILL_FORE_SCHEMECOLOR_INDEX_BRIGHTNESS" val="0"/>
  <p:tag name="KSO_WM_UNIT_TEXT_FILL_TYPE" val="1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00"/>
  <p:tag name="KSO_WM_FULL_TEXT_BEAUTIFY_COPY_ID" val="3116"/>
  <p:tag name="KSO_WM_UNIT_TEXT_FILL_FORE_SCHEMECOLOR_INDEX" val="2"/>
  <p:tag name="KSO_WM_UNIT_TEXT_FILL_FORE_SCHEMECOLOR_INDEX_BRIGHTNESS" val="0"/>
  <p:tag name="KSO_WM_UNIT_TEXT_FILL_TYPE" val="1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39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18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19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20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26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27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28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29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30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31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32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33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34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35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36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37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38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39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40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43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44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41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42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23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24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36"/>
  <p:tag name="KSO_WM_BEAUTIFY_FLAG" val="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37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38"/>
  <p:tag name="KSO_WM_BEAUTIFY_FLAG" val=""/>
  <p:tag name="KSO_WM_UNIT_MEDIACOVER_BTN_POS" val="c"/>
  <p:tag name="KSO_WM_UNIT_MEDIACOVER_BTN_STATE" val="1"/>
  <p:tag name="KSO_WM_UNIT_MEDIACOVER_BTN_STYLE" val="ee0bc779c1f3d7f3e90c96344320e69a"/>
  <p:tag name="KSO_WM_UNIT_MEDIACOVER_RGB" val="000000"/>
  <p:tag name="KSO_WM_UNIT_MEDIACOVER_STYLEID" val="1"/>
  <p:tag name="KSO_WM_UNIT_MEDIACOVER_TEXT" val=""/>
  <p:tag name="KSO_WM_UNIT_MEDIACOVER_TEXTSTATE" val="0"/>
  <p:tag name="KSO_WM_UNIT_MEDIACOVER_TRANSPARENCY" val="0.5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39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40"/>
  <p:tag name="KSO_WM_BEAUTIFY_FLAG" val="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42"/>
  <p:tag name="KSO_WM_BEAUTIFY_FLAG" val="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43"/>
  <p:tag name="KSO_WM_BEAUTIFY_FLAG" val="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44"/>
  <p:tag name="KSO_WM_BEAUTIFY_FLAG" val=""/>
  <p:tag name="KSO_WM_UNIT_MEDIACOVER_BTN_POS" val="c"/>
  <p:tag name="KSO_WM_UNIT_MEDIACOVER_BTN_STATE" val="1"/>
  <p:tag name="KSO_WM_UNIT_MEDIACOVER_BTN_STYLE" val="ee0bc779c1f3d7f3e90c96344320e69a"/>
  <p:tag name="KSO_WM_UNIT_MEDIACOVER_RGB" val="000000"/>
  <p:tag name="KSO_WM_UNIT_MEDIACOVER_STYLEID" val="1"/>
  <p:tag name="KSO_WM_UNIT_MEDIACOVER_TEXT" val=""/>
  <p:tag name="KSO_WM_UNIT_MEDIACOVER_TEXTSTATE" val="0"/>
  <p:tag name="KSO_WM_UNIT_MEDIACOVER_TRANSPARENCY" val="0.5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45"/>
  <p:tag name="KSO_WM_BEAUTIFY_FLAG" val="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46"/>
  <p:tag name="KSO_WM_BEAUTIFY_FLAG" val="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7"/>
  <p:tag name="KSO_WM_UNIT_MEDIACOVER_BTN_POS" val="c"/>
  <p:tag name="KSO_WM_UNIT_MEDIACOVER_BTN_STATE" val="1"/>
  <p:tag name="KSO_WM_UNIT_MEDIACOVER_BTN_STYLE" val="ee0bc779c1f3d7f3e90c96344320e69a"/>
  <p:tag name="KSO_WM_UNIT_MEDIACOVER_RGB" val="000000"/>
  <p:tag name="KSO_WM_UNIT_MEDIACOVER_STYLEID" val="1"/>
  <p:tag name="KSO_WM_UNIT_MEDIACOVER_TEXT" val=""/>
  <p:tag name="KSO_WM_UNIT_MEDIACOVER_TEXTSTATE" val="0"/>
  <p:tag name="KSO_WM_UNIT_MEDIACOVER_TRANSPARENCY" val="0.5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8"/>
  <p:tag name="KSO_WM_BEAUTIFY_FLAG" val="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9"/>
  <p:tag name="KSO_WM_BEAUTIFY_FLAG" val="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10"/>
  <p:tag name="KSO_WM_BEAUTIFY_FLAG" val="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12"/>
  <p:tag name="KSO_WM_UNIT_MEDIACOVER_BTN_POS" val="c"/>
  <p:tag name="KSO_WM_UNIT_MEDIACOVER_BTN_STATE" val="1"/>
  <p:tag name="KSO_WM_UNIT_MEDIACOVER_BTN_STYLE" val="ee0bc779c1f3d7f3e90c96344320e69a"/>
  <p:tag name="KSO_WM_UNIT_MEDIACOVER_RGB" val="000000"/>
  <p:tag name="KSO_WM_UNIT_MEDIACOVER_STYLEID" val="1"/>
  <p:tag name="KSO_WM_UNIT_MEDIACOVER_TEXT" val=""/>
  <p:tag name="KSO_WM_UNIT_MEDIACOVER_TEXTSTATE" val="0"/>
  <p:tag name="KSO_WM_UNIT_MEDIACOVER_TRANSPARENCY" val="0.5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13"/>
  <p:tag name="KSO_WM_BEAUTIFY_FLAG" val="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14"/>
  <p:tag name="KSO_WM_BEAUTIFY_FLAG" val="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15"/>
  <p:tag name="KSO_WM_BEAUTIFY_FLAG" val="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17"/>
  <p:tag name="KSO_WM_UNIT_MEDIACOVER_BTN_POS" val="c"/>
  <p:tag name="KSO_WM_UNIT_MEDIACOVER_BTN_STATE" val="1"/>
  <p:tag name="KSO_WM_UNIT_MEDIACOVER_BTN_STYLE" val="ee0bc779c1f3d7f3e90c96344320e69a"/>
  <p:tag name="KSO_WM_UNIT_MEDIACOVER_RGB" val="000000"/>
  <p:tag name="KSO_WM_UNIT_MEDIACOVER_STYLEID" val="1"/>
  <p:tag name="KSO_WM_UNIT_MEDIACOVER_TEXT" val=""/>
  <p:tag name="KSO_WM_UNIT_MEDIACOVER_TEXTSTATE" val="0"/>
  <p:tag name="KSO_WM_UNIT_MEDIACOVER_TRANSPARENCY" val="0.5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18"/>
  <p:tag name="KSO_WM_BEAUTIFY_FLAG" val="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19"/>
  <p:tag name="KSO_WM_BEAUTIFY_FLAG" val="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21"/>
  <p:tag name="KSO_WM_UNIT_MEDIACOVER_BTN_POS" val="c"/>
  <p:tag name="KSO_WM_UNIT_MEDIACOVER_BTN_STATE" val="1"/>
  <p:tag name="KSO_WM_UNIT_MEDIACOVER_BTN_STYLE" val="ee0bc779c1f3d7f3e90c96344320e69a"/>
  <p:tag name="KSO_WM_UNIT_MEDIACOVER_RGB" val="000000"/>
  <p:tag name="KSO_WM_UNIT_MEDIACOVER_STYLEID" val="1"/>
  <p:tag name="KSO_WM_UNIT_MEDIACOVER_TEXT" val=""/>
  <p:tag name="KSO_WM_UNIT_MEDIACOVER_TEXTSTATE" val="0"/>
  <p:tag name="KSO_WM_UNIT_MEDIACOVER_TRANSPARENCY" val="0.5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22"/>
  <p:tag name="KSO_WM_BEAUTIFY_FLAG" val="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29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30"/>
  <p:tag name="KSO_WM_BEAUTIFY_FLAG" val="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31"/>
  <p:tag name="KSO_WM_BEAUTIFY_FLAG" val="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39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40"/>
  <p:tag name="KSO_WM_BEAUTIFY_FLAG" val="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41"/>
  <p:tag name="KSO_WM_BEAUTIFY_FLAG" val="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45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46"/>
  <p:tag name="KSO_WM_BEAUTIFY_FLAG" val="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47"/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and Chinese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功" id="{305D7A6B-F211-124E-A565-AFD60AE97881}" vid="{BCE79254-6837-AE48-BBE5-2699EE225D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主题​​</Template>
  <TotalTime>2</TotalTime>
  <Words>2593</Words>
  <Application>Microsoft Macintosh PowerPoint</Application>
  <PresentationFormat>Widescreen</PresentationFormat>
  <Paragraphs>246</Paragraphs>
  <Slides>29</Slides>
  <Notes>15</Notes>
  <HiddenSlides>0</HiddenSlides>
  <MMClips>6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1" baseType="lpstr">
      <vt:lpstr>汉仪宋韵朗黑W</vt:lpstr>
      <vt:lpstr>思源黑体 CN Bold</vt:lpstr>
      <vt:lpstr>楷体</vt:lpstr>
      <vt:lpstr>微软雅黑</vt:lpstr>
      <vt:lpstr>黑体</vt:lpstr>
      <vt:lpstr>宋体</vt:lpstr>
      <vt:lpstr>华文楷体</vt:lpstr>
      <vt:lpstr>Aptos</vt:lpstr>
      <vt:lpstr>Arial</vt:lpstr>
      <vt:lpstr>Times New Roman</vt:lpstr>
      <vt:lpstr>Wingdings</vt:lpstr>
      <vt:lpstr>Office 主题​​</vt:lpstr>
      <vt:lpstr>牛顿第三定律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弹力有无的判断 胡克定律</vt:lpstr>
      <vt:lpstr>PowerPoint Presentation</vt:lpstr>
      <vt:lpstr>PowerPoint Presentation</vt:lpstr>
      <vt:lpstr>PowerPoint Presentation</vt:lpstr>
      <vt:lpstr>PowerPoint Presentation</vt:lpstr>
      <vt:lpstr>实验发现，在弹性限度内，弹簧的弹力与伸长量成正比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Xingyu Shu</dc:creator>
  <cp:lastModifiedBy>Xingyu Shu</cp:lastModifiedBy>
  <cp:revision>2</cp:revision>
  <dcterms:created xsi:type="dcterms:W3CDTF">2026-10-14T02:45:37Z</dcterms:created>
  <dcterms:modified xsi:type="dcterms:W3CDTF">2026-10-14T02:47:38Z</dcterms:modified>
</cp:coreProperties>
</file>