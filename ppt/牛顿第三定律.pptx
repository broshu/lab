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2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3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4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5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6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7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8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9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10.xml" ContentType="application/vnd.openxmlformats-officedocument.presentationml.notesSlide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notesSlides/notesSlide11.xml" ContentType="application/vnd.openxmlformats-officedocument.presentationml.notesSlid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12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notesSlides/notesSlide13.xml" ContentType="application/vnd.openxmlformats-officedocument.presentationml.notesSlide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notesSlides/notesSlide14.xml" ContentType="application/vnd.openxmlformats-officedocument.presentationml.notesSlide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notesSlides/notesSlide15.xml" ContentType="application/vnd.openxmlformats-officedocument.presentationml.notesSlide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397" r:id="rId3"/>
    <p:sldId id="390" r:id="rId4"/>
    <p:sldId id="365" r:id="rId5"/>
    <p:sldId id="367" r:id="rId6"/>
    <p:sldId id="368" r:id="rId7"/>
    <p:sldId id="369" r:id="rId8"/>
    <p:sldId id="370" r:id="rId9"/>
    <p:sldId id="399" r:id="rId10"/>
    <p:sldId id="400" r:id="rId11"/>
    <p:sldId id="374" r:id="rId12"/>
    <p:sldId id="375" r:id="rId13"/>
    <p:sldId id="401" r:id="rId14"/>
    <p:sldId id="376" r:id="rId15"/>
    <p:sldId id="378" r:id="rId16"/>
    <p:sldId id="379" r:id="rId17"/>
    <p:sldId id="402" r:id="rId18"/>
    <p:sldId id="257" r:id="rId19"/>
    <p:sldId id="258" r:id="rId20"/>
    <p:sldId id="484" r:id="rId21"/>
    <p:sldId id="485" r:id="rId22"/>
    <p:sldId id="515" r:id="rId23"/>
    <p:sldId id="454" r:id="rId24"/>
    <p:sldId id="512" r:id="rId25"/>
    <p:sldId id="513" r:id="rId26"/>
    <p:sldId id="514" r:id="rId27"/>
    <p:sldId id="318" r:id="rId28"/>
    <p:sldId id="335" r:id="rId29"/>
    <p:sldId id="337" r:id="rId30"/>
    <p:sldId id="51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CA906-38A4-E64B-99EA-C80B6A9CDBD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6FCA60-0397-6940-BAA7-BC96C2030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65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slide" Target="../slides/slide2.xml"/><Relationship Id="rId4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slide" Target="../slides/slide3.xml"/><Relationship Id="rId4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slide" Target="../slides/slide4.xml"/><Relationship Id="rId4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5" Type="http://schemas.openxmlformats.org/officeDocument/2006/relationships/slide" Target="../slides/slide5.xml"/><Relationship Id="rId4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5" Type="http://schemas.openxmlformats.org/officeDocument/2006/relationships/slide" Target="../slides/slide6.xml"/><Relationship Id="rId4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5" Type="http://schemas.openxmlformats.org/officeDocument/2006/relationships/slide" Target="../slides/slide7.xml"/><Relationship Id="rId4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5" Type="http://schemas.openxmlformats.org/officeDocument/2006/relationships/slide" Target="../slides/slide8.xml"/><Relationship Id="rId4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5" Type="http://schemas.openxmlformats.org/officeDocument/2006/relationships/slide" Target="../slides/slide9.xml"/><Relationship Id="rId4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5" Type="http://schemas.openxmlformats.org/officeDocument/2006/relationships/slide" Target="../slides/slide10.xml"/><Relationship Id="rId4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5" Type="http://schemas.openxmlformats.org/officeDocument/2006/relationships/slide" Target="../slides/slide11.xml"/><Relationship Id="rId4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5" Type="http://schemas.openxmlformats.org/officeDocument/2006/relationships/slide" Target="../slides/slide12.xml"/><Relationship Id="rId4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5" Type="http://schemas.openxmlformats.org/officeDocument/2006/relationships/slide" Target="../slides/slide13.xml"/><Relationship Id="rId4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5" Type="http://schemas.openxmlformats.org/officeDocument/2006/relationships/slide" Target="../slides/slide14.xml"/><Relationship Id="rId4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5" Type="http://schemas.openxmlformats.org/officeDocument/2006/relationships/slide" Target="../slides/slide15.xml"/><Relationship Id="rId4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4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我们首先看两个现象，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1、拿鸡蛋去碰石头，鸡蛋给石头一个力的作用F1 ，可是鸡蛋却破了。这个现象说明石头同时也给了鸡蛋一个力的作用 F2 。鸡蛋和石头之间的力的作用是相互的。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2、穿旱冰鞋的人使劲推桌子，给了桌子一个力的作用F1 ，可是人却后退了。这个现象说明桌子同时也给了人一个力的作用 F2 。人和桌子之间也有相互作用力。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你还能列举生活中的例子说明物体间力的作用是相互的。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445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     这样的例子有很多，我们看这几个例子。</a:t>
            </a:r>
          </a:p>
          <a:p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    人划船时，桨向后推水，水就向前推桨，使船前进。桨和水之间力的作用是相互的。</a:t>
            </a:r>
          </a:p>
          <a:p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    地球吸引卫星，卫星也吸引地球。地球和卫星之间有相互作用的吸引力。</a:t>
            </a:r>
          </a:p>
          <a:p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   汽车驱动轮向后推地面，地面就给车轮一个向前的力，使汽车前进。车轮和地面之间有相互作用力。</a:t>
            </a:r>
          </a:p>
          <a:p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    磁悬浮地球仪的地球仪和底座之间也有相互作用的排斥力。</a:t>
            </a:r>
          </a:p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   大量的观察和实验的结果表明，当一个物体对另一个物体施加力的作用时，后一个物体对前一个物体也施加了力的作用。物体间力的作用是相互的。物体间相互作用的这一对力，通常叫做作用力与反作用力</a:t>
            </a:r>
          </a:p>
          <a:p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    早在17世纪，伟大的物理学家牛顿就对其进行仔细地观察和深入的研究，得出了著名的牛顿第三定律。今天我们也试着来分析研究作用力与反作用力的关系。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z="1200" b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大家仔细观察刚才我们举的例子，总结关于作用力和反作用力的特点。  我们可以从力的大小、方向、作用点、力的种类这几方面考虑。 </a:t>
            </a:r>
          </a:p>
          <a:p>
            <a:r>
              <a:rPr lang="zh-CN" altLang="en-US" sz="1200" b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</a:p>
          <a:p>
            <a:r>
              <a:rPr lang="zh-CN" altLang="en-US" sz="1200" b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有的同学说了，从这些现象中，我们可以看出他们总是作用在一条直线上，而且方向相反。还可以看出，作用力与反作用力总是作用在两个物体上，仔细分析，也不难发现，作用力与反作用力都是同一种类的力。鸡蛋和石头之间的相互作用力是弹力，地球和卫星之间的相互作用力都是引力、车轮给地面的和地面给车轮的力都是摩擦力、地球仪和底座之间的相互作用力则都是电磁力。</a:t>
            </a:r>
          </a:p>
          <a:p>
            <a:endParaRPr lang="zh-CN" altLang="en-US" sz="1200" b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200" b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那么，作用力与反作用力的大小有什么关系呢？通过观察，我们能定量得到力的大小之间关系吗？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      那么我们如何进行实验测量呢？选择什么样的物体作为我们的研究对象？需要测量哪些物理量？如何进行测量呢？选择什么测量工具呢？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      大家可以试着设计自己的实验方案。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      每个同学的设计可能都不完全一样。有的同学这样来进行实验。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/>
              <a:t>       我们一起看这个实验方案，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/>
              <a:t>       在这个实验设计中，研究对象选择两个弹簧测力计之间的相互作用力，实验装置如图所示，在这个实验中，需要测量的物理量分别是B对A的拉力和A对B的拉力。测量工具显然就是弹簧测力计本身了。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b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/>
              <a:t>      大家仔细体会这个实验设计的巧妙，把测量工具和相互作用的物体统一起来，使得实验装置本身很简单，小实验体现了大道理。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/>
              <a:t>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/>
              <a:t>      我们一起看看实验现象吧。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b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      大家仔细观察，手拉弹簧秤A，使力逐渐增大，两个弹簧秤的指针同时移动。暂停，读数，两个弹簧秤的示数都是1.70牛 , 加大拉力，再次读数，两个弹簧秤的示数都是2.50牛，再加大拉力，读数，两个弹簧秤的示数都是4.00牛。 从实验数据可以看出，在这三个时刻，作用力与反作用力大小相等。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      那么，是不是时时刻刻作用力和反作用力的大小都有这样的关系呢？为了清楚地知道时时刻刻作用力和反作用力的大小关系，我们换用更精密的且能实时记录力的变化的仪器—力传感器来进行实验。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这就是我们使用的力传感器，可以实时测量力的大小和方向，并且通过电脑描绘出力随时间的变化图像。我们先演示一下物体处于静止状态时的情形，大家注意观察。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这就是我们使用的力传感器，可以实时测量力的大小和方向，并且通过电脑描绘出力随时间的变化图像。我们先演示一下物体处于静止状态时的情形，大家注意观察。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81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这就是我们使用的力传感器，可以实时测量力的大小和方向，并且通过电脑描绘出力随时间的变化图像。我们先演示一下物体处于静止状态时的情形，大家注意观察。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242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通过前面的定性分析和定量研究，我们得到了作用力与反作用力的特点，有……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那么，你能用一句话，把这些特点概括起来吗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   在很早之前，牛顿经过研究指出：两个物体之间的作用力和反作用力总是大小相等，方向相反，作用在同一条直线上。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   总是---代表的是无论什么时间、什么位置、什么运动状态，什么种类的力都满足这样的特点。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   大家想一想，这一句话是不是就把前面我们得出的相互作用力的特点都概括了呢？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这就是著名的牛顿第三定律。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200" b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    当然，不是我们今天这么几个实验，就可以得出牛顿第三定律的，牛顿第三定律的得出经历了漫长的历史过程，在整个过程中，科学家通过对大量现象进行观察，猜想、验证、归纳 ，这才形成我们今天看到的牛顿第三定律，他看似简单，但他是连接一个物体受到的力与其他物体受到的力的桥梁，有了它就会把研究对象从一个物体扩展到多个物体，拓宽了分析问题的思路。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 lvl="0">
              <a:defRPr/>
            </a:pPr>
            <a:r>
              <a:rPr lang="zh-CN" altLang="en-US"/>
              <a:t>      知道了作用力和反作用力之间的关系，我们来回顾一下这两个现象，大家思考</a:t>
            </a:r>
          </a:p>
          <a:p>
            <a:pPr lvl="0">
              <a:defRPr/>
            </a:pPr>
            <a:r>
              <a:rPr lang="zh-CN" altLang="en-US"/>
              <a:t>     1、拿鸡蛋去碰石头，可是鸡蛋却破了。那么他们施加给对方的力依然大小相等吗？</a:t>
            </a:r>
          </a:p>
          <a:p>
            <a:pPr lvl="0">
              <a:defRPr/>
            </a:pPr>
            <a:r>
              <a:rPr lang="zh-CN" altLang="en-US"/>
              <a:t>     2、穿旱冰鞋的人使劲推桌子，可是自己却后退了。那么他们施加给对方的力，大小相等吗？</a:t>
            </a:r>
          </a:p>
          <a:p>
            <a:pPr lvl="0">
              <a:defRPr/>
            </a:pPr>
            <a:endParaRPr lang="zh-CN" altLang="en-US"/>
          </a:p>
          <a:p>
            <a:pPr lvl="0">
              <a:defRPr/>
            </a:pPr>
            <a:r>
              <a:rPr lang="zh-CN" altLang="en-US"/>
              <a:t>      答案是肯定的，因为他们是相互作用力，等大反向共线。</a:t>
            </a:r>
          </a:p>
          <a:p>
            <a:pPr lvl="0">
              <a:defRPr/>
            </a:pPr>
            <a:r>
              <a:rPr lang="zh-CN" altLang="en-US"/>
              <a:t>      可是有的同学还是有点疑惑。我们一起看看。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850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 lvl="0">
              <a:defRPr/>
            </a:pPr>
            <a:r>
              <a:rPr lang="zh-CN" altLang="en-US"/>
              <a:t>      知道了作用力和反作用力之间的关系，我们来回顾一下这两个现象，大家思考</a:t>
            </a:r>
          </a:p>
          <a:p>
            <a:pPr lvl="0">
              <a:defRPr/>
            </a:pPr>
            <a:r>
              <a:rPr lang="zh-CN" altLang="en-US"/>
              <a:t>     1、拿鸡蛋去碰石头，可是鸡蛋却破了。那么他们施加给对方的力依然大小相等吗？</a:t>
            </a:r>
          </a:p>
          <a:p>
            <a:pPr lvl="0">
              <a:defRPr/>
            </a:pPr>
            <a:r>
              <a:rPr lang="zh-CN" altLang="en-US"/>
              <a:t>     2、穿旱冰鞋的人使劲推桌子，可是自己却后退了。那么他们施加给对方的力，大小相等吗？</a:t>
            </a:r>
          </a:p>
          <a:p>
            <a:pPr lvl="0">
              <a:defRPr/>
            </a:pPr>
            <a:endParaRPr lang="zh-CN" altLang="en-US"/>
          </a:p>
          <a:p>
            <a:pPr lvl="0">
              <a:defRPr/>
            </a:pPr>
            <a:r>
              <a:rPr lang="zh-CN" altLang="en-US"/>
              <a:t>      答案是肯定的，因为他们是相互作用力，等大反向共线。</a:t>
            </a:r>
          </a:p>
          <a:p>
            <a:pPr lvl="0">
              <a:defRPr/>
            </a:pPr>
            <a:r>
              <a:rPr lang="zh-CN" altLang="en-US"/>
              <a:t>      可是有的同学还是有点疑惑。我们一起看看。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b="0"/>
              <a:t>     我们一起回忆一下，什么是平衡力，</a:t>
            </a:r>
          </a:p>
          <a:p>
            <a:r>
              <a:rPr lang="zh-CN" altLang="en-US" b="0"/>
              <a:t>    作用在同一物体上的两个力，如果大小相等、方向相反，并且在同一直线上，这两个力就彼此平衡。</a:t>
            </a:r>
          </a:p>
          <a:p>
            <a:r>
              <a:rPr lang="zh-CN" altLang="en-US" b="0"/>
              <a:t>   平衡力和相互作用力的主要区别是，平衡力作用在同一个物体上，相互作用力作用在不同的物体上。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请你画出台秤对物体支持力的反作用力和平衡力。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200" b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台秤对物体支持力的反作用力是 物体对台秤的压力，平衡力是物体的重力。你做对了吗？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200" b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分析这一对相互作用力和平衡力并 结合他们各自的定义，请你总结相互作用力和平衡力的异同点，并完成下列表格。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200" b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200" b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>
            <p:custDataLst>
              <p:tags r:id="rId1"/>
            </p:custDataLst>
          </p:nvPr>
        </p:nvGrpSpPr>
        <p:grpSpPr>
          <a:xfrm>
            <a:off x="0" y="3395980"/>
            <a:ext cx="3742690" cy="3462020"/>
            <a:chOff x="0" y="5348"/>
            <a:chExt cx="5894" cy="5452"/>
          </a:xfrm>
        </p:grpSpPr>
        <p:sp>
          <p:nvSpPr>
            <p:cNvPr id="22" name="直角三角形 21"/>
            <p:cNvSpPr/>
            <p:nvPr userDrawn="1">
              <p:custDataLst>
                <p:tags r:id="rId9"/>
              </p:custDataLst>
            </p:nvPr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3" name="直角三角形 22"/>
            <p:cNvSpPr/>
            <p:nvPr userDrawn="1">
              <p:custDataLst>
                <p:tags r:id="rId10"/>
              </p:custDataLst>
            </p:nvPr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4" name="直角三角形 23"/>
            <p:cNvSpPr/>
            <p:nvPr userDrawn="1">
              <p:custDataLst>
                <p:tags r:id="rId11"/>
              </p:custDataLst>
            </p:nvPr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5" name="直角三角形 24"/>
            <p:cNvSpPr/>
            <p:nvPr userDrawn="1">
              <p:custDataLst>
                <p:tags r:id="rId12"/>
              </p:custDataLst>
            </p:nvPr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6" name="直角三角形 25"/>
            <p:cNvSpPr/>
            <p:nvPr userDrawn="1">
              <p:custDataLst>
                <p:tags r:id="rId13"/>
              </p:custDataLst>
            </p:nvPr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7" name="直角三角形 26"/>
            <p:cNvSpPr/>
            <p:nvPr userDrawn="1">
              <p:custDataLst>
                <p:tags r:id="rId14"/>
              </p:custDataLst>
            </p:nvPr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  <p:grpSp>
        <p:nvGrpSpPr>
          <p:cNvPr id="28" name="组合 27"/>
          <p:cNvGrpSpPr/>
          <p:nvPr userDrawn="1">
            <p:custDataLst>
              <p:tags r:id="rId2"/>
            </p:custDataLst>
          </p:nvPr>
        </p:nvGrpSpPr>
        <p:grpSpPr>
          <a:xfrm flipH="1" flipV="1">
            <a:off x="8449310" y="0"/>
            <a:ext cx="3742690" cy="3462020"/>
            <a:chOff x="0" y="5348"/>
            <a:chExt cx="5894" cy="5452"/>
          </a:xfrm>
        </p:grpSpPr>
        <p:sp>
          <p:nvSpPr>
            <p:cNvPr id="29" name="直角三角形 28"/>
            <p:cNvSpPr/>
            <p:nvPr userDrawn="1">
              <p:custDataLst>
                <p:tags r:id="rId3"/>
              </p:custDataLst>
            </p:nvPr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0" name="直角三角形 29"/>
            <p:cNvSpPr/>
            <p:nvPr userDrawn="1">
              <p:custDataLst>
                <p:tags r:id="rId4"/>
              </p:custDataLst>
            </p:nvPr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1" name="直角三角形 30"/>
            <p:cNvSpPr/>
            <p:nvPr userDrawn="1">
              <p:custDataLst>
                <p:tags r:id="rId5"/>
              </p:custDataLst>
            </p:nvPr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2" name="直角三角形 31"/>
            <p:cNvSpPr/>
            <p:nvPr userDrawn="1">
              <p:custDataLst>
                <p:tags r:id="rId6"/>
              </p:custDataLst>
            </p:nvPr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3" name="直角三角形 32"/>
            <p:cNvSpPr/>
            <p:nvPr userDrawn="1">
              <p:custDataLst>
                <p:tags r:id="rId7"/>
              </p:custDataLst>
            </p:nvPr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4" name="直角三角形 33"/>
            <p:cNvSpPr/>
            <p:nvPr userDrawn="1">
              <p:custDataLst>
                <p:tags r:id="rId8"/>
              </p:custDataLst>
            </p:nvPr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046479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5.xml"/><Relationship Id="rId7" Type="http://schemas.openxmlformats.org/officeDocument/2006/relationships/notesSlide" Target="../notesSlides/notesSlide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33.xml"/><Relationship Id="rId18" Type="http://schemas.openxmlformats.org/officeDocument/2006/relationships/tags" Target="../tags/tag38.xml"/><Relationship Id="rId26" Type="http://schemas.openxmlformats.org/officeDocument/2006/relationships/tags" Target="../tags/tag46.xml"/><Relationship Id="rId21" Type="http://schemas.openxmlformats.org/officeDocument/2006/relationships/tags" Target="../tags/tag41.xml"/><Relationship Id="rId34" Type="http://schemas.openxmlformats.org/officeDocument/2006/relationships/notesSlide" Target="../notesSlides/notesSlide2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5" Type="http://schemas.openxmlformats.org/officeDocument/2006/relationships/tags" Target="../tags/tag45.xml"/><Relationship Id="rId33" Type="http://schemas.openxmlformats.org/officeDocument/2006/relationships/slideLayout" Target="../slideLayouts/slideLayout2.xml"/><Relationship Id="rId38" Type="http://schemas.openxmlformats.org/officeDocument/2006/relationships/image" Target="../media/image5.jpeg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tags" Target="../tags/tag40.xml"/><Relationship Id="rId29" Type="http://schemas.openxmlformats.org/officeDocument/2006/relationships/tags" Target="../tags/tag49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24" Type="http://schemas.openxmlformats.org/officeDocument/2006/relationships/tags" Target="../tags/tag44.xml"/><Relationship Id="rId32" Type="http://schemas.openxmlformats.org/officeDocument/2006/relationships/tags" Target="../tags/tag52.xml"/><Relationship Id="rId37" Type="http://schemas.openxmlformats.org/officeDocument/2006/relationships/image" Target="../media/image4.jpeg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23" Type="http://schemas.openxmlformats.org/officeDocument/2006/relationships/tags" Target="../tags/tag43.xml"/><Relationship Id="rId28" Type="http://schemas.openxmlformats.org/officeDocument/2006/relationships/tags" Target="../tags/tag48.xml"/><Relationship Id="rId36" Type="http://schemas.openxmlformats.org/officeDocument/2006/relationships/image" Target="../media/image3.jpeg"/><Relationship Id="rId10" Type="http://schemas.openxmlformats.org/officeDocument/2006/relationships/tags" Target="../tags/tag30.xml"/><Relationship Id="rId19" Type="http://schemas.openxmlformats.org/officeDocument/2006/relationships/tags" Target="../tags/tag39.xml"/><Relationship Id="rId31" Type="http://schemas.openxmlformats.org/officeDocument/2006/relationships/tags" Target="../tags/tag51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Relationship Id="rId22" Type="http://schemas.openxmlformats.org/officeDocument/2006/relationships/tags" Target="../tags/tag42.xml"/><Relationship Id="rId27" Type="http://schemas.openxmlformats.org/officeDocument/2006/relationships/tags" Target="../tags/tag47.xml"/><Relationship Id="rId30" Type="http://schemas.openxmlformats.org/officeDocument/2006/relationships/tags" Target="../tags/tag50.xml"/><Relationship Id="rId35" Type="http://schemas.openxmlformats.org/officeDocument/2006/relationships/image" Target="../media/image2.gif"/><Relationship Id="rId8" Type="http://schemas.openxmlformats.org/officeDocument/2006/relationships/tags" Target="../tags/tag28.xml"/><Relationship Id="rId3" Type="http://schemas.openxmlformats.org/officeDocument/2006/relationships/tags" Target="../tags/tag2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60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9.xml"/><Relationship Id="rId9" Type="http://schemas.openxmlformats.org/officeDocument/2006/relationships/tags" Target="../tags/tag6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tags" Target="../tags/tag80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image" Target="../media/image6.tiff"/><Relationship Id="rId2" Type="http://schemas.openxmlformats.org/officeDocument/2006/relationships/tags" Target="../tags/tag69.xml"/><Relationship Id="rId16" Type="http://schemas.openxmlformats.org/officeDocument/2006/relationships/notesSlide" Target="../notesSlides/notesSlide4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5" Type="http://schemas.openxmlformats.org/officeDocument/2006/relationships/tags" Target="../tags/tag72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77.xml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tags" Target="../tags/tag97.xml"/><Relationship Id="rId18" Type="http://schemas.openxmlformats.org/officeDocument/2006/relationships/tags" Target="../tags/tag102.xml"/><Relationship Id="rId3" Type="http://schemas.openxmlformats.org/officeDocument/2006/relationships/tags" Target="../tags/tag87.xml"/><Relationship Id="rId21" Type="http://schemas.openxmlformats.org/officeDocument/2006/relationships/image" Target="../media/image7.png"/><Relationship Id="rId7" Type="http://schemas.openxmlformats.org/officeDocument/2006/relationships/tags" Target="../tags/tag91.xml"/><Relationship Id="rId12" Type="http://schemas.openxmlformats.org/officeDocument/2006/relationships/tags" Target="../tags/tag96.xml"/><Relationship Id="rId17" Type="http://schemas.openxmlformats.org/officeDocument/2006/relationships/tags" Target="../tags/tag101.xml"/><Relationship Id="rId2" Type="http://schemas.openxmlformats.org/officeDocument/2006/relationships/tags" Target="../tags/tag86.xml"/><Relationship Id="rId16" Type="http://schemas.openxmlformats.org/officeDocument/2006/relationships/tags" Target="../tags/tag100.xml"/><Relationship Id="rId20" Type="http://schemas.openxmlformats.org/officeDocument/2006/relationships/notesSlide" Target="../notesSlides/notesSlide5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tags" Target="../tags/tag95.xml"/><Relationship Id="rId5" Type="http://schemas.openxmlformats.org/officeDocument/2006/relationships/tags" Target="../tags/tag89.xml"/><Relationship Id="rId15" Type="http://schemas.openxmlformats.org/officeDocument/2006/relationships/tags" Target="../tags/tag99.xml"/><Relationship Id="rId10" Type="http://schemas.openxmlformats.org/officeDocument/2006/relationships/tags" Target="../tags/tag94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tags" Target="../tags/tag9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tags" Target="../tags/tag109.xml"/><Relationship Id="rId11" Type="http://schemas.openxmlformats.org/officeDocument/2006/relationships/image" Target="../media/image8.png"/><Relationship Id="rId5" Type="http://schemas.openxmlformats.org/officeDocument/2006/relationships/tags" Target="../tags/tag108.xml"/><Relationship Id="rId10" Type="http://schemas.openxmlformats.org/officeDocument/2006/relationships/notesSlide" Target="../notesSlides/notesSlide6.xml"/><Relationship Id="rId4" Type="http://schemas.openxmlformats.org/officeDocument/2006/relationships/tags" Target="../tags/tag107.xml"/><Relationship Id="rId9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10" Type="http://schemas.openxmlformats.org/officeDocument/2006/relationships/image" Target="../media/image9.png"/><Relationship Id="rId4" Type="http://schemas.openxmlformats.org/officeDocument/2006/relationships/tags" Target="../tags/tag118.xml"/><Relationship Id="rId9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video" Target="../media/media3.mp4"/><Relationship Id="rId7" Type="http://schemas.openxmlformats.org/officeDocument/2006/relationships/image" Target="../media/image10.png"/><Relationship Id="rId2" Type="http://schemas.microsoft.com/office/2007/relationships/media" Target="../media/media3.mp4"/><Relationship Id="rId1" Type="http://schemas.openxmlformats.org/officeDocument/2006/relationships/tags" Target="../tags/tag125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video" Target="../media/media4.mp4"/><Relationship Id="rId7" Type="http://schemas.openxmlformats.org/officeDocument/2006/relationships/image" Target="../media/image11.png"/><Relationship Id="rId2" Type="http://schemas.microsoft.com/office/2007/relationships/media" Target="../media/media4.mp4"/><Relationship Id="rId1" Type="http://schemas.openxmlformats.org/officeDocument/2006/relationships/tags" Target="../tags/tag130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image" Target="../media/image12.png"/><Relationship Id="rId5" Type="http://schemas.openxmlformats.org/officeDocument/2006/relationships/tags" Target="../tags/tag139.xml"/><Relationship Id="rId10" Type="http://schemas.openxmlformats.org/officeDocument/2006/relationships/notesSlide" Target="../notesSlides/notesSlide10.xml"/><Relationship Id="rId4" Type="http://schemas.openxmlformats.org/officeDocument/2006/relationships/tags" Target="../tags/tag138.xml"/><Relationship Id="rId9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148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9" Type="http://schemas.openxmlformats.org/officeDocument/2006/relationships/image" Target="../media/image14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4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microsoft.com/office/2007/relationships/hdphoto" Target="../media/hdphoto1.wdp"/><Relationship Id="rId5" Type="http://schemas.openxmlformats.org/officeDocument/2006/relationships/tags" Target="../tags/tag163.xml"/><Relationship Id="rId10" Type="http://schemas.openxmlformats.org/officeDocument/2006/relationships/image" Target="../media/image15.png"/><Relationship Id="rId4" Type="http://schemas.openxmlformats.org/officeDocument/2006/relationships/tags" Target="../tags/tag162.xml"/><Relationship Id="rId9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76.xml"/><Relationship Id="rId13" Type="http://schemas.openxmlformats.org/officeDocument/2006/relationships/notesSlide" Target="../notesSlides/notesSlide14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11" Type="http://schemas.openxmlformats.org/officeDocument/2006/relationships/tags" Target="../tags/tag179.xml"/><Relationship Id="rId5" Type="http://schemas.openxmlformats.org/officeDocument/2006/relationships/tags" Target="../tags/tag173.xml"/><Relationship Id="rId10" Type="http://schemas.openxmlformats.org/officeDocument/2006/relationships/tags" Target="../tags/tag178.xml"/><Relationship Id="rId4" Type="http://schemas.openxmlformats.org/officeDocument/2006/relationships/tags" Target="../tags/tag172.xml"/><Relationship Id="rId9" Type="http://schemas.openxmlformats.org/officeDocument/2006/relationships/tags" Target="../tags/tag17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13" Type="http://schemas.openxmlformats.org/officeDocument/2006/relationships/tags" Target="../tags/tag195.xml"/><Relationship Id="rId18" Type="http://schemas.openxmlformats.org/officeDocument/2006/relationships/tags" Target="../tags/tag200.xml"/><Relationship Id="rId3" Type="http://schemas.openxmlformats.org/officeDocument/2006/relationships/tags" Target="../tags/tag185.xml"/><Relationship Id="rId21" Type="http://schemas.openxmlformats.org/officeDocument/2006/relationships/notesSlide" Target="../notesSlides/notesSlide15.xml"/><Relationship Id="rId7" Type="http://schemas.openxmlformats.org/officeDocument/2006/relationships/tags" Target="../tags/tag189.xml"/><Relationship Id="rId12" Type="http://schemas.openxmlformats.org/officeDocument/2006/relationships/tags" Target="../tags/tag194.xml"/><Relationship Id="rId17" Type="http://schemas.openxmlformats.org/officeDocument/2006/relationships/tags" Target="../tags/tag199.xml"/><Relationship Id="rId2" Type="http://schemas.openxmlformats.org/officeDocument/2006/relationships/tags" Target="../tags/tag184.xml"/><Relationship Id="rId16" Type="http://schemas.openxmlformats.org/officeDocument/2006/relationships/tags" Target="../tags/tag198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11" Type="http://schemas.openxmlformats.org/officeDocument/2006/relationships/tags" Target="../tags/tag193.xml"/><Relationship Id="rId5" Type="http://schemas.openxmlformats.org/officeDocument/2006/relationships/tags" Target="../tags/tag187.xml"/><Relationship Id="rId15" Type="http://schemas.openxmlformats.org/officeDocument/2006/relationships/tags" Target="../tags/tag197.xml"/><Relationship Id="rId10" Type="http://schemas.openxmlformats.org/officeDocument/2006/relationships/tags" Target="../tags/tag192.xml"/><Relationship Id="rId19" Type="http://schemas.openxmlformats.org/officeDocument/2006/relationships/tags" Target="../tags/tag201.xml"/><Relationship Id="rId4" Type="http://schemas.openxmlformats.org/officeDocument/2006/relationships/tags" Target="../tags/tag186.xml"/><Relationship Id="rId9" Type="http://schemas.openxmlformats.org/officeDocument/2006/relationships/tags" Target="../tags/tag191.xml"/><Relationship Id="rId14" Type="http://schemas.openxmlformats.org/officeDocument/2006/relationships/tags" Target="../tags/tag196.xml"/><Relationship Id="rId22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tags" Target="../tags/tag206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05.xml"/><Relationship Id="rId1" Type="http://schemas.openxmlformats.org/officeDocument/2006/relationships/tags" Target="../tags/tag204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9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tags" Target="../tags/tag212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9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tags" Target="../tags/tag220.xml"/><Relationship Id="rId6" Type="http://schemas.openxmlformats.org/officeDocument/2006/relationships/image" Target="../media/image24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tags" Target="../tags/tag224.xml"/><Relationship Id="rId4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28.xml"/><Relationship Id="rId1" Type="http://schemas.openxmlformats.org/officeDocument/2006/relationships/tags" Target="../tags/tag2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tags" Target="../tags/tag229.xml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3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" Type="http://schemas.openxmlformats.org/officeDocument/2006/relationships/tags" Target="../tags/tag233.xml"/><Relationship Id="rId6" Type="http://schemas.openxmlformats.org/officeDocument/2006/relationships/image" Target="../media/image26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3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tags" Target="../tags/tag237.xml"/><Relationship Id="rId6" Type="http://schemas.openxmlformats.org/officeDocument/2006/relationships/image" Target="../media/image27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4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vq4y1d7Lf/?spm_id_from=333.337.search-card.all.click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46C7-7EC5-2013-6EBC-EE70CF41A1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牛顿第三定律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64AEB1-A93B-B63E-E213-383B2B6E4E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Newton's Third Law</a:t>
            </a:r>
          </a:p>
        </p:txBody>
      </p:sp>
    </p:spTree>
    <p:extLst>
      <p:ext uri="{BB962C8B-B14F-4D97-AF65-F5344CB8AC3E}">
        <p14:creationId xmlns:p14="http://schemas.microsoft.com/office/powerpoint/2010/main" val="1681658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393bee282ecfb9d230942f797044734">
            <a:hlinkClick r:id="" action="ppaction://media"/>
          </p:cNvPr>
          <p:cNvPicPr>
            <a:picLocks noChangeAspect="1"/>
          </p:cNvPicPr>
          <p:nvPr>
            <a:videoFile r:link="rId2"/>
            <p:custDataLst>
              <p:tags r:id="rId3"/>
            </p:custDataLst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503881" y="1165778"/>
            <a:ext cx="7184238" cy="386106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BE19A01-5691-2578-EC7B-CF2C70A7F93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12806" y="69203"/>
            <a:ext cx="3172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新课导入</a:t>
            </a:r>
            <a:endParaRPr lang="zh-CN" altLang="en-US" sz="36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0924A8-0C58-6119-ED96-49D55E7239A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775534" y="5231735"/>
            <a:ext cx="103158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思考：你看到了哪些力？这些力有什么特点？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315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4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 noCrop="1"/>
          </p:cNvPicPr>
          <p:nvPr>
            <p:custDataLst>
              <p:tags r:id="rId1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flipH="1">
            <a:off x="6073036" y="3175208"/>
            <a:ext cx="2923534" cy="1682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44071" y="937194"/>
            <a:ext cx="3022346" cy="201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组合 2"/>
          <p:cNvGrpSpPr/>
          <p:nvPr>
            <p:custDataLst>
              <p:tags r:id="rId3"/>
            </p:custDataLst>
          </p:nvPr>
        </p:nvGrpSpPr>
        <p:grpSpPr>
          <a:xfrm>
            <a:off x="4113133" y="2556000"/>
            <a:ext cx="1460473" cy="517104"/>
            <a:chOff x="3430485" y="3320632"/>
            <a:chExt cx="1460473" cy="517104"/>
          </a:xfrm>
        </p:grpSpPr>
        <p:cxnSp>
          <p:nvCxnSpPr>
            <p:cNvPr id="30" name="直接箭头连接符 29"/>
            <p:cNvCxnSpPr/>
            <p:nvPr>
              <p:custDataLst>
                <p:tags r:id="rId31"/>
              </p:custDataLst>
            </p:nvPr>
          </p:nvCxnSpPr>
          <p:spPr>
            <a:xfrm flipH="1">
              <a:off x="3430485" y="3320632"/>
              <a:ext cx="900000" cy="0"/>
            </a:xfrm>
            <a:prstGeom prst="straightConnector1">
              <a:avLst/>
            </a:prstGeom>
            <a:ln w="47625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/>
            <p:cNvSpPr txBox="1"/>
            <p:nvPr>
              <p:custDataLst>
                <p:tags r:id="rId32"/>
              </p:custDataLst>
            </p:nvPr>
          </p:nvSpPr>
          <p:spPr>
            <a:xfrm>
              <a:off x="3851731" y="3376071"/>
              <a:ext cx="10392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4"/>
            </p:custDataLst>
          </p:nvPr>
        </p:nvGrpSpPr>
        <p:grpSpPr>
          <a:xfrm>
            <a:off x="3152418" y="2554264"/>
            <a:ext cx="918680" cy="536295"/>
            <a:chOff x="2420154" y="3301441"/>
            <a:chExt cx="918680" cy="536295"/>
          </a:xfrm>
        </p:grpSpPr>
        <p:cxnSp>
          <p:nvCxnSpPr>
            <p:cNvPr id="25" name="直接箭头连接符 24"/>
            <p:cNvCxnSpPr/>
            <p:nvPr>
              <p:custDataLst>
                <p:tags r:id="rId29"/>
              </p:custDataLst>
            </p:nvPr>
          </p:nvCxnSpPr>
          <p:spPr>
            <a:xfrm>
              <a:off x="2438834" y="3301441"/>
              <a:ext cx="900000" cy="0"/>
            </a:xfrm>
            <a:prstGeom prst="straightConnector1">
              <a:avLst/>
            </a:prstGeom>
            <a:ln w="47625">
              <a:solidFill>
                <a:srgbClr val="24B0FF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>
              <p:custDataLst>
                <p:tags r:id="rId30"/>
              </p:custDataLst>
            </p:nvPr>
          </p:nvSpPr>
          <p:spPr>
            <a:xfrm>
              <a:off x="2420154" y="3376071"/>
              <a:ext cx="8452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400" b="1" baseline="-2500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400" b="1" baseline="-250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文本框 26"/>
          <p:cNvSpPr txBox="1"/>
          <p:nvPr>
            <p:custDataLst>
              <p:tags r:id="rId5"/>
            </p:custDataLst>
          </p:nvPr>
        </p:nvSpPr>
        <p:spPr>
          <a:xfrm>
            <a:off x="7149427" y="4328796"/>
            <a:ext cx="845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baseline="-25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直接箭头连接符 45"/>
          <p:cNvCxnSpPr/>
          <p:nvPr>
            <p:custDataLst>
              <p:tags r:id="rId6"/>
            </p:custDataLst>
          </p:nvPr>
        </p:nvCxnSpPr>
        <p:spPr>
          <a:xfrm>
            <a:off x="7655785" y="4587197"/>
            <a:ext cx="601894" cy="333"/>
          </a:xfrm>
          <a:prstGeom prst="straightConnector1">
            <a:avLst/>
          </a:prstGeom>
          <a:ln w="47625">
            <a:solidFill>
              <a:srgbClr val="FF0000"/>
            </a:solidFill>
            <a:headEnd type="triangle"/>
            <a:tailEnd type="none"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>
            <p:custDataLst>
              <p:tags r:id="rId7"/>
            </p:custDataLst>
          </p:nvPr>
        </p:nvCxnSpPr>
        <p:spPr>
          <a:xfrm flipH="1">
            <a:off x="8257679" y="4587197"/>
            <a:ext cx="594120" cy="1"/>
          </a:xfrm>
          <a:prstGeom prst="straightConnector1">
            <a:avLst/>
          </a:prstGeom>
          <a:ln w="38100">
            <a:solidFill>
              <a:srgbClr val="00B0F0"/>
            </a:solidFill>
            <a:headEnd type="triangle"/>
            <a:tailEnd type="none"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>
            <p:custDataLst>
              <p:tags r:id="rId8"/>
            </p:custDataLst>
          </p:nvPr>
        </p:nvSpPr>
        <p:spPr>
          <a:xfrm>
            <a:off x="8514216" y="4144130"/>
            <a:ext cx="1039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baseline="-250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baseline="-2500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>
            <p:custDataLst>
              <p:tags r:id="rId9"/>
            </p:custDataLst>
          </p:nvPr>
        </p:nvSpPr>
        <p:spPr>
          <a:xfrm>
            <a:off x="1698619" y="5417617"/>
            <a:ext cx="90062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物体间相互作用的一对力，通常叫做</a:t>
            </a:r>
            <a:r>
              <a:rPr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作用力与反作用力</a:t>
            </a: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800" b="1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344066" y="83360"/>
            <a:ext cx="3172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概念生成</a:t>
            </a:r>
            <a:endParaRPr lang="zh-CN" altLang="en-US" sz="36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1"/>
            </p:custDataLst>
          </p:nvPr>
        </p:nvSpPr>
        <p:spPr>
          <a:xfrm>
            <a:off x="9114780" y="4325289"/>
            <a:ext cx="114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摩擦力</a:t>
            </a:r>
          </a:p>
        </p:txBody>
      </p: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1956957" y="2584909"/>
            <a:ext cx="751582" cy="36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弹力</a:t>
            </a:r>
          </a:p>
        </p:txBody>
      </p: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9096527" y="2657605"/>
            <a:ext cx="86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弹力</a:t>
            </a:r>
          </a:p>
        </p:txBody>
      </p:sp>
      <p:sp>
        <p:nvSpPr>
          <p:cNvPr id="7" name="文本框 6"/>
          <p:cNvSpPr txBox="1"/>
          <p:nvPr>
            <p:custDataLst>
              <p:tags r:id="rId14"/>
            </p:custDataLst>
          </p:nvPr>
        </p:nvSpPr>
        <p:spPr>
          <a:xfrm>
            <a:off x="1930412" y="4346587"/>
            <a:ext cx="80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引力</a:t>
            </a:r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539" y="3147733"/>
            <a:ext cx="2973416" cy="1822726"/>
          </a:xfrm>
          <a:prstGeom prst="rect">
            <a:avLst/>
          </a:prstGeom>
        </p:spPr>
      </p:pic>
      <p:grpSp>
        <p:nvGrpSpPr>
          <p:cNvPr id="36" name="组合 35"/>
          <p:cNvGrpSpPr/>
          <p:nvPr>
            <p:custDataLst>
              <p:tags r:id="rId16"/>
            </p:custDataLst>
          </p:nvPr>
        </p:nvGrpSpPr>
        <p:grpSpPr>
          <a:xfrm>
            <a:off x="3052153" y="3212446"/>
            <a:ext cx="947807" cy="584775"/>
            <a:chOff x="994299" y="2533611"/>
            <a:chExt cx="1401845" cy="824143"/>
          </a:xfrm>
        </p:grpSpPr>
        <p:cxnSp>
          <p:nvCxnSpPr>
            <p:cNvPr id="37" name="直接箭头连接符 36"/>
            <p:cNvCxnSpPr/>
            <p:nvPr>
              <p:custDataLst>
                <p:tags r:id="rId27"/>
              </p:custDataLst>
            </p:nvPr>
          </p:nvCxnSpPr>
          <p:spPr>
            <a:xfrm flipH="1">
              <a:off x="994299" y="3323881"/>
              <a:ext cx="1401845" cy="0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>
              <p:custDataLst>
                <p:tags r:id="rId28"/>
              </p:custDataLst>
            </p:nvPr>
          </p:nvSpPr>
          <p:spPr>
            <a:xfrm>
              <a:off x="1410210" y="2533611"/>
              <a:ext cx="860742" cy="8241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solidFill>
                    <a:srgbClr val="00B0F0"/>
                  </a:solidFill>
                </a:rPr>
                <a:t>F</a:t>
              </a:r>
              <a:r>
                <a:rPr lang="en-US" altLang="zh-CN" sz="3200" b="1" baseline="-25000">
                  <a:solidFill>
                    <a:srgbClr val="00B0F0"/>
                  </a:solidFill>
                </a:rPr>
                <a:t>1</a:t>
              </a:r>
              <a:endParaRPr lang="zh-CN" altLang="en-US" sz="3200" b="1" baseline="-25000">
                <a:solidFill>
                  <a:srgbClr val="00B0F0"/>
                </a:solidFill>
              </a:endParaRPr>
            </a:p>
          </p:txBody>
        </p:sp>
      </p:grpSp>
      <p:grpSp>
        <p:nvGrpSpPr>
          <p:cNvPr id="39" name="组合 38"/>
          <p:cNvGrpSpPr/>
          <p:nvPr>
            <p:custDataLst>
              <p:tags r:id="rId17"/>
            </p:custDataLst>
          </p:nvPr>
        </p:nvGrpSpPr>
        <p:grpSpPr>
          <a:xfrm>
            <a:off x="4071211" y="3212446"/>
            <a:ext cx="918355" cy="584775"/>
            <a:chOff x="3275860" y="2522055"/>
            <a:chExt cx="1358284" cy="824143"/>
          </a:xfrm>
        </p:grpSpPr>
        <p:cxnSp>
          <p:nvCxnSpPr>
            <p:cNvPr id="40" name="直接箭头连接符 39"/>
            <p:cNvCxnSpPr/>
            <p:nvPr>
              <p:custDataLst>
                <p:tags r:id="rId25"/>
              </p:custDataLst>
            </p:nvPr>
          </p:nvCxnSpPr>
          <p:spPr>
            <a:xfrm flipV="1">
              <a:off x="3275860" y="3323881"/>
              <a:ext cx="1358284" cy="887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/>
            <p:cNvSpPr txBox="1"/>
            <p:nvPr>
              <p:custDataLst>
                <p:tags r:id="rId26"/>
              </p:custDataLst>
            </p:nvPr>
          </p:nvSpPr>
          <p:spPr>
            <a:xfrm>
              <a:off x="3340259" y="2522055"/>
              <a:ext cx="980775" cy="8241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solidFill>
                    <a:srgbClr val="FF0000"/>
                  </a:solidFill>
                </a:rPr>
                <a:t>F</a:t>
              </a:r>
              <a:r>
                <a:rPr lang="en-US" altLang="zh-CN" sz="3200" b="1" baseline="-25000">
                  <a:solidFill>
                    <a:srgbClr val="FF0000"/>
                  </a:solidFill>
                </a:rPr>
                <a:t>2</a:t>
              </a:r>
              <a:endParaRPr lang="zh-CN" altLang="en-US" sz="3200" b="1" baseline="-25000">
                <a:solidFill>
                  <a:srgbClr val="FF0000"/>
                </a:solidFill>
              </a:endParaRPr>
            </a:p>
          </p:txBody>
        </p:sp>
      </p:grpSp>
      <p:pic>
        <p:nvPicPr>
          <p:cNvPr id="54" name="图片 53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296" y="1105229"/>
            <a:ext cx="2923534" cy="1847643"/>
          </a:xfrm>
          <a:prstGeom prst="rect">
            <a:avLst/>
          </a:prstGeom>
        </p:spPr>
      </p:pic>
      <p:grpSp>
        <p:nvGrpSpPr>
          <p:cNvPr id="55" name="组合 54"/>
          <p:cNvGrpSpPr/>
          <p:nvPr>
            <p:custDataLst>
              <p:tags r:id="rId19"/>
            </p:custDataLst>
          </p:nvPr>
        </p:nvGrpSpPr>
        <p:grpSpPr>
          <a:xfrm>
            <a:off x="6443840" y="1350007"/>
            <a:ext cx="974442" cy="595423"/>
            <a:chOff x="779129" y="2772981"/>
            <a:chExt cx="1401845" cy="729818"/>
          </a:xfrm>
        </p:grpSpPr>
        <p:cxnSp>
          <p:nvCxnSpPr>
            <p:cNvPr id="57" name="直接箭头连接符 56"/>
            <p:cNvCxnSpPr/>
            <p:nvPr>
              <p:custDataLst>
                <p:tags r:id="rId23"/>
              </p:custDataLst>
            </p:nvPr>
          </p:nvCxnSpPr>
          <p:spPr>
            <a:xfrm flipH="1">
              <a:off x="779129" y="3502799"/>
              <a:ext cx="1401845" cy="0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/>
            <p:cNvSpPr txBox="1"/>
            <p:nvPr>
              <p:custDataLst>
                <p:tags r:id="rId24"/>
              </p:custDataLst>
            </p:nvPr>
          </p:nvSpPr>
          <p:spPr>
            <a:xfrm>
              <a:off x="1043569" y="2772981"/>
              <a:ext cx="995286" cy="7167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solidFill>
                    <a:srgbClr val="00B0F0"/>
                  </a:solidFill>
                </a:rPr>
                <a:t>F</a:t>
              </a:r>
              <a:r>
                <a:rPr lang="en-US" altLang="zh-CN" sz="3200" b="1" baseline="-25000">
                  <a:solidFill>
                    <a:srgbClr val="00B0F0"/>
                  </a:solidFill>
                </a:rPr>
                <a:t>1</a:t>
              </a:r>
              <a:endParaRPr lang="zh-CN" altLang="en-US" sz="3200" b="1" baseline="-25000">
                <a:solidFill>
                  <a:srgbClr val="00B0F0"/>
                </a:solidFill>
              </a:endParaRPr>
            </a:p>
          </p:txBody>
        </p:sp>
      </p:grpSp>
      <p:grpSp>
        <p:nvGrpSpPr>
          <p:cNvPr id="59" name="组合 58"/>
          <p:cNvGrpSpPr/>
          <p:nvPr>
            <p:custDataLst>
              <p:tags r:id="rId20"/>
            </p:custDataLst>
          </p:nvPr>
        </p:nvGrpSpPr>
        <p:grpSpPr>
          <a:xfrm>
            <a:off x="7655785" y="1339658"/>
            <a:ext cx="944162" cy="584775"/>
            <a:chOff x="3244186" y="2768779"/>
            <a:chExt cx="1358284" cy="716766"/>
          </a:xfrm>
        </p:grpSpPr>
        <p:cxnSp>
          <p:nvCxnSpPr>
            <p:cNvPr id="60" name="直接箭头连接符 59"/>
            <p:cNvCxnSpPr/>
            <p:nvPr>
              <p:custDataLst>
                <p:tags r:id="rId21"/>
              </p:custDataLst>
            </p:nvPr>
          </p:nvCxnSpPr>
          <p:spPr>
            <a:xfrm flipV="1">
              <a:off x="3244186" y="3473779"/>
              <a:ext cx="1358284" cy="887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/>
            <p:cNvSpPr txBox="1"/>
            <p:nvPr>
              <p:custDataLst>
                <p:tags r:id="rId22"/>
              </p:custDataLst>
            </p:nvPr>
          </p:nvSpPr>
          <p:spPr>
            <a:xfrm>
              <a:off x="3369074" y="2768779"/>
              <a:ext cx="967782" cy="716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solidFill>
                    <a:srgbClr val="FF0000"/>
                  </a:solidFill>
                </a:rPr>
                <a:t>F</a:t>
              </a:r>
              <a:r>
                <a:rPr lang="en-US" altLang="zh-CN" sz="3200" b="1" baseline="-25000">
                  <a:solidFill>
                    <a:srgbClr val="FF0000"/>
                  </a:solidFill>
                </a:rPr>
                <a:t>2</a:t>
              </a:r>
              <a:endParaRPr lang="zh-CN" altLang="en-US" sz="3200" b="1" baseline="-250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  <p:cond evt="onBegin" delay="0">
                          <p:tn val="1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  <p:cond evt="onBegin" delay="0">
                          <p:tn val="16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  <p:cond evt="onBegin" delay="0">
                          <p:tn val="20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  <p:cond evt="onBegin" delay="0">
                          <p:tn val="25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  <p:cond evt="onBegin" delay="0">
                          <p:tn val="29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  <p:cond evt="onBegin" delay="0">
                          <p:tn val="33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  <p:cond evt="onBegin" delay="0">
                          <p:tn val="37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  <p:cond evt="onBegin" delay="0">
                          <p:tn val="41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  <p:cond evt="onBegin" delay="0">
                          <p:tn val="47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  <p:cond evt="onBegin" delay="0">
                          <p:tn val="53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  <p:cond evt="onBegin" delay="0">
                          <p:tn val="57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  <p:cond evt="onBegin" delay="0">
                          <p:tn val="61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  <p:cond evt="onBegin" delay="0">
                          <p:tn val="65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  <p:cond evt="onBegin" delay="0">
                          <p:tn val="69"/>
                        </p:cond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56" grpId="0"/>
      <p:bldP spid="31" grpId="0"/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775101" y="2239589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总结作用力和反作用力的特点</a:t>
            </a:r>
            <a:endParaRPr lang="zh-CN" altLang="en-US" sz="2400"/>
          </a:p>
        </p:txBody>
      </p:sp>
      <p:cxnSp>
        <p:nvCxnSpPr>
          <p:cNvPr id="14" name="直接连接符 13"/>
          <p:cNvCxnSpPr/>
          <p:nvPr>
            <p:custDataLst>
              <p:tags r:id="rId2"/>
            </p:custDataLst>
          </p:nvPr>
        </p:nvCxnSpPr>
        <p:spPr>
          <a:xfrm flipV="1">
            <a:off x="2574015" y="2084396"/>
            <a:ext cx="5556738" cy="23447"/>
          </a:xfrm>
          <a:prstGeom prst="line">
            <a:avLst/>
          </a:prstGeom>
          <a:ln w="12700">
            <a:solidFill>
              <a:srgbClr val="014E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2011304" y="1825799"/>
            <a:ext cx="445481" cy="469613"/>
            <a:chOff x="2121873" y="1511588"/>
            <a:chExt cx="445481" cy="469613"/>
          </a:xfrm>
        </p:grpSpPr>
        <p:sp>
          <p:nvSpPr>
            <p:cNvPr id="16" name="矩形 15"/>
            <p:cNvSpPr/>
            <p:nvPr>
              <p:custDataLst>
                <p:tags r:id="rId8"/>
              </p:custDataLst>
            </p:nvPr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E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9"/>
              </p:custDataLst>
            </p:nvPr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1784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4"/>
            </p:custDataLst>
          </p:nvPr>
        </p:nvSpPr>
        <p:spPr>
          <a:xfrm>
            <a:off x="2574016" y="1440230"/>
            <a:ext cx="55567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观察思考</a:t>
            </a:r>
          </a:p>
        </p:txBody>
      </p:sp>
      <p:sp>
        <p:nvSpPr>
          <p:cNvPr id="18" name="矩形 1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775101" y="2890792"/>
            <a:ext cx="5525402" cy="1027525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作用在同一条直线上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并且方向相反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作用在两个物体上</a:t>
            </a:r>
            <a:endParaRPr lang="en-US" altLang="zh-CN" sz="2400" b="1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266417" y="31125"/>
            <a:ext cx="3172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思考与讨论</a:t>
            </a:r>
            <a:endParaRPr lang="zh-CN" altLang="en-US" sz="36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2210540" y="4387578"/>
            <a:ext cx="7377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一对作用力和反作用力的大小有何特点？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810001" y="1292537"/>
            <a:ext cx="4224233" cy="523220"/>
          </a:xfrm>
          <a:prstGeom prst="rect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我们如何进行实验测量呢 </a:t>
            </a:r>
            <a:endParaRPr lang="en-US" altLang="zh-CN" sz="2800" b="1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2712160" y="2790224"/>
            <a:ext cx="450822" cy="46166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50000">
                <a:srgbClr val="014E6A"/>
              </a:gs>
              <a:gs pos="100000">
                <a:srgbClr val="014E6A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b="1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3447555" y="2782217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如何搭建实验装置</a:t>
            </a: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？</a:t>
            </a:r>
            <a:endParaRPr lang="en-US" altLang="zh-CN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>
            <p:custDataLst>
              <p:tags r:id="rId4"/>
            </p:custDataLst>
          </p:nvPr>
        </p:nvSpPr>
        <p:spPr>
          <a:xfrm>
            <a:off x="2712160" y="2176363"/>
            <a:ext cx="450822" cy="46166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50000">
                <a:srgbClr val="014E6A"/>
              </a:gs>
              <a:gs pos="100000">
                <a:srgbClr val="014E6A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>
            <p:custDataLst>
              <p:tags r:id="rId5"/>
            </p:custDataLst>
          </p:nvPr>
        </p:nvSpPr>
        <p:spPr>
          <a:xfrm>
            <a:off x="3437639" y="2172295"/>
            <a:ext cx="3416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我们的研究对象是什么</a:t>
            </a: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en-US" sz="24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>
            <p:custDataLst>
              <p:tags r:id="rId6"/>
            </p:custDataLst>
          </p:nvPr>
        </p:nvSpPr>
        <p:spPr>
          <a:xfrm>
            <a:off x="2712160" y="3423901"/>
            <a:ext cx="450822" cy="46166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50000">
                <a:srgbClr val="014E6A"/>
              </a:gs>
              <a:gs pos="100000">
                <a:srgbClr val="014E6A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400" b="1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>
            <p:custDataLst>
              <p:tags r:id="rId7"/>
            </p:custDataLst>
          </p:nvPr>
        </p:nvSpPr>
        <p:spPr>
          <a:xfrm>
            <a:off x="3421131" y="3423901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需要测量哪些物理量</a:t>
            </a: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？</a:t>
            </a:r>
            <a:endParaRPr lang="en-US" altLang="zh-CN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2712160" y="4029001"/>
            <a:ext cx="450822" cy="46166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50000">
                <a:srgbClr val="014E6A"/>
              </a:gs>
              <a:gs pos="100000">
                <a:srgbClr val="014E6A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400" b="1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>
            <p:custDataLst>
              <p:tags r:id="rId9"/>
            </p:custDataLst>
          </p:nvPr>
        </p:nvSpPr>
        <p:spPr>
          <a:xfrm>
            <a:off x="3447555" y="479495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有什么注意事项？</a:t>
            </a:r>
            <a:endParaRPr lang="en-US" altLang="zh-CN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7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68136" y="2897323"/>
            <a:ext cx="1976485" cy="1976485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399913" y="127326"/>
            <a:ext cx="930486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实验探究：</a:t>
            </a:r>
            <a:r>
              <a:rPr lang="zh-CN" altLang="en-US" sz="28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探究相互作用力大小之间的关系</a:t>
            </a:r>
          </a:p>
          <a:p>
            <a:endParaRPr lang="zh-CN" altLang="en-US" sz="36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矩形 29"/>
          <p:cNvSpPr/>
          <p:nvPr>
            <p:custDataLst>
              <p:tags r:id="rId12"/>
            </p:custDataLst>
          </p:nvPr>
        </p:nvSpPr>
        <p:spPr>
          <a:xfrm>
            <a:off x="2712160" y="4794953"/>
            <a:ext cx="450822" cy="46166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50000">
                <a:srgbClr val="014E6A"/>
              </a:gs>
              <a:gs pos="100000">
                <a:srgbClr val="014E6A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400" b="1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>
            <p:custDataLst>
              <p:tags r:id="rId13"/>
            </p:custDataLst>
          </p:nvPr>
        </p:nvSpPr>
        <p:spPr>
          <a:xfrm>
            <a:off x="3447555" y="4075422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选择什么测量工具呢</a:t>
            </a: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？</a:t>
            </a:r>
            <a:endParaRPr lang="en-US" altLang="zh-CN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14"/>
            </p:custDataLst>
          </p:nvPr>
        </p:nvSpPr>
        <p:spPr>
          <a:xfrm>
            <a:off x="8121661" y="1169426"/>
            <a:ext cx="822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solidFill>
                  <a:srgbClr val="FF0000"/>
                </a:solidFill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/>
      <p:bldP spid="19" grpId="0" animBg="1"/>
      <p:bldP spid="22" grpId="0"/>
      <p:bldP spid="23" grpId="0" animBg="1"/>
      <p:bldP spid="24" grpId="0"/>
      <p:bldP spid="25" grpId="0" animBg="1"/>
      <p:bldP spid="26" grpId="0"/>
      <p:bldP spid="30" grpId="0" animBg="1"/>
      <p:bldP spid="32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>
            <p:custDataLst>
              <p:tags r:id="rId1"/>
            </p:custDataLst>
          </p:nvPr>
        </p:nvGrpSpPr>
        <p:grpSpPr>
          <a:xfrm>
            <a:off x="4073419" y="2214000"/>
            <a:ext cx="4470922" cy="854801"/>
            <a:chOff x="6075740" y="5172532"/>
            <a:chExt cx="4470922" cy="854801"/>
          </a:xfrm>
        </p:grpSpPr>
        <p:pic>
          <p:nvPicPr>
            <p:cNvPr id="31" name="图片 30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6298512" y="5172532"/>
              <a:ext cx="4248150" cy="828675"/>
            </a:xfrm>
            <a:prstGeom prst="rect">
              <a:avLst/>
            </a:prstGeom>
          </p:spPr>
        </p:pic>
        <p:pic>
          <p:nvPicPr>
            <p:cNvPr id="32" name="图片 31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21"/>
            <a:srcRect l="80483" t="11768"/>
            <a:stretch>
              <a:fillRect/>
            </a:stretch>
          </p:blipFill>
          <p:spPr>
            <a:xfrm flipH="1">
              <a:off x="6075740" y="5241828"/>
              <a:ext cx="890727" cy="785505"/>
            </a:xfrm>
            <a:prstGeom prst="rect">
              <a:avLst/>
            </a:prstGeom>
          </p:spPr>
        </p:pic>
      </p:grp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678545" y="1680707"/>
            <a:ext cx="1415772" cy="461665"/>
          </a:xfrm>
          <a:prstGeom prst="rect">
            <a:avLst/>
          </a:prstGeom>
          <a:gradFill>
            <a:gsLst>
              <a:gs pos="0">
                <a:srgbClr val="014E6A"/>
              </a:gs>
              <a:gs pos="50000">
                <a:srgbClr val="014E6A"/>
              </a:gs>
              <a:gs pos="100000">
                <a:srgbClr val="014E6A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研究对象</a:t>
            </a:r>
            <a:endParaRPr lang="en-US" altLang="zh-CN" sz="2400" b="1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4170753" y="1680707"/>
            <a:ext cx="4801314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两个弹簧测力计之间的相互作用力</a:t>
            </a:r>
            <a:endParaRPr lang="en-US" altLang="zh-CN" sz="2400" b="1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2678545" y="3180793"/>
            <a:ext cx="1415772" cy="461665"/>
          </a:xfrm>
          <a:prstGeom prst="rect">
            <a:avLst/>
          </a:prstGeom>
          <a:gradFill>
            <a:gsLst>
              <a:gs pos="0">
                <a:srgbClr val="014E6A"/>
              </a:gs>
              <a:gs pos="50000">
                <a:srgbClr val="014E6A"/>
              </a:gs>
              <a:gs pos="100000">
                <a:srgbClr val="014E6A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需要测量</a:t>
            </a:r>
            <a:endParaRPr lang="en-US" altLang="zh-CN" sz="2400" b="1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矩形 14"/>
          <p:cNvSpPr/>
          <p:nvPr>
            <p:custDataLst>
              <p:tags r:id="rId5"/>
            </p:custDataLst>
          </p:nvPr>
        </p:nvSpPr>
        <p:spPr>
          <a:xfrm>
            <a:off x="4351129" y="3186693"/>
            <a:ext cx="2339102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相互作用的拉力</a:t>
            </a:r>
            <a:endParaRPr lang="en-US" altLang="zh-CN" sz="2400" b="1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矩形 15"/>
          <p:cNvSpPr/>
          <p:nvPr>
            <p:custDataLst>
              <p:tags r:id="rId6"/>
            </p:custDataLst>
          </p:nvPr>
        </p:nvSpPr>
        <p:spPr>
          <a:xfrm>
            <a:off x="2692833" y="3923211"/>
            <a:ext cx="1415772" cy="461665"/>
          </a:xfrm>
          <a:prstGeom prst="rect">
            <a:avLst/>
          </a:prstGeom>
          <a:gradFill>
            <a:gsLst>
              <a:gs pos="0">
                <a:srgbClr val="014E6A"/>
              </a:gs>
              <a:gs pos="50000">
                <a:srgbClr val="014E6A"/>
              </a:gs>
              <a:gs pos="100000">
                <a:srgbClr val="014E6A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测量工具</a:t>
            </a:r>
            <a:endParaRPr lang="en-US" altLang="zh-CN" sz="2400" b="1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/>
          <p:cNvSpPr/>
          <p:nvPr>
            <p:custDataLst>
              <p:tags r:id="rId7"/>
            </p:custDataLst>
          </p:nvPr>
        </p:nvSpPr>
        <p:spPr>
          <a:xfrm>
            <a:off x="4365417" y="3889540"/>
            <a:ext cx="1723549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弹簧测力计</a:t>
            </a:r>
            <a:endParaRPr lang="en-US" altLang="zh-CN" sz="2400" b="1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2678545" y="2435283"/>
            <a:ext cx="1415772" cy="461665"/>
          </a:xfrm>
          <a:prstGeom prst="rect">
            <a:avLst/>
          </a:prstGeom>
          <a:gradFill>
            <a:gsLst>
              <a:gs pos="0">
                <a:srgbClr val="014E6A"/>
              </a:gs>
              <a:gs pos="50000">
                <a:srgbClr val="014E6A"/>
              </a:gs>
              <a:gs pos="100000">
                <a:srgbClr val="014E6A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实验装置</a:t>
            </a:r>
            <a:endParaRPr lang="en-US" altLang="zh-CN" sz="2400" b="1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19" name="直接箭头连接符 18"/>
          <p:cNvCxnSpPr/>
          <p:nvPr>
            <p:custDataLst>
              <p:tags r:id="rId9"/>
            </p:custDataLst>
          </p:nvPr>
        </p:nvCxnSpPr>
        <p:spPr>
          <a:xfrm>
            <a:off x="5381748" y="2624869"/>
            <a:ext cx="932337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none"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5120385" y="2708581"/>
            <a:ext cx="65956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b="1" baseline="-25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箭头连接符 20"/>
          <p:cNvCxnSpPr/>
          <p:nvPr>
            <p:custDataLst>
              <p:tags r:id="rId11"/>
            </p:custDataLst>
          </p:nvPr>
        </p:nvCxnSpPr>
        <p:spPr>
          <a:xfrm flipH="1">
            <a:off x="6345951" y="2610580"/>
            <a:ext cx="1029628" cy="9533"/>
          </a:xfrm>
          <a:prstGeom prst="straightConnector1">
            <a:avLst/>
          </a:prstGeom>
          <a:ln w="57150">
            <a:solidFill>
              <a:srgbClr val="24B0FF"/>
            </a:solidFill>
            <a:headEnd type="triangle"/>
            <a:tailEnd type="none"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7242980" y="2652718"/>
            <a:ext cx="839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>
                <a:solidFill>
                  <a:srgbClr val="24B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="1" baseline="-25000">
                <a:solidFill>
                  <a:srgbClr val="24B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="1" baseline="-25000">
              <a:solidFill>
                <a:srgbClr val="24B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2464256" y="236838"/>
            <a:ext cx="5971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探究相互作用力大小之间的关系</a:t>
            </a:r>
          </a:p>
        </p:txBody>
      </p:sp>
      <p:sp>
        <p:nvSpPr>
          <p:cNvPr id="28" name="文本框 27"/>
          <p:cNvSpPr txBox="1"/>
          <p:nvPr>
            <p:custDataLst>
              <p:tags r:id="rId14"/>
            </p:custDataLst>
          </p:nvPr>
        </p:nvSpPr>
        <p:spPr>
          <a:xfrm>
            <a:off x="399742" y="92923"/>
            <a:ext cx="3172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学生实验</a:t>
            </a:r>
            <a:r>
              <a:rPr lang="en-US" altLang="zh-CN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36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矩形 32"/>
          <p:cNvSpPr/>
          <p:nvPr>
            <p:custDataLst>
              <p:tags r:id="rId15"/>
            </p:custDataLst>
          </p:nvPr>
        </p:nvSpPr>
        <p:spPr>
          <a:xfrm>
            <a:off x="2692833" y="4665629"/>
            <a:ext cx="1415772" cy="461665"/>
          </a:xfrm>
          <a:prstGeom prst="rect">
            <a:avLst/>
          </a:prstGeom>
          <a:gradFill>
            <a:gsLst>
              <a:gs pos="0">
                <a:srgbClr val="014E6A"/>
              </a:gs>
              <a:gs pos="50000">
                <a:srgbClr val="014E6A"/>
              </a:gs>
              <a:gs pos="100000">
                <a:srgbClr val="014E6A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注意事项</a:t>
            </a:r>
            <a:endParaRPr lang="en-US" altLang="zh-CN" sz="2400" b="1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4" name="矩形 33"/>
          <p:cNvSpPr/>
          <p:nvPr>
            <p:custDataLst>
              <p:tags r:id="rId16"/>
            </p:custDataLst>
          </p:nvPr>
        </p:nvSpPr>
        <p:spPr>
          <a:xfrm>
            <a:off x="4365417" y="4665628"/>
            <a:ext cx="4185761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弹簧测力计水平调零；</a:t>
            </a:r>
            <a:endParaRPr lang="en-US" altLang="zh-CN" sz="2400" b="1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400" b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在弹簧的弹性限度内进行实验</a:t>
            </a:r>
            <a:endParaRPr lang="en-US" altLang="zh-CN" sz="2400" b="1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/>
      <p:bldP spid="13" grpId="0" animBg="1"/>
      <p:bldP spid="15" grpId="0"/>
      <p:bldP spid="16" grpId="0" animBg="1"/>
      <p:bldP spid="17" grpId="0"/>
      <p:bldP spid="18" grpId="0" animBg="1"/>
      <p:bldP spid="20" grpId="0"/>
      <p:bldP spid="22" grpId="0"/>
      <p:bldP spid="33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牛顿第三定律实验2：静止时相互作用力的大小关系（弹簧秤）1">
            <a:hlinkClick r:id="" action="ppaction://media"/>
          </p:cNvPr>
          <p:cNvPicPr>
            <a:picLocks noChangeAspect="1"/>
          </p:cNvPicPr>
          <p:nvPr>
            <a:videoFile r:link="rId2"/>
            <p:custDataLst>
              <p:tags r:id="rId3"/>
            </p:custDataLst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780515" y="1477052"/>
            <a:ext cx="6759322" cy="4069717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861799" y="2382748"/>
            <a:ext cx="8167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solidFill>
                  <a:srgbClr val="FF0000"/>
                </a:solidFill>
              </a:rPr>
              <a:t>B</a:t>
            </a:r>
            <a:endParaRPr lang="zh-CN" altLang="en-US" sz="40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4804300" y="2425370"/>
            <a:ext cx="8167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>
                <a:solidFill>
                  <a:schemeClr val="accent5">
                    <a:lumMod val="75000"/>
                  </a:schemeClr>
                </a:solidFill>
              </a:rPr>
              <a:t>A</a:t>
            </a:r>
            <a:endParaRPr lang="zh-CN" altLang="en-US" sz="44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7531223" y="2238808"/>
            <a:ext cx="4660777" cy="2345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>
                <a:latin typeface="华文楷体" panose="02010600040101010101" pitchFamily="2" charset="-122"/>
                <a:ea typeface="华文楷体" panose="02010600040101010101" pitchFamily="2" charset="-122"/>
              </a:rPr>
              <a:t>1.A</a:t>
            </a:r>
            <a:r>
              <a:rPr lang="zh-CN" altLang="en-US" sz="2500">
                <a:latin typeface="华文楷体" panose="02010600040101010101" pitchFamily="2" charset="-122"/>
                <a:ea typeface="华文楷体" panose="02010600040101010101" pitchFamily="2" charset="-122"/>
              </a:rPr>
              <a:t>不动，匀速拉动</a:t>
            </a:r>
            <a:r>
              <a:rPr lang="en-US" altLang="zh-CN" sz="250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500">
                <a:latin typeface="华文楷体" panose="02010600040101010101" pitchFamily="2" charset="-122"/>
                <a:ea typeface="华文楷体" panose="02010600040101010101" pitchFamily="2" charset="-122"/>
              </a:rPr>
              <a:t>弹簧测力计</a:t>
            </a:r>
            <a:endParaRPr lang="en-US" altLang="zh-CN" sz="25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>
                <a:latin typeface="华文楷体" panose="02010600040101010101" pitchFamily="2" charset="-122"/>
                <a:ea typeface="华文楷体" panose="02010600040101010101" pitchFamily="2" charset="-122"/>
              </a:rPr>
              <a:t>2.B</a:t>
            </a:r>
            <a:r>
              <a:rPr lang="zh-CN" altLang="en-US" sz="2500">
                <a:latin typeface="华文楷体" panose="02010600040101010101" pitchFamily="2" charset="-122"/>
                <a:ea typeface="华文楷体" panose="02010600040101010101" pitchFamily="2" charset="-122"/>
              </a:rPr>
              <a:t>不动，匀速拉动</a:t>
            </a:r>
            <a:r>
              <a:rPr lang="en-US" altLang="zh-CN" sz="250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500">
                <a:latin typeface="华文楷体" panose="02010600040101010101" pitchFamily="2" charset="-122"/>
                <a:ea typeface="华文楷体" panose="02010600040101010101" pitchFamily="2" charset="-122"/>
              </a:rPr>
              <a:t>弹簧测力计</a:t>
            </a:r>
            <a:endParaRPr lang="en-US" altLang="zh-CN" sz="25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>
                <a:latin typeface="华文楷体" panose="02010600040101010101" pitchFamily="2" charset="-122"/>
                <a:ea typeface="华文楷体" panose="02010600040101010101" pitchFamily="2" charset="-122"/>
              </a:rPr>
              <a:t>3.A</a:t>
            </a:r>
            <a:r>
              <a:rPr lang="zh-CN" altLang="en-US" sz="250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50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500">
                <a:latin typeface="华文楷体" panose="02010600040101010101" pitchFamily="2" charset="-122"/>
                <a:ea typeface="华文楷体" panose="02010600040101010101" pitchFamily="2" charset="-122"/>
              </a:rPr>
              <a:t>匀速对拉</a:t>
            </a:r>
            <a:endParaRPr lang="en-US" altLang="zh-CN" sz="25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>
                <a:latin typeface="华文楷体" panose="02010600040101010101" pitchFamily="2" charset="-122"/>
                <a:ea typeface="华文楷体" panose="02010600040101010101" pitchFamily="2" charset="-122"/>
              </a:rPr>
              <a:t>4.A</a:t>
            </a:r>
            <a:r>
              <a:rPr lang="zh-CN" altLang="en-US" sz="250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50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500">
                <a:latin typeface="华文楷体" panose="02010600040101010101" pitchFamily="2" charset="-122"/>
                <a:ea typeface="华文楷体" panose="02010600040101010101" pitchFamily="2" charset="-122"/>
              </a:rPr>
              <a:t>变速对拉</a:t>
            </a: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3030755" y="329076"/>
            <a:ext cx="5971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探究相互作用力大小之间的关系</a:t>
            </a: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092200" y="131347"/>
            <a:ext cx="3172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学生实验</a:t>
            </a:r>
            <a:r>
              <a:rPr lang="en-US" altLang="zh-CN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36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3062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8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2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/>
          <p:cNvCxnSpPr/>
          <p:nvPr>
            <p:custDataLst>
              <p:tags r:id="rId1"/>
            </p:custDataLst>
          </p:nvPr>
        </p:nvCxnSpPr>
        <p:spPr>
          <a:xfrm flipV="1">
            <a:off x="3481096" y="2130646"/>
            <a:ext cx="5556738" cy="23447"/>
          </a:xfrm>
          <a:prstGeom prst="line">
            <a:avLst/>
          </a:prstGeom>
          <a:ln w="12700">
            <a:solidFill>
              <a:srgbClr val="014E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>
            <p:custDataLst>
              <p:tags r:id="rId2"/>
            </p:custDataLst>
          </p:nvPr>
        </p:nvGrpSpPr>
        <p:grpSpPr>
          <a:xfrm>
            <a:off x="2918385" y="1872049"/>
            <a:ext cx="445481" cy="469613"/>
            <a:chOff x="2121873" y="1511588"/>
            <a:chExt cx="445481" cy="469613"/>
          </a:xfrm>
        </p:grpSpPr>
        <p:sp>
          <p:nvSpPr>
            <p:cNvPr id="18" name="矩形 17"/>
            <p:cNvSpPr/>
            <p:nvPr>
              <p:custDataLst>
                <p:tags r:id="rId6"/>
              </p:custDataLst>
            </p:nvPr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E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7"/>
              </p:custDataLst>
            </p:nvPr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1784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3481097" y="1499758"/>
            <a:ext cx="59718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探究相互作用力大小之间的关系</a:t>
            </a: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444130" y="74315"/>
            <a:ext cx="3172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实验探究</a:t>
            </a:r>
            <a:endParaRPr lang="zh-CN" altLang="en-US" sz="36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8B01F6E-A5ED-CFCB-CBFC-3DA57866CD5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/>
          <a:srcRect l="4134" t="5062" r="26702" b="12470"/>
          <a:stretch>
            <a:fillRect/>
          </a:stretch>
        </p:blipFill>
        <p:spPr>
          <a:xfrm>
            <a:off x="3750426" y="2341662"/>
            <a:ext cx="5018078" cy="3365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44130" y="74315"/>
            <a:ext cx="3172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实验探究</a:t>
            </a:r>
            <a:endParaRPr lang="zh-CN" altLang="en-US" sz="36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传感器静止终结版">
            <a:hlinkClick r:id="" action="ppaction://media"/>
            <a:extLst>
              <a:ext uri="{FF2B5EF4-FFF2-40B4-BE49-F238E27FC236}">
                <a16:creationId xmlns:a16="http://schemas.microsoft.com/office/drawing/2014/main" id="{C63EB258-9931-ACF1-7682-E84025CA889C}"/>
              </a:ext>
            </a:extLst>
          </p:cNvPr>
          <p:cNvPicPr>
            <a:picLocks noChangeAspect="1"/>
          </p:cNvPicPr>
          <p:nvPr>
            <a:videoFile r:link="rId3"/>
            <p:custDataLst>
              <p:tags r:id="rId4"/>
            </p:custDataLst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682840" y="902669"/>
            <a:ext cx="9120628" cy="557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3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44130" y="74315"/>
            <a:ext cx="3172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实验探究</a:t>
            </a:r>
            <a:endParaRPr lang="zh-CN" altLang="en-US" sz="36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传感器水平运动">
            <a:hlinkClick r:id="" action="ppaction://media"/>
            <a:extLst>
              <a:ext uri="{FF2B5EF4-FFF2-40B4-BE49-F238E27FC236}">
                <a16:creationId xmlns:a16="http://schemas.microsoft.com/office/drawing/2014/main" id="{EE8B59BE-5E6B-61B3-9186-FED03D7E72F6}"/>
              </a:ext>
            </a:extLst>
          </p:cNvPr>
          <p:cNvPicPr>
            <a:picLocks noChangeAspect="1"/>
          </p:cNvPicPr>
          <p:nvPr>
            <a:videoFile r:link="rId3"/>
            <p:custDataLst>
              <p:tags r:id="rId4"/>
            </p:custDataLst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497408" y="919126"/>
            <a:ext cx="9197184" cy="541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4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42254" y="4324302"/>
            <a:ext cx="1116426" cy="1329078"/>
          </a:xfrm>
          <a:prstGeom prst="rect">
            <a:avLst/>
          </a:prstGeom>
        </p:spPr>
      </p:pic>
      <p:cxnSp>
        <p:nvCxnSpPr>
          <p:cNvPr id="9" name="直接连接符 8"/>
          <p:cNvCxnSpPr/>
          <p:nvPr>
            <p:custDataLst>
              <p:tags r:id="rId2"/>
            </p:custDataLst>
          </p:nvPr>
        </p:nvCxnSpPr>
        <p:spPr>
          <a:xfrm flipV="1">
            <a:off x="3419312" y="2278927"/>
            <a:ext cx="5556738" cy="23447"/>
          </a:xfrm>
          <a:prstGeom prst="line">
            <a:avLst/>
          </a:prstGeom>
          <a:ln w="12700">
            <a:solidFill>
              <a:srgbClr val="014E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2856601" y="2020330"/>
            <a:ext cx="445481" cy="469613"/>
            <a:chOff x="2121873" y="1511588"/>
            <a:chExt cx="445481" cy="469613"/>
          </a:xfrm>
        </p:grpSpPr>
        <p:sp>
          <p:nvSpPr>
            <p:cNvPr id="11" name="矩形 10"/>
            <p:cNvSpPr/>
            <p:nvPr>
              <p:custDataLst>
                <p:tags r:id="rId7"/>
              </p:custDataLst>
            </p:nvPr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E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8"/>
              </p:custDataLst>
            </p:nvPr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1784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3419313" y="1634761"/>
            <a:ext cx="55567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总结归纳</a:t>
            </a:r>
          </a:p>
        </p:txBody>
      </p:sp>
      <p:sp>
        <p:nvSpPr>
          <p:cNvPr id="16" name="云形标注 15"/>
          <p:cNvSpPr/>
          <p:nvPr>
            <p:custDataLst>
              <p:tags r:id="rId5"/>
            </p:custDataLst>
          </p:nvPr>
        </p:nvSpPr>
        <p:spPr>
          <a:xfrm>
            <a:off x="7106119" y="3077272"/>
            <a:ext cx="2752561" cy="981985"/>
          </a:xfrm>
          <a:prstGeom prst="cloudCallout">
            <a:avLst>
              <a:gd name="adj1" fmla="val 12064"/>
              <a:gd name="adj2" fmla="val 1011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一句话概括？</a:t>
            </a:r>
            <a:endParaRPr lang="en-US" altLang="zh-CN" sz="2400" b="1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矩形 1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220016" y="2812227"/>
            <a:ext cx="4444175" cy="2389885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作用在两个物体上</a:t>
            </a:r>
            <a:endParaRPr lang="en-US" altLang="zh-CN" sz="2800" b="1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作用在同一条直线上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大小相等  方向相反</a:t>
            </a:r>
            <a:endParaRPr lang="en-US" altLang="zh-CN" sz="2800" b="1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属于同一性质</a:t>
            </a:r>
            <a:endParaRPr lang="en-US" altLang="zh-CN" sz="2800" b="1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3511760" y="2233364"/>
            <a:ext cx="78339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两个物体之间的作用力和反作用力</a:t>
            </a:r>
            <a:r>
              <a:rPr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总是</a:t>
            </a:r>
            <a:r>
              <a:rPr lang="zh-CN" altLang="en-US" sz="2800" b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大小相等，方向相反，作用在同一条直线上。</a:t>
            </a:r>
            <a:endParaRPr lang="en-US" altLang="zh-CN" sz="2800" b="1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5187" y="2233364"/>
            <a:ext cx="2631578" cy="2740264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1092200" y="131347"/>
            <a:ext cx="3687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牛顿第三定律</a:t>
            </a:r>
            <a:endParaRPr lang="zh-CN" altLang="en-US" sz="36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B113D9F-AB84-4B73-F17A-333D2AEB8D0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769011" y="4840549"/>
            <a:ext cx="3277987" cy="1843826"/>
          </a:xfrm>
          <a:prstGeom prst="rect">
            <a:avLst/>
          </a:prstGeom>
        </p:spPr>
      </p:pic>
      <p:sp>
        <p:nvSpPr>
          <p:cNvPr id="3" name="矩形 1">
            <a:extLst>
              <a:ext uri="{FF2B5EF4-FFF2-40B4-BE49-F238E27FC236}">
                <a16:creationId xmlns:a16="http://schemas.microsoft.com/office/drawing/2014/main" id="{F6EDBB38-1892-C172-075D-F48555DA7444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627478" y="3890386"/>
            <a:ext cx="4052360" cy="616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252095" lvl="0" indent="-457200" algn="l">
              <a:lnSpc>
                <a:spcPct val="150000"/>
              </a:lnSpc>
              <a:spcAft>
                <a:spcPct val="0"/>
              </a:spcAft>
              <a:tabLst>
                <a:tab pos="2609850" algn="l"/>
              </a:tabLst>
            </a:pPr>
            <a:r>
              <a:rPr lang="en-US" altLang="zh-CN" sz="26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＝－</a:t>
            </a:r>
            <a:r>
              <a:rPr lang="en-US" altLang="zh-CN" sz="26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endParaRPr lang="zh-CN" altLang="zh-CN" sz="26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DF56BD1-CB4A-36EF-2FBB-5E106D6DB387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49630" y="1403482"/>
          <a:ext cx="10492740" cy="458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2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475">
                <a:tc grid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一对</a:t>
                      </a:r>
                      <a:r>
                        <a:rPr lang="en-US" altLang="zh-CN" sz="2800" b="1" err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作用力与反作用力</a:t>
                      </a:r>
                      <a:endParaRPr lang="en-US" altLang="zh-CN" sz="2800" b="1" i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590"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 err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四同</a:t>
                      </a:r>
                      <a:endParaRPr lang="en-US" altLang="en-US" sz="28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等大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大小总是相等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9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共线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作用在一条直线上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0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同时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同时产生、同时变化、同时消失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5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同性质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同一性质的力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19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 err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三异</a:t>
                      </a:r>
                      <a:endParaRPr lang="en-US" altLang="en-US" sz="28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异向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方向相反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6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异体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作用在不同的物体上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27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异效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效果不能相互抵消，不能认为合力为零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C0AF1AD6-DD94-5DD6-A968-082CD6AA23A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66575" y="78081"/>
            <a:ext cx="59833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对牛顿第三定律的理解</a:t>
            </a:r>
            <a:endParaRPr lang="zh-CN" altLang="en-US" sz="36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9494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154" r="9910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1003" b="21738"/>
          <a:stretch>
            <a:fillRect/>
          </a:stretch>
        </p:blipFill>
        <p:spPr bwMode="auto">
          <a:xfrm>
            <a:off x="3086512" y="2085853"/>
            <a:ext cx="6018975" cy="284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接连接符 17"/>
          <p:cNvCxnSpPr/>
          <p:nvPr>
            <p:custDataLst>
              <p:tags r:id="rId2"/>
            </p:custDataLst>
          </p:nvPr>
        </p:nvCxnSpPr>
        <p:spPr>
          <a:xfrm flipV="1">
            <a:off x="3666074" y="1650039"/>
            <a:ext cx="5556738" cy="23447"/>
          </a:xfrm>
          <a:prstGeom prst="line">
            <a:avLst/>
          </a:prstGeom>
          <a:ln w="12700">
            <a:solidFill>
              <a:srgbClr val="014E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>
            <p:custDataLst>
              <p:tags r:id="rId3"/>
            </p:custDataLst>
          </p:nvPr>
        </p:nvGrpSpPr>
        <p:grpSpPr>
          <a:xfrm>
            <a:off x="3129124" y="1443646"/>
            <a:ext cx="445481" cy="469613"/>
            <a:chOff x="2121873" y="1511588"/>
            <a:chExt cx="445481" cy="469613"/>
          </a:xfrm>
        </p:grpSpPr>
        <p:sp>
          <p:nvSpPr>
            <p:cNvPr id="20" name="矩形 19"/>
            <p:cNvSpPr/>
            <p:nvPr>
              <p:custDataLst>
                <p:tags r:id="rId6"/>
              </p:custDataLst>
            </p:nvPr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E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矩形 20"/>
            <p:cNvSpPr/>
            <p:nvPr>
              <p:custDataLst>
                <p:tags r:id="rId7"/>
              </p:custDataLst>
            </p:nvPr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1784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2" name="文本框 21"/>
          <p:cNvSpPr txBox="1"/>
          <p:nvPr>
            <p:custDataLst>
              <p:tags r:id="rId4"/>
            </p:custDataLst>
          </p:nvPr>
        </p:nvSpPr>
        <p:spPr>
          <a:xfrm>
            <a:off x="3438007" y="1088421"/>
            <a:ext cx="55567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拔河比赛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7E8671-9E99-EE92-4AF3-FD345F7C8EF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207270" y="5215581"/>
            <a:ext cx="84743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试试画出拔河过程中存在的作用力与反作用力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6150831-7BE2-2A6F-2E0B-D8682C778EAE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02287" y="1408165"/>
          <a:ext cx="8642350" cy="4494302"/>
        </p:xfrm>
        <a:graphic>
          <a:graphicData uri="http://schemas.openxmlformats.org/drawingml/2006/table">
            <a:tbl>
              <a:tblPr/>
              <a:tblGrid>
                <a:gridCol w="554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8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8335">
                <a:tc gridSpan="2"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1213" marR="91213" marT="45606" marB="4560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2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作用力和反作用力</a:t>
                      </a:r>
                    </a:p>
                  </a:txBody>
                  <a:tcPr marL="91213" marR="91213" marT="45606" marB="45606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itchFamily="2" charset="-122"/>
                        </a:rPr>
                        <a:t>平  衡  力</a:t>
                      </a:r>
                    </a:p>
                  </a:txBody>
                  <a:tcPr marL="91213" marR="91213" marT="45606" marB="45606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 gridSpan="2"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共同点</a:t>
                      </a:r>
                    </a:p>
                  </a:txBody>
                  <a:tcPr marL="91213" marR="91213" marT="45606" marB="45606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1213" marR="91213" marT="45606" marB="45606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855">
                <a:tc rowSpan="4"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altLang="zh-CN" sz="2000" b="1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区</a:t>
                      </a:r>
                    </a:p>
                    <a:p>
                      <a:pPr marL="0" lvl="0" indent="0" algn="ctr">
                        <a:buNone/>
                      </a:pPr>
                      <a:endParaRPr lang="zh-CN" altLang="en-US" sz="2400" b="1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  <a:p>
                      <a:pPr marL="0" lvl="0" indent="0" algn="ctr">
                        <a:buNone/>
                      </a:pPr>
                      <a:endParaRPr lang="zh-CN" altLang="en-US" sz="2400" b="1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别</a:t>
                      </a:r>
                    </a:p>
                  </a:txBody>
                  <a:tcPr marL="91213" marR="91213" marT="45606" marB="45606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作用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物体</a:t>
                      </a:r>
                    </a:p>
                  </a:txBody>
                  <a:tcPr marL="91213" marR="91213" marT="45606" marB="4560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1213" marR="91213" marT="45606" marB="45606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1213" marR="91213" marT="45606" marB="45606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24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fontAlgn="ctr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作用时间</a:t>
                      </a:r>
                    </a:p>
                  </a:txBody>
                  <a:tcPr marL="91213" marR="91213" marT="45606" marB="4560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1213" marR="91213" marT="45606" marB="45606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1213" marR="91213" marT="45606" marB="45606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4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力的性质</a:t>
                      </a:r>
                    </a:p>
                  </a:txBody>
                  <a:tcPr marL="91213" marR="91213" marT="45606" marB="4560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1213" marR="91213" marT="45606" marB="45606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1213" marR="91213" marT="45606" marB="45606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73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作用效果</a:t>
                      </a:r>
                    </a:p>
                  </a:txBody>
                  <a:tcPr marL="91213" marR="91213" marT="45606" marB="4560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1213" marR="91213" marT="45606" marB="45606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1213" marR="91213" marT="45606" marB="45606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3E11746A-FEFB-6D52-39A5-35C63EA28A1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29937" y="2924545"/>
            <a:ext cx="287741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  <a:buClr>
                <a:schemeClr val="bg1"/>
              </a:buClr>
            </a:pPr>
            <a:r>
              <a:rPr lang="zh-CN" altLang="en-US" sz="2400" b="1">
                <a:solidFill>
                  <a:schemeClr val="dk1"/>
                </a:solidFill>
                <a:latin typeface="楷体" charset="-122"/>
                <a:ea typeface="楷体" charset="-122"/>
                <a:cs typeface="幼圆" panose="02010509060101010101" charset="-122"/>
              </a:rPr>
              <a:t>作用在</a:t>
            </a:r>
            <a:r>
              <a:rPr lang="zh-CN" altLang="en-US" sz="2400" b="1">
                <a:latin typeface="楷体" charset="-122"/>
                <a:ea typeface="楷体" charset="-122"/>
                <a:cs typeface="幼圆" panose="02010509060101010101" charset="-122"/>
              </a:rPr>
              <a:t>同一</a:t>
            </a:r>
            <a:r>
              <a:rPr lang="zh-CN" altLang="en-US" sz="2400" b="1">
                <a:solidFill>
                  <a:schemeClr val="tx1">
                    <a:lumMod val="95000"/>
                    <a:lumOff val="5000"/>
                  </a:schemeClr>
                </a:solidFill>
                <a:latin typeface="楷体" charset="-122"/>
                <a:ea typeface="楷体" charset="-122"/>
                <a:cs typeface="幼圆" panose="02010509060101010101" charset="-122"/>
              </a:rPr>
              <a:t>物体</a:t>
            </a:r>
            <a:r>
              <a:rPr lang="zh-CN" altLang="en-US" sz="2400" b="1">
                <a:solidFill>
                  <a:schemeClr val="dk1"/>
                </a:solidFill>
                <a:latin typeface="楷体" charset="-122"/>
                <a:ea typeface="楷体" charset="-122"/>
                <a:cs typeface="幼圆" panose="02010509060101010101" charset="-122"/>
              </a:rPr>
              <a:t>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124AA34-6E9F-5F1E-E2DB-A09F1614DBE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951197" y="5320400"/>
            <a:ext cx="339344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buClr>
                <a:schemeClr val="bg1"/>
              </a:buClr>
            </a:pPr>
            <a:r>
              <a:rPr lang="zh-CN" altLang="en-US" sz="2400" b="1">
                <a:solidFill>
                  <a:schemeClr val="dk1"/>
                </a:solidFill>
                <a:latin typeface="楷体" charset="-122"/>
                <a:ea typeface="楷体" charset="-122"/>
              </a:rPr>
              <a:t>效果可抵消，合力为零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017A662-D507-56AC-E319-63012D085D6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642077" y="4686035"/>
            <a:ext cx="183451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  <a:buClr>
                <a:schemeClr val="bg1"/>
              </a:buClr>
            </a:pPr>
            <a:r>
              <a:rPr lang="zh-CN" altLang="en-US" sz="2400" b="1">
                <a:solidFill>
                  <a:schemeClr val="dk1"/>
                </a:solidFill>
                <a:latin typeface="楷体" charset="-122"/>
                <a:ea typeface="楷体" charset="-122"/>
              </a:rPr>
              <a:t>不一定相同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FFB560-0ABE-B674-ECFA-FD2028841B1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951832" y="3682100"/>
            <a:ext cx="316158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  <a:buClr>
                <a:schemeClr val="bg1"/>
              </a:buClr>
            </a:pPr>
            <a:r>
              <a:rPr lang="zh-CN" altLang="en-US" sz="2400" b="1">
                <a:solidFill>
                  <a:schemeClr val="dk1"/>
                </a:solidFill>
                <a:latin typeface="楷体" charset="-122"/>
                <a:ea typeface="楷体" charset="-122"/>
              </a:rPr>
              <a:t>不一定同时产生、同时</a:t>
            </a:r>
            <a:r>
              <a:rPr lang="zh-CN" altLang="en-US" sz="2400" b="1">
                <a:solidFill>
                  <a:schemeClr val="dk1"/>
                </a:solidFill>
                <a:latin typeface="楷体" charset="-122"/>
                <a:ea typeface="楷体" charset="-122"/>
                <a:sym typeface="宋体" panose="02010600030101010101" pitchFamily="2" charset="-122"/>
              </a:rPr>
              <a:t>变化</a:t>
            </a:r>
            <a:r>
              <a:rPr lang="zh-CN" altLang="en-US" sz="2400" b="1">
                <a:solidFill>
                  <a:schemeClr val="dk1"/>
                </a:solidFill>
                <a:latin typeface="楷体" charset="-122"/>
                <a:ea typeface="楷体" charset="-122"/>
              </a:rPr>
              <a:t>、同时消失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035EF35-37FF-78CC-708C-E3DF55F7CEC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72337" y="2924545"/>
            <a:ext cx="273494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  <a:buClr>
                <a:schemeClr val="bg1"/>
              </a:buClr>
            </a:pPr>
            <a:r>
              <a:rPr lang="zh-CN" altLang="en-US" sz="2400" b="1">
                <a:solidFill>
                  <a:schemeClr val="dk1"/>
                </a:solidFill>
                <a:latin typeface="楷体" charset="-122"/>
                <a:ea typeface="楷体" charset="-122"/>
                <a:cs typeface="幼圆" panose="02010509060101010101" charset="-122"/>
              </a:rPr>
              <a:t>作用在</a:t>
            </a:r>
            <a:r>
              <a:rPr lang="zh-CN" altLang="en-US" sz="2400" b="1">
                <a:latin typeface="楷体" charset="-122"/>
                <a:ea typeface="楷体" charset="-122"/>
                <a:cs typeface="幼圆" panose="02010509060101010101" charset="-122"/>
              </a:rPr>
              <a:t>不同</a:t>
            </a:r>
            <a:r>
              <a:rPr lang="zh-CN" altLang="en-US" sz="2400" b="1">
                <a:solidFill>
                  <a:schemeClr val="tx1">
                    <a:lumMod val="95000"/>
                    <a:lumOff val="5000"/>
                  </a:schemeClr>
                </a:solidFill>
                <a:latin typeface="楷体" charset="-122"/>
                <a:ea typeface="楷体" charset="-122"/>
                <a:cs typeface="幼圆" panose="02010509060101010101" charset="-122"/>
              </a:rPr>
              <a:t>物体</a:t>
            </a:r>
            <a:r>
              <a:rPr lang="zh-CN" altLang="en-US" sz="2400" b="1">
                <a:solidFill>
                  <a:schemeClr val="dk1"/>
                </a:solidFill>
                <a:latin typeface="楷体" charset="-122"/>
                <a:ea typeface="楷体" charset="-122"/>
                <a:cs typeface="幼圆" panose="02010509060101010101" charset="-122"/>
              </a:rPr>
              <a:t>上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C812933-88C3-610B-3EF6-E695CFB9643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117702" y="5316590"/>
            <a:ext cx="339915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buClr>
                <a:schemeClr val="bg1"/>
              </a:buClr>
            </a:pPr>
            <a:r>
              <a:rPr lang="zh-CN" altLang="en-US" sz="2400" b="1">
                <a:solidFill>
                  <a:schemeClr val="dk1"/>
                </a:solidFill>
                <a:latin typeface="楷体" charset="-122"/>
                <a:ea typeface="楷体" charset="-122"/>
              </a:rPr>
              <a:t>不可抵消，不能求合力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12546C0-9705-40A5-0756-D6A4CFB34DB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077187" y="4686035"/>
            <a:ext cx="14808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  <a:buClr>
                <a:schemeClr val="bg1"/>
              </a:buClr>
            </a:pPr>
            <a:r>
              <a:rPr lang="zh-CN" altLang="en-US" sz="2400" b="1">
                <a:solidFill>
                  <a:schemeClr val="dk1"/>
                </a:solidFill>
                <a:latin typeface="楷体" charset="-122"/>
                <a:ea typeface="楷体" charset="-122"/>
              </a:rPr>
              <a:t>一定相同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E67E18B-AB06-6784-D265-C36C762DBC8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603477" y="3721470"/>
            <a:ext cx="2426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  <a:buClr>
                <a:schemeClr val="bg1"/>
              </a:buClr>
            </a:pPr>
            <a:r>
              <a:rPr lang="zh-CN" altLang="en-US" sz="2400" b="1">
                <a:solidFill>
                  <a:schemeClr val="dk1"/>
                </a:solidFill>
                <a:latin typeface="楷体" charset="-122"/>
                <a:ea typeface="楷体" charset="-122"/>
              </a:rPr>
              <a:t>同时产生，同时</a:t>
            </a:r>
            <a:r>
              <a:rPr lang="zh-CN" altLang="en-US" sz="2400" b="1">
                <a:solidFill>
                  <a:schemeClr val="dk1"/>
                </a:solidFill>
                <a:latin typeface="楷体" charset="-122"/>
                <a:ea typeface="楷体" charset="-122"/>
                <a:sym typeface="宋体" panose="02010600030101010101" pitchFamily="2" charset="-122"/>
              </a:rPr>
              <a:t>变化</a:t>
            </a:r>
            <a:r>
              <a:rPr lang="zh-CN" altLang="en-US" sz="2400" b="1">
                <a:solidFill>
                  <a:schemeClr val="dk1"/>
                </a:solidFill>
                <a:latin typeface="楷体" charset="-122"/>
                <a:ea typeface="楷体" charset="-122"/>
              </a:rPr>
              <a:t>，同时消失</a:t>
            </a:r>
          </a:p>
        </p:txBody>
      </p:sp>
      <p:sp>
        <p:nvSpPr>
          <p:cNvPr id="20" name="文本框 32805">
            <a:extLst>
              <a:ext uri="{FF2B5EF4-FFF2-40B4-BE49-F238E27FC236}">
                <a16:creationId xmlns:a16="http://schemas.microsoft.com/office/drawing/2014/main" id="{EF7AE545-CF28-39E1-9E58-9718ADCB519E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39672" y="2116825"/>
            <a:ext cx="58369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  <a:buClr>
                <a:schemeClr val="bg1"/>
              </a:buClr>
            </a:pPr>
            <a:r>
              <a:rPr lang="zh-CN" altLang="en-US" sz="2400" b="1">
                <a:solidFill>
                  <a:schemeClr val="dk1"/>
                </a:solidFill>
                <a:latin typeface="楷体" charset="-122"/>
                <a:ea typeface="楷体" charset="-122"/>
              </a:rPr>
              <a:t>大小相等，方向相反，作用在一条直线上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7A3447-7BAA-A5E7-8ADF-980A96CED06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262453" y="254900"/>
            <a:ext cx="55651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kern="1200" cap="none" spc="0" normalizeH="0" baseline="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作用力与反作用力与平衡力的关系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  <p:cond evt="onBegin" delay="0">
                          <p:tn val="1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  <p:cond evt="onBegin" delay="0">
                          <p:tn val="18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  <p:cond evt="onBegin" delay="0">
                          <p:tn val="24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  <p:cond evt="onBegin" delay="0">
                          <p:tn val="30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  <p:cond evt="onBegin" delay="0">
                          <p:tn val="36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  <p:cond evt="onBegin" delay="0">
                          <p:tn val="4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  <p:cond evt="onBegin" delay="0">
                          <p:tn val="48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  <p:cond evt="onBegin" delay="0">
                          <p:tn val="54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>
            <p:custDataLst>
              <p:tags r:id="rId1"/>
            </p:custDataLst>
          </p:nvPr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3403"/>
          <a:stretch>
            <a:fillRect/>
          </a:stretch>
        </p:blipFill>
        <p:spPr>
          <a:xfrm>
            <a:off x="4492185" y="3662871"/>
            <a:ext cx="1260000" cy="144000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>
            <p:custDataLst>
              <p:tags r:id="rId2"/>
            </p:custDataLst>
          </p:nvPr>
        </p:nvCxnSpPr>
        <p:spPr>
          <a:xfrm rot="5400000">
            <a:off x="4723831" y="3573818"/>
            <a:ext cx="720000" cy="0"/>
          </a:xfrm>
          <a:prstGeom prst="straightConnector1">
            <a:avLst/>
          </a:prstGeom>
          <a:ln w="38100">
            <a:solidFill>
              <a:srgbClr val="1784AD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4492185" y="2986994"/>
            <a:ext cx="952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>
                <a:solidFill>
                  <a:schemeClr val="accent5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000" b="1" baseline="-25000">
                <a:solidFill>
                  <a:schemeClr val="accent5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endParaRPr lang="zh-CN" altLang="en-US" sz="2000" b="1" baseline="-25000">
              <a:solidFill>
                <a:schemeClr val="accent5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接箭头连接符 12"/>
          <p:cNvCxnSpPr/>
          <p:nvPr>
            <p:custDataLst>
              <p:tags r:id="rId4"/>
            </p:custDataLst>
          </p:nvPr>
        </p:nvCxnSpPr>
        <p:spPr>
          <a:xfrm flipH="1" flipV="1">
            <a:off x="5083831" y="4060529"/>
            <a:ext cx="0" cy="72000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5269012" y="4580474"/>
            <a:ext cx="966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 ′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endParaRPr lang="zh-CN" altLang="en-US" sz="2000" b="1" baseline="-2500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2609539" y="2442498"/>
            <a:ext cx="69301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b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请你画出台秤对物体支持力的反作用力和平衡力。</a:t>
            </a:r>
          </a:p>
        </p:txBody>
      </p:sp>
      <p:pic>
        <p:nvPicPr>
          <p:cNvPr id="16" name="图片 15"/>
          <p:cNvPicPr/>
          <p:nvPr>
            <p:custDataLst>
              <p:tags r:id="rId7"/>
            </p:custDataLst>
          </p:nvPr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3277"/>
          <a:stretch>
            <a:fillRect/>
          </a:stretch>
        </p:blipFill>
        <p:spPr>
          <a:xfrm>
            <a:off x="6658722" y="3623420"/>
            <a:ext cx="1260000" cy="1440000"/>
          </a:xfrm>
          <a:prstGeom prst="rect">
            <a:avLst/>
          </a:prstGeom>
        </p:spPr>
      </p:pic>
      <p:cxnSp>
        <p:nvCxnSpPr>
          <p:cNvPr id="17" name="直接箭头连接符 16"/>
          <p:cNvCxnSpPr/>
          <p:nvPr>
            <p:custDataLst>
              <p:tags r:id="rId8"/>
            </p:custDataLst>
          </p:nvPr>
        </p:nvCxnSpPr>
        <p:spPr>
          <a:xfrm rot="5400000">
            <a:off x="6891652" y="3547975"/>
            <a:ext cx="720000" cy="0"/>
          </a:xfrm>
          <a:prstGeom prst="straightConnector1">
            <a:avLst/>
          </a:prstGeom>
          <a:ln w="38100">
            <a:solidFill>
              <a:srgbClr val="1784AD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6722424" y="2970474"/>
            <a:ext cx="1058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>
                <a:solidFill>
                  <a:schemeClr val="accent5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000" b="1" baseline="-25000">
                <a:solidFill>
                  <a:schemeClr val="accent5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endParaRPr lang="zh-CN" altLang="en-US" sz="2000" b="1" baseline="-25000">
              <a:solidFill>
                <a:schemeClr val="accent5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/>
          <p:cNvCxnSpPr/>
          <p:nvPr>
            <p:custDataLst>
              <p:tags r:id="rId10"/>
            </p:custDataLst>
          </p:nvPr>
        </p:nvCxnSpPr>
        <p:spPr>
          <a:xfrm flipH="1" flipV="1">
            <a:off x="7251652" y="3916620"/>
            <a:ext cx="0" cy="72000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7375738" y="4488425"/>
            <a:ext cx="966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endParaRPr lang="zh-CN" altLang="en-US" sz="2000" b="1" baseline="-2500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>
            <p:custDataLst>
              <p:tags r:id="rId12"/>
            </p:custDataLst>
          </p:nvPr>
        </p:nvSpPr>
        <p:spPr>
          <a:xfrm>
            <a:off x="3949067" y="5118944"/>
            <a:ext cx="22054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b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相互作用力</a:t>
            </a:r>
          </a:p>
        </p:txBody>
      </p:sp>
      <p:sp>
        <p:nvSpPr>
          <p:cNvPr id="23" name="矩形 22"/>
          <p:cNvSpPr/>
          <p:nvPr>
            <p:custDataLst>
              <p:tags r:id="rId13"/>
            </p:custDataLst>
          </p:nvPr>
        </p:nvSpPr>
        <p:spPr>
          <a:xfrm>
            <a:off x="6413383" y="5121315"/>
            <a:ext cx="2215736" cy="507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b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平衡力</a:t>
            </a:r>
          </a:p>
        </p:txBody>
      </p:sp>
      <p:cxnSp>
        <p:nvCxnSpPr>
          <p:cNvPr id="21" name="直接连接符 20"/>
          <p:cNvCxnSpPr/>
          <p:nvPr>
            <p:custDataLst>
              <p:tags r:id="rId14"/>
            </p:custDataLst>
          </p:nvPr>
        </p:nvCxnSpPr>
        <p:spPr>
          <a:xfrm flipV="1">
            <a:off x="3617021" y="2130646"/>
            <a:ext cx="5556738" cy="23447"/>
          </a:xfrm>
          <a:prstGeom prst="line">
            <a:avLst/>
          </a:prstGeom>
          <a:ln w="12700">
            <a:solidFill>
              <a:srgbClr val="014E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>
            <p:custDataLst>
              <p:tags r:id="rId15"/>
            </p:custDataLst>
          </p:nvPr>
        </p:nvGrpSpPr>
        <p:grpSpPr>
          <a:xfrm>
            <a:off x="3054310" y="1872049"/>
            <a:ext cx="445481" cy="469613"/>
            <a:chOff x="2121873" y="1511588"/>
            <a:chExt cx="445481" cy="469613"/>
          </a:xfrm>
        </p:grpSpPr>
        <p:sp>
          <p:nvSpPr>
            <p:cNvPr id="26" name="矩形 25"/>
            <p:cNvSpPr/>
            <p:nvPr>
              <p:custDataLst>
                <p:tags r:id="rId18"/>
              </p:custDataLst>
            </p:nvPr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E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矩形 26"/>
            <p:cNvSpPr/>
            <p:nvPr>
              <p:custDataLst>
                <p:tags r:id="rId19"/>
              </p:custDataLst>
            </p:nvPr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1784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8" name="文本框 27"/>
          <p:cNvSpPr txBox="1"/>
          <p:nvPr>
            <p:custDataLst>
              <p:tags r:id="rId16"/>
            </p:custDataLst>
          </p:nvPr>
        </p:nvSpPr>
        <p:spPr>
          <a:xfrm>
            <a:off x="3617022" y="1499758"/>
            <a:ext cx="55567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练一练</a:t>
            </a:r>
          </a:p>
        </p:txBody>
      </p:sp>
      <p:sp>
        <p:nvSpPr>
          <p:cNvPr id="24" name="文本框 23"/>
          <p:cNvSpPr txBox="1"/>
          <p:nvPr>
            <p:custDataLst>
              <p:tags r:id="rId17"/>
            </p:custDataLst>
          </p:nvPr>
        </p:nvSpPr>
        <p:spPr>
          <a:xfrm>
            <a:off x="621684" y="72615"/>
            <a:ext cx="3172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课堂检测</a:t>
            </a:r>
            <a:endParaRPr lang="zh-CN" altLang="en-US" sz="36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8" grpId="0"/>
      <p:bldP spid="20" grpId="0"/>
      <p:bldP spid="22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5472B8-8E94-E786-49B1-FC5718758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弹力有无的判断</a:t>
            </a:r>
            <a:br>
              <a:rPr lang="en-US" altLang="zh-CN" dirty="0"/>
            </a:br>
            <a:r>
              <a:rPr lang="zh-CN" altLang="en-US" dirty="0"/>
              <a:t>胡克定律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8B86E0-15A8-1812-F169-312545138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235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C2C419-2DE7-EB04-3DAE-7D82BADC3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通过平面镜观察桌面微小形变实验试验">
            <a:hlinkClick r:id="" action="ppaction://media"/>
            <a:extLst>
              <a:ext uri="{FF2B5EF4-FFF2-40B4-BE49-F238E27FC236}">
                <a16:creationId xmlns:a16="http://schemas.microsoft.com/office/drawing/2014/main" id="{CDECA7E6-4BE8-C9F8-7280-8F3890E8FA8E}"/>
              </a:ext>
            </a:extLst>
          </p:cNvPr>
          <p:cNvPicPr>
            <a:picLocks noGrp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28144" y="1825625"/>
            <a:ext cx="77357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00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A415B-6C6C-3BC2-074E-4909ADA29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体验微小形变">
            <a:hlinkClick r:id="" action="ppaction://media"/>
            <a:extLst>
              <a:ext uri="{FF2B5EF4-FFF2-40B4-BE49-F238E27FC236}">
                <a16:creationId xmlns:a16="http://schemas.microsoft.com/office/drawing/2014/main" id="{F3A01E12-E1C4-7E5A-4CE4-AA5526FDE669}"/>
              </a:ext>
            </a:extLst>
          </p:cNvPr>
          <p:cNvPicPr>
            <a:picLocks noGrp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4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>
            <p:custDataLst>
              <p:tags r:id="rId2"/>
            </p:custDataLst>
          </p:nvPr>
        </p:nvPicPr>
        <p:blipFill>
          <a:blip r:embed="rId8"/>
          <a:srcRect r="9459"/>
          <a:stretch>
            <a:fillRect/>
          </a:stretch>
        </p:blipFill>
        <p:spPr>
          <a:xfrm>
            <a:off x="545465" y="1183005"/>
            <a:ext cx="5239385" cy="34937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377940" y="1183640"/>
            <a:ext cx="5239385" cy="3493135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230505" y="200025"/>
            <a:ext cx="5965825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观察与了解</a:t>
            </a: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977900" y="5008880"/>
            <a:ext cx="434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摩托车上的减震弹簧</a:t>
            </a: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6826885" y="5008880"/>
            <a:ext cx="434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重型卡车上的减震弹簧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图片 101"/>
          <p:cNvPicPr/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080885" y="720090"/>
            <a:ext cx="3429635" cy="4819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图片 102"/>
          <p:cNvPicPr/>
          <p:nvPr>
            <p:custDataLst>
              <p:tags r:id="rId3"/>
            </p:custDataLst>
          </p:nvPr>
        </p:nvPicPr>
        <p:blipFill>
          <a:blip r:embed="rId9"/>
          <a:srcRect l="18647" r="10189"/>
          <a:stretch>
            <a:fillRect/>
          </a:stretch>
        </p:blipFill>
        <p:spPr>
          <a:xfrm>
            <a:off x="1790065" y="720090"/>
            <a:ext cx="3429635" cy="4819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230505" y="72390"/>
            <a:ext cx="5965825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观察与了解</a:t>
            </a: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2007235" y="5716270"/>
            <a:ext cx="29959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30Kg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的臂力器</a:t>
            </a:r>
          </a:p>
        </p:txBody>
      </p: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7297420" y="5716270"/>
            <a:ext cx="29959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60Kg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的握力器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00E2E-75C9-73E9-0DC1-3DE297BD3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实验发现，在弹性限度内，弹簧的弹力与伸长量成正比</a:t>
            </a:r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BF5A415-6045-16DE-4C80-97844CC9A9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29330" y="1825625"/>
            <a:ext cx="7133339" cy="435133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341120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7823835" cy="666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一、胡克定律</a:t>
            </a:r>
          </a:p>
        </p:txBody>
      </p:sp>
      <p:sp>
        <p:nvSpPr>
          <p:cNvPr id="10243" name="文本框 10242"/>
          <p:cNvSpPr txBox="1"/>
          <p:nvPr>
            <p:custDataLst>
              <p:tags r:id="rId2"/>
            </p:custDataLst>
          </p:nvPr>
        </p:nvSpPr>
        <p:spPr>
          <a:xfrm>
            <a:off x="381635" y="1080135"/>
            <a:ext cx="11390630" cy="14344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buClrTx/>
            </a:pP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1.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内容：在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弹性限度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内，弹簧发生弹性形变时，弹力的大小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F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跟弹簧伸长（或缩短）的长度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x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成正比。</a:t>
            </a: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381635" y="2632710"/>
            <a:ext cx="11390630" cy="79629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buClrTx/>
            </a:pP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2.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公式：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F＝kx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381635" y="3639820"/>
            <a:ext cx="11348085" cy="216535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buClrTx/>
            </a:pP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3.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k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为弹簧的劲度系数， 单位是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N/m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，只与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弹簧本身有关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，由弹簧本身的材料、长度、粗细、匝数等因素决定，它反映了弹簧的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软硬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程度，</a:t>
            </a:r>
            <a:r>
              <a:rPr lang="zh-CN" altLang="en-US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k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越大，弹簧越硬，其长度越难改变．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7823835" cy="666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一、胡克定律</a:t>
            </a:r>
          </a:p>
        </p:txBody>
      </p:sp>
      <p:sp>
        <p:nvSpPr>
          <p:cNvPr id="10243" name="文本框 10242"/>
          <p:cNvSpPr txBox="1"/>
          <p:nvPr>
            <p:custDataLst>
              <p:tags r:id="rId2"/>
            </p:custDataLst>
          </p:nvPr>
        </p:nvSpPr>
        <p:spPr>
          <a:xfrm>
            <a:off x="381635" y="866775"/>
            <a:ext cx="11390630" cy="77914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buClrTx/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4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.对胡克定律</a:t>
            </a:r>
            <a:r>
              <a:rPr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F＝kx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的理解和应用</a:t>
            </a:r>
          </a:p>
        </p:txBody>
      </p:sp>
      <p:sp>
        <p:nvSpPr>
          <p:cNvPr id="8" name="矩形 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81635" y="1561465"/>
            <a:ext cx="11302365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50645" algn="l"/>
                <a:tab pos="2700655" algn="l"/>
                <a:tab pos="4050665" algn="l"/>
              </a:tabLst>
              <a:defRPr/>
            </a:pPr>
            <a:r>
              <a:rPr kumimoji="0" lang="en-US" altLang="zh-CN" sz="280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(1)</a:t>
            </a:r>
            <a:r>
              <a:rPr kumimoji="0" lang="zh-CN" altLang="zh-CN" sz="280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弹簧发生形变时必须在弹性限度内。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50645" algn="l"/>
                <a:tab pos="2700655" algn="l"/>
                <a:tab pos="4050665" algn="l"/>
              </a:tabLst>
              <a:defRPr/>
            </a:pPr>
            <a:r>
              <a:rPr kumimoji="0" lang="en-US" altLang="zh-CN" sz="280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(2)</a:t>
            </a:r>
            <a:r>
              <a:rPr kumimoji="0" lang="en-US" altLang="zh-CN" sz="2800" i="1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x</a:t>
            </a:r>
            <a:r>
              <a:rPr kumimoji="0" lang="zh-CN" altLang="zh-CN" sz="280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是弹簧的形变量，不是弹簧形变后的总长度。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50645" algn="l"/>
                <a:tab pos="2700655" algn="l"/>
                <a:tab pos="4050665" algn="l"/>
              </a:tabLst>
              <a:defRPr/>
            </a:pPr>
            <a:r>
              <a:rPr kumimoji="0" lang="en-US" altLang="zh-CN" sz="280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(3)</a:t>
            </a:r>
            <a:r>
              <a:rPr kumimoji="0" lang="zh-CN" altLang="zh-CN" sz="280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如图所示，</a:t>
            </a:r>
            <a:r>
              <a:rPr kumimoji="0" lang="en-US" altLang="zh-CN" sz="2800" i="1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F</a:t>
            </a:r>
            <a:r>
              <a:rPr kumimoji="0" lang="zh-CN" altLang="zh-CN" sz="280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－</a:t>
            </a:r>
            <a:r>
              <a:rPr kumimoji="0" lang="en-US" altLang="zh-CN" sz="2800" i="1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x</a:t>
            </a:r>
            <a:r>
              <a:rPr kumimoji="0" lang="zh-CN" altLang="zh-CN" sz="280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图像为一条经过原点的倾斜直线，图像斜率表示弹簧的劲度系数，在弹性限度内同一根弹簧的劲度系数是不变的。</a:t>
            </a:r>
          </a:p>
        </p:txBody>
      </p:sp>
      <p:pic>
        <p:nvPicPr>
          <p:cNvPr id="32775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96118" y="4377690"/>
            <a:ext cx="2865437" cy="2273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7823835" cy="666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一、胡克定律</a:t>
            </a:r>
          </a:p>
        </p:txBody>
      </p:sp>
      <p:sp>
        <p:nvSpPr>
          <p:cNvPr id="10243" name="文本框 10242"/>
          <p:cNvSpPr txBox="1"/>
          <p:nvPr>
            <p:custDataLst>
              <p:tags r:id="rId2"/>
            </p:custDataLst>
          </p:nvPr>
        </p:nvSpPr>
        <p:spPr>
          <a:xfrm>
            <a:off x="381635" y="866775"/>
            <a:ext cx="11390630" cy="77914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buClrTx/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4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.对胡克定律</a:t>
            </a:r>
            <a:r>
              <a:rPr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F＝kx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的理解和应用</a:t>
            </a:r>
          </a:p>
        </p:txBody>
      </p:sp>
      <p:sp>
        <p:nvSpPr>
          <p:cNvPr id="8" name="矩形 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81635" y="1561465"/>
            <a:ext cx="11513185" cy="3360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50645" algn="l"/>
                <a:tab pos="2700655" algn="l"/>
                <a:tab pos="4050665" algn="l"/>
              </a:tabLst>
              <a:defRPr/>
            </a:pPr>
            <a:r>
              <a:rPr lang="en-US" altLang="zh-CN" sz="28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(4)</a:t>
            </a:r>
            <a:r>
              <a:rPr lang="zh-CN" altLang="zh-CN" sz="28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由</a:t>
            </a:r>
            <a:r>
              <a:rPr lang="en-US" altLang="zh-CN" sz="2800" i="1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F</a:t>
            </a:r>
            <a:r>
              <a:rPr lang="en-US" altLang="zh-CN" sz="2800" kern="10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zh-CN" sz="28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＝</a:t>
            </a:r>
            <a:r>
              <a:rPr lang="en-US" altLang="zh-CN" sz="2800" i="1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kx</a:t>
            </a:r>
            <a:r>
              <a:rPr lang="en-US" altLang="zh-CN" sz="2800" kern="10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zh-CN" sz="28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800" i="1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F</a:t>
            </a:r>
            <a:r>
              <a:rPr lang="en-US" altLang="zh-CN" sz="2800" kern="10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zh-CN" sz="28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＝</a:t>
            </a:r>
            <a:r>
              <a:rPr lang="en-US" altLang="zh-CN" sz="2800" i="1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kx</a:t>
            </a:r>
            <a:r>
              <a:rPr lang="en-US" altLang="zh-CN" sz="2800" kern="10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zh-CN" sz="28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，得</a:t>
            </a:r>
            <a:r>
              <a:rPr lang="en-US" altLang="zh-CN" sz="28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Δ</a:t>
            </a:r>
            <a:r>
              <a:rPr lang="en-US" altLang="zh-CN" sz="2800" i="1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F</a:t>
            </a:r>
            <a:r>
              <a:rPr lang="zh-CN" altLang="zh-CN" sz="28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＝</a:t>
            </a:r>
            <a:r>
              <a:rPr lang="en-US" altLang="zh-CN" sz="2800" i="1" kern="100" noProof="0" err="1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sz="2800" kern="100" noProof="0" err="1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Δ</a:t>
            </a:r>
            <a:r>
              <a:rPr lang="en-US" altLang="zh-CN" sz="2800" i="1" kern="100" noProof="0" err="1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x</a:t>
            </a:r>
            <a:r>
              <a:rPr lang="zh-CN" altLang="zh-CN" sz="28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，即弹力的变化量</a:t>
            </a:r>
            <a:r>
              <a:rPr lang="en-US" altLang="zh-CN" sz="28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Δ</a:t>
            </a:r>
            <a:r>
              <a:rPr lang="en-US" altLang="zh-CN" sz="2800" i="1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F</a:t>
            </a:r>
            <a:r>
              <a:rPr lang="zh-CN" altLang="zh-CN" sz="28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与形变量的变化量</a:t>
            </a:r>
            <a:r>
              <a:rPr lang="en-US" altLang="zh-CN" sz="2800" kern="100" noProof="0" err="1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Δ</a:t>
            </a:r>
            <a:r>
              <a:rPr lang="en-US" altLang="zh-CN" sz="2800" i="1" kern="100" noProof="0" err="1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x</a:t>
            </a:r>
            <a:r>
              <a:rPr lang="zh-CN" altLang="zh-CN" sz="28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也成正比关系。</a:t>
            </a:r>
            <a:endParaRPr kumimoji="0" lang="zh-CN" altLang="zh-CN" sz="2800" i="0" u="none" strike="noStrike" kern="1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50645" algn="l"/>
                <a:tab pos="2700655" algn="l"/>
                <a:tab pos="4050665" algn="l"/>
              </a:tabLst>
              <a:defRPr/>
            </a:pPr>
            <a:r>
              <a:rPr lang="en-US" altLang="zh-CN" sz="28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(5)</a:t>
            </a:r>
            <a:r>
              <a:rPr lang="zh-CN" altLang="zh-CN" sz="28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胡克定律</a:t>
            </a:r>
            <a:r>
              <a:rPr lang="en-US" altLang="zh-CN" sz="2800" i="1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F</a:t>
            </a:r>
            <a:r>
              <a:rPr lang="zh-CN" altLang="zh-CN" sz="28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＝</a:t>
            </a:r>
            <a:r>
              <a:rPr lang="en-US" altLang="zh-CN" sz="2800" i="1" kern="100" noProof="0" err="1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kx</a:t>
            </a:r>
            <a:r>
              <a:rPr lang="zh-CN" altLang="zh-CN" sz="28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也适用于弹性绳、橡皮筋等产生的弹力的计算，只是它们只能产生拉伸形变，不能产生压缩形变。具体问题中要根据题意判断胡克定律是否适用。</a:t>
            </a:r>
            <a:endParaRPr kumimoji="0" lang="zh-CN" altLang="zh-CN" sz="2800" i="0" u="none" strike="noStrike" kern="1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7823835" cy="666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二、一般弹力的计算</a:t>
            </a:r>
          </a:p>
        </p:txBody>
      </p:sp>
      <p:sp>
        <p:nvSpPr>
          <p:cNvPr id="8" name="矩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39090" y="1147445"/>
            <a:ext cx="11595100" cy="384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50645" algn="l"/>
                <a:tab pos="2700655" algn="l"/>
                <a:tab pos="4050665" algn="l"/>
              </a:tabLst>
              <a:defRPr/>
            </a:pPr>
            <a:r>
              <a:rPr lang="en-US" sz="32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         </a:t>
            </a:r>
            <a:r>
              <a:rPr altLang="zh-CN" sz="3200" kern="100" noProof="0">
                <a:ln>
                  <a:noFill/>
                </a:ln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对于除弹簧外的其他弹性物体的弹力大小的计算，一般要借助物体的运动状态所遵循的物理规律求解，比如悬挂在竖直细线上的物体处于静止状态时，物体受细线竖直向上的拉力和竖直向下的重力作用，根据二力平衡，可知细线的拉力大小等于物体的重力大小。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文本框 105"/>
          <p:cNvSpPr txBox="1"/>
          <p:nvPr>
            <p:custDataLst>
              <p:tags r:id="rId2"/>
            </p:custDataLst>
          </p:nvPr>
        </p:nvSpPr>
        <p:spPr>
          <a:xfrm>
            <a:off x="335280" y="383540"/>
            <a:ext cx="11536680" cy="217297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sz="2800" b="0">
                <a:ea typeface="黑体" panose="02010609060101010101" charset="-122"/>
              </a:rPr>
              <a:t>．如图所示，重为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6N</a:t>
            </a:r>
            <a:r>
              <a:rPr lang="zh-CN" sz="2800" b="0">
                <a:ea typeface="黑体" panose="02010609060101010101" charset="-122"/>
              </a:rPr>
              <a:t>的物体挂在轻质弹簧的下端时，弹簧伸长了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0.03m</a:t>
            </a:r>
            <a:r>
              <a:rPr lang="zh-CN" sz="2800" b="0">
                <a:ea typeface="黑体" panose="02010609060101010101" charset="-122"/>
              </a:rPr>
              <a:t>。现换用另一个重为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12N</a:t>
            </a:r>
            <a:r>
              <a:rPr lang="zh-CN" sz="2800" b="0">
                <a:ea typeface="黑体" panose="02010609060101010101" charset="-122"/>
              </a:rPr>
              <a:t>的物体挂在弹簧的下端（形变仍在弹性限度内），这时弹簧的伸长量、劲度系数分别是（　　）</a:t>
            </a:r>
            <a:endParaRPr lang="en-US" sz="28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zh-CN" sz="2800" b="0">
                <a:ea typeface="黑体" panose="02010609060101010101" charset="-122"/>
              </a:rPr>
              <a:t>．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0.03m</a:t>
            </a:r>
            <a:r>
              <a:rPr lang="zh-CN" sz="2800" b="0">
                <a:ea typeface="黑体" panose="02010609060101010101" charset="-122"/>
              </a:rPr>
              <a:t>、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100N/m	B</a:t>
            </a:r>
            <a:r>
              <a:rPr lang="zh-CN" sz="2800" b="0">
                <a:ea typeface="黑体" panose="02010609060101010101" charset="-122"/>
              </a:rPr>
              <a:t>．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0.04m</a:t>
            </a:r>
            <a:r>
              <a:rPr lang="zh-CN" sz="2800" b="0">
                <a:ea typeface="黑体" panose="02010609060101010101" charset="-122"/>
              </a:rPr>
              <a:t>、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200N/m</a:t>
            </a: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C</a:t>
            </a:r>
            <a:r>
              <a:rPr lang="zh-CN" sz="2800" b="0">
                <a:ea typeface="黑体" panose="02010609060101010101" charset="-122"/>
              </a:rPr>
              <a:t>．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0.05m</a:t>
            </a:r>
            <a:r>
              <a:rPr lang="zh-CN" sz="2800" b="0">
                <a:ea typeface="黑体" panose="02010609060101010101" charset="-122"/>
              </a:rPr>
              <a:t>、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100N/m	D</a:t>
            </a:r>
            <a:r>
              <a:rPr lang="zh-CN" sz="2800" b="0">
                <a:ea typeface="黑体" panose="02010609060101010101" charset="-122"/>
              </a:rPr>
              <a:t>．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0.06m</a:t>
            </a:r>
            <a:r>
              <a:rPr lang="zh-CN" sz="2800" b="0">
                <a:ea typeface="黑体" panose="02010609060101010101" charset="-122"/>
              </a:rPr>
              <a:t>、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200N/m</a:t>
            </a:r>
            <a:endParaRPr lang="en-US" altLang="en-US" sz="2800" b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546850" y="1785620"/>
            <a:ext cx="516255" cy="551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思源黑体 CN Light" panose="020B0400000000000000" pitchFamily="34" charset="-122"/>
                <a:cs typeface="Times New Roman" panose="02020603050405020304" charset="0"/>
              </a:rPr>
              <a:t>D</a:t>
            </a:r>
          </a:p>
        </p:txBody>
      </p:sp>
      <p:pic>
        <p:nvPicPr>
          <p:cNvPr id="100003" name="图片 10000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606915" y="1842135"/>
            <a:ext cx="1074420" cy="26860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07"/>
          <p:cNvSpPr txBox="1"/>
          <p:nvPr>
            <p:custDataLst>
              <p:tags r:id="rId2"/>
            </p:custDataLst>
          </p:nvPr>
        </p:nvSpPr>
        <p:spPr>
          <a:xfrm>
            <a:off x="245110" y="364490"/>
            <a:ext cx="11709400" cy="224917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</a:pPr>
            <a:r>
              <a:rPr lang="en-US" sz="2700" b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sz="2700" b="0">
                <a:ea typeface="黑体" panose="02010609060101010101" charset="-122"/>
              </a:rPr>
              <a:t>．如图所示，弹簧测力计和细线的重力及一切摩擦不计，重物的重力</a:t>
            </a:r>
            <a:r>
              <a:rPr lang="en-US" sz="2700" b="0" i="1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sz="2700" b="0">
                <a:ea typeface="黑体" panose="02010609060101010101" charset="-122"/>
              </a:rPr>
              <a:t>＝</a:t>
            </a:r>
            <a:r>
              <a:rPr lang="en-US" sz="2700" b="0">
                <a:latin typeface="Times New Roman" panose="02020603050405020304" charset="0"/>
                <a:ea typeface="黑体" panose="02010609060101010101" charset="-122"/>
              </a:rPr>
              <a:t>2N</a:t>
            </a:r>
            <a:r>
              <a:rPr lang="zh-CN" sz="2700" b="0">
                <a:ea typeface="黑体" panose="02010609060101010101" charset="-122"/>
              </a:rPr>
              <a:t>，则弹簧测力计</a:t>
            </a:r>
            <a:r>
              <a:rPr lang="en-US" sz="2700" b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zh-CN" sz="2700" b="0">
                <a:ea typeface="黑体" panose="02010609060101010101" charset="-122"/>
              </a:rPr>
              <a:t>和</a:t>
            </a:r>
            <a:r>
              <a:rPr lang="en-US" sz="2700" b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zh-CN" sz="2700" b="0">
                <a:ea typeface="黑体" panose="02010609060101010101" charset="-122"/>
              </a:rPr>
              <a:t>的示数分别为（　　）</a:t>
            </a:r>
            <a:endParaRPr lang="en-US" sz="27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700" b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zh-CN" sz="2700" b="0">
                <a:ea typeface="黑体" panose="02010609060101010101" charset="-122"/>
              </a:rPr>
              <a:t>．</a:t>
            </a:r>
            <a:r>
              <a:rPr lang="en-US" sz="2700" b="0">
                <a:latin typeface="Times New Roman" panose="02020603050405020304" charset="0"/>
                <a:ea typeface="黑体" panose="02010609060101010101" charset="-122"/>
              </a:rPr>
              <a:t>2 N</a:t>
            </a:r>
            <a:r>
              <a:rPr lang="zh-CN" sz="2700" b="0">
                <a:ea typeface="黑体" panose="02010609060101010101" charset="-122"/>
              </a:rPr>
              <a:t>，</a:t>
            </a:r>
            <a:r>
              <a:rPr lang="en-US" sz="2700" b="0">
                <a:latin typeface="Times New Roman" panose="02020603050405020304" charset="0"/>
                <a:ea typeface="黑体" panose="02010609060101010101" charset="-122"/>
              </a:rPr>
              <a:t>0 N	B</a:t>
            </a:r>
            <a:r>
              <a:rPr lang="zh-CN" sz="2700" b="0">
                <a:ea typeface="黑体" panose="02010609060101010101" charset="-122"/>
              </a:rPr>
              <a:t>．</a:t>
            </a:r>
            <a:r>
              <a:rPr lang="en-US" sz="2700" b="0">
                <a:latin typeface="Times New Roman" panose="02020603050405020304" charset="0"/>
                <a:ea typeface="黑体" panose="02010609060101010101" charset="-122"/>
              </a:rPr>
              <a:t>0 N</a:t>
            </a:r>
            <a:r>
              <a:rPr lang="zh-CN" sz="2700" b="0">
                <a:ea typeface="黑体" panose="02010609060101010101" charset="-122"/>
              </a:rPr>
              <a:t>，</a:t>
            </a:r>
            <a:r>
              <a:rPr lang="en-US" sz="2700" b="0">
                <a:latin typeface="Times New Roman" panose="02020603050405020304" charset="0"/>
                <a:ea typeface="黑体" panose="02010609060101010101" charset="-122"/>
              </a:rPr>
              <a:t>2 N</a:t>
            </a:r>
          </a:p>
          <a:p>
            <a:pPr indent="0">
              <a:lnSpc>
                <a:spcPct val="150000"/>
              </a:lnSpc>
            </a:pPr>
            <a:r>
              <a:rPr lang="en-US" sz="2700" b="0">
                <a:latin typeface="Times New Roman" panose="02020603050405020304" charset="0"/>
                <a:ea typeface="黑体" panose="02010609060101010101" charset="-122"/>
              </a:rPr>
              <a:t>C</a:t>
            </a:r>
            <a:r>
              <a:rPr lang="zh-CN" sz="2700" b="0">
                <a:ea typeface="黑体" panose="02010609060101010101" charset="-122"/>
              </a:rPr>
              <a:t>．</a:t>
            </a:r>
            <a:r>
              <a:rPr lang="en-US" sz="2700" b="0">
                <a:latin typeface="Times New Roman" panose="02020603050405020304" charset="0"/>
                <a:ea typeface="黑体" panose="02010609060101010101" charset="-122"/>
              </a:rPr>
              <a:t>2 N</a:t>
            </a:r>
            <a:r>
              <a:rPr lang="zh-CN" sz="2700" b="0">
                <a:ea typeface="黑体" panose="02010609060101010101" charset="-122"/>
              </a:rPr>
              <a:t>，</a:t>
            </a:r>
            <a:r>
              <a:rPr lang="en-US" sz="2700" b="0">
                <a:latin typeface="Times New Roman" panose="02020603050405020304" charset="0"/>
                <a:ea typeface="黑体" panose="02010609060101010101" charset="-122"/>
              </a:rPr>
              <a:t>4 N	D</a:t>
            </a:r>
            <a:r>
              <a:rPr lang="zh-CN" sz="2700" b="0">
                <a:ea typeface="黑体" panose="02010609060101010101" charset="-122"/>
              </a:rPr>
              <a:t>．</a:t>
            </a:r>
            <a:r>
              <a:rPr lang="en-US" sz="2700" b="0">
                <a:latin typeface="Times New Roman" panose="02020603050405020304" charset="0"/>
                <a:ea typeface="黑体" panose="02010609060101010101" charset="-122"/>
              </a:rPr>
              <a:t>2 N</a:t>
            </a:r>
            <a:r>
              <a:rPr lang="zh-CN" sz="2700" b="0">
                <a:ea typeface="黑体" panose="02010609060101010101" charset="-122"/>
              </a:rPr>
              <a:t>，</a:t>
            </a:r>
            <a:r>
              <a:rPr lang="en-US" sz="2700" b="0">
                <a:latin typeface="Times New Roman" panose="02020603050405020304" charset="0"/>
                <a:ea typeface="黑体" panose="02010609060101010101" charset="-122"/>
              </a:rPr>
              <a:t>2 N</a:t>
            </a:r>
            <a:endParaRPr lang="en-US" altLang="en-US" sz="2700" b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5735955" y="1137920"/>
            <a:ext cx="719455" cy="551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思源黑体 CN Light" panose="020B0400000000000000" pitchFamily="34" charset="-122"/>
                <a:cs typeface="Times New Roman" panose="02020603050405020304" charset="0"/>
              </a:rPr>
              <a:t>D</a:t>
            </a:r>
          </a:p>
        </p:txBody>
      </p:sp>
      <p:pic>
        <p:nvPicPr>
          <p:cNvPr id="100005" name="图片 10000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233420" y="3484880"/>
            <a:ext cx="5993765" cy="18916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07"/>
          <p:cNvSpPr txBox="1"/>
          <p:nvPr>
            <p:custDataLst>
              <p:tags r:id="rId2"/>
            </p:custDataLst>
          </p:nvPr>
        </p:nvSpPr>
        <p:spPr>
          <a:xfrm>
            <a:off x="342265" y="383540"/>
            <a:ext cx="11431905" cy="211264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zh-CN" sz="2800" b="0">
                <a:ea typeface="黑体" panose="02010609060101010101" charset="-122"/>
              </a:rPr>
              <a:t>．一轻质弹簧的长度和弹力大小的关系如图所示，根据图像判断，下列结论正确的是（　　）</a:t>
            </a:r>
            <a:endParaRPr lang="en-US" sz="2800" b="0">
              <a:latin typeface="Times New Roman" panose="02020603050405020304" charset="0"/>
              <a:ea typeface="黑体" panose="02010609060101010101" charset="-122"/>
            </a:endParaRP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zh-CN" sz="2800" b="0">
                <a:ea typeface="黑体" panose="02010609060101010101" charset="-122"/>
              </a:rPr>
              <a:t>．弹簧的劲度系数为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1N/m	</a:t>
            </a: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zh-CN" sz="2800" b="0">
                <a:ea typeface="黑体" panose="02010609060101010101" charset="-122"/>
              </a:rPr>
              <a:t>．弹簧的劲度系数为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100N/m</a:t>
            </a: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C</a:t>
            </a:r>
            <a:r>
              <a:rPr lang="zh-CN" sz="2800" b="0">
                <a:ea typeface="黑体" panose="02010609060101010101" charset="-122"/>
              </a:rPr>
              <a:t>．弹簧的原长为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8cm	</a:t>
            </a:r>
          </a:p>
          <a:p>
            <a:pPr indent="0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zh-CN" sz="2800" b="0">
                <a:ea typeface="黑体" panose="02010609060101010101" charset="-122"/>
              </a:rPr>
              <a:t>．弹簧伸长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0.2m</a:t>
            </a:r>
            <a:r>
              <a:rPr lang="zh-CN" sz="2800" b="0">
                <a:ea typeface="黑体" panose="02010609060101010101" charset="-122"/>
              </a:rPr>
              <a:t>时，弹力的大小为</a:t>
            </a:r>
            <a:r>
              <a:rPr lang="en-US" sz="2800" b="0">
                <a:latin typeface="Times New Roman" panose="02020603050405020304" charset="0"/>
                <a:ea typeface="黑体" panose="02010609060101010101" charset="-122"/>
              </a:rPr>
              <a:t>4N</a:t>
            </a:r>
            <a:endParaRPr lang="en-US" altLang="en-US" sz="2800" b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085465" y="1163320"/>
            <a:ext cx="719455" cy="551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思源黑体 CN Light" panose="020B0400000000000000" pitchFamily="34" charset="-122"/>
                <a:cs typeface="Times New Roman" panose="02020603050405020304" charset="0"/>
              </a:rPr>
              <a:t>B</a:t>
            </a:r>
          </a:p>
        </p:txBody>
      </p:sp>
      <p:pic>
        <p:nvPicPr>
          <p:cNvPr id="100007" name="图片 10000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154670" y="1304290"/>
            <a:ext cx="3350260" cy="28854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24E3E7-0B21-F749-C900-7FFD32A42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https://www.bilibili.com/video/BV1vq4y1d7Lf/?spm_id_from=333.337.search-card.all.click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0862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4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4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4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4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4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4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5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5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5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5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6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6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6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6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6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6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6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6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6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7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7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7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7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7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7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8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8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8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8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8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7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7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7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7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59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6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5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5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49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5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5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9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9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9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9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9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9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9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9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9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8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87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8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0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0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0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07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0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09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1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1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1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1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15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1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17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0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0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0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7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8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9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5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7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8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9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4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5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19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46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47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48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49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5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5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4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43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44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57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58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6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6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63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59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6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53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5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5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69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7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65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6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67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76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77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7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7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74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83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84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8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88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89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9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86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87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79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8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8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96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97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98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9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5"/>
  <p:tag name="KSO_WM_FULL_TEXT_BEAUTIFY_COPY_ID" val="21505"/>
  <p:tag name="KSO_WM_UNIT_TEXT_FILL_FORE_SCHEMECOLOR_INDEX" val="1"/>
  <p:tag name="KSO_WM_UNIT_TEXT_FILL_FORE_SCHEMECOLOR_INDEX_BRIGHTNESS" val="0"/>
  <p:tag name="KSO_WM_UNIT_TEXT_FILL_TYPE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9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93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94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02"/>
  <p:tag name="KSO_WM_UNIT_TABLE_BEAUTIFY" val="smartTable{c2329683-c299-466e-a556-7b3b968d513b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04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0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0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02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1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1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1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15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16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13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14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06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07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08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1"/>
  <p:tag name="KSO_WM_FULL_TEXT_BEAUTIFY_COPY_ID" val="32818"/>
  <p:tag name="KSO_WM_UNIT_TABLE_BEAUTIFY" val="smartTable{e830effe-366c-4dee-a0ad-388360776c15}"/>
  <p:tag name="TABLE_ENDDRAG_ORIGIN_RECT" val="680*396"/>
  <p:tag name="TABLE_ENDDRAG_RECT" val="145*112*680*396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2"/>
  <p:tag name="KSO_WM_FULL_TEXT_BEAUTIFY_COPY_ID" val="32798"/>
  <p:tag name="KSO_WM_UNIT_TEXT_FILL_FORE_SCHEMECOLOR_INDEX" val="2"/>
  <p:tag name="KSO_WM_UNIT_TEXT_FILL_FORE_SCHEMECOLOR_INDEX_BRIGHTNESS" val="0"/>
  <p:tag name="KSO_WM_UNIT_TEXT_FILL_TYPE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3"/>
  <p:tag name="KSO_WM_FULL_TEXT_BEAUTIFY_COPY_ID" val="32799"/>
  <p:tag name="KSO_WM_UNIT_TEXT_FILL_FORE_SCHEMECOLOR_INDEX" val="2"/>
  <p:tag name="KSO_WM_UNIT_TEXT_FILL_FORE_SCHEMECOLOR_INDEX_BRIGHTNESS" val="0"/>
  <p:tag name="KSO_WM_UNIT_TEXT_FILL_TYPE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4"/>
  <p:tag name="KSO_WM_FULL_TEXT_BEAUTIFY_COPY_ID" val="32800"/>
  <p:tag name="KSO_WM_UNIT_TEXT_FILL_FORE_SCHEMECOLOR_INDEX" val="2"/>
  <p:tag name="KSO_WM_UNIT_TEXT_FILL_FORE_SCHEMECOLOR_INDEX_BRIGHTNESS" val="0"/>
  <p:tag name="KSO_WM_UNIT_TEXT_FILL_TYPE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5"/>
  <p:tag name="KSO_WM_FULL_TEXT_BEAUTIFY_COPY_ID" val="32801"/>
  <p:tag name="KSO_WM_UNIT_TEXT_FILL_FORE_SCHEMECOLOR_INDEX" val="2"/>
  <p:tag name="KSO_WM_UNIT_TEXT_FILL_FORE_SCHEMECOLOR_INDEX_BRIGHTNESS" val="0"/>
  <p:tag name="KSO_WM_UNIT_TEXT_FILL_TYPE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6"/>
  <p:tag name="KSO_WM_FULL_TEXT_BEAUTIFY_COPY_ID" val="32802"/>
  <p:tag name="KSO_WM_UNIT_TEXT_FILL_FORE_SCHEMECOLOR_INDEX" val="2"/>
  <p:tag name="KSO_WM_UNIT_TEXT_FILL_FORE_SCHEMECOLOR_INDEX_BRIGHTNESS" val="0"/>
  <p:tag name="KSO_WM_UNIT_TEXT_FILL_TYPE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7"/>
  <p:tag name="KSO_WM_FULL_TEXT_BEAUTIFY_COPY_ID" val="32803"/>
  <p:tag name="KSO_WM_UNIT_TEXT_FILL_FORE_SCHEMECOLOR_INDEX" val="2"/>
  <p:tag name="KSO_WM_UNIT_TEXT_FILL_FORE_SCHEMECOLOR_INDEX_BRIGHTNESS" val="0"/>
  <p:tag name="KSO_WM_UNIT_TEXT_FILL_TYPE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8"/>
  <p:tag name="KSO_WM_FULL_TEXT_BEAUTIFY_COPY_ID" val="32804"/>
  <p:tag name="KSO_WM_UNIT_TEXT_FILL_FORE_SCHEMECOLOR_INDEX" val="2"/>
  <p:tag name="KSO_WM_UNIT_TEXT_FILL_FORE_SCHEMECOLOR_INDEX_BRIGHTNESS" val="0"/>
  <p:tag name="KSO_WM_UNIT_TEXT_FILL_TYPE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9"/>
  <p:tag name="KSO_WM_FULL_TEXT_BEAUTIFY_COPY_ID" val="32805"/>
  <p:tag name="KSO_WM_UNIT_TEXT_FILL_FORE_SCHEMECOLOR_INDEX" val="2"/>
  <p:tag name="KSO_WM_UNIT_TEXT_FILL_FORE_SCHEMECOLOR_INDEX_BRIGHTNESS" val="0"/>
  <p:tag name="KSO_WM_UNIT_TEXT_FILL_TYPE" val="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0"/>
  <p:tag name="KSO_WM_FULL_TEXT_BEAUTIFY_COPY_ID" val="3116"/>
  <p:tag name="KSO_WM_UNIT_TEXT_FILL_FORE_SCHEMECOLOR_INDEX" val="2"/>
  <p:tag name="KSO_WM_UNIT_TEXT_FILL_FORE_SCHEMECOLOR_INDEX_BRIGHTNESS" val="0"/>
  <p:tag name="KSO_WM_UNIT_TEXT_FILL_TYPE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39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18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19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2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26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27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28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29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3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3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3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33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34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35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36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37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38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39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4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43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44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4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42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23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24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36"/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37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38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39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0"/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2"/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3"/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4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5"/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6"/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7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8"/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9"/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0"/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2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3"/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4"/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5"/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7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8"/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9"/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21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22"/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29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30"/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31"/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39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40"/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41"/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45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46"/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47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2</TotalTime>
  <Words>2618</Words>
  <Application>Microsoft Macintosh PowerPoint</Application>
  <PresentationFormat>Widescreen</PresentationFormat>
  <Paragraphs>247</Paragraphs>
  <Slides>30</Slides>
  <Notes>15</Notes>
  <HiddenSlides>0</HiddenSlides>
  <MMClips>6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汉仪宋韵朗黑W</vt:lpstr>
      <vt:lpstr>思源黑体 CN Bold</vt:lpstr>
      <vt:lpstr>楷体</vt:lpstr>
      <vt:lpstr>微软雅黑</vt:lpstr>
      <vt:lpstr>黑体</vt:lpstr>
      <vt:lpstr>宋体</vt:lpstr>
      <vt:lpstr>华文楷体</vt:lpstr>
      <vt:lpstr>Aptos</vt:lpstr>
      <vt:lpstr>Arial</vt:lpstr>
      <vt:lpstr>Times New Roman</vt:lpstr>
      <vt:lpstr>Wingdings</vt:lpstr>
      <vt:lpstr>Office 主题​​</vt:lpstr>
      <vt:lpstr>牛顿第三定律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弹力有无的判断 胡克定律</vt:lpstr>
      <vt:lpstr>PowerPoint Presentation</vt:lpstr>
      <vt:lpstr>PowerPoint Presentation</vt:lpstr>
      <vt:lpstr>PowerPoint Presentation</vt:lpstr>
      <vt:lpstr>PowerPoint Presentation</vt:lpstr>
      <vt:lpstr>实验发现，在弹性限度内，弹簧的弹力与伸长量成正比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3</cp:revision>
  <dcterms:created xsi:type="dcterms:W3CDTF">2026-10-14T02:45:37Z</dcterms:created>
  <dcterms:modified xsi:type="dcterms:W3CDTF">2026-10-14T23:33:47Z</dcterms:modified>
</cp:coreProperties>
</file>