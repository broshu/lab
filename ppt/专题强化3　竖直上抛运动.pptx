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98" r:id="rId2"/>
    <p:sldId id="364" r:id="rId3"/>
    <p:sldId id="312" r:id="rId4"/>
    <p:sldId id="357" r:id="rId5"/>
    <p:sldId id="365" r:id="rId6"/>
    <p:sldId id="358" r:id="rId7"/>
    <p:sldId id="318" r:id="rId8"/>
    <p:sldId id="319" r:id="rId9"/>
    <p:sldId id="337" r:id="rId10"/>
    <p:sldId id="338" r:id="rId11"/>
    <p:sldId id="339" r:id="rId12"/>
    <p:sldId id="366" r:id="rId13"/>
    <p:sldId id="320" r:id="rId14"/>
    <p:sldId id="321" r:id="rId15"/>
    <p:sldId id="322" r:id="rId16"/>
    <p:sldId id="323" r:id="rId17"/>
    <p:sldId id="324" r:id="rId18"/>
    <p:sldId id="342" r:id="rId19"/>
    <p:sldId id="325" r:id="rId20"/>
    <p:sldId id="343" r:id="rId21"/>
    <p:sldId id="367" r:id="rId22"/>
    <p:sldId id="326" r:id="rId23"/>
    <p:sldId id="327" r:id="rId24"/>
    <p:sldId id="328" r:id="rId25"/>
    <p:sldId id="344" r:id="rId26"/>
    <p:sldId id="329" r:id="rId27"/>
    <p:sldId id="345" r:id="rId28"/>
    <p:sldId id="330" r:id="rId29"/>
    <p:sldId id="331" r:id="rId30"/>
    <p:sldId id="346" r:id="rId31"/>
    <p:sldId id="332" r:id="rId32"/>
    <p:sldId id="347" r:id="rId33"/>
    <p:sldId id="348" r:id="rId34"/>
    <p:sldId id="333" r:id="rId35"/>
    <p:sldId id="350" r:id="rId36"/>
    <p:sldId id="334" r:id="rId37"/>
    <p:sldId id="351" r:id="rId38"/>
    <p:sldId id="335" r:id="rId39"/>
    <p:sldId id="352" r:id="rId40"/>
    <p:sldId id="353" r:id="rId41"/>
    <p:sldId id="354" r:id="rId42"/>
    <p:sldId id="336" r:id="rId43"/>
    <p:sldId id="355" r:id="rId44"/>
    <p:sldId id="356" r:id="rId45"/>
    <p:sldId id="265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63C"/>
    <a:srgbClr val="B7E3E5"/>
    <a:srgbClr val="2595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D7E41-FDAA-4148-A422-C3913B17621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EB803-5943-4B22-B194-77DCF3659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63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96E7A9-759E-4F37-A7A3-84E99B66B5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30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038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666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31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19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8188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33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69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理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必修第一册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方正新报宋_GBK" panose="03000509000000000000" pitchFamily="65" charset="-122"/>
              <a:ea typeface="方正新报宋_GBK" panose="03000509000000000000" pitchFamily="65" charset="-122"/>
              <a:cs typeface="+mn-cs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34217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6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12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73" r:id="rId3"/>
    <p:sldLayoutId id="2147483653" r:id="rId4"/>
    <p:sldLayoutId id="2147483651" r:id="rId5"/>
    <p:sldLayoutId id="214748367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6.xml"/><Relationship Id="rId3" Type="http://schemas.openxmlformats.org/officeDocument/2006/relationships/image" Target="../media/image21.png"/><Relationship Id="rId7" Type="http://schemas.openxmlformats.org/officeDocument/2006/relationships/slide" Target="slide24.xml"/><Relationship Id="rId12" Type="http://schemas.openxmlformats.org/officeDocument/2006/relationships/slide" Target="slide3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3.xml"/><Relationship Id="rId11" Type="http://schemas.openxmlformats.org/officeDocument/2006/relationships/slide" Target="slide31.xml"/><Relationship Id="rId5" Type="http://schemas.openxmlformats.org/officeDocument/2006/relationships/slide" Target="slide22.xml"/><Relationship Id="rId15" Type="http://schemas.openxmlformats.org/officeDocument/2006/relationships/slide" Target="slide42.xml"/><Relationship Id="rId10" Type="http://schemas.openxmlformats.org/officeDocument/2006/relationships/slide" Target="slide29.xml"/><Relationship Id="rId4" Type="http://schemas.openxmlformats.org/officeDocument/2006/relationships/image" Target="../media/image22.png"/><Relationship Id="rId9" Type="http://schemas.openxmlformats.org/officeDocument/2006/relationships/slide" Target="slide28.xml"/><Relationship Id="rId14" Type="http://schemas.openxmlformats.org/officeDocument/2006/relationships/slide" Target="slide3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24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3.xml"/><Relationship Id="rId10" Type="http://schemas.openxmlformats.org/officeDocument/2006/relationships/slide" Target="slide31.xml"/><Relationship Id="rId4" Type="http://schemas.openxmlformats.org/officeDocument/2006/relationships/slide" Target="slide22.xml"/><Relationship Id="rId9" Type="http://schemas.openxmlformats.org/officeDocument/2006/relationships/slide" Target="slide29.xml"/><Relationship Id="rId14" Type="http://schemas.openxmlformats.org/officeDocument/2006/relationships/slide" Target="slide4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26.bin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3.xml"/><Relationship Id="rId10" Type="http://schemas.openxmlformats.org/officeDocument/2006/relationships/slide" Target="slide31.xml"/><Relationship Id="rId4" Type="http://schemas.openxmlformats.org/officeDocument/2006/relationships/slide" Target="slide22.xml"/><Relationship Id="rId9" Type="http://schemas.openxmlformats.org/officeDocument/2006/relationships/slide" Target="slide29.xml"/><Relationship Id="rId14" Type="http://schemas.openxmlformats.org/officeDocument/2006/relationships/slide" Target="slide4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23.xml"/><Relationship Id="rId7" Type="http://schemas.openxmlformats.org/officeDocument/2006/relationships/slide" Target="slide29.xml"/><Relationship Id="rId12" Type="http://schemas.openxmlformats.org/officeDocument/2006/relationships/slide" Target="slide42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38.xml"/><Relationship Id="rId5" Type="http://schemas.openxmlformats.org/officeDocument/2006/relationships/slide" Target="slide26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30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3.xml"/><Relationship Id="rId10" Type="http://schemas.openxmlformats.org/officeDocument/2006/relationships/slide" Target="slide31.xml"/><Relationship Id="rId4" Type="http://schemas.openxmlformats.org/officeDocument/2006/relationships/slide" Target="slide22.xml"/><Relationship Id="rId9" Type="http://schemas.openxmlformats.org/officeDocument/2006/relationships/slide" Target="slide29.xml"/><Relationship Id="rId14" Type="http://schemas.openxmlformats.org/officeDocument/2006/relationships/slide" Target="slide4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23.xml"/><Relationship Id="rId7" Type="http://schemas.openxmlformats.org/officeDocument/2006/relationships/slide" Target="slide29.xml"/><Relationship Id="rId12" Type="http://schemas.openxmlformats.org/officeDocument/2006/relationships/slide" Target="slide42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38.xml"/><Relationship Id="rId5" Type="http://schemas.openxmlformats.org/officeDocument/2006/relationships/slide" Target="slide26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33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3.xml"/><Relationship Id="rId10" Type="http://schemas.openxmlformats.org/officeDocument/2006/relationships/slide" Target="slide31.xml"/><Relationship Id="rId4" Type="http://schemas.openxmlformats.org/officeDocument/2006/relationships/slide" Target="slide22.xml"/><Relationship Id="rId9" Type="http://schemas.openxmlformats.org/officeDocument/2006/relationships/slide" Target="slide29.xml"/><Relationship Id="rId14" Type="http://schemas.openxmlformats.org/officeDocument/2006/relationships/slide" Target="slide4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23.xml"/><Relationship Id="rId7" Type="http://schemas.openxmlformats.org/officeDocument/2006/relationships/slide" Target="slide29.xml"/><Relationship Id="rId12" Type="http://schemas.openxmlformats.org/officeDocument/2006/relationships/slide" Target="slide42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38.xml"/><Relationship Id="rId5" Type="http://schemas.openxmlformats.org/officeDocument/2006/relationships/slide" Target="slide26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23.xml"/><Relationship Id="rId7" Type="http://schemas.openxmlformats.org/officeDocument/2006/relationships/slide" Target="slide29.xml"/><Relationship Id="rId12" Type="http://schemas.openxmlformats.org/officeDocument/2006/relationships/slide" Target="slide42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38.xml"/><Relationship Id="rId5" Type="http://schemas.openxmlformats.org/officeDocument/2006/relationships/slide" Target="slide26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23.xml"/><Relationship Id="rId7" Type="http://schemas.openxmlformats.org/officeDocument/2006/relationships/slide" Target="slide29.xml"/><Relationship Id="rId12" Type="http://schemas.openxmlformats.org/officeDocument/2006/relationships/slide" Target="slide42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slide" Target="slide38.xml"/><Relationship Id="rId5" Type="http://schemas.openxmlformats.org/officeDocument/2006/relationships/slide" Target="slide26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6.xml"/><Relationship Id="rId3" Type="http://schemas.openxmlformats.org/officeDocument/2006/relationships/image" Target="../media/image41.png"/><Relationship Id="rId7" Type="http://schemas.openxmlformats.org/officeDocument/2006/relationships/slide" Target="slide24.xml"/><Relationship Id="rId12" Type="http://schemas.openxmlformats.org/officeDocument/2006/relationships/slide" Target="slide34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3.xml"/><Relationship Id="rId11" Type="http://schemas.openxmlformats.org/officeDocument/2006/relationships/slide" Target="slide31.xml"/><Relationship Id="rId5" Type="http://schemas.openxmlformats.org/officeDocument/2006/relationships/slide" Target="slide22.xml"/><Relationship Id="rId15" Type="http://schemas.openxmlformats.org/officeDocument/2006/relationships/slide" Target="slide42.xml"/><Relationship Id="rId10" Type="http://schemas.openxmlformats.org/officeDocument/2006/relationships/slide" Target="slide29.xml"/><Relationship Id="rId4" Type="http://schemas.openxmlformats.org/officeDocument/2006/relationships/image" Target="../media/image42.png"/><Relationship Id="rId9" Type="http://schemas.openxmlformats.org/officeDocument/2006/relationships/slide" Target="slide28.xml"/><Relationship Id="rId14" Type="http://schemas.openxmlformats.org/officeDocument/2006/relationships/slide" Target="slide3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13" Type="http://schemas.openxmlformats.org/officeDocument/2006/relationships/slide" Target="slide36.xml"/><Relationship Id="rId3" Type="http://schemas.openxmlformats.org/officeDocument/2006/relationships/image" Target="../media/image44.png"/><Relationship Id="rId7" Type="http://schemas.openxmlformats.org/officeDocument/2006/relationships/slide" Target="slide24.xml"/><Relationship Id="rId12" Type="http://schemas.openxmlformats.org/officeDocument/2006/relationships/slide" Target="slide34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3.xml"/><Relationship Id="rId11" Type="http://schemas.openxmlformats.org/officeDocument/2006/relationships/slide" Target="slide31.xml"/><Relationship Id="rId5" Type="http://schemas.openxmlformats.org/officeDocument/2006/relationships/slide" Target="slide22.xml"/><Relationship Id="rId15" Type="http://schemas.openxmlformats.org/officeDocument/2006/relationships/slide" Target="slide42.xml"/><Relationship Id="rId10" Type="http://schemas.openxmlformats.org/officeDocument/2006/relationships/slide" Target="slide29.xml"/><Relationship Id="rId4" Type="http://schemas.openxmlformats.org/officeDocument/2006/relationships/image" Target="../media/image46.png"/><Relationship Id="rId9" Type="http://schemas.openxmlformats.org/officeDocument/2006/relationships/slide" Target="slide28.xml"/><Relationship Id="rId14" Type="http://schemas.openxmlformats.org/officeDocument/2006/relationships/slide" Target="slide38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42.xml"/><Relationship Id="rId3" Type="http://schemas.openxmlformats.org/officeDocument/2006/relationships/slide" Target="slide22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3.xml"/><Relationship Id="rId9" Type="http://schemas.openxmlformats.org/officeDocument/2006/relationships/slide" Target="slide3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48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3.xml"/><Relationship Id="rId10" Type="http://schemas.openxmlformats.org/officeDocument/2006/relationships/slide" Target="slide31.xml"/><Relationship Id="rId4" Type="http://schemas.openxmlformats.org/officeDocument/2006/relationships/slide" Target="slide22.xml"/><Relationship Id="rId9" Type="http://schemas.openxmlformats.org/officeDocument/2006/relationships/slide" Target="slide29.xml"/><Relationship Id="rId14" Type="http://schemas.openxmlformats.org/officeDocument/2006/relationships/slide" Target="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13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368" y="-434907"/>
            <a:ext cx="7614606" cy="7614606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7163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7119" y="1745951"/>
            <a:ext cx="9970638" cy="343751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0" y="3026107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专题强化3　竖直上抛运动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306288" y="1901250"/>
            <a:ext cx="469329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hangingPunct="0">
              <a:defRPr/>
            </a:pPr>
            <a:r>
              <a:rPr lang="zh-CN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第二章    匀变速直线运动的研究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07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doors dir="vert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0.31666 L 1.45833E-6 -2.59259E-6 " pathEditMode="relative" rAng="0" ptsTypes="AA">
                                      <p:cBhvr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9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强化点一</a:t>
            </a:r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　竖直上抛运动</a:t>
            </a:r>
            <a:endParaRPr lang="zh-CN" altLang="en-US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945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3" name="yt_shape_12593"/>
          <p:cNvSpPr txBox="1"/>
          <p:nvPr/>
        </p:nvSpPr>
        <p:spPr>
          <a:xfrm>
            <a:off x="5679942" y="0"/>
            <a:ext cx="718145" cy="499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3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2594" name="yt_shape_12594"/>
          <p:cNvSpPr txBox="1"/>
          <p:nvPr/>
        </p:nvSpPr>
        <p:spPr>
          <a:xfrm>
            <a:off x="267086" y="550680"/>
            <a:ext cx="11543998" cy="10408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定义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将物体以某一初速度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竖直向上抛出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9efa0"/>
              </a:rPr>
              <a:t>物体只在重力作用下所做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的运动就是竖直上抛运动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2595" name="yt_shape_12595"/>
          <p:cNvSpPr txBox="1"/>
          <p:nvPr/>
        </p:nvSpPr>
        <p:spPr>
          <a:xfrm>
            <a:off x="267086" y="1642342"/>
            <a:ext cx="11543998" cy="10600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实质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的匀变速直线运动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6_102c5"/>
              </a:rPr>
              <a:t>通常规定初速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的方向为正方向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为重力加速度的大小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  <p:sp>
        <p:nvSpPr>
          <p:cNvPr id="12596" name="yt_shape_12596"/>
          <p:cNvSpPr txBox="1"/>
          <p:nvPr/>
        </p:nvSpPr>
        <p:spPr>
          <a:xfrm>
            <a:off x="267015" y="2753176"/>
            <a:ext cx="1885131" cy="499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处理方法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12597">
                <a:extLst>
                  <a:ext uri="{FF2B5EF4-FFF2-40B4-BE49-F238E27FC236}">
                    <a16:creationId xmlns:a16="http://schemas.microsoft.com/office/drawing/2014/main" id="{0036F161-42A4-60C1-0360-BC6164998ACD}"/>
                  </a:ext>
                </a:extLst>
              </p:cNvPr>
              <p:cNvSpPr txBox="1"/>
              <p:nvPr/>
            </p:nvSpPr>
            <p:spPr>
              <a:xfrm>
                <a:off x="267086" y="3303856"/>
                <a:ext cx="11924914" cy="209627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分段法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5_2fff2"/>
                  </a:rPr>
                  <a:t>可以把竖直上抛运动分成上升阶段的匀减速直线运动和下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降阶段的自由落体运动处理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上升阶段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_fb6c4"/>
                  </a:rPr>
                  <a:t>下落阶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段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3" name="yt_shape_12597">
                <a:extLst>
                  <a:ext uri="{FF2B5EF4-FFF2-40B4-BE49-F238E27FC236}">
                    <a16:creationId xmlns:a16="http://schemas.microsoft.com/office/drawing/2014/main" id="{0036F161-42A4-60C1-0360-BC6164998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3303856"/>
                <a:ext cx="11924914" cy="2096279"/>
              </a:xfrm>
              <a:prstGeom prst="rect">
                <a:avLst/>
              </a:prstGeom>
              <a:blipFill>
                <a:blip r:embed="rId2"/>
                <a:stretch>
                  <a:fillRect l="-1840" t="-2907"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599" name="yt_shape_12599"/>
              <p:cNvSpPr txBox="1"/>
              <p:nvPr/>
            </p:nvSpPr>
            <p:spPr>
              <a:xfrm>
                <a:off x="324071" y="467999"/>
                <a:ext cx="11543998" cy="199740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整体法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将竖直上抛运动视为初速度为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加速度为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6_77f42"/>
                  </a:rPr>
                  <a:t> 的匀变速直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线运动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取整个过程分析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选竖直向上为正方向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则有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91d6f"/>
                  </a:rPr>
                  <a:t>t</a:t>
                </a:r>
                <a:b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2599" name="yt_shape_12599" descr="{&quot;rangeId&quot;:84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1997406"/>
              </a:xfrm>
              <a:prstGeom prst="rect">
                <a:avLst/>
              </a:prstGeom>
              <a:blipFill>
                <a:blip r:embed="rId2"/>
                <a:stretch>
                  <a:fillRect l="-1848" t="-1223" r="-475" b="-51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01" name="yt_shape_12601"/>
          <p:cNvSpPr txBox="1"/>
          <p:nvPr/>
        </p:nvSpPr>
        <p:spPr>
          <a:xfrm>
            <a:off x="324071" y="2516193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上升阶段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＜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下落阶段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在抛出点上方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＜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33a6c"/>
              </a:rPr>
              <a:t>在抛出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点下方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t_shape_12602"/>
          <p:cNvSpPr txBox="1"/>
          <p:nvPr/>
        </p:nvSpPr>
        <p:spPr>
          <a:xfrm>
            <a:off x="267086" y="566825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竖直上抛运动规律的应用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气球下悬挂一重物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86160"/>
              </a:rPr>
              <a:t>m/s</a:t>
            </a:r>
            <a:b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匀速上升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当到达离地面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175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处时悬挂重物的绳子突然断裂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d84e1"/>
              </a:rPr>
              <a:t>那么重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物经多少时间落到地面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落地的速度多大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空气阻力不计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8379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3" name="yt_shape_12603"/>
          <p:cNvSpPr txBox="1"/>
          <p:nvPr/>
        </p:nvSpPr>
        <p:spPr>
          <a:xfrm>
            <a:off x="267086" y="3043511"/>
            <a:ext cx="281166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</p:spTree>
    <p:extLst>
      <p:ext uri="{BB962C8B-B14F-4D97-AF65-F5344CB8AC3E}">
        <p14:creationId xmlns:p14="http://schemas.microsoft.com/office/powerpoint/2010/main" val="15133438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604" name="yt_shape_12604"/>
              <p:cNvSpPr txBox="1"/>
              <p:nvPr/>
            </p:nvSpPr>
            <p:spPr>
              <a:xfrm>
                <a:off x="324000" y="467999"/>
                <a:ext cx="10382650" cy="637700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方法一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分段法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分成上升阶段和下落阶段两过程考虑。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绳子断裂后重物可继续上升的时间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s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上升的高度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s</m:t>
                        </m:r>
                        <m:sSup>
                          <m:sSupPr>
                            <m:ctrlP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2×10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故重物离地面的最大高度为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175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180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重物从最高处自由下落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落地时间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2×180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m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落地速度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方向竖直向下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所以从绳子突然断裂到重物落地共需时间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2604" name="yt_shape_126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67999"/>
                <a:ext cx="10382650" cy="6377002"/>
              </a:xfrm>
              <a:prstGeom prst="rect">
                <a:avLst/>
              </a:prstGeom>
              <a:blipFill>
                <a:blip r:embed="rId2"/>
                <a:stretch>
                  <a:fillRect l="-2055" t="-382" r="-1174" b="-2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6" name="yt_shape_12606"/>
          <p:cNvSpPr txBox="1"/>
          <p:nvPr/>
        </p:nvSpPr>
        <p:spPr>
          <a:xfrm>
            <a:off x="324000" y="467999"/>
            <a:ext cx="251350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方法二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黑体" pitchFamily="28"/>
              </a:rPr>
              <a:t>全程法</a:t>
            </a:r>
          </a:p>
        </p:txBody>
      </p:sp>
      <p:sp>
        <p:nvSpPr>
          <p:cNvPr id="12607" name="yt_shape_12607"/>
          <p:cNvSpPr txBox="1"/>
          <p:nvPr/>
        </p:nvSpPr>
        <p:spPr>
          <a:xfrm>
            <a:off x="324000" y="1050984"/>
            <a:ext cx="50270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从全程的匀减速直线运动考虑。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08" name="yt_shape_12608"/>
              <p:cNvSpPr txBox="1"/>
              <p:nvPr/>
            </p:nvSpPr>
            <p:spPr>
              <a:xfrm>
                <a:off x="324071" y="1633969"/>
                <a:ext cx="11924914" cy="224587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从绳子断裂开始计时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经时间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后重物落至抛出点下方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e5980"/>
                  </a:rPr>
                  <a:t>规定初速度方向为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正方向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则重物在时间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内的位移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175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由位移公式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2f0f3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175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</p:txBody>
          </p:sp>
        </mc:Choice>
        <mc:Fallback xmlns="" xmlns:p15="http://schemas.microsoft.com/office/powerpoint/2012/main" xmlns:a16="http://schemas.microsoft.com/office/drawing/2014/main">
          <p:sp>
            <p:nvSpPr>
              <p:cNvPr id="12608" name="yt_shape_126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633969"/>
                <a:ext cx="11924914" cy="2245871"/>
              </a:xfrm>
              <a:prstGeom prst="rect">
                <a:avLst/>
              </a:prstGeom>
              <a:blipFill>
                <a:blip r:embed="rId2"/>
                <a:stretch>
                  <a:fillRect l="-1789" t="-1087" b="-4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10" name="yt_shape_12610"/>
          <p:cNvSpPr txBox="1"/>
          <p:nvPr/>
        </p:nvSpPr>
        <p:spPr>
          <a:xfrm>
            <a:off x="324000" y="3930628"/>
            <a:ext cx="10369826" cy="173868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不合题意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舍去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所以重物落地速度为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gt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其负号表示方向竖直向下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与初速度方向相反。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3" name="yt_shape_12613"/>
          <p:cNvSpPr txBox="1"/>
          <p:nvPr/>
        </p:nvSpPr>
        <p:spPr>
          <a:xfrm>
            <a:off x="267086" y="1093150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学校社团活动中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5e810"/>
              </a:rPr>
              <a:t>某同学自制二级水火箭模拟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火箭的运动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水火箭从水平地面由静止竖直向上发射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61e6f"/>
              </a:rPr>
              <a:t>第一级启动时水火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箭可以看作匀加速直线运动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水火箭速度达到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3a6d4"/>
              </a:rPr>
              <a:t>此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时第二级启动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水火箭以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8e6ee"/>
              </a:rPr>
              <a:t>的加速度继续向上做匀加速直线运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耗尽箭体内的水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忽略空气的作用力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1fe26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整个运动过程中可将水火箭视为质点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2614" name="yt_shape_12614"/>
          <p:cNvSpPr txBox="1"/>
          <p:nvPr/>
        </p:nvSpPr>
        <p:spPr>
          <a:xfrm>
            <a:off x="267015" y="4692345"/>
            <a:ext cx="772006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水火箭体内水耗尽时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水火箭的离地高度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615" name="yt_shape_12615"/>
          <p:cNvSpPr txBox="1"/>
          <p:nvPr/>
        </p:nvSpPr>
        <p:spPr>
          <a:xfrm>
            <a:off x="267015" y="5275330"/>
            <a:ext cx="18947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25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15" y="424492"/>
            <a:ext cx="2348629" cy="617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15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616" name="yt_shape_12616"/>
              <p:cNvSpPr txBox="1"/>
              <p:nvPr/>
            </p:nvSpPr>
            <p:spPr>
              <a:xfrm>
                <a:off x="324071" y="467999"/>
                <a:ext cx="11924914" cy="53424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根据匀变速运动公式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水耗尽时的水火箭速度为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a574a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第一级启动后水火箭上升的高度为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第二级启动后水火箭上升的高度为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可得水火箭体内水耗尽时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水火箭的离地高度为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2616" name="yt_shape_126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342425"/>
              </a:xfrm>
              <a:prstGeom prst="rect">
                <a:avLst/>
              </a:prstGeom>
              <a:blipFill>
                <a:blip r:embed="rId2"/>
                <a:stretch>
                  <a:fillRect l="-1789" t="-457" b="-31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8" name="yt_shape_12618"/>
          <p:cNvSpPr txBox="1"/>
          <p:nvPr/>
        </p:nvSpPr>
        <p:spPr>
          <a:xfrm>
            <a:off x="324000" y="467999"/>
            <a:ext cx="592469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水火箭落回地面时的速度大小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619" name="yt_shape_12619"/>
          <p:cNvSpPr txBox="1"/>
          <p:nvPr/>
        </p:nvSpPr>
        <p:spPr>
          <a:xfrm>
            <a:off x="324000" y="1050984"/>
            <a:ext cx="213359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30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20" name="yt_shape_12620"/>
              <p:cNvSpPr txBox="1"/>
              <p:nvPr/>
            </p:nvSpPr>
            <p:spPr>
              <a:xfrm>
                <a:off x="324071" y="1633969"/>
                <a:ext cx="11924914" cy="335130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耗尽水火箭体内的水之后水火箭向上做竖直上抛运动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cb5f6"/>
                  </a:rPr>
                  <a:t>上升的高度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上升的最大高度为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设水火箭落回地面时的速度大小为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gH</a:t>
                </a:r>
              </a:p>
            </p:txBody>
          </p:sp>
        </mc:Choice>
        <mc:Fallback xmlns="">
          <p:sp>
            <p:nvSpPr>
              <p:cNvPr id="12620" name="yt_shape_126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633969"/>
                <a:ext cx="11924914" cy="3351302"/>
              </a:xfrm>
              <a:prstGeom prst="rect">
                <a:avLst/>
              </a:prstGeom>
              <a:blipFill>
                <a:blip r:embed="rId2"/>
                <a:stretch>
                  <a:fillRect l="-1789" t="-727" b="-5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22" name="yt_shape_12622"/>
          <p:cNvSpPr txBox="1"/>
          <p:nvPr/>
        </p:nvSpPr>
        <p:spPr>
          <a:xfrm>
            <a:off x="324000" y="5036059"/>
            <a:ext cx="268182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19" grpId="0" build="allAtOnce"/>
      <p:bldP spid="12620" grpId="0" build="allAtOnce"/>
      <p:bldP spid="12622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3" name="yt_shape_12623"/>
          <p:cNvSpPr txBox="1"/>
          <p:nvPr/>
        </p:nvSpPr>
        <p:spPr>
          <a:xfrm>
            <a:off x="324000" y="467999"/>
            <a:ext cx="70019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水火箭从发射到落回地面所用的时间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2624" name="yt_shape_12624"/>
          <p:cNvSpPr txBox="1"/>
          <p:nvPr/>
        </p:nvSpPr>
        <p:spPr>
          <a:xfrm>
            <a:off x="324000" y="1050984"/>
            <a:ext cx="157575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25" name="yt_shape_12625"/>
              <p:cNvSpPr txBox="1"/>
              <p:nvPr/>
            </p:nvSpPr>
            <p:spPr>
              <a:xfrm>
                <a:off x="324000" y="1633969"/>
                <a:ext cx="9066585" cy="2590389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竖直上抛直到回到地面所用的时间为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b="0" i="1" u="none">
                  <a:solidFill>
                    <a:srgbClr val="C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或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舍去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水火箭从发射到落回地面所用的时间是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2625" name="yt_shape_126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633969"/>
                <a:ext cx="9066585" cy="2590389"/>
              </a:xfrm>
              <a:prstGeom prst="rect">
                <a:avLst/>
              </a:prstGeom>
              <a:blipFill>
                <a:blip r:embed="rId2"/>
                <a:stretch>
                  <a:fillRect l="-2354" t="-941" r="-1479" b="-7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24" grpId="0" build="allAtOnce"/>
      <p:bldP spid="12625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强化点二　竖直上抛运动的性质</a:t>
            </a:r>
            <a:endParaRPr lang="zh-CN" altLang="en-US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030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8" name="yt_shape_12628"/>
          <p:cNvSpPr txBox="1"/>
          <p:nvPr/>
        </p:nvSpPr>
        <p:spPr>
          <a:xfrm>
            <a:off x="5679942" y="-245972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2631" name="yt_shape_12631"/>
          <p:cNvSpPr txBox="1"/>
          <p:nvPr/>
        </p:nvSpPr>
        <p:spPr>
          <a:xfrm>
            <a:off x="267086" y="1117633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初速度从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点竖直上抛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最高点为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e7626"/>
              </a:rPr>
              <a:t>重力加速度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2632" name="yt_image_12632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59129" y="2253072"/>
            <a:ext cx="279885" cy="1108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34" name="yt_shape_12634"/>
          <p:cNvSpPr txBox="1"/>
          <p:nvPr/>
        </p:nvSpPr>
        <p:spPr>
          <a:xfrm>
            <a:off x="267086" y="3361142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活动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上升过程中从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点的时间和下降过程从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8537d"/>
              </a:rPr>
              <a:t>点的时间分别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是多少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yt_shape_12635"/>
              <p:cNvSpPr txBox="1"/>
              <p:nvPr/>
            </p:nvSpPr>
            <p:spPr>
              <a:xfrm>
                <a:off x="266944" y="4263695"/>
                <a:ext cx="7100277" cy="87588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提示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上升阶段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下降阶段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8" name="yt_shape_126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44" y="4263695"/>
                <a:ext cx="7100277" cy="875881"/>
              </a:xfrm>
              <a:prstGeom prst="rect">
                <a:avLst/>
              </a:prstGeom>
              <a:blipFill>
                <a:blip r:embed="rId3"/>
                <a:stretch>
                  <a:fillRect l="-3090" r="-1545" b="-7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yt_shape_12637"/>
          <p:cNvSpPr txBox="1"/>
          <p:nvPr/>
        </p:nvSpPr>
        <p:spPr>
          <a:xfrm>
            <a:off x="266944" y="5139576"/>
            <a:ext cx="1067279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活动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上升过程经过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点和下降过程经过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点的速度大小关系怎样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0" name="yt_shape_12638"/>
          <p:cNvSpPr txBox="1"/>
          <p:nvPr/>
        </p:nvSpPr>
        <p:spPr>
          <a:xfrm>
            <a:off x="267015" y="5722561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提示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从逆向思维角度思考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都可以看成从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到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的自由落体运动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0ac25"/>
              </a:rPr>
              <a:t>故两次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经过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点的速度大小相等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方向相反。</a:t>
            </a:r>
          </a:p>
        </p:txBody>
      </p:sp>
      <p:pic>
        <p:nvPicPr>
          <p:cNvPr id="11" name="问题探究彩.jpg" descr="id:2147493359;FounderCES">
            <a:extLst>
              <a:ext uri="{FF2B5EF4-FFF2-40B4-BE49-F238E27FC236}">
                <a16:creationId xmlns:a16="http://schemas.microsoft.com/office/drawing/2014/main" id="{F4E11D75-4E2C-4D90-B3EC-8EAF3571E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44" y="499763"/>
            <a:ext cx="2347293" cy="617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10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1" name="yt_shape_12641"/>
          <p:cNvSpPr txBox="1"/>
          <p:nvPr/>
        </p:nvSpPr>
        <p:spPr>
          <a:xfrm>
            <a:off x="267015" y="878546"/>
            <a:ext cx="403956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竖直上抛运动的对称性</a:t>
            </a:r>
          </a:p>
        </p:txBody>
      </p:sp>
      <p:pic>
        <p:nvPicPr>
          <p:cNvPr id="12642" name="yt_image_12642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7" y="1613895"/>
            <a:ext cx="1105214" cy="277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44" name="yt_shape_12644"/>
          <p:cNvSpPr txBox="1"/>
          <p:nvPr/>
        </p:nvSpPr>
        <p:spPr>
          <a:xfrm>
            <a:off x="267086" y="4436227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时间对称性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对同一段距离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上升过程和下降过程时间相等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62966"/>
              </a:rPr>
              <a:t>＝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2645" name="yt_shape_12645"/>
          <p:cNvSpPr txBox="1"/>
          <p:nvPr/>
        </p:nvSpPr>
        <p:spPr>
          <a:xfrm>
            <a:off x="267086" y="5622454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速度对称性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上升过程和下降过程通过同一点时速度大小相等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a68ec"/>
              </a:rPr>
              <a:t>方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向相反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'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'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6" name="yt_image_12639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7015" y="386432"/>
            <a:ext cx="2134593" cy="57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6" name="yt_shape_12646"/>
          <p:cNvSpPr txBox="1"/>
          <p:nvPr/>
        </p:nvSpPr>
        <p:spPr>
          <a:xfrm>
            <a:off x="324071" y="467999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竖直上抛运动的多解性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通过某一点可能对应两个时刻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即物体可能处于上升阶段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c5cf2"/>
              </a:rPr>
              <a:t>也可能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处于下降阶段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通过某一距离时可能对应三个时刻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即物体上升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40e7b"/>
              </a:rPr>
              <a:t>下落通过抛出点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上方的距离和通过抛出点下方的距离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9" name="yt_shape_12649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竖直上抛运动对称性的应用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f73a2"/>
              </a:rPr>
              <a:t>一个从地面开始做竖直上抛运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动的物体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它两次经过一个较低点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的时间间隔是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e6502"/>
              </a:rPr>
              <a:t>两次经过一个较高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的时间间隔是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两点之间的距离为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9a4aa"/>
              </a:rPr>
              <a:t>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650" name="yt_table_12650" title="H_123.65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6843717"/>
                  </p:ext>
                </p:extLst>
              </p:nvPr>
            </p:nvGraphicFramePr>
            <p:xfrm>
              <a:off x="324066" y="2860710"/>
              <a:ext cx="8213408" cy="1207897"/>
            </p:xfrm>
            <a:graphic>
              <a:graphicData uri="http://schemas.openxmlformats.org/drawingml/2006/table">
                <a:tbl>
                  <a:tblPr/>
                  <a:tblGrid>
                    <a:gridCol w="4583113">
                      <a:extLst>
                        <a:ext uri="{9D8B030D-6E8A-4147-A177-3AD203B41FA5}">
                          <a16:colId xmlns:a16="http://schemas.microsoft.com/office/drawing/2014/main" val="10230"/>
                        </a:ext>
                      </a:extLst>
                    </a:gridCol>
                    <a:gridCol w="3630295">
                      <a:extLst>
                        <a:ext uri="{9D8B030D-6E8A-4147-A177-3AD203B41FA5}">
                          <a16:colId xmlns:a16="http://schemas.microsoft.com/office/drawing/2014/main" val="102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800" b="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800" b="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800" b="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800" b="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800" b="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800" b="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41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2650" name="yt_table_12650" title="H_123.65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6843717"/>
                  </p:ext>
                </p:extLst>
              </p:nvPr>
            </p:nvGraphicFramePr>
            <p:xfrm>
              <a:off x="324066" y="2860710"/>
              <a:ext cx="8213408" cy="1207897"/>
            </p:xfrm>
            <a:graphic>
              <a:graphicData uri="http://schemas.openxmlformats.org/drawingml/2006/table">
                <a:tbl>
                  <a:tblPr/>
                  <a:tblGrid>
                    <a:gridCol w="4583113">
                      <a:extLst>
                        <a:ext uri="{9D8B030D-6E8A-4147-A177-3AD203B41FA5}">
                          <a16:colId xmlns:a16="http://schemas.microsoft.com/office/drawing/2014/main" val="10230"/>
                        </a:ext>
                      </a:extLst>
                    </a:gridCol>
                    <a:gridCol w="3630295">
                      <a:extLst>
                        <a:ext uri="{9D8B030D-6E8A-4147-A177-3AD203B41FA5}">
                          <a16:colId xmlns:a16="http://schemas.microsoft.com/office/drawing/2014/main" val="10231"/>
                        </a:ext>
                      </a:extLst>
                    </a:gridCol>
                  </a:tblGrid>
                  <a:tr h="60540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8000" r="-79255" b="-11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26174" t="-8000" b="-119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40"/>
                      </a:ext>
                    </a:extLst>
                  </a:tr>
                  <a:tr h="60248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09091" r="-79255" b="-20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26174" t="-109091" b="-202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yt_shape_12651"/>
              <p:cNvSpPr txBox="1"/>
              <p:nvPr/>
            </p:nvSpPr>
            <p:spPr>
              <a:xfrm>
                <a:off x="324071" y="4068607"/>
                <a:ext cx="11924914" cy="28446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物体做竖直上抛运动经过同一点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上升时间与下落时间相等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a9069"/>
                  </a:rPr>
                  <a:t>则从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竖直上抛运动的最高点到点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3_e2d49"/>
                  </a:rPr>
                  <a:t>从竖直上抛运动的最高点到点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两点的距离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𝐵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𝐵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ab001"/>
                  </a:rPr>
                  <a:t>故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5" name="yt_shape_126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068607"/>
                <a:ext cx="11924914" cy="2844625"/>
              </a:xfrm>
              <a:prstGeom prst="rect">
                <a:avLst/>
              </a:prstGeom>
              <a:blipFill>
                <a:blip r:embed="rId3"/>
                <a:stretch>
                  <a:fillRect l="-1789" t="-857" b="-6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2907" y="286071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p14="http://schemas.microsoft.com/office/powerpoint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5" name="yt_shape_12655"/>
          <p:cNvSpPr txBox="1"/>
          <p:nvPr/>
        </p:nvSpPr>
        <p:spPr>
          <a:xfrm>
            <a:off x="267086" y="943860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竖直上抛运动的多解性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有一个足够深的井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26d70"/>
              </a:rPr>
              <a:t>在其井口正上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方将一个小球以初速度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竖直上抛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a7ca1"/>
              </a:rPr>
              <a:t>则经过多长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时间小球能够到达距离抛出点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的地方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a93ee"/>
              </a:rPr>
              <a:t>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ABC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656" name="yt_table_12656" title="H_86.5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493265"/>
                  </p:ext>
                </p:extLst>
              </p:nvPr>
            </p:nvGraphicFramePr>
            <p:xfrm>
              <a:off x="267081" y="3336571"/>
              <a:ext cx="6779324" cy="1099185"/>
            </p:xfrm>
            <a:graphic>
              <a:graphicData uri="http://schemas.openxmlformats.org/drawingml/2006/table">
                <a:tbl>
                  <a:tblPr/>
                  <a:tblGrid>
                    <a:gridCol w="3845433">
                      <a:extLst>
                        <a:ext uri="{9D8B030D-6E8A-4147-A177-3AD203B41FA5}">
                          <a16:colId xmlns:a16="http://schemas.microsoft.com/office/drawing/2014/main" val="10232"/>
                        </a:ext>
                      </a:extLst>
                    </a:gridCol>
                    <a:gridCol w="2933891">
                      <a:extLst>
                        <a:ext uri="{9D8B030D-6E8A-4147-A177-3AD203B41FA5}">
                          <a16:colId xmlns:a16="http://schemas.microsoft.com/office/drawing/2014/main" val="102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3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7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7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43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2656" name="yt_table_12656" title="H_86.5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493265"/>
                  </p:ext>
                </p:extLst>
              </p:nvPr>
            </p:nvGraphicFramePr>
            <p:xfrm>
              <a:off x="267081" y="3336571"/>
              <a:ext cx="6779324" cy="1250125"/>
            </p:xfrm>
            <a:graphic>
              <a:graphicData uri="http://schemas.openxmlformats.org/drawingml/2006/table">
                <a:tbl>
                  <a:tblPr/>
                  <a:tblGrid>
                    <a:gridCol w="3845433">
                      <a:extLst>
                        <a:ext uri="{9D8B030D-6E8A-4147-A177-3AD203B41FA5}">
                          <a16:colId xmlns:a16="http://schemas.microsoft.com/office/drawing/2014/main" val="10232"/>
                        </a:ext>
                      </a:extLst>
                    </a:gridCol>
                    <a:gridCol w="2933891">
                      <a:extLst>
                        <a:ext uri="{9D8B030D-6E8A-4147-A177-3AD203B41FA5}">
                          <a16:colId xmlns:a16="http://schemas.microsoft.com/office/drawing/2014/main" val="10233"/>
                        </a:ext>
                      </a:extLst>
                    </a:gridCol>
                  </a:tblGrid>
                  <a:tr h="597408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3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42"/>
                      </a:ext>
                    </a:extLst>
                  </a:tr>
                  <a:tr h="65271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94444" r="-76387" b="-20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30913" t="-94444" b="-20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4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81" y="405353"/>
            <a:ext cx="2348629" cy="6178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7262" y="343187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838263" y="335877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7262" y="393272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p14="http://schemas.microsoft.com/office/powerpoint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657" name="yt_shape_12657"/>
              <p:cNvSpPr txBox="1"/>
              <p:nvPr/>
            </p:nvSpPr>
            <p:spPr>
              <a:xfrm>
                <a:off x="324071" y="467999"/>
                <a:ext cx="11924914" cy="288437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小球以初速度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竖直上抛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若到达距离抛出点上方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7e898"/>
                  </a:rPr>
                  <a:t>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地方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或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0ba5b"/>
                  </a:rPr>
                  <a:t>若到达距离抛出点下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的地方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gt'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或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6627c"/>
                  </a:rPr>
                  <a:t>2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舍掉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2657" name="yt_shape_126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884379"/>
              </a:xfrm>
              <a:prstGeom prst="rect">
                <a:avLst/>
              </a:prstGeom>
              <a:blipFill>
                <a:blip r:embed="rId2"/>
                <a:stretch>
                  <a:fillRect l="-1789" t="-846" b="-65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9" name="yt_shape_12659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浙江衢州期中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起重机将一重物向上吊起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f0e2"/>
              </a:rPr>
              <a:t>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物从地面由静止开始向上做匀加速直线运动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f9635"/>
              </a:rPr>
              <a:t>从重物上掉下一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个小物块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从物块刚掉落时开始计时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86e1b"/>
              </a:rPr>
              <a:t>物块在空中运动的位移随时间变化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关系如图乙所示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ab8c1"/>
              </a:rPr>
              <a:t>下列说法正确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661" name="yt_table_12661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538566"/>
              </p:ext>
            </p:extLst>
          </p:nvPr>
        </p:nvGraphicFramePr>
        <p:xfrm>
          <a:off x="324071" y="4822010"/>
          <a:ext cx="9309100" cy="1706880"/>
        </p:xfrm>
        <a:graphic>
          <a:graphicData uri="http://schemas.openxmlformats.org/drawingml/2006/table">
            <a:tbl>
              <a:tblPr/>
              <a:tblGrid>
                <a:gridCol w="9309100">
                  <a:extLst>
                    <a:ext uri="{9D8B030D-6E8A-4147-A177-3AD203B41FA5}">
                      <a16:colId xmlns:a16="http://schemas.microsoft.com/office/drawing/2014/main" val="10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物块从重物上掉落时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重物的速度大小为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物块从重物上掉落时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重物的速度大小为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重物加速上升的加速度大小为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物块从重物上掉落后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物块离地的最大高度为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16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"/>
                  </a:ext>
                </a:extLst>
              </a:tr>
            </a:tbl>
          </a:graphicData>
        </a:graphic>
      </p:graphicFrame>
      <p:pic>
        <p:nvPicPr>
          <p:cNvPr id="12660" name="yt_image_12660_skip" title="H_224.64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01276" y="3413164"/>
            <a:ext cx="3188346" cy="140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2238" y="507522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81076" y="599727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663" name="yt_shape_12663"/>
              <p:cNvSpPr txBox="1"/>
              <p:nvPr/>
            </p:nvSpPr>
            <p:spPr>
              <a:xfrm>
                <a:off x="324071" y="467999"/>
                <a:ext cx="11924914" cy="392415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时重物与物块速度相同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方向竖直向上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e4ce1"/>
                  </a:rPr>
                  <a:t>所以物块掉落后做上抛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由图乙可知物块上升的位移为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36dde"/>
                  </a:rPr>
                  <a:t>所以物块掉落时重物的速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𝑔ℎ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由运动学公式得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5fc4d"/>
                  </a:rPr>
                  <a:t>其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中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40653"/>
                  </a:rPr>
                  <a:t>物块从重物上掉落时的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物块从重物上掉落后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ab57c"/>
                  </a:rPr>
                  <a:t>物块离地的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最大高度为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16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2663" name="yt_shape_126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924151"/>
              </a:xfrm>
              <a:prstGeom prst="rect">
                <a:avLst/>
              </a:prstGeom>
              <a:blipFill>
                <a:blip r:embed="rId2"/>
                <a:stretch>
                  <a:fillRect l="-1789" t="-622" b="-4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67" name="yt_shape_12667"/>
          <p:cNvSpPr txBox="1"/>
          <p:nvPr/>
        </p:nvSpPr>
        <p:spPr>
          <a:xfrm>
            <a:off x="324071" y="5087985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4064001" y="2719713"/>
            <a:ext cx="3733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51691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0" name="yt_shape_12670"/>
          <p:cNvSpPr txBox="1"/>
          <p:nvPr/>
        </p:nvSpPr>
        <p:spPr>
          <a:xfrm>
            <a:off x="361393" y="850554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浙江杭州期末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抓子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是一种中国民间的常见游戏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9ca64"/>
              </a:rPr>
              <a:t>其玩法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将小石子以某一初速度竖直上抛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30db8"/>
              </a:rPr>
              <a:t>然后迅速用同一只手将地面若干石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子捡起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最后将抛出的石子在地面附近接住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若抛出处离地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88ac6"/>
              </a:rPr>
              <a:t>从抛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出石子到捡起地上的石子并接住抛出的石子所花时间为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3d696"/>
              </a:rPr>
              <a:t>重力加速度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则上抛初速度为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672" name="yt_table_12672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909428"/>
              </p:ext>
            </p:extLst>
          </p:nvPr>
        </p:nvGraphicFramePr>
        <p:xfrm>
          <a:off x="361393" y="3795719"/>
          <a:ext cx="5088256" cy="1194816"/>
        </p:xfrm>
        <a:graphic>
          <a:graphicData uri="http://schemas.openxmlformats.org/drawingml/2006/table">
            <a:tbl>
              <a:tblPr/>
              <a:tblGrid>
                <a:gridCol w="3188018">
                  <a:extLst>
                    <a:ext uri="{9D8B030D-6E8A-4147-A177-3AD203B41FA5}">
                      <a16:colId xmlns:a16="http://schemas.microsoft.com/office/drawing/2014/main" val="10235"/>
                    </a:ext>
                  </a:extLst>
                </a:gridCol>
                <a:gridCol w="1900238">
                  <a:extLst>
                    <a:ext uri="{9D8B030D-6E8A-4147-A177-3AD203B41FA5}">
                      <a16:colId xmlns:a16="http://schemas.microsoft.com/office/drawing/2014/main" val="10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9"/>
                  </a:ext>
                </a:extLst>
              </a:tr>
            </a:tbl>
          </a:graphicData>
        </a:graphic>
      </p:graphicFrame>
      <p:pic>
        <p:nvPicPr>
          <p:cNvPr id="12671" name="yt_image_12671_skip" title="H_174.48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34150" y="3684723"/>
            <a:ext cx="2047461" cy="13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yt_image_10628" title="H_47.874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720270" y="387180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yt_shape_12674"/>
              <p:cNvSpPr txBox="1"/>
              <p:nvPr/>
            </p:nvSpPr>
            <p:spPr>
              <a:xfrm>
                <a:off x="361393" y="5005929"/>
                <a:ext cx="11693758" cy="138746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取竖直向上的方向为正方向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根据匀变速直线运动公式可得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7a60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7" name="yt_shape_126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93" y="5005929"/>
                <a:ext cx="11693758" cy="1387469"/>
              </a:xfrm>
              <a:prstGeom prst="rect">
                <a:avLst/>
              </a:prstGeom>
              <a:blipFill>
                <a:blip r:embed="rId4"/>
                <a:stretch>
                  <a:fillRect l="-1824" t="-1754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9" name="2ba16c8f-a4ce-4c67-a6ae-82b841cbd0d6" descr="{&quot;SlideID&quot;:&quot;326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de891e2-da0a-4698-b55d-0191b7a2cfa2" descr="{&quot;SlideID&quot;:&quot;327&quot;,&quot;SlideNumber&quot;:&quot;25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285a71b-bc54-4dc9-bbd6-59da6c9b1b67" descr="{&quot;SlideID&quot;:&quot;328&quot;,&quot;SlideNumber&quot;:&quot;2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389b665-f571-4df2-bd3b-6b9274ffd48a" descr="{&quot;SlideID&quot;:&quot;329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eda6a59-d1d7-4553-bec6-f346baaf2ecb" descr="{&quot;SlideID&quot;:&quot;330&quot;,&quot;SlideNumber&quot;:&quot;3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de2018d-d207-41f6-b38c-acb6dfcea7fb" descr="{&quot;SlideID&quot;:&quot;331&quot;,&quot;SlideNumber&quot;:&quot;3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286dd72-a1d5-41ed-a9d5-1b6aa669c270" descr="{&quot;SlideID&quot;:&quot;332&quot;,&quot;SlideNumber&quot;:&quot;33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16bc00a-92de-4b95-80c9-9f9fff23b900" descr="{&quot;SlideID&quot;:&quot;333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be5687e-e2dc-4328-93ab-34935b954605" descr="{&quot;SlideID&quot;:&quot;334&quot;,&quot;SlideNumber&quot;:&quot;3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0226f79-f737-41a1-9926-a8e4e232b501" descr="{&quot;SlideID&quot;:&quot;335&quot;,&quot;SlideNumber&quot;:&quot;4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3552588-fc2f-4b40-9397-c6cf6751eb88" descr="{&quot;SlideID&quot;:&quot;336&quot;,&quot;SlideNumber&quot;:&quot;44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308034" y="443790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6" name="yt_shape_12676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一高中生研究物体上抛运动规律时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在两教学楼最高层的连接通道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0b7d"/>
              </a:rPr>
              <a:t>确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保安全的情况下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手伸到通道外侧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ef478"/>
              </a:rPr>
              <a:t>的速度竖直向上抛出一小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抛出位置离地面的高度为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忽略空气阻力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99bc4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小球从抛出到落到地面的时间为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678" name="yt_table_12678_skip" title="H_47.0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494118"/>
              </p:ext>
            </p:extLst>
          </p:nvPr>
        </p:nvGraphicFramePr>
        <p:xfrm>
          <a:off x="324066" y="2860710"/>
          <a:ext cx="9213216" cy="597408"/>
        </p:xfrm>
        <a:graphic>
          <a:graphicData uri="http://schemas.openxmlformats.org/drawingml/2006/table">
            <a:tbl>
              <a:tblPr/>
              <a:tblGrid>
                <a:gridCol w="2457768">
                  <a:extLst>
                    <a:ext uri="{9D8B030D-6E8A-4147-A177-3AD203B41FA5}">
                      <a16:colId xmlns:a16="http://schemas.microsoft.com/office/drawing/2014/main" val="10237"/>
                    </a:ext>
                  </a:extLst>
                </a:gridCol>
                <a:gridCol w="2437130">
                  <a:extLst>
                    <a:ext uri="{9D8B030D-6E8A-4147-A177-3AD203B41FA5}">
                      <a16:colId xmlns:a16="http://schemas.microsoft.com/office/drawing/2014/main" val="10238"/>
                    </a:ext>
                  </a:extLst>
                </a:gridCol>
                <a:gridCol w="2792730">
                  <a:extLst>
                    <a:ext uri="{9D8B030D-6E8A-4147-A177-3AD203B41FA5}">
                      <a16:colId xmlns:a16="http://schemas.microsoft.com/office/drawing/2014/main" val="10239"/>
                    </a:ext>
                  </a:extLst>
                </a:gridCol>
                <a:gridCol w="1525588">
                  <a:extLst>
                    <a:ext uri="{9D8B030D-6E8A-4147-A177-3AD203B41FA5}">
                      <a16:colId xmlns:a16="http://schemas.microsoft.com/office/drawing/2014/main" val="10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0"/>
                  </a:ext>
                </a:extLst>
              </a:tr>
            </a:tbl>
          </a:graphicData>
        </a:graphic>
      </p:graphicFrame>
      <p:pic>
        <p:nvPicPr>
          <p:cNvPr id="12677" name="yt_image_12677_skip" title="H_214.36598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37282" y="2809922"/>
            <a:ext cx="1633518" cy="190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2239" y="297913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yt_shape_12680"/>
              <p:cNvSpPr txBox="1"/>
              <p:nvPr/>
            </p:nvSpPr>
            <p:spPr>
              <a:xfrm>
                <a:off x="112239" y="4887212"/>
                <a:ext cx="11469823" cy="137013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的速度竖直向上抛出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取向下为正方向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d7a83"/>
                  </a:rPr>
                  <a:t>t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7" name="yt_shape_126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9" y="4887212"/>
                <a:ext cx="11469823" cy="1370132"/>
              </a:xfrm>
              <a:prstGeom prst="rect">
                <a:avLst/>
              </a:prstGeom>
              <a:blipFill>
                <a:blip r:embed="rId3"/>
                <a:stretch>
                  <a:fillRect l="-1860" t="-1786" r="-1647" b="-9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1d0bb083-58df-4e4e-97e8-d42c6df97cc8" descr="{&quot;SlideID&quot;:&quot;326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11c4d028-d986-40ba-a666-77fe617ba17e" descr="{&quot;SlideID&quot;:&quot;327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61634fd-96b6-4a6d-9185-60cdf020c336" descr="{&quot;SlideID&quot;:&quot;328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2c56cbc-4868-4419-a403-1220c0a98589" descr="{&quot;SlideID&quot;:&quot;329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4a9e18a7-b94c-45e8-abce-37f7bd54e14e" descr="{&quot;SlideID&quot;:&quot;330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ab8e80b-fa22-4ed8-805f-ea64e4adc255" descr="{&quot;SlideID&quot;:&quot;331&quot;,&quot;SlideNumber&quot;:&quot;31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0fb8249-efd5-4cb6-a357-2142d2b6551e" descr="{&quot;SlideID&quot;:&quot;332&quot;,&quot;SlideNumber&quot;:&quot;33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ef28080-3701-4de8-a931-237eecd72de6" descr="{&quot;SlideID&quot;:&quot;333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0321a7e-2053-409d-ab14-0651b91fe8c0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f6414d3-c113-4132-aa29-42f1e2aff71f" descr="{&quot;SlideID&quot;:&quot;335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539c71fc-86bd-424d-9824-04862d02958c" descr="{&quot;SlideID&quot;:&quot;336&quot;,&quot;SlideNumber&quot;:&quot;4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2" name="yt_shape_12682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浙江丽水期中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老师上课时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从桌面将一个钢球竖直上抛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17bf"/>
              </a:rPr>
              <a:t>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钢球落至地面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以向上为正方向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表示位移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表示速度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452e5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同学们所画图像正确的是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2683" name="yt_image_12683" title="H_167.52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1912" y="2206680"/>
            <a:ext cx="5230326" cy="184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yt_image_12685" title="H_211.32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01912" y="4114555"/>
            <a:ext cx="5018560" cy="223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862143" y="579210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d0e3c8bd-ba05-4344-950b-9a0191b6c071" descr="{&quot;SlideID&quot;:&quot;326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9a7a029-4225-47d8-8a98-43bdd6e05bc6" descr="{&quot;SlideID&quot;:&quot;327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4c9496b-3e65-485f-97b5-ad2a968c8750" descr="{&quot;SlideID&quot;:&quot;328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bc94464-f2f9-444f-b58c-082de170342e" descr="{&quot;SlideID&quot;:&quot;329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bf7e406-1e86-48e0-be55-b8bb3f6f8daa" descr="{&quot;SlideID&quot;:&quot;330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8555eed-d776-4aa9-85c3-5846b54bccd1" descr="{&quot;SlideID&quot;:&quot;331&quot;,&quot;SlideNumber&quot;:&quot;31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68db5a5a-d38f-4f31-8834-8998087116a5" descr="{&quot;SlideID&quot;:&quot;332&quot;,&quot;SlideNumber&quot;:&quot;33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70a91887-b03e-43f8-b1c3-43b0586220f2" descr="{&quot;SlideID&quot;:&quot;333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e1990fb-792a-4270-9798-66500d407b50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6da56808-5a98-4213-958c-5a08f740085b" descr="{&quot;SlideID&quot;:&quot;335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e88cd66-763c-402c-8002-714be2d3db5d" descr="{&quot;SlideID&quot;:&quot;336&quot;,&quot;SlideNumber&quot;:&quot;4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yt_shape_12687"/>
          <p:cNvSpPr txBox="1"/>
          <p:nvPr/>
        </p:nvSpPr>
        <p:spPr>
          <a:xfrm>
            <a:off x="352063" y="887967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将一个钢球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竖直上抛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不计空气阻力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以向上为正方向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fa362"/>
              </a:rPr>
              <a:t>开始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钢球的位移正向增大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到达最高点后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钢球的位移正向减小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08da4"/>
              </a:rPr>
              <a:t>之后落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到抛出点下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位移为负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物体先向上做匀减速运动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b3628"/>
              </a:rPr>
              <a:t>速度正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向减小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到达最高点后向下做匀加速运动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即负向增加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3c504"/>
              </a:rPr>
              <a:t>因加速度恒定为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不变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则图像为直线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a185c256-0e78-4035-b264-7fb79ee9fee1" descr="{&quot;SlideID&quot;:&quot;326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b8c03c9-8ea1-4314-8ea5-f4685143bbf3" descr="{&quot;SlideID&quot;:&quot;327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2f770dfc-475e-4227-96da-fdc5c375e3b6" descr="{&quot;SlideID&quot;:&quot;328&quot;,&quot;SlideNumber&quot;:&quot;26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e81d330-d105-48d2-a189-81970f771fb0" descr="{&quot;SlideID&quot;:&quot;329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655cd37-2c0b-41cf-ade6-c790e867115b" descr="{&quot;SlideID&quot;:&quot;330&quot;,&quot;SlideNumber&quot;:&quot;3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800cf836-780f-47b3-896a-e8c2f650de92" descr="{&quot;SlideID&quot;:&quot;331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4a9d713-81a5-4a5d-b626-ac378078ccad" descr="{&quot;SlideID&quot;:&quot;332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76cdf6f-bfa4-484f-8b26-70d13c305419" descr="{&quot;SlideID&quot;:&quot;333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c9c7265-bce1-4a80-bfbe-1bcb1fe1ffc1" descr="{&quot;SlideID&quot;:&quot;334&quot;,&quot;SlideNumber&quot;:&quot;38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1ec1f94-448f-4166-973a-3ff2a31a8c55" descr="{&quot;SlideID&quot;:&quot;335&quot;,&quot;SlideNumber&quot;:&quot;40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923c6d0-7d6b-4b5d-8ba3-f1a29453d42b" descr="{&quot;SlideID&quot;:&quot;336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8" name="yt_shape_12688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浙江台州期中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从高出地面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81f58"/>
              </a:rPr>
              <a:t>的位置竖直向上抛出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一个小球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它上升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后回落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最后到达地面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cbd93"/>
              </a:rPr>
              <a:t>以抛出点为原点建立一维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坐标系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方向以向上为正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f49c7"/>
              </a:rPr>
              <a:t>下列说法正确的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690" name="yt_table_12690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718959"/>
              </p:ext>
            </p:extLst>
          </p:nvPr>
        </p:nvGraphicFramePr>
        <p:xfrm>
          <a:off x="324066" y="2860710"/>
          <a:ext cx="10010775" cy="2389632"/>
        </p:xfrm>
        <a:graphic>
          <a:graphicData uri="http://schemas.openxmlformats.org/drawingml/2006/table">
            <a:tbl>
              <a:tblPr/>
              <a:tblGrid>
                <a:gridCol w="10010775">
                  <a:extLst>
                    <a:ext uri="{9D8B030D-6E8A-4147-A177-3AD203B41FA5}">
                      <a16:colId xmlns:a16="http://schemas.microsoft.com/office/drawing/2014/main" val="10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整个过程中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小球的路程为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小球初速度为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从抛出点到落地点小球的位移为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上升过程和下降过程中小球的加速度大小相等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方向相反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4"/>
                  </a:ext>
                </a:extLst>
              </a:tr>
            </a:tbl>
          </a:graphicData>
        </a:graphic>
      </p:graphicFrame>
      <p:pic>
        <p:nvPicPr>
          <p:cNvPr id="12689" name="yt_image_12689_skip" title="H_208.44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87432" y="2860710"/>
            <a:ext cx="1378286" cy="264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84246" y="357299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c066c874-cbb5-4f55-b77a-6e5a78006d44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16e181e-c1bd-4bbf-93be-883af2a91c03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f087124-4704-4db8-8748-19957594e776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6278e96d-fbc5-408f-8ce6-9bc272355243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dcf3bb0-1a8a-4f8d-9634-c3a3d9688a2e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ef822ee9-92ac-4510-a959-4d27ed872fc6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664887e5-acbe-445b-ab1c-36fcef8d895f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22149e0-a799-453f-8bef-6ebeb6a23057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ae62e8b-b23d-44f8-afe3-1b36bae10099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68cbe0e-6635-4f94-b550-39db27474072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da1b907-6e7b-4534-b75b-88bede4904f9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692" name="yt_shape_12692"/>
              <p:cNvSpPr txBox="1"/>
              <p:nvPr/>
            </p:nvSpPr>
            <p:spPr>
              <a:xfrm>
                <a:off x="324071" y="467999"/>
                <a:ext cx="11924914" cy="246920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整个过程中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小球的路程为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bdadd"/>
                  </a:rPr>
                  <a:t>；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解得小球初速度为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𝑔ℎ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2×10×5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1637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从抛出点到落地点位移为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143d7"/>
                  </a:rPr>
                  <a:t>上升过程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和下降过程中加速度均为重力加速度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大小相等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方向相同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692" name="yt_shape_126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469202"/>
              </a:xfrm>
              <a:prstGeom prst="rect">
                <a:avLst/>
              </a:prstGeom>
              <a:blipFill>
                <a:blip r:embed="rId2"/>
                <a:stretch>
                  <a:fillRect l="-1789" t="-988" b="-7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6b79f196-44e9-42d8-b316-579fa3482ff7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58224c4-d052-4d98-bd2b-1b65d5ecb723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2b07200-e4ec-4bee-bf6f-8b728abd9ba6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794f9bf3-423e-4209-bc53-cc114c3cb540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438c00f-2378-4d5e-9fa8-0db8c56875b7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069a3b6d-d7ca-412b-97c6-857726272432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bfddbc2-d40c-40bc-ad4d-6b6b724987da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eb70e2c-f437-4bb1-908e-46adac0a0767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f1fd627-5720-472a-85e8-86b91435854e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707e4eb-4cc6-4b67-aa39-263207b6e271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16d9c21-a751-49f4-af64-dea00943ece7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" name="yt_shape_12694"/>
          <p:cNvSpPr txBox="1"/>
          <p:nvPr/>
        </p:nvSpPr>
        <p:spPr>
          <a:xfrm>
            <a:off x="324071" y="467999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浙江宁波检测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灯光音乐喷泉成为城市一道亮丽的风景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90885"/>
              </a:rPr>
              <a:t>中间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喷水口持续竖直向上喷出水后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形成的水柱接近六层楼的高度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150b3"/>
              </a:rPr>
              <a:t>则中间喷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水口喷出水的速度最接近的是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696" name="yt_table_12696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969580"/>
              </p:ext>
            </p:extLst>
          </p:nvPr>
        </p:nvGraphicFramePr>
        <p:xfrm>
          <a:off x="324066" y="2257468"/>
          <a:ext cx="5067618" cy="1194816"/>
        </p:xfrm>
        <a:graphic>
          <a:graphicData uri="http://schemas.openxmlformats.org/drawingml/2006/table">
            <a:tbl>
              <a:tblPr/>
              <a:tblGrid>
                <a:gridCol w="2989580">
                  <a:extLst>
                    <a:ext uri="{9D8B030D-6E8A-4147-A177-3AD203B41FA5}">
                      <a16:colId xmlns:a16="http://schemas.microsoft.com/office/drawing/2014/main" val="10242"/>
                    </a:ext>
                  </a:extLst>
                </a:gridCol>
                <a:gridCol w="2078038">
                  <a:extLst>
                    <a:ext uri="{9D8B030D-6E8A-4147-A177-3AD203B41FA5}">
                      <a16:colId xmlns:a16="http://schemas.microsoft.com/office/drawing/2014/main" val="10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"/>
                  </a:ext>
                </a:extLst>
              </a:tr>
            </a:tbl>
          </a:graphicData>
        </a:graphic>
      </p:graphicFrame>
      <p:pic>
        <p:nvPicPr>
          <p:cNvPr id="12695" name="yt_image_12695_skip" title="H_237.24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8495" y="2257468"/>
            <a:ext cx="1978362" cy="194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698" name="yt_shape_12698"/>
              <p:cNvSpPr txBox="1"/>
              <p:nvPr/>
            </p:nvSpPr>
            <p:spPr>
              <a:xfrm>
                <a:off x="324066" y="4235857"/>
                <a:ext cx="11924914" cy="12645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六层楼的高度大约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近似认为水做竖直上抛运动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2_037e3"/>
                  </a:rPr>
                  <a:t>＝－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𝑔ℎ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2698" name="yt_shape_126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66" y="4235857"/>
                <a:ext cx="11924914" cy="1264577"/>
              </a:xfrm>
              <a:prstGeom prst="rect">
                <a:avLst/>
              </a:prstGeom>
              <a:blipFill>
                <a:blip r:embed="rId3"/>
                <a:stretch>
                  <a:fillRect l="-1789" t="-1932" b="-14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2238" y="297911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b4611d01-d6b9-410d-8408-82f12afdf445" descr="{&quot;SlideID&quot;:&quot;326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957bc0e-f513-405a-91ab-2ffa0b002698" descr="{&quot;SlideID&quot;:&quot;327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da289fb-f60f-4cc8-a68d-433389cd614a" descr="{&quot;SlideID&quot;:&quot;328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d4e8558-fb4b-41e6-acdc-202099e069f9" descr="{&quot;SlideID&quot;:&quot;329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98dba574-9442-44bb-8cb5-2eaf90f46967" descr="{&quot;SlideID&quot;:&quot;330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54d1da1-5a0f-439a-a4fd-0f2b22535b75" descr="{&quot;SlideID&quot;:&quot;331&quot;,&quot;SlideNumber&quot;:&quot;31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096a8e9e-4fa3-4290-9318-5b2ef381fa34" descr="{&quot;SlideID&quot;:&quot;332&quot;,&quot;SlideNumber&quot;:&quot;33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db7a937-1a29-4d45-98ad-97885faebc42" descr="{&quot;SlideID&quot;:&quot;333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f19b70d-647c-4cdd-b240-6d0803eca641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9ac343d-41d8-40cc-8d6a-94da3ba7354d" descr="{&quot;SlideID&quot;:&quot;335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916c05e-d318-44b2-a14c-a29c40069706" descr="{&quot;SlideID&quot;:&quot;336&quot;,&quot;SlideNumber&quot;:&quot;4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" grpId="0" build="allAtOnce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0" name="yt_shape_12700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浙江杭州月考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6_ef92a"/>
              </a:rPr>
              <a:t>某物体在离地面足够远的高空某位置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的初速度竖直上抛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此后对物体的运动情况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5011e"/>
              </a:rPr>
              <a:t>取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下列描述正确的是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701" name="yt_table_12701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861890"/>
              </p:ext>
            </p:extLst>
          </p:nvPr>
        </p:nvGraphicFramePr>
        <p:xfrm>
          <a:off x="324066" y="2257468"/>
          <a:ext cx="8242300" cy="2389632"/>
        </p:xfrm>
        <a:graphic>
          <a:graphicData uri="http://schemas.openxmlformats.org/drawingml/2006/table">
            <a:tbl>
              <a:tblPr/>
              <a:tblGrid>
                <a:gridCol w="8242300">
                  <a:extLst>
                    <a:ext uri="{9D8B030D-6E8A-4147-A177-3AD203B41FA5}">
                      <a16:colId xmlns:a16="http://schemas.microsoft.com/office/drawing/2014/main" val="1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秒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物体的速度与加速度始终反向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秒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物体的位移比路程更大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秒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物体的速度改变量大小为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有三个时刻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物体离抛出点的距离大小为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4678" y="345228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4679" y="408512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d997cc32-0301-4aa4-ac7f-58042decf483" descr="{&quot;SlideID&quot;:&quot;326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5a4ed5d-0ca3-43b0-a0a5-c8e961644807" descr="{&quot;SlideID&quot;:&quot;327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adf0f1c0-ec0a-477c-aefb-c69fb8ea153d" descr="{&quot;SlideID&quot;:&quot;328&quot;,&quot;SlideNumber&quot;:&quot;26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64dd893-3f47-44fd-a3d4-6fa769f83eb4" descr="{&quot;SlideID&quot;:&quot;329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770f8dc3-1de0-418a-8719-c60bd60ca90d" descr="{&quot;SlideID&quot;:&quot;330&quot;,&quot;SlideNumber&quot;:&quot;3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e6313f4f-de80-4cb8-a1ec-b067545cce7b" descr="{&quot;SlideID&quot;:&quot;331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6f8766e-6f37-4144-9469-d8946d25dba7" descr="{&quot;SlideID&quot;:&quot;332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3a8089c-25c4-4003-858d-d428712f57de" descr="{&quot;SlideID&quot;:&quot;333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9dd6984-65b8-4366-b360-846fec51854e" descr="{&quot;SlideID&quot;:&quot;334&quot;,&quot;SlideNumber&quot;:&quot;38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41689340-1162-4dad-a3d9-dfba8ba1c881" descr="{&quot;SlideID&quot;:&quot;335&quot;,&quot;SlideNumber&quot;:&quot;40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b7a47af0-ebd6-4482-b88e-514ec20be694" descr="{&quot;SlideID&quot;:&quot;336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03" name="yt_shape_12703"/>
              <p:cNvSpPr txBox="1"/>
              <p:nvPr/>
            </p:nvSpPr>
            <p:spPr>
              <a:xfrm>
                <a:off x="324071" y="467999"/>
                <a:ext cx="11924914" cy="502753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物体上升到最高点的时间与位移为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bac8d"/>
                  </a:rPr>
                  <a:t>～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加速度与速度反向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加速度与速度同向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d91e0"/>
                  </a:rPr>
                  <a:t>s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物体向下运动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且未回到初始点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则路程大于位移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第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cea51"/>
                  </a:rPr>
                  <a:t>物体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规定竖直向上为正方向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e972f"/>
                  </a:rPr>
                  <a:t>秒物体的速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度改变量大小为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ffa10"/>
                  </a:rPr>
                  <a:t>物体上升到最高点的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位移为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则物体两次经过初始点上方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处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ad4f0"/>
                  </a:rPr>
                  <a:t>回到初始点后继续向下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第三次经过离初始点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的位置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则有三个时刻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8d5df"/>
                  </a:rPr>
                  <a:t>物体离抛出点的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距离大小为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703" name="yt_shape_127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027530"/>
              </a:xfrm>
              <a:prstGeom prst="rect">
                <a:avLst/>
              </a:prstGeom>
              <a:blipFill>
                <a:blip r:embed="rId2"/>
                <a:stretch>
                  <a:fillRect l="-1789" b="-3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82eccddb-ea04-4775-9e31-dea015d3b7b9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22ad867-817d-4d46-b0e7-d605fd86d13c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bf06279-76a4-44dc-8ec5-ab8d5e8f0b49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947f5eb-5636-40a2-94d7-cc84d5d9bafd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ea52052-2e3b-4932-a52d-e7d69cb0c453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a2914ad-6b4f-4511-989e-25a9d474d364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5394d6b-e96b-4909-852c-7c2da69c9db9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9001399d-6d34-46cc-96c4-e2c91328a3fa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2e930a6-9b0a-4405-81e2-11585c41cd8a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9eb05e5-7493-42c3-91c2-a61ac94f1e05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f056b0d-d566-41ed-9de9-b51eaf52b679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5" name="yt_shape_12705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在高为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的山崖顶上将一小球以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7faf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的速度竖直向上抛出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重力加速度取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2706" name="yt_image_12706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22611" y="1806590"/>
            <a:ext cx="1087520" cy="163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08" name="yt_shape_12708"/>
          <p:cNvSpPr txBox="1"/>
          <p:nvPr/>
        </p:nvSpPr>
        <p:spPr>
          <a:xfrm>
            <a:off x="324000" y="3441709"/>
            <a:ext cx="654345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小球能上升到离地面的最大高度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709" name="yt_shape_12709"/>
          <p:cNvSpPr txBox="1"/>
          <p:nvPr/>
        </p:nvSpPr>
        <p:spPr>
          <a:xfrm>
            <a:off x="324000" y="3973906"/>
            <a:ext cx="18947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45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2710"/>
              <p:cNvSpPr txBox="1"/>
              <p:nvPr/>
            </p:nvSpPr>
            <p:spPr>
              <a:xfrm>
                <a:off x="324000" y="4509192"/>
                <a:ext cx="7930056" cy="154157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小球竖直向上抛出上升的高度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小球能上升到离地面的最大高度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6" name="yt_shape_127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509192"/>
                <a:ext cx="7930056" cy="1541576"/>
              </a:xfrm>
              <a:prstGeom prst="rect">
                <a:avLst/>
              </a:prstGeom>
              <a:blipFill>
                <a:blip r:embed="rId3"/>
                <a:stretch>
                  <a:fillRect l="-2690" r="-1614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dc0469ed-3db4-45ea-9752-c7f4288dda1d" descr="{&quot;SlideID&quot;:&quot;326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d49161b-d906-4bdc-aa07-9c10cb0840ae" descr="{&quot;SlideID&quot;:&quot;327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1da90f8-0598-448d-aa76-af3f615092bc" descr="{&quot;SlideID&quot;:&quot;328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c6ceff8-94aa-49ed-ae93-28066b9dd255" descr="{&quot;SlideID&quot;:&quot;329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0e663e6-2827-40b5-b8ea-d336f7de719d" descr="{&quot;SlideID&quot;:&quot;330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b8318e15-bd56-4470-9a8d-0d0a2585e8e7" descr="{&quot;SlideID&quot;:&quot;331&quot;,&quot;SlideNumber&quot;:&quot;31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0229fcb4-9235-4004-b530-c97ef683cace" descr="{&quot;SlideID&quot;:&quot;332&quot;,&quot;SlideNumber&quot;:&quot;33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7983c5a-f222-40aa-9933-8c8df39c24d1" descr="{&quot;SlideID&quot;:&quot;333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1930fc9-327d-4117-aac6-0a56bdc85469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7c6fb17-41d0-4d48-9373-a992cc5ca2d5" descr="{&quot;SlideID&quot;:&quot;335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eed600a3-f6fc-4969-b3df-150e75e5ac6b" descr="{&quot;SlideID&quot;:&quot;336&quot;,&quot;SlideNumber&quot;:&quot;4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9" grpId="0" build="allAtOnce"/>
      <p:bldP spid="6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2" name="yt_shape_12712"/>
          <p:cNvSpPr txBox="1"/>
          <p:nvPr/>
        </p:nvSpPr>
        <p:spPr>
          <a:xfrm>
            <a:off x="324000" y="2060363"/>
            <a:ext cx="746037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小球从抛出到落回抛出点所经历的时间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713" name="yt_shape_12713"/>
          <p:cNvSpPr txBox="1"/>
          <p:nvPr/>
        </p:nvSpPr>
        <p:spPr>
          <a:xfrm>
            <a:off x="324000" y="2643348"/>
            <a:ext cx="157575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</a:p>
        </p:txBody>
      </p:sp>
      <p:sp>
        <p:nvSpPr>
          <p:cNvPr id="12714" name="yt_shape_12714"/>
          <p:cNvSpPr txBox="1"/>
          <p:nvPr/>
        </p:nvSpPr>
        <p:spPr>
          <a:xfrm>
            <a:off x="324000" y="3226333"/>
            <a:ext cx="9116278" cy="173868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设小球上升过程的时间为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gt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由对称性得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小球从抛出到落回抛出点所经历的时间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联立解得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c41dccf3-b13e-43dc-ac18-cdeb5329e54e" descr="{&quot;SlideID&quot;:&quot;326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ccf8c15-ea75-41fd-afb9-bb5147d9aa61" descr="{&quot;SlideID&quot;:&quot;327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f18f7a0-145b-47fe-9602-10b8384fa3e0" descr="{&quot;SlideID&quot;:&quot;328&quot;,&quot;SlideNumber&quot;:&quot;26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9209d0d-7f17-4f91-94f2-5c1c946af837" descr="{&quot;SlideID&quot;:&quot;329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388123ab-090b-466b-8b49-ef553c7a3f46" descr="{&quot;SlideID&quot;:&quot;330&quot;,&quot;SlideNumber&quot;:&quot;3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95db271-ae71-460a-bcba-d031389d1185" descr="{&quot;SlideID&quot;:&quot;331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54c99ea3-8321-46b0-b07b-341e127427ca" descr="{&quot;SlideID&quot;:&quot;332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d040680-189a-4888-b5b4-6c0a1c75a3b9" descr="{&quot;SlideID&quot;:&quot;333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b76ddedd-7841-4faa-a813-699f9b025f64" descr="{&quot;SlideID&quot;:&quot;334&quot;,&quot;SlideNumber&quot;:&quot;38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45ebc79-b2d5-4e94-b9cc-b2003f22dc53" descr="{&quot;SlideID&quot;:&quot;335&quot;,&quot;SlideNumber&quot;:&quot;40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f7c55e3-9ca9-4fb6-a25b-ab9d3ce16f58" descr="{&quot;SlideID&quot;:&quot;336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13" grpId="0" build="allAtOnce"/>
      <p:bldP spid="12714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17" name="yt_shape_12717"/>
              <p:cNvSpPr txBox="1"/>
              <p:nvPr/>
            </p:nvSpPr>
            <p:spPr>
              <a:xfrm>
                <a:off x="267086" y="2446089"/>
                <a:ext cx="11924914" cy="198714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规定竖直向上为正方向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整个过程小球做匀变速直线运动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748f0"/>
                  </a:rPr>
                  <a:t>h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gt'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gt'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717" name="yt_shape_127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2446089"/>
                <a:ext cx="11924914" cy="1987147"/>
              </a:xfrm>
              <a:prstGeom prst="rect">
                <a:avLst/>
              </a:prstGeom>
              <a:blipFill>
                <a:blip r:embed="rId2"/>
                <a:stretch>
                  <a:fillRect l="-1840" t="-1227" b="-10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19" name="yt_shape_12719"/>
          <p:cNvSpPr txBox="1"/>
          <p:nvPr/>
        </p:nvSpPr>
        <p:spPr>
          <a:xfrm>
            <a:off x="267015" y="4484024"/>
            <a:ext cx="386484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t'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＝－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2720" name="yt_shape_12720"/>
          <p:cNvSpPr txBox="1"/>
          <p:nvPr/>
        </p:nvSpPr>
        <p:spPr>
          <a:xfrm>
            <a:off x="267015" y="5067009"/>
            <a:ext cx="1071126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即小球从抛出到落到地面的时间为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落地时的速度大小为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6" name="yt_shape_12715"/>
          <p:cNvSpPr txBox="1"/>
          <p:nvPr/>
        </p:nvSpPr>
        <p:spPr>
          <a:xfrm>
            <a:off x="267015" y="611753"/>
            <a:ext cx="915635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小球从抛出到落到地面的时间和落地时的速度大小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7" name="yt_shape_12716"/>
          <p:cNvSpPr txBox="1"/>
          <p:nvPr/>
        </p:nvSpPr>
        <p:spPr>
          <a:xfrm>
            <a:off x="267015" y="1511624"/>
            <a:ext cx="290143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2d11b08f-6fc0-462c-a6bd-63bd735bfbb9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a03fab4-7530-4fd5-8335-65796dfae26f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2ebe93b-a35a-45ba-9e3b-f15194410e6a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5d369e7-bee9-42a7-b252-dc9933f652ca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6d9b186-69f8-4f2c-8d57-d2e97364ddbc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94bb4f2-641f-41a6-88fe-98e9cbf8dca0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b21a149-bc9b-4e51-b246-bcd1d4982330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5aa5434-5acf-4c39-a74e-09faaafa6846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6e989b4-04fd-42a5-9a0e-616dd2952e5f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9506f59-5bd6-478e-8abf-80741a3e7769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e8e635da-a937-47e8-8d12-b48e5ba88f91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17" grpId="0" build="allAtOnce"/>
      <p:bldP spid="12719" grpId="0" build="allAtOnce"/>
      <p:bldP spid="12720" grpId="0" build="allAtOnce"/>
      <p:bldP spid="7" grpId="0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3" name="yt_shape_12723"/>
          <p:cNvSpPr txBox="1"/>
          <p:nvPr/>
        </p:nvSpPr>
        <p:spPr>
          <a:xfrm>
            <a:off x="333402" y="925199"/>
            <a:ext cx="11535137" cy="30123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/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浙江绍兴期末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在某次演出中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d7e01"/>
              </a:rPr>
              <a:t>杂技演员为观众表演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单手抛接球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他以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的初速度每隔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7e643"/>
              </a:rPr>
              <a:t>竖直向上抛出一个小球并保证这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些小球不断在空中运动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在一段时间后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杂技演员因身体不适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2775b"/>
              </a:rPr>
              <a:t>抛出小球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的速度减小为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但仍继续保持演出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已知这些小球均可视为质点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df3c"/>
              </a:rPr>
              <a:t>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次都在竖直方向上运动并在运动过程中不会相撞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943c2"/>
              </a:rPr>
              <a:t>抛接球点距离地面的高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度为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空气阻力可忽略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60c2d"/>
              </a:rPr>
              <a:t>下列说法中正确的是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4" name="yt_image_13240" title="H_45.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5187925" y="423090"/>
            <a:ext cx="2215867" cy="58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yt_table_12724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937835"/>
              </p:ext>
            </p:extLst>
          </p:nvPr>
        </p:nvGraphicFramePr>
        <p:xfrm>
          <a:off x="333402" y="3937518"/>
          <a:ext cx="11145838" cy="2389632"/>
        </p:xfrm>
        <a:graphic>
          <a:graphicData uri="http://schemas.openxmlformats.org/drawingml/2006/table">
            <a:tbl>
              <a:tblPr/>
              <a:tblGrid>
                <a:gridCol w="11145838">
                  <a:extLst>
                    <a:ext uri="{9D8B030D-6E8A-4147-A177-3AD203B41FA5}">
                      <a16:colId xmlns:a16="http://schemas.microsoft.com/office/drawing/2014/main" val="1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杂技演员依旧可以保持与之前一样的表演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球以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初速度抛出阶段在空中运动的球最多有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个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球以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初速度抛出阶段空中运动的球最多有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个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若有某个球在抛球过程中掉到地上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则球落地的速度一定为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1995" y="465534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1996" y="526236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ab7d1d42-4c8f-469f-b9df-3669fb0e3946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f5023fc-80cb-4624-8242-fd48dcba689e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4f58f5e-c0f1-4c18-8ea5-fde2d0b99130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3b7668b-527e-46bc-af12-9c49bc201d92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78ae120-5f10-4b52-a537-4b4dd6ea6949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a333d5d-3899-4a49-9ba8-74f25a55e59c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7ce51bc-b266-4568-9cda-be8e42e0a520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82a3944f-31e5-4e33-99fd-9be954c7b063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b4cec331-69d2-4477-b63d-454bbcf9d7e3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2804d9de-74ac-4d9e-b2d9-d031c999d76c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9fe9e36d-a8ed-4781-a1ab-a8d251662134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26" name="yt_shape_12726"/>
              <p:cNvSpPr txBox="1"/>
              <p:nvPr/>
            </p:nvSpPr>
            <p:spPr>
              <a:xfrm>
                <a:off x="324071" y="467999"/>
                <a:ext cx="11924914" cy="552568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的速度抛出小球在空中的时间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因为他每隔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96975"/>
                  </a:rPr>
                  <a:t>s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抛出一球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则抛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号球时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号球恰好被接住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空中最多有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个球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同理以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4d71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的速度抛出小球在空中的时间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因为他每隔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ac15c"/>
                  </a:rPr>
                  <a:t>抛出一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则抛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号球时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号球恰好被接住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空中最多有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个球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9c108"/>
                  </a:rPr>
                  <a:t>所以杂技演员不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能保持与之前一样的表演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f5d57"/>
                  </a:rPr>
                  <a:t>若有某个球在抛球过程中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掉到地上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其中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解得球落地的速度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992b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𝑔ℎ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由于未说明掉到地上的球的初速度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44dc0"/>
                  </a:rPr>
                  <a:t>无法准确求得球落地的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速度一定为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726" name="yt_shape_127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525680"/>
              </a:xfrm>
              <a:prstGeom prst="rect">
                <a:avLst/>
              </a:prstGeom>
              <a:blipFill>
                <a:blip r:embed="rId2"/>
                <a:stretch>
                  <a:fillRect l="-1789" b="-3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1caeb171-7056-4a03-b800-7f3997fec6b6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ff9abab-1110-45bb-9928-76467dcce525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2c20c73-a2ec-4ad1-a5bb-d06f0a9af4b4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ef3422d-385a-45a9-a913-be4c9ef39f19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0683330-4ca0-4f4b-b155-0fee46fb4f5f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be84edc-7bc4-4b62-82a9-8afb659e718b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306f4de-c970-4a83-8f13-12c291691942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d4e9bc09-4ed0-44db-9e03-2577cae558f3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756735e-7d9a-4b80-a1ef-8869f4d9bd11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5d90064-3a0e-4636-acfd-555c1b060445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ea95d90-0cdf-401e-8094-4dd29469e16c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8" name="yt_shape_12728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矿井中的升降机从井底以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的速度竖直向上匀速运行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eacf7"/>
              </a:rPr>
              <a:t>某时刻升降机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底板上的一颗螺钉松动脱落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再经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升降机底板上升到井口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a12bc"/>
              </a:rPr>
              <a:t>此时松脱的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螺钉刚好落到井底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ab2a3"/>
              </a:rPr>
              <a:t>下列说法正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729" name="yt_table_12729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182085"/>
              </p:ext>
            </p:extLst>
          </p:nvPr>
        </p:nvGraphicFramePr>
        <p:xfrm>
          <a:off x="324066" y="2860710"/>
          <a:ext cx="9358313" cy="2389632"/>
        </p:xfrm>
        <a:graphic>
          <a:graphicData uri="http://schemas.openxmlformats.org/drawingml/2006/table">
            <a:tbl>
              <a:tblPr/>
              <a:tblGrid>
                <a:gridCol w="9358313">
                  <a:extLst>
                    <a:ext uri="{9D8B030D-6E8A-4147-A177-3AD203B41FA5}">
                      <a16:colId xmlns:a16="http://schemas.microsoft.com/office/drawing/2014/main" val="10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螺钉脱落后的运动为自由落体运动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螺钉脱落时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升降机底板距井底的距离为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该矿井的深度为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螺钉脱落后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螺钉与升降机底板间的距离为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8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4916" y="473932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cf5025e1-e2a6-4f6e-86a5-96b5dbd16f32" descr="{&quot;SlideID&quot;:&quot;326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77ce729-c4d0-4968-a701-cf9c792f1683" descr="{&quot;SlideID&quot;:&quot;327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ad9df6c-b2be-4171-9d3a-9f677f4f794a" descr="{&quot;SlideID&quot;:&quot;328&quot;,&quot;SlideNumber&quot;:&quot;26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6f6b22ff-4d4d-4f82-b7be-aa60f89e8181" descr="{&quot;SlideID&quot;:&quot;329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c13eccf-7ba8-4d90-9f2b-c411bccb7626" descr="{&quot;SlideID&quot;:&quot;330&quot;,&quot;SlideNumber&quot;:&quot;3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26536ca-8b0d-41d9-bcfb-8ac61135a77f" descr="{&quot;SlideID&quot;:&quot;331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4e5dc87-5cd7-44cf-bf7d-8d17bd3487ac" descr="{&quot;SlideID&quot;:&quot;332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6539f91-f0e8-4519-aaed-5720b50a505d" descr="{&quot;SlideID&quot;:&quot;333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98dce873-1518-456d-ae53-58fa5c822fb0" descr="{&quot;SlideID&quot;:&quot;334&quot;,&quot;SlideNumber&quot;:&quot;38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b07dd3c-8d1d-40a3-a5b7-afc61dcd08d3" descr="{&quot;SlideID&quot;:&quot;335&quot;,&quot;SlideNumber&quot;:&quot;40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4f021cf9-b089-408b-8de1-e0a8583d8db3" descr="{&quot;SlideID&quot;:&quot;336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31" name="yt_shape_12731"/>
              <p:cNvSpPr txBox="1"/>
              <p:nvPr/>
            </p:nvSpPr>
            <p:spPr>
              <a:xfrm>
                <a:off x="324071" y="467999"/>
                <a:ext cx="11924914" cy="464858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螺钉脱落时速度竖直向上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6_6d0b0"/>
                  </a:rPr>
                  <a:t>所以螺钉脱落后的运动为竖直上抛运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螺钉从脱落到落到井底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dc0b4"/>
                  </a:rPr>
                  <a:t>代入数据解得脱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落时螺钉距离井底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即螺钉脱落时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12277"/>
                  </a:rPr>
                  <a:t>升降机底板距离井底的距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离为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螺钉脱落时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升降机底板距离井口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cf018"/>
                  </a:rPr>
                  <a:t>该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矿井的深度为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螺钉脱落后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93432"/>
                  </a:rPr>
                  <a:t>取竖直向上为正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螺钉的位移为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27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升降机的位移为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27ff8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螺钉与升降机底板间的距离为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731" name="yt_shape_127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648580"/>
              </a:xfrm>
              <a:prstGeom prst="rect">
                <a:avLst/>
              </a:prstGeom>
              <a:blipFill>
                <a:blip r:embed="rId2"/>
                <a:stretch>
                  <a:fillRect l="-1789" t="-525" b="-3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28051311-7b25-4a0f-9394-f6eb034f0154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4e2ca8f-6237-418f-875b-d8d2187518d6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2574b1c-7b03-4455-b9df-42fc18b42836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488406bd-9958-4adb-9029-e9ed9d002e22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de03eb7-724e-40ff-9b5e-bae215d3a296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0e0fe207-0456-4b78-bd27-ab4581a0e629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f6def7a-dbbe-488c-be50-84b610fde754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1dbf720-87dc-4914-937b-df5492cf5852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63befe6b-5650-41e5-8cee-ecd59dc1e25b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66d32b4-a8a1-4b31-ae0b-a311ec245b33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ad559b0-02be-41c8-9f6e-6bc39d89a5e3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3" name="yt_shape_12733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浙江金华期中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0_4c383"/>
              </a:rPr>
              <a:t>如图所示的无人机是一种通过无线电遥控设备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或自备程序控制装置操纵的不载人飞机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可完全自主或间歇自主操作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d7ded"/>
              </a:rPr>
              <a:t>无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人机是一种能够垂直起降的小型遥控飞行器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在一次训练中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3ce54"/>
              </a:rPr>
              <a:t>时无人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机以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的加速度由静止从地面竖直上升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ea06c"/>
              </a:rPr>
              <a:t>时从无人机上掉下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一小碎片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忽略空气阻力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2734" name="yt_image_12734" title="H_168.72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62437" y="3616316"/>
            <a:ext cx="3867125" cy="214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141586f7-fabb-4454-bf18-97d0ba2dd7ba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0a9d2b4-c5a8-4346-98c0-2475da55c24d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49504a6-c09e-4c00-847c-c5ea43e05c22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47e0b0b-6b8b-4ffb-a354-142a59936655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9bd26e0f-05ca-4d88-8705-92ce2189cbed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7a1260f-e0b1-41a6-b7d4-8472c6e58885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b52436b-51c6-4cbf-8ab0-89d1580c228f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2839463-32f8-44ac-bad8-33eb80d53f43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b31357a-6a1c-441c-9c19-540131dbf684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850036fd-e1d8-4b6d-b483-f21ffbc25250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463c4ca-436a-4b07-b7ae-5312f67c45f5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6" name="yt_shape_12736"/>
          <p:cNvSpPr txBox="1"/>
          <p:nvPr/>
        </p:nvSpPr>
        <p:spPr>
          <a:xfrm>
            <a:off x="324000" y="467999"/>
            <a:ext cx="70019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小碎片从无人机上掉出时的速度大小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737" name="yt_shape_12737"/>
          <p:cNvSpPr txBox="1"/>
          <p:nvPr/>
        </p:nvSpPr>
        <p:spPr>
          <a:xfrm>
            <a:off x="324000" y="1050984"/>
            <a:ext cx="213359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20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</a:p>
        </p:txBody>
      </p:sp>
      <p:sp>
        <p:nvSpPr>
          <p:cNvPr id="12738" name="yt_shape_12738"/>
          <p:cNvSpPr txBox="1"/>
          <p:nvPr/>
        </p:nvSpPr>
        <p:spPr>
          <a:xfrm>
            <a:off x="324071" y="163396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根据速度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仿宋" pitchFamily="28"/>
                <a:ea typeface="仿宋" pitchFamily="28"/>
              </a:rPr>
              <a:t>—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时间公式可得小碎片从无人机上掉出时的速度大小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2_c8922"/>
              </a:rPr>
              <a:t>at</a:t>
            </a:r>
            <a:b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8c339b2a-301e-47b5-b0b0-3aa7d0e0db9f" descr="{&quot;SlideID&quot;:&quot;326&quot;,&quot;SlideNumber&quot;:&quot;24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49c2b79-5478-405e-9dcf-ad3a47c7a56d" descr="{&quot;SlideID&quot;:&quot;327&quot;,&quot;SlideNumber&quot;:&quot;2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1ee466a-ee10-4ffc-8a7a-3fc72cc1f4f9" descr="{&quot;SlideID&quot;:&quot;328&quot;,&quot;SlideNumber&quot;:&quot;26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54b4291-311b-4140-a927-fb447f7fd63a" descr="{&quot;SlideID&quot;:&quot;329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14b8121-30d7-400f-afe1-027b79bd1396" descr="{&quot;SlideID&quot;:&quot;330&quot;,&quot;SlideNumber&quot;:&quot;3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efe64d9-2b15-4f61-8526-bd02d8c49481" descr="{&quot;SlideID&quot;:&quot;331&quot;,&quot;SlideNumber&quot;:&quot;3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5b526209-372c-4acd-af16-66c593c0f415" descr="{&quot;SlideID&quot;:&quot;332&quot;,&quot;SlideNumber&quot;:&quot;3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e448b1f-088b-49b6-99de-c4272e4ac196" descr="{&quot;SlideID&quot;:&quot;333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c92e77f-5001-422e-9410-d73d7c8589f8" descr="{&quot;SlideID&quot;:&quot;334&quot;,&quot;SlideNumber&quot;:&quot;38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0073f0b-9b83-4f60-9128-6a0836f40812" descr="{&quot;SlideID&quot;:&quot;335&quot;,&quot;SlideNumber&quot;:&quot;40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975653e-2402-4686-8b45-8121b24027c6" descr="{&quot;SlideID&quot;:&quot;336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37" grpId="0" build="allAtOnce"/>
      <p:bldP spid="12738" grpId="0" build="allAtOnce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41" name="yt_shape_12741"/>
              <p:cNvSpPr txBox="1"/>
              <p:nvPr/>
            </p:nvSpPr>
            <p:spPr>
              <a:xfrm>
                <a:off x="267086" y="1998220"/>
                <a:ext cx="11924914" cy="420301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spc="15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spc="15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小碎片掉下时距离地面的高度为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spc="150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spc="150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小碎片从无人机上掉出后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小碎片继续上升的高度为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2×10</m:t>
                        </m:r>
                      </m:den>
                    </m:f>
                  </m:oMath>
                </a14:m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5cd06"/>
                  </a:rPr>
                  <a:t>m</a:t>
                </a:r>
                <a:b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则小碎片距离地面的最大高度为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40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741" name="yt_shape_127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1998220"/>
                <a:ext cx="11924914" cy="4203010"/>
              </a:xfrm>
              <a:prstGeom prst="rect">
                <a:avLst/>
              </a:prstGeom>
              <a:blipFill>
                <a:blip r:embed="rId2"/>
                <a:stretch>
                  <a:fillRect l="-1840" t="-581" b="-4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yt_shape_12739"/>
          <p:cNvSpPr txBox="1"/>
          <p:nvPr/>
        </p:nvSpPr>
        <p:spPr>
          <a:xfrm>
            <a:off x="267086" y="506204"/>
            <a:ext cx="556562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小碎片距离地面的最大高度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6" name="yt_shape_12740"/>
          <p:cNvSpPr txBox="1"/>
          <p:nvPr/>
        </p:nvSpPr>
        <p:spPr>
          <a:xfrm>
            <a:off x="267086" y="1182496"/>
            <a:ext cx="18947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40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b50b04cd-a1c4-40ea-abc6-41f9eaeadf97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4329f26-da8e-43eb-af04-08483a77fc26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4140cb5-272f-45c5-907a-61c714e631c5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d1437c8-0a8d-4ad9-b17e-98ea47b5ff6f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719726bc-12c0-4eda-b724-0cbc33523bb5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928d91c-0376-41be-bb24-c9d9d7e15bd1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7e4f6859-1b93-4de3-b921-29115ad2aff4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9ecfca7d-f88a-4e72-b55f-d93c15b835e6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33be055-da97-4b92-a5e9-9bbeb206417d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fa8f5e6-ca8b-4c31-9af9-eb29aed9ffc5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22757cf3-8122-4cfe-aafa-05c8901d1ddb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41" grpId="0" build="allAtOnce"/>
      <p:bldP spid="6" grpId="0" build="allAtOnce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46" name="yt_shape_12746"/>
              <p:cNvSpPr txBox="1"/>
              <p:nvPr/>
            </p:nvSpPr>
            <p:spPr>
              <a:xfrm>
                <a:off x="267086" y="1457044"/>
                <a:ext cx="11924914" cy="252357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由逆向思维法知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小碎片从无人机上掉下到最高点所用时间为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7_d402a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7_d402a"/>
                          </a:rPr>
                          <m:t>𝑣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7_d402a"/>
                          </a:rPr>
                          <m:t>𝑔</m:t>
                        </m:r>
                      </m:den>
                    </m:f>
                  </m:oMath>
                </a14:m>
                <a:br>
                  <a:rPr lang="en-US" altLang="zh-CN" sz="2800" b="0" i="1">
                    <a:solidFill>
                      <a:srgbClr val="C00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56" charset="0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小碎片从最高点到落地过程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b="0" i="1" u="none">
                  <a:solidFill>
                    <a:srgbClr val="FF0000"/>
                  </a:solidFill>
                  <a:effectLst/>
                  <a:latin typeface="Times New Roman" pitchFamily="28"/>
                  <a:ea typeface="宋体" pitchFamily="28"/>
                </a:endParaRPr>
              </a:p>
            </p:txBody>
          </p:sp>
        </mc:Choice>
        <mc:Fallback xmlns="" xmlns:a16="http://schemas.microsoft.com/office/drawing/2014/main">
          <p:sp>
            <p:nvSpPr>
              <p:cNvPr id="12746" name="yt_shape_127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1457044"/>
                <a:ext cx="11924914" cy="2523576"/>
              </a:xfrm>
              <a:prstGeom prst="rect">
                <a:avLst/>
              </a:prstGeom>
              <a:blipFill>
                <a:blip r:embed="rId2"/>
                <a:stretch>
                  <a:fillRect l="-1840" b="-4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48" name="yt_shape_12748"/>
              <p:cNvSpPr txBox="1"/>
              <p:nvPr/>
            </p:nvSpPr>
            <p:spPr>
              <a:xfrm>
                <a:off x="267015" y="4031408"/>
                <a:ext cx="7181453" cy="184505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则小碎片从无人机上掉出到落回地面的时间为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748" name="yt_shape_127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15" y="4031408"/>
                <a:ext cx="7181453" cy="1845057"/>
              </a:xfrm>
              <a:prstGeom prst="rect">
                <a:avLst/>
              </a:prstGeom>
              <a:blipFill>
                <a:blip r:embed="rId3"/>
                <a:stretch>
                  <a:fillRect l="-3056" r="-2037" b="-10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yt_shape_12743"/>
          <p:cNvSpPr txBox="1"/>
          <p:nvPr/>
        </p:nvSpPr>
        <p:spPr>
          <a:xfrm>
            <a:off x="267015" y="439046"/>
            <a:ext cx="1023357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小碎片从无人机上掉出到落回地面的时间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结果可带根号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yt_shape_12744"/>
              <p:cNvSpPr txBox="1"/>
              <p:nvPr/>
            </p:nvSpPr>
            <p:spPr>
              <a:xfrm>
                <a:off x="267015" y="924224"/>
                <a:ext cx="3177345" cy="579839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答案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</a:p>
            </p:txBody>
          </p:sp>
        </mc:Choice>
        <mc:Fallback xmlns="" xmlns:a16="http://schemas.microsoft.com/office/drawing/2014/main">
          <p:sp>
            <p:nvSpPr>
              <p:cNvPr id="5" name="yt_shape_127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15" y="924224"/>
                <a:ext cx="3177345" cy="579839"/>
              </a:xfrm>
              <a:prstGeom prst="rect">
                <a:avLst/>
              </a:prstGeom>
              <a:blipFill>
                <a:blip r:embed="rId4"/>
                <a:stretch>
                  <a:fillRect l="-6910" r="-5758" b="-36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4e51664e-9086-48aa-84d3-6518aee4366c" descr="{&quot;SlideID&quot;:&quot;326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fa6e203-c9ab-46b5-a608-b907968d937c" descr="{&quot;SlideID&quot;:&quot;327&quot;,&quot;SlideNumber&quot;:&quot;25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163125d-5045-4799-b149-b5694dc35d02" descr="{&quot;SlideID&quot;:&quot;328&quot;,&quot;SlideNumber&quot;:&quot;2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e333d9f2-a454-48e0-a51a-4a80efbf6e4b" descr="{&quot;SlideID&quot;:&quot;329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2242ccf-e8d2-4ecd-a6e4-712f23dddb14" descr="{&quot;SlideID&quot;:&quot;330&quot;,&quot;SlideNumber&quot;:&quot;3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fee3de7-377d-4171-b96a-cfb9cca6bb62" descr="{&quot;SlideID&quot;:&quot;331&quot;,&quot;SlideNumber&quot;:&quot;3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5dd0631-34a8-41c0-af91-a1caf8b6a3b9" descr="{&quot;SlideID&quot;:&quot;332&quot;,&quot;SlideNumber&quot;:&quot;33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8f0b926-8317-4e36-9f6a-508abc6ae017" descr="{&quot;SlideID&quot;:&quot;333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063615a-0d65-474d-8d3f-1c8ff2df5987" descr="{&quot;SlideID&quot;:&quot;334&quot;,&quot;SlideNumber&quot;:&quot;3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b926fb6-7253-4446-b540-1ea90620d394" descr="{&quot;SlideID&quot;:&quot;335&quot;,&quot;SlideNumber&quot;:&quot;4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97308976-6dbf-4b03-8da0-36a20fea60ab" descr="{&quot;SlideID&quot;:&quot;336&quot;,&quot;SlideNumber&quot;:&quot;44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46" grpId="0"/>
      <p:bldP spid="12748" grpId="0"/>
      <p:bldP spid="5" grpId="0" build="allAtOnce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50" name="yt_shape_12750"/>
              <p:cNvSpPr txBox="1"/>
              <p:nvPr/>
            </p:nvSpPr>
            <p:spPr>
              <a:xfrm>
                <a:off x="324071" y="467999"/>
                <a:ext cx="11924914" cy="486838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11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2026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浙江温州期中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在离地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高的平台上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弹出后马上撤掉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2_daf3d"/>
                  </a:rPr>
                  <a:t>），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某次弹射座椅性能测试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1_bc8ff"/>
                  </a:rPr>
                  <a:t>飞行员和座椅一起在座椅下的火箭动力作用下竖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直向上做匀加速直线运动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经过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后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火箭失去动力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d8ef0"/>
                  </a:rPr>
                  <a:t>继续做竖直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上抛运动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又上升了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到达最高点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在最高点人椅分离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4_8a9e5"/>
                  </a:rPr>
                  <a:t>然后飞行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员竖直下落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下落到某一高度时打开降落伞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最后安全落地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b486d"/>
                  </a:rPr>
                  <a:t>已知飞行员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和伞包的总质量为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70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kg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开伞后飞行员以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0_0efe3"/>
                  </a:rPr>
                  <a:t>的加速度匀减速竖直下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降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伞未打开时上升与下降过程空气阻力均不计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为了安全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89170"/>
                  </a:rPr>
                  <a:t>人着陆时的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速度大小不能大于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重力加速度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取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>
          <p:sp>
            <p:nvSpPr>
              <p:cNvPr id="12750" name="yt_shape_12750" descr="{&quot;rangeId&quot;:26,&quot;color&quot;:&quot;B&quot;,&quot;hasSerialNum&quot;:1,&quot;pageBreak&quot;:true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4868384"/>
              </a:xfrm>
              <a:prstGeom prst="rect">
                <a:avLst/>
              </a:prstGeom>
              <a:blipFill>
                <a:blip r:embed="rId2"/>
                <a:stretch>
                  <a:fillRect l="-1848" t="-501" r="-211" b="-3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511aef87-8494-4862-affb-553cf37de9bd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cf6dec4-6a1f-448b-8bc4-334af8fb2616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a626209-c184-439f-a311-a1b8000327de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9de8651-fb89-48e3-951b-d88cc76e1f38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bc90983-74a6-4892-9943-19ded6146963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fbd6614-3388-4fbe-ad31-325912333ab8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4575894e-9549-44d2-9f03-08e62e77359d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22a3e15-be8e-41bc-a113-78a49bb31e0c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87e71b1-db8c-41b8-aa4f-486e1f96c8b3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373f3fe-b148-4509-8e70-b8277eb33003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efac03a0-ce7d-4ab5-a448-22c6e0171ca3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55" name="yt_shape_12755"/>
              <p:cNvSpPr txBox="1"/>
              <p:nvPr/>
            </p:nvSpPr>
            <p:spPr>
              <a:xfrm>
                <a:off x="324000" y="1530063"/>
                <a:ext cx="11656435" cy="238808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设飞行员和座椅一起竖直向上做匀加速直线运动时的加速度为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c6aa6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火箭失去动力的时刻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飞行员和座椅的速度最大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设该速度为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b2c4b"/>
                  </a:rPr>
                  <a:t>火箭失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去动力后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飞行员和座椅继续向上运动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在最高点时速度为零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732d4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40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aseline="30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endParaRPr lang="zh-CN" altLang="zh-CN" sz="2800" b="0" i="0" u="none">
                  <a:solidFill>
                    <a:srgbClr val="FF0000"/>
                  </a:solidFill>
                  <a:effectLst/>
                  <a:latin typeface="宋体" pitchFamily="28"/>
                  <a:ea typeface="宋体" pitchFamily="28"/>
                </a:endParaRPr>
              </a:p>
            </p:txBody>
          </p:sp>
        </mc:Choice>
        <mc:Fallback xmlns="" xmlns:a16="http://schemas.microsoft.com/office/drawing/2014/main">
          <p:sp>
            <p:nvSpPr>
              <p:cNvPr id="12755" name="yt_shape_127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530063"/>
                <a:ext cx="11656435" cy="2388089"/>
              </a:xfrm>
              <a:prstGeom prst="rect">
                <a:avLst/>
              </a:prstGeom>
              <a:blipFill>
                <a:blip r:embed="rId2"/>
                <a:stretch>
                  <a:fillRect l="-1831" t="-1020" r="-628" b="-79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58" name="yt_shape_12758"/>
          <p:cNvSpPr txBox="1"/>
          <p:nvPr/>
        </p:nvSpPr>
        <p:spPr>
          <a:xfrm>
            <a:off x="324000" y="3918152"/>
            <a:ext cx="546624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求飞行员的最大离地高度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759" name="yt_shape_12759"/>
          <p:cNvSpPr txBox="1"/>
          <p:nvPr/>
        </p:nvSpPr>
        <p:spPr>
          <a:xfrm>
            <a:off x="324000" y="4450349"/>
            <a:ext cx="207428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365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60" name="yt_shape_12760"/>
              <p:cNvSpPr txBox="1"/>
              <p:nvPr/>
            </p:nvSpPr>
            <p:spPr>
              <a:xfrm>
                <a:off x="324000" y="4982546"/>
                <a:ext cx="9267869" cy="1343609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上升过程的总位移为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360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飞行员的最大离地高度为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360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365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760" name="yt_shape_127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982546"/>
                <a:ext cx="9267869" cy="1343609"/>
              </a:xfrm>
              <a:prstGeom prst="rect">
                <a:avLst/>
              </a:prstGeom>
              <a:blipFill>
                <a:blip r:embed="rId3"/>
                <a:stretch>
                  <a:fillRect l="-2303" r="-395" b="-185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yt_shape_12753"/>
              <p:cNvSpPr txBox="1"/>
              <p:nvPr/>
            </p:nvSpPr>
            <p:spPr>
              <a:xfrm>
                <a:off x="324000" y="951700"/>
                <a:ext cx="2568204" cy="578363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答案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40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</a:p>
            </p:txBody>
          </p:sp>
        </mc:Choice>
        <mc:Fallback xmlns="" xmlns:a16="http://schemas.microsoft.com/office/drawing/2014/main">
          <p:sp>
            <p:nvSpPr>
              <p:cNvPr id="7" name="yt_shape_127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951700"/>
                <a:ext cx="2568204" cy="578363"/>
              </a:xfrm>
              <a:prstGeom prst="rect">
                <a:avLst/>
              </a:prstGeom>
              <a:blipFill>
                <a:blip r:embed="rId4"/>
                <a:stretch>
                  <a:fillRect l="-8314" r="-7126" b="-36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yt_shape_12752"/>
          <p:cNvSpPr txBox="1"/>
          <p:nvPr/>
        </p:nvSpPr>
        <p:spPr>
          <a:xfrm>
            <a:off x="324000" y="442586"/>
            <a:ext cx="62693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求飞行员上升过程的最大速度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6111cda3-df16-4abd-9852-31233d2f19f8" descr="{&quot;SlideID&quot;:&quot;326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0ae1e10-9e0a-4e92-9d98-2df83c40b8d8" descr="{&quot;SlideID&quot;:&quot;327&quot;,&quot;SlideNumber&quot;:&quot;25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a91b7da-fe81-403d-846f-06e9ccd91486" descr="{&quot;SlideID&quot;:&quot;328&quot;,&quot;SlideNumber&quot;:&quot;2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3795b75-ef00-423e-b2e4-3d272b704cb4" descr="{&quot;SlideID&quot;:&quot;329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7097ef4-3312-4c07-8118-055461387c1d" descr="{&quot;SlideID&quot;:&quot;330&quot;,&quot;SlideNumber&quot;:&quot;3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13df12f-70d5-4888-abf4-a9fb50fb5e96" descr="{&quot;SlideID&quot;:&quot;331&quot;,&quot;SlideNumber&quot;:&quot;31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d719224-4d60-4f9c-9122-889c0ed48e05" descr="{&quot;SlideID&quot;:&quot;332&quot;,&quot;SlideNumber&quot;:&quot;33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57e7a2a-6485-45a0-9b35-88d24cfd8cb3" descr="{&quot;SlideID&quot;:&quot;333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4747c26-3dab-40b5-90d0-2c1abd5cc4d5" descr="{&quot;SlideID&quot;:&quot;334&quot;,&quot;SlideNumber&quot;:&quot;3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174f7a26-0e03-46ae-8b54-9228cea82426" descr="{&quot;SlideID&quot;:&quot;335&quot;,&quot;SlideNumber&quot;:&quot;4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03d4971-25c2-40ee-8fc2-37e8117cb63e" descr="{&quot;SlideID&quot;:&quot;336&quot;,&quot;SlideNumber&quot;:&quot;44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7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55" grpId="0" build="allAtOnce"/>
      <p:bldP spid="12759" grpId="0" build="allAtOnce"/>
      <p:bldP spid="12760" grpId="0" build="allAtOnce"/>
      <p:bldP spid="7" grpId="0" build="allAtOnce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2" name="yt_shape_12762"/>
          <p:cNvSpPr txBox="1"/>
          <p:nvPr/>
        </p:nvSpPr>
        <p:spPr>
          <a:xfrm>
            <a:off x="324000" y="467999"/>
            <a:ext cx="1113125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为保障安全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飞行员打开降落伞时离地的高度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需满足什么条件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2763" name="yt_shape_12763"/>
          <p:cNvSpPr txBox="1"/>
          <p:nvPr/>
        </p:nvSpPr>
        <p:spPr>
          <a:xfrm>
            <a:off x="324000" y="1050984"/>
            <a:ext cx="297196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≥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242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64" name="yt_shape_12764"/>
              <p:cNvSpPr txBox="1"/>
              <p:nvPr/>
            </p:nvSpPr>
            <p:spPr>
              <a:xfrm>
                <a:off x="324071" y="1633969"/>
                <a:ext cx="11924914" cy="294516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设飞行员开伞时的速度为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开伞后飞行员的加速度记为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50000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最后恰好以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的速度落地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  <a:sym typeface="_⨹_10_0d09d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  <a:sym typeface="_⨹_10_0d09d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  <a:sym typeface="_⨹_10_0d09d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  <a:sym typeface="_⨹_10_0d09d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10_0d09d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altLang="zh-CN" sz="2800" b="0" i="1">
                    <a:solidFill>
                      <a:srgbClr val="C00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56" charset="0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242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所以为了保障安全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飞行员开伞时离地高度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242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2764" name="yt_shape_127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633969"/>
                <a:ext cx="11924914" cy="2945165"/>
              </a:xfrm>
              <a:prstGeom prst="rect">
                <a:avLst/>
              </a:prstGeom>
              <a:blipFill>
                <a:blip r:embed="rId2"/>
                <a:stretch>
                  <a:fillRect l="-1789" t="-828" b="-6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10" name="c13e38f2-7ddf-4534-8662-19d61df64b59" descr="{&quot;SlideID&quot;:&quot;326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e0e7b73-eb19-4ef1-854b-1a32d82f424d" descr="{&quot;SlideID&quot;:&quot;327&quot;,&quot;SlideNumber&quot;:&quot;2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ba4598f-1620-48bb-ac66-109f54b31fef" descr="{&quot;SlideID&quot;:&quot;328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679e880e-ae2a-41b7-a200-49db1c30a23b" descr="{&quot;SlideID&quot;:&quot;329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a0bc174-8e16-4d80-a327-0c10e6469b5b" descr="{&quot;SlideID&quot;:&quot;330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e3c1081-e325-4fbd-99a5-b31a84e4c3bf" descr="{&quot;SlideID&quot;:&quot;331&quot;,&quot;SlideNumber&quot;:&quot;3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e5f263f6-1f44-44c8-b418-30606cfcfbbb" descr="{&quot;SlideID&quot;:&quot;332&quot;,&quot;SlideNumber&quot;:&quot;3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2031582-d796-4f47-a2bf-f814e6e0c30d" descr="{&quot;SlideID&quot;:&quot;333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9a4a487-0566-47bb-b490-425446c518a3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35d8d24e-5cfa-4bda-b97b-d2bd76bc50d7" descr="{&quot;SlideID&quot;:&quot;335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e464d44-cdc1-4f2f-b23c-63cc43ee5245" descr="{&quot;SlideID&quot;:&quot;336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7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7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3" grpId="0" build="allAtOnce"/>
      <p:bldP spid="12764" grpId="0" build="allAtOnce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8" y="-223206"/>
            <a:ext cx="7614606" cy="761460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1917700"/>
            <a:ext cx="12192000" cy="266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95"/>
          <a:stretch/>
        </p:blipFill>
        <p:spPr>
          <a:xfrm>
            <a:off x="6005768" y="1917700"/>
            <a:ext cx="6563872" cy="351427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181430" y="2383972"/>
            <a:ext cx="63137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1000" b="1" i="0" u="none" strike="noStrike" kern="1200" normalizeH="0" baseline="0" noProof="0" dirty="0">
                <a:ln w="10160">
                  <a:solidFill>
                    <a:schemeClr val="bg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11000" b="1" i="0" u="none" strike="noStrike" kern="1200" normalizeH="0" baseline="0" noProof="0" dirty="0">
              <a:ln w="10160">
                <a:solidFill>
                  <a:schemeClr val="bg2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TextBox 32"/>
          <p:cNvSpPr txBox="1"/>
          <p:nvPr/>
        </p:nvSpPr>
        <p:spPr>
          <a:xfrm>
            <a:off x="6119586" y="1884101"/>
            <a:ext cx="6313715" cy="2047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演示完毕 </a:t>
            </a:r>
            <a:endParaRPr lang="en-US" altLang="zh-CN" sz="4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50" endPos="850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4008024" y="6445607"/>
            <a:ext cx="4181814" cy="288000"/>
            <a:chOff x="1325563" y="6444186"/>
            <a:chExt cx="4181814" cy="288000"/>
          </a:xfrm>
        </p:grpSpPr>
        <p:sp>
          <p:nvSpPr>
            <p:cNvPr id="2" name="e59f53fb-e477-48f3-af20-6c011896adfb" descr="{&quot;SlideID&quot;:&quot;326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8a1e691-f7ae-4a1a-bbb6-8282d2bf2f58" descr="{&quot;SlideID&quot;:&quot;327&quot;,&quot;SlideNumber&quot;:&quot;25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cb84971-afb4-492e-ae40-96e8f031d8d4" descr="{&quot;SlideID&quot;:&quot;328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b7768fa-269b-4c85-96a6-ee76994f8b80" descr="{&quot;SlideID&quot;:&quot;329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facbdfd-df5b-448a-9222-4ce072e23819" descr="{&quot;SlideID&quot;:&quot;330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083b3973-46d1-4360-8e3a-75fb4f7ef7bb" descr="{&quot;SlideID&quot;:&quot;331&quot;,&quot;SlideNumber&quot;:&quot;31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812e08b-d9ad-41c0-85d8-426dd6b2ff14" descr="{&quot;SlideID&quot;:&quot;332&quot;,&quot;SlideNumber&quot;:&quot;33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794fae04-649d-4c43-843f-d1dcd7e6ca15" descr="{&quot;SlideID&quot;:&quot;333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d490cbd-c24a-4ef6-93aa-67918c4be974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a8d4967a-8500-4b1f-bf58-67cad8ed7e85" descr="{&quot;SlideID&quot;:&quot;335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d615a454-9d79-4d9e-9a3e-c43bfd7ab4d7" descr="{&quot;SlideID&quot;:&quot;336&quot;,&quot;SlideNumber&quot;:&quot;4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9229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airplan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5497</Words>
  <Application>Microsoft Macintosh PowerPoint</Application>
  <PresentationFormat>Widescreen</PresentationFormat>
  <Paragraphs>460</Paragraphs>
  <Slides>45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8" baseType="lpstr">
      <vt:lpstr>方正新报宋_GBK</vt:lpstr>
      <vt:lpstr>等线</vt:lpstr>
      <vt:lpstr>仿宋</vt:lpstr>
      <vt:lpstr>微软雅黑</vt:lpstr>
      <vt:lpstr>微软雅黑</vt:lpstr>
      <vt:lpstr>宋体</vt:lpstr>
      <vt:lpstr>华文细黑</vt:lpstr>
      <vt:lpstr>Arial</vt:lpstr>
      <vt:lpstr>Calibri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Xingyu Shu</cp:lastModifiedBy>
  <cp:revision>118</cp:revision>
  <dcterms:created xsi:type="dcterms:W3CDTF">2025-12-05T00:48:51Z</dcterms:created>
  <dcterms:modified xsi:type="dcterms:W3CDTF">2026-09-23T10:48:04Z</dcterms:modified>
</cp:coreProperties>
</file>