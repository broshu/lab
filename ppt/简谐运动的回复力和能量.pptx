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0" r:id="rId9"/>
    <p:sldId id="266" r:id="rId10"/>
    <p:sldId id="284" r:id="rId11"/>
    <p:sldId id="325" r:id="rId12"/>
    <p:sldId id="296" r:id="rId13"/>
    <p:sldId id="329" r:id="rId14"/>
    <p:sldId id="297" r:id="rId15"/>
    <p:sldId id="33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73188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简谐运动的回复力和能量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recovery force and energy of simple harmonic motion</a:t>
            </a:r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9CB96-686C-502B-D380-959C7587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物体做简谐运动时，振动方向上的合力有什么特点？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48F3F1F-F9CA-7A32-2809-570A47B9A1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1851"/>
            <a:ext cx="5181600" cy="3458886"/>
          </a:xfrm>
          <a:prstGeom prst="rect">
            <a:avLst/>
          </a:prstGeom>
        </p:spPr>
      </p:pic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1DDCB11B-DFE7-777D-A270-B288C4496F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3315494"/>
            <a:ext cx="518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B256F-D05D-6370-CF91-7C1D1AFF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这些运动的回复力是什么？</a:t>
            </a:r>
            <a:endParaRPr 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CAE6846-6158-C3E8-9A7F-21A040E86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竖直方向弹簧振子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30D4E1-AC8E-85B9-5B8D-45D5E57B712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56681" y="2823369"/>
            <a:ext cx="1524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7C223B6-1532-F36F-2594-903C6FF7B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地面光滑</a:t>
            </a:r>
            <a:endParaRPr 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FD089F48-BF31-9B8A-7F7F-373F21A6BA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组合2">
            <a:extLst>
              <a:ext uri="{FF2B5EF4-FFF2-40B4-BE49-F238E27FC236}">
                <a16:creationId xmlns:a16="http://schemas.microsoft.com/office/drawing/2014/main" id="{6454A511-58DA-39ED-EE69-646F2CFF0E53}"/>
              </a:ext>
            </a:extLst>
          </p:cNvPr>
          <p:cNvGrpSpPr/>
          <p:nvPr/>
        </p:nvGrpSpPr>
        <p:grpSpPr>
          <a:xfrm>
            <a:off x="6979061" y="3052964"/>
            <a:ext cx="3569465" cy="2588809"/>
            <a:chOff x="0" y="0"/>
            <a:chExt cx="3569465" cy="2588809"/>
          </a:xfrm>
        </p:grpSpPr>
        <p:pic>
          <p:nvPicPr>
            <p:cNvPr id="7" name="图片1">
              <a:extLst>
                <a:ext uri="{FF2B5EF4-FFF2-40B4-BE49-F238E27FC236}">
                  <a16:creationId xmlns:a16="http://schemas.microsoft.com/office/drawing/2014/main" id="{E6B832B4-DB87-AAC5-5BBB-41230EF0B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082" t="14549" r="26869" b="12800"/>
            <a:stretch>
              <a:fillRect/>
            </a:stretch>
          </p:blipFill>
          <p:spPr>
            <a:xfrm>
              <a:off x="435" y="0"/>
              <a:ext cx="3569030" cy="2588809"/>
            </a:xfrm>
            <a:prstGeom prst="rect">
              <a:avLst/>
            </a:prstGeom>
            <a:ln w="9525">
              <a:solidFill>
                <a:srgbClr val="FFFFFF">
                  <a:alpha val="0"/>
                </a:srgbClr>
              </a:solidFill>
              <a:prstDash val="solid"/>
            </a:ln>
          </p:spPr>
        </p:pic>
        <p:pic>
          <p:nvPicPr>
            <p:cNvPr id="8" name="图片2">
              <a:extLst>
                <a:ext uri="{FF2B5EF4-FFF2-40B4-BE49-F238E27FC236}">
                  <a16:creationId xmlns:a16="http://schemas.microsoft.com/office/drawing/2014/main" id="{97AE3B99-235D-02F8-121E-C3A51F96D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96810"/>
              <a:ext cx="3445710" cy="1701220"/>
            </a:xfrm>
            <a:prstGeom prst="rect">
              <a:avLst/>
            </a:prstGeom>
            <a:ln w="9525">
              <a:solidFill>
                <a:srgbClr val="FFFFFF">
                  <a:alpha val="0"/>
                </a:srgbClr>
              </a:solidFill>
              <a:prstDash val="solid"/>
            </a:ln>
          </p:spPr>
        </p:pic>
      </p:grpSp>
    </p:spTree>
    <p:extLst>
      <p:ext uri="{BB962C8B-B14F-4D97-AF65-F5344CB8AC3E}">
        <p14:creationId xmlns:p14="http://schemas.microsoft.com/office/powerpoint/2010/main" val="47064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62E8CB-844A-411F-6AB6-B9B02BBA5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如图所示，水平面光滑，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两物体叠放在一起，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47cf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的质量分别为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1" u="none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en-US" altLang="zh-CN" sz="2800" b="0" i="0" u="none" baseline="-25000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，弹簧的劲度系数为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k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，使物体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振动，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9b74a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始终保持相对静止。试证明物体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的振动是简谐运动。</a:t>
            </a:r>
            <a:endParaRPr lang="en-US" dirty="0"/>
          </a:p>
        </p:txBody>
      </p:sp>
      <p:pic>
        <p:nvPicPr>
          <p:cNvPr id="3" name="yt_image_12880">
            <a:extLst>
              <a:ext uri="{FF2B5EF4-FFF2-40B4-BE49-F238E27FC236}">
                <a16:creationId xmlns:a16="http://schemas.microsoft.com/office/drawing/2014/main" id="{EDF65472-6012-DF53-5FAE-F988795B9998}"/>
              </a:ext>
              <a:ext uri="">
                <a16:creationId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2859" y="2302574"/>
            <a:ext cx="3060941" cy="112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87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AF9737D-BC0B-706B-3216-D8A0A4B2B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8_1f845"/>
              </a:rPr>
              <a:t>，下列给定的四幅图中能正确反映振动过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程中其所受摩擦力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F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与振子相对平衡位置位移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6_61207"/>
              </a:rPr>
              <a:t>关系的图像为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（　）</a:t>
            </a:r>
            <a:endParaRPr lang="en-US" dirty="0"/>
          </a:p>
        </p:txBody>
      </p:sp>
      <p:pic>
        <p:nvPicPr>
          <p:cNvPr id="3" name="yt_image_12895">
            <a:extLst>
              <a:ext uri="{FF2B5EF4-FFF2-40B4-BE49-F238E27FC236}">
                <a16:creationId xmlns:a16="http://schemas.microsoft.com/office/drawing/2014/main" id="{5AA0AAE3-B1EF-AA25-E1BC-85AC7EEC4DB5}"/>
              </a:ext>
              <a:ext uri="">
                <a16:creationId xmlns:m="http://schemas.openxmlformats.org/officeDocument/2006/math"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493820"/>
            <a:ext cx="10114520" cy="290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yt_image_12900_skip" title="H_81.54">
            <a:extLst>
              <a:ext uri="{FF2B5EF4-FFF2-40B4-BE49-F238E27FC236}">
                <a16:creationId xmlns:a16="http://schemas.microsoft.com/office/drawing/2014/main" id="{C47E6F1A-06C1-41A5-6C50-258F22513A62}"/>
              </a:ext>
              <a:ext uri="">
                <a16:creationId xmlns:mc="http://schemas.openxmlformats.org/markup-compatibility/2006" xmlns:a14="http://schemas.microsoft.com/office/drawing/2010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57205" y="1458262"/>
            <a:ext cx="2996595" cy="103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51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F75321-4C66-878F-4678-EE77093A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质量分别为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0.5 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 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7_5c66e"/>
              </a:rPr>
              <a:t>，弹簧劲度系数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100 N/m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间的动摩擦因数为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0.3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2_df3df"/>
              </a:rPr>
              <a:t>，认为最大静摩擦力等于滑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动摩擦力，要使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9_ae962"/>
              </a:rPr>
              <a:t>一起振动（不发生相对滑动），取重力加速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度大小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 m/s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1_25ae2"/>
              </a:rPr>
              <a:t>，弹簧始终在弹性限度内，则振动的最大振幅为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（　　）</a:t>
            </a:r>
            <a:endParaRPr lang="en-US" dirty="0"/>
          </a:p>
        </p:txBody>
      </p:sp>
      <p:pic>
        <p:nvPicPr>
          <p:cNvPr id="3" name="yt_image_12900_skip" title="H_81.54">
            <a:extLst>
              <a:ext uri="{FF2B5EF4-FFF2-40B4-BE49-F238E27FC236}">
                <a16:creationId xmlns:a16="http://schemas.microsoft.com/office/drawing/2014/main" id="{B30A2381-734F-D72B-5225-F2EBEEF1CD45}"/>
              </a:ext>
              <a:ext uri="">
                <a16:creationId xmlns:mc="http://schemas.openxmlformats.org/markup-compatibility/2006" xmlns:a14="http://schemas.microsoft.com/office/drawing/2010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7205" y="2393442"/>
            <a:ext cx="2996595" cy="103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14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34CDDB1-11CF-2173-797B-17EE496D0F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如果小球所受的合力符合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𝒌𝒙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则小球做简谐运动。</a:t>
                </a:r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34CDDB1-11CF-2173-797B-17EE496D0F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474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1">
            <a:extLst>
              <a:ext uri="{FF2B5EF4-FFF2-40B4-BE49-F238E27FC236}">
                <a16:creationId xmlns:a16="http://schemas.microsoft.com/office/drawing/2014/main" id="{1F610CB2-FC27-5AFE-992C-0D0E0149C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89135" y="1825625"/>
            <a:ext cx="46137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8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78B7A8-DE94-E4B6-020C-E6AAF0F74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下图为某个弹簧振子做简谐运动的振动图像</a:t>
            </a:r>
            <a:r>
              <a:rPr lang="en-US" altLang="zh-CN" dirty="0"/>
              <a:t>,</a:t>
            </a:r>
            <a:r>
              <a:rPr lang="zh-CN" altLang="en-US" dirty="0"/>
              <a:t>由图像可知</a:t>
            </a:r>
            <a:r>
              <a:rPr lang="en-US" altLang="zh-CN" dirty="0"/>
              <a:t>(</a:t>
            </a:r>
            <a:r>
              <a:rPr lang="zh-CN" altLang="en-US" dirty="0"/>
              <a:t>　　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A.</a:t>
            </a:r>
            <a:r>
              <a:rPr lang="zh-CN" altLang="en-US" dirty="0"/>
              <a:t>在</a:t>
            </a:r>
            <a:r>
              <a:rPr lang="en-US" altLang="zh-CN" dirty="0"/>
              <a:t>0.1 s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由于位移为零</a:t>
            </a:r>
            <a:r>
              <a:rPr lang="en-US" altLang="zh-CN" dirty="0"/>
              <a:t>,</a:t>
            </a:r>
            <a:r>
              <a:rPr lang="zh-CN" altLang="en-US" dirty="0"/>
              <a:t>所以振动能量为零</a:t>
            </a:r>
          </a:p>
          <a:p>
            <a:r>
              <a:rPr lang="en-US" altLang="zh-CN" dirty="0"/>
              <a:t>B.</a:t>
            </a:r>
            <a:r>
              <a:rPr lang="zh-CN" altLang="en-US" dirty="0"/>
              <a:t>在</a:t>
            </a:r>
            <a:r>
              <a:rPr lang="en-US" altLang="zh-CN" dirty="0"/>
              <a:t>0.2 s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振子具有最大势能</a:t>
            </a:r>
          </a:p>
          <a:p>
            <a:r>
              <a:rPr lang="en-US" altLang="zh-CN" dirty="0"/>
              <a:t>C.</a:t>
            </a:r>
            <a:r>
              <a:rPr lang="zh-CN" altLang="en-US" dirty="0"/>
              <a:t>在</a:t>
            </a:r>
            <a:r>
              <a:rPr lang="en-US" altLang="zh-CN" dirty="0"/>
              <a:t>0.35 s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振子具有的动能与势能相等</a:t>
            </a:r>
          </a:p>
          <a:p>
            <a:r>
              <a:rPr lang="en-US" altLang="zh-CN" dirty="0"/>
              <a:t>D.</a:t>
            </a:r>
            <a:r>
              <a:rPr lang="zh-CN" altLang="en-US" dirty="0"/>
              <a:t>在</a:t>
            </a:r>
            <a:r>
              <a:rPr lang="en-US" altLang="zh-CN" dirty="0"/>
              <a:t>0.4 s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振子的动能最大</a:t>
            </a:r>
          </a:p>
          <a:p>
            <a:endParaRPr lang="en-US" dirty="0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E844089E-1044-BBD1-C757-90D41CE9B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51" y="3429000"/>
            <a:ext cx="4084549" cy="194180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70718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70473B0-E695-375C-93D6-551B70E041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757238"/>
            <a:ext cx="916305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474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9" name="yt_shape_12909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简谐运动的判断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某一面的面积为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b2354"/>
              </a:rPr>
              <a:t>的正方体木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放在水面上静止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平衡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3a297"/>
              </a:rPr>
              <a:t>现用力向下将其压入水中一段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深度后撤掉外力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木块在水中上下振动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试分析木块上下振动的回复力的来源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2" name="yt_shape_12911"/>
          <p:cNvSpPr txBox="1"/>
          <p:nvPr/>
        </p:nvSpPr>
        <p:spPr>
          <a:xfrm>
            <a:off x="324000" y="2973646"/>
            <a:ext cx="197490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见解析</a:t>
            </a:r>
          </a:p>
        </p:txBody>
      </p:sp>
      <p:pic>
        <p:nvPicPr>
          <p:cNvPr id="12912" name="yt_image_12912" title="H_125.97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66675" y="2032086"/>
            <a:ext cx="2419430" cy="159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14" name="yt_shape_12914"/>
          <p:cNvSpPr txBox="1"/>
          <p:nvPr/>
        </p:nvSpPr>
        <p:spPr>
          <a:xfrm>
            <a:off x="326358" y="3664233"/>
            <a:ext cx="9874498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木块上下振动的回复力由重力和浮力的合力提供。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1291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5" name="yt_shape_12915"/>
          <p:cNvSpPr txBox="1"/>
          <p:nvPr/>
        </p:nvSpPr>
        <p:spPr>
          <a:xfrm>
            <a:off x="324000" y="467999"/>
            <a:ext cx="62837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试证明该木块的振动是简谐运动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2916"/>
          <p:cNvSpPr txBox="1"/>
          <p:nvPr/>
        </p:nvSpPr>
        <p:spPr>
          <a:xfrm>
            <a:off x="324000" y="1203348"/>
            <a:ext cx="3052118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见解析</a:t>
            </a:r>
          </a:p>
        </p:txBody>
      </p:sp>
      <p:pic>
        <p:nvPicPr>
          <p:cNvPr id="12917" name="yt_image_12917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5193" y="669194"/>
            <a:ext cx="2419430" cy="159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19" name="yt_shape_12919"/>
          <p:cNvSpPr txBox="1"/>
          <p:nvPr/>
        </p:nvSpPr>
        <p:spPr>
          <a:xfrm>
            <a:off x="333124" y="1948256"/>
            <a:ext cx="9868682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证明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以木块为研究对象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取竖直向下为正方向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53b99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设静止时木块浸入水中的深度为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0_3ad4e"/>
              </a:rPr>
              <a:t>当木块又被压入水中的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深度为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撤去外力瞬间木块的受力如图所示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2_94160"/>
              </a:rPr>
              <a:t>mg</a:t>
            </a:r>
            <a:b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联立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①②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式可得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16f01"/>
              </a:rPr>
              <a:t>合</a:t>
            </a:r>
            <a:b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9be1f"/>
              </a:rPr>
              <a:t>又木块静止时有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kx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ρ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fcbb3"/>
              </a:rPr>
              <a:t>所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以木块的振动是简谐运动。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2FAB06-55C7-31DF-F7E3-9B161F4E867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120" y="2536731"/>
            <a:ext cx="1984075" cy="2496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2919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3" name="yt_shape_12963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弹簧振子振动过程中的能量分析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河南驻马店期末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3cac8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把一个小球套在光滑细杆上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球与轻弹簧相连组成弹簧振子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6f11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弹簧与细杆间无接触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小球沿杆在水平方向做简谐运动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05612"/>
              </a:rPr>
              <a:t>间振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为平衡位置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964" name="yt_image_12964" title="H_127.92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45002" y="2788155"/>
            <a:ext cx="3379333" cy="147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2966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24478" y="2948648"/>
          <a:ext cx="9615488" cy="2389632"/>
        </p:xfrm>
        <a:graphic>
          <a:graphicData uri="http://schemas.openxmlformats.org/drawingml/2006/table">
            <a:tbl>
              <a:tblPr/>
              <a:tblGrid>
                <a:gridCol w="9615488">
                  <a:extLst>
                    <a:ext uri="{9D8B030D-6E8A-4147-A177-3AD203B41FA5}">
                      <a16:colId xmlns:a16="http://schemas.microsoft.com/office/drawing/2014/main" val="1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位置时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动能最大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位置时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动能为零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加速度也为零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小球从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经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到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回复力先做正功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后做负功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小球从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到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的过程中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振动的能量不断增加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420628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B22222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B2222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8" name="yt_shape_12968"/>
          <p:cNvSpPr txBox="1"/>
          <p:nvPr/>
        </p:nvSpPr>
        <p:spPr>
          <a:xfrm>
            <a:off x="378392" y="1341643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振子经过平衡位置时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位移为零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aeb3f"/>
              </a:rPr>
              <a:t>所以经过平衡位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置时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动能最大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回复力为零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加速度为零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位置时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30ed2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动能最小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位移最大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回复力最大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加速度最大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95ff2"/>
              </a:rPr>
              <a:t>由于回复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力指向平衡位置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所以振子从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经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的过程中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回复力先做正功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dca00"/>
              </a:rPr>
              <a:t>后做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负功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振子的动能和弹簧的弹性势能相互转化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且总量保持不变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83c1f"/>
              </a:rPr>
              <a:t>即系统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振动的能量保持不变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9" name="yt_shape_12969"/>
          <p:cNvSpPr txBox="1"/>
          <p:nvPr/>
        </p:nvSpPr>
        <p:spPr>
          <a:xfrm>
            <a:off x="267086" y="1065528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利用振动图像分析各物理量的变化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江苏无锡期末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4fd15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一个水平弹簧振子的振动图像如图所示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970" name="yt_image_12970" title="H_245.18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23673" y="2399169"/>
            <a:ext cx="2794407" cy="228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2972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30867" y="2296799"/>
          <a:ext cx="9170988" cy="2389632"/>
        </p:xfrm>
        <a:graphic>
          <a:graphicData uri="http://schemas.openxmlformats.org/drawingml/2006/table">
            <a:tbl>
              <a:tblPr/>
              <a:tblGrid>
                <a:gridCol w="9170988">
                  <a:extLst>
                    <a:ext uri="{9D8B030D-6E8A-4147-A177-3AD203B41FA5}">
                      <a16:colId xmlns:a16="http://schemas.microsoft.com/office/drawing/2014/main" val="1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小球的位移随时间变化的关系式为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5sin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π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该小球在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内的位移为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路程为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小球的动能增加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弹簧的弹性势能减少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小球的动能增加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弹簧的弹性势能减少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357254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B22222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B2222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74" name="yt_shape_12974"/>
              <p:cNvSpPr txBox="1"/>
              <p:nvPr/>
            </p:nvSpPr>
            <p:spPr>
              <a:xfrm>
                <a:off x="324071" y="467999"/>
                <a:ext cx="11924914" cy="4097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简谐运动的周期为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则角速度为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π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π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22581"/>
                  </a:rPr>
                  <a:t> 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rad/s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故小球位移随时间变化的关系式为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sin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5sin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3b57"/>
                  </a:rPr>
                  <a:t>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该小球在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内的位移为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路程为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0610b"/>
                  </a:rPr>
                  <a:t>B</a:t>
                </a:r>
                <a:b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小球的位移减小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动能增加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2df8b"/>
                  </a:rPr>
                  <a:t>弹簧的弹性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势能减少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小球的位移增大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41e02"/>
                  </a:rPr>
                  <a:t>动能减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弹簧的弹性势能增大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2974" name="yt_shape_129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097725"/>
              </a:xfrm>
              <a:prstGeom prst="rect">
                <a:avLst/>
              </a:prstGeom>
              <a:blipFill>
                <a:blip r:embed="rId2"/>
                <a:stretch>
                  <a:fillRect l="-1789" b="-4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2498</TotalTime>
  <Words>1172</Words>
  <Application>Microsoft Macintosh PowerPoint</Application>
  <PresentationFormat>Widescreen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方正新报宋_GBK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简谐运动的回复力和能量</vt:lpstr>
      <vt:lpstr>物体做简谐运动时，振动方向上的合力有什么特点？</vt:lpstr>
      <vt:lpstr>这些运动的回复力是什么？</vt:lpstr>
      <vt:lpstr>PowerPoint Presentation</vt:lpstr>
      <vt:lpstr>PowerPoint Presentation</vt:lpstr>
      <vt:lpstr>PowerPoint Presentation</vt:lpstr>
      <vt:lpstr>如果小球所受的合力符合F=-kx，则小球做简谐运动。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2024-09-26T08:16:39Z</dcterms:created>
  <dcterms:modified xsi:type="dcterms:W3CDTF">2026-10-16T03:06:26Z</dcterms:modified>
</cp:coreProperties>
</file>