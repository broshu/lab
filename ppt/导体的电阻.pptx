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953" r:id="rId3"/>
    <p:sldId id="954" r:id="rId4"/>
    <p:sldId id="955" r:id="rId5"/>
    <p:sldId id="3097" r:id="rId6"/>
    <p:sldId id="956" r:id="rId7"/>
    <p:sldId id="957" r:id="rId8"/>
    <p:sldId id="958" r:id="rId9"/>
    <p:sldId id="959" r:id="rId10"/>
    <p:sldId id="3091" r:id="rId11"/>
    <p:sldId id="3092" r:id="rId12"/>
    <p:sldId id="3093" r:id="rId13"/>
    <p:sldId id="3094" r:id="rId14"/>
    <p:sldId id="3095" r:id="rId15"/>
    <p:sldId id="315" r:id="rId16"/>
    <p:sldId id="290" r:id="rId17"/>
    <p:sldId id="305" r:id="rId18"/>
    <p:sldId id="30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7473C-5361-B377-0852-E06FCAAFB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4C7CF-7A30-3996-D627-6C952BBA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18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7897-4259-7576-A8C8-BEFD89AE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D3CD6-4F66-7CFB-0419-88F8DA373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055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F34DD-B395-2B52-85E5-334C61622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07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69F72-60C6-F486-B7AA-CAE08584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BF1F-46A0-EE17-E82D-C60081B80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866BD-AF28-982E-24E5-738580AD0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74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BF1F-46A0-EE17-E82D-C60081B80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65125"/>
            <a:ext cx="5181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866BD-AF28-982E-24E5-738580AD0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84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FBF1F-46A0-EE17-E82D-C60081B80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65125"/>
            <a:ext cx="5181600" cy="29042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866BD-AF28-982E-24E5-738580AD0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65125"/>
            <a:ext cx="5181600" cy="29042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9B8540-CEE2-F7E9-7023-B16E3AD75869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42513" y="3588589"/>
            <a:ext cx="5181600" cy="29042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0280B459-6D70-2486-A082-4FD4ECB381AE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76513" y="3588589"/>
            <a:ext cx="5181600" cy="29042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04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0B8863-BAC7-B36D-C13B-DA7B7689B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1886FE-AD99-9024-2807-F5F02650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43AE4A-99B5-3215-CD93-6E770BD7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36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1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26"/>
          <p:cNvSpPr txBox="1"/>
          <p:nvPr userDrawn="1"/>
        </p:nvSpPr>
        <p:spPr>
          <a:xfrm>
            <a:off x="706382" y="2804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物理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必修第三册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0" y="8758"/>
            <a:ext cx="508986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580369" y="14429"/>
            <a:ext cx="90025" cy="35741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1016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圆角矩形 1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TextBox 26">
            <a:hlinkClick r:id="rId3" action="ppaction://hlinksldjump"/>
          </p:cNvPr>
          <p:cNvSpPr txBox="1"/>
          <p:nvPr userDrawn="1"/>
        </p:nvSpPr>
        <p:spPr>
          <a:xfrm>
            <a:off x="11519592" y="6454003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</p:spTree>
    <p:extLst>
      <p:ext uri="{BB962C8B-B14F-4D97-AF65-F5344CB8AC3E}">
        <p14:creationId xmlns:p14="http://schemas.microsoft.com/office/powerpoint/2010/main" val="1373727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01C616-F474-9B66-371D-746EF2395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0CA01-747C-1B2D-6111-783876589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147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4" r:id="rId4"/>
    <p:sldLayoutId id="2147483652" r:id="rId5"/>
    <p:sldLayoutId id="2147483655" r:id="rId6"/>
    <p:sldLayoutId id="2147483656" r:id="rId7"/>
    <p:sldLayoutId id="2147483657" r:id="rId8"/>
    <p:sldLayoutId id="214748365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6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2" Type="http://schemas.openxmlformats.org/officeDocument/2006/relationships/tags" Target="../tags/tag22.xml"/><Relationship Id="rId16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tags" Target="../tags/tag38.xml"/><Relationship Id="rId7" Type="http://schemas.openxmlformats.org/officeDocument/2006/relationships/image" Target="../media/image6.emf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52.xml"/><Relationship Id="rId18" Type="http://schemas.openxmlformats.org/officeDocument/2006/relationships/tags" Target="../tags/tag57.xml"/><Relationship Id="rId26" Type="http://schemas.openxmlformats.org/officeDocument/2006/relationships/tags" Target="../tags/tag65.xml"/><Relationship Id="rId39" Type="http://schemas.openxmlformats.org/officeDocument/2006/relationships/tags" Target="../tags/tag78.xml"/><Relationship Id="rId21" Type="http://schemas.openxmlformats.org/officeDocument/2006/relationships/tags" Target="../tags/tag60.xml"/><Relationship Id="rId34" Type="http://schemas.openxmlformats.org/officeDocument/2006/relationships/tags" Target="../tags/tag73.xml"/><Relationship Id="rId42" Type="http://schemas.openxmlformats.org/officeDocument/2006/relationships/tags" Target="../tags/tag81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6" Type="http://schemas.openxmlformats.org/officeDocument/2006/relationships/tags" Target="../tags/tag55.xml"/><Relationship Id="rId20" Type="http://schemas.openxmlformats.org/officeDocument/2006/relationships/tags" Target="../tags/tag59.xml"/><Relationship Id="rId29" Type="http://schemas.openxmlformats.org/officeDocument/2006/relationships/tags" Target="../tags/tag68.xml"/><Relationship Id="rId41" Type="http://schemas.openxmlformats.org/officeDocument/2006/relationships/tags" Target="../tags/tag80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24" Type="http://schemas.openxmlformats.org/officeDocument/2006/relationships/tags" Target="../tags/tag63.xml"/><Relationship Id="rId32" Type="http://schemas.openxmlformats.org/officeDocument/2006/relationships/tags" Target="../tags/tag71.xml"/><Relationship Id="rId37" Type="http://schemas.openxmlformats.org/officeDocument/2006/relationships/tags" Target="../tags/tag76.xml"/><Relationship Id="rId40" Type="http://schemas.openxmlformats.org/officeDocument/2006/relationships/tags" Target="../tags/tag79.xml"/><Relationship Id="rId5" Type="http://schemas.openxmlformats.org/officeDocument/2006/relationships/tags" Target="../tags/tag44.xml"/><Relationship Id="rId15" Type="http://schemas.openxmlformats.org/officeDocument/2006/relationships/tags" Target="../tags/tag54.xml"/><Relationship Id="rId23" Type="http://schemas.openxmlformats.org/officeDocument/2006/relationships/tags" Target="../tags/tag62.xml"/><Relationship Id="rId28" Type="http://schemas.openxmlformats.org/officeDocument/2006/relationships/tags" Target="../tags/tag67.xml"/><Relationship Id="rId36" Type="http://schemas.openxmlformats.org/officeDocument/2006/relationships/tags" Target="../tags/tag75.xml"/><Relationship Id="rId10" Type="http://schemas.openxmlformats.org/officeDocument/2006/relationships/tags" Target="../tags/tag49.xml"/><Relationship Id="rId19" Type="http://schemas.openxmlformats.org/officeDocument/2006/relationships/tags" Target="../tags/tag58.xml"/><Relationship Id="rId31" Type="http://schemas.openxmlformats.org/officeDocument/2006/relationships/tags" Target="../tags/tag70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tags" Target="../tags/tag53.xml"/><Relationship Id="rId22" Type="http://schemas.openxmlformats.org/officeDocument/2006/relationships/tags" Target="../tags/tag61.xml"/><Relationship Id="rId27" Type="http://schemas.openxmlformats.org/officeDocument/2006/relationships/tags" Target="../tags/tag66.xml"/><Relationship Id="rId30" Type="http://schemas.openxmlformats.org/officeDocument/2006/relationships/tags" Target="../tags/tag69.xml"/><Relationship Id="rId35" Type="http://schemas.openxmlformats.org/officeDocument/2006/relationships/tags" Target="../tags/tag74.xml"/><Relationship Id="rId43" Type="http://schemas.openxmlformats.org/officeDocument/2006/relationships/slideLayout" Target="../slideLayouts/slideLayout2.xml"/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12" Type="http://schemas.openxmlformats.org/officeDocument/2006/relationships/tags" Target="../tags/tag51.xml"/><Relationship Id="rId17" Type="http://schemas.openxmlformats.org/officeDocument/2006/relationships/tags" Target="../tags/tag56.xml"/><Relationship Id="rId25" Type="http://schemas.openxmlformats.org/officeDocument/2006/relationships/tags" Target="../tags/tag64.xml"/><Relationship Id="rId33" Type="http://schemas.openxmlformats.org/officeDocument/2006/relationships/tags" Target="../tags/tag72.xml"/><Relationship Id="rId38" Type="http://schemas.openxmlformats.org/officeDocument/2006/relationships/tags" Target="../tags/tag7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4FAB0-4A29-B674-EE17-CA7A659A5E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导体的电阻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6118F6-8217-BA59-0463-291F0958FC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The resistance of the conductor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679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348B-1AE5-B729-938F-0BE34F18E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N" dirty="0"/>
              <a:t>生活中的导线</a:t>
            </a:r>
          </a:p>
        </p:txBody>
      </p:sp>
      <p:pic>
        <p:nvPicPr>
          <p:cNvPr id="1026" name="Picture 2" descr="Different size of wire and there use at home">
            <a:extLst>
              <a:ext uri="{FF2B5EF4-FFF2-40B4-BE49-F238E27FC236}">
                <a16:creationId xmlns:a16="http://schemas.microsoft.com/office/drawing/2014/main" id="{40884D91-2A08-64C0-E586-A60C3434145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9" b="24396"/>
          <a:stretch/>
        </p:blipFill>
        <p:spPr bwMode="auto">
          <a:xfrm>
            <a:off x="838200" y="1825625"/>
            <a:ext cx="10515600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35420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9F0DC-75C5-7778-6DA6-FA9F9B71D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高压线</a:t>
            </a:r>
          </a:p>
        </p:txBody>
      </p:sp>
      <p:pic>
        <p:nvPicPr>
          <p:cNvPr id="2050" name="Picture 2" descr="Why High Voltage Cables Have No Insulation?">
            <a:extLst>
              <a:ext uri="{FF2B5EF4-FFF2-40B4-BE49-F238E27FC236}">
                <a16:creationId xmlns:a16="http://schemas.microsoft.com/office/drawing/2014/main" id="{4630133E-3187-26CD-23B3-D0AAA7DEBDD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96" y="1825625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546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8885D-E595-E3C4-16AA-69DEB4B5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CN" dirty="0"/>
              <a:t>常见的电阻</a:t>
            </a:r>
          </a:p>
        </p:txBody>
      </p:sp>
      <p:pic>
        <p:nvPicPr>
          <p:cNvPr id="3074" name="Picture 2" descr="Types of Resistor - Beginner's Guide">
            <a:extLst>
              <a:ext uri="{FF2B5EF4-FFF2-40B4-BE49-F238E27FC236}">
                <a16:creationId xmlns:a16="http://schemas.microsoft.com/office/drawing/2014/main" id="{1FD9B9F6-9801-FD37-3A76-57D7E78944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86841" y="1825625"/>
            <a:ext cx="9018317" cy="435133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60860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079E4-1F6E-E67C-68C4-DAAFBECF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电阻的微观解释</a:t>
            </a:r>
            <a:endParaRPr lang="en-US" dirty="0"/>
          </a:p>
        </p:txBody>
      </p:sp>
      <p:pic>
        <p:nvPicPr>
          <p:cNvPr id="1029" name="内容占位符 1028">
            <a:extLst>
              <a:ext uri="{FF2B5EF4-FFF2-40B4-BE49-F238E27FC236}">
                <a16:creationId xmlns:a16="http://schemas.microsoft.com/office/drawing/2014/main" id="{223ACA30-071C-191E-E67C-CF9AFD6ACD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5400000">
            <a:off x="1569559" y="3217890"/>
            <a:ext cx="3718882" cy="1566808"/>
          </a:xfrm>
          <a:prstGeom prst="rect">
            <a:avLst/>
          </a:prstGeom>
        </p:spPr>
      </p:pic>
      <p:pic>
        <p:nvPicPr>
          <p:cNvPr id="1026" name="Picture 2" descr="analogy of resistance">
            <a:extLst>
              <a:ext uri="{FF2B5EF4-FFF2-40B4-BE49-F238E27FC236}">
                <a16:creationId xmlns:a16="http://schemas.microsoft.com/office/drawing/2014/main" id="{DEE1DDBA-30B0-013C-5884-7A55ADA5A4E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181662"/>
            <a:ext cx="5181600" cy="3639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335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741FA-B20A-CB53-CDCD-708FB4A7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电阻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04901-3763-3BE5-C74C-9528AB39B2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CN" dirty="0"/>
                  <a:t>单位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endParaRPr lang="en-CN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b="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304901-3763-3BE5-C74C-9528AB39B2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6103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833F6-D556-6463-C631-B43EFED5F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欧姆定律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B2F3B-B343-38EB-694F-33AE7F0044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CN" b="0" dirty="0"/>
              </a:p>
              <a:p>
                <a:r>
                  <a:rPr lang="en-CN" dirty="0"/>
                  <a:t>适用条件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金属、电解液等纯电阻导电。</a:t>
                </a:r>
              </a:p>
              <a:p>
                <a:pPr lvl="1"/>
                <a:r>
                  <a:rPr lang="zh-CN" altLang="en-US" dirty="0"/>
                  <a:t>气体导电、半导体导电及含电动机、电解槽等电器不适用。</a:t>
                </a:r>
                <a:endParaRPr lang="en-US" altLang="zh-CN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BB2F3B-B343-38EB-694F-33AE7F0044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948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B0CC8-99C4-3F0C-EADA-6C5DD1EFE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U-I 图像</a:t>
            </a:r>
            <a:r>
              <a:rPr lang="zh-CN" altLang="en-US" dirty="0"/>
              <a:t>（</a:t>
            </a:r>
            <a:r>
              <a:rPr lang="zh-CN" altLang="en-CN" dirty="0"/>
              <a:t>伏安特性曲线</a:t>
            </a:r>
            <a:r>
              <a:rPr lang="zh-CN" altLang="en-US" dirty="0"/>
              <a:t>）</a:t>
            </a:r>
            <a:endParaRPr lang="en-CN" dirty="0"/>
          </a:p>
        </p:txBody>
      </p:sp>
      <p:grpSp>
        <p:nvGrpSpPr>
          <p:cNvPr id="4" name="Group 92">
            <a:extLst>
              <a:ext uri="{FF2B5EF4-FFF2-40B4-BE49-F238E27FC236}">
                <a16:creationId xmlns:a16="http://schemas.microsoft.com/office/drawing/2014/main" id="{94162F68-4FA1-9007-0D7E-4F5830BA8E3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336694" y="2100233"/>
            <a:ext cx="4184611" cy="3476542"/>
            <a:chOff x="2835" y="2028"/>
            <a:chExt cx="2661" cy="2022"/>
          </a:xfrm>
        </p:grpSpPr>
        <p:sp>
          <p:nvSpPr>
            <p:cNvPr id="5" name="Line 93">
              <a:extLst>
                <a:ext uri="{FF2B5EF4-FFF2-40B4-BE49-F238E27FC236}">
                  <a16:creationId xmlns:a16="http://schemas.microsoft.com/office/drawing/2014/main" id="{6202115D-B17D-AB12-633B-16CD98EC25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flipV="1">
              <a:off x="2985" y="3838"/>
              <a:ext cx="2390" cy="43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6" name="Line 94">
              <a:extLst>
                <a:ext uri="{FF2B5EF4-FFF2-40B4-BE49-F238E27FC236}">
                  <a16:creationId xmlns:a16="http://schemas.microsoft.com/office/drawing/2014/main" id="{3275C155-3F15-B1BD-5DE6-5C7ADB8D670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 flipH="1" flipV="1">
              <a:off x="2971" y="2158"/>
              <a:ext cx="31" cy="1726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7" name="Text Box 95">
              <a:extLst>
                <a:ext uri="{FF2B5EF4-FFF2-40B4-BE49-F238E27FC236}">
                  <a16:creationId xmlns:a16="http://schemas.microsoft.com/office/drawing/2014/main" id="{D0A3CBF7-D103-91D2-1A1E-495514F82F57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5159" y="3452"/>
              <a:ext cx="337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95" i="1">
                  <a:solidFill>
                    <a:schemeClr val="tx1"/>
                  </a:solidFill>
                  <a:latin typeface="Times New Roman" panose="02020603050405020304" charset="0"/>
                </a:rPr>
                <a:t>I</a:t>
              </a:r>
            </a:p>
          </p:txBody>
        </p:sp>
        <p:sp>
          <p:nvSpPr>
            <p:cNvPr id="8" name="Text Box 96">
              <a:extLst>
                <a:ext uri="{FF2B5EF4-FFF2-40B4-BE49-F238E27FC236}">
                  <a16:creationId xmlns:a16="http://schemas.microsoft.com/office/drawing/2014/main" id="{43FCD6F2-C717-03E4-36B6-F066407BC2B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3061" y="2028"/>
              <a:ext cx="487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95" i="1">
                  <a:solidFill>
                    <a:schemeClr val="tx1"/>
                  </a:solidFill>
                  <a:latin typeface="Times New Roman" panose="02020603050405020304" charset="0"/>
                </a:rPr>
                <a:t>U</a:t>
              </a:r>
            </a:p>
          </p:txBody>
        </p:sp>
        <p:sp>
          <p:nvSpPr>
            <p:cNvPr id="9" name="Text Box 97">
              <a:extLst>
                <a:ext uri="{FF2B5EF4-FFF2-40B4-BE49-F238E27FC236}">
                  <a16:creationId xmlns:a16="http://schemas.microsoft.com/office/drawing/2014/main" id="{E2847877-6005-8F82-2F06-ED94490A15E7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835" y="3836"/>
              <a:ext cx="413" cy="2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795">
                  <a:solidFill>
                    <a:schemeClr val="tx1"/>
                  </a:solidFill>
                  <a:latin typeface="Times New Roman" panose="02020603050405020304" charset="0"/>
                </a:rPr>
                <a:t>O</a:t>
              </a:r>
            </a:p>
          </p:txBody>
        </p:sp>
        <p:sp>
          <p:nvSpPr>
            <p:cNvPr id="10" name="Line 98">
              <a:extLst>
                <a:ext uri="{FF2B5EF4-FFF2-40B4-BE49-F238E27FC236}">
                  <a16:creationId xmlns:a16="http://schemas.microsoft.com/office/drawing/2014/main" id="{64593543-6731-F516-3119-DD4D131CA5B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 flipV="1">
              <a:off x="2985" y="3065"/>
              <a:ext cx="2250" cy="817"/>
            </a:xfrm>
            <a:prstGeom prst="line">
              <a:avLst/>
            </a:prstGeom>
            <a:ln w="38100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1" name="Text Box 99">
              <a:extLst>
                <a:ext uri="{FF2B5EF4-FFF2-40B4-BE49-F238E27FC236}">
                  <a16:creationId xmlns:a16="http://schemas.microsoft.com/office/drawing/2014/main" id="{8BBC2DCC-DC5D-D7B1-CC0B-20A19F294DEC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4935" y="2736"/>
              <a:ext cx="375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95" i="1">
                  <a:solidFill>
                    <a:srgbClr val="0000CC"/>
                  </a:solidFill>
                  <a:latin typeface="Times New Roman" panose="02020603050405020304" charset="0"/>
                </a:rPr>
                <a:t>B</a:t>
              </a:r>
            </a:p>
          </p:txBody>
        </p:sp>
        <p:sp>
          <p:nvSpPr>
            <p:cNvPr id="12" name="Line 100">
              <a:extLst>
                <a:ext uri="{FF2B5EF4-FFF2-40B4-BE49-F238E27FC236}">
                  <a16:creationId xmlns:a16="http://schemas.microsoft.com/office/drawing/2014/main" id="{D48D0FED-606E-5D78-B298-2E79824BE1B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 flipV="1">
              <a:off x="2985" y="2385"/>
              <a:ext cx="1875" cy="1497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3" name="Text Box 101">
              <a:extLst>
                <a:ext uri="{FF2B5EF4-FFF2-40B4-BE49-F238E27FC236}">
                  <a16:creationId xmlns:a16="http://schemas.microsoft.com/office/drawing/2014/main" id="{6D41FC6E-2040-E929-66EA-0C3A110CD4E7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4505" y="2194"/>
              <a:ext cx="561" cy="3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95" i="1">
                  <a:latin typeface="Times New Roman" panose="02020603050405020304" charset="0"/>
                </a:rPr>
                <a:t>A</a:t>
              </a:r>
            </a:p>
          </p:txBody>
        </p:sp>
      </p:grpSp>
      <p:grpSp>
        <p:nvGrpSpPr>
          <p:cNvPr id="14" name="Group 82">
            <a:extLst>
              <a:ext uri="{FF2B5EF4-FFF2-40B4-BE49-F238E27FC236}">
                <a16:creationId xmlns:a16="http://schemas.microsoft.com/office/drawing/2014/main" id="{F1EFE6F5-466C-D509-F1DF-1032A229BE93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6711313" y="2219959"/>
            <a:ext cx="4103373" cy="3326495"/>
            <a:chOff x="295" y="2115"/>
            <a:chExt cx="2815" cy="1952"/>
          </a:xfrm>
        </p:grpSpPr>
        <p:sp>
          <p:nvSpPr>
            <p:cNvPr id="15" name="Line 83">
              <a:extLst>
                <a:ext uri="{FF2B5EF4-FFF2-40B4-BE49-F238E27FC236}">
                  <a16:creationId xmlns:a16="http://schemas.microsoft.com/office/drawing/2014/main" id="{8D3746E5-D570-B76B-29A0-57C8252DA94F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flipV="1">
              <a:off x="450" y="3838"/>
              <a:ext cx="2430" cy="54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6" name="Line 84">
              <a:extLst>
                <a:ext uri="{FF2B5EF4-FFF2-40B4-BE49-F238E27FC236}">
                  <a16:creationId xmlns:a16="http://schemas.microsoft.com/office/drawing/2014/main" id="{2AB50085-8294-DEF5-B811-382F054528D7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flipH="1" flipV="1">
              <a:off x="449" y="2194"/>
              <a:ext cx="0" cy="1699"/>
            </a:xfrm>
            <a:prstGeom prst="line">
              <a:avLst/>
            </a:prstGeom>
            <a:ln w="571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7" name="Text Box 85">
              <a:extLst>
                <a:ext uri="{FF2B5EF4-FFF2-40B4-BE49-F238E27FC236}">
                  <a16:creationId xmlns:a16="http://schemas.microsoft.com/office/drawing/2014/main" id="{B60DFE57-76FC-0679-E0A6-4BC57F006DD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525" y="2115"/>
              <a:ext cx="348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95" i="1">
                  <a:solidFill>
                    <a:schemeClr val="tx1"/>
                  </a:solidFill>
                  <a:latin typeface="Times New Roman" panose="02020603050405020304" charset="0"/>
                </a:rPr>
                <a:t>I</a:t>
              </a:r>
            </a:p>
          </p:txBody>
        </p:sp>
        <p:sp>
          <p:nvSpPr>
            <p:cNvPr id="18" name="Text Box 86">
              <a:extLst>
                <a:ext uri="{FF2B5EF4-FFF2-40B4-BE49-F238E27FC236}">
                  <a16:creationId xmlns:a16="http://schemas.microsoft.com/office/drawing/2014/main" id="{7FEA99A8-850E-A084-C964-4308470D6F3F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2608" y="3506"/>
              <a:ext cx="502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95" i="1">
                  <a:solidFill>
                    <a:schemeClr val="tx1"/>
                  </a:solidFill>
                  <a:latin typeface="Times New Roman" panose="02020603050405020304" charset="0"/>
                </a:rPr>
                <a:t>U</a:t>
              </a:r>
            </a:p>
          </p:txBody>
        </p:sp>
        <p:sp>
          <p:nvSpPr>
            <p:cNvPr id="19" name="Text Box 87">
              <a:extLst>
                <a:ext uri="{FF2B5EF4-FFF2-40B4-BE49-F238E27FC236}">
                  <a16:creationId xmlns:a16="http://schemas.microsoft.com/office/drawing/2014/main" id="{F823276D-8452-55D5-A40A-582D58F93F7F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95" y="3851"/>
              <a:ext cx="425" cy="2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795">
                  <a:solidFill>
                    <a:schemeClr val="tx1"/>
                  </a:solidFill>
                  <a:latin typeface="Times New Roman" panose="02020603050405020304" charset="0"/>
                </a:rPr>
                <a:t>O</a:t>
              </a:r>
            </a:p>
          </p:txBody>
        </p:sp>
        <p:sp>
          <p:nvSpPr>
            <p:cNvPr id="20" name="Line 88">
              <a:extLst>
                <a:ext uri="{FF2B5EF4-FFF2-40B4-BE49-F238E27FC236}">
                  <a16:creationId xmlns:a16="http://schemas.microsoft.com/office/drawing/2014/main" id="{3F6F3AA3-17FB-6E61-323B-1F42208B77D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flipV="1">
              <a:off x="449" y="2943"/>
              <a:ext cx="2123" cy="953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21" name="Text Box 89">
              <a:extLst>
                <a:ext uri="{FF2B5EF4-FFF2-40B4-BE49-F238E27FC236}">
                  <a16:creationId xmlns:a16="http://schemas.microsoft.com/office/drawing/2014/main" id="{AC378F0A-858C-C2DF-3DF7-F49691697390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916" y="2157"/>
              <a:ext cx="386" cy="30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795" i="1">
                  <a:solidFill>
                    <a:srgbClr val="0000CC"/>
                  </a:solidFill>
                  <a:latin typeface="Times New Roman" panose="02020603050405020304" charset="0"/>
                </a:rPr>
                <a:t>B</a:t>
              </a:r>
            </a:p>
          </p:txBody>
        </p:sp>
        <p:sp>
          <p:nvSpPr>
            <p:cNvPr id="22" name="Line 90">
              <a:extLst>
                <a:ext uri="{FF2B5EF4-FFF2-40B4-BE49-F238E27FC236}">
                  <a16:creationId xmlns:a16="http://schemas.microsoft.com/office/drawing/2014/main" id="{8A3995DE-72FF-712B-711B-17836CDD3421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 flipV="1">
              <a:off x="449" y="2239"/>
              <a:ext cx="1467" cy="1654"/>
            </a:xfrm>
            <a:prstGeom prst="line">
              <a:avLst/>
            </a:prstGeom>
            <a:ln w="38100" cap="flat" cmpd="sng">
              <a:solidFill>
                <a:srgbClr val="0000CC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23" name="Text Box 91">
              <a:extLst>
                <a:ext uri="{FF2B5EF4-FFF2-40B4-BE49-F238E27FC236}">
                  <a16:creationId xmlns:a16="http://schemas.microsoft.com/office/drawing/2014/main" id="{B058D1AE-6637-F122-829E-DB8A44A806D1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457" y="2943"/>
              <a:ext cx="578" cy="3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3195" i="1">
                  <a:latin typeface="Times New Roman" panose="0202060305040502030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569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1072-C91B-2F6A-4F9E-31DCB707B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非线性元件</a:t>
            </a:r>
          </a:p>
        </p:txBody>
      </p:sp>
      <p:grpSp>
        <p:nvGrpSpPr>
          <p:cNvPr id="4" name="组合 6">
            <a:extLst>
              <a:ext uri="{FF2B5EF4-FFF2-40B4-BE49-F238E27FC236}">
                <a16:creationId xmlns:a16="http://schemas.microsoft.com/office/drawing/2014/main" id="{09880048-972D-7DE7-D1EE-73BC66F0E76C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879850" y="3099629"/>
            <a:ext cx="4432300" cy="1803329"/>
            <a:chOff x="7784" y="4607"/>
            <a:chExt cx="5934" cy="2495"/>
          </a:xfrm>
        </p:grpSpPr>
        <p:grpSp>
          <p:nvGrpSpPr>
            <p:cNvPr id="5" name="组合 19461">
              <a:extLst>
                <a:ext uri="{FF2B5EF4-FFF2-40B4-BE49-F238E27FC236}">
                  <a16:creationId xmlns:a16="http://schemas.microsoft.com/office/drawing/2014/main" id="{87DA76AB-A622-7DCA-8075-0ABE11427BF5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11214" y="4607"/>
              <a:ext cx="2504" cy="2494"/>
              <a:chOff x="0" y="0"/>
              <a:chExt cx="1198" cy="1333"/>
            </a:xfrm>
          </p:grpSpPr>
          <p:sp>
            <p:nvSpPr>
              <p:cNvPr id="13" name="Line 7">
                <a:extLst>
                  <a:ext uri="{FF2B5EF4-FFF2-40B4-BE49-F238E27FC236}">
                    <a16:creationId xmlns:a16="http://schemas.microsoft.com/office/drawing/2014/main" id="{32B30473-7C06-4A6D-1404-55CF53620879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>
              <a:xfrm>
                <a:off x="227" y="897"/>
                <a:ext cx="907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211C80B7-5D16-2A7B-3C26-900CC231153F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 flipV="1">
                <a:off x="226" y="81"/>
                <a:ext cx="1" cy="82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Text Box 9">
                <a:extLst>
                  <a:ext uri="{FF2B5EF4-FFF2-40B4-BE49-F238E27FC236}">
                    <a16:creationId xmlns:a16="http://schemas.microsoft.com/office/drawing/2014/main" id="{F6447372-78D9-4D77-9752-334E4AC35BBF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45" y="856"/>
                <a:ext cx="200" cy="4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/>
                  </a:rPr>
                  <a:t>O</a:t>
                </a: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5AD72076-F974-A7E2-D367-78C64B5730D1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0" y="0"/>
                <a:ext cx="200" cy="4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i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/>
                  </a:rPr>
                  <a:t>I</a:t>
                </a:r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810AA04C-B29A-E3AA-7AB9-0DF9B933304F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98" y="850"/>
                <a:ext cx="200" cy="47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i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/>
                  </a:rPr>
                  <a:t>U</a:t>
                </a:r>
              </a:p>
            </p:txBody>
          </p:sp>
          <p:sp>
            <p:nvSpPr>
              <p:cNvPr id="18" name="Arc 12">
                <a:extLst>
                  <a:ext uri="{FF2B5EF4-FFF2-40B4-BE49-F238E27FC236}">
                    <a16:creationId xmlns:a16="http://schemas.microsoft.com/office/drawing/2014/main" id="{C073ECD9-202D-9E21-ADEB-CB4F188C2A4B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>
              <a:xfrm flipV="1">
                <a:off x="0" y="81"/>
                <a:ext cx="771" cy="816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28" y="27"/>
                  </a:cxn>
                  <a:cxn ang="0">
                    <a:pos x="0" y="33"/>
                  </a:cxn>
                </a:cxnLst>
                <a:rect l="l" t="t" r="r" b="b"/>
                <a:pathLst>
                  <a:path w="21273" h="20448" fill="none">
                    <a:moveTo>
                      <a:pt x="6959" y="0"/>
                    </a:moveTo>
                    <a:cubicBezTo>
                      <a:pt x="14420" y="2539"/>
                      <a:pt x="19905" y="8939"/>
                      <a:pt x="21272" y="16701"/>
                    </a:cubicBezTo>
                  </a:path>
                  <a:path w="21273" h="20448" stroke="0">
                    <a:moveTo>
                      <a:pt x="6959" y="0"/>
                    </a:moveTo>
                    <a:cubicBezTo>
                      <a:pt x="14420" y="2539"/>
                      <a:pt x="19905" y="8939"/>
                      <a:pt x="21272" y="16701"/>
                    </a:cubicBezTo>
                    <a:lnTo>
                      <a:pt x="0" y="20448"/>
                    </a:lnTo>
                    <a:close/>
                  </a:path>
                </a:pathLst>
              </a:custGeom>
              <a:noFill/>
              <a:ln w="25400" cap="flat" cmpd="sng">
                <a:solidFill>
                  <a:srgbClr val="00B0F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endParaRPr lang="zh-CN" altLang="en-US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p:grpSp>
        <p:grpSp>
          <p:nvGrpSpPr>
            <p:cNvPr id="6" name="组合 19468">
              <a:extLst>
                <a:ext uri="{FF2B5EF4-FFF2-40B4-BE49-F238E27FC236}">
                  <a16:creationId xmlns:a16="http://schemas.microsoft.com/office/drawing/2014/main" id="{57B880EB-F107-C2E3-B29F-90C2F0118B81}"/>
                </a:ext>
              </a:extLst>
            </p:cNvPr>
            <p:cNvGrpSpPr/>
            <p:nvPr>
              <p:custDataLst>
                <p:tags r:id="rId3"/>
              </p:custDataLst>
            </p:nvPr>
          </p:nvGrpSpPr>
          <p:grpSpPr>
            <a:xfrm>
              <a:off x="7784" y="4608"/>
              <a:ext cx="3225" cy="2494"/>
              <a:chOff x="0" y="0"/>
              <a:chExt cx="1724" cy="1333"/>
            </a:xfrm>
          </p:grpSpPr>
          <p:sp>
            <p:nvSpPr>
              <p:cNvPr id="7" name="Line 7">
                <a:extLst>
                  <a:ext uri="{FF2B5EF4-FFF2-40B4-BE49-F238E27FC236}">
                    <a16:creationId xmlns:a16="http://schemas.microsoft.com/office/drawing/2014/main" id="{3F8A049E-A01D-0C89-07CC-981290871F44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254" y="897"/>
                <a:ext cx="1013" cy="0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Line 8">
                <a:extLst>
                  <a:ext uri="{FF2B5EF4-FFF2-40B4-BE49-F238E27FC236}">
                    <a16:creationId xmlns:a16="http://schemas.microsoft.com/office/drawing/2014/main" id="{8BA20A9B-28F2-711F-BF6B-E270568BDF3F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 flipV="1">
                <a:off x="253" y="81"/>
                <a:ext cx="1" cy="821"/>
              </a:xfrm>
              <a:prstGeom prst="line">
                <a:avLst/>
              </a:prstGeom>
              <a:ln w="254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stealth" w="med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Text Box 9">
                <a:extLst>
                  <a:ext uri="{FF2B5EF4-FFF2-40B4-BE49-F238E27FC236}">
                    <a16:creationId xmlns:a16="http://schemas.microsoft.com/office/drawing/2014/main" id="{75147B84-6C16-3D78-3598-7737A29A54F6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50" y="856"/>
                <a:ext cx="224" cy="4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/>
                  </a:rPr>
                  <a:t>O</a:t>
                </a:r>
              </a:p>
            </p:txBody>
          </p:sp>
          <p:sp>
            <p:nvSpPr>
              <p:cNvPr id="10" name="Text Box 10">
                <a:extLst>
                  <a:ext uri="{FF2B5EF4-FFF2-40B4-BE49-F238E27FC236}">
                    <a16:creationId xmlns:a16="http://schemas.microsoft.com/office/drawing/2014/main" id="{2621026A-4BAE-62F4-75AE-25C1266B57FE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0" y="0"/>
                <a:ext cx="224" cy="4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i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/>
                  </a:rPr>
                  <a:t>I</a:t>
                </a:r>
              </a:p>
            </p:txBody>
          </p:sp>
          <p:sp>
            <p:nvSpPr>
              <p:cNvPr id="11" name="Text Box 11">
                <a:extLst>
                  <a:ext uri="{FF2B5EF4-FFF2-40B4-BE49-F238E27FC236}">
                    <a16:creationId xmlns:a16="http://schemas.microsoft.com/office/drawing/2014/main" id="{86A53559-262E-882F-E011-8468F8761011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115" y="852"/>
                <a:ext cx="224" cy="47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i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/>
                  </a:rPr>
                  <a:t>U</a:t>
                </a:r>
              </a:p>
            </p:txBody>
          </p:sp>
          <p:sp>
            <p:nvSpPr>
              <p:cNvPr id="12" name="Arc 12">
                <a:extLst>
                  <a:ext uri="{FF2B5EF4-FFF2-40B4-BE49-F238E27FC236}">
                    <a16:creationId xmlns:a16="http://schemas.microsoft.com/office/drawing/2014/main" id="{1AA25DAB-6C06-B7A9-8B7A-59B36FA42B36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 flipH="1">
                <a:off x="256" y="347"/>
                <a:ext cx="1468" cy="680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28" y="27"/>
                  </a:cxn>
                  <a:cxn ang="0">
                    <a:pos x="0" y="33"/>
                  </a:cxn>
                </a:cxnLst>
                <a:rect l="l" t="t" r="r" b="b"/>
                <a:pathLst>
                  <a:path w="21273" h="20448" fill="none">
                    <a:moveTo>
                      <a:pt x="6959" y="0"/>
                    </a:moveTo>
                    <a:cubicBezTo>
                      <a:pt x="14420" y="2539"/>
                      <a:pt x="19905" y="8939"/>
                      <a:pt x="21272" y="16701"/>
                    </a:cubicBezTo>
                  </a:path>
                  <a:path w="21273" h="20448" stroke="0">
                    <a:moveTo>
                      <a:pt x="6959" y="0"/>
                    </a:moveTo>
                    <a:cubicBezTo>
                      <a:pt x="14420" y="2539"/>
                      <a:pt x="19905" y="8939"/>
                      <a:pt x="21272" y="16701"/>
                    </a:cubicBezTo>
                    <a:lnTo>
                      <a:pt x="0" y="20448"/>
                    </a:lnTo>
                    <a:close/>
                  </a:path>
                </a:pathLst>
              </a:custGeom>
              <a:noFill/>
              <a:ln w="25400" cap="flat" cmpd="sng">
                <a:solidFill>
                  <a:srgbClr val="FFC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endParaRPr lang="zh-CN" altLang="en-US" sz="2400">
                  <a:solidFill>
                    <a:schemeClr val="tx1"/>
                  </a:solidFill>
                  <a:latin typeface="Times New Roman" panose="02020603050405020304" charset="0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5101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6514" name="Object 2">
            <a:extLst>
              <a:ext uri="{FF2B5EF4-FFF2-40B4-BE49-F238E27FC236}">
                <a16:creationId xmlns:a16="http://schemas.microsoft.com/office/drawing/2014/main" id="{E204D69D-D095-8320-AAAD-C942E5359B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92024" y="749232"/>
          <a:ext cx="11539538" cy="6300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11487679" imgH="6291367" progId="Word.Document.8">
                  <p:embed/>
                </p:oleObj>
              </mc:Choice>
              <mc:Fallback>
                <p:oleObj name="Document" r:id="rId6" imgW="11487679" imgH="6291367" progId="Word.Document.8">
                  <p:embed/>
                  <p:pic>
                    <p:nvPicPr>
                      <p:cNvPr id="1216514" name="Object 2">
                        <a:extLst>
                          <a:ext uri="{FF2B5EF4-FFF2-40B4-BE49-F238E27FC236}">
                            <a16:creationId xmlns:a16="http://schemas.microsoft.com/office/drawing/2014/main" id="{E204D69D-D095-8320-AAAD-C942E5359B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2024" y="749232"/>
                        <a:ext cx="11539538" cy="6300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6ED3DF77-9A69-FB8A-E4D2-8AAD65B2C82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2301" y="0"/>
            <a:ext cx="1279699" cy="7998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197C5DB-5CDF-AE9C-50EC-6439FFA92E2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9340" y="138296"/>
            <a:ext cx="1722883" cy="52322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800" b="1"/>
              <a:t>课堂练习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10DB2-1792-E49D-BFE1-BD571C1298B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95143" y="1426464"/>
            <a:ext cx="740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BD</a:t>
            </a:r>
            <a:endParaRPr lang="zh-CN" altLang="en-US" sz="24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12A9C-679D-FB63-9EA7-93B572B18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实验：探究影响导体电阻的因素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1124E-EEE8-F839-894F-39156F45F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N" dirty="0"/>
              <a:t>实验方法</a:t>
            </a:r>
            <a:r>
              <a:rPr lang="zh-CN" altLang="en-US" dirty="0"/>
              <a:t>：控制变量法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实验猜想：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10699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2D93-E0C7-12E7-D815-C415CFDA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实验电路</a:t>
            </a:r>
          </a:p>
        </p:txBody>
      </p:sp>
      <p:grpSp>
        <p:nvGrpSpPr>
          <p:cNvPr id="4" name="组合 5">
            <a:extLst>
              <a:ext uri="{FF2B5EF4-FFF2-40B4-BE49-F238E27FC236}">
                <a16:creationId xmlns:a16="http://schemas.microsoft.com/office/drawing/2014/main" id="{72CAD60C-8D50-ECE9-EBE5-B54212D40A2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014980" y="2923910"/>
            <a:ext cx="6162040" cy="2154767"/>
            <a:chOff x="6455" y="2257"/>
            <a:chExt cx="7278" cy="2545"/>
          </a:xfrm>
        </p:grpSpPr>
        <p:sp>
          <p:nvSpPr>
            <p:cNvPr id="5" name="矩形 463875">
              <a:extLst>
                <a:ext uri="{FF2B5EF4-FFF2-40B4-BE49-F238E27FC236}">
                  <a16:creationId xmlns:a16="http://schemas.microsoft.com/office/drawing/2014/main" id="{DF415865-A528-01C5-8000-C414AC4E1482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6455" y="3475"/>
              <a:ext cx="7278" cy="1017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6" name="文本框 463876">
              <a:extLst>
                <a:ext uri="{FF2B5EF4-FFF2-40B4-BE49-F238E27FC236}">
                  <a16:creationId xmlns:a16="http://schemas.microsoft.com/office/drawing/2014/main" id="{DD09B9F5-45C8-31BB-1DC2-F5B8FE3D1B5D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214" y="3406"/>
              <a:ext cx="509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altLang="zh-CN" sz="2385" b="1" i="1">
                  <a:solidFill>
                    <a:srgbClr val="000000"/>
                  </a:solidFill>
                  <a:latin typeface="Times New Roman" panose="02020603050405020304" charset="0"/>
                </a:rPr>
                <a:t>a</a:t>
              </a:r>
            </a:p>
          </p:txBody>
        </p:sp>
        <p:sp>
          <p:nvSpPr>
            <p:cNvPr id="7" name="矩形 463877">
              <a:extLst>
                <a:ext uri="{FF2B5EF4-FFF2-40B4-BE49-F238E27FC236}">
                  <a16:creationId xmlns:a16="http://schemas.microsoft.com/office/drawing/2014/main" id="{CECD0D0E-A381-B3DB-0D45-17623CC228CB}"/>
                </a:ext>
              </a:extLst>
            </p:cNvPr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10794" y="4412"/>
              <a:ext cx="563" cy="157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8" name="直接连接符 463879">
              <a:extLst>
                <a:ext uri="{FF2B5EF4-FFF2-40B4-BE49-F238E27FC236}">
                  <a16:creationId xmlns:a16="http://schemas.microsoft.com/office/drawing/2014/main" id="{49ACD952-4376-0010-5689-6E19A6A60F3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-5400000">
              <a:off x="10306" y="4257"/>
              <a:ext cx="127" cy="34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9" name="直接连接符 463882">
              <a:extLst>
                <a:ext uri="{FF2B5EF4-FFF2-40B4-BE49-F238E27FC236}">
                  <a16:creationId xmlns:a16="http://schemas.microsoft.com/office/drawing/2014/main" id="{3533E5D1-CD88-FF15-360C-BDE6EC0A4BA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flipH="1">
              <a:off x="9600" y="4240"/>
              <a:ext cx="0" cy="563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0" name="直接连接符 463883">
              <a:extLst>
                <a:ext uri="{FF2B5EF4-FFF2-40B4-BE49-F238E27FC236}">
                  <a16:creationId xmlns:a16="http://schemas.microsoft.com/office/drawing/2014/main" id="{0A69C843-FD4A-7569-9FF0-B345419DAB8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flipH="1">
              <a:off x="9735" y="4337"/>
              <a:ext cx="0" cy="276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1" name="椭圆 463884">
              <a:extLst>
                <a:ext uri="{FF2B5EF4-FFF2-40B4-BE49-F238E27FC236}">
                  <a16:creationId xmlns:a16="http://schemas.microsoft.com/office/drawing/2014/main" id="{B7995CCE-3AB9-FD63-D41C-013DF8CD999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0136" y="4440"/>
              <a:ext cx="114" cy="104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12" name="任意多边形 463885">
              <a:extLst>
                <a:ext uri="{FF2B5EF4-FFF2-40B4-BE49-F238E27FC236}">
                  <a16:creationId xmlns:a16="http://schemas.microsoft.com/office/drawing/2014/main" id="{A8BDDC54-E7C6-A9A8-913A-70EF2A387DC3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7" y="4153"/>
              <a:ext cx="507" cy="340"/>
            </a:xfrm>
            <a:custGeom>
              <a:avLst/>
              <a:gdLst/>
              <a:ahLst/>
              <a:cxnLst/>
              <a:rect l="l" t="t" r="r" b="b"/>
              <a:pathLst>
                <a:path w="272" h="182">
                  <a:moveTo>
                    <a:pt x="272" y="182"/>
                  </a:moveTo>
                  <a:lnTo>
                    <a:pt x="272" y="0"/>
                  </a:lnTo>
                  <a:lnTo>
                    <a:pt x="0" y="0"/>
                  </a:lnTo>
                  <a:lnTo>
                    <a:pt x="0" y="13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/>
            <a:lstStyle/>
            <a:p>
              <a:endParaRPr lang="zh-CN" altLang="en-US" sz="135"/>
            </a:p>
          </p:txBody>
        </p:sp>
        <p:sp>
          <p:nvSpPr>
            <p:cNvPr id="13" name="直接连接符 463886">
              <a:extLst>
                <a:ext uri="{FF2B5EF4-FFF2-40B4-BE49-F238E27FC236}">
                  <a16:creationId xmlns:a16="http://schemas.microsoft.com/office/drawing/2014/main" id="{BCE24756-7805-B4FB-EE39-C0F06768F4F5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7080" y="3477"/>
              <a:ext cx="845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4" name="直接连接符 463887">
              <a:extLst>
                <a:ext uri="{FF2B5EF4-FFF2-40B4-BE49-F238E27FC236}">
                  <a16:creationId xmlns:a16="http://schemas.microsoft.com/office/drawing/2014/main" id="{F8FF112E-F070-3E04-CEA3-857EA7410CF9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940" y="3475"/>
              <a:ext cx="845" cy="0"/>
            </a:xfrm>
            <a:prstGeom prst="line">
              <a:avLst/>
            </a:prstGeom>
            <a:ln w="762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5" name="直接连接符 463888">
              <a:extLst>
                <a:ext uri="{FF2B5EF4-FFF2-40B4-BE49-F238E27FC236}">
                  <a16:creationId xmlns:a16="http://schemas.microsoft.com/office/drawing/2014/main" id="{88A841A0-C0ED-C83C-7797-3FB7CE82518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2378" y="3475"/>
              <a:ext cx="845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6" name="直接连接符 463889">
              <a:extLst>
                <a:ext uri="{FF2B5EF4-FFF2-40B4-BE49-F238E27FC236}">
                  <a16:creationId xmlns:a16="http://schemas.microsoft.com/office/drawing/2014/main" id="{2118B2F7-7B78-076E-6B88-541F7701BDB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404" y="3464"/>
              <a:ext cx="1608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endParaRPr sz="135"/>
            </a:p>
          </p:txBody>
        </p:sp>
        <p:sp>
          <p:nvSpPr>
            <p:cNvPr id="17" name="任意多边形 463890">
              <a:extLst>
                <a:ext uri="{FF2B5EF4-FFF2-40B4-BE49-F238E27FC236}">
                  <a16:creationId xmlns:a16="http://schemas.microsoft.com/office/drawing/2014/main" id="{A043FED8-AA7C-CBDD-D9D4-671B5D67B81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7035" y="2526"/>
              <a:ext cx="931" cy="950"/>
            </a:xfrm>
            <a:custGeom>
              <a:avLst/>
              <a:gdLst/>
              <a:ahLst/>
              <a:cxnLst/>
              <a:rect l="l" t="t" r="r" b="b"/>
              <a:pathLst>
                <a:path w="363" h="363">
                  <a:moveTo>
                    <a:pt x="0" y="363"/>
                  </a:moveTo>
                  <a:lnTo>
                    <a:pt x="0" y="0"/>
                  </a:lnTo>
                  <a:lnTo>
                    <a:pt x="363" y="0"/>
                  </a:lnTo>
                  <a:lnTo>
                    <a:pt x="363" y="36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"/>
            </a:p>
          </p:txBody>
        </p:sp>
        <p:grpSp>
          <p:nvGrpSpPr>
            <p:cNvPr id="18" name="组合 463891">
              <a:extLst>
                <a:ext uri="{FF2B5EF4-FFF2-40B4-BE49-F238E27FC236}">
                  <a16:creationId xmlns:a16="http://schemas.microsoft.com/office/drawing/2014/main" id="{6B720D86-EF1C-C581-CB61-4C35D070D986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289" y="2302"/>
              <a:ext cx="448" cy="442"/>
              <a:chOff x="2112" y="3212"/>
              <a:chExt cx="181" cy="196"/>
            </a:xfrm>
          </p:grpSpPr>
          <p:sp>
            <p:nvSpPr>
              <p:cNvPr id="44" name="椭圆 463892">
                <a:extLst>
                  <a:ext uri="{FF2B5EF4-FFF2-40B4-BE49-F238E27FC236}">
                    <a16:creationId xmlns:a16="http://schemas.microsoft.com/office/drawing/2014/main" id="{BD0B0D5C-0328-7F1B-A366-FAD222EB7B6A}"/>
                  </a:ext>
                </a:extLst>
              </p:cNvPr>
              <p:cNvSpPr>
                <a:spLocks noChangeAspect="1"/>
              </p:cNvSpPr>
              <p:nvPr>
                <p:custDataLst>
                  <p:tags r:id="rId41"/>
                </p:custDataLst>
              </p:nvPr>
            </p:nvSpPr>
            <p:spPr>
              <a:xfrm>
                <a:off x="2112" y="3212"/>
                <a:ext cx="181" cy="181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/>
                <a:endParaRPr lang="zh-CN" altLang="en-US" sz="135">
                  <a:latin typeface="Times New Roman" panose="02020603050405020304" charset="0"/>
                </a:endParaRPr>
              </a:p>
            </p:txBody>
          </p:sp>
          <p:sp>
            <p:nvSpPr>
              <p:cNvPr id="45" name="文本框 463893">
                <a:extLst>
                  <a:ext uri="{FF2B5EF4-FFF2-40B4-BE49-F238E27FC236}">
                    <a16:creationId xmlns:a16="http://schemas.microsoft.com/office/drawing/2014/main" id="{1C551068-B2DF-2B23-61D3-C20BE2E1C74B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42"/>
                </p:custDataLst>
              </p:nvPr>
            </p:nvSpPr>
            <p:spPr>
              <a:xfrm>
                <a:off x="2117" y="3227"/>
                <a:ext cx="173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995" b="1">
                    <a:solidFill>
                      <a:schemeClr val="tx1"/>
                    </a:solidFill>
                    <a:latin typeface="Times New Roman" panose="02020603050405020304" charset="0"/>
                  </a:rPr>
                  <a:t>V</a:t>
                </a:r>
              </a:p>
              <a:p>
                <a:pPr>
                  <a:spcBef>
                    <a:spcPct val="0"/>
                  </a:spcBef>
                </a:pPr>
                <a:endParaRPr lang="en-US" altLang="zh-CN" sz="135" b="1">
                  <a:solidFill>
                    <a:schemeClr val="tx1"/>
                  </a:solidFill>
                  <a:latin typeface="Times New Roman" panose="02020603050405020304" charset="0"/>
                </a:endParaRPr>
              </a:p>
            </p:txBody>
          </p:sp>
        </p:grpSp>
        <p:sp>
          <p:nvSpPr>
            <p:cNvPr id="19" name="任意多边形 463894">
              <a:extLst>
                <a:ext uri="{FF2B5EF4-FFF2-40B4-BE49-F238E27FC236}">
                  <a16:creationId xmlns:a16="http://schemas.microsoft.com/office/drawing/2014/main" id="{C4047505-352A-2842-8AF8-ED931FD7AF2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893" y="2492"/>
              <a:ext cx="952" cy="950"/>
            </a:xfrm>
            <a:custGeom>
              <a:avLst/>
              <a:gdLst/>
              <a:ahLst/>
              <a:cxnLst/>
              <a:rect l="l" t="t" r="r" b="b"/>
              <a:pathLst>
                <a:path w="363" h="363">
                  <a:moveTo>
                    <a:pt x="0" y="363"/>
                  </a:moveTo>
                  <a:lnTo>
                    <a:pt x="0" y="0"/>
                  </a:lnTo>
                  <a:lnTo>
                    <a:pt x="363" y="0"/>
                  </a:lnTo>
                  <a:lnTo>
                    <a:pt x="363" y="36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"/>
            </a:p>
          </p:txBody>
        </p:sp>
        <p:grpSp>
          <p:nvGrpSpPr>
            <p:cNvPr id="20" name="组合 463895">
              <a:extLst>
                <a:ext uri="{FF2B5EF4-FFF2-40B4-BE49-F238E27FC236}">
                  <a16:creationId xmlns:a16="http://schemas.microsoft.com/office/drawing/2014/main" id="{F6AEF2DC-998C-37AF-5F73-B71498015FC5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11147" y="2268"/>
              <a:ext cx="448" cy="442"/>
              <a:chOff x="2112" y="3212"/>
              <a:chExt cx="181" cy="196"/>
            </a:xfrm>
          </p:grpSpPr>
          <p:sp>
            <p:nvSpPr>
              <p:cNvPr id="42" name="椭圆 463896">
                <a:extLst>
                  <a:ext uri="{FF2B5EF4-FFF2-40B4-BE49-F238E27FC236}">
                    <a16:creationId xmlns:a16="http://schemas.microsoft.com/office/drawing/2014/main" id="{B3E75754-269F-BD40-C269-BDABCDA5A6AA}"/>
                  </a:ext>
                </a:extLst>
              </p:cNvPr>
              <p:cNvSpPr>
                <a:spLocks noChangeAspect="1"/>
              </p:cNvSpPr>
              <p:nvPr>
                <p:custDataLst>
                  <p:tags r:id="rId39"/>
                </p:custDataLst>
              </p:nvPr>
            </p:nvSpPr>
            <p:spPr>
              <a:xfrm>
                <a:off x="2112" y="3212"/>
                <a:ext cx="181" cy="181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/>
                <a:endParaRPr lang="zh-CN" altLang="en-US" sz="135">
                  <a:latin typeface="Times New Roman" panose="02020603050405020304" charset="0"/>
                </a:endParaRPr>
              </a:p>
            </p:txBody>
          </p:sp>
          <p:sp>
            <p:nvSpPr>
              <p:cNvPr id="43" name="文本框 463897">
                <a:extLst>
                  <a:ext uri="{FF2B5EF4-FFF2-40B4-BE49-F238E27FC236}">
                    <a16:creationId xmlns:a16="http://schemas.microsoft.com/office/drawing/2014/main" id="{3975D7BC-7592-CF3B-A162-1FFEE35B0ACA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40"/>
                </p:custDataLst>
              </p:nvPr>
            </p:nvSpPr>
            <p:spPr>
              <a:xfrm>
                <a:off x="2117" y="3227"/>
                <a:ext cx="173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995" b="1">
                    <a:solidFill>
                      <a:schemeClr val="tx1"/>
                    </a:solidFill>
                    <a:latin typeface="Times New Roman" panose="02020603050405020304" charset="0"/>
                  </a:rPr>
                  <a:t>V</a:t>
                </a:r>
              </a:p>
              <a:p>
                <a:pPr>
                  <a:spcBef>
                    <a:spcPct val="0"/>
                  </a:spcBef>
                </a:pPr>
                <a:endParaRPr lang="en-US" altLang="zh-CN" sz="135" b="1">
                  <a:solidFill>
                    <a:schemeClr val="tx1"/>
                  </a:solidFill>
                  <a:latin typeface="Times New Roman" panose="02020603050405020304" charset="0"/>
                </a:endParaRPr>
              </a:p>
            </p:txBody>
          </p:sp>
        </p:grpSp>
        <p:sp>
          <p:nvSpPr>
            <p:cNvPr id="21" name="任意多边形 463898">
              <a:extLst>
                <a:ext uri="{FF2B5EF4-FFF2-40B4-BE49-F238E27FC236}">
                  <a16:creationId xmlns:a16="http://schemas.microsoft.com/office/drawing/2014/main" id="{6809F27E-59A7-2292-E1BC-C6F02F505F9D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2334" y="2481"/>
              <a:ext cx="931" cy="950"/>
            </a:xfrm>
            <a:custGeom>
              <a:avLst/>
              <a:gdLst/>
              <a:ahLst/>
              <a:cxnLst/>
              <a:rect l="l" t="t" r="r" b="b"/>
              <a:pathLst>
                <a:path w="363" h="363">
                  <a:moveTo>
                    <a:pt x="0" y="363"/>
                  </a:moveTo>
                  <a:lnTo>
                    <a:pt x="0" y="0"/>
                  </a:lnTo>
                  <a:lnTo>
                    <a:pt x="363" y="0"/>
                  </a:lnTo>
                  <a:lnTo>
                    <a:pt x="363" y="36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"/>
            </a:p>
          </p:txBody>
        </p:sp>
        <p:grpSp>
          <p:nvGrpSpPr>
            <p:cNvPr id="22" name="组合 463899">
              <a:extLst>
                <a:ext uri="{FF2B5EF4-FFF2-40B4-BE49-F238E27FC236}">
                  <a16:creationId xmlns:a16="http://schemas.microsoft.com/office/drawing/2014/main" id="{5FF0744C-2D54-BC04-0C55-4C5C9CEB4F55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12587" y="2257"/>
              <a:ext cx="448" cy="442"/>
              <a:chOff x="2112" y="3212"/>
              <a:chExt cx="181" cy="196"/>
            </a:xfrm>
          </p:grpSpPr>
          <p:sp>
            <p:nvSpPr>
              <p:cNvPr id="40" name="椭圆 463900">
                <a:extLst>
                  <a:ext uri="{FF2B5EF4-FFF2-40B4-BE49-F238E27FC236}">
                    <a16:creationId xmlns:a16="http://schemas.microsoft.com/office/drawing/2014/main" id="{368A2557-224F-DBF2-968A-452A8D7C38BE}"/>
                  </a:ext>
                </a:extLst>
              </p:cNvPr>
              <p:cNvSpPr>
                <a:spLocks noChangeAspect="1"/>
              </p:cNvSpPr>
              <p:nvPr>
                <p:custDataLst>
                  <p:tags r:id="rId37"/>
                </p:custDataLst>
              </p:nvPr>
            </p:nvSpPr>
            <p:spPr>
              <a:xfrm>
                <a:off x="2112" y="3212"/>
                <a:ext cx="181" cy="181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/>
                <a:endParaRPr lang="zh-CN" altLang="en-US" sz="135">
                  <a:latin typeface="Times New Roman" panose="02020603050405020304" charset="0"/>
                </a:endParaRPr>
              </a:p>
            </p:txBody>
          </p:sp>
          <p:sp>
            <p:nvSpPr>
              <p:cNvPr id="41" name="文本框 463901">
                <a:extLst>
                  <a:ext uri="{FF2B5EF4-FFF2-40B4-BE49-F238E27FC236}">
                    <a16:creationId xmlns:a16="http://schemas.microsoft.com/office/drawing/2014/main" id="{1587EB4A-6A45-1DF4-D5B2-5CA589EBE74E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38"/>
                </p:custDataLst>
              </p:nvPr>
            </p:nvSpPr>
            <p:spPr>
              <a:xfrm>
                <a:off x="2117" y="3227"/>
                <a:ext cx="173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995" b="1">
                    <a:solidFill>
                      <a:schemeClr val="tx1"/>
                    </a:solidFill>
                    <a:latin typeface="Times New Roman" panose="02020603050405020304" charset="0"/>
                  </a:rPr>
                  <a:t>V</a:t>
                </a:r>
              </a:p>
              <a:p>
                <a:pPr>
                  <a:spcBef>
                    <a:spcPct val="0"/>
                  </a:spcBef>
                </a:pPr>
                <a:endParaRPr lang="en-US" altLang="zh-CN" sz="135" b="1">
                  <a:solidFill>
                    <a:schemeClr val="tx1"/>
                  </a:solidFill>
                  <a:latin typeface="Times New Roman" panose="02020603050405020304" charset="0"/>
                </a:endParaRPr>
              </a:p>
            </p:txBody>
          </p:sp>
        </p:grpSp>
        <p:sp>
          <p:nvSpPr>
            <p:cNvPr id="23" name="任意多边形 463902">
              <a:extLst>
                <a:ext uri="{FF2B5EF4-FFF2-40B4-BE49-F238E27FC236}">
                  <a16:creationId xmlns:a16="http://schemas.microsoft.com/office/drawing/2014/main" id="{994AAEE4-87CE-2A4B-58D6-A5B57C21EEC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8373" y="2514"/>
              <a:ext cx="1670" cy="950"/>
            </a:xfrm>
            <a:custGeom>
              <a:avLst/>
              <a:gdLst/>
              <a:ahLst/>
              <a:cxnLst/>
              <a:rect l="l" t="t" r="r" b="b"/>
              <a:pathLst>
                <a:path w="363" h="363">
                  <a:moveTo>
                    <a:pt x="0" y="363"/>
                  </a:moveTo>
                  <a:lnTo>
                    <a:pt x="0" y="0"/>
                  </a:lnTo>
                  <a:lnTo>
                    <a:pt x="363" y="0"/>
                  </a:lnTo>
                  <a:lnTo>
                    <a:pt x="363" y="36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135"/>
            </a:p>
          </p:txBody>
        </p:sp>
        <p:grpSp>
          <p:nvGrpSpPr>
            <p:cNvPr id="24" name="组合 463903">
              <a:extLst>
                <a:ext uri="{FF2B5EF4-FFF2-40B4-BE49-F238E27FC236}">
                  <a16:creationId xmlns:a16="http://schemas.microsoft.com/office/drawing/2014/main" id="{FB5E4999-69DB-C220-1435-2B4B37375C42}"/>
                </a:ext>
              </a:extLst>
            </p:cNvPr>
            <p:cNvGrpSpPr>
              <a:grpSpLocks noChangeAspect="1"/>
            </p:cNvGrpSpPr>
            <p:nvPr>
              <p:custDataLst>
                <p:tags r:id="rId21"/>
              </p:custDataLst>
            </p:nvPr>
          </p:nvGrpSpPr>
          <p:grpSpPr>
            <a:xfrm>
              <a:off x="8960" y="2291"/>
              <a:ext cx="455" cy="442"/>
              <a:chOff x="2112" y="3212"/>
              <a:chExt cx="181" cy="196"/>
            </a:xfrm>
          </p:grpSpPr>
          <p:sp>
            <p:nvSpPr>
              <p:cNvPr id="38" name="椭圆 463904">
                <a:extLst>
                  <a:ext uri="{FF2B5EF4-FFF2-40B4-BE49-F238E27FC236}">
                    <a16:creationId xmlns:a16="http://schemas.microsoft.com/office/drawing/2014/main" id="{8B75837A-C6FA-AB7F-E7C6-E50AF9065CDE}"/>
                  </a:ext>
                </a:extLst>
              </p:cNvPr>
              <p:cNvSpPr>
                <a:spLocks noChangeAspect="1"/>
              </p:cNvSpPr>
              <p:nvPr>
                <p:custDataLst>
                  <p:tags r:id="rId35"/>
                </p:custDataLst>
              </p:nvPr>
            </p:nvSpPr>
            <p:spPr>
              <a:xfrm>
                <a:off x="2112" y="3212"/>
                <a:ext cx="181" cy="181"/>
              </a:xfrm>
              <a:prstGeom prst="ellipse">
                <a:avLst/>
              </a:prstGeom>
              <a:solidFill>
                <a:srgbClr val="FFFFFF"/>
              </a:solidFill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pPr algn="ctr"/>
                <a:endParaRPr lang="zh-CN" altLang="en-US" sz="135">
                  <a:latin typeface="Times New Roman" panose="02020603050405020304" charset="0"/>
                </a:endParaRPr>
              </a:p>
            </p:txBody>
          </p:sp>
          <p:sp>
            <p:nvSpPr>
              <p:cNvPr id="39" name="文本框 463905">
                <a:extLst>
                  <a:ext uri="{FF2B5EF4-FFF2-40B4-BE49-F238E27FC236}">
                    <a16:creationId xmlns:a16="http://schemas.microsoft.com/office/drawing/2014/main" id="{28577CE9-CD51-5F33-6A5C-18CC2BD0E30A}"/>
                  </a:ext>
                </a:extLst>
              </p:cNvPr>
              <p:cNvSpPr txBox="1">
                <a:spLocks noChangeAspect="1"/>
              </p:cNvSpPr>
              <p:nvPr>
                <p:custDataLst>
                  <p:tags r:id="rId36"/>
                </p:custDataLst>
              </p:nvPr>
            </p:nvSpPr>
            <p:spPr>
              <a:xfrm>
                <a:off x="2117" y="3227"/>
                <a:ext cx="173" cy="1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995" b="1">
                    <a:solidFill>
                      <a:schemeClr val="tx1"/>
                    </a:solidFill>
                    <a:latin typeface="Times New Roman" panose="02020603050405020304" charset="0"/>
                  </a:rPr>
                  <a:t>V</a:t>
                </a:r>
              </a:p>
              <a:p>
                <a:pPr>
                  <a:spcBef>
                    <a:spcPct val="0"/>
                  </a:spcBef>
                </a:pPr>
                <a:endParaRPr lang="en-US" altLang="zh-CN" sz="135" b="1">
                  <a:solidFill>
                    <a:schemeClr val="tx1"/>
                  </a:solidFill>
                  <a:latin typeface="Times New Roman" panose="02020603050405020304" charset="0"/>
                </a:endParaRPr>
              </a:p>
            </p:txBody>
          </p:sp>
        </p:grpSp>
        <p:sp>
          <p:nvSpPr>
            <p:cNvPr id="25" name="椭圆 463906">
              <a:extLst>
                <a:ext uri="{FF2B5EF4-FFF2-40B4-BE49-F238E27FC236}">
                  <a16:creationId xmlns:a16="http://schemas.microsoft.com/office/drawing/2014/main" id="{7D7BB33A-6453-8464-C3E2-B0E89493C04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962" y="3425"/>
              <a:ext cx="114" cy="103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26" name="椭圆 463907">
              <a:extLst>
                <a:ext uri="{FF2B5EF4-FFF2-40B4-BE49-F238E27FC236}">
                  <a16:creationId xmlns:a16="http://schemas.microsoft.com/office/drawing/2014/main" id="{24F430FD-9873-8E0A-5133-BEEE19FB771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914" y="3425"/>
              <a:ext cx="114" cy="103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27" name="椭圆 463908">
              <a:extLst>
                <a:ext uri="{FF2B5EF4-FFF2-40B4-BE49-F238E27FC236}">
                  <a16:creationId xmlns:a16="http://schemas.microsoft.com/office/drawing/2014/main" id="{C5A8F383-D651-36CA-B813-DBF9A23BD80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8317" y="3421"/>
              <a:ext cx="114" cy="103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28" name="椭圆 463909">
              <a:extLst>
                <a:ext uri="{FF2B5EF4-FFF2-40B4-BE49-F238E27FC236}">
                  <a16:creationId xmlns:a16="http://schemas.microsoft.com/office/drawing/2014/main" id="{77053793-D9DA-047F-D39B-AD7B8A3B39DA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1783" y="3425"/>
              <a:ext cx="114" cy="103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29" name="椭圆 463910">
              <a:extLst>
                <a:ext uri="{FF2B5EF4-FFF2-40B4-BE49-F238E27FC236}">
                  <a16:creationId xmlns:a16="http://schemas.microsoft.com/office/drawing/2014/main" id="{BCB240EF-5191-ECF0-6693-A88DC32C5BE1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2265" y="3425"/>
              <a:ext cx="114" cy="103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30" name="椭圆 463911">
              <a:extLst>
                <a:ext uri="{FF2B5EF4-FFF2-40B4-BE49-F238E27FC236}">
                  <a16:creationId xmlns:a16="http://schemas.microsoft.com/office/drawing/2014/main" id="{1CAF1433-6D0E-B280-3B57-8B5FAA7DFC0A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0826" y="3425"/>
              <a:ext cx="114" cy="103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31" name="椭圆 463912">
              <a:extLst>
                <a:ext uri="{FF2B5EF4-FFF2-40B4-BE49-F238E27FC236}">
                  <a16:creationId xmlns:a16="http://schemas.microsoft.com/office/drawing/2014/main" id="{B3D0D839-DAE4-766E-937A-AAA66E060AA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9979" y="3430"/>
              <a:ext cx="114" cy="103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32" name="椭圆 463913">
              <a:extLst>
                <a:ext uri="{FF2B5EF4-FFF2-40B4-BE49-F238E27FC236}">
                  <a16:creationId xmlns:a16="http://schemas.microsoft.com/office/drawing/2014/main" id="{75CB75B5-FAA9-F7A4-79AA-7E0B39A78E6C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3211" y="3425"/>
              <a:ext cx="114" cy="103"/>
            </a:xfrm>
            <a:prstGeom prst="ellipse">
              <a:avLst/>
            </a:prstGeom>
            <a:solidFill>
              <a:srgbClr val="FFFFFF"/>
            </a:solidFill>
            <a:ln w="2857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33" name="文本框 463914">
              <a:extLst>
                <a:ext uri="{FF2B5EF4-FFF2-40B4-BE49-F238E27FC236}">
                  <a16:creationId xmlns:a16="http://schemas.microsoft.com/office/drawing/2014/main" id="{B6909F1C-7243-8B77-3387-E4D615D795EE}"/>
                </a:ext>
              </a:extLst>
            </p:cNvPr>
            <p:cNvSpPr txBox="1"/>
            <p:nvPr>
              <p:custDataLst>
                <p:tags r:id="rId30"/>
              </p:custDataLst>
            </p:nvPr>
          </p:nvSpPr>
          <p:spPr>
            <a:xfrm>
              <a:off x="8906" y="3391"/>
              <a:ext cx="509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altLang="zh-CN" sz="2385" b="1" i="1">
                  <a:solidFill>
                    <a:srgbClr val="000000"/>
                  </a:solidFill>
                  <a:latin typeface="Times New Roman" panose="02020603050405020304" charset="0"/>
                </a:rPr>
                <a:t>b</a:t>
              </a:r>
            </a:p>
          </p:txBody>
        </p:sp>
        <p:sp>
          <p:nvSpPr>
            <p:cNvPr id="34" name="文本框 463915">
              <a:extLst>
                <a:ext uri="{FF2B5EF4-FFF2-40B4-BE49-F238E27FC236}">
                  <a16:creationId xmlns:a16="http://schemas.microsoft.com/office/drawing/2014/main" id="{A59412E4-5D21-41B2-A304-AE576A5C577D}"/>
                </a:ext>
              </a:extLst>
            </p:cNvPr>
            <p:cNvSpPr txBox="1"/>
            <p:nvPr>
              <p:custDataLst>
                <p:tags r:id="rId31"/>
              </p:custDataLst>
            </p:nvPr>
          </p:nvSpPr>
          <p:spPr>
            <a:xfrm>
              <a:off x="11046" y="3416"/>
              <a:ext cx="509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altLang="zh-CN" sz="2385" b="1" i="1">
                  <a:solidFill>
                    <a:srgbClr val="000000"/>
                  </a:solidFill>
                  <a:latin typeface="Times New Roman" panose="02020603050405020304" charset="0"/>
                </a:rPr>
                <a:t>c</a:t>
              </a:r>
            </a:p>
          </p:txBody>
        </p:sp>
        <p:sp>
          <p:nvSpPr>
            <p:cNvPr id="35" name="文本框 463916">
              <a:extLst>
                <a:ext uri="{FF2B5EF4-FFF2-40B4-BE49-F238E27FC236}">
                  <a16:creationId xmlns:a16="http://schemas.microsoft.com/office/drawing/2014/main" id="{1AF45994-BF08-E156-A954-910D61E66852}"/>
                </a:ext>
              </a:extLst>
            </p:cNvPr>
            <p:cNvSpPr txBox="1"/>
            <p:nvPr>
              <p:custDataLst>
                <p:tags r:id="rId32"/>
              </p:custDataLst>
            </p:nvPr>
          </p:nvSpPr>
          <p:spPr>
            <a:xfrm>
              <a:off x="12546" y="3416"/>
              <a:ext cx="509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altLang="zh-CN" sz="2385" b="1" i="1">
                  <a:solidFill>
                    <a:srgbClr val="000000"/>
                  </a:solidFill>
                  <a:latin typeface="Times New Roman" panose="02020603050405020304" charset="0"/>
                </a:rPr>
                <a:t>d</a:t>
              </a:r>
            </a:p>
          </p:txBody>
        </p:sp>
        <p:sp>
          <p:nvSpPr>
            <p:cNvPr id="36" name="矩形 463922">
              <a:extLst>
                <a:ext uri="{FF2B5EF4-FFF2-40B4-BE49-F238E27FC236}">
                  <a16:creationId xmlns:a16="http://schemas.microsoft.com/office/drawing/2014/main" id="{B2C25132-06CC-F077-5D80-F3BB8B76794C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 flipH="1">
              <a:off x="9619" y="4320"/>
              <a:ext cx="95" cy="433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  <p:sp>
          <p:nvSpPr>
            <p:cNvPr id="37" name="矩形 463923">
              <a:extLst>
                <a:ext uri="{FF2B5EF4-FFF2-40B4-BE49-F238E27FC236}">
                  <a16:creationId xmlns:a16="http://schemas.microsoft.com/office/drawing/2014/main" id="{7FFE7724-5F1C-802E-FC36-2D827272C173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 flipH="1">
              <a:off x="10292" y="4457"/>
              <a:ext cx="244" cy="194"/>
            </a:xfrm>
            <a:prstGeom prst="rect">
              <a:avLst/>
            </a:prstGeom>
            <a:solidFill>
              <a:schemeClr val="bg1"/>
            </a:solidFill>
            <a:ln w="28575">
              <a:noFill/>
            </a:ln>
          </p:spPr>
          <p:txBody>
            <a:bodyPr/>
            <a:lstStyle/>
            <a:p>
              <a:pPr algn="ctr"/>
              <a:endParaRPr lang="zh-CN" altLang="en-US" sz="135">
                <a:latin typeface="Times New Roman" panose="020206030504050203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715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57CF-A005-6B39-1791-C2C8CF61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实验结果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C4266-5EBF-885C-FC99-44C2B1D622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CN" dirty="0"/>
              </a:p>
              <a:p>
                <a14:m>
                  <m:oMath xmlns:m="http://schemas.openxmlformats.org/officeDocument/2006/math">
                    <m:r>
                      <a:rPr lang="en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zh-CN" altLang="en-US" dirty="0"/>
                  <a:t>：电阻率，由导体本身决定</a:t>
                </a:r>
                <a:endParaRPr lang="en-CN" dirty="0"/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4C4266-5EBF-885C-FC99-44C2B1D622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300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0001.哔哩哔哩-电阻率与温度的关系">
            <a:hlinkClick r:id="" action="ppaction://media"/>
            <a:extLst>
              <a:ext uri="{FF2B5EF4-FFF2-40B4-BE49-F238E27FC236}">
                <a16:creationId xmlns:a16="http://schemas.microsoft.com/office/drawing/2014/main" id="{0EF5528C-30AD-FCE0-4AC8-9C9F694F3A02}"/>
              </a:ext>
            </a:extLst>
          </p:cNvPr>
          <p:cNvPicPr>
            <a:picLocks noGrp="1"/>
          </p:cNvPicPr>
          <p:nvPr>
            <p:ph idx="1"/>
            <a:videoFile r:link="rId2"/>
            <p:custDataLst>
              <p:tags r:id="rId3"/>
            </p:custDataLst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39368" y="522288"/>
            <a:ext cx="9713264" cy="581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9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9" name="yt_shape_14189"/>
          <p:cNvSpPr txBox="1"/>
          <p:nvPr/>
        </p:nvSpPr>
        <p:spPr>
          <a:xfrm>
            <a:off x="324071" y="467999"/>
            <a:ext cx="11924914" cy="1719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 dirty="0">
                <a:solidFill>
                  <a:srgbClr val="000000"/>
                </a:solidFill>
                <a:effectLst/>
                <a:latin typeface="微软雅黑" pitchFamily="28"/>
                <a:ea typeface="微软雅黑" pitchFamily="28"/>
              </a:rPr>
              <a:t>【典例】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隶书" pitchFamily="28"/>
              </a:rPr>
              <a:t>〔多选〕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2025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广东广州期末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图中的实线分别是电阻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87656"/>
              </a:rPr>
              <a:t>的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伏安特性曲线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虚线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是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U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 </a:t>
            </a:r>
            <a:r>
              <a:rPr lang="en-US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的切线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en-US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相互平行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8d0d2"/>
              </a:rPr>
              <a:t>下列说法正</a:t>
            </a:r>
            <a:b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确的是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 dirty="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 dirty="0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4190" name="yt_image_14190" title="H_149.37495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55106" y="2390661"/>
            <a:ext cx="2593787" cy="1897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yt_table_14192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71" y="2390661"/>
          <a:ext cx="5545138" cy="2389632"/>
        </p:xfrm>
        <a:graphic>
          <a:graphicData uri="http://schemas.openxmlformats.org/drawingml/2006/table">
            <a:tbl>
              <a:tblPr/>
              <a:tblGrid>
                <a:gridCol w="5545138">
                  <a:extLst>
                    <a:ext uri="{9D8B030D-6E8A-4147-A177-3AD203B41FA5}">
                      <a16:colId xmlns:a16="http://schemas.microsoft.com/office/drawing/2014/main" val="10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U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的电阻为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5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U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的电阻相等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的电阻随电压的升高而增大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U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＝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3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V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、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的电阻相等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6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95549" y="3546837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6520" y="4200638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1" name="yt_shape_14101"/>
          <p:cNvSpPr txBox="1"/>
          <p:nvPr/>
        </p:nvSpPr>
        <p:spPr>
          <a:xfrm>
            <a:off x="324071" y="467999"/>
            <a:ext cx="11924914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3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在探究导体电阻与其影响因素的定量关系时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7_bab8c"/>
              </a:rPr>
              <a:t>某同学按如图所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示的电路进行了实验研究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其中导体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只是长度不同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5_62c59"/>
              </a:rPr>
              <a:t>只是粗细不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只是材料不同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关于该实验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下列说法正确的是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pic>
        <p:nvPicPr>
          <p:cNvPr id="14102" name="yt_image_14102" title="H_127.75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mc="http://schemas.openxmlformats.org/markup-compatibility/2006" xmlns:a14="http://schemas.microsoft.com/office/drawing/2010/main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48553" y="2409832"/>
            <a:ext cx="3694892" cy="162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104" name="yt_table_14104" title="H_188.16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4082687"/>
          <a:ext cx="10345738" cy="2389632"/>
        </p:xfrm>
        <a:graphic>
          <a:graphicData uri="http://schemas.openxmlformats.org/drawingml/2006/table">
            <a:tbl>
              <a:tblPr/>
              <a:tblGrid>
                <a:gridCol w="10345738">
                  <a:extLst>
                    <a:ext uri="{9D8B030D-6E8A-4147-A177-3AD203B41FA5}">
                      <a16:colId xmlns:a16="http://schemas.microsoft.com/office/drawing/2014/main" val="104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此电路缺少电流表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所以无法研究定量关系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相比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导体越长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电压表示数越大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相比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导体越粗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电压表示数越大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a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与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相比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电压表示数越大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表明该种材料的导电性能越好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7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-27741" y="4691512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4="http://schemas.microsoft.com/office/drawing/2010/main" xmlns:a16="http://schemas.microsoft.com/office/drawing/2014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6" name="yt_shape_14146"/>
          <p:cNvSpPr txBox="1"/>
          <p:nvPr/>
        </p:nvSpPr>
        <p:spPr>
          <a:xfrm>
            <a:off x="324071" y="467999"/>
            <a:ext cx="11543998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【例</a:t>
            </a: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4</a:t>
            </a:r>
            <a:r>
              <a:rPr lang="zh-CN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微软雅黑" pitchFamily="28"/>
              </a:rPr>
              <a:t>】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电阻率的理解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关于材料的电阻率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9_ea353"/>
              </a:rPr>
              <a:t>下列说法中正确的是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4147" name="yt_table_14147" title="H_235.2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1635055"/>
          <a:ext cx="11543919" cy="2987040"/>
        </p:xfrm>
        <a:graphic>
          <a:graphicData uri="http://schemas.openxmlformats.org/drawingml/2006/table">
            <a:tbl>
              <a:tblPr/>
              <a:tblGrid>
                <a:gridCol w="11543919">
                  <a:extLst>
                    <a:ext uri="{9D8B030D-6E8A-4147-A177-3AD203B41FA5}">
                      <a16:colId xmlns:a16="http://schemas.microsoft.com/office/drawing/2014/main" val="104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把一根长导线截成等长的三段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则每段的电阻率都是原来的三分之一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材料的电阻率随温度的升高而增大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合金的电阻率大于构成该合金的任一纯金属的电阻率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电阻率是反映材料导电性能好坏的物理量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1_d7d44"/>
                        </a:rPr>
                        <a:t>电阻率越大的导体对电流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的阻碍作用越大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1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52005" y="2697688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151" name="yt_shape_14151"/>
              <p:cNvSpPr txBox="1"/>
              <p:nvPr/>
            </p:nvSpPr>
            <p:spPr>
              <a:xfrm>
                <a:off x="324071" y="468103"/>
                <a:ext cx="11543998" cy="1338187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【例</a:t>
                </a:r>
                <a:r>
                  <a:rPr lang="en-US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5</a:t>
                </a:r>
                <a:r>
                  <a:rPr lang="zh-CN" altLang="zh-CN" sz="2800" b="1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微软雅黑" pitchFamily="28"/>
                  </a:rPr>
                  <a:t>】　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公式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𝑅</m:t>
                        </m:r>
                        <m: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＝</m:t>
                        </m:r>
                        <m:r>
                          <a:rPr lang="en-US" altLang="zh-CN" sz="2800" b="0" i="1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𝜌</m:t>
                        </m:r>
                        <m:f>
                          <m:fPr>
                            <m:ctrlP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altLang="zh-CN" sz="2800" b="0" i="1">
                                <a:solidFill>
                                  <a:srgbClr val="01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𝑆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zh-CN" altLang="zh-CN" sz="2800" b="0" i="0">
                            <a:solidFill>
                              <a:srgbClr val="010000"/>
                            </a:solidFill>
                            <a:effectLst/>
                            <a:latin typeface="Cambria Math" panose="02040503050406030204" pitchFamily="56" charset="0"/>
                            <a:ea typeface="宋体" panose="02040503050406030204" pitchFamily="56" charset="0"/>
                          </a:rPr>
                          <m:t>的应用</m:t>
                        </m:r>
                      </m:e>
                    </m:d>
                  </m:oMath>
                </a14:m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如图所示为一块长方体铜块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使电流沿</a:t>
                </a: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  <a:sym typeface="_⨹_1_05fa9"/>
                  </a:rPr>
                  <a:t>、</a:t>
                </a:r>
                <a:b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两个方向通过该铜块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则两种情况下铜块的电阻之比为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（</a:t>
                </a:r>
                <a:r>
                  <a:rPr lang="zh-CN" altLang="zh-CN" sz="2800" b="0" i="1" u="none">
                    <a:solidFill>
                      <a:srgbClr val="000000"/>
                    </a:solidFill>
                    <a:effectLst/>
                    <a:latin typeface="Times New Roman" pitchFamily="28"/>
                    <a:ea typeface="宋体" pitchFamily="28"/>
                  </a:rPr>
                  <a:t>　　</a:t>
                </a:r>
                <a:r>
                  <a:rPr lang="zh-CN" altLang="zh-CN" sz="2800" b="0" i="0" u="none">
                    <a:solidFill>
                      <a:srgbClr val="000000"/>
                    </a:solidFill>
                    <a:effectLst/>
                    <a:latin typeface="宋体" pitchFamily="28"/>
                    <a:ea typeface="宋体" pitchFamily="28"/>
                  </a:rPr>
                  <a:t>）</a:t>
                </a:r>
              </a:p>
            </p:txBody>
          </p:sp>
        </mc:Choice>
        <mc:Fallback xmlns:a16="http://schemas.microsoft.com/office/drawing/2014/main" xmlns:p15="http://schemas.microsoft.com/office/powerpoint/2012/main" xmlns:p14="http://schemas.microsoft.com/office/powerpoint/2010/main" xmlns="">
          <p:sp>
            <p:nvSpPr>
              <p:cNvPr id="14151" name="yt_shape_14151" descr="{&quot;rangeId&quot;:102,&quot;color&quot;:&quot;B&quot;,&quot;pageBreak&quot;:true}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71" y="468103"/>
                <a:ext cx="11543998" cy="1338187"/>
              </a:xfrm>
              <a:prstGeom prst="rect">
                <a:avLst/>
              </a:prstGeom>
              <a:blipFill>
                <a:blip r:embed="rId2"/>
                <a:stretch>
                  <a:fillRect l="-1848" r="-581" b="-155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153" name="yt_image_14153">
            <a:extLst>
              <a:ext uri="">
                <a16:creationId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xmlns="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3929" y="1857090"/>
            <a:ext cx="2864140" cy="1401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155" name="yt_table_14155" title="H_47.04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24066" y="3309652"/>
          <a:ext cx="10665778" cy="554736"/>
        </p:xfrm>
        <a:graphic>
          <a:graphicData uri="http://schemas.openxmlformats.org/drawingml/2006/table">
            <a:tbl>
              <a:tblPr/>
              <a:tblGrid>
                <a:gridCol w="2764155">
                  <a:extLst>
                    <a:ext uri="{9D8B030D-6E8A-4147-A177-3AD203B41FA5}">
                      <a16:colId xmlns:a16="http://schemas.microsoft.com/office/drawing/2014/main" val="10422"/>
                    </a:ext>
                  </a:extLst>
                </a:gridCol>
                <a:gridCol w="2930843">
                  <a:extLst>
                    <a:ext uri="{9D8B030D-6E8A-4147-A177-3AD203B41FA5}">
                      <a16:colId xmlns:a16="http://schemas.microsoft.com/office/drawing/2014/main" val="10423"/>
                    </a:ext>
                  </a:extLst>
                </a:gridCol>
                <a:gridCol w="2951480">
                  <a:extLst>
                    <a:ext uri="{9D8B030D-6E8A-4147-A177-3AD203B41FA5}">
                      <a16:colId xmlns:a16="http://schemas.microsoft.com/office/drawing/2014/main" val="10424"/>
                    </a:ext>
                  </a:extLst>
                </a:gridCol>
                <a:gridCol w="2019300">
                  <a:extLst>
                    <a:ext uri="{9D8B030D-6E8A-4147-A177-3AD203B41FA5}">
                      <a16:colId xmlns:a16="http://schemas.microsoft.com/office/drawing/2014/main" val="10425"/>
                    </a:ext>
                  </a:extLst>
                </a:gridCol>
              </a:tblGrid>
              <a:tr h="554736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1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1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3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∶</a:t>
                      </a:r>
                      <a:r>
                        <a:rPr lang="en-US" altLang="zh-CN" sz="2800" b="0" i="1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 baseline="30000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2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yt_shape_14158">
                <a:extLst>
                  <a:ext uri="{FF2B5EF4-FFF2-40B4-BE49-F238E27FC236}">
                    <a16:creationId xmlns:a16="http://schemas.microsoft.com/office/drawing/2014/main" id="{2DF6AFAB-6D87-263C-C147-1FDA76A96B7A}"/>
                  </a:ext>
                </a:extLst>
              </p:cNvPr>
              <p:cNvSpPr txBox="1"/>
              <p:nvPr/>
            </p:nvSpPr>
            <p:spPr>
              <a:xfrm>
                <a:off x="324066" y="4120626"/>
                <a:ext cx="11924914" cy="213263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noAutofit/>
              </a:bodyPr>
              <a:lstStyle/>
              <a:p>
                <a:pPr algn="l" eaLnBrk="1" latinLnBrk="0" hangingPunct="0">
                  <a:lnSpc>
                    <a:spcPct val="130000"/>
                  </a:lnSpc>
                </a:pPr>
                <a:r>
                  <a:rPr lang="zh-CN" altLang="zh-CN" sz="2800" b="0" i="0" u="none" dirty="0">
                    <a:solidFill>
                      <a:srgbClr val="0000FF"/>
                    </a:solidFill>
                    <a:effectLst/>
                    <a:latin typeface="微软雅黑" pitchFamily="28"/>
                    <a:ea typeface="微软雅黑" pitchFamily="28"/>
                  </a:rPr>
                  <a:t>解析：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当电流沿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铜块的长度为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横截面积为</a:t>
                </a:r>
                <a:r>
                  <a:rPr lang="en-US" altLang="zh-CN" sz="2800" b="0" i="1" u="none" dirty="0" err="1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其电阻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1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6f89c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𝑏𝑐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；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当电流沿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I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方向时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铜块的长度为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c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横截面积为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ab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其电阻</a:t>
                </a: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R</a:t>
                </a:r>
                <a:r>
                  <a:rPr lang="en-US" altLang="zh-CN" sz="2800" b="0" i="0" u="none" baseline="-25000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2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  <a:sym typeface="_⨹_1_4afe6"/>
                  </a:rPr>
                  <a:t>＝</a:t>
                </a:r>
                <a:b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</a:br>
                <a:r>
                  <a:rPr lang="en-US" altLang="zh-CN" sz="2800" b="0" i="1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ρ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𝑐</m:t>
                        </m:r>
                      </m:num>
                      <m:den>
                        <m:r>
                          <a:rPr lang="en-US" altLang="zh-CN" sz="2800" b="0" i="1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56" charset="0"/>
                            <a:ea typeface="Cambria Math" panose="02040503050406030204" pitchFamily="56" charset="0"/>
                          </a:rPr>
                          <m:t>𝑎𝑏</m:t>
                        </m:r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故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＝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0" i="1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56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56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CN" sz="2800" b="0" i="0">
                                <a:solidFill>
                                  <a:srgbClr val="C00000"/>
                                </a:solidFill>
                                <a:effectLst/>
                                <a:latin typeface="Cambria Math" panose="02040503050406030204" pitchFamily="56" charset="0"/>
                                <a:ea typeface="Cambria Math" panose="02040503050406030204" pitchFamily="56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宋体" pitchFamily="28"/>
                    <a:ea typeface="宋体" pitchFamily="28"/>
                  </a:rPr>
                  <a:t>，</a:t>
                </a:r>
                <a:r>
                  <a:rPr lang="en-US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宋体" pitchFamily="28"/>
                  </a:rPr>
                  <a:t>B</a:t>
                </a:r>
                <a:r>
                  <a:rPr lang="zh-CN" altLang="zh-CN" sz="2800" b="0" i="0" u="none" dirty="0">
                    <a:solidFill>
                      <a:srgbClr val="C00000"/>
                    </a:solidFill>
                    <a:effectLst/>
                    <a:latin typeface="Times New Roman" pitchFamily="28"/>
                    <a:ea typeface="仿宋" pitchFamily="28"/>
                  </a:rPr>
                  <a:t>正确。</a:t>
                </a:r>
              </a:p>
            </p:txBody>
          </p:sp>
        </mc:Choice>
        <mc:Fallback xmlns:a16="http://schemas.microsoft.com/office/drawing/2014/main" xmlns:p15="http://schemas.microsoft.com/office/powerpoint/2012/main" xmlns:p14="http://schemas.microsoft.com/office/powerpoint/2010/main" xmlns="">
          <p:sp>
            <p:nvSpPr>
              <p:cNvPr id="2" name="yt_shape_14158">
                <a:extLst>
                  <a:ext uri="{FF2B5EF4-FFF2-40B4-BE49-F238E27FC236}">
                    <a16:creationId xmlns:a16="http://schemas.microsoft.com/office/drawing/2014/main" id="{2DF6AFAB-6D87-263C-C147-1FDA76A96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66" y="4120626"/>
                <a:ext cx="11924914" cy="2132635"/>
              </a:xfrm>
              <a:prstGeom prst="rect">
                <a:avLst/>
              </a:prstGeom>
              <a:blipFill>
                <a:blip r:embed="rId4"/>
                <a:stretch>
                  <a:fillRect l="-1789" t="-2857"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809719" y="3258852"/>
            <a:ext cx="76166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0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  </a:t>
            </a:r>
            <a:endParaRPr lang="zh-CN" altLang="en-US" sz="50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:a16="http://schemas.microsoft.com/office/drawing/2014/main" xmlns:a14="http://schemas.microsoft.com/office/drawing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7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8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30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9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6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4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6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37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2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1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0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6"/>
  <p:tag name="KSO_WM_MEDIACOVER_FLAG" val="1"/>
  <p:tag name="KSO_WM_UNIT_MEDIACOVER_BTN_STATE" val="1"/>
  <p:tag name="KSO_WM_UNIT_MEDIACOVER_BTNRECT" val="0*0*0*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cademic Chinese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A3A1BD1-C29E-46B9-9C52-C66407E23471}" vid="{0DC283E7-9764-4DA6-8BEE-5C16B60E1D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Academic Chinese</Template>
  <TotalTime>26</TotalTime>
  <Words>614</Words>
  <Application>Microsoft Macintosh PowerPoint</Application>
  <PresentationFormat>Widescreen</PresentationFormat>
  <Paragraphs>77</Paragraphs>
  <Slides>18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方正新报宋_GBK</vt:lpstr>
      <vt:lpstr>微软雅黑</vt:lpstr>
      <vt:lpstr>宋体</vt:lpstr>
      <vt:lpstr>华文细黑</vt:lpstr>
      <vt:lpstr>Arial</vt:lpstr>
      <vt:lpstr>Cambria Math</vt:lpstr>
      <vt:lpstr>Times New Roman</vt:lpstr>
      <vt:lpstr>Office 主题​​</vt:lpstr>
      <vt:lpstr>Document</vt:lpstr>
      <vt:lpstr>导体的电阻</vt:lpstr>
      <vt:lpstr>生活中的导线</vt:lpstr>
      <vt:lpstr>高压线</vt:lpstr>
      <vt:lpstr>常见的电阻</vt:lpstr>
      <vt:lpstr>电阻的微观解释</vt:lpstr>
      <vt:lpstr>电阻</vt:lpstr>
      <vt:lpstr>欧姆定律</vt:lpstr>
      <vt:lpstr>U-I 图像（伏安特性曲线）</vt:lpstr>
      <vt:lpstr>非线性元件</vt:lpstr>
      <vt:lpstr>PowerPoint Presentation</vt:lpstr>
      <vt:lpstr>实验：探究影响导体电阻的因素</vt:lpstr>
      <vt:lpstr>实验电路</vt:lpstr>
      <vt:lpstr>实验结果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3</cp:revision>
  <dcterms:created xsi:type="dcterms:W3CDTF">2025-05-16T01:33:35Z</dcterms:created>
  <dcterms:modified xsi:type="dcterms:W3CDTF">2026-05-21T01:10:34Z</dcterms:modified>
</cp:coreProperties>
</file>