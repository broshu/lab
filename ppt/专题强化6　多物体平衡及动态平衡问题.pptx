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8" r:id="rId2"/>
    <p:sldId id="356" r:id="rId3"/>
    <p:sldId id="313" r:id="rId4"/>
    <p:sldId id="332" r:id="rId5"/>
    <p:sldId id="314" r:id="rId6"/>
    <p:sldId id="333" r:id="rId7"/>
    <p:sldId id="315" r:id="rId8"/>
    <p:sldId id="334" r:id="rId9"/>
    <p:sldId id="361" r:id="rId10"/>
    <p:sldId id="316" r:id="rId11"/>
    <p:sldId id="335" r:id="rId12"/>
    <p:sldId id="336" r:id="rId13"/>
    <p:sldId id="318" r:id="rId14"/>
    <p:sldId id="338" r:id="rId15"/>
    <p:sldId id="339" r:id="rId16"/>
    <p:sldId id="319" r:id="rId17"/>
    <p:sldId id="342" r:id="rId18"/>
    <p:sldId id="34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D63C"/>
    <a:srgbClr val="B7E3E5"/>
    <a:srgbClr val="2595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1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D7E41-FDAA-4148-A422-C3913B176212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EB803-5943-4B22-B194-77DCF3659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63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96E7A9-759E-4F37-A7A3-84E99B66B5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330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160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19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81889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33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69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  <p:sp>
        <p:nvSpPr>
          <p:cNvPr id="6" name="TextBox 26"/>
          <p:cNvSpPr txBox="1"/>
          <p:nvPr userDrawn="1"/>
        </p:nvSpPr>
        <p:spPr>
          <a:xfrm>
            <a:off x="706381" y="28047"/>
            <a:ext cx="3217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理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必修第一册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方正新报宋_GBK" panose="03000509000000000000" pitchFamily="65" charset="-122"/>
              <a:ea typeface="方正新报宋_GBK" panose="03000509000000000000" pitchFamily="65" charset="-122"/>
              <a:cs typeface="+mn-cs"/>
            </a:endParaRP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-972"/>
            <a:ext cx="508986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0369" y="-4354"/>
            <a:ext cx="90025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34217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566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12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73" r:id="rId3"/>
    <p:sldLayoutId id="2147483653" r:id="rId4"/>
    <p:sldLayoutId id="2147483651" r:id="rId5"/>
    <p:sldLayoutId id="214748367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bin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bin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bin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YTSlide_13_1_0.9_1.3_0.9_1.1__1_1_0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368" y="-434907"/>
            <a:ext cx="7614606" cy="7614606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7163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7119" y="1745951"/>
            <a:ext cx="9970638" cy="343751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0" y="2762362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专题强化6　多物体平衡</a:t>
            </a:r>
            <a:r>
              <a:rPr kumimoji="0" lang="zh-CN" altLang="en-US" sz="4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及动态</a:t>
            </a:r>
            <a:endParaRPr kumimoji="0" lang="en-US" altLang="zh-CN" sz="45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平衡</a:t>
            </a: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1306289" y="1901250"/>
            <a:ext cx="4020456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hangingPunct="0">
              <a:defRPr/>
            </a:pPr>
            <a:r>
              <a:rPr lang="zh-CN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第三章    相互作用</a:t>
            </a:r>
            <a:r>
              <a:rPr lang="en-US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力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407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doors dir="vert"/>
      </p:transition>
    </mc:Choice>
    <mc:Fallback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0.31666 L 1.45833E-6 -2.59259E-6 " pathEditMode="relative" rAng="0" ptsTypes="AA">
                                      <p:cBhvr>
                                        <p:cTn id="1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9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72" name="yt_table_14772" title="H_687.3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29957"/>
              </p:ext>
            </p:extLst>
          </p:nvPr>
        </p:nvGraphicFramePr>
        <p:xfrm>
          <a:off x="277347" y="1242441"/>
          <a:ext cx="11543998" cy="45476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31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6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6aa1d"/>
                        </a:rPr>
                        <a:t>项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目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整体法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隔离法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652c7"/>
                        </a:rPr>
                        <a:t>概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念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2be74"/>
                        </a:rPr>
                        <a:t>将运动状态相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e5c6b"/>
                        </a:rPr>
                        <a:t>同的几个物体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e7b35"/>
                        </a:rPr>
                        <a:t>作为一个整体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来分析的方法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将研究对象与周围物体分隔开并进行分析的方法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829b7"/>
                        </a:rPr>
                        <a:t>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用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1f874"/>
                        </a:rPr>
                        <a:t>原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be411"/>
                        </a:rPr>
                        <a:t>研究系统外的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47f0f"/>
                        </a:rPr>
                        <a:t>物体对系统整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体的作用力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研究系统内物体之间的相互作用力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99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e9431"/>
                        </a:rPr>
                        <a:t>注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意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76017"/>
                        </a:rPr>
                        <a:t>问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题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3f899"/>
                        </a:rPr>
                        <a:t>受力分析时不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c98f3"/>
                        </a:rPr>
                        <a:t>要再考虑系统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3c3f4"/>
                        </a:rPr>
                        <a:t>内物体间的相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互作用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一般隔离受力较少的物体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yt_shape_14771"/>
          <p:cNvSpPr txBox="1"/>
          <p:nvPr/>
        </p:nvSpPr>
        <p:spPr>
          <a:xfrm>
            <a:off x="277347" y="427133"/>
            <a:ext cx="359072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整体法、隔离法的比较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4" name="yt_shape_14774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浙江温州期中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两物体叠放在一起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88754"/>
              </a:rPr>
              <a:t>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竖直向上的恒力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作用下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一起沿粗糙竖直墙面向上做匀速直线运动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5aed7"/>
              </a:rPr>
              <a:t>则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关于两物体受力情况的说法正确的是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4775" name="yt_image_14775" title="H_168.72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5987" y="2409832"/>
            <a:ext cx="1398872" cy="1742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yt_table_14777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638577"/>
              </p:ext>
            </p:extLst>
          </p:nvPr>
        </p:nvGraphicFramePr>
        <p:xfrm>
          <a:off x="324071" y="4152496"/>
          <a:ext cx="4894263" cy="2389632"/>
        </p:xfrm>
        <a:graphic>
          <a:graphicData uri="http://schemas.openxmlformats.org/drawingml/2006/table">
            <a:tbl>
              <a:tblPr/>
              <a:tblGrid>
                <a:gridCol w="4894263">
                  <a:extLst>
                    <a:ext uri="{9D8B030D-6E8A-4147-A177-3AD203B41FA5}">
                      <a16:colId xmlns:a16="http://schemas.microsoft.com/office/drawing/2014/main" val="10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之间无摩擦力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受到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个力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受到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个力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大于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N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的重力之和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1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84246" y="5448448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9" name="yt_shape_14779"/>
          <p:cNvSpPr txBox="1"/>
          <p:nvPr/>
        </p:nvSpPr>
        <p:spPr>
          <a:xfrm>
            <a:off x="324000" y="89247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两物体叠放在一起沿粗糙竖直墙面向上做匀速直线运动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4138a"/>
              </a:rPr>
              <a:t>由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平衡条件知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物体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受到重力、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的弹力和摩擦力共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个力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19036"/>
              </a:rPr>
              <a:t>错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将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看作整体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竖直方向平衡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等于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的重力之和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8a695"/>
              </a:rPr>
              <a:t>水平方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向上没有外力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所以物体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与墙之间没有弹力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所以物体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受到重力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7f7d7"/>
              </a:rPr>
              <a:t>竖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直向上的外力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对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的弹力和摩擦力共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个力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2" name="yt_shape_14782"/>
          <p:cNvSpPr txBox="1"/>
          <p:nvPr/>
        </p:nvSpPr>
        <p:spPr>
          <a:xfrm>
            <a:off x="267086" y="1093150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福建漳州期末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60169"/>
              </a:rPr>
              <a:t>一根粗糙水平横杆上套有两个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轻环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两环系有等长细绳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共同拉住一矿泉水瓶并使其静止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a0e1d"/>
              </a:rPr>
              <a:t>若将两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环沿杆向两侧移动少许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水瓶仍保持静止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则移动后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4784" name="yt_table_14784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282608"/>
              </p:ext>
            </p:extLst>
          </p:nvPr>
        </p:nvGraphicFramePr>
        <p:xfrm>
          <a:off x="267081" y="2882619"/>
          <a:ext cx="6789738" cy="2389632"/>
        </p:xfrm>
        <a:graphic>
          <a:graphicData uri="http://schemas.openxmlformats.org/drawingml/2006/table">
            <a:tbl>
              <a:tblPr/>
              <a:tblGrid>
                <a:gridCol w="6789738">
                  <a:extLst>
                    <a:ext uri="{9D8B030D-6E8A-4147-A177-3AD203B41FA5}">
                      <a16:colId xmlns:a16="http://schemas.microsoft.com/office/drawing/2014/main" val="10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两细绳对水瓶的合力保持不变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每根细绳的拉力一定大于水瓶的重力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杆对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环的支持力变大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杆对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环的摩擦力变大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5"/>
                  </a:ext>
                </a:extLst>
              </a:tr>
            </a:tbl>
          </a:graphicData>
        </a:graphic>
      </p:graphicFrame>
      <p:pic>
        <p:nvPicPr>
          <p:cNvPr id="14783" name="yt_image_14783_skip" title="H_187.68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25015" y="2882619"/>
            <a:ext cx="2583984" cy="238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321326-13EE-4346-8BA3-83BDF1BA09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81" y="475280"/>
            <a:ext cx="2348629" cy="61787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48314" y="288261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48313" y="476109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6" name="yt_shape_14786"/>
          <p:cNvSpPr txBox="1"/>
          <p:nvPr/>
        </p:nvSpPr>
        <p:spPr>
          <a:xfrm>
            <a:off x="324071" y="467999"/>
            <a:ext cx="11924914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矿泉水瓶静止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两细绳的合力与重力等大反向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重力不变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4a694"/>
              </a:rPr>
              <a:t>因此合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力不变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设细绳与竖直方向夹角为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θ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cos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θ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2feac"/>
              </a:rPr>
              <a:t>当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θ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≤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60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°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≤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因此细绳拉力不一定大于水瓶的重力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44bbd"/>
              </a:rPr>
              <a:t>对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两环和瓶整体受力分析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竖直方向杆对两个环的总支持力等于重力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aebcd"/>
              </a:rPr>
              <a:t>两个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环受力对称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单个环受到的支持力为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两环间的距离变大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840e9"/>
              </a:rPr>
              <a:t>，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保持不变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杆对环的摩擦力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sin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θ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两环间距变大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θ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77c66"/>
              </a:rPr>
              <a:t>增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sin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θ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均变大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因此摩擦力变大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7" name="yt_shape_14787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河南许昌期末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一条葫芦藤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视为轻绳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fa5fa"/>
              </a:rPr>
              <a:t>上结了三只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葫芦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藤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绕在横梁上与竖直方向的夹角为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θ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藤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4a962"/>
              </a:rPr>
              <a:t>水平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缠绕在竖直立柱上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三个葫芦的质量均为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83806"/>
              </a:rPr>
              <a:t>四条葫芦藤拉力的大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小分别是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重力加速度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g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取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e6d96"/>
              </a:rPr>
              <a:t>下列选项正确的是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789" name="yt_table_14789_skip" title="H_139.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232697"/>
                  </p:ext>
                </p:extLst>
              </p:nvPr>
            </p:nvGraphicFramePr>
            <p:xfrm>
              <a:off x="324066" y="3463952"/>
              <a:ext cx="5892800" cy="1771650"/>
            </p:xfrm>
            <a:graphic>
              <a:graphicData uri="http://schemas.openxmlformats.org/drawingml/2006/table">
                <a:tbl>
                  <a:tblPr/>
                  <a:tblGrid>
                    <a:gridCol w="3412490">
                      <a:extLst>
                        <a:ext uri="{9D8B030D-6E8A-4147-A177-3AD203B41FA5}">
                          <a16:colId xmlns:a16="http://schemas.microsoft.com/office/drawing/2014/main" val="10460"/>
                        </a:ext>
                      </a:extLst>
                    </a:gridCol>
                    <a:gridCol w="2480310">
                      <a:extLst>
                        <a:ext uri="{9D8B030D-6E8A-4147-A177-3AD203B41FA5}">
                          <a16:colId xmlns:a16="http://schemas.microsoft.com/office/drawing/2014/main" val="1046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F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F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F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F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4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＝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227"/>
                      </a:ext>
                    </a:extLst>
                  </a:tr>
                </a:tbl>
              </a:graphicData>
            </a:graphic>
          </p:graphicFrame>
        </mc:Choice>
        <mc:Fallback xmlns:p15="http://schemas.microsoft.com/office/powerpoint/2012/main" xmlns:p14="http://schemas.microsoft.com/office/powerpoint/2010/main" xmlns:a16="http://schemas.microsoft.com/office/drawing/2014/main" xmlns="">
          <p:graphicFrame>
            <p:nvGraphicFramePr>
              <p:cNvPr id="14789" name="yt_table_14789_skip" descr="{&quot;rangeId&quot;:22,&quot;type&quot;:&quot;Option&quot;,&quot;drawing&quot;:[&quot;yt_image_14788&quot;]}" title="H_139.5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232697"/>
                  </p:ext>
                </p:extLst>
              </p:nvPr>
            </p:nvGraphicFramePr>
            <p:xfrm>
              <a:off x="324066" y="3463952"/>
              <a:ext cx="5892800" cy="1771650"/>
            </p:xfrm>
            <a:graphic>
              <a:graphicData uri="http://schemas.openxmlformats.org/drawingml/2006/table">
                <a:tbl>
                  <a:tblPr/>
                  <a:tblGrid>
                    <a:gridCol w="3412490">
                      <a:extLst>
                        <a:ext uri="{9D8B030D-6E8A-4147-A177-3AD203B41FA5}">
                          <a16:colId xmlns:a16="http://schemas.microsoft.com/office/drawing/2014/main" val="10460"/>
                        </a:ext>
                      </a:extLst>
                    </a:gridCol>
                    <a:gridCol w="2480310">
                      <a:extLst>
                        <a:ext uri="{9D8B030D-6E8A-4147-A177-3AD203B41FA5}">
                          <a16:colId xmlns:a16="http://schemas.microsoft.com/office/drawing/2014/main" val="10461"/>
                        </a:ext>
                      </a:extLst>
                    </a:gridCol>
                  </a:tblGrid>
                  <a:tr h="885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r="-72679" b="-113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37592" b="-1130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26"/>
                      </a:ext>
                    </a:extLst>
                  </a:tr>
                  <a:tr h="88582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00690" r="-72679" b="-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37592" t="-100690" b="-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2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4788" name="yt_image_14788_skip" title="H_171.6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:p14="http://schemas.microsoft.com/office/powerpoint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27533" y="3463952"/>
            <a:ext cx="3538661" cy="217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02908" y="465777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3465038" y="472849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p14="http://schemas.microsoft.com/office/powerpoint/2010/main" xmlns:a16="http://schemas.microsoft.com/office/drawing/2014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790" name="yt_shape_14790"/>
              <p:cNvSpPr txBox="1"/>
              <p:nvPr/>
            </p:nvSpPr>
            <p:spPr>
              <a:xfrm>
                <a:off x="324071" y="467999"/>
                <a:ext cx="11924914" cy="428687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将三个葫芦视为整体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由平衡条件得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𝑚𝑔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cos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°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4e619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tan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°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设藤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与竖直方向夹角为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α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f951a"/>
                  </a:rPr>
                  <a:t>、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之间的葫芦分析得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sin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θ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sin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α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cos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θ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cos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α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dba54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设藤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与竖直方向夹角为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β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之间的葫芦分析得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sin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cf1c6"/>
                  </a:rPr>
                  <a:t>β</a:t>
                </a:r>
                <a:b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cos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β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>
          <p:sp>
            <p:nvSpPr>
              <p:cNvPr id="14790" name="yt_shape_147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286879"/>
              </a:xfrm>
              <a:prstGeom prst="rect">
                <a:avLst/>
              </a:prstGeom>
              <a:blipFill>
                <a:blip r:embed="rId2"/>
                <a:stretch>
                  <a:fillRect l="-1789" b="-1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927100" y="2808613"/>
            <a:ext cx="10325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强化点二　</a:t>
            </a:r>
            <a:r>
              <a:rPr lang="zh-CN" altLang="en-US" sz="3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动态平衡问题</a:t>
            </a:r>
            <a:endParaRPr lang="zh-CN" altLang="en-US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882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3" name="yt_shape_14793"/>
          <p:cNvSpPr txBox="1"/>
          <p:nvPr/>
        </p:nvSpPr>
        <p:spPr>
          <a:xfrm>
            <a:off x="5679942" y="593784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14794" name="yt_shape_14794"/>
          <p:cNvSpPr txBox="1"/>
          <p:nvPr/>
        </p:nvSpPr>
        <p:spPr>
          <a:xfrm>
            <a:off x="267015" y="1176769"/>
            <a:ext cx="251350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角度一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解析法</a:t>
            </a:r>
          </a:p>
        </p:txBody>
      </p:sp>
      <p:sp>
        <p:nvSpPr>
          <p:cNvPr id="14795" name="yt_shape_14795"/>
          <p:cNvSpPr txBox="1"/>
          <p:nvPr/>
        </p:nvSpPr>
        <p:spPr>
          <a:xfrm>
            <a:off x="267086" y="1759754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浙江丽水质检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现在很多高层建筑都采用玻璃外墙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b159e"/>
              </a:rPr>
              <a:t>具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有良好采光及美观作用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但玻璃的维护及清理只能靠工人从外部进行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c618f"/>
              </a:rPr>
              <a:t>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图甲所示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工人为遂宁国际金融中心进行外墙玻璃清洗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1611c"/>
              </a:rPr>
              <a:t>用一根绳索吊着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自己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脚蹬着竖直墙壁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悬停在空中作业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2_bc2c1"/>
              </a:rPr>
              <a:t>设悬绳对工人的拉力大小为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墙壁对工人的支持力大小为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忽略脚与外墙玻璃间的摩擦力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21fa6"/>
              </a:rPr>
              <a:t>如图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则在缓慢增加悬绳的长度过程中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6" name="yt_image_14796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5261" y="467999"/>
            <a:ext cx="5161476" cy="280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798" name="yt_table_14798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342995"/>
              </p:ext>
            </p:extLst>
          </p:nvPr>
        </p:nvGraphicFramePr>
        <p:xfrm>
          <a:off x="324066" y="3319281"/>
          <a:ext cx="3571875" cy="2389632"/>
        </p:xfrm>
        <a:graphic>
          <a:graphicData uri="http://schemas.openxmlformats.org/drawingml/2006/table">
            <a:tbl>
              <a:tblPr/>
              <a:tblGrid>
                <a:gridCol w="3571875">
                  <a:extLst>
                    <a:ext uri="{9D8B030D-6E8A-4147-A177-3AD203B41FA5}">
                      <a16:colId xmlns:a16="http://schemas.microsoft.com/office/drawing/2014/main" val="104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增大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增大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减小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减小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F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1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93577" y="523384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800" name="yt_shape_14800"/>
              <p:cNvSpPr txBox="1"/>
              <p:nvPr/>
            </p:nvSpPr>
            <p:spPr>
              <a:xfrm>
                <a:off x="324071" y="467999"/>
                <a:ext cx="11543998" cy="259866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对工人受力分析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工人受竖直向下的重力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沿绳向上的拉力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08d28"/>
                  </a:rPr>
                  <a:t>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墙壁对工人水平向左的弹力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设绳与竖直方向的夹角为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α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3cdd3"/>
                  </a:rPr>
                  <a:t>根据平衡条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件可得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𝐺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cos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𝛼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tan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α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缓慢增加悬绳的长度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555b3"/>
                  </a:rPr>
                  <a:t>悬绳与竖直方向的夹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角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α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cos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α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tan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α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4800" name="yt_shape_148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2598660"/>
              </a:xfrm>
              <a:prstGeom prst="rect">
                <a:avLst/>
              </a:prstGeom>
              <a:blipFill>
                <a:blip r:embed="rId2"/>
                <a:stretch>
                  <a:fillRect l="-1848" t="-939" r="-1056" b="-7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02" name="yt_shape_14802"/>
          <p:cNvSpPr txBox="1"/>
          <p:nvPr/>
        </p:nvSpPr>
        <p:spPr>
          <a:xfrm>
            <a:off x="324000" y="3117447"/>
            <a:ext cx="14362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方法技巧</a:t>
            </a:r>
          </a:p>
        </p:txBody>
      </p:sp>
      <p:sp>
        <p:nvSpPr>
          <p:cNvPr id="14803" name="yt_shape_14803"/>
          <p:cNvSpPr txBox="1"/>
          <p:nvPr/>
        </p:nvSpPr>
        <p:spPr>
          <a:xfrm>
            <a:off x="324071" y="3700432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运用解析法处理动态平衡问题时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5_d0e58"/>
              </a:rPr>
              <a:t>先对研究对象的任一状态进行受力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分析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根据平行四边形定则画出矢量图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建立平衡方程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7_aac3a"/>
              </a:rPr>
              <a:t>再根据边角关系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求出因变量与自变量的一般函数式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6_5171a"/>
              </a:rPr>
              <a:t>然后根据自变量的变化确定因变量的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变化。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5" name="yt_shape_14805"/>
          <p:cNvSpPr txBox="1"/>
          <p:nvPr/>
        </p:nvSpPr>
        <p:spPr>
          <a:xfrm>
            <a:off x="267086" y="1093150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浙江温州期中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7_e3ac6"/>
              </a:rPr>
              <a:t>垂直园艺是一种最大化利用小型空间的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方式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为了更好地利用垂直空间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7_2d12e"/>
              </a:rPr>
              <a:t>植物一般被栽种在可被悬挂固定的容器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以实现园艺的立体化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9d39b"/>
              </a:rPr>
              <a:t>两根轻绳将花盆悬于两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竖直墙之间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开始时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绳与竖直墙面呈锐角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绳水平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始终保持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58e21"/>
              </a:rPr>
              <a:t>点位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置不变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仅改变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绳长使绳右端由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点缓慢上移至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B'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此时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OB'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5d1a6"/>
              </a:rPr>
              <a:t>之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间的夹角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θ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＜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在此过程中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4806" name="yt_image_14806" title="H_160.08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79801" y="4835379"/>
            <a:ext cx="1493779" cy="162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yt_shape_14804"/>
          <p:cNvSpPr txBox="1"/>
          <p:nvPr/>
        </p:nvSpPr>
        <p:spPr>
          <a:xfrm>
            <a:off x="267086" y="448122"/>
            <a:ext cx="251350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角度二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图解法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08" name="yt_table_14808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674650"/>
              </p:ext>
            </p:extLst>
          </p:nvPr>
        </p:nvGraphicFramePr>
        <p:xfrm>
          <a:off x="324066" y="467999"/>
          <a:ext cx="5151438" cy="2389632"/>
        </p:xfrm>
        <a:graphic>
          <a:graphicData uri="http://schemas.openxmlformats.org/drawingml/2006/table">
            <a:tbl>
              <a:tblPr/>
              <a:tblGrid>
                <a:gridCol w="5151438">
                  <a:extLst>
                    <a:ext uri="{9D8B030D-6E8A-4147-A177-3AD203B41FA5}">
                      <a16:colId xmlns:a16="http://schemas.microsoft.com/office/drawing/2014/main" val="104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绳的拉力先增大后减小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绳的拉力逐渐增大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绳的拉力先减小后增大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绳的拉力逐渐增大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5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84246" y="176285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yt_shape_14810"/>
          <p:cNvSpPr txBox="1"/>
          <p:nvPr/>
        </p:nvSpPr>
        <p:spPr>
          <a:xfrm>
            <a:off x="324137" y="2857631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以结点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为研究对象受力分析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由图可以看出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1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OA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逐渐减小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1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  <a:sym typeface="_⨹_2_ef58c"/>
              </a:rPr>
              <a:t>OB</a:t>
            </a:r>
            <a:br>
              <a:rPr lang="en-US" altLang="zh-CN" sz="2800" b="0" i="1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先减小后增大。故选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pic>
        <p:nvPicPr>
          <p:cNvPr id="5" name="yt_image_14811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3194" y="4196222"/>
            <a:ext cx="1942905" cy="189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yt_shape_14813"/>
          <p:cNvSpPr txBox="1"/>
          <p:nvPr/>
        </p:nvSpPr>
        <p:spPr>
          <a:xfrm>
            <a:off x="669298" y="929233"/>
            <a:ext cx="14362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方法技巧</a:t>
            </a:r>
          </a:p>
        </p:txBody>
      </p:sp>
      <p:sp>
        <p:nvSpPr>
          <p:cNvPr id="7" name="yt_shape_14814"/>
          <p:cNvSpPr txBox="1"/>
          <p:nvPr/>
        </p:nvSpPr>
        <p:spPr>
          <a:xfrm>
            <a:off x="669298" y="1461430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图解法适用于三力平衡问题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特点是一个力是恒力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7_dbb0b"/>
              </a:rPr>
              <a:t>另一个是方向不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变的变力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第三个是大小、方向均变化的力。一般按照以下流程解题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</a:p>
        </p:txBody>
      </p:sp>
      <p:pic>
        <p:nvPicPr>
          <p:cNvPr id="8" name="yt_image_14815" title="H_69.12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4746" y="2884628"/>
            <a:ext cx="6855732" cy="87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8" name="yt_shape_14818"/>
          <p:cNvSpPr txBox="1"/>
          <p:nvPr/>
        </p:nvSpPr>
        <p:spPr>
          <a:xfrm>
            <a:off x="277418" y="954602"/>
            <a:ext cx="11572460" cy="26577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/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浙江杭州期末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如图甲所示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明代倪端画的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捕鱼图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0899e"/>
              </a:rPr>
              <a:t>》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是一种原始的捕鱼方式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其拉网的原理图如图乙所示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罾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渔网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f57a2"/>
              </a:rPr>
              <a:t>和连接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罾的四根竹杆可看成是一个重物用不可伸长的轻绳悬挂在轻杆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上的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853c7"/>
              </a:rPr>
              <a:t>A</a:t>
            </a:r>
            <a:b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轻杆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可绕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点在竖直平面内自由转动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人在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点拉动轻绳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cba35"/>
              </a:rPr>
              <a:t>使轻杆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绕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点转至竖直方向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从而使重物上升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在轻杆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04b4a"/>
              </a:rPr>
              <a:t>由图乙所示位置缓慢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转至竖直方向的过程中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4819" name="yt_image_14819" title="H_191.16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8801" y="3612358"/>
            <a:ext cx="4360211" cy="153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yt_table_14821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290360"/>
              </p:ext>
            </p:extLst>
          </p:nvPr>
        </p:nvGraphicFramePr>
        <p:xfrm>
          <a:off x="277418" y="5151120"/>
          <a:ext cx="5130800" cy="1706880"/>
        </p:xfrm>
        <a:graphic>
          <a:graphicData uri="http://schemas.openxmlformats.org/drawingml/2006/table">
            <a:tbl>
              <a:tblPr/>
              <a:tblGrid>
                <a:gridCol w="5130800">
                  <a:extLst>
                    <a:ext uri="{9D8B030D-6E8A-4147-A177-3AD203B41FA5}">
                      <a16:colId xmlns:a16="http://schemas.microsoft.com/office/drawing/2014/main" val="10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人对轻绳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的拉力变小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人对轻绳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的拉力不变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轻杆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上的弹力大小不变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轻杆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OA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上的弹力变大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9"/>
                  </a:ext>
                </a:extLst>
              </a:tr>
            </a:tbl>
          </a:graphicData>
        </a:graphic>
      </p:graphicFrame>
      <p:sp>
        <p:nvSpPr>
          <p:cNvPr id="6" name="yt_shape_14817"/>
          <p:cNvSpPr txBox="1"/>
          <p:nvPr/>
        </p:nvSpPr>
        <p:spPr>
          <a:xfrm>
            <a:off x="277418" y="422405"/>
            <a:ext cx="3590727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角度三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相似三角形法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4915" y="501924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823" name="yt_shape_14823"/>
              <p:cNvSpPr txBox="1"/>
              <p:nvPr/>
            </p:nvSpPr>
            <p:spPr>
              <a:xfrm>
                <a:off x="324073" y="467999"/>
                <a:ext cx="6683217" cy="53822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/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对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点受力分析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如图所示</a:t>
                </a:r>
              </a:p>
              <a:p>
                <a:pPr algn="l" eaLnBrk="1" latinLnBrk="0" hangingPunct="0"/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过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点作竖直线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交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于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点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68a3f"/>
                  </a:rPr>
                  <a:t>点受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三个力作用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0a72f"/>
                  </a:rPr>
                  <a:t>根据平衡条件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2_5e1ba"/>
                  </a:rPr>
                  <a:t>。根据平行四边形定则作出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两个力的合力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18dfb"/>
                  </a:rPr>
                  <a:t>根据平衡条件可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由三角形相似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𝑂𝐴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𝐴𝑂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9_094ba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9_094ba"/>
                          </a:rPr>
                          <m:t>𝐹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  <a:sym typeface="_⨹_9_094ba"/>
                          </a:rPr>
                          <m:t>𝐶𝑂</m:t>
                        </m:r>
                      </m:den>
                    </m:f>
                  </m:oMath>
                </a14:m>
                <a:br>
                  <a:rPr lang="en-US" altLang="zh-CN" sz="2800" b="0" i="1">
                    <a:solidFill>
                      <a:srgbClr val="C00000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56" charset="0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𝐴𝐵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𝐴𝐶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将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𝐴𝑂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𝐶𝑂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5dfb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𝐴𝐶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𝐶𝑂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G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人在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点将轻杆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6fc49"/>
                  </a:rPr>
                  <a:t>拉至竖直方向的过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程中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AO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的长度不变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的长度变大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115d2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的长度变小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轻杆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的弹力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3d122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人对轻绳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的拉力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en-US" altLang="zh-CN" sz="2800" b="0" i="1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变小。故选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4823" name="yt_shape_148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3" y="467999"/>
                <a:ext cx="6683217" cy="5382295"/>
              </a:xfrm>
              <a:prstGeom prst="rect">
                <a:avLst/>
              </a:prstGeom>
              <a:blipFill>
                <a:blip r:embed="rId2"/>
                <a:stretch>
                  <a:fillRect l="-3193" t="-2378" r="-2099" b="-13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C03ADE28-860B-19ED-EA6D-8609E75B9640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081" y="467999"/>
            <a:ext cx="4782848" cy="27361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6" name="yt_shape_14826"/>
          <p:cNvSpPr txBox="1"/>
          <p:nvPr/>
        </p:nvSpPr>
        <p:spPr>
          <a:xfrm>
            <a:off x="267086" y="123310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相似三角形法适用于三力平衡问题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特点是一个力是恒力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4_c5a59"/>
              </a:rPr>
              <a:t>另外两个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力大小、方向均变化。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求解的是斜三角形问题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19_21607"/>
              </a:rPr>
              <a:t>做法是在受力分析的基础上作出力的平行四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边形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由力三角形与几何三角形相似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求解问题。</a:t>
            </a:r>
          </a:p>
        </p:txBody>
      </p:sp>
      <p:sp>
        <p:nvSpPr>
          <p:cNvPr id="14830" name="yt_shape_14830"/>
          <p:cNvSpPr txBox="1"/>
          <p:nvPr/>
        </p:nvSpPr>
        <p:spPr>
          <a:xfrm>
            <a:off x="267086" y="4250610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6" name="yt_shape_14825"/>
          <p:cNvSpPr txBox="1"/>
          <p:nvPr/>
        </p:nvSpPr>
        <p:spPr>
          <a:xfrm>
            <a:off x="267085" y="675567"/>
            <a:ext cx="14362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方法技巧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1936</Words>
  <Application>Microsoft Macintosh PowerPoint</Application>
  <PresentationFormat>Widescreen</PresentationFormat>
  <Paragraphs>77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方正新报宋_GBK</vt:lpstr>
      <vt:lpstr>等线</vt:lpstr>
      <vt:lpstr>Microsoft YaHei</vt:lpstr>
      <vt:lpstr>Microsoft YaHei</vt:lpstr>
      <vt:lpstr>宋体</vt:lpstr>
      <vt:lpstr>华文细黑</vt:lpstr>
      <vt:lpstr>Arial</vt:lpstr>
      <vt:lpstr>Calibri</vt:lpstr>
      <vt:lpstr>Cambria Math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Xingyu Shu</cp:lastModifiedBy>
  <cp:revision>118</cp:revision>
  <dcterms:created xsi:type="dcterms:W3CDTF">2025-12-05T00:48:51Z</dcterms:created>
  <dcterms:modified xsi:type="dcterms:W3CDTF">2026-10-27T00:37:58Z</dcterms:modified>
</cp:coreProperties>
</file>