
<file path=[Content_Types].xml><?xml version="1.0" encoding="utf-8"?>
<Types xmlns="http://schemas.openxmlformats.org/package/2006/content-types">
  <Default Extension="bin" ContentType="image/png"/>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53" r:id="rId3"/>
    <p:sldId id="350" r:id="rId4"/>
    <p:sldId id="257" r:id="rId5"/>
    <p:sldId id="258" r:id="rId6"/>
    <p:sldId id="351" r:id="rId7"/>
    <p:sldId id="352" r:id="rId8"/>
    <p:sldId id="326" r:id="rId9"/>
    <p:sldId id="284" r:id="rId10"/>
    <p:sldId id="28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4" autoAdjust="0"/>
    <p:restoredTop sz="94660"/>
  </p:normalViewPr>
  <p:slideViewPr>
    <p:cSldViewPr snapToGrid="0">
      <p:cViewPr varScale="1">
        <p:scale>
          <a:sx n="127" d="100"/>
          <a:sy n="127" d="100"/>
        </p:scale>
        <p:origin x="57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BAE26-56B8-2430-61FE-210867C46BBB}"/>
              </a:ext>
            </a:extLst>
          </p:cNvPr>
          <p:cNvSpPr>
            <a:spLocks noGrp="1"/>
          </p:cNvSpPr>
          <p:nvPr>
            <p:ph type="ctrTitle"/>
          </p:nvPr>
        </p:nvSpPr>
        <p:spPr>
          <a:xfrm>
            <a:off x="1524000" y="1122363"/>
            <a:ext cx="9144000" cy="2387600"/>
          </a:xfrm>
        </p:spPr>
        <p:txBody>
          <a:bodyPr anchor="b"/>
          <a:lstStyle>
            <a:lvl1pPr algn="ctr">
              <a:defRPr sz="6000" b="1" baseline="0">
                <a:latin typeface="Times New Roman" panose="02020603050405020304" pitchFamily="18" charset="0"/>
                <a:ea typeface="宋体" panose="02010600030101010101" pitchFamily="2" charset="-122"/>
              </a:defRPr>
            </a:lvl1pPr>
          </a:lstStyle>
          <a:p>
            <a:r>
              <a:rPr lang="zh-CN" altLang="en-US"/>
              <a:t>单击此处编辑母版标题样式</a:t>
            </a:r>
            <a:endParaRPr lang="en-US" dirty="0"/>
          </a:p>
        </p:txBody>
      </p:sp>
      <p:sp>
        <p:nvSpPr>
          <p:cNvPr id="3" name="副标题 2">
            <a:extLst>
              <a:ext uri="{FF2B5EF4-FFF2-40B4-BE49-F238E27FC236}">
                <a16:creationId xmlns:a16="http://schemas.microsoft.com/office/drawing/2014/main" id="{E37BB5E0-8FB4-28ED-7516-8F1B6E232864}"/>
              </a:ext>
            </a:extLst>
          </p:cNvPr>
          <p:cNvSpPr>
            <a:spLocks noGrp="1"/>
          </p:cNvSpPr>
          <p:nvPr>
            <p:ph type="subTitle" idx="1"/>
          </p:nvPr>
        </p:nvSpPr>
        <p:spPr>
          <a:xfrm>
            <a:off x="1524000" y="3602038"/>
            <a:ext cx="9144000" cy="1655762"/>
          </a:xfrm>
        </p:spPr>
        <p:txBody>
          <a:bodyPr/>
          <a:lstStyle>
            <a:lvl1pPr marL="0" indent="0" algn="ctr">
              <a:buNone/>
              <a:defRPr sz="2400" b="1" baseline="0">
                <a:solidFill>
                  <a:schemeClr val="accent6">
                    <a:lumMod val="75000"/>
                  </a:schemeClr>
                </a:solidFill>
                <a:latin typeface="Times New Roman" panose="02020603050405020304" pitchFamily="18" charset="0"/>
                <a:ea typeface="宋体" panose="02010600030101010101" pitchFamily="2"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日期占位符 3">
            <a:extLst>
              <a:ext uri="{FF2B5EF4-FFF2-40B4-BE49-F238E27FC236}">
                <a16:creationId xmlns:a16="http://schemas.microsoft.com/office/drawing/2014/main" id="{5B12B10A-941C-D939-27AC-6B15C7D349F4}"/>
              </a:ext>
            </a:extLst>
          </p:cNvPr>
          <p:cNvSpPr>
            <a:spLocks noGrp="1"/>
          </p:cNvSpPr>
          <p:nvPr>
            <p:ph type="dt" sz="half" idx="10"/>
          </p:nvPr>
        </p:nvSpPr>
        <p:spPr/>
        <p:txBody>
          <a:bodyPr/>
          <a:lstStyle/>
          <a:p>
            <a:fld id="{8CA95057-F28B-4021-A46F-4C2D267CFC9D}" type="datetimeFigureOut">
              <a:rPr lang="en-US" smtClean="0"/>
              <a:t>9/4/26</a:t>
            </a:fld>
            <a:endParaRPr lang="en-US"/>
          </a:p>
        </p:txBody>
      </p:sp>
      <p:sp>
        <p:nvSpPr>
          <p:cNvPr id="5" name="页脚占位符 4">
            <a:extLst>
              <a:ext uri="{FF2B5EF4-FFF2-40B4-BE49-F238E27FC236}">
                <a16:creationId xmlns:a16="http://schemas.microsoft.com/office/drawing/2014/main" id="{649AD2BD-88C2-A651-59BE-1F23AE6AAA0F}"/>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DA89C6D7-3953-E131-FC50-ABB0C76B8C91}"/>
              </a:ext>
            </a:extLst>
          </p:cNvPr>
          <p:cNvSpPr>
            <a:spLocks noGrp="1"/>
          </p:cNvSpPr>
          <p:nvPr>
            <p:ph type="sldNum" sz="quarter" idx="12"/>
          </p:nvPr>
        </p:nvSpPr>
        <p:spPr/>
        <p:txBody>
          <a:bodyPr/>
          <a:lstStyle/>
          <a:p>
            <a:fld id="{30AAF9C8-72C8-4B1A-B60F-A2190CE5FB2E}" type="slidenum">
              <a:rPr lang="en-US" smtClean="0"/>
              <a:t>‹#›</a:t>
            </a:fld>
            <a:endParaRPr lang="en-US"/>
          </a:p>
        </p:txBody>
      </p:sp>
    </p:spTree>
    <p:extLst>
      <p:ext uri="{BB962C8B-B14F-4D97-AF65-F5344CB8AC3E}">
        <p14:creationId xmlns:p14="http://schemas.microsoft.com/office/powerpoint/2010/main" val="2468310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87BA6-2A8E-5FA0-58D6-C944834A0968}"/>
              </a:ext>
            </a:extLst>
          </p:cNvPr>
          <p:cNvSpPr>
            <a:spLocks noGrp="1"/>
          </p:cNvSpPr>
          <p:nvPr>
            <p:ph type="title"/>
          </p:nvPr>
        </p:nvSpPr>
        <p:spPr/>
        <p:txBody>
          <a:bodyPr/>
          <a:lstStyle>
            <a:lvl1pPr>
              <a:defRPr b="1" i="0" baseline="0">
                <a:solidFill>
                  <a:schemeClr val="accent6">
                    <a:lumMod val="75000"/>
                  </a:schemeClr>
                </a:solidFill>
                <a:latin typeface="Times New Roman" panose="02020603050405020304" pitchFamily="18" charset="0"/>
                <a:ea typeface="宋体" panose="02010600030101010101" pitchFamily="2" charset="-122"/>
              </a:defRPr>
            </a:lvl1pPr>
          </a:lstStyle>
          <a:p>
            <a:r>
              <a:rPr lang="zh-CN" altLang="en-US"/>
              <a:t>单击此处编辑母版标题样式</a:t>
            </a:r>
            <a:endParaRPr lang="en-US" dirty="0"/>
          </a:p>
        </p:txBody>
      </p:sp>
      <p:sp>
        <p:nvSpPr>
          <p:cNvPr id="3" name="内容占位符 2">
            <a:extLst>
              <a:ext uri="{FF2B5EF4-FFF2-40B4-BE49-F238E27FC236}">
                <a16:creationId xmlns:a16="http://schemas.microsoft.com/office/drawing/2014/main" id="{5AD54497-2070-1B06-6BF5-7537BD4B7857}"/>
              </a:ext>
            </a:extLst>
          </p:cNvPr>
          <p:cNvSpPr>
            <a:spLocks noGrp="1"/>
          </p:cNvSpPr>
          <p:nvPr>
            <p:ph idx="1"/>
          </p:nvPr>
        </p:nvSpPr>
        <p:spPr/>
        <p:txBody>
          <a:bodyPr/>
          <a:lstStyle>
            <a:lvl1pPr>
              <a:defRPr baseline="0">
                <a:latin typeface="Times New Roman" panose="02020603050405020304" pitchFamily="18" charset="0"/>
                <a:ea typeface="宋体" panose="02010600030101010101" pitchFamily="2" charset="-122"/>
              </a:defRPr>
            </a:lvl1pPr>
            <a:lvl2pPr>
              <a:defRPr baseline="0">
                <a:latin typeface="Times New Roman" panose="02020603050405020304" pitchFamily="18" charset="0"/>
                <a:ea typeface="宋体" panose="02010600030101010101" pitchFamily="2" charset="-122"/>
              </a:defRPr>
            </a:lvl2pPr>
            <a:lvl3pPr>
              <a:defRPr baseline="0">
                <a:latin typeface="Times New Roman" panose="02020603050405020304" pitchFamily="18" charset="0"/>
                <a:ea typeface="宋体" panose="02010600030101010101" pitchFamily="2" charset="-122"/>
              </a:defRPr>
            </a:lvl3pPr>
            <a:lvl4pPr>
              <a:defRPr baseline="0">
                <a:latin typeface="Times New Roman" panose="02020603050405020304" pitchFamily="18" charset="0"/>
                <a:ea typeface="宋体" panose="02010600030101010101" pitchFamily="2" charset="-122"/>
              </a:defRPr>
            </a:lvl4pPr>
            <a:lvl5pPr>
              <a:defRPr baseline="0">
                <a:latin typeface="Times New Roman" panose="02020603050405020304" pitchFamily="18" charset="0"/>
                <a:ea typeface="宋体" panose="02010600030101010101" pitchFamily="2"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日期占位符 3">
            <a:extLst>
              <a:ext uri="{FF2B5EF4-FFF2-40B4-BE49-F238E27FC236}">
                <a16:creationId xmlns:a16="http://schemas.microsoft.com/office/drawing/2014/main" id="{64E8D4BD-E88E-12E0-8F46-4ED0DD7A37AD}"/>
              </a:ext>
            </a:extLst>
          </p:cNvPr>
          <p:cNvSpPr>
            <a:spLocks noGrp="1"/>
          </p:cNvSpPr>
          <p:nvPr>
            <p:ph type="dt" sz="half" idx="10"/>
          </p:nvPr>
        </p:nvSpPr>
        <p:spPr/>
        <p:txBody>
          <a:bodyPr/>
          <a:lstStyle/>
          <a:p>
            <a:fld id="{8CA95057-F28B-4021-A46F-4C2D267CFC9D}" type="datetimeFigureOut">
              <a:rPr lang="en-US" smtClean="0"/>
              <a:t>9/4/26</a:t>
            </a:fld>
            <a:endParaRPr lang="en-US"/>
          </a:p>
        </p:txBody>
      </p:sp>
      <p:sp>
        <p:nvSpPr>
          <p:cNvPr id="5" name="页脚占位符 4">
            <a:extLst>
              <a:ext uri="{FF2B5EF4-FFF2-40B4-BE49-F238E27FC236}">
                <a16:creationId xmlns:a16="http://schemas.microsoft.com/office/drawing/2014/main" id="{7B0FAC07-7BC7-4FEA-4C23-59EAF4C59C35}"/>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B44D76C5-DC12-60D9-043D-68225995A99A}"/>
              </a:ext>
            </a:extLst>
          </p:cNvPr>
          <p:cNvSpPr>
            <a:spLocks noGrp="1"/>
          </p:cNvSpPr>
          <p:nvPr>
            <p:ph type="sldNum" sz="quarter" idx="12"/>
          </p:nvPr>
        </p:nvSpPr>
        <p:spPr/>
        <p:txBody>
          <a:bodyPr/>
          <a:lstStyle/>
          <a:p>
            <a:fld id="{30AAF9C8-72C8-4B1A-B60F-A2190CE5FB2E}" type="slidenum">
              <a:rPr lang="en-US" smtClean="0"/>
              <a:t>‹#›</a:t>
            </a:fld>
            <a:endParaRPr lang="en-US"/>
          </a:p>
        </p:txBody>
      </p:sp>
    </p:spTree>
    <p:extLst>
      <p:ext uri="{BB962C8B-B14F-4D97-AF65-F5344CB8AC3E}">
        <p14:creationId xmlns:p14="http://schemas.microsoft.com/office/powerpoint/2010/main" val="2993537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AD54497-2070-1B06-6BF5-7537BD4B7857}"/>
              </a:ext>
            </a:extLst>
          </p:cNvPr>
          <p:cNvSpPr>
            <a:spLocks noGrp="1"/>
          </p:cNvSpPr>
          <p:nvPr>
            <p:ph idx="1"/>
          </p:nvPr>
        </p:nvSpPr>
        <p:spPr>
          <a:xfrm>
            <a:off x="838200" y="523081"/>
            <a:ext cx="10515600" cy="5811838"/>
          </a:xfrm>
        </p:spPr>
        <p:txBody>
          <a:bodyPr/>
          <a:lstStyle>
            <a:lvl1pPr marL="0" indent="0">
              <a:buNone/>
              <a:defRPr baseline="0">
                <a:latin typeface="Times New Roman" panose="02020603050405020304" pitchFamily="18" charset="0"/>
                <a:ea typeface="宋体" panose="02010600030101010101" pitchFamily="2" charset="-122"/>
              </a:defRPr>
            </a:lvl1pPr>
            <a:lvl2pPr>
              <a:defRPr baseline="0">
                <a:latin typeface="Times New Roman" panose="02020603050405020304" pitchFamily="18" charset="0"/>
                <a:ea typeface="宋体" panose="02010600030101010101" pitchFamily="2" charset="-122"/>
              </a:defRPr>
            </a:lvl2pPr>
            <a:lvl3pPr>
              <a:defRPr baseline="0">
                <a:latin typeface="Times New Roman" panose="02020603050405020304" pitchFamily="18" charset="0"/>
                <a:ea typeface="宋体" panose="02010600030101010101" pitchFamily="2" charset="-122"/>
              </a:defRPr>
            </a:lvl3pPr>
            <a:lvl4pPr>
              <a:defRPr baseline="0">
                <a:latin typeface="Times New Roman" panose="02020603050405020304" pitchFamily="18" charset="0"/>
                <a:ea typeface="宋体" panose="02010600030101010101" pitchFamily="2" charset="-122"/>
              </a:defRPr>
            </a:lvl4pPr>
            <a:lvl5pPr>
              <a:defRPr baseline="0">
                <a:latin typeface="Times New Roman" panose="02020603050405020304" pitchFamily="18" charset="0"/>
                <a:ea typeface="宋体" panose="02010600030101010101" pitchFamily="2" charset="-122"/>
              </a:defRPr>
            </a:lvl5pPr>
          </a:lstStyle>
          <a:p>
            <a:pPr lvl="0"/>
            <a:r>
              <a:rPr lang="zh-CN" altLang="en-US"/>
              <a:t>单击此处编辑母版文本样式</a:t>
            </a:r>
          </a:p>
        </p:txBody>
      </p:sp>
      <p:sp>
        <p:nvSpPr>
          <p:cNvPr id="4" name="日期占位符 3">
            <a:extLst>
              <a:ext uri="{FF2B5EF4-FFF2-40B4-BE49-F238E27FC236}">
                <a16:creationId xmlns:a16="http://schemas.microsoft.com/office/drawing/2014/main" id="{64E8D4BD-E88E-12E0-8F46-4ED0DD7A37AD}"/>
              </a:ext>
            </a:extLst>
          </p:cNvPr>
          <p:cNvSpPr>
            <a:spLocks noGrp="1"/>
          </p:cNvSpPr>
          <p:nvPr>
            <p:ph type="dt" sz="half" idx="10"/>
          </p:nvPr>
        </p:nvSpPr>
        <p:spPr/>
        <p:txBody>
          <a:bodyPr/>
          <a:lstStyle/>
          <a:p>
            <a:fld id="{8CA95057-F28B-4021-A46F-4C2D267CFC9D}" type="datetimeFigureOut">
              <a:rPr lang="en-US" smtClean="0"/>
              <a:t>9/4/26</a:t>
            </a:fld>
            <a:endParaRPr lang="en-US"/>
          </a:p>
        </p:txBody>
      </p:sp>
      <p:sp>
        <p:nvSpPr>
          <p:cNvPr id="5" name="页脚占位符 4">
            <a:extLst>
              <a:ext uri="{FF2B5EF4-FFF2-40B4-BE49-F238E27FC236}">
                <a16:creationId xmlns:a16="http://schemas.microsoft.com/office/drawing/2014/main" id="{7B0FAC07-7BC7-4FEA-4C23-59EAF4C59C35}"/>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B44D76C5-DC12-60D9-043D-68225995A99A}"/>
              </a:ext>
            </a:extLst>
          </p:cNvPr>
          <p:cNvSpPr>
            <a:spLocks noGrp="1"/>
          </p:cNvSpPr>
          <p:nvPr>
            <p:ph type="sldNum" sz="quarter" idx="12"/>
          </p:nvPr>
        </p:nvSpPr>
        <p:spPr/>
        <p:txBody>
          <a:bodyPr/>
          <a:lstStyle/>
          <a:p>
            <a:fld id="{30AAF9C8-72C8-4B1A-B60F-A2190CE5FB2E}" type="slidenum">
              <a:rPr lang="en-US" smtClean="0"/>
              <a:t>‹#›</a:t>
            </a:fld>
            <a:endParaRPr lang="en-US"/>
          </a:p>
        </p:txBody>
      </p:sp>
    </p:spTree>
    <p:extLst>
      <p:ext uri="{BB962C8B-B14F-4D97-AF65-F5344CB8AC3E}">
        <p14:creationId xmlns:p14="http://schemas.microsoft.com/office/powerpoint/2010/main" val="3643945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6037C5-4353-B18D-E7F6-50395C053254}"/>
              </a:ext>
            </a:extLst>
          </p:cNvPr>
          <p:cNvSpPr>
            <a:spLocks noGrp="1"/>
          </p:cNvSpPr>
          <p:nvPr>
            <p:ph type="title"/>
          </p:nvPr>
        </p:nvSpPr>
        <p:spPr>
          <a:xfrm>
            <a:off x="838200" y="2766218"/>
            <a:ext cx="10515600" cy="1325563"/>
          </a:xfrm>
        </p:spPr>
        <p:txBody>
          <a:bodyPr/>
          <a:lstStyle>
            <a:lvl1pPr algn="ctr">
              <a:defRPr b="1">
                <a:solidFill>
                  <a:schemeClr val="accent6">
                    <a:lumMod val="75000"/>
                  </a:schemeClr>
                </a:solidFill>
              </a:defRPr>
            </a:lvl1pPr>
          </a:lstStyle>
          <a:p>
            <a:r>
              <a:rPr lang="zh-CN" altLang="en-US"/>
              <a:t>单击此处编辑母版标题样式</a:t>
            </a:r>
            <a:endParaRPr lang="en-US" dirty="0"/>
          </a:p>
        </p:txBody>
      </p:sp>
      <p:sp>
        <p:nvSpPr>
          <p:cNvPr id="3" name="日期占位符 2">
            <a:extLst>
              <a:ext uri="{FF2B5EF4-FFF2-40B4-BE49-F238E27FC236}">
                <a16:creationId xmlns:a16="http://schemas.microsoft.com/office/drawing/2014/main" id="{D095E053-2D55-7D42-832A-64D9FD71F0E8}"/>
              </a:ext>
            </a:extLst>
          </p:cNvPr>
          <p:cNvSpPr>
            <a:spLocks noGrp="1"/>
          </p:cNvSpPr>
          <p:nvPr>
            <p:ph type="dt" sz="half" idx="10"/>
          </p:nvPr>
        </p:nvSpPr>
        <p:spPr/>
        <p:txBody>
          <a:bodyPr/>
          <a:lstStyle/>
          <a:p>
            <a:fld id="{8CA95057-F28B-4021-A46F-4C2D267CFC9D}" type="datetimeFigureOut">
              <a:rPr lang="en-US" smtClean="0"/>
              <a:t>9/4/26</a:t>
            </a:fld>
            <a:endParaRPr lang="en-US"/>
          </a:p>
        </p:txBody>
      </p:sp>
      <p:sp>
        <p:nvSpPr>
          <p:cNvPr id="4" name="页脚占位符 3">
            <a:extLst>
              <a:ext uri="{FF2B5EF4-FFF2-40B4-BE49-F238E27FC236}">
                <a16:creationId xmlns:a16="http://schemas.microsoft.com/office/drawing/2014/main" id="{7409B3BC-5091-C9EB-93DC-DAA2C048524C}"/>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F9B95254-26E7-464E-C68E-165FA68099FB}"/>
              </a:ext>
            </a:extLst>
          </p:cNvPr>
          <p:cNvSpPr>
            <a:spLocks noGrp="1"/>
          </p:cNvSpPr>
          <p:nvPr>
            <p:ph type="sldNum" sz="quarter" idx="12"/>
          </p:nvPr>
        </p:nvSpPr>
        <p:spPr/>
        <p:txBody>
          <a:bodyPr/>
          <a:lstStyle/>
          <a:p>
            <a:fld id="{30AAF9C8-72C8-4B1A-B60F-A2190CE5FB2E}" type="slidenum">
              <a:rPr lang="en-US" smtClean="0"/>
              <a:t>‹#›</a:t>
            </a:fld>
            <a:endParaRPr lang="en-US"/>
          </a:p>
        </p:txBody>
      </p:sp>
    </p:spTree>
    <p:extLst>
      <p:ext uri="{BB962C8B-B14F-4D97-AF65-F5344CB8AC3E}">
        <p14:creationId xmlns:p14="http://schemas.microsoft.com/office/powerpoint/2010/main" val="943500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135E84-15A1-7FC9-AFAF-8FADC46CD187}"/>
              </a:ext>
            </a:extLst>
          </p:cNvPr>
          <p:cNvSpPr>
            <a:spLocks noGrp="1"/>
          </p:cNvSpPr>
          <p:nvPr>
            <p:ph type="title"/>
          </p:nvPr>
        </p:nvSpPr>
        <p:spPr/>
        <p:txBody>
          <a:bodyPr/>
          <a:lstStyle>
            <a:lvl1pPr>
              <a:defRPr b="1">
                <a:solidFill>
                  <a:schemeClr val="accent6">
                    <a:lumMod val="75000"/>
                  </a:schemeClr>
                </a:solidFill>
              </a:defRPr>
            </a:lvl1pPr>
          </a:lstStyle>
          <a:p>
            <a:r>
              <a:rPr lang="zh-CN" altLang="en-US"/>
              <a:t>单击此处编辑母版标题样式</a:t>
            </a:r>
            <a:endParaRPr lang="en-US" dirty="0"/>
          </a:p>
        </p:txBody>
      </p:sp>
      <p:sp>
        <p:nvSpPr>
          <p:cNvPr id="3" name="内容占位符 2">
            <a:extLst>
              <a:ext uri="{FF2B5EF4-FFF2-40B4-BE49-F238E27FC236}">
                <a16:creationId xmlns:a16="http://schemas.microsoft.com/office/drawing/2014/main" id="{EE4AF478-0EFE-AC89-ED8A-29756B0B9EE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内容占位符 3">
            <a:extLst>
              <a:ext uri="{FF2B5EF4-FFF2-40B4-BE49-F238E27FC236}">
                <a16:creationId xmlns:a16="http://schemas.microsoft.com/office/drawing/2014/main" id="{D49BB167-44B9-706B-D666-89AE18CB9E2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a:extLst>
              <a:ext uri="{FF2B5EF4-FFF2-40B4-BE49-F238E27FC236}">
                <a16:creationId xmlns:a16="http://schemas.microsoft.com/office/drawing/2014/main" id="{2CE7B3BB-7A6E-45B9-71DF-CB6C64FBAB7A}"/>
              </a:ext>
            </a:extLst>
          </p:cNvPr>
          <p:cNvSpPr>
            <a:spLocks noGrp="1"/>
          </p:cNvSpPr>
          <p:nvPr>
            <p:ph type="dt" sz="half" idx="10"/>
          </p:nvPr>
        </p:nvSpPr>
        <p:spPr/>
        <p:txBody>
          <a:bodyPr/>
          <a:lstStyle/>
          <a:p>
            <a:fld id="{8CA95057-F28B-4021-A46F-4C2D267CFC9D}" type="datetimeFigureOut">
              <a:rPr lang="en-US" smtClean="0"/>
              <a:t>9/4/26</a:t>
            </a:fld>
            <a:endParaRPr lang="en-US"/>
          </a:p>
        </p:txBody>
      </p:sp>
      <p:sp>
        <p:nvSpPr>
          <p:cNvPr id="6" name="页脚占位符 5">
            <a:extLst>
              <a:ext uri="{FF2B5EF4-FFF2-40B4-BE49-F238E27FC236}">
                <a16:creationId xmlns:a16="http://schemas.microsoft.com/office/drawing/2014/main" id="{23162526-EB46-7571-519E-1D9919B8F9B6}"/>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C0FDE84E-A2DC-6924-24F0-2B9796818C13}"/>
              </a:ext>
            </a:extLst>
          </p:cNvPr>
          <p:cNvSpPr>
            <a:spLocks noGrp="1"/>
          </p:cNvSpPr>
          <p:nvPr>
            <p:ph type="sldNum" sz="quarter" idx="12"/>
          </p:nvPr>
        </p:nvSpPr>
        <p:spPr/>
        <p:txBody>
          <a:bodyPr/>
          <a:lstStyle/>
          <a:p>
            <a:fld id="{30AAF9C8-72C8-4B1A-B60F-A2190CE5FB2E}" type="slidenum">
              <a:rPr lang="en-US" smtClean="0"/>
              <a:t>‹#›</a:t>
            </a:fld>
            <a:endParaRPr lang="en-US"/>
          </a:p>
        </p:txBody>
      </p:sp>
    </p:spTree>
    <p:extLst>
      <p:ext uri="{BB962C8B-B14F-4D97-AF65-F5344CB8AC3E}">
        <p14:creationId xmlns:p14="http://schemas.microsoft.com/office/powerpoint/2010/main" val="3190490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3554D5-D7A9-A1DD-900A-2FD838DA3DD8}"/>
              </a:ext>
            </a:extLst>
          </p:cNvPr>
          <p:cNvSpPr>
            <a:spLocks noGrp="1"/>
          </p:cNvSpPr>
          <p:nvPr>
            <p:ph type="title"/>
          </p:nvPr>
        </p:nvSpPr>
        <p:spPr>
          <a:xfrm>
            <a:off x="839788" y="365125"/>
            <a:ext cx="10515600" cy="1325563"/>
          </a:xfrm>
        </p:spPr>
        <p:txBody>
          <a:bodyPr/>
          <a:lstStyle>
            <a:lvl1pPr>
              <a:defRPr b="1">
                <a:solidFill>
                  <a:schemeClr val="accent6">
                    <a:lumMod val="75000"/>
                  </a:schemeClr>
                </a:solidFill>
              </a:defRPr>
            </a:lvl1pPr>
          </a:lstStyle>
          <a:p>
            <a:r>
              <a:rPr lang="zh-CN" altLang="en-US"/>
              <a:t>单击此处编辑母版标题样式</a:t>
            </a:r>
            <a:endParaRPr lang="en-US" dirty="0"/>
          </a:p>
        </p:txBody>
      </p:sp>
      <p:sp>
        <p:nvSpPr>
          <p:cNvPr id="3" name="文本占位符 2">
            <a:extLst>
              <a:ext uri="{FF2B5EF4-FFF2-40B4-BE49-F238E27FC236}">
                <a16:creationId xmlns:a16="http://schemas.microsoft.com/office/drawing/2014/main" id="{13E7B749-E7A9-21B5-B42B-E0A39C25CC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07C0BC1-B0B5-7AAD-E11A-81B8F71F4C5E}"/>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文本占位符 4">
            <a:extLst>
              <a:ext uri="{FF2B5EF4-FFF2-40B4-BE49-F238E27FC236}">
                <a16:creationId xmlns:a16="http://schemas.microsoft.com/office/drawing/2014/main" id="{E339032A-E84E-69B4-CBA0-AA0E80DEEB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95D864D-D9D2-FFDB-0B84-6A573F795DE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日期占位符 6">
            <a:extLst>
              <a:ext uri="{FF2B5EF4-FFF2-40B4-BE49-F238E27FC236}">
                <a16:creationId xmlns:a16="http://schemas.microsoft.com/office/drawing/2014/main" id="{21228042-54E5-4EAA-2940-C44C574436AA}"/>
              </a:ext>
            </a:extLst>
          </p:cNvPr>
          <p:cNvSpPr>
            <a:spLocks noGrp="1"/>
          </p:cNvSpPr>
          <p:nvPr>
            <p:ph type="dt" sz="half" idx="10"/>
          </p:nvPr>
        </p:nvSpPr>
        <p:spPr/>
        <p:txBody>
          <a:bodyPr/>
          <a:lstStyle/>
          <a:p>
            <a:fld id="{8CA95057-F28B-4021-A46F-4C2D267CFC9D}" type="datetimeFigureOut">
              <a:rPr lang="en-US" smtClean="0"/>
              <a:t>9/4/26</a:t>
            </a:fld>
            <a:endParaRPr lang="en-US"/>
          </a:p>
        </p:txBody>
      </p:sp>
      <p:sp>
        <p:nvSpPr>
          <p:cNvPr id="8" name="页脚占位符 7">
            <a:extLst>
              <a:ext uri="{FF2B5EF4-FFF2-40B4-BE49-F238E27FC236}">
                <a16:creationId xmlns:a16="http://schemas.microsoft.com/office/drawing/2014/main" id="{B0899DAD-BFB9-32DF-3CE6-59BAD615A3B7}"/>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D7AF6A48-CE64-6945-8AD6-C8258AA9AFE4}"/>
              </a:ext>
            </a:extLst>
          </p:cNvPr>
          <p:cNvSpPr>
            <a:spLocks noGrp="1"/>
          </p:cNvSpPr>
          <p:nvPr>
            <p:ph type="sldNum" sz="quarter" idx="12"/>
          </p:nvPr>
        </p:nvSpPr>
        <p:spPr/>
        <p:txBody>
          <a:bodyPr/>
          <a:lstStyle/>
          <a:p>
            <a:fld id="{30AAF9C8-72C8-4B1A-B60F-A2190CE5FB2E}" type="slidenum">
              <a:rPr lang="en-US" smtClean="0"/>
              <a:t>‹#›</a:t>
            </a:fld>
            <a:endParaRPr lang="en-US"/>
          </a:p>
        </p:txBody>
      </p:sp>
    </p:spTree>
    <p:extLst>
      <p:ext uri="{BB962C8B-B14F-4D97-AF65-F5344CB8AC3E}">
        <p14:creationId xmlns:p14="http://schemas.microsoft.com/office/powerpoint/2010/main" val="1672596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9658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C416FE3-9FFB-D473-650E-C0FF08387F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EF6876DD-7317-1E24-5465-9C24EFCE52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D38481CF-CAF6-E439-D9F9-98DE38F887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A95057-F28B-4021-A46F-4C2D267CFC9D}" type="datetimeFigureOut">
              <a:rPr lang="en-US" smtClean="0"/>
              <a:t>9/4/26</a:t>
            </a:fld>
            <a:endParaRPr lang="en-US"/>
          </a:p>
        </p:txBody>
      </p:sp>
      <p:sp>
        <p:nvSpPr>
          <p:cNvPr id="5" name="页脚占位符 4">
            <a:extLst>
              <a:ext uri="{FF2B5EF4-FFF2-40B4-BE49-F238E27FC236}">
                <a16:creationId xmlns:a16="http://schemas.microsoft.com/office/drawing/2014/main" id="{73123095-2A83-7320-9954-6441CBEAF2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a:extLst>
              <a:ext uri="{FF2B5EF4-FFF2-40B4-BE49-F238E27FC236}">
                <a16:creationId xmlns:a16="http://schemas.microsoft.com/office/drawing/2014/main" id="{AD8FB62F-A58A-E29F-AA4A-4628B24796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AAF9C8-72C8-4B1A-B60F-A2190CE5FB2E}" type="slidenum">
              <a:rPr lang="en-US" smtClean="0"/>
              <a:t>‹#›</a:t>
            </a:fld>
            <a:endParaRPr lang="en-US"/>
          </a:p>
        </p:txBody>
      </p:sp>
    </p:spTree>
    <p:extLst>
      <p:ext uri="{BB962C8B-B14F-4D97-AF65-F5344CB8AC3E}">
        <p14:creationId xmlns:p14="http://schemas.microsoft.com/office/powerpoint/2010/main" val="2356700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4" r:id="rId4"/>
    <p:sldLayoutId id="2147483652" r:id="rId5"/>
    <p:sldLayoutId id="2147483653" r:id="rId6"/>
    <p:sldLayoutId id="2147483657"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emf"/><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bin"/><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5E9302-FB36-523F-F429-8361E512083B}"/>
              </a:ext>
            </a:extLst>
          </p:cNvPr>
          <p:cNvSpPr>
            <a:spLocks noGrp="1"/>
          </p:cNvSpPr>
          <p:nvPr>
            <p:ph type="ctrTitle"/>
          </p:nvPr>
        </p:nvSpPr>
        <p:spPr/>
        <p:txBody>
          <a:bodyPr/>
          <a:lstStyle/>
          <a:p>
            <a:r>
              <a:rPr kumimoji="1" lang="zh-CN" altLang="en-US" dirty="0"/>
              <a:t>路端电压与负载的关系</a:t>
            </a:r>
            <a:br>
              <a:rPr kumimoji="1" lang="en-US" altLang="zh-CN" dirty="0"/>
            </a:br>
            <a:r>
              <a:rPr kumimoji="1" lang="zh-CN" altLang="en-US" dirty="0"/>
              <a:t>电阻表的原理</a:t>
            </a:r>
          </a:p>
        </p:txBody>
      </p:sp>
      <p:sp>
        <p:nvSpPr>
          <p:cNvPr id="3" name="副标题 2">
            <a:extLst>
              <a:ext uri="{FF2B5EF4-FFF2-40B4-BE49-F238E27FC236}">
                <a16:creationId xmlns:a16="http://schemas.microsoft.com/office/drawing/2014/main" id="{88CD27B1-C465-4A02-E274-F45318308D37}"/>
              </a:ext>
            </a:extLst>
          </p:cNvPr>
          <p:cNvSpPr>
            <a:spLocks noGrp="1"/>
          </p:cNvSpPr>
          <p:nvPr>
            <p:ph type="subTitle" idx="1"/>
          </p:nvPr>
        </p:nvSpPr>
        <p:spPr/>
        <p:txBody>
          <a:bodyPr/>
          <a:lstStyle/>
          <a:p>
            <a:r>
              <a:rPr kumimoji="1" lang="en-US" altLang="zh-CN" dirty="0"/>
              <a:t>The relationship between the roadside voltage and the load</a:t>
            </a:r>
            <a:br>
              <a:rPr kumimoji="1" lang="en-US" altLang="zh-CN" dirty="0"/>
            </a:br>
            <a:r>
              <a:rPr kumimoji="1" lang="en-US" altLang="zh-CN" dirty="0"/>
              <a:t>Principle of resistance meter</a:t>
            </a:r>
            <a:endParaRPr kumimoji="1" lang="zh-CN" altLang="en-US" dirty="0"/>
          </a:p>
        </p:txBody>
      </p:sp>
    </p:spTree>
    <p:extLst>
      <p:ext uri="{BB962C8B-B14F-4D97-AF65-F5344CB8AC3E}">
        <p14:creationId xmlns:p14="http://schemas.microsoft.com/office/powerpoint/2010/main" val="2611161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A City in Switzerland Where People Practically Swim Home from Work, In  parts of Switzerland, the journey home doesn’t involve traffic or trains.  In cities like Bern, locals swim or float home from ...">
            <a:extLst>
              <a:ext uri="{FF2B5EF4-FFF2-40B4-BE49-F238E27FC236}">
                <a16:creationId xmlns:a16="http://schemas.microsoft.com/office/drawing/2014/main" id="{610A19E6-F361-8749-248C-32ADF04576A4}"/>
              </a:ext>
            </a:extLst>
          </p:cNvPr>
          <p:cNvPicPr>
            <a:picLocks noGrp="1" noChangeAspect="1"/>
          </p:cNvPicPr>
          <p:nvPr>
            <p:ph idx="1"/>
          </p:nvPr>
        </p:nvPicPr>
        <p:blipFill>
          <a:blip r:embed="rId2"/>
          <a:stretch>
            <a:fillRect/>
          </a:stretch>
        </p:blipFill>
        <p:spPr>
          <a:xfrm>
            <a:off x="4463678" y="522288"/>
            <a:ext cx="3264643" cy="5813425"/>
          </a:xfrm>
          <a:prstGeom prst="rect">
            <a:avLst/>
          </a:prstGeom>
        </p:spPr>
      </p:pic>
    </p:spTree>
    <p:extLst>
      <p:ext uri="{BB962C8B-B14F-4D97-AF65-F5344CB8AC3E}">
        <p14:creationId xmlns:p14="http://schemas.microsoft.com/office/powerpoint/2010/main" val="852652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3A6CBD-CAF0-CCF7-67E9-D901F0910EB0}"/>
              </a:ext>
            </a:extLst>
          </p:cNvPr>
          <p:cNvSpPr>
            <a:spLocks noGrp="1"/>
          </p:cNvSpPr>
          <p:nvPr>
            <p:ph type="title"/>
          </p:nvPr>
        </p:nvSpPr>
        <p:spPr>
          <a:xfrm>
            <a:off x="838200" y="365125"/>
            <a:ext cx="10515600" cy="1325563"/>
          </a:xfrm>
        </p:spPr>
        <p:txBody>
          <a:bodyPr anchor="ctr">
            <a:normAutofit/>
          </a:bodyPr>
          <a:lstStyle/>
          <a:p>
            <a:r>
              <a:rPr kumimoji="1" lang="zh-CN" altLang="en-US" dirty="0"/>
              <a:t>写出电路中电压，电流，电阻之间的关系</a:t>
            </a:r>
          </a:p>
        </p:txBody>
      </p:sp>
      <p:pic>
        <p:nvPicPr>
          <p:cNvPr id="7" name="内容占位符 3" descr="墙上的钟表&#10;&#10;AI 生成的内容可能不正确。">
            <a:extLst>
              <a:ext uri="{FF2B5EF4-FFF2-40B4-BE49-F238E27FC236}">
                <a16:creationId xmlns:a16="http://schemas.microsoft.com/office/drawing/2014/main" id="{D085FBB0-3C9F-2438-9632-7F13775B6358}"/>
              </a:ext>
            </a:extLst>
          </p:cNvPr>
          <p:cNvPicPr>
            <a:picLocks noGrp="1" noChangeAspect="1"/>
          </p:cNvPicPr>
          <p:nvPr>
            <p:ph idx="1"/>
          </p:nvPr>
        </p:nvPicPr>
        <p:blipFill>
          <a:blip r:embed="rId2"/>
          <a:stretch>
            <a:fillRect/>
          </a:stretch>
        </p:blipFill>
        <p:spPr>
          <a:xfrm>
            <a:off x="3297526" y="1825625"/>
            <a:ext cx="5596948" cy="4351338"/>
          </a:xfrm>
          <a:prstGeom prst="rect">
            <a:avLst/>
          </a:prstGeom>
          <a:noFill/>
        </p:spPr>
      </p:pic>
    </p:spTree>
    <p:extLst>
      <p:ext uri="{BB962C8B-B14F-4D97-AF65-F5344CB8AC3E}">
        <p14:creationId xmlns:p14="http://schemas.microsoft.com/office/powerpoint/2010/main" val="1169593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94CE93-8D09-944E-064D-48BEF1B17846}"/>
              </a:ext>
            </a:extLst>
          </p:cNvPr>
          <p:cNvSpPr>
            <a:spLocks noGrp="1"/>
          </p:cNvSpPr>
          <p:nvPr>
            <p:ph type="title"/>
          </p:nvPr>
        </p:nvSpPr>
        <p:spPr/>
        <p:txBody>
          <a:bodyPr/>
          <a:lstStyle/>
          <a:p>
            <a:r>
              <a:rPr lang="zh-CN" altLang="en-US" dirty="0"/>
              <a:t>路端电压与负载的关系</a:t>
            </a:r>
            <a:endParaRPr lang="en-US" dirty="0"/>
          </a:p>
        </p:txBody>
      </p:sp>
      <p:pic>
        <p:nvPicPr>
          <p:cNvPr id="34" name="内容占位符 33">
            <a:extLst>
              <a:ext uri="{FF2B5EF4-FFF2-40B4-BE49-F238E27FC236}">
                <a16:creationId xmlns:a16="http://schemas.microsoft.com/office/drawing/2014/main" id="{4D76A8D3-5F0B-4385-215A-DE9B4B6D7303}"/>
              </a:ext>
            </a:extLst>
          </p:cNvPr>
          <p:cNvPicPr>
            <a:picLocks noGrp="1" noChangeAspect="1"/>
          </p:cNvPicPr>
          <p:nvPr>
            <p:ph sz="half" idx="1"/>
          </p:nvPr>
        </p:nvPicPr>
        <p:blipFill>
          <a:blip r:embed="rId2"/>
          <a:stretch>
            <a:fillRect/>
          </a:stretch>
        </p:blipFill>
        <p:spPr>
          <a:xfrm>
            <a:off x="1316736" y="2062501"/>
            <a:ext cx="4224528" cy="3877586"/>
          </a:xfrm>
          <a:prstGeom prst="rect">
            <a:avLst/>
          </a:prstGeom>
        </p:spPr>
      </p:pic>
      <p:pic>
        <p:nvPicPr>
          <p:cNvPr id="35" name="内容占位符 3" descr="墙上的钟表&#10;&#10;AI 生成的内容可能不正确。">
            <a:extLst>
              <a:ext uri="{FF2B5EF4-FFF2-40B4-BE49-F238E27FC236}">
                <a16:creationId xmlns:a16="http://schemas.microsoft.com/office/drawing/2014/main" id="{73E91812-AE44-BBC9-63AD-83889DFF41C0}"/>
              </a:ext>
            </a:extLst>
          </p:cNvPr>
          <p:cNvPicPr>
            <a:picLocks noGrp="1" noChangeAspect="1"/>
          </p:cNvPicPr>
          <p:nvPr>
            <p:ph sz="half" idx="2"/>
          </p:nvPr>
        </p:nvPicPr>
        <p:blipFill>
          <a:blip r:embed="rId3"/>
          <a:stretch>
            <a:fillRect/>
          </a:stretch>
        </p:blipFill>
        <p:spPr>
          <a:xfrm>
            <a:off x="6467548" y="2211388"/>
            <a:ext cx="4590904" cy="3579812"/>
          </a:xfrm>
          <a:prstGeom prst="rect">
            <a:avLst/>
          </a:prstGeom>
          <a:noFill/>
        </p:spPr>
      </p:pic>
    </p:spTree>
    <p:extLst>
      <p:ext uri="{BB962C8B-B14F-4D97-AF65-F5344CB8AC3E}">
        <p14:creationId xmlns:p14="http://schemas.microsoft.com/office/powerpoint/2010/main" val="3782879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11EF06-32C8-4DB1-C10B-1E9643FF9A3C}"/>
              </a:ext>
            </a:extLst>
          </p:cNvPr>
          <p:cNvSpPr>
            <a:spLocks noGrp="1"/>
          </p:cNvSpPr>
          <p:nvPr>
            <p:ph type="title"/>
          </p:nvPr>
        </p:nvSpPr>
        <p:spPr/>
        <p:txBody>
          <a:bodyPr>
            <a:normAutofit/>
          </a:bodyPr>
          <a:lstStyle/>
          <a:p>
            <a:r>
              <a:rPr lang="zh-CN" altLang="en-US" dirty="0"/>
              <a:t>某电源的路端电压与电流的关系图像，下列结论正确的是（     ）</a:t>
            </a:r>
            <a:endParaRPr lang="en-US" dirty="0"/>
          </a:p>
        </p:txBody>
      </p:sp>
      <p:sp>
        <p:nvSpPr>
          <p:cNvPr id="3" name="内容占位符 2">
            <a:extLst>
              <a:ext uri="{FF2B5EF4-FFF2-40B4-BE49-F238E27FC236}">
                <a16:creationId xmlns:a16="http://schemas.microsoft.com/office/drawing/2014/main" id="{D57DE420-8BAF-0250-761A-FE6E9F1CA065}"/>
              </a:ext>
            </a:extLst>
          </p:cNvPr>
          <p:cNvSpPr>
            <a:spLocks noGrp="1"/>
          </p:cNvSpPr>
          <p:nvPr>
            <p:ph idx="1"/>
          </p:nvPr>
        </p:nvSpPr>
        <p:spPr/>
        <p:txBody>
          <a:bodyPr/>
          <a:lstStyle/>
          <a:p>
            <a:pPr marL="0" indent="0">
              <a:buNone/>
            </a:pPr>
            <a:r>
              <a:rPr lang="en-US" altLang="zh-CN" dirty="0"/>
              <a:t>A. </a:t>
            </a:r>
            <a:r>
              <a:rPr lang="zh-CN" altLang="en-US" dirty="0"/>
              <a:t>电源的电动势为</a:t>
            </a:r>
            <a:r>
              <a:rPr lang="en-US" altLang="zh-CN" dirty="0"/>
              <a:t>6.0V</a:t>
            </a:r>
          </a:p>
          <a:p>
            <a:pPr marL="0" indent="0">
              <a:buNone/>
            </a:pPr>
            <a:r>
              <a:rPr lang="en-US" altLang="zh-CN" dirty="0"/>
              <a:t>B. </a:t>
            </a:r>
            <a:r>
              <a:rPr lang="zh-CN" altLang="en-US" dirty="0"/>
              <a:t>电源的内阻为</a:t>
            </a:r>
            <a:r>
              <a:rPr lang="en-US" altLang="zh-CN" dirty="0"/>
              <a:t>12</a:t>
            </a:r>
            <a:r>
              <a:rPr lang="zh-CN" altLang="en-US" dirty="0"/>
              <a:t>𝛺</a:t>
            </a:r>
          </a:p>
          <a:p>
            <a:pPr marL="0" indent="0">
              <a:buNone/>
            </a:pPr>
            <a:r>
              <a:rPr lang="en-US" altLang="zh-CN" dirty="0"/>
              <a:t>C. </a:t>
            </a:r>
            <a:r>
              <a:rPr lang="zh-CN" altLang="en-US" dirty="0"/>
              <a:t>电源的短路电流为</a:t>
            </a:r>
            <a:r>
              <a:rPr lang="en-US" altLang="zh-CN" dirty="0"/>
              <a:t>0.5A</a:t>
            </a:r>
          </a:p>
          <a:p>
            <a:pPr marL="0" indent="0">
              <a:buNone/>
            </a:pPr>
            <a:r>
              <a:rPr lang="en-US" altLang="zh-CN" dirty="0"/>
              <a:t>D. </a:t>
            </a:r>
            <a:r>
              <a:rPr lang="zh-CN" altLang="en-US" dirty="0"/>
              <a:t>电流为</a:t>
            </a:r>
            <a:r>
              <a:rPr lang="en-US" altLang="zh-CN" dirty="0"/>
              <a:t>0.3A</a:t>
            </a:r>
            <a:r>
              <a:rPr lang="zh-CN" altLang="en-US" dirty="0"/>
              <a:t>时外电阻是</a:t>
            </a:r>
            <a:r>
              <a:rPr lang="en-US" altLang="zh-CN" dirty="0"/>
              <a:t>1.8</a:t>
            </a:r>
            <a:r>
              <a:rPr lang="zh-CN" altLang="en-US" dirty="0"/>
              <a:t>𝛺</a:t>
            </a:r>
          </a:p>
          <a:p>
            <a:pPr marL="0" indent="0">
              <a:buNone/>
            </a:pPr>
            <a:endParaRPr lang="en-US" dirty="0"/>
          </a:p>
        </p:txBody>
      </p:sp>
      <p:pic>
        <p:nvPicPr>
          <p:cNvPr id="4" name="图片 3">
            <a:extLst>
              <a:ext uri="{FF2B5EF4-FFF2-40B4-BE49-F238E27FC236}">
                <a16:creationId xmlns:a16="http://schemas.microsoft.com/office/drawing/2014/main" id="{18CEB7A6-85BD-EB3E-92D6-C394C6ED611D}"/>
              </a:ext>
            </a:extLst>
          </p:cNvPr>
          <p:cNvPicPr>
            <a:picLocks noChangeAspect="1"/>
          </p:cNvPicPr>
          <p:nvPr/>
        </p:nvPicPr>
        <p:blipFill>
          <a:blip r:embed="rId2">
            <a:lum bright="12000" contrast="6000"/>
          </a:blip>
          <a:stretch>
            <a:fillRect/>
          </a:stretch>
        </p:blipFill>
        <p:spPr>
          <a:xfrm>
            <a:off x="6096001" y="1825625"/>
            <a:ext cx="5257800" cy="4036518"/>
          </a:xfrm>
          <a:prstGeom prst="rect">
            <a:avLst/>
          </a:prstGeom>
        </p:spPr>
      </p:pic>
    </p:spTree>
    <p:extLst>
      <p:ext uri="{BB962C8B-B14F-4D97-AF65-F5344CB8AC3E}">
        <p14:creationId xmlns:p14="http://schemas.microsoft.com/office/powerpoint/2010/main" val="3660475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F99310-3C1E-F5B6-E98F-E01F8638DEAE}"/>
              </a:ext>
            </a:extLst>
          </p:cNvPr>
          <p:cNvSpPr>
            <a:spLocks noGrp="1"/>
          </p:cNvSpPr>
          <p:nvPr>
            <p:ph type="title"/>
          </p:nvPr>
        </p:nvSpPr>
        <p:spPr>
          <a:xfrm>
            <a:off x="838200" y="365125"/>
            <a:ext cx="10515600" cy="1325563"/>
          </a:xfrm>
        </p:spPr>
        <p:txBody>
          <a:bodyPr anchor="ctr">
            <a:normAutofit/>
          </a:bodyPr>
          <a:lstStyle/>
          <a:p>
            <a:r>
              <a:rPr kumimoji="1" lang="zh-CN" altLang="en-US" sz="3600" dirty="0"/>
              <a:t>利用所学知识，设计一个可以测量电阻的仪器</a:t>
            </a:r>
          </a:p>
        </p:txBody>
      </p:sp>
      <p:pic>
        <p:nvPicPr>
          <p:cNvPr id="5" name="内容占位符 69" descr="手机屏幕的截图&#10;&#10;AI 生成的内容可能不正确。">
            <a:extLst>
              <a:ext uri="{FF2B5EF4-FFF2-40B4-BE49-F238E27FC236}">
                <a16:creationId xmlns:a16="http://schemas.microsoft.com/office/drawing/2014/main" id="{A9D83FEB-55D5-1D01-4BE9-80AEC6FB12CF}"/>
              </a:ext>
            </a:extLst>
          </p:cNvPr>
          <p:cNvPicPr>
            <a:picLocks noGrp="1" noChangeAspect="1"/>
          </p:cNvPicPr>
          <p:nvPr>
            <p:ph idx="1"/>
          </p:nvPr>
        </p:nvPicPr>
        <p:blipFill>
          <a:blip r:embed="rId2"/>
          <a:stretch>
            <a:fillRect/>
          </a:stretch>
        </p:blipFill>
        <p:spPr>
          <a:xfrm>
            <a:off x="2047604" y="1825625"/>
            <a:ext cx="8096791" cy="4351338"/>
          </a:xfrm>
          <a:prstGeom prst="rect">
            <a:avLst/>
          </a:prstGeom>
          <a:noFill/>
        </p:spPr>
      </p:pic>
    </p:spTree>
    <p:extLst>
      <p:ext uri="{BB962C8B-B14F-4D97-AF65-F5344CB8AC3E}">
        <p14:creationId xmlns:p14="http://schemas.microsoft.com/office/powerpoint/2010/main" val="2367205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YT"/>
        <p:cNvGrpSpPr/>
        <p:nvPr/>
      </p:nvGrpSpPr>
      <p:grpSpPr>
        <a:xfrm>
          <a:off x="0" y="0"/>
          <a:ext cx="0" cy="0"/>
          <a:chOff x="0" y="0"/>
          <a:chExt cx="0" cy="0"/>
        </a:xfrm>
      </p:grpSpPr>
      <p:sp>
        <p:nvSpPr>
          <p:cNvPr id="15354" name="yt_shape_15354"/>
          <p:cNvSpPr txBox="1"/>
          <p:nvPr/>
        </p:nvSpPr>
        <p:spPr>
          <a:xfrm>
            <a:off x="4928734" y="467999"/>
            <a:ext cx="2225353" cy="536557"/>
          </a:xfrm>
          <a:prstGeom prst="rect">
            <a:avLst/>
          </a:prstGeom>
        </p:spPr>
        <p:txBody>
          <a:bodyPr vert="horz" wrap="none" lIns="0" tIns="0" rIns="0" bIns="0" rtlCol="0">
            <a:noAutofit/>
          </a:bodyPr>
          <a:lstStyle/>
          <a:p>
            <a:pPr algn="l" eaLnBrk="1" latinLnBrk="0" hangingPunct="0">
              <a:lnSpc>
                <a:spcPct val="140000"/>
              </a:lnSpc>
            </a:pPr>
            <a:r>
              <a:rPr lang="en-US" altLang="zh-CN" sz="2800" b="0" i="0" u="none" spc="16653">
                <a:solidFill>
                  <a:srgbClr val="1EE3CF"/>
                </a:solidFill>
                <a:effectLst/>
                <a:latin typeface="Times New Roman" pitchFamily="28"/>
                <a:ea typeface="宋体" pitchFamily="28"/>
              </a:rPr>
              <a:t> </a:t>
            </a:r>
          </a:p>
        </p:txBody>
      </p:sp>
      <p:sp>
        <p:nvSpPr>
          <p:cNvPr id="15356" name="yt_shape_15356"/>
          <p:cNvSpPr txBox="1"/>
          <p:nvPr/>
        </p:nvSpPr>
        <p:spPr>
          <a:xfrm>
            <a:off x="133543" y="1042309"/>
            <a:ext cx="11924914" cy="1216551"/>
          </a:xfrm>
          <a:prstGeom prst="rect">
            <a:avLst/>
          </a:prstGeom>
        </p:spPr>
        <p:txBody>
          <a:bodyPr vert="horz" wrap="square" lIns="0" tIns="0" rIns="0" bIns="0" rtlCol="0">
            <a:noAutofit/>
          </a:bodyPr>
          <a:lstStyle/>
          <a:p>
            <a:pPr marL="475615" indent="-475555" algn="l" eaLnBrk="1" latinLnBrk="0" hangingPunct="0">
              <a:lnSpc>
                <a:spcPct val="140000"/>
              </a:lnSpc>
            </a:pPr>
            <a:r>
              <a:rPr lang="en-US" altLang="zh-CN" sz="3000" b="0" i="0" u="none" dirty="0">
                <a:solidFill>
                  <a:srgbClr val="000000"/>
                </a:solidFill>
                <a:effectLst/>
                <a:latin typeface="Times New Roman" pitchFamily="30"/>
                <a:ea typeface="宋体" pitchFamily="30"/>
              </a:rPr>
              <a:t>	</a:t>
            </a:r>
            <a:r>
              <a:rPr lang="zh-CN" altLang="zh-CN" sz="3000" b="0" i="0" u="none" dirty="0">
                <a:solidFill>
                  <a:srgbClr val="000000"/>
                </a:solidFill>
                <a:effectLst/>
                <a:latin typeface="Times New Roman" pitchFamily="30"/>
                <a:ea typeface="宋体" pitchFamily="30"/>
              </a:rPr>
              <a:t>一个电流表的满偏电流</a:t>
            </a:r>
            <a:r>
              <a:rPr lang="en-US" altLang="zh-CN" sz="3000" b="0" i="1" u="none" dirty="0">
                <a:solidFill>
                  <a:srgbClr val="000000"/>
                </a:solidFill>
                <a:effectLst/>
                <a:latin typeface="Times New Roman" pitchFamily="30"/>
                <a:ea typeface="宋体" pitchFamily="30"/>
              </a:rPr>
              <a:t>I</a:t>
            </a:r>
            <a:r>
              <a:rPr lang="en-US" altLang="zh-CN" sz="3000" b="0" i="0" u="none" baseline="-25000" dirty="0">
                <a:solidFill>
                  <a:srgbClr val="000000"/>
                </a:solidFill>
                <a:effectLst/>
                <a:latin typeface="Times New Roman" pitchFamily="30"/>
                <a:ea typeface="宋体" pitchFamily="30"/>
              </a:rPr>
              <a:t>g</a:t>
            </a:r>
            <a:r>
              <a:rPr lang="zh-CN" altLang="zh-CN" sz="3000" b="0" i="0" u="none" dirty="0">
                <a:solidFill>
                  <a:srgbClr val="000000"/>
                </a:solidFill>
                <a:effectLst/>
                <a:latin typeface="宋体" pitchFamily="30"/>
                <a:ea typeface="宋体" pitchFamily="30"/>
              </a:rPr>
              <a:t>＝</a:t>
            </a:r>
            <a:r>
              <a:rPr lang="en-US" altLang="zh-CN" sz="3000" b="0" i="0" u="none" dirty="0">
                <a:solidFill>
                  <a:srgbClr val="000000"/>
                </a:solidFill>
                <a:effectLst/>
                <a:latin typeface="Times New Roman" pitchFamily="30"/>
                <a:ea typeface="宋体" pitchFamily="30"/>
              </a:rPr>
              <a:t>1</a:t>
            </a:r>
            <a:r>
              <a:rPr lang="zh-CN" altLang="zh-CN" sz="3000" b="0" i="0" u="none" dirty="0">
                <a:solidFill>
                  <a:srgbClr val="000000"/>
                </a:solidFill>
                <a:effectLst/>
                <a:latin typeface="Times New Roman" pitchFamily="30"/>
                <a:ea typeface="宋体" pitchFamily="30"/>
              </a:rPr>
              <a:t> </a:t>
            </a:r>
            <a:r>
              <a:rPr lang="en-US" altLang="zh-CN" sz="3000" b="0" i="0" u="none" dirty="0">
                <a:solidFill>
                  <a:srgbClr val="000000"/>
                </a:solidFill>
                <a:effectLst/>
                <a:latin typeface="Times New Roman" pitchFamily="30"/>
                <a:ea typeface="宋体" pitchFamily="30"/>
              </a:rPr>
              <a:t>mA</a:t>
            </a:r>
            <a:r>
              <a:rPr lang="zh-CN" altLang="zh-CN" sz="3000" b="0" i="0" u="none" dirty="0">
                <a:solidFill>
                  <a:srgbClr val="000000"/>
                </a:solidFill>
                <a:effectLst/>
                <a:latin typeface="宋体" pitchFamily="30"/>
                <a:ea typeface="宋体" pitchFamily="30"/>
              </a:rPr>
              <a:t>，</a:t>
            </a:r>
            <a:r>
              <a:rPr lang="zh-CN" altLang="zh-CN" sz="3000" b="0" i="0" u="none" dirty="0">
                <a:solidFill>
                  <a:srgbClr val="000000"/>
                </a:solidFill>
                <a:effectLst/>
                <a:latin typeface="Times New Roman" pitchFamily="30"/>
                <a:ea typeface="宋体" pitchFamily="30"/>
              </a:rPr>
              <a:t>内阻</a:t>
            </a:r>
            <a:r>
              <a:rPr lang="en-US" altLang="zh-CN" sz="3000" b="0" i="1" u="none" dirty="0" err="1">
                <a:solidFill>
                  <a:srgbClr val="000000"/>
                </a:solidFill>
                <a:effectLst/>
                <a:latin typeface="Times New Roman" pitchFamily="30"/>
                <a:ea typeface="宋体" pitchFamily="30"/>
              </a:rPr>
              <a:t>R</a:t>
            </a:r>
            <a:r>
              <a:rPr lang="en-US" altLang="zh-CN" sz="3000" b="0" i="0" u="none" baseline="-25000" dirty="0" err="1">
                <a:solidFill>
                  <a:srgbClr val="000000"/>
                </a:solidFill>
                <a:effectLst/>
                <a:latin typeface="Times New Roman" pitchFamily="30"/>
                <a:ea typeface="宋体" pitchFamily="30"/>
              </a:rPr>
              <a:t>g</a:t>
            </a:r>
            <a:r>
              <a:rPr lang="zh-CN" altLang="zh-CN" sz="3000" b="0" i="0" u="none" dirty="0">
                <a:solidFill>
                  <a:srgbClr val="000000"/>
                </a:solidFill>
                <a:effectLst/>
                <a:latin typeface="宋体" pitchFamily="30"/>
                <a:ea typeface="宋体" pitchFamily="30"/>
              </a:rPr>
              <a:t>＝</a:t>
            </a:r>
            <a:r>
              <a:rPr lang="en-US" altLang="zh-CN" sz="3000" b="0" i="0" u="none" dirty="0">
                <a:solidFill>
                  <a:srgbClr val="000000"/>
                </a:solidFill>
                <a:effectLst/>
                <a:latin typeface="Times New Roman" pitchFamily="30"/>
                <a:ea typeface="宋体" pitchFamily="30"/>
              </a:rPr>
              <a:t>500</a:t>
            </a:r>
            <a:r>
              <a:rPr lang="zh-CN" altLang="zh-CN" sz="3000" b="0" i="0" u="none" dirty="0">
                <a:solidFill>
                  <a:srgbClr val="000000"/>
                </a:solidFill>
                <a:effectLst/>
                <a:latin typeface="Times New Roman" pitchFamily="30"/>
                <a:ea typeface="宋体" pitchFamily="30"/>
              </a:rPr>
              <a:t> </a:t>
            </a:r>
            <a:r>
              <a:rPr lang="en-US" altLang="zh-CN" sz="3000" b="0" i="0" u="none" dirty="0" err="1">
                <a:solidFill>
                  <a:srgbClr val="000000"/>
                </a:solidFill>
                <a:effectLst/>
                <a:latin typeface="Times New Roman" pitchFamily="30"/>
                <a:ea typeface="宋体" pitchFamily="30"/>
              </a:rPr>
              <a:t>Ω</a:t>
            </a:r>
            <a:r>
              <a:rPr lang="zh-CN" altLang="zh-CN" sz="3000" b="0" i="0" u="none" dirty="0">
                <a:solidFill>
                  <a:srgbClr val="000000"/>
                </a:solidFill>
                <a:effectLst/>
                <a:latin typeface="宋体" pitchFamily="30"/>
                <a:ea typeface="宋体" pitchFamily="30"/>
              </a:rPr>
              <a:t>，</a:t>
            </a:r>
            <a:r>
              <a:rPr lang="zh-CN" altLang="zh-CN" sz="3000" b="0" i="0" u="none" dirty="0">
                <a:solidFill>
                  <a:srgbClr val="000000"/>
                </a:solidFill>
                <a:effectLst/>
                <a:latin typeface="Times New Roman" pitchFamily="30"/>
                <a:ea typeface="宋体" pitchFamily="30"/>
                <a:sym typeface="_⨹_6_ab360"/>
              </a:rPr>
              <a:t>要把它改装成</a:t>
            </a:r>
            <a:r>
              <a:rPr lang="zh-CN" altLang="zh-CN" sz="3000" b="0" i="0" u="none" dirty="0">
                <a:solidFill>
                  <a:srgbClr val="000000"/>
                </a:solidFill>
                <a:effectLst/>
                <a:latin typeface="Times New Roman" pitchFamily="30"/>
                <a:ea typeface="宋体" pitchFamily="30"/>
              </a:rPr>
              <a:t>一个量程为</a:t>
            </a:r>
            <a:r>
              <a:rPr lang="en-US" altLang="zh-CN" sz="3000" b="0" i="0" u="none" dirty="0">
                <a:solidFill>
                  <a:srgbClr val="000000"/>
                </a:solidFill>
                <a:effectLst/>
                <a:latin typeface="Times New Roman" pitchFamily="30"/>
                <a:ea typeface="宋体" pitchFamily="30"/>
              </a:rPr>
              <a:t>10</a:t>
            </a:r>
            <a:r>
              <a:rPr lang="zh-CN" altLang="zh-CN" sz="3000" b="0" i="0" u="none" dirty="0">
                <a:solidFill>
                  <a:srgbClr val="000000"/>
                </a:solidFill>
                <a:effectLst/>
                <a:latin typeface="Times New Roman" pitchFamily="30"/>
                <a:ea typeface="宋体" pitchFamily="30"/>
              </a:rPr>
              <a:t> </a:t>
            </a:r>
            <a:r>
              <a:rPr lang="en-US" altLang="zh-CN" sz="3000" b="0" i="0" u="none" dirty="0">
                <a:solidFill>
                  <a:srgbClr val="000000"/>
                </a:solidFill>
                <a:effectLst/>
                <a:latin typeface="Times New Roman" pitchFamily="30"/>
                <a:ea typeface="宋体" pitchFamily="30"/>
              </a:rPr>
              <a:t>V</a:t>
            </a:r>
            <a:r>
              <a:rPr lang="zh-CN" altLang="zh-CN" sz="3000" b="0" i="0" u="none" dirty="0">
                <a:solidFill>
                  <a:srgbClr val="000000"/>
                </a:solidFill>
                <a:effectLst/>
                <a:latin typeface="Times New Roman" pitchFamily="30"/>
                <a:ea typeface="宋体" pitchFamily="30"/>
              </a:rPr>
              <a:t>的电压表</a:t>
            </a:r>
            <a:r>
              <a:rPr lang="zh-CN" altLang="zh-CN" sz="3000" b="0" i="0" u="none" dirty="0">
                <a:solidFill>
                  <a:srgbClr val="000000"/>
                </a:solidFill>
                <a:effectLst/>
                <a:latin typeface="宋体" pitchFamily="30"/>
                <a:ea typeface="宋体" pitchFamily="30"/>
              </a:rPr>
              <a:t>，</a:t>
            </a:r>
            <a:r>
              <a:rPr lang="zh-CN" altLang="zh-CN" sz="3000" b="0" i="0" u="none" dirty="0">
                <a:solidFill>
                  <a:srgbClr val="000000"/>
                </a:solidFill>
                <a:effectLst/>
                <a:latin typeface="Times New Roman" pitchFamily="30"/>
                <a:ea typeface="宋体" pitchFamily="30"/>
              </a:rPr>
              <a:t>则应在电流表上</a:t>
            </a:r>
            <a:r>
              <a:rPr lang="zh-CN" altLang="zh-CN" sz="3000" b="0" i="0" u="none" dirty="0">
                <a:solidFill>
                  <a:srgbClr val="000000"/>
                </a:solidFill>
                <a:effectLst/>
                <a:latin typeface="宋体" pitchFamily="30"/>
                <a:ea typeface="宋体" pitchFamily="30"/>
              </a:rPr>
              <a:t>（</a:t>
            </a:r>
            <a:r>
              <a:rPr lang="zh-CN" altLang="zh-CN" sz="3000" b="0" i="1" u="none" dirty="0">
                <a:solidFill>
                  <a:srgbClr val="000000"/>
                </a:solidFill>
                <a:effectLst/>
                <a:latin typeface="Times New Roman" pitchFamily="30"/>
                <a:ea typeface="宋体" pitchFamily="30"/>
              </a:rPr>
              <a:t>　　</a:t>
            </a:r>
            <a:r>
              <a:rPr lang="zh-CN" altLang="zh-CN" sz="3000" b="0" i="0" u="none" dirty="0">
                <a:solidFill>
                  <a:srgbClr val="000000"/>
                </a:solidFill>
                <a:effectLst/>
                <a:latin typeface="宋体" pitchFamily="30"/>
                <a:ea typeface="宋体" pitchFamily="30"/>
              </a:rPr>
              <a:t>）</a:t>
            </a:r>
          </a:p>
        </p:txBody>
      </p:sp>
      <p:graphicFrame>
        <p:nvGraphicFramePr>
          <p:cNvPr id="15357" name="yt_table_15357" title="H_201.6">
            <a:extLst>
              <a:ext uri="{FF2B5EF4-FFF2-40B4-BE49-F238E27FC236}">
                <a16:creationId xmlns:a16="http://schemas.microsoft.com/office/drawing/2014/main" id="{85F9CD91-DE56-4981-AD6D-3D4292DC4A24}"/>
              </a:ext>
            </a:extLst>
          </p:cNvPr>
          <p:cNvGraphicFramePr>
            <a:graphicFrameLocks noGrp="1"/>
          </p:cNvGraphicFramePr>
          <p:nvPr/>
        </p:nvGraphicFramePr>
        <p:xfrm>
          <a:off x="799686" y="2411408"/>
          <a:ext cx="4970463" cy="2560320"/>
        </p:xfrm>
        <a:graphic>
          <a:graphicData uri="http://schemas.openxmlformats.org/drawingml/2006/table">
            <a:tbl>
              <a:tblPr/>
              <a:tblGrid>
                <a:gridCol w="4970463">
                  <a:extLst>
                    <a:ext uri="{9D8B030D-6E8A-4147-A177-3AD203B41FA5}">
                      <a16:colId xmlns:a16="http://schemas.microsoft.com/office/drawing/2014/main" val="10483"/>
                    </a:ext>
                  </a:extLst>
                </a:gridCol>
              </a:tblGrid>
              <a:tr h="370840">
                <a:tc>
                  <a:txBody>
                    <a:bodyPr/>
                    <a:lstStyle/>
                    <a:p>
                      <a:pPr marL="560634" indent="-560634" algn="l" eaLnBrk="1" fontAlgn="ctr" latinLnBrk="0" hangingPunct="0">
                        <a:lnSpc>
                          <a:spcPct val="140000"/>
                        </a:lnSpc>
                      </a:pPr>
                      <a:r>
                        <a:rPr lang="en-US" altLang="zh-CN" sz="3000" b="0" i="0" u="none">
                          <a:solidFill>
                            <a:srgbClr val="000000"/>
                          </a:solidFill>
                          <a:effectLst/>
                          <a:latin typeface="Times New Roman" pitchFamily="30"/>
                          <a:ea typeface="宋体" pitchFamily="30"/>
                        </a:rPr>
                        <a:t>A</a:t>
                      </a:r>
                      <a:r>
                        <a:rPr lang="en-US" altLang="zh-CN" sz="3000" b="0" i="0" u="none">
                          <a:solidFill>
                            <a:srgbClr val="000000"/>
                          </a:solidFill>
                          <a:effectLst/>
                          <a:latin typeface="宋体" pitchFamily="30"/>
                          <a:ea typeface="宋体" pitchFamily="30"/>
                        </a:rPr>
                        <a:t>.</a:t>
                      </a:r>
                      <a:r>
                        <a:rPr lang="en-US" altLang="zh-CN" sz="3000" b="0" i="0" u="none">
                          <a:solidFill>
                            <a:srgbClr val="000000"/>
                          </a:solidFill>
                          <a:effectLst/>
                          <a:latin typeface="Times New Roman" pitchFamily="30"/>
                          <a:ea typeface="宋体" pitchFamily="30"/>
                        </a:rPr>
                        <a:t> </a:t>
                      </a:r>
                      <a:r>
                        <a:rPr lang="zh-CN" altLang="zh-CN" sz="3000" b="0" i="0" u="none">
                          <a:solidFill>
                            <a:srgbClr val="000000"/>
                          </a:solidFill>
                          <a:effectLst/>
                          <a:latin typeface="Times New Roman" pitchFamily="30"/>
                          <a:ea typeface="宋体" pitchFamily="30"/>
                        </a:rPr>
                        <a:t>串联一个</a:t>
                      </a:r>
                      <a:r>
                        <a:rPr lang="en-US" altLang="zh-CN" sz="3000" b="0" i="0" u="none">
                          <a:solidFill>
                            <a:srgbClr val="000000"/>
                          </a:solidFill>
                          <a:effectLst/>
                          <a:latin typeface="Times New Roman" pitchFamily="30"/>
                          <a:ea typeface="宋体" pitchFamily="30"/>
                        </a:rPr>
                        <a:t>10</a:t>
                      </a:r>
                      <a:r>
                        <a:rPr lang="zh-CN" altLang="zh-CN" sz="3000" b="0" i="0" u="none">
                          <a:solidFill>
                            <a:srgbClr val="000000"/>
                          </a:solidFill>
                          <a:effectLst/>
                          <a:latin typeface="Times New Roman" pitchFamily="30"/>
                          <a:ea typeface="宋体" pitchFamily="30"/>
                        </a:rPr>
                        <a:t> </a:t>
                      </a:r>
                      <a:r>
                        <a:rPr lang="en-US" altLang="zh-CN" sz="3000" b="0" i="0" u="none">
                          <a:solidFill>
                            <a:srgbClr val="000000"/>
                          </a:solidFill>
                          <a:effectLst/>
                          <a:latin typeface="Times New Roman" pitchFamily="30"/>
                          <a:ea typeface="宋体" pitchFamily="30"/>
                        </a:rPr>
                        <a:t>kΩ</a:t>
                      </a:r>
                      <a:r>
                        <a:rPr lang="zh-CN" altLang="zh-CN" sz="3000" b="0" i="0" u="none">
                          <a:solidFill>
                            <a:srgbClr val="000000"/>
                          </a:solidFill>
                          <a:effectLst/>
                          <a:latin typeface="Times New Roman" pitchFamily="30"/>
                          <a:ea typeface="宋体" pitchFamily="30"/>
                        </a:rPr>
                        <a:t>的电阻</a:t>
                      </a:r>
                    </a:p>
                  </a:txBody>
                  <a:tcPr marL="0" marR="0" marT="0" marB="0" anchor="ctr">
                    <a:lnL w="9522" cmpd="sng">
                      <a:noFill/>
                    </a:lnL>
                    <a:lnR w="9522" cmpd="sng">
                      <a:noFill/>
                    </a:lnR>
                    <a:lnT w="9522" cmpd="sng">
                      <a:noFill/>
                    </a:lnT>
                    <a:lnB w="9522" cmpd="sng">
                      <a:noFill/>
                    </a:lnB>
                  </a:tcPr>
                </a:tc>
                <a:extLst>
                  <a:ext uri="{0D108BD9-81ED-4DB2-BD59-A6C34878D82A}">
                    <a16:rowId xmlns:a16="http://schemas.microsoft.com/office/drawing/2014/main" val="11372"/>
                  </a:ext>
                </a:extLst>
              </a:tr>
              <a:tr h="370840">
                <a:tc>
                  <a:txBody>
                    <a:bodyPr/>
                    <a:lstStyle/>
                    <a:p>
                      <a:pPr marL="539682" indent="-539682" algn="l" eaLnBrk="1" fontAlgn="ctr" latinLnBrk="0" hangingPunct="0">
                        <a:lnSpc>
                          <a:spcPct val="140000"/>
                        </a:lnSpc>
                      </a:pPr>
                      <a:r>
                        <a:rPr lang="en-US" altLang="zh-CN" sz="3000" b="0" i="0" u="none" dirty="0">
                          <a:solidFill>
                            <a:srgbClr val="000000"/>
                          </a:solidFill>
                          <a:effectLst/>
                          <a:latin typeface="Times New Roman" pitchFamily="30"/>
                          <a:ea typeface="宋体" pitchFamily="30"/>
                        </a:rPr>
                        <a:t>B</a:t>
                      </a:r>
                      <a:r>
                        <a:rPr lang="en-US" altLang="zh-CN" sz="3000" b="0" i="0" u="none" dirty="0">
                          <a:solidFill>
                            <a:srgbClr val="000000"/>
                          </a:solidFill>
                          <a:effectLst/>
                          <a:latin typeface="宋体" pitchFamily="30"/>
                          <a:ea typeface="宋体" pitchFamily="30"/>
                        </a:rPr>
                        <a:t>.</a:t>
                      </a:r>
                      <a:r>
                        <a:rPr lang="en-US" altLang="zh-CN" sz="3000" b="0" i="0" u="none" dirty="0">
                          <a:solidFill>
                            <a:srgbClr val="000000"/>
                          </a:solidFill>
                          <a:effectLst/>
                          <a:latin typeface="Times New Roman" pitchFamily="30"/>
                          <a:ea typeface="宋体" pitchFamily="30"/>
                        </a:rPr>
                        <a:t> </a:t>
                      </a:r>
                      <a:r>
                        <a:rPr lang="zh-CN" altLang="zh-CN" sz="3000" b="0" i="0" u="none" dirty="0">
                          <a:solidFill>
                            <a:srgbClr val="000000"/>
                          </a:solidFill>
                          <a:effectLst/>
                          <a:latin typeface="Times New Roman" pitchFamily="30"/>
                          <a:ea typeface="宋体" pitchFamily="30"/>
                        </a:rPr>
                        <a:t>并联一个</a:t>
                      </a:r>
                      <a:r>
                        <a:rPr lang="en-US" altLang="zh-CN" sz="3000" b="0" i="0" u="none" dirty="0">
                          <a:solidFill>
                            <a:srgbClr val="000000"/>
                          </a:solidFill>
                          <a:effectLst/>
                          <a:latin typeface="Times New Roman" pitchFamily="30"/>
                          <a:ea typeface="宋体" pitchFamily="30"/>
                        </a:rPr>
                        <a:t>10</a:t>
                      </a:r>
                      <a:r>
                        <a:rPr lang="zh-CN" altLang="zh-CN" sz="3000" b="0" i="0" u="none" dirty="0">
                          <a:solidFill>
                            <a:srgbClr val="000000"/>
                          </a:solidFill>
                          <a:effectLst/>
                          <a:latin typeface="Times New Roman" pitchFamily="30"/>
                          <a:ea typeface="宋体" pitchFamily="30"/>
                        </a:rPr>
                        <a:t> </a:t>
                      </a:r>
                      <a:r>
                        <a:rPr lang="en-US" altLang="zh-CN" sz="3000" b="0" i="0" u="none" dirty="0" err="1">
                          <a:solidFill>
                            <a:srgbClr val="000000"/>
                          </a:solidFill>
                          <a:effectLst/>
                          <a:latin typeface="Times New Roman" pitchFamily="30"/>
                          <a:ea typeface="宋体" pitchFamily="30"/>
                        </a:rPr>
                        <a:t>kΩ</a:t>
                      </a:r>
                      <a:r>
                        <a:rPr lang="zh-CN" altLang="zh-CN" sz="3000" b="0" i="0" u="none" dirty="0">
                          <a:solidFill>
                            <a:srgbClr val="000000"/>
                          </a:solidFill>
                          <a:effectLst/>
                          <a:latin typeface="Times New Roman" pitchFamily="30"/>
                          <a:ea typeface="宋体" pitchFamily="30"/>
                        </a:rPr>
                        <a:t>的电阻</a:t>
                      </a:r>
                    </a:p>
                  </a:txBody>
                  <a:tcPr marL="0" marR="0" marT="0" marB="0" anchor="ctr">
                    <a:lnL w="9522" cmpd="sng">
                      <a:noFill/>
                    </a:lnL>
                    <a:lnR w="9522" cmpd="sng">
                      <a:noFill/>
                    </a:lnR>
                    <a:lnT w="9522" cmpd="sng">
                      <a:noFill/>
                    </a:lnT>
                    <a:lnB w="9522" cmpd="sng">
                      <a:noFill/>
                    </a:lnB>
                  </a:tcPr>
                </a:tc>
                <a:extLst>
                  <a:ext uri="{0D108BD9-81ED-4DB2-BD59-A6C34878D82A}">
                    <a16:rowId xmlns:a16="http://schemas.microsoft.com/office/drawing/2014/main" val="11373"/>
                  </a:ext>
                </a:extLst>
              </a:tr>
              <a:tr h="370840">
                <a:tc>
                  <a:txBody>
                    <a:bodyPr/>
                    <a:lstStyle/>
                    <a:p>
                      <a:pPr marL="539682" indent="-539682" algn="l" eaLnBrk="1" fontAlgn="ctr" latinLnBrk="0" hangingPunct="0">
                        <a:lnSpc>
                          <a:spcPct val="140000"/>
                        </a:lnSpc>
                      </a:pPr>
                      <a:r>
                        <a:rPr lang="en-US" altLang="zh-CN" sz="3000" b="0" i="0" u="none">
                          <a:solidFill>
                            <a:srgbClr val="000000"/>
                          </a:solidFill>
                          <a:effectLst/>
                          <a:latin typeface="Times New Roman" pitchFamily="30"/>
                          <a:ea typeface="宋体" pitchFamily="30"/>
                        </a:rPr>
                        <a:t>C</a:t>
                      </a:r>
                      <a:r>
                        <a:rPr lang="en-US" altLang="zh-CN" sz="3000" b="0" i="0" u="none">
                          <a:solidFill>
                            <a:srgbClr val="000000"/>
                          </a:solidFill>
                          <a:effectLst/>
                          <a:latin typeface="宋体" pitchFamily="30"/>
                          <a:ea typeface="宋体" pitchFamily="30"/>
                        </a:rPr>
                        <a:t>.</a:t>
                      </a:r>
                      <a:r>
                        <a:rPr lang="en-US" altLang="zh-CN" sz="3000" b="0" i="0" u="none">
                          <a:solidFill>
                            <a:srgbClr val="000000"/>
                          </a:solidFill>
                          <a:effectLst/>
                          <a:latin typeface="Times New Roman" pitchFamily="30"/>
                          <a:ea typeface="宋体" pitchFamily="30"/>
                        </a:rPr>
                        <a:t> </a:t>
                      </a:r>
                      <a:r>
                        <a:rPr lang="zh-CN" altLang="zh-CN" sz="3000" b="0" i="0" u="none">
                          <a:solidFill>
                            <a:srgbClr val="000000"/>
                          </a:solidFill>
                          <a:effectLst/>
                          <a:latin typeface="Times New Roman" pitchFamily="30"/>
                          <a:ea typeface="宋体" pitchFamily="30"/>
                        </a:rPr>
                        <a:t>串联一个</a:t>
                      </a:r>
                      <a:r>
                        <a:rPr lang="en-US" altLang="zh-CN" sz="3000" b="0" i="0" u="none">
                          <a:solidFill>
                            <a:srgbClr val="000000"/>
                          </a:solidFill>
                          <a:effectLst/>
                          <a:latin typeface="Times New Roman" pitchFamily="30"/>
                          <a:ea typeface="宋体" pitchFamily="30"/>
                        </a:rPr>
                        <a:t>9</a:t>
                      </a:r>
                      <a:r>
                        <a:rPr lang="en-US" altLang="zh-CN" sz="3000" b="0" i="0" u="none">
                          <a:solidFill>
                            <a:srgbClr val="000000"/>
                          </a:solidFill>
                          <a:effectLst/>
                          <a:latin typeface="宋体" pitchFamily="30"/>
                          <a:ea typeface="宋体" pitchFamily="30"/>
                        </a:rPr>
                        <a:t>.</a:t>
                      </a:r>
                      <a:r>
                        <a:rPr lang="en-US" altLang="zh-CN" sz="3000" b="0" i="0" u="none">
                          <a:solidFill>
                            <a:srgbClr val="000000"/>
                          </a:solidFill>
                          <a:effectLst/>
                          <a:latin typeface="Times New Roman" pitchFamily="30"/>
                          <a:ea typeface="宋体" pitchFamily="30"/>
                        </a:rPr>
                        <a:t>5</a:t>
                      </a:r>
                      <a:r>
                        <a:rPr lang="zh-CN" altLang="zh-CN" sz="3000" b="0" i="0" u="none">
                          <a:solidFill>
                            <a:srgbClr val="000000"/>
                          </a:solidFill>
                          <a:effectLst/>
                          <a:latin typeface="Times New Roman" pitchFamily="30"/>
                          <a:ea typeface="宋体" pitchFamily="30"/>
                        </a:rPr>
                        <a:t> </a:t>
                      </a:r>
                      <a:r>
                        <a:rPr lang="en-US" altLang="zh-CN" sz="3000" b="0" i="0" u="none">
                          <a:solidFill>
                            <a:srgbClr val="000000"/>
                          </a:solidFill>
                          <a:effectLst/>
                          <a:latin typeface="Times New Roman" pitchFamily="30"/>
                          <a:ea typeface="宋体" pitchFamily="30"/>
                        </a:rPr>
                        <a:t>kΩ</a:t>
                      </a:r>
                      <a:r>
                        <a:rPr lang="zh-CN" altLang="zh-CN" sz="3000" b="0" i="0" u="none">
                          <a:solidFill>
                            <a:srgbClr val="000000"/>
                          </a:solidFill>
                          <a:effectLst/>
                          <a:latin typeface="Times New Roman" pitchFamily="30"/>
                          <a:ea typeface="宋体" pitchFamily="30"/>
                        </a:rPr>
                        <a:t>的电阻</a:t>
                      </a:r>
                    </a:p>
                  </a:txBody>
                  <a:tcPr marL="0" marR="0" marT="0" marB="0" anchor="ctr">
                    <a:lnL w="9522" cmpd="sng">
                      <a:noFill/>
                    </a:lnL>
                    <a:lnR w="9522" cmpd="sng">
                      <a:noFill/>
                    </a:lnR>
                    <a:lnT w="9522" cmpd="sng">
                      <a:noFill/>
                    </a:lnT>
                    <a:lnB w="9522" cmpd="sng">
                      <a:noFill/>
                    </a:lnB>
                  </a:tcPr>
                </a:tc>
                <a:extLst>
                  <a:ext uri="{0D108BD9-81ED-4DB2-BD59-A6C34878D82A}">
                    <a16:rowId xmlns:a16="http://schemas.microsoft.com/office/drawing/2014/main" val="11374"/>
                  </a:ext>
                </a:extLst>
              </a:tr>
              <a:tr h="370840">
                <a:tc>
                  <a:txBody>
                    <a:bodyPr/>
                    <a:lstStyle/>
                    <a:p>
                      <a:pPr marL="560634" indent="-560634" algn="l" eaLnBrk="1" fontAlgn="ctr" latinLnBrk="0" hangingPunct="0">
                        <a:lnSpc>
                          <a:spcPct val="140000"/>
                        </a:lnSpc>
                      </a:pPr>
                      <a:r>
                        <a:rPr lang="en-US" altLang="zh-CN" sz="3000" b="0" i="0" u="none" dirty="0">
                          <a:solidFill>
                            <a:srgbClr val="000000"/>
                          </a:solidFill>
                          <a:effectLst/>
                          <a:latin typeface="Times New Roman" pitchFamily="30"/>
                          <a:ea typeface="宋体" pitchFamily="30"/>
                        </a:rPr>
                        <a:t>D</a:t>
                      </a:r>
                      <a:r>
                        <a:rPr lang="en-US" altLang="zh-CN" sz="3000" b="0" i="0" u="none" dirty="0">
                          <a:solidFill>
                            <a:srgbClr val="000000"/>
                          </a:solidFill>
                          <a:effectLst/>
                          <a:latin typeface="宋体" pitchFamily="30"/>
                          <a:ea typeface="宋体" pitchFamily="30"/>
                        </a:rPr>
                        <a:t>.</a:t>
                      </a:r>
                      <a:r>
                        <a:rPr lang="en-US" altLang="zh-CN" sz="3000" b="0" i="0" u="none" dirty="0">
                          <a:solidFill>
                            <a:srgbClr val="000000"/>
                          </a:solidFill>
                          <a:effectLst/>
                          <a:latin typeface="Times New Roman" pitchFamily="30"/>
                          <a:ea typeface="宋体" pitchFamily="30"/>
                        </a:rPr>
                        <a:t> </a:t>
                      </a:r>
                      <a:r>
                        <a:rPr lang="zh-CN" altLang="zh-CN" sz="3000" b="0" i="0" u="none" dirty="0">
                          <a:solidFill>
                            <a:srgbClr val="000000"/>
                          </a:solidFill>
                          <a:effectLst/>
                          <a:latin typeface="Times New Roman" pitchFamily="30"/>
                          <a:ea typeface="宋体" pitchFamily="30"/>
                        </a:rPr>
                        <a:t>并联一个</a:t>
                      </a:r>
                      <a:r>
                        <a:rPr lang="en-US" altLang="zh-CN" sz="3000" b="0" i="0" u="none" dirty="0">
                          <a:solidFill>
                            <a:srgbClr val="000000"/>
                          </a:solidFill>
                          <a:effectLst/>
                          <a:latin typeface="Times New Roman" pitchFamily="30"/>
                          <a:ea typeface="宋体" pitchFamily="30"/>
                        </a:rPr>
                        <a:t>9</a:t>
                      </a:r>
                      <a:r>
                        <a:rPr lang="en-US" altLang="zh-CN" sz="3000" b="0" i="0" u="none" dirty="0">
                          <a:solidFill>
                            <a:srgbClr val="000000"/>
                          </a:solidFill>
                          <a:effectLst/>
                          <a:latin typeface="宋体" pitchFamily="30"/>
                          <a:ea typeface="宋体" pitchFamily="30"/>
                        </a:rPr>
                        <a:t>.</a:t>
                      </a:r>
                      <a:r>
                        <a:rPr lang="en-US" altLang="zh-CN" sz="3000" b="0" i="0" u="none" dirty="0">
                          <a:solidFill>
                            <a:srgbClr val="000000"/>
                          </a:solidFill>
                          <a:effectLst/>
                          <a:latin typeface="Times New Roman" pitchFamily="30"/>
                          <a:ea typeface="宋体" pitchFamily="30"/>
                        </a:rPr>
                        <a:t>5</a:t>
                      </a:r>
                      <a:r>
                        <a:rPr lang="zh-CN" altLang="zh-CN" sz="3000" b="0" i="0" u="none" dirty="0">
                          <a:solidFill>
                            <a:srgbClr val="000000"/>
                          </a:solidFill>
                          <a:effectLst/>
                          <a:latin typeface="Times New Roman" pitchFamily="30"/>
                          <a:ea typeface="宋体" pitchFamily="30"/>
                        </a:rPr>
                        <a:t> </a:t>
                      </a:r>
                      <a:r>
                        <a:rPr lang="en-US" altLang="zh-CN" sz="3000" b="0" i="0" u="none" dirty="0" err="1">
                          <a:solidFill>
                            <a:srgbClr val="000000"/>
                          </a:solidFill>
                          <a:effectLst/>
                          <a:latin typeface="Times New Roman" pitchFamily="30"/>
                          <a:ea typeface="宋体" pitchFamily="30"/>
                        </a:rPr>
                        <a:t>kΩ</a:t>
                      </a:r>
                      <a:r>
                        <a:rPr lang="zh-CN" altLang="zh-CN" sz="3000" b="0" i="0" u="none" dirty="0">
                          <a:solidFill>
                            <a:srgbClr val="000000"/>
                          </a:solidFill>
                          <a:effectLst/>
                          <a:latin typeface="Times New Roman" pitchFamily="30"/>
                          <a:ea typeface="宋体" pitchFamily="30"/>
                        </a:rPr>
                        <a:t>的电阻</a:t>
                      </a:r>
                    </a:p>
                  </a:txBody>
                  <a:tcPr marL="0" marR="0" marT="0" marB="0" anchor="ctr">
                    <a:lnL w="9522" cmpd="sng">
                      <a:noFill/>
                    </a:lnL>
                    <a:lnR w="9522" cmpd="sng">
                      <a:noFill/>
                    </a:lnR>
                    <a:lnT w="9522" cmpd="sng">
                      <a:noFill/>
                    </a:lnT>
                    <a:lnB w="9522" cmpd="sng">
                      <a:noFill/>
                    </a:lnB>
                  </a:tcPr>
                </a:tc>
                <a:extLst>
                  <a:ext uri="{0D108BD9-81ED-4DB2-BD59-A6C34878D82A}">
                    <a16:rowId xmlns:a16="http://schemas.microsoft.com/office/drawing/2014/main" val="11375"/>
                  </a:ext>
                </a:extLst>
              </a:tr>
            </a:tbl>
          </a:graphicData>
        </a:graphic>
      </p:graphicFrame>
      <p:pic>
        <p:nvPicPr>
          <p:cNvPr id="6" name="图片 5"/>
          <p:cNvPicPr>
            <a:picLocks noChangeAspect="1"/>
          </p:cNvPicPr>
          <p:nvPr/>
        </p:nvPicPr>
        <p:blipFill>
          <a:blip r:embed="rId2">
            <a:clrChange>
              <a:clrFrom>
                <a:srgbClr val="FFFFFF"/>
              </a:clrFrom>
              <a:clrTo>
                <a:srgbClr val="FFFFFF">
                  <a:alpha val="0"/>
                </a:srgbClr>
              </a:clrTo>
            </a:clrChange>
          </a:blip>
          <a:stretch>
            <a:fillRect/>
          </a:stretch>
        </p:blipFill>
        <p:spPr>
          <a:xfrm>
            <a:off x="623392" y="3933056"/>
            <a:ext cx="722784" cy="57965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a16="http://schemas.microsoft.com/office/drawing/2014/main" xmlns:a14="http://schemas.microsoft.com/office/drawing/2010/main">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YT"/>
        <p:cNvGrpSpPr/>
        <p:nvPr/>
      </p:nvGrpSpPr>
      <p:grpSpPr>
        <a:xfrm>
          <a:off x="0" y="0"/>
          <a:ext cx="0" cy="0"/>
          <a:chOff x="0" y="0"/>
          <a:chExt cx="0" cy="0"/>
        </a:xfrm>
      </p:grpSpPr>
      <p:sp>
        <p:nvSpPr>
          <p:cNvPr id="16448" name="yt_shape_16448"/>
          <p:cNvSpPr txBox="1"/>
          <p:nvPr/>
        </p:nvSpPr>
        <p:spPr>
          <a:xfrm>
            <a:off x="324071" y="467999"/>
            <a:ext cx="11924914" cy="2322752"/>
          </a:xfrm>
          <a:prstGeom prst="rect">
            <a:avLst/>
          </a:prstGeom>
        </p:spPr>
        <p:txBody>
          <a:bodyPr vert="horz" wrap="square" lIns="0" tIns="0" rIns="0" bIns="0" rtlCol="0">
            <a:noAutofit/>
          </a:bodyPr>
          <a:lstStyle/>
          <a:p>
            <a:pPr algn="l" eaLnBrk="1" latinLnBrk="0" hangingPunct="0">
              <a:lnSpc>
                <a:spcPct val="140000"/>
              </a:lnSpc>
            </a:pPr>
            <a:r>
              <a:rPr lang="zh-CN" altLang="zh-CN" sz="2800" b="1" i="0" u="none">
                <a:solidFill>
                  <a:srgbClr val="000000"/>
                </a:solidFill>
                <a:effectLst/>
                <a:latin typeface="微软雅黑" pitchFamily="28"/>
                <a:ea typeface="微软雅黑" pitchFamily="28"/>
              </a:rPr>
              <a:t>【典例】</a:t>
            </a:r>
            <a:r>
              <a:rPr lang="zh-CN" altLang="zh-CN" sz="2800" b="0" i="1" u="none">
                <a:solidFill>
                  <a:srgbClr val="000000"/>
                </a:solidFill>
                <a:effectLst/>
                <a:latin typeface="Times New Roman" pitchFamily="28"/>
                <a:ea typeface="宋体" pitchFamily="28"/>
              </a:rPr>
              <a:t>　</a:t>
            </a:r>
            <a:r>
              <a:rPr lang="zh-CN" altLang="zh-CN" sz="2800" b="0" i="0" u="none">
                <a:solidFill>
                  <a:srgbClr val="000000"/>
                </a:solidFill>
                <a:effectLst/>
                <a:latin typeface="Times New Roman" pitchFamily="28"/>
                <a:ea typeface="隶书" pitchFamily="28"/>
              </a:rPr>
              <a:t>〔多选〕</a:t>
            </a:r>
            <a:r>
              <a:rPr lang="zh-CN" altLang="zh-CN" sz="2800" b="0" i="0" u="none">
                <a:solidFill>
                  <a:srgbClr val="000000"/>
                </a:solidFill>
                <a:effectLst/>
                <a:latin typeface="宋体" pitchFamily="28"/>
                <a:ea typeface="宋体" pitchFamily="28"/>
              </a:rPr>
              <a:t>（</a:t>
            </a:r>
            <a:r>
              <a:rPr lang="en-US" altLang="zh-CN" sz="2800" b="0" i="0" u="none">
                <a:solidFill>
                  <a:srgbClr val="000000"/>
                </a:solidFill>
                <a:effectLst/>
                <a:latin typeface="Times New Roman" pitchFamily="28"/>
                <a:ea typeface="宋体" pitchFamily="28"/>
              </a:rPr>
              <a:t>2025</a:t>
            </a:r>
            <a:r>
              <a:rPr lang="zh-CN" altLang="zh-CN" sz="2800" b="0" i="0" u="none">
                <a:solidFill>
                  <a:srgbClr val="000000"/>
                </a:solidFill>
                <a:effectLst/>
                <a:latin typeface="Times New Roman" pitchFamily="28"/>
                <a:ea typeface="Times New Roman" pitchFamily="28"/>
              </a:rPr>
              <a:t>·</a:t>
            </a:r>
            <a:r>
              <a:rPr lang="zh-CN" altLang="zh-CN" sz="2800" b="0" i="0" u="none">
                <a:solidFill>
                  <a:srgbClr val="000000"/>
                </a:solidFill>
                <a:effectLst/>
                <a:latin typeface="Times New Roman" pitchFamily="28"/>
                <a:ea typeface="楷体" pitchFamily="28"/>
              </a:rPr>
              <a:t>天津北辰期中</a:t>
            </a:r>
            <a:r>
              <a:rPr lang="zh-CN" altLang="zh-CN" sz="2800" b="0" i="0" u="none">
                <a:solidFill>
                  <a:srgbClr val="000000"/>
                </a:solidFill>
                <a:effectLst/>
                <a:latin typeface="宋体" pitchFamily="28"/>
                <a:ea typeface="宋体" pitchFamily="28"/>
              </a:rPr>
              <a:t>）</a:t>
            </a:r>
            <a:r>
              <a:rPr lang="zh-CN" altLang="zh-CN" sz="2800" b="0" i="0" u="none">
                <a:solidFill>
                  <a:srgbClr val="000000"/>
                </a:solidFill>
                <a:effectLst/>
                <a:latin typeface="Times New Roman" pitchFamily="28"/>
                <a:ea typeface="宋体" pitchFamily="28"/>
              </a:rPr>
              <a:t>如图所示</a:t>
            </a:r>
            <a:r>
              <a:rPr lang="zh-CN" altLang="zh-CN" sz="2800" b="0" i="0" u="none">
                <a:solidFill>
                  <a:srgbClr val="000000"/>
                </a:solidFill>
                <a:effectLst/>
                <a:latin typeface="宋体" pitchFamily="28"/>
                <a:ea typeface="宋体" pitchFamily="28"/>
              </a:rPr>
              <a:t>，</a:t>
            </a:r>
            <a:r>
              <a:rPr lang="zh-CN" altLang="zh-CN" sz="2800" b="0" i="0" u="none">
                <a:solidFill>
                  <a:srgbClr val="000000"/>
                </a:solidFill>
                <a:effectLst/>
                <a:latin typeface="Times New Roman" pitchFamily="28"/>
                <a:ea typeface="宋体" pitchFamily="28"/>
                <a:sym typeface="_⨹_8_df232"/>
              </a:rPr>
              <a:t>将某一电源的路端</a:t>
            </a:r>
            <a:br>
              <a:rPr lang="zh-CN" altLang="zh-CN" sz="2800" b="0" i="0" u="none">
                <a:solidFill>
                  <a:srgbClr val="000000"/>
                </a:solidFill>
                <a:effectLst/>
                <a:latin typeface="Times New Roman" pitchFamily="28"/>
                <a:ea typeface="宋体" pitchFamily="28"/>
              </a:rPr>
            </a:br>
            <a:r>
              <a:rPr lang="zh-CN" altLang="zh-CN" sz="2800" b="0" i="0" u="none">
                <a:solidFill>
                  <a:srgbClr val="000000"/>
                </a:solidFill>
                <a:effectLst/>
                <a:latin typeface="Times New Roman" pitchFamily="28"/>
                <a:ea typeface="宋体" pitchFamily="28"/>
              </a:rPr>
              <a:t>电压随干路电流的变化关系和某一定值电阻</a:t>
            </a:r>
            <a:r>
              <a:rPr lang="en-US" altLang="zh-CN" sz="2800" b="0" i="1" u="none">
                <a:solidFill>
                  <a:srgbClr val="000000"/>
                </a:solidFill>
                <a:effectLst/>
                <a:latin typeface="Times New Roman" pitchFamily="28"/>
                <a:ea typeface="宋体" pitchFamily="28"/>
              </a:rPr>
              <a:t>R</a:t>
            </a:r>
            <a:r>
              <a:rPr lang="zh-CN" altLang="zh-CN" sz="2800" b="0" i="0" u="none">
                <a:solidFill>
                  <a:srgbClr val="000000"/>
                </a:solidFill>
                <a:effectLst/>
                <a:latin typeface="Times New Roman" pitchFamily="28"/>
                <a:ea typeface="宋体" pitchFamily="28"/>
                <a:sym typeface="_⨹_12_5a608"/>
              </a:rPr>
              <a:t>两端的电压与通过该电阻的</a:t>
            </a:r>
            <a:br>
              <a:rPr lang="zh-CN" altLang="zh-CN" sz="2800" b="0" i="0" u="none">
                <a:solidFill>
                  <a:srgbClr val="000000"/>
                </a:solidFill>
                <a:effectLst/>
                <a:latin typeface="Times New Roman" pitchFamily="28"/>
                <a:ea typeface="宋体" pitchFamily="28"/>
              </a:rPr>
            </a:br>
            <a:r>
              <a:rPr lang="zh-CN" altLang="zh-CN" sz="2800" b="0" i="0" u="none">
                <a:solidFill>
                  <a:srgbClr val="000000"/>
                </a:solidFill>
                <a:effectLst/>
                <a:latin typeface="Times New Roman" pitchFamily="28"/>
                <a:ea typeface="宋体" pitchFamily="28"/>
              </a:rPr>
              <a:t>电流关系画在同一个</a:t>
            </a:r>
            <a:r>
              <a:rPr lang="en-US" altLang="zh-CN" sz="2800" b="0" i="1" u="none">
                <a:solidFill>
                  <a:srgbClr val="000000"/>
                </a:solidFill>
                <a:effectLst/>
                <a:latin typeface="Times New Roman" pitchFamily="28"/>
                <a:ea typeface="宋体" pitchFamily="28"/>
              </a:rPr>
              <a:t>U</a:t>
            </a:r>
            <a:r>
              <a:rPr lang="zh-CN" altLang="zh-CN" sz="2800" b="0" i="0" u="none">
                <a:solidFill>
                  <a:srgbClr val="000000"/>
                </a:solidFill>
                <a:effectLst/>
                <a:latin typeface="Times New Roman" pitchFamily="28"/>
                <a:ea typeface="宋体" pitchFamily="28"/>
              </a:rPr>
              <a:t>-</a:t>
            </a:r>
            <a:r>
              <a:rPr lang="en-US" altLang="zh-CN" sz="2800" b="0" i="1" u="none">
                <a:solidFill>
                  <a:srgbClr val="000000"/>
                </a:solidFill>
                <a:effectLst/>
                <a:latin typeface="Times New Roman" pitchFamily="28"/>
                <a:ea typeface="宋体" pitchFamily="28"/>
              </a:rPr>
              <a:t>I</a:t>
            </a:r>
            <a:r>
              <a:rPr lang="zh-CN" altLang="zh-CN" sz="2800" b="0" i="0" u="none">
                <a:solidFill>
                  <a:srgbClr val="000000"/>
                </a:solidFill>
                <a:effectLst/>
                <a:latin typeface="Times New Roman" pitchFamily="28"/>
                <a:ea typeface="宋体" pitchFamily="28"/>
              </a:rPr>
              <a:t>图像中</a:t>
            </a:r>
            <a:r>
              <a:rPr lang="zh-CN" altLang="zh-CN" sz="2800" b="0" i="0" u="none">
                <a:solidFill>
                  <a:srgbClr val="000000"/>
                </a:solidFill>
                <a:effectLst/>
                <a:latin typeface="宋体" pitchFamily="28"/>
                <a:ea typeface="宋体" pitchFamily="28"/>
              </a:rPr>
              <a:t>。</a:t>
            </a:r>
            <a:r>
              <a:rPr lang="zh-CN" altLang="zh-CN" sz="2800" b="0" i="0" u="none">
                <a:solidFill>
                  <a:srgbClr val="000000"/>
                </a:solidFill>
                <a:effectLst/>
                <a:latin typeface="Times New Roman" pitchFamily="28"/>
                <a:ea typeface="宋体" pitchFamily="28"/>
              </a:rPr>
              <a:t>若将该电源与定值电阻</a:t>
            </a:r>
            <a:r>
              <a:rPr lang="en-US" altLang="zh-CN" sz="2800" b="0" i="1" u="none">
                <a:solidFill>
                  <a:srgbClr val="000000"/>
                </a:solidFill>
                <a:effectLst/>
                <a:latin typeface="Times New Roman" pitchFamily="28"/>
                <a:ea typeface="宋体" pitchFamily="28"/>
              </a:rPr>
              <a:t>R</a:t>
            </a:r>
            <a:r>
              <a:rPr lang="zh-CN" altLang="zh-CN" sz="2800" b="0" i="0" u="none">
                <a:solidFill>
                  <a:srgbClr val="000000"/>
                </a:solidFill>
                <a:effectLst/>
                <a:latin typeface="Times New Roman" pitchFamily="28"/>
                <a:ea typeface="宋体" pitchFamily="28"/>
                <a:sym typeface="_⨹_7_ea4d7"/>
              </a:rPr>
              <a:t>串联构成闭合回</a:t>
            </a:r>
            <a:br>
              <a:rPr lang="zh-CN" altLang="zh-CN" sz="2800" b="0" i="0" u="none">
                <a:solidFill>
                  <a:srgbClr val="000000"/>
                </a:solidFill>
                <a:effectLst/>
                <a:latin typeface="Times New Roman" pitchFamily="28"/>
                <a:ea typeface="宋体" pitchFamily="28"/>
              </a:rPr>
            </a:br>
            <a:r>
              <a:rPr lang="zh-CN" altLang="zh-CN" sz="2800" b="0" i="0" u="none">
                <a:solidFill>
                  <a:srgbClr val="000000"/>
                </a:solidFill>
                <a:effectLst/>
                <a:latin typeface="Times New Roman" pitchFamily="28"/>
                <a:ea typeface="宋体" pitchFamily="28"/>
              </a:rPr>
              <a:t>路</a:t>
            </a:r>
            <a:r>
              <a:rPr lang="zh-CN" altLang="zh-CN" sz="2800" b="0" i="0" u="none">
                <a:solidFill>
                  <a:srgbClr val="000000"/>
                </a:solidFill>
                <a:effectLst/>
                <a:latin typeface="宋体" pitchFamily="28"/>
                <a:ea typeface="宋体" pitchFamily="28"/>
              </a:rPr>
              <a:t>，</a:t>
            </a:r>
            <a:r>
              <a:rPr lang="zh-CN" altLang="zh-CN" sz="2800" b="0" i="0" u="none">
                <a:solidFill>
                  <a:srgbClr val="000000"/>
                </a:solidFill>
                <a:effectLst/>
                <a:latin typeface="Times New Roman" pitchFamily="28"/>
                <a:ea typeface="宋体" pitchFamily="28"/>
              </a:rPr>
              <a:t>下列分析中正确的是</a:t>
            </a:r>
            <a:r>
              <a:rPr lang="zh-CN" altLang="zh-CN" sz="2800" b="0" i="0" u="none">
                <a:solidFill>
                  <a:srgbClr val="000000"/>
                </a:solidFill>
                <a:effectLst/>
                <a:latin typeface="宋体" pitchFamily="28"/>
                <a:ea typeface="宋体" pitchFamily="28"/>
              </a:rPr>
              <a:t>（</a:t>
            </a:r>
            <a:r>
              <a:rPr lang="zh-CN" altLang="zh-CN" sz="2800" b="0" i="1" u="none">
                <a:solidFill>
                  <a:srgbClr val="000000"/>
                </a:solidFill>
                <a:effectLst/>
                <a:latin typeface="Times New Roman" pitchFamily="28"/>
                <a:ea typeface="宋体" pitchFamily="28"/>
              </a:rPr>
              <a:t>　　</a:t>
            </a:r>
            <a:r>
              <a:rPr lang="zh-CN" altLang="zh-CN" sz="2800" b="0" i="0" u="none">
                <a:solidFill>
                  <a:srgbClr val="000000"/>
                </a:solidFill>
                <a:effectLst/>
                <a:latin typeface="宋体" pitchFamily="28"/>
                <a:ea typeface="宋体" pitchFamily="28"/>
              </a:rPr>
              <a:t>）</a:t>
            </a:r>
          </a:p>
        </p:txBody>
      </p:sp>
      <p:pic>
        <p:nvPicPr>
          <p:cNvPr id="16449" name="yt_image_16449" title="H_191.37495">
            <a:extLst>
              <a:ext uri="">
                <a16:creationId xmlns="" xmlns:a14="http://schemas.microsoft.com/office/drawing/2010/main" xmlns:p14="http://schemas.microsoft.com/office/powerpoint/2010/main" xmlns:mc="http://schemas.openxmlformats.org/markup-compatibility/2006" xmlns:p15="http://schemas.microsoft.com/office/powerpoint/2012/main" xmlns:a16="http://schemas.microsoft.com/office/drawing/2014/main" id="{5351258F-BC95-41E6-9372-C2FE361B0291}"/>
              </a:ext>
            </a:extLst>
          </p:cNvPr>
          <p:cNvPicPr>
            <a:picLocks noChangeAspect="1" noChangeArrowheads="1"/>
          </p:cNvPicPr>
          <p:nvPr/>
        </p:nvPicPr>
        <p:blipFill>
          <a:blip r:embed="rId2" cstate="print"/>
          <a:srcRect/>
          <a:stretch>
            <a:fillRect/>
          </a:stretch>
        </p:blipFill>
        <p:spPr bwMode="auto">
          <a:xfrm>
            <a:off x="8507015" y="2921332"/>
            <a:ext cx="3044712" cy="243046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yt_table_16451" title="H_188.16">
            <a:extLst>
              <a:ext uri="{FF2B5EF4-FFF2-40B4-BE49-F238E27FC236}">
                <a16:creationId xmlns:a16="http://schemas.microsoft.com/office/drawing/2014/main" id="{85F9CD91-DE56-4981-AD6D-3D4292DC4A24}"/>
              </a:ext>
            </a:extLst>
          </p:cNvPr>
          <p:cNvGraphicFramePr>
            <a:graphicFrameLocks noGrp="1"/>
          </p:cNvGraphicFramePr>
          <p:nvPr/>
        </p:nvGraphicFramePr>
        <p:xfrm>
          <a:off x="324137" y="2962162"/>
          <a:ext cx="7664387" cy="2389632"/>
        </p:xfrm>
        <a:graphic>
          <a:graphicData uri="http://schemas.openxmlformats.org/drawingml/2006/table">
            <a:tbl>
              <a:tblPr/>
              <a:tblGrid>
                <a:gridCol w="7664387">
                  <a:extLst>
                    <a:ext uri="{9D8B030D-6E8A-4147-A177-3AD203B41FA5}">
                      <a16:colId xmlns:a16="http://schemas.microsoft.com/office/drawing/2014/main" val="10571"/>
                    </a:ext>
                  </a:extLst>
                </a:gridCol>
              </a:tblGrid>
              <a:tr h="370840">
                <a:tc>
                  <a:txBody>
                    <a:bodyPr/>
                    <a:lstStyle/>
                    <a:p>
                      <a:pPr marL="523174" indent="-523174" algn="l" eaLnBrk="1" fontAlgn="ctr" latinLnBrk="0" hangingPunct="0">
                        <a:lnSpc>
                          <a:spcPct val="140000"/>
                        </a:lnSpc>
                      </a:pPr>
                      <a:r>
                        <a:rPr lang="en-US" altLang="zh-CN" sz="2800" b="0" i="0" u="none">
                          <a:solidFill>
                            <a:srgbClr val="000000"/>
                          </a:solidFill>
                          <a:effectLst/>
                          <a:latin typeface="Times New Roman" pitchFamily="28"/>
                          <a:ea typeface="宋体" pitchFamily="28"/>
                        </a:rPr>
                        <a:t>A</a:t>
                      </a:r>
                      <a:r>
                        <a:rPr lang="en-US" altLang="zh-CN" sz="2800" b="0" i="0" u="none">
                          <a:solidFill>
                            <a:srgbClr val="000000"/>
                          </a:solidFill>
                          <a:effectLst/>
                          <a:latin typeface="宋体" pitchFamily="28"/>
                          <a:ea typeface="宋体" pitchFamily="28"/>
                        </a:rPr>
                        <a:t>.</a:t>
                      </a:r>
                      <a:r>
                        <a:rPr lang="en-US" altLang="zh-CN" sz="2800" b="0" i="0" u="none">
                          <a:solidFill>
                            <a:srgbClr val="000000"/>
                          </a:solidFill>
                          <a:effectLst/>
                          <a:latin typeface="Times New Roman" pitchFamily="28"/>
                          <a:ea typeface="宋体" pitchFamily="28"/>
                        </a:rPr>
                        <a:t> </a:t>
                      </a:r>
                      <a:r>
                        <a:rPr lang="zh-CN" altLang="zh-CN" sz="2800" b="0" i="0" u="none">
                          <a:solidFill>
                            <a:srgbClr val="000000"/>
                          </a:solidFill>
                          <a:effectLst/>
                          <a:latin typeface="Times New Roman" pitchFamily="28"/>
                          <a:ea typeface="宋体" pitchFamily="28"/>
                        </a:rPr>
                        <a:t>甲反映定值电阻</a:t>
                      </a:r>
                      <a:r>
                        <a:rPr lang="en-US" altLang="zh-CN" sz="2800" b="0" i="1" u="none">
                          <a:solidFill>
                            <a:srgbClr val="000000"/>
                          </a:solidFill>
                          <a:effectLst/>
                          <a:latin typeface="Times New Roman" pitchFamily="28"/>
                          <a:ea typeface="宋体" pitchFamily="28"/>
                        </a:rPr>
                        <a:t>R</a:t>
                      </a:r>
                      <a:r>
                        <a:rPr lang="zh-CN" altLang="zh-CN" sz="2800" b="0" i="0" u="none">
                          <a:solidFill>
                            <a:srgbClr val="000000"/>
                          </a:solidFill>
                          <a:effectLst/>
                          <a:latin typeface="Times New Roman" pitchFamily="28"/>
                          <a:ea typeface="宋体" pitchFamily="28"/>
                        </a:rPr>
                        <a:t>的</a:t>
                      </a:r>
                      <a:r>
                        <a:rPr lang="en-US" altLang="zh-CN" sz="2800" b="0" i="1" u="none">
                          <a:solidFill>
                            <a:srgbClr val="000000"/>
                          </a:solidFill>
                          <a:effectLst/>
                          <a:latin typeface="Times New Roman" pitchFamily="28"/>
                          <a:ea typeface="宋体" pitchFamily="28"/>
                        </a:rPr>
                        <a:t>U</a:t>
                      </a:r>
                      <a:r>
                        <a:rPr lang="zh-CN" altLang="zh-CN" sz="2800" b="0" i="0" u="none">
                          <a:solidFill>
                            <a:srgbClr val="000000"/>
                          </a:solidFill>
                          <a:effectLst/>
                          <a:latin typeface="Times New Roman" pitchFamily="28"/>
                          <a:ea typeface="宋体" pitchFamily="28"/>
                        </a:rPr>
                        <a:t>-</a:t>
                      </a:r>
                      <a:r>
                        <a:rPr lang="en-US" altLang="zh-CN" sz="2800" b="0" i="1" u="none">
                          <a:solidFill>
                            <a:srgbClr val="000000"/>
                          </a:solidFill>
                          <a:effectLst/>
                          <a:latin typeface="Times New Roman" pitchFamily="28"/>
                          <a:ea typeface="宋体" pitchFamily="28"/>
                        </a:rPr>
                        <a:t>I</a:t>
                      </a:r>
                      <a:r>
                        <a:rPr lang="zh-CN" altLang="zh-CN" sz="2800" b="0" i="0" u="none">
                          <a:solidFill>
                            <a:srgbClr val="000000"/>
                          </a:solidFill>
                          <a:effectLst/>
                          <a:latin typeface="Times New Roman" pitchFamily="28"/>
                          <a:ea typeface="宋体" pitchFamily="28"/>
                        </a:rPr>
                        <a:t>关系</a:t>
                      </a:r>
                      <a:r>
                        <a:rPr lang="zh-CN" altLang="zh-CN" sz="2800" b="0" i="0" u="none">
                          <a:solidFill>
                            <a:srgbClr val="000000"/>
                          </a:solidFill>
                          <a:effectLst/>
                          <a:latin typeface="宋体" pitchFamily="28"/>
                          <a:ea typeface="宋体" pitchFamily="28"/>
                        </a:rPr>
                        <a:t>，</a:t>
                      </a:r>
                      <a:r>
                        <a:rPr lang="en-US" altLang="zh-CN" sz="2800" b="0" i="1" u="none">
                          <a:solidFill>
                            <a:srgbClr val="000000"/>
                          </a:solidFill>
                          <a:effectLst/>
                          <a:latin typeface="Times New Roman" pitchFamily="28"/>
                          <a:ea typeface="宋体" pitchFamily="28"/>
                        </a:rPr>
                        <a:t>R</a:t>
                      </a:r>
                      <a:r>
                        <a:rPr lang="zh-CN" altLang="zh-CN" sz="2800" b="0" i="0" u="none">
                          <a:solidFill>
                            <a:srgbClr val="000000"/>
                          </a:solidFill>
                          <a:effectLst/>
                          <a:latin typeface="宋体" pitchFamily="28"/>
                          <a:ea typeface="宋体" pitchFamily="28"/>
                        </a:rPr>
                        <a:t>＝</a:t>
                      </a:r>
                      <a:r>
                        <a:rPr lang="en-US" altLang="zh-CN" sz="2800" b="0" i="0" u="none">
                          <a:solidFill>
                            <a:srgbClr val="000000"/>
                          </a:solidFill>
                          <a:effectLst/>
                          <a:latin typeface="Times New Roman" pitchFamily="28"/>
                          <a:ea typeface="宋体" pitchFamily="28"/>
                        </a:rPr>
                        <a:t>2</a:t>
                      </a:r>
                      <a:r>
                        <a:rPr lang="en-US" altLang="zh-CN" sz="2800" b="0" i="0" u="none">
                          <a:solidFill>
                            <a:srgbClr val="000000"/>
                          </a:solidFill>
                          <a:effectLst/>
                          <a:latin typeface="宋体" pitchFamily="28"/>
                          <a:ea typeface="宋体" pitchFamily="28"/>
                        </a:rPr>
                        <a:t>.</a:t>
                      </a:r>
                      <a:r>
                        <a:rPr lang="en-US" altLang="zh-CN" sz="2800" b="0" i="0" u="none">
                          <a:solidFill>
                            <a:srgbClr val="000000"/>
                          </a:solidFill>
                          <a:effectLst/>
                          <a:latin typeface="Times New Roman" pitchFamily="28"/>
                          <a:ea typeface="宋体" pitchFamily="28"/>
                        </a:rPr>
                        <a:t>0</a:t>
                      </a:r>
                      <a:r>
                        <a:rPr lang="zh-CN" altLang="zh-CN" sz="2800" b="0" i="0" u="none">
                          <a:solidFill>
                            <a:srgbClr val="000000"/>
                          </a:solidFill>
                          <a:effectLst/>
                          <a:latin typeface="Times New Roman" pitchFamily="28"/>
                          <a:ea typeface="宋体" pitchFamily="28"/>
                        </a:rPr>
                        <a:t> </a:t>
                      </a:r>
                      <a:r>
                        <a:rPr lang="en-US" altLang="zh-CN" sz="2800" b="0" i="0" u="none">
                          <a:solidFill>
                            <a:srgbClr val="000000"/>
                          </a:solidFill>
                          <a:effectLst/>
                          <a:latin typeface="Times New Roman" pitchFamily="28"/>
                          <a:ea typeface="宋体" pitchFamily="28"/>
                        </a:rPr>
                        <a:t>Ω</a:t>
                      </a:r>
                    </a:p>
                  </a:txBody>
                  <a:tcPr marL="0" marR="0" marT="0" marB="0" anchor="ctr">
                    <a:lnL w="9522" cmpd="sng">
                      <a:noFill/>
                    </a:lnL>
                    <a:lnR w="9522" cmpd="sng">
                      <a:noFill/>
                    </a:lnR>
                    <a:lnT w="9522" cmpd="sng">
                      <a:noFill/>
                    </a:lnT>
                    <a:lnB w="9522" cmpd="sng">
                      <a:noFill/>
                    </a:lnB>
                  </a:tcPr>
                </a:tc>
                <a:extLst>
                  <a:ext uri="{0D108BD9-81ED-4DB2-BD59-A6C34878D82A}">
                    <a16:rowId xmlns:a16="http://schemas.microsoft.com/office/drawing/2014/main" val="11421"/>
                  </a:ext>
                </a:extLst>
              </a:tr>
              <a:tr h="370840">
                <a:tc>
                  <a:txBody>
                    <a:bodyPr/>
                    <a:lstStyle/>
                    <a:p>
                      <a:pPr marL="503492" indent="-503492" algn="l" eaLnBrk="1" fontAlgn="ctr" latinLnBrk="0" hangingPunct="0">
                        <a:lnSpc>
                          <a:spcPct val="140000"/>
                        </a:lnSpc>
                      </a:pPr>
                      <a:r>
                        <a:rPr lang="en-US" altLang="zh-CN" sz="2800" b="0" i="0" u="none">
                          <a:solidFill>
                            <a:srgbClr val="000000"/>
                          </a:solidFill>
                          <a:effectLst/>
                          <a:latin typeface="Times New Roman" pitchFamily="28"/>
                          <a:ea typeface="宋体" pitchFamily="28"/>
                        </a:rPr>
                        <a:t>B</a:t>
                      </a:r>
                      <a:r>
                        <a:rPr lang="en-US" altLang="zh-CN" sz="2800" b="0" i="0" u="none">
                          <a:solidFill>
                            <a:srgbClr val="000000"/>
                          </a:solidFill>
                          <a:effectLst/>
                          <a:latin typeface="宋体" pitchFamily="28"/>
                          <a:ea typeface="宋体" pitchFamily="28"/>
                        </a:rPr>
                        <a:t>.</a:t>
                      </a:r>
                      <a:r>
                        <a:rPr lang="en-US" altLang="zh-CN" sz="2800" b="0" i="0" u="none">
                          <a:solidFill>
                            <a:srgbClr val="000000"/>
                          </a:solidFill>
                          <a:effectLst/>
                          <a:latin typeface="Times New Roman" pitchFamily="28"/>
                          <a:ea typeface="宋体" pitchFamily="28"/>
                        </a:rPr>
                        <a:t> </a:t>
                      </a:r>
                      <a:r>
                        <a:rPr lang="zh-CN" altLang="zh-CN" sz="2800" b="0" i="0" u="none">
                          <a:solidFill>
                            <a:srgbClr val="000000"/>
                          </a:solidFill>
                          <a:effectLst/>
                          <a:latin typeface="Times New Roman" pitchFamily="28"/>
                          <a:ea typeface="宋体" pitchFamily="28"/>
                        </a:rPr>
                        <a:t>乙反映电源的</a:t>
                      </a:r>
                      <a:r>
                        <a:rPr lang="en-US" altLang="zh-CN" sz="2800" b="0" i="1" u="none">
                          <a:solidFill>
                            <a:srgbClr val="000000"/>
                          </a:solidFill>
                          <a:effectLst/>
                          <a:latin typeface="Times New Roman" pitchFamily="28"/>
                          <a:ea typeface="宋体" pitchFamily="28"/>
                        </a:rPr>
                        <a:t>U</a:t>
                      </a:r>
                      <a:r>
                        <a:rPr lang="zh-CN" altLang="zh-CN" sz="2800" b="0" i="0" u="none">
                          <a:solidFill>
                            <a:srgbClr val="000000"/>
                          </a:solidFill>
                          <a:effectLst/>
                          <a:latin typeface="Times New Roman" pitchFamily="28"/>
                          <a:ea typeface="宋体" pitchFamily="28"/>
                        </a:rPr>
                        <a:t>-</a:t>
                      </a:r>
                      <a:r>
                        <a:rPr lang="en-US" altLang="zh-CN" sz="2800" b="0" i="1" u="none">
                          <a:solidFill>
                            <a:srgbClr val="000000"/>
                          </a:solidFill>
                          <a:effectLst/>
                          <a:latin typeface="Times New Roman" pitchFamily="28"/>
                          <a:ea typeface="宋体" pitchFamily="28"/>
                        </a:rPr>
                        <a:t>I</a:t>
                      </a:r>
                      <a:r>
                        <a:rPr lang="zh-CN" altLang="zh-CN" sz="2800" b="0" i="0" u="none">
                          <a:solidFill>
                            <a:srgbClr val="000000"/>
                          </a:solidFill>
                          <a:effectLst/>
                          <a:latin typeface="Times New Roman" pitchFamily="28"/>
                          <a:ea typeface="宋体" pitchFamily="28"/>
                        </a:rPr>
                        <a:t>关系</a:t>
                      </a:r>
                      <a:r>
                        <a:rPr lang="zh-CN" altLang="zh-CN" sz="2800" b="0" i="0" u="none">
                          <a:solidFill>
                            <a:srgbClr val="000000"/>
                          </a:solidFill>
                          <a:effectLst/>
                          <a:latin typeface="宋体" pitchFamily="28"/>
                          <a:ea typeface="宋体" pitchFamily="28"/>
                        </a:rPr>
                        <a:t>，</a:t>
                      </a:r>
                      <a:r>
                        <a:rPr lang="zh-CN" altLang="zh-CN" sz="2800" b="0" i="0" u="none">
                          <a:solidFill>
                            <a:srgbClr val="000000"/>
                          </a:solidFill>
                          <a:effectLst/>
                          <a:latin typeface="Times New Roman" pitchFamily="28"/>
                          <a:ea typeface="宋体" pitchFamily="28"/>
                        </a:rPr>
                        <a:t>其电动势</a:t>
                      </a:r>
                      <a:r>
                        <a:rPr lang="en-US" altLang="zh-CN" sz="2800" b="0" i="1" u="none">
                          <a:solidFill>
                            <a:srgbClr val="000000"/>
                          </a:solidFill>
                          <a:effectLst/>
                          <a:latin typeface="Times New Roman" pitchFamily="28"/>
                          <a:ea typeface="宋体" pitchFamily="28"/>
                        </a:rPr>
                        <a:t>E</a:t>
                      </a:r>
                      <a:r>
                        <a:rPr lang="zh-CN" altLang="zh-CN" sz="2800" b="0" i="0" u="none">
                          <a:solidFill>
                            <a:srgbClr val="000000"/>
                          </a:solidFill>
                          <a:effectLst/>
                          <a:latin typeface="宋体" pitchFamily="28"/>
                          <a:ea typeface="宋体" pitchFamily="28"/>
                        </a:rPr>
                        <a:t>＝</a:t>
                      </a:r>
                      <a:r>
                        <a:rPr lang="en-US" altLang="zh-CN" sz="2800" b="0" i="0" u="none">
                          <a:solidFill>
                            <a:srgbClr val="000000"/>
                          </a:solidFill>
                          <a:effectLst/>
                          <a:latin typeface="Times New Roman" pitchFamily="28"/>
                          <a:ea typeface="宋体" pitchFamily="28"/>
                        </a:rPr>
                        <a:t>5</a:t>
                      </a:r>
                      <a:r>
                        <a:rPr lang="en-US" altLang="zh-CN" sz="2800" b="0" i="0" u="none">
                          <a:solidFill>
                            <a:srgbClr val="000000"/>
                          </a:solidFill>
                          <a:effectLst/>
                          <a:latin typeface="宋体" pitchFamily="28"/>
                          <a:ea typeface="宋体" pitchFamily="28"/>
                        </a:rPr>
                        <a:t>.</a:t>
                      </a:r>
                      <a:r>
                        <a:rPr lang="en-US" altLang="zh-CN" sz="2800" b="0" i="0" u="none">
                          <a:solidFill>
                            <a:srgbClr val="000000"/>
                          </a:solidFill>
                          <a:effectLst/>
                          <a:latin typeface="Times New Roman" pitchFamily="28"/>
                          <a:ea typeface="宋体" pitchFamily="28"/>
                        </a:rPr>
                        <a:t>0</a:t>
                      </a:r>
                      <a:r>
                        <a:rPr lang="zh-CN" altLang="zh-CN" sz="2800" b="0" i="0" u="none">
                          <a:solidFill>
                            <a:srgbClr val="000000"/>
                          </a:solidFill>
                          <a:effectLst/>
                          <a:latin typeface="Times New Roman" pitchFamily="28"/>
                          <a:ea typeface="宋体" pitchFamily="28"/>
                        </a:rPr>
                        <a:t> </a:t>
                      </a:r>
                      <a:r>
                        <a:rPr lang="en-US" altLang="zh-CN" sz="2800" b="0" i="0" u="none">
                          <a:solidFill>
                            <a:srgbClr val="000000"/>
                          </a:solidFill>
                          <a:effectLst/>
                          <a:latin typeface="Times New Roman" pitchFamily="28"/>
                          <a:ea typeface="宋体" pitchFamily="28"/>
                        </a:rPr>
                        <a:t>V</a:t>
                      </a:r>
                    </a:p>
                  </a:txBody>
                  <a:tcPr marL="0" marR="0" marT="0" marB="0" anchor="ctr">
                    <a:lnL w="9522" cmpd="sng">
                      <a:noFill/>
                    </a:lnL>
                    <a:lnR w="9522" cmpd="sng">
                      <a:noFill/>
                    </a:lnR>
                    <a:lnT w="9522" cmpd="sng">
                      <a:noFill/>
                    </a:lnT>
                    <a:lnB w="9522" cmpd="sng">
                      <a:noFill/>
                    </a:lnB>
                  </a:tcPr>
                </a:tc>
                <a:extLst>
                  <a:ext uri="{0D108BD9-81ED-4DB2-BD59-A6C34878D82A}">
                    <a16:rowId xmlns:a16="http://schemas.microsoft.com/office/drawing/2014/main" val="11422"/>
                  </a:ext>
                </a:extLst>
              </a:tr>
              <a:tr h="370840">
                <a:tc>
                  <a:txBody>
                    <a:bodyPr/>
                    <a:lstStyle/>
                    <a:p>
                      <a:pPr marL="503492" indent="-503492" algn="l" eaLnBrk="1" fontAlgn="ctr" latinLnBrk="0" hangingPunct="0">
                        <a:lnSpc>
                          <a:spcPct val="140000"/>
                        </a:lnSpc>
                      </a:pPr>
                      <a:r>
                        <a:rPr lang="en-US" altLang="zh-CN" sz="2800" b="0" i="0" u="none">
                          <a:solidFill>
                            <a:srgbClr val="000000"/>
                          </a:solidFill>
                          <a:effectLst/>
                          <a:latin typeface="Times New Roman" pitchFamily="28"/>
                          <a:ea typeface="宋体" pitchFamily="28"/>
                        </a:rPr>
                        <a:t>C</a:t>
                      </a:r>
                      <a:r>
                        <a:rPr lang="en-US" altLang="zh-CN" sz="2800" b="0" i="0" u="none">
                          <a:solidFill>
                            <a:srgbClr val="000000"/>
                          </a:solidFill>
                          <a:effectLst/>
                          <a:latin typeface="宋体" pitchFamily="28"/>
                          <a:ea typeface="宋体" pitchFamily="28"/>
                        </a:rPr>
                        <a:t>.</a:t>
                      </a:r>
                      <a:r>
                        <a:rPr lang="en-US" altLang="zh-CN" sz="2800" b="0" i="0" u="none">
                          <a:solidFill>
                            <a:srgbClr val="000000"/>
                          </a:solidFill>
                          <a:effectLst/>
                          <a:latin typeface="Times New Roman" pitchFamily="28"/>
                          <a:ea typeface="宋体" pitchFamily="28"/>
                        </a:rPr>
                        <a:t> </a:t>
                      </a:r>
                      <a:r>
                        <a:rPr lang="zh-CN" altLang="zh-CN" sz="2800" b="0" i="0" u="none">
                          <a:solidFill>
                            <a:srgbClr val="000000"/>
                          </a:solidFill>
                          <a:effectLst/>
                          <a:latin typeface="Times New Roman" pitchFamily="28"/>
                          <a:ea typeface="宋体" pitchFamily="28"/>
                        </a:rPr>
                        <a:t>通过定值电阻</a:t>
                      </a:r>
                      <a:r>
                        <a:rPr lang="en-US" altLang="zh-CN" sz="2800" b="0" i="1" u="none">
                          <a:solidFill>
                            <a:srgbClr val="000000"/>
                          </a:solidFill>
                          <a:effectLst/>
                          <a:latin typeface="Times New Roman" pitchFamily="28"/>
                          <a:ea typeface="宋体" pitchFamily="28"/>
                        </a:rPr>
                        <a:t>R</a:t>
                      </a:r>
                      <a:r>
                        <a:rPr lang="zh-CN" altLang="zh-CN" sz="2800" b="0" i="0" u="none">
                          <a:solidFill>
                            <a:srgbClr val="000000"/>
                          </a:solidFill>
                          <a:effectLst/>
                          <a:latin typeface="Times New Roman" pitchFamily="28"/>
                          <a:ea typeface="宋体" pitchFamily="28"/>
                        </a:rPr>
                        <a:t>的电流大小一定为</a:t>
                      </a:r>
                      <a:r>
                        <a:rPr lang="en-US" altLang="zh-CN" sz="2800" b="0" i="0" u="none">
                          <a:solidFill>
                            <a:srgbClr val="000000"/>
                          </a:solidFill>
                          <a:effectLst/>
                          <a:latin typeface="Times New Roman" pitchFamily="28"/>
                          <a:ea typeface="宋体" pitchFamily="28"/>
                        </a:rPr>
                        <a:t>1</a:t>
                      </a:r>
                      <a:r>
                        <a:rPr lang="en-US" altLang="zh-CN" sz="2800" b="0" i="0" u="none">
                          <a:solidFill>
                            <a:srgbClr val="000000"/>
                          </a:solidFill>
                          <a:effectLst/>
                          <a:latin typeface="宋体" pitchFamily="28"/>
                          <a:ea typeface="宋体" pitchFamily="28"/>
                        </a:rPr>
                        <a:t>.</a:t>
                      </a:r>
                      <a:r>
                        <a:rPr lang="en-US" altLang="zh-CN" sz="2800" b="0" i="0" u="none">
                          <a:solidFill>
                            <a:srgbClr val="000000"/>
                          </a:solidFill>
                          <a:effectLst/>
                          <a:latin typeface="Times New Roman" pitchFamily="28"/>
                          <a:ea typeface="宋体" pitchFamily="28"/>
                        </a:rPr>
                        <a:t>2</a:t>
                      </a:r>
                      <a:r>
                        <a:rPr lang="zh-CN" altLang="zh-CN" sz="2800" b="0" i="0" u="none">
                          <a:solidFill>
                            <a:srgbClr val="000000"/>
                          </a:solidFill>
                          <a:effectLst/>
                          <a:latin typeface="Times New Roman" pitchFamily="28"/>
                          <a:ea typeface="宋体" pitchFamily="28"/>
                        </a:rPr>
                        <a:t> </a:t>
                      </a:r>
                      <a:r>
                        <a:rPr lang="en-US" altLang="zh-CN" sz="2800" b="0" i="0" u="none">
                          <a:solidFill>
                            <a:srgbClr val="000000"/>
                          </a:solidFill>
                          <a:effectLst/>
                          <a:latin typeface="Times New Roman" pitchFamily="28"/>
                          <a:ea typeface="宋体" pitchFamily="28"/>
                        </a:rPr>
                        <a:t>A</a:t>
                      </a:r>
                    </a:p>
                  </a:txBody>
                  <a:tcPr marL="0" marR="0" marT="0" marB="0" anchor="ctr">
                    <a:lnL w="9522" cmpd="sng">
                      <a:noFill/>
                    </a:lnL>
                    <a:lnR w="9522" cmpd="sng">
                      <a:noFill/>
                    </a:lnR>
                    <a:lnT w="9522" cmpd="sng">
                      <a:noFill/>
                    </a:lnT>
                    <a:lnB w="9522" cmpd="sng">
                      <a:noFill/>
                    </a:lnB>
                  </a:tcPr>
                </a:tc>
                <a:extLst>
                  <a:ext uri="{0D108BD9-81ED-4DB2-BD59-A6C34878D82A}">
                    <a16:rowId xmlns:a16="http://schemas.microsoft.com/office/drawing/2014/main" val="11423"/>
                  </a:ext>
                </a:extLst>
              </a:tr>
              <a:tr h="370840">
                <a:tc>
                  <a:txBody>
                    <a:bodyPr/>
                    <a:lstStyle/>
                    <a:p>
                      <a:pPr marL="523174" indent="-523174" algn="l" eaLnBrk="1" fontAlgn="ctr" latinLnBrk="0" hangingPunct="0">
                        <a:lnSpc>
                          <a:spcPct val="140000"/>
                        </a:lnSpc>
                      </a:pPr>
                      <a:r>
                        <a:rPr lang="en-US" altLang="zh-CN" sz="2800" b="0" i="0" u="none">
                          <a:solidFill>
                            <a:srgbClr val="000000"/>
                          </a:solidFill>
                          <a:effectLst/>
                          <a:latin typeface="Times New Roman" pitchFamily="28"/>
                          <a:ea typeface="宋体" pitchFamily="28"/>
                        </a:rPr>
                        <a:t>D</a:t>
                      </a:r>
                      <a:r>
                        <a:rPr lang="en-US" altLang="zh-CN" sz="2800" b="0" i="0" u="none">
                          <a:solidFill>
                            <a:srgbClr val="000000"/>
                          </a:solidFill>
                          <a:effectLst/>
                          <a:latin typeface="宋体" pitchFamily="28"/>
                          <a:ea typeface="宋体" pitchFamily="28"/>
                        </a:rPr>
                        <a:t>.</a:t>
                      </a:r>
                      <a:r>
                        <a:rPr lang="en-US" altLang="zh-CN" sz="2800" b="0" i="0" u="none">
                          <a:solidFill>
                            <a:srgbClr val="000000"/>
                          </a:solidFill>
                          <a:effectLst/>
                          <a:latin typeface="Times New Roman" pitchFamily="28"/>
                          <a:ea typeface="宋体" pitchFamily="28"/>
                        </a:rPr>
                        <a:t> </a:t>
                      </a:r>
                      <a:r>
                        <a:rPr lang="zh-CN" altLang="zh-CN" sz="2800" b="0" i="0" u="none">
                          <a:solidFill>
                            <a:srgbClr val="000000"/>
                          </a:solidFill>
                          <a:effectLst/>
                          <a:latin typeface="Times New Roman" pitchFamily="28"/>
                          <a:ea typeface="宋体" pitchFamily="28"/>
                        </a:rPr>
                        <a:t>电源内阻</a:t>
                      </a:r>
                      <a:r>
                        <a:rPr lang="en-US" altLang="zh-CN" sz="2800" b="0" i="1" u="none">
                          <a:solidFill>
                            <a:srgbClr val="000000"/>
                          </a:solidFill>
                          <a:effectLst/>
                          <a:latin typeface="Times New Roman" pitchFamily="28"/>
                          <a:ea typeface="宋体" pitchFamily="28"/>
                        </a:rPr>
                        <a:t>r</a:t>
                      </a:r>
                      <a:r>
                        <a:rPr lang="zh-CN" altLang="zh-CN" sz="2800" b="0" i="0" u="none">
                          <a:solidFill>
                            <a:srgbClr val="000000"/>
                          </a:solidFill>
                          <a:effectLst/>
                          <a:latin typeface="宋体" pitchFamily="28"/>
                          <a:ea typeface="宋体" pitchFamily="28"/>
                        </a:rPr>
                        <a:t>＝</a:t>
                      </a:r>
                      <a:r>
                        <a:rPr lang="en-US" altLang="zh-CN" sz="2800" b="0" i="0" u="none">
                          <a:solidFill>
                            <a:srgbClr val="000000"/>
                          </a:solidFill>
                          <a:effectLst/>
                          <a:latin typeface="Times New Roman" pitchFamily="28"/>
                          <a:ea typeface="宋体" pitchFamily="28"/>
                        </a:rPr>
                        <a:t>1</a:t>
                      </a:r>
                      <a:r>
                        <a:rPr lang="zh-CN" altLang="zh-CN" sz="2800" b="0" i="0" u="none">
                          <a:solidFill>
                            <a:srgbClr val="000000"/>
                          </a:solidFill>
                          <a:effectLst/>
                          <a:latin typeface="Times New Roman" pitchFamily="28"/>
                          <a:ea typeface="宋体" pitchFamily="28"/>
                        </a:rPr>
                        <a:t> </a:t>
                      </a:r>
                      <a:r>
                        <a:rPr lang="en-US" altLang="zh-CN" sz="2800" b="0" i="0" u="none">
                          <a:solidFill>
                            <a:srgbClr val="000000"/>
                          </a:solidFill>
                          <a:effectLst/>
                          <a:latin typeface="Times New Roman" pitchFamily="28"/>
                          <a:ea typeface="宋体" pitchFamily="28"/>
                        </a:rPr>
                        <a:t>Ω</a:t>
                      </a:r>
                    </a:p>
                  </a:txBody>
                  <a:tcPr marL="0" marR="0" marT="0" marB="0" anchor="ctr">
                    <a:lnL w="9522" cmpd="sng">
                      <a:noFill/>
                    </a:lnL>
                    <a:lnR w="9522" cmpd="sng">
                      <a:noFill/>
                    </a:lnR>
                    <a:lnT w="9522" cmpd="sng">
                      <a:noFill/>
                    </a:lnT>
                    <a:lnB w="9522" cmpd="sng">
                      <a:noFill/>
                    </a:lnB>
                  </a:tcPr>
                </a:tc>
                <a:extLst>
                  <a:ext uri="{0D108BD9-81ED-4DB2-BD59-A6C34878D82A}">
                    <a16:rowId xmlns:a16="http://schemas.microsoft.com/office/drawing/2014/main" val="11424"/>
                  </a:ext>
                </a:extLst>
              </a:tr>
            </a:tbl>
          </a:graphicData>
        </a:graphic>
      </p:graphicFrame>
      <p:sp>
        <p:nvSpPr>
          <p:cNvPr id="6" name="矩形 5"/>
          <p:cNvSpPr/>
          <p:nvPr/>
        </p:nvSpPr>
        <p:spPr>
          <a:xfrm>
            <a:off x="52007" y="2950361"/>
            <a:ext cx="761669" cy="861774"/>
          </a:xfrm>
          <a:prstGeom prst="rect">
            <a:avLst/>
          </a:prstGeom>
        </p:spPr>
        <p:txBody>
          <a:bodyPr wrap="square">
            <a:spAutoFit/>
          </a:bodyPr>
          <a:lstStyle/>
          <a:p>
            <a:r>
              <a:rPr lang="en-US" altLang="zh-CN" sz="5000" b="1" dirty="0">
                <a:solidFill>
                  <a:srgbClr val="C00000"/>
                </a:solidFill>
                <a:latin typeface="华文细黑" panose="02010600040101010101" pitchFamily="2" charset="-122"/>
                <a:ea typeface="华文细黑" panose="02010600040101010101" pitchFamily="2" charset="-122"/>
              </a:rPr>
              <a:t>√  </a:t>
            </a:r>
            <a:endParaRPr lang="zh-CN" altLang="en-US" sz="5000" b="1" dirty="0">
              <a:solidFill>
                <a:srgbClr val="C00000"/>
              </a:solidFill>
              <a:latin typeface="华文细黑" panose="02010600040101010101" pitchFamily="2" charset="-122"/>
              <a:ea typeface="华文细黑" panose="02010600040101010101" pitchFamily="2" charset="-122"/>
            </a:endParaRPr>
          </a:p>
        </p:txBody>
      </p:sp>
      <p:sp>
        <p:nvSpPr>
          <p:cNvPr id="7" name="矩形 6"/>
          <p:cNvSpPr/>
          <p:nvPr/>
        </p:nvSpPr>
        <p:spPr>
          <a:xfrm>
            <a:off x="52007" y="4787565"/>
            <a:ext cx="761669" cy="861774"/>
          </a:xfrm>
          <a:prstGeom prst="rect">
            <a:avLst/>
          </a:prstGeom>
        </p:spPr>
        <p:txBody>
          <a:bodyPr wrap="square">
            <a:spAutoFit/>
          </a:bodyPr>
          <a:lstStyle/>
          <a:p>
            <a:r>
              <a:rPr lang="en-US" altLang="zh-CN" sz="5000" b="1" dirty="0">
                <a:solidFill>
                  <a:srgbClr val="C00000"/>
                </a:solidFill>
                <a:latin typeface="华文细黑" panose="02010600040101010101" pitchFamily="2" charset="-122"/>
                <a:ea typeface="华文细黑" panose="02010600040101010101" pitchFamily="2" charset="-122"/>
              </a:rPr>
              <a:t>√  </a:t>
            </a:r>
            <a:endParaRPr lang="zh-CN" altLang="en-US" sz="5000" b="1" dirty="0">
              <a:solidFill>
                <a:srgbClr val="C00000"/>
              </a:solidFill>
              <a:latin typeface="华文细黑" panose="02010600040101010101" pitchFamily="2" charset="-122"/>
              <a:ea typeface="华文细黑"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YT"/>
        <p:cNvGrpSpPr/>
        <p:nvPr/>
      </p:nvGrpSpPr>
      <p:grpSpPr>
        <a:xfrm>
          <a:off x="0" y="0"/>
          <a:ext cx="0" cy="0"/>
          <a:chOff x="0" y="0"/>
          <a:chExt cx="0" cy="0"/>
        </a:xfrm>
      </p:grpSpPr>
      <p:sp>
        <p:nvSpPr>
          <p:cNvPr id="16420" name="yt_shape_16420"/>
          <p:cNvSpPr txBox="1"/>
          <p:nvPr/>
        </p:nvSpPr>
        <p:spPr>
          <a:xfrm>
            <a:off x="324071" y="467999"/>
            <a:ext cx="11543998" cy="1135439"/>
          </a:xfrm>
          <a:prstGeom prst="rect">
            <a:avLst/>
          </a:prstGeom>
        </p:spPr>
        <p:txBody>
          <a:bodyPr vert="horz" wrap="square" lIns="0" tIns="0" rIns="0" bIns="0" rtlCol="0">
            <a:noAutofit/>
          </a:bodyPr>
          <a:lstStyle/>
          <a:p>
            <a:pPr algn="l" eaLnBrk="1" latinLnBrk="0" hangingPunct="0">
              <a:lnSpc>
                <a:spcPct val="140000"/>
              </a:lnSpc>
            </a:pPr>
            <a:r>
              <a:rPr lang="zh-CN" altLang="zh-CN" sz="2800" b="1" i="0" u="none">
                <a:solidFill>
                  <a:srgbClr val="000000"/>
                </a:solidFill>
                <a:effectLst/>
                <a:latin typeface="Times New Roman" pitchFamily="28"/>
                <a:ea typeface="微软雅黑" pitchFamily="28"/>
              </a:rPr>
              <a:t>【例</a:t>
            </a:r>
            <a:r>
              <a:rPr lang="en-US" altLang="zh-CN" sz="2800" b="1" i="0" u="none">
                <a:solidFill>
                  <a:srgbClr val="000000"/>
                </a:solidFill>
                <a:effectLst/>
                <a:latin typeface="Times New Roman" pitchFamily="28"/>
                <a:ea typeface="微软雅黑" pitchFamily="28"/>
              </a:rPr>
              <a:t>1</a:t>
            </a:r>
            <a:r>
              <a:rPr lang="zh-CN" altLang="zh-CN" sz="2800" b="1" i="0" u="none">
                <a:solidFill>
                  <a:srgbClr val="000000"/>
                </a:solidFill>
                <a:effectLst/>
                <a:latin typeface="Times New Roman" pitchFamily="28"/>
                <a:ea typeface="微软雅黑" pitchFamily="28"/>
              </a:rPr>
              <a:t>】　</a:t>
            </a:r>
            <a:r>
              <a:rPr lang="zh-CN" altLang="zh-CN" sz="2800" b="0" i="0" u="none">
                <a:solidFill>
                  <a:srgbClr val="000000"/>
                </a:solidFill>
                <a:effectLst/>
                <a:latin typeface="宋体" pitchFamily="28"/>
                <a:ea typeface="宋体" pitchFamily="28"/>
              </a:rPr>
              <a:t>（</a:t>
            </a:r>
            <a:r>
              <a:rPr lang="zh-CN" altLang="zh-CN" sz="2800" b="0" i="0" u="none">
                <a:solidFill>
                  <a:srgbClr val="000000"/>
                </a:solidFill>
                <a:effectLst/>
                <a:latin typeface="Times New Roman" pitchFamily="28"/>
                <a:ea typeface="楷体" pitchFamily="28"/>
              </a:rPr>
              <a:t>路端电压与外电阻关系的理解</a:t>
            </a:r>
            <a:r>
              <a:rPr lang="zh-CN" altLang="zh-CN" sz="2800" b="0" i="0" u="none">
                <a:solidFill>
                  <a:srgbClr val="000000"/>
                </a:solidFill>
                <a:effectLst/>
                <a:latin typeface="宋体" pitchFamily="28"/>
                <a:ea typeface="宋体" pitchFamily="28"/>
              </a:rPr>
              <a:t>）</a:t>
            </a:r>
            <a:r>
              <a:rPr lang="zh-CN" altLang="zh-CN" sz="2800" b="0" i="0" u="none">
                <a:solidFill>
                  <a:srgbClr val="000000"/>
                </a:solidFill>
                <a:effectLst/>
                <a:latin typeface="Times New Roman" pitchFamily="28"/>
                <a:ea typeface="宋体" pitchFamily="28"/>
              </a:rPr>
              <a:t>电源电动势为</a:t>
            </a:r>
            <a:r>
              <a:rPr lang="en-US" altLang="zh-CN" sz="2800" b="0" i="1" u="none">
                <a:solidFill>
                  <a:srgbClr val="000000"/>
                </a:solidFill>
                <a:effectLst/>
                <a:latin typeface="Times New Roman" pitchFamily="28"/>
                <a:ea typeface="宋体" pitchFamily="28"/>
              </a:rPr>
              <a:t>E</a:t>
            </a:r>
            <a:r>
              <a:rPr lang="zh-CN" altLang="zh-CN" sz="2800" b="0" i="0" u="none">
                <a:solidFill>
                  <a:srgbClr val="000000"/>
                </a:solidFill>
                <a:effectLst/>
                <a:latin typeface="宋体" pitchFamily="28"/>
                <a:ea typeface="宋体" pitchFamily="28"/>
              </a:rPr>
              <a:t>，</a:t>
            </a:r>
            <a:r>
              <a:rPr lang="zh-CN" altLang="zh-CN" sz="2800" b="0" i="0" u="none">
                <a:solidFill>
                  <a:srgbClr val="000000"/>
                </a:solidFill>
                <a:effectLst/>
                <a:latin typeface="Times New Roman" pitchFamily="28"/>
                <a:ea typeface="宋体" pitchFamily="28"/>
              </a:rPr>
              <a:t>内阻为</a:t>
            </a:r>
            <a:r>
              <a:rPr lang="en-US" altLang="zh-CN" sz="2800" b="0" i="1" u="none">
                <a:solidFill>
                  <a:srgbClr val="000000"/>
                </a:solidFill>
                <a:effectLst/>
                <a:latin typeface="Times New Roman" pitchFamily="28"/>
                <a:ea typeface="宋体" pitchFamily="28"/>
              </a:rPr>
              <a:t>r</a:t>
            </a:r>
            <a:r>
              <a:rPr lang="zh-CN" altLang="zh-CN" sz="2800" b="0" i="0" u="none">
                <a:solidFill>
                  <a:srgbClr val="000000"/>
                </a:solidFill>
                <a:effectLst/>
                <a:latin typeface="宋体" pitchFamily="28"/>
                <a:ea typeface="宋体" pitchFamily="28"/>
                <a:sym typeface="_⨹_1_4b814"/>
              </a:rPr>
              <a:t>，</a:t>
            </a:r>
            <a:br>
              <a:rPr lang="zh-CN" altLang="zh-CN" sz="2800" b="0" i="0" u="none">
                <a:solidFill>
                  <a:srgbClr val="000000"/>
                </a:solidFill>
                <a:effectLst/>
                <a:latin typeface="宋体" pitchFamily="28"/>
                <a:ea typeface="宋体" pitchFamily="28"/>
              </a:rPr>
            </a:br>
            <a:r>
              <a:rPr lang="zh-CN" altLang="zh-CN" sz="2800" b="0" i="0" u="none">
                <a:solidFill>
                  <a:srgbClr val="000000"/>
                </a:solidFill>
                <a:effectLst/>
                <a:latin typeface="Times New Roman" pitchFamily="28"/>
                <a:ea typeface="宋体" pitchFamily="28"/>
              </a:rPr>
              <a:t>向可变电阻</a:t>
            </a:r>
            <a:r>
              <a:rPr lang="en-US" altLang="zh-CN" sz="2800" b="0" i="1" u="none">
                <a:solidFill>
                  <a:srgbClr val="000000"/>
                </a:solidFill>
                <a:effectLst/>
                <a:latin typeface="Times New Roman" pitchFamily="28"/>
                <a:ea typeface="宋体" pitchFamily="28"/>
              </a:rPr>
              <a:t>R</a:t>
            </a:r>
            <a:r>
              <a:rPr lang="zh-CN" altLang="zh-CN" sz="2800" b="0" i="0" u="none">
                <a:solidFill>
                  <a:srgbClr val="000000"/>
                </a:solidFill>
                <a:effectLst/>
                <a:latin typeface="Times New Roman" pitchFamily="28"/>
                <a:ea typeface="宋体" pitchFamily="28"/>
              </a:rPr>
              <a:t>供电</a:t>
            </a:r>
            <a:r>
              <a:rPr lang="zh-CN" altLang="zh-CN" sz="2800" b="0" i="0" u="none">
                <a:solidFill>
                  <a:srgbClr val="000000"/>
                </a:solidFill>
                <a:effectLst/>
                <a:latin typeface="宋体" pitchFamily="28"/>
                <a:ea typeface="宋体" pitchFamily="28"/>
              </a:rPr>
              <a:t>，</a:t>
            </a:r>
            <a:r>
              <a:rPr lang="zh-CN" altLang="zh-CN" sz="2800" b="0" i="0" u="none">
                <a:solidFill>
                  <a:srgbClr val="000000"/>
                </a:solidFill>
                <a:effectLst/>
                <a:latin typeface="Times New Roman" pitchFamily="28"/>
                <a:ea typeface="宋体" pitchFamily="28"/>
              </a:rPr>
              <a:t>关于路端电压</a:t>
            </a:r>
            <a:r>
              <a:rPr lang="zh-CN" altLang="zh-CN" sz="2800" b="0" i="0" u="none">
                <a:solidFill>
                  <a:srgbClr val="000000"/>
                </a:solidFill>
                <a:effectLst/>
                <a:latin typeface="宋体" pitchFamily="28"/>
                <a:ea typeface="宋体" pitchFamily="28"/>
              </a:rPr>
              <a:t>，</a:t>
            </a:r>
            <a:r>
              <a:rPr lang="zh-CN" altLang="zh-CN" sz="2800" b="0" i="0" u="none">
                <a:solidFill>
                  <a:srgbClr val="000000"/>
                </a:solidFill>
                <a:effectLst/>
                <a:latin typeface="Times New Roman" pitchFamily="28"/>
                <a:ea typeface="宋体" pitchFamily="28"/>
              </a:rPr>
              <a:t>下列说法正确的是</a:t>
            </a:r>
            <a:r>
              <a:rPr lang="zh-CN" altLang="zh-CN" sz="2800" b="0" i="0" u="none">
                <a:solidFill>
                  <a:srgbClr val="000000"/>
                </a:solidFill>
                <a:effectLst/>
                <a:latin typeface="宋体" pitchFamily="28"/>
                <a:ea typeface="宋体" pitchFamily="28"/>
              </a:rPr>
              <a:t>（</a:t>
            </a:r>
            <a:r>
              <a:rPr lang="zh-CN" altLang="zh-CN" sz="2800" b="0" i="1" u="none">
                <a:solidFill>
                  <a:srgbClr val="000000"/>
                </a:solidFill>
                <a:effectLst/>
                <a:latin typeface="Times New Roman" pitchFamily="28"/>
                <a:ea typeface="宋体" pitchFamily="28"/>
              </a:rPr>
              <a:t>　　</a:t>
            </a:r>
            <a:r>
              <a:rPr lang="zh-CN" altLang="zh-CN" sz="2800" b="0" i="0" u="none">
                <a:solidFill>
                  <a:srgbClr val="000000"/>
                </a:solidFill>
                <a:effectLst/>
                <a:latin typeface="宋体" pitchFamily="28"/>
                <a:ea typeface="宋体" pitchFamily="28"/>
              </a:rPr>
              <a:t>）</a:t>
            </a:r>
          </a:p>
        </p:txBody>
      </p:sp>
      <p:graphicFrame>
        <p:nvGraphicFramePr>
          <p:cNvPr id="16421" name="yt_table_16421" title="H_141.12">
            <a:extLst>
              <a:ext uri="{FF2B5EF4-FFF2-40B4-BE49-F238E27FC236}">
                <a16:creationId xmlns:a16="http://schemas.microsoft.com/office/drawing/2014/main" id="{85F9CD91-DE56-4981-AD6D-3D4292DC4A24}"/>
              </a:ext>
            </a:extLst>
          </p:cNvPr>
          <p:cNvGraphicFramePr>
            <a:graphicFrameLocks noGrp="1"/>
          </p:cNvGraphicFramePr>
          <p:nvPr/>
        </p:nvGraphicFramePr>
        <p:xfrm>
          <a:off x="324066" y="1654226"/>
          <a:ext cx="9139248" cy="2389632"/>
        </p:xfrm>
        <a:graphic>
          <a:graphicData uri="http://schemas.openxmlformats.org/drawingml/2006/table">
            <a:tbl>
              <a:tblPr/>
              <a:tblGrid>
                <a:gridCol w="9139248">
                  <a:extLst>
                    <a:ext uri="{9D8B030D-6E8A-4147-A177-3AD203B41FA5}">
                      <a16:colId xmlns:a16="http://schemas.microsoft.com/office/drawing/2014/main" val="10566"/>
                    </a:ext>
                  </a:extLst>
                </a:gridCol>
              </a:tblGrid>
              <a:tr h="1112520">
                <a:tc>
                  <a:txBody>
                    <a:bodyPr/>
                    <a:lstStyle/>
                    <a:p>
                      <a:pPr marL="523174" indent="-523174" algn="l" eaLnBrk="1" fontAlgn="ctr" latinLnBrk="0" hangingPunct="0">
                        <a:lnSpc>
                          <a:spcPct val="140000"/>
                        </a:lnSpc>
                      </a:pPr>
                      <a:r>
                        <a:rPr lang="en-US" altLang="zh-CN" sz="2800" b="0" i="0" u="none" dirty="0">
                          <a:solidFill>
                            <a:srgbClr val="000000"/>
                          </a:solidFill>
                          <a:effectLst/>
                          <a:latin typeface="Times New Roman" pitchFamily="28"/>
                          <a:ea typeface="宋体" pitchFamily="28"/>
                        </a:rPr>
                        <a:t>A</a:t>
                      </a:r>
                      <a:r>
                        <a:rPr lang="en-US" altLang="zh-CN" sz="2800" b="0" i="0" u="none" dirty="0">
                          <a:solidFill>
                            <a:srgbClr val="000000"/>
                          </a:solidFill>
                          <a:effectLst/>
                          <a:latin typeface="宋体" pitchFamily="28"/>
                          <a:ea typeface="宋体" pitchFamily="28"/>
                        </a:rPr>
                        <a:t>.</a:t>
                      </a:r>
                      <a:r>
                        <a:rPr lang="en-US" altLang="zh-CN" sz="2800" b="0" i="0" u="none" dirty="0">
                          <a:solidFill>
                            <a:srgbClr val="000000"/>
                          </a:solidFill>
                          <a:effectLst/>
                          <a:latin typeface="Times New Roman" pitchFamily="28"/>
                          <a:ea typeface="宋体" pitchFamily="28"/>
                        </a:rPr>
                        <a:t> </a:t>
                      </a:r>
                      <a:r>
                        <a:rPr lang="zh-CN" altLang="zh-CN" sz="2800" b="0" i="0" u="none" dirty="0">
                          <a:solidFill>
                            <a:srgbClr val="000000"/>
                          </a:solidFill>
                          <a:effectLst/>
                          <a:latin typeface="Times New Roman" pitchFamily="28"/>
                          <a:ea typeface="宋体" pitchFamily="28"/>
                        </a:rPr>
                        <a:t>因为电源电动势不变</a:t>
                      </a:r>
                      <a:r>
                        <a:rPr lang="zh-CN" altLang="zh-CN" sz="2800" b="0" i="0" u="none" dirty="0">
                          <a:solidFill>
                            <a:srgbClr val="000000"/>
                          </a:solidFill>
                          <a:effectLst/>
                          <a:latin typeface="宋体" pitchFamily="28"/>
                          <a:ea typeface="宋体" pitchFamily="28"/>
                        </a:rPr>
                        <a:t>，</a:t>
                      </a:r>
                      <a:r>
                        <a:rPr lang="zh-CN" altLang="zh-CN" sz="2800" b="0" i="0" u="none" dirty="0">
                          <a:solidFill>
                            <a:srgbClr val="000000"/>
                          </a:solidFill>
                          <a:effectLst/>
                          <a:latin typeface="Times New Roman" pitchFamily="28"/>
                          <a:ea typeface="宋体" pitchFamily="28"/>
                        </a:rPr>
                        <a:t>所以路端电压也不变</a:t>
                      </a:r>
                    </a:p>
                    <a:p>
                      <a:pPr marL="503492" indent="-503492" algn="l" eaLnBrk="1" fontAlgn="ctr" latinLnBrk="0" hangingPunct="0">
                        <a:lnSpc>
                          <a:spcPct val="140000"/>
                        </a:lnSpc>
                      </a:pPr>
                      <a:r>
                        <a:rPr lang="en-US" altLang="zh-CN" sz="2800" b="0" i="0" u="none" dirty="0">
                          <a:solidFill>
                            <a:srgbClr val="000000"/>
                          </a:solidFill>
                          <a:effectLst/>
                          <a:latin typeface="Times New Roman" pitchFamily="28"/>
                          <a:ea typeface="宋体" pitchFamily="28"/>
                        </a:rPr>
                        <a:t>B</a:t>
                      </a:r>
                      <a:r>
                        <a:rPr lang="en-US" altLang="zh-CN" sz="2800" b="0" i="0" u="none" dirty="0">
                          <a:solidFill>
                            <a:srgbClr val="000000"/>
                          </a:solidFill>
                          <a:effectLst/>
                          <a:latin typeface="宋体" pitchFamily="28"/>
                          <a:ea typeface="宋体" pitchFamily="28"/>
                        </a:rPr>
                        <a:t>.</a:t>
                      </a:r>
                      <a:r>
                        <a:rPr lang="en-US" altLang="zh-CN" sz="2800" b="0" i="0" u="none" dirty="0">
                          <a:solidFill>
                            <a:srgbClr val="000000"/>
                          </a:solidFill>
                          <a:effectLst/>
                          <a:latin typeface="Times New Roman" pitchFamily="28"/>
                          <a:ea typeface="宋体" pitchFamily="28"/>
                        </a:rPr>
                        <a:t> </a:t>
                      </a:r>
                      <a:r>
                        <a:rPr lang="zh-CN" altLang="zh-CN" sz="2800" b="0" i="0" u="none" dirty="0">
                          <a:solidFill>
                            <a:srgbClr val="000000"/>
                          </a:solidFill>
                          <a:effectLst/>
                          <a:latin typeface="Times New Roman" pitchFamily="28"/>
                          <a:ea typeface="宋体" pitchFamily="28"/>
                        </a:rPr>
                        <a:t>因为</a:t>
                      </a:r>
                      <a:r>
                        <a:rPr lang="en-US" altLang="zh-CN" sz="2800" b="0" i="1" u="none" dirty="0">
                          <a:solidFill>
                            <a:srgbClr val="000000"/>
                          </a:solidFill>
                          <a:effectLst/>
                          <a:latin typeface="Times New Roman" pitchFamily="28"/>
                          <a:ea typeface="宋体" pitchFamily="28"/>
                        </a:rPr>
                        <a:t>U</a:t>
                      </a:r>
                      <a:r>
                        <a:rPr lang="zh-CN" altLang="zh-CN" sz="2800" b="0" i="0" u="none" dirty="0">
                          <a:solidFill>
                            <a:srgbClr val="000000"/>
                          </a:solidFill>
                          <a:effectLst/>
                          <a:latin typeface="宋体" pitchFamily="28"/>
                          <a:ea typeface="宋体" pitchFamily="28"/>
                        </a:rPr>
                        <a:t>＝</a:t>
                      </a:r>
                      <a:r>
                        <a:rPr lang="en-US" altLang="zh-CN" sz="2800" b="0" i="1" u="none" dirty="0">
                          <a:solidFill>
                            <a:srgbClr val="000000"/>
                          </a:solidFill>
                          <a:effectLst/>
                          <a:latin typeface="Times New Roman" pitchFamily="28"/>
                          <a:ea typeface="宋体" pitchFamily="28"/>
                        </a:rPr>
                        <a:t>IR</a:t>
                      </a:r>
                      <a:r>
                        <a:rPr lang="zh-CN" altLang="zh-CN" sz="2800" b="0" i="0" u="none" dirty="0">
                          <a:solidFill>
                            <a:srgbClr val="000000"/>
                          </a:solidFill>
                          <a:effectLst/>
                          <a:latin typeface="宋体" pitchFamily="28"/>
                          <a:ea typeface="宋体" pitchFamily="28"/>
                        </a:rPr>
                        <a:t>，</a:t>
                      </a:r>
                      <a:r>
                        <a:rPr lang="zh-CN" altLang="zh-CN" sz="2800" b="0" i="0" u="none" dirty="0">
                          <a:solidFill>
                            <a:srgbClr val="000000"/>
                          </a:solidFill>
                          <a:effectLst/>
                          <a:latin typeface="Times New Roman" pitchFamily="28"/>
                          <a:ea typeface="宋体" pitchFamily="28"/>
                        </a:rPr>
                        <a:t>所以当</a:t>
                      </a:r>
                      <a:r>
                        <a:rPr lang="en-US" altLang="zh-CN" sz="2800" b="0" i="1" u="none" dirty="0">
                          <a:solidFill>
                            <a:srgbClr val="000000"/>
                          </a:solidFill>
                          <a:effectLst/>
                          <a:latin typeface="Times New Roman" pitchFamily="28"/>
                          <a:ea typeface="宋体" pitchFamily="28"/>
                        </a:rPr>
                        <a:t>I</a:t>
                      </a:r>
                      <a:r>
                        <a:rPr lang="zh-CN" altLang="zh-CN" sz="2800" b="0" i="0" u="none" dirty="0">
                          <a:solidFill>
                            <a:srgbClr val="000000"/>
                          </a:solidFill>
                          <a:effectLst/>
                          <a:latin typeface="Times New Roman" pitchFamily="28"/>
                          <a:ea typeface="宋体" pitchFamily="28"/>
                        </a:rPr>
                        <a:t>增大时</a:t>
                      </a:r>
                      <a:r>
                        <a:rPr lang="zh-CN" altLang="zh-CN" sz="2800" b="0" i="0" u="none" dirty="0">
                          <a:solidFill>
                            <a:srgbClr val="000000"/>
                          </a:solidFill>
                          <a:effectLst/>
                          <a:latin typeface="宋体" pitchFamily="28"/>
                          <a:ea typeface="宋体" pitchFamily="28"/>
                        </a:rPr>
                        <a:t>，</a:t>
                      </a:r>
                      <a:r>
                        <a:rPr lang="zh-CN" altLang="zh-CN" sz="2800" b="0" i="0" u="none" dirty="0">
                          <a:solidFill>
                            <a:srgbClr val="000000"/>
                          </a:solidFill>
                          <a:effectLst/>
                          <a:latin typeface="Times New Roman" pitchFamily="28"/>
                          <a:ea typeface="宋体" pitchFamily="28"/>
                        </a:rPr>
                        <a:t>路端电压也增大</a:t>
                      </a:r>
                    </a:p>
                    <a:p>
                      <a:pPr marL="503492" indent="-503492" algn="l" eaLnBrk="1" fontAlgn="ctr" latinLnBrk="0" hangingPunct="0">
                        <a:lnSpc>
                          <a:spcPct val="140000"/>
                        </a:lnSpc>
                      </a:pPr>
                      <a:r>
                        <a:rPr lang="en-US" altLang="zh-CN" sz="2800" b="0" i="0" u="none" dirty="0">
                          <a:solidFill>
                            <a:srgbClr val="000000"/>
                          </a:solidFill>
                          <a:effectLst/>
                          <a:latin typeface="Times New Roman" pitchFamily="28"/>
                          <a:ea typeface="宋体" pitchFamily="28"/>
                        </a:rPr>
                        <a:t>C</a:t>
                      </a:r>
                      <a:r>
                        <a:rPr lang="en-US" altLang="zh-CN" sz="2800" b="0" i="0" u="none" dirty="0">
                          <a:solidFill>
                            <a:srgbClr val="000000"/>
                          </a:solidFill>
                          <a:effectLst/>
                          <a:latin typeface="宋体" pitchFamily="28"/>
                          <a:ea typeface="宋体" pitchFamily="28"/>
                        </a:rPr>
                        <a:t>.</a:t>
                      </a:r>
                      <a:r>
                        <a:rPr lang="en-US" altLang="zh-CN" sz="2800" b="0" i="0" u="none" dirty="0">
                          <a:solidFill>
                            <a:srgbClr val="000000"/>
                          </a:solidFill>
                          <a:effectLst/>
                          <a:latin typeface="Times New Roman" pitchFamily="28"/>
                          <a:ea typeface="宋体" pitchFamily="28"/>
                        </a:rPr>
                        <a:t> </a:t>
                      </a:r>
                      <a:r>
                        <a:rPr lang="zh-CN" altLang="zh-CN" sz="2800" b="0" i="0" u="none" dirty="0">
                          <a:solidFill>
                            <a:srgbClr val="000000"/>
                          </a:solidFill>
                          <a:effectLst/>
                          <a:latin typeface="Times New Roman" pitchFamily="28"/>
                          <a:ea typeface="宋体" pitchFamily="28"/>
                        </a:rPr>
                        <a:t>因为</a:t>
                      </a:r>
                      <a:r>
                        <a:rPr lang="en-US" altLang="zh-CN" sz="2800" b="0" i="1" u="none" dirty="0">
                          <a:solidFill>
                            <a:srgbClr val="000000"/>
                          </a:solidFill>
                          <a:effectLst/>
                          <a:latin typeface="Times New Roman" pitchFamily="28"/>
                          <a:ea typeface="宋体" pitchFamily="28"/>
                        </a:rPr>
                        <a:t>U</a:t>
                      </a:r>
                      <a:r>
                        <a:rPr lang="zh-CN" altLang="zh-CN" sz="2800" b="0" i="0" u="none" dirty="0">
                          <a:solidFill>
                            <a:srgbClr val="000000"/>
                          </a:solidFill>
                          <a:effectLst/>
                          <a:latin typeface="宋体" pitchFamily="28"/>
                          <a:ea typeface="宋体" pitchFamily="28"/>
                        </a:rPr>
                        <a:t>＝</a:t>
                      </a:r>
                      <a:r>
                        <a:rPr lang="en-US" altLang="zh-CN" sz="2800" b="0" i="1" u="none" dirty="0">
                          <a:solidFill>
                            <a:srgbClr val="000000"/>
                          </a:solidFill>
                          <a:effectLst/>
                          <a:latin typeface="Times New Roman" pitchFamily="28"/>
                          <a:ea typeface="宋体" pitchFamily="28"/>
                        </a:rPr>
                        <a:t>E</a:t>
                      </a:r>
                      <a:r>
                        <a:rPr lang="zh-CN" altLang="zh-CN" sz="2800" b="0" i="0" u="none" dirty="0">
                          <a:solidFill>
                            <a:srgbClr val="000000"/>
                          </a:solidFill>
                          <a:effectLst/>
                          <a:latin typeface="宋体" pitchFamily="28"/>
                          <a:ea typeface="宋体" pitchFamily="28"/>
                        </a:rPr>
                        <a:t>－</a:t>
                      </a:r>
                      <a:r>
                        <a:rPr lang="en-US" altLang="zh-CN" sz="2800" b="0" i="1" u="none" dirty="0" err="1">
                          <a:solidFill>
                            <a:srgbClr val="000000"/>
                          </a:solidFill>
                          <a:effectLst/>
                          <a:latin typeface="Times New Roman" pitchFamily="28"/>
                          <a:ea typeface="宋体" pitchFamily="28"/>
                        </a:rPr>
                        <a:t>Ir</a:t>
                      </a:r>
                      <a:r>
                        <a:rPr lang="zh-CN" altLang="zh-CN" sz="2800" b="0" i="0" u="none" dirty="0">
                          <a:solidFill>
                            <a:srgbClr val="000000"/>
                          </a:solidFill>
                          <a:effectLst/>
                          <a:latin typeface="宋体" pitchFamily="28"/>
                          <a:ea typeface="宋体" pitchFamily="28"/>
                        </a:rPr>
                        <a:t>，</a:t>
                      </a:r>
                      <a:r>
                        <a:rPr lang="zh-CN" altLang="zh-CN" sz="2800" b="0" i="0" u="none" dirty="0">
                          <a:solidFill>
                            <a:srgbClr val="000000"/>
                          </a:solidFill>
                          <a:effectLst/>
                          <a:latin typeface="Times New Roman" pitchFamily="28"/>
                          <a:ea typeface="宋体" pitchFamily="28"/>
                        </a:rPr>
                        <a:t>所以当</a:t>
                      </a:r>
                      <a:r>
                        <a:rPr lang="en-US" altLang="zh-CN" sz="2800" b="0" i="1" u="none" dirty="0">
                          <a:solidFill>
                            <a:srgbClr val="000000"/>
                          </a:solidFill>
                          <a:effectLst/>
                          <a:latin typeface="Times New Roman" pitchFamily="28"/>
                          <a:ea typeface="宋体" pitchFamily="28"/>
                        </a:rPr>
                        <a:t>I</a:t>
                      </a:r>
                      <a:r>
                        <a:rPr lang="zh-CN" altLang="zh-CN" sz="2800" b="0" i="0" u="none" dirty="0">
                          <a:solidFill>
                            <a:srgbClr val="000000"/>
                          </a:solidFill>
                          <a:effectLst/>
                          <a:latin typeface="Times New Roman" pitchFamily="28"/>
                          <a:ea typeface="宋体" pitchFamily="28"/>
                        </a:rPr>
                        <a:t>增大时</a:t>
                      </a:r>
                      <a:r>
                        <a:rPr lang="zh-CN" altLang="zh-CN" sz="2800" b="0" i="0" u="none" dirty="0">
                          <a:solidFill>
                            <a:srgbClr val="000000"/>
                          </a:solidFill>
                          <a:effectLst/>
                          <a:latin typeface="宋体" pitchFamily="28"/>
                          <a:ea typeface="宋体" pitchFamily="28"/>
                        </a:rPr>
                        <a:t>，</a:t>
                      </a:r>
                      <a:r>
                        <a:rPr lang="zh-CN" altLang="zh-CN" sz="2800" b="0" i="0" u="none" dirty="0">
                          <a:solidFill>
                            <a:srgbClr val="000000"/>
                          </a:solidFill>
                          <a:effectLst/>
                          <a:latin typeface="Times New Roman" pitchFamily="28"/>
                          <a:ea typeface="宋体" pitchFamily="28"/>
                        </a:rPr>
                        <a:t>路端电压减小</a:t>
                      </a:r>
                    </a:p>
                    <a:p>
                      <a:pPr marL="523174" indent="-523174" algn="l" eaLnBrk="1" fontAlgn="ctr" latinLnBrk="0" hangingPunct="0">
                        <a:lnSpc>
                          <a:spcPct val="140000"/>
                        </a:lnSpc>
                      </a:pPr>
                      <a:r>
                        <a:rPr lang="en-US" altLang="zh-CN" sz="2800" b="0" i="0" u="none" dirty="0">
                          <a:solidFill>
                            <a:srgbClr val="000000"/>
                          </a:solidFill>
                          <a:effectLst/>
                          <a:latin typeface="Times New Roman" pitchFamily="28"/>
                          <a:ea typeface="宋体" pitchFamily="28"/>
                        </a:rPr>
                        <a:t>D</a:t>
                      </a:r>
                      <a:r>
                        <a:rPr lang="en-US" altLang="zh-CN" sz="2800" b="0" i="0" u="none" dirty="0">
                          <a:solidFill>
                            <a:srgbClr val="000000"/>
                          </a:solidFill>
                          <a:effectLst/>
                          <a:latin typeface="宋体" pitchFamily="28"/>
                          <a:ea typeface="宋体" pitchFamily="28"/>
                        </a:rPr>
                        <a:t>.</a:t>
                      </a:r>
                      <a:r>
                        <a:rPr lang="en-US" altLang="zh-CN" sz="2800" b="0" i="0" u="none" dirty="0">
                          <a:solidFill>
                            <a:srgbClr val="000000"/>
                          </a:solidFill>
                          <a:effectLst/>
                          <a:latin typeface="Times New Roman" pitchFamily="28"/>
                          <a:ea typeface="宋体" pitchFamily="28"/>
                        </a:rPr>
                        <a:t> </a:t>
                      </a:r>
                      <a:r>
                        <a:rPr lang="zh-CN" altLang="zh-CN" sz="2800" b="0" i="0" u="none" dirty="0">
                          <a:solidFill>
                            <a:srgbClr val="000000"/>
                          </a:solidFill>
                          <a:effectLst/>
                          <a:latin typeface="Times New Roman" pitchFamily="28"/>
                          <a:ea typeface="宋体" pitchFamily="28"/>
                        </a:rPr>
                        <a:t>若外电路断开</a:t>
                      </a:r>
                      <a:r>
                        <a:rPr lang="zh-CN" altLang="zh-CN" sz="2800" b="0" i="0" u="none" dirty="0">
                          <a:solidFill>
                            <a:srgbClr val="000000"/>
                          </a:solidFill>
                          <a:effectLst/>
                          <a:latin typeface="宋体" pitchFamily="28"/>
                          <a:ea typeface="宋体" pitchFamily="28"/>
                        </a:rPr>
                        <a:t>，</a:t>
                      </a:r>
                      <a:r>
                        <a:rPr lang="zh-CN" altLang="zh-CN" sz="2800" b="0" i="0" u="none" dirty="0">
                          <a:solidFill>
                            <a:srgbClr val="000000"/>
                          </a:solidFill>
                          <a:effectLst/>
                          <a:latin typeface="Times New Roman" pitchFamily="28"/>
                          <a:ea typeface="宋体" pitchFamily="28"/>
                        </a:rPr>
                        <a:t>则路端电压为零</a:t>
                      </a:r>
                    </a:p>
                  </a:txBody>
                  <a:tcPr marL="0" marR="0" marT="0" marB="0" anchor="ctr">
                    <a:lnL w="9522" cmpd="sng">
                      <a:noFill/>
                    </a:lnL>
                    <a:lnR w="12700" cmpd="sng">
                      <a:noFill/>
                      <a:prstDash val="solid"/>
                    </a:lnR>
                    <a:lnT w="9522" cmpd="sng">
                      <a:noFill/>
                    </a:lnT>
                    <a:lnB w="9522" cmpd="sng">
                      <a:noFill/>
                    </a:lnB>
                    <a:lnTlToBr w="12700" cmpd="sng">
                      <a:noFill/>
                      <a:prstDash val="solid"/>
                    </a:lnTlToBr>
                    <a:lnBlToTr w="12700" cmpd="sng">
                      <a:noFill/>
                      <a:prstDash val="solid"/>
                    </a:lnBlToTr>
                  </a:tcPr>
                </a:tc>
                <a:extLst>
                  <a:ext uri="{0D108BD9-81ED-4DB2-BD59-A6C34878D82A}">
                    <a16:rowId xmlns:a16="http://schemas.microsoft.com/office/drawing/2014/main" val="11412"/>
                  </a:ext>
                </a:extLst>
              </a:tr>
            </a:tbl>
          </a:graphicData>
        </a:graphic>
      </p:graphicFrame>
      <p:sp>
        <p:nvSpPr>
          <p:cNvPr id="16424" name="yt_shape_16424"/>
          <p:cNvSpPr txBox="1"/>
          <p:nvPr/>
        </p:nvSpPr>
        <p:spPr>
          <a:xfrm>
            <a:off x="324071" y="4085278"/>
            <a:ext cx="11924914" cy="2341923"/>
          </a:xfrm>
          <a:prstGeom prst="rect">
            <a:avLst/>
          </a:prstGeom>
        </p:spPr>
        <p:txBody>
          <a:bodyPr vert="horz" wrap="square" lIns="0" tIns="0" rIns="0" bIns="0" rtlCol="0">
            <a:noAutofit/>
          </a:bodyPr>
          <a:lstStyle/>
          <a:p>
            <a:pPr algn="l" eaLnBrk="1" latinLnBrk="0" hangingPunct="0">
              <a:lnSpc>
                <a:spcPct val="140000"/>
              </a:lnSpc>
            </a:pPr>
            <a:r>
              <a:rPr lang="zh-CN" altLang="zh-CN" sz="2800" b="0" i="0" u="none" spc="150" dirty="0">
                <a:solidFill>
                  <a:srgbClr val="0000FF"/>
                </a:solidFill>
                <a:effectLst/>
                <a:latin typeface="微软雅黑" pitchFamily="28"/>
                <a:ea typeface="微软雅黑" pitchFamily="28"/>
              </a:rPr>
              <a:t>解析：</a:t>
            </a:r>
            <a:r>
              <a:rPr lang="zh-CN" altLang="zh-CN" sz="2800" b="0" i="0" u="none" spc="150" dirty="0">
                <a:solidFill>
                  <a:srgbClr val="C00000"/>
                </a:solidFill>
                <a:effectLst/>
                <a:latin typeface="Times New Roman" pitchFamily="28"/>
                <a:ea typeface="仿宋" pitchFamily="28"/>
              </a:rPr>
              <a:t>路端电压</a:t>
            </a:r>
            <a:r>
              <a:rPr lang="en-US" altLang="zh-CN" sz="2800" b="0" i="1" u="none" spc="150" dirty="0">
                <a:solidFill>
                  <a:srgbClr val="C00000"/>
                </a:solidFill>
                <a:effectLst/>
                <a:latin typeface="Times New Roman" pitchFamily="28"/>
                <a:ea typeface="宋体" pitchFamily="28"/>
              </a:rPr>
              <a:t>U</a:t>
            </a:r>
            <a:r>
              <a:rPr lang="zh-CN" altLang="zh-CN" sz="2800" b="0" i="0" u="none" spc="150" dirty="0">
                <a:solidFill>
                  <a:srgbClr val="C00000"/>
                </a:solidFill>
                <a:effectLst/>
                <a:latin typeface="宋体" pitchFamily="28"/>
                <a:ea typeface="宋体" pitchFamily="28"/>
              </a:rPr>
              <a:t>＝</a:t>
            </a:r>
            <a:r>
              <a:rPr lang="en-US" altLang="zh-CN" sz="2800" b="0" i="1" u="none" spc="150" dirty="0">
                <a:solidFill>
                  <a:srgbClr val="C00000"/>
                </a:solidFill>
                <a:effectLst/>
                <a:latin typeface="Times New Roman" pitchFamily="28"/>
                <a:ea typeface="宋体" pitchFamily="28"/>
              </a:rPr>
              <a:t>IR</a:t>
            </a:r>
            <a:r>
              <a:rPr lang="zh-CN" altLang="zh-CN" sz="2800" b="0" i="0" u="none" spc="150" dirty="0">
                <a:solidFill>
                  <a:srgbClr val="C00000"/>
                </a:solidFill>
                <a:effectLst/>
                <a:latin typeface="宋体" pitchFamily="28"/>
                <a:ea typeface="宋体" pitchFamily="28"/>
              </a:rPr>
              <a:t>＝</a:t>
            </a:r>
            <a:r>
              <a:rPr lang="en-US" altLang="zh-CN" sz="2800" b="0" i="1" u="none" spc="150" dirty="0">
                <a:solidFill>
                  <a:srgbClr val="C00000"/>
                </a:solidFill>
                <a:effectLst/>
                <a:latin typeface="Times New Roman" pitchFamily="28"/>
                <a:ea typeface="宋体" pitchFamily="28"/>
              </a:rPr>
              <a:t>E</a:t>
            </a:r>
            <a:r>
              <a:rPr lang="zh-CN" altLang="zh-CN" sz="2800" b="0" i="0" u="none" spc="150" dirty="0">
                <a:solidFill>
                  <a:srgbClr val="C00000"/>
                </a:solidFill>
                <a:effectLst/>
                <a:latin typeface="宋体" pitchFamily="28"/>
                <a:ea typeface="宋体" pitchFamily="28"/>
              </a:rPr>
              <a:t>－</a:t>
            </a:r>
            <a:r>
              <a:rPr lang="en-US" altLang="zh-CN" sz="2800" b="0" i="1" u="none" spc="150" dirty="0" err="1">
                <a:solidFill>
                  <a:srgbClr val="C00000"/>
                </a:solidFill>
                <a:effectLst/>
                <a:latin typeface="Times New Roman" pitchFamily="28"/>
                <a:ea typeface="宋体" pitchFamily="28"/>
              </a:rPr>
              <a:t>Ir</a:t>
            </a:r>
            <a:r>
              <a:rPr lang="zh-CN" altLang="zh-CN" sz="2800" b="0" i="0" u="none" spc="150" dirty="0">
                <a:solidFill>
                  <a:srgbClr val="C00000"/>
                </a:solidFill>
                <a:effectLst/>
                <a:latin typeface="宋体" pitchFamily="28"/>
                <a:ea typeface="宋体" pitchFamily="28"/>
              </a:rPr>
              <a:t>，</a:t>
            </a:r>
            <a:r>
              <a:rPr lang="zh-CN" altLang="zh-CN" sz="2800" b="0" i="0" u="none" spc="150" dirty="0">
                <a:solidFill>
                  <a:srgbClr val="C00000"/>
                </a:solidFill>
                <a:effectLst/>
                <a:latin typeface="Times New Roman" pitchFamily="28"/>
                <a:ea typeface="仿宋" pitchFamily="28"/>
              </a:rPr>
              <a:t>因为</a:t>
            </a:r>
            <a:r>
              <a:rPr lang="en-US" altLang="zh-CN" sz="2800" b="0" i="1" u="none" spc="150" dirty="0">
                <a:solidFill>
                  <a:srgbClr val="C00000"/>
                </a:solidFill>
                <a:effectLst/>
                <a:latin typeface="Times New Roman" pitchFamily="28"/>
                <a:ea typeface="宋体" pitchFamily="28"/>
              </a:rPr>
              <a:t>I</a:t>
            </a:r>
            <a:r>
              <a:rPr lang="zh-CN" altLang="zh-CN" sz="2800" b="0" i="0" u="none" spc="150" dirty="0">
                <a:solidFill>
                  <a:srgbClr val="C00000"/>
                </a:solidFill>
                <a:effectLst/>
                <a:latin typeface="Times New Roman" pitchFamily="28"/>
                <a:ea typeface="仿宋" pitchFamily="28"/>
              </a:rPr>
              <a:t>增大时</a:t>
            </a:r>
            <a:r>
              <a:rPr lang="zh-CN" altLang="zh-CN" sz="2800" b="0" i="0" u="none" spc="150" dirty="0">
                <a:solidFill>
                  <a:srgbClr val="C00000"/>
                </a:solidFill>
                <a:effectLst/>
                <a:latin typeface="宋体" pitchFamily="28"/>
                <a:ea typeface="宋体" pitchFamily="28"/>
              </a:rPr>
              <a:t>，</a:t>
            </a:r>
            <a:r>
              <a:rPr lang="en-US" altLang="zh-CN" sz="2800" b="0" i="1" u="none" spc="150" dirty="0">
                <a:solidFill>
                  <a:srgbClr val="C00000"/>
                </a:solidFill>
                <a:effectLst/>
                <a:latin typeface="Times New Roman" pitchFamily="28"/>
                <a:ea typeface="宋体" pitchFamily="28"/>
              </a:rPr>
              <a:t>R</a:t>
            </a:r>
            <a:r>
              <a:rPr lang="zh-CN" altLang="zh-CN" sz="2800" b="0" i="0" u="none" spc="150" dirty="0">
                <a:solidFill>
                  <a:srgbClr val="C00000"/>
                </a:solidFill>
                <a:effectLst/>
                <a:latin typeface="Times New Roman" pitchFamily="28"/>
                <a:ea typeface="仿宋" pitchFamily="28"/>
              </a:rPr>
              <a:t>减小</a:t>
            </a:r>
            <a:r>
              <a:rPr lang="zh-CN" altLang="zh-CN" sz="2800" b="0" i="0" u="none" spc="150" dirty="0">
                <a:solidFill>
                  <a:srgbClr val="C00000"/>
                </a:solidFill>
                <a:effectLst/>
                <a:latin typeface="宋体" pitchFamily="28"/>
                <a:ea typeface="宋体" pitchFamily="28"/>
              </a:rPr>
              <a:t>，</a:t>
            </a:r>
            <a:r>
              <a:rPr lang="zh-CN" altLang="zh-CN" sz="2800" b="0" i="0" u="none" spc="150" dirty="0">
                <a:solidFill>
                  <a:srgbClr val="C00000"/>
                </a:solidFill>
                <a:effectLst/>
                <a:latin typeface="Times New Roman" pitchFamily="28"/>
                <a:ea typeface="仿宋" pitchFamily="28"/>
              </a:rPr>
              <a:t>所以不能用</a:t>
            </a:r>
            <a:r>
              <a:rPr lang="en-US" altLang="zh-CN" sz="2800" b="0" i="1" u="none" spc="150" dirty="0">
                <a:solidFill>
                  <a:srgbClr val="C00000"/>
                </a:solidFill>
                <a:effectLst/>
                <a:latin typeface="Times New Roman" pitchFamily="28"/>
                <a:ea typeface="宋体" pitchFamily="28"/>
                <a:sym typeface="_⨹_1_6fa4d"/>
              </a:rPr>
              <a:t>U</a:t>
            </a:r>
            <a:br>
              <a:rPr lang="en-US" altLang="zh-CN" sz="2800" b="0" i="1" u="none" spc="150" dirty="0">
                <a:solidFill>
                  <a:srgbClr val="C00000"/>
                </a:solidFill>
                <a:effectLst/>
                <a:latin typeface="Times New Roman" pitchFamily="28"/>
                <a:ea typeface="宋体" pitchFamily="28"/>
              </a:rPr>
            </a:br>
            <a:r>
              <a:rPr lang="zh-CN" altLang="zh-CN" sz="2800" b="0" i="0" u="none" spc="150" dirty="0">
                <a:solidFill>
                  <a:srgbClr val="C00000"/>
                </a:solidFill>
                <a:effectLst/>
                <a:latin typeface="宋体" pitchFamily="28"/>
                <a:ea typeface="宋体" pitchFamily="28"/>
              </a:rPr>
              <a:t>＝</a:t>
            </a:r>
            <a:r>
              <a:rPr lang="en-US" altLang="zh-CN" sz="2800" b="0" i="1" u="none" spc="150" dirty="0">
                <a:solidFill>
                  <a:srgbClr val="C00000"/>
                </a:solidFill>
                <a:effectLst/>
                <a:latin typeface="Times New Roman" pitchFamily="28"/>
                <a:ea typeface="宋体" pitchFamily="28"/>
              </a:rPr>
              <a:t>IR</a:t>
            </a:r>
            <a:r>
              <a:rPr lang="zh-CN" altLang="zh-CN" sz="2800" b="0" i="0" u="none" spc="150" dirty="0">
                <a:solidFill>
                  <a:srgbClr val="C00000"/>
                </a:solidFill>
                <a:effectLst/>
                <a:latin typeface="Times New Roman" pitchFamily="28"/>
                <a:ea typeface="仿宋" pitchFamily="28"/>
              </a:rPr>
              <a:t>判断路端电压的变化情况</a:t>
            </a:r>
            <a:r>
              <a:rPr lang="zh-CN" altLang="zh-CN" sz="2800" b="0" i="0" u="none" spc="150" dirty="0">
                <a:solidFill>
                  <a:srgbClr val="C00000"/>
                </a:solidFill>
                <a:effectLst/>
                <a:latin typeface="宋体" pitchFamily="28"/>
                <a:ea typeface="宋体" pitchFamily="28"/>
              </a:rPr>
              <a:t>，</a:t>
            </a:r>
            <a:r>
              <a:rPr lang="zh-CN" altLang="zh-CN" sz="2800" b="0" i="0" u="none" spc="150" dirty="0">
                <a:solidFill>
                  <a:srgbClr val="C00000"/>
                </a:solidFill>
                <a:effectLst/>
                <a:latin typeface="Times New Roman" pitchFamily="28"/>
                <a:ea typeface="仿宋" pitchFamily="28"/>
              </a:rPr>
              <a:t>根据</a:t>
            </a:r>
            <a:r>
              <a:rPr lang="en-US" altLang="zh-CN" sz="2800" b="0" i="1" u="none" spc="150" dirty="0">
                <a:solidFill>
                  <a:srgbClr val="C00000"/>
                </a:solidFill>
                <a:effectLst/>
                <a:latin typeface="Times New Roman" pitchFamily="28"/>
                <a:ea typeface="宋体" pitchFamily="28"/>
              </a:rPr>
              <a:t>U</a:t>
            </a:r>
            <a:r>
              <a:rPr lang="zh-CN" altLang="zh-CN" sz="2800" b="0" i="0" u="none" spc="150" dirty="0">
                <a:solidFill>
                  <a:srgbClr val="C00000"/>
                </a:solidFill>
                <a:effectLst/>
                <a:latin typeface="宋体" pitchFamily="28"/>
                <a:ea typeface="宋体" pitchFamily="28"/>
              </a:rPr>
              <a:t>＝</a:t>
            </a:r>
            <a:r>
              <a:rPr lang="en-US" altLang="zh-CN" sz="2800" b="0" i="1" u="none" spc="150" dirty="0">
                <a:solidFill>
                  <a:srgbClr val="C00000"/>
                </a:solidFill>
                <a:effectLst/>
                <a:latin typeface="Times New Roman" pitchFamily="28"/>
                <a:ea typeface="宋体" pitchFamily="28"/>
              </a:rPr>
              <a:t>E</a:t>
            </a:r>
            <a:r>
              <a:rPr lang="zh-CN" altLang="zh-CN" sz="2800" b="0" i="0" u="none" spc="150" dirty="0">
                <a:solidFill>
                  <a:srgbClr val="C00000"/>
                </a:solidFill>
                <a:effectLst/>
                <a:latin typeface="宋体" pitchFamily="28"/>
                <a:ea typeface="宋体" pitchFamily="28"/>
              </a:rPr>
              <a:t>－</a:t>
            </a:r>
            <a:r>
              <a:rPr lang="en-US" altLang="zh-CN" sz="2800" b="0" i="1" u="none" spc="150" dirty="0" err="1">
                <a:solidFill>
                  <a:srgbClr val="C00000"/>
                </a:solidFill>
                <a:effectLst/>
                <a:latin typeface="Times New Roman" pitchFamily="28"/>
                <a:ea typeface="宋体" pitchFamily="28"/>
              </a:rPr>
              <a:t>Ir</a:t>
            </a:r>
            <a:r>
              <a:rPr lang="zh-CN" altLang="zh-CN" sz="2800" b="0" i="0" u="none" spc="150" dirty="0">
                <a:solidFill>
                  <a:srgbClr val="C00000"/>
                </a:solidFill>
                <a:effectLst/>
                <a:latin typeface="Times New Roman" pitchFamily="28"/>
                <a:ea typeface="仿宋" pitchFamily="28"/>
              </a:rPr>
              <a:t>可知</a:t>
            </a:r>
            <a:r>
              <a:rPr lang="zh-CN" altLang="zh-CN" sz="2800" b="0" i="0" u="none" spc="150" dirty="0">
                <a:solidFill>
                  <a:srgbClr val="C00000"/>
                </a:solidFill>
                <a:effectLst/>
                <a:latin typeface="宋体" pitchFamily="28"/>
                <a:ea typeface="宋体" pitchFamily="28"/>
              </a:rPr>
              <a:t>，</a:t>
            </a:r>
            <a:r>
              <a:rPr lang="zh-CN" altLang="zh-CN" sz="2800" b="0" i="0" u="none" spc="150" dirty="0">
                <a:solidFill>
                  <a:srgbClr val="C00000"/>
                </a:solidFill>
                <a:effectLst/>
                <a:latin typeface="Times New Roman" pitchFamily="28"/>
                <a:ea typeface="仿宋" pitchFamily="28"/>
              </a:rPr>
              <a:t>当</a:t>
            </a:r>
            <a:r>
              <a:rPr lang="en-US" altLang="zh-CN" sz="2800" b="0" i="1" u="none" spc="150" dirty="0">
                <a:solidFill>
                  <a:srgbClr val="C00000"/>
                </a:solidFill>
                <a:effectLst/>
                <a:latin typeface="Times New Roman" pitchFamily="28"/>
                <a:ea typeface="宋体" pitchFamily="28"/>
              </a:rPr>
              <a:t>I</a:t>
            </a:r>
            <a:r>
              <a:rPr lang="zh-CN" altLang="zh-CN" sz="2800" b="0" i="0" u="none" spc="150" dirty="0">
                <a:solidFill>
                  <a:srgbClr val="C00000"/>
                </a:solidFill>
                <a:effectLst/>
                <a:latin typeface="Times New Roman" pitchFamily="28"/>
                <a:ea typeface="仿宋" pitchFamily="28"/>
              </a:rPr>
              <a:t>增大时</a:t>
            </a:r>
            <a:r>
              <a:rPr lang="zh-CN" altLang="zh-CN" sz="2800" b="0" i="0" u="none" spc="150" dirty="0">
                <a:solidFill>
                  <a:srgbClr val="C00000"/>
                </a:solidFill>
                <a:effectLst/>
                <a:latin typeface="宋体" pitchFamily="28"/>
                <a:ea typeface="宋体" pitchFamily="28"/>
              </a:rPr>
              <a:t>，</a:t>
            </a:r>
            <a:r>
              <a:rPr lang="zh-CN" altLang="zh-CN" sz="2800" b="0" i="0" u="none" spc="150" dirty="0">
                <a:solidFill>
                  <a:srgbClr val="C00000"/>
                </a:solidFill>
                <a:effectLst/>
                <a:latin typeface="Times New Roman" pitchFamily="28"/>
                <a:ea typeface="仿宋" pitchFamily="28"/>
                <a:sym typeface="_⨹_2_e8b8c"/>
              </a:rPr>
              <a:t>路端</a:t>
            </a:r>
            <a:br>
              <a:rPr lang="zh-CN" altLang="zh-CN" sz="2800" b="0" i="0" u="none" spc="150" dirty="0">
                <a:solidFill>
                  <a:srgbClr val="C00000"/>
                </a:solidFill>
                <a:effectLst/>
                <a:latin typeface="Times New Roman" pitchFamily="28"/>
                <a:ea typeface="仿宋" pitchFamily="28"/>
              </a:rPr>
            </a:br>
            <a:r>
              <a:rPr lang="zh-CN" altLang="zh-CN" sz="2800" b="0" i="0" u="none" spc="150" dirty="0">
                <a:solidFill>
                  <a:srgbClr val="C00000"/>
                </a:solidFill>
                <a:effectLst/>
                <a:latin typeface="Times New Roman" pitchFamily="28"/>
                <a:ea typeface="仿宋" pitchFamily="28"/>
              </a:rPr>
              <a:t>电压减小</a:t>
            </a:r>
            <a:r>
              <a:rPr lang="zh-CN" altLang="zh-CN" sz="2800" b="0" i="0" u="none" spc="150" dirty="0">
                <a:solidFill>
                  <a:srgbClr val="C00000"/>
                </a:solidFill>
                <a:effectLst/>
                <a:latin typeface="宋体" pitchFamily="28"/>
                <a:ea typeface="宋体" pitchFamily="28"/>
              </a:rPr>
              <a:t>，</a:t>
            </a:r>
            <a:r>
              <a:rPr lang="zh-CN" altLang="zh-CN" sz="2800" b="0" i="0" u="none" spc="150" dirty="0">
                <a:solidFill>
                  <a:srgbClr val="C00000"/>
                </a:solidFill>
                <a:effectLst/>
                <a:latin typeface="Times New Roman" pitchFamily="28"/>
                <a:ea typeface="仿宋" pitchFamily="28"/>
              </a:rPr>
              <a:t>选项</a:t>
            </a:r>
            <a:r>
              <a:rPr lang="en-US" altLang="zh-CN" sz="2800" b="0" i="0" u="none" spc="150" dirty="0">
                <a:solidFill>
                  <a:srgbClr val="C00000"/>
                </a:solidFill>
                <a:effectLst/>
                <a:latin typeface="Times New Roman" pitchFamily="28"/>
                <a:ea typeface="宋体" pitchFamily="28"/>
              </a:rPr>
              <a:t>A</a:t>
            </a:r>
            <a:r>
              <a:rPr lang="zh-CN" altLang="zh-CN" sz="2800" b="0" i="0" u="none" spc="150" dirty="0">
                <a:solidFill>
                  <a:srgbClr val="C00000"/>
                </a:solidFill>
                <a:effectLst/>
                <a:latin typeface="Times New Roman" pitchFamily="28"/>
                <a:ea typeface="仿宋" pitchFamily="28"/>
              </a:rPr>
              <a:t>、</a:t>
            </a:r>
            <a:r>
              <a:rPr lang="en-US" altLang="zh-CN" sz="2800" b="0" i="0" u="none" spc="150" dirty="0">
                <a:solidFill>
                  <a:srgbClr val="C00000"/>
                </a:solidFill>
                <a:effectLst/>
                <a:latin typeface="Times New Roman" pitchFamily="28"/>
                <a:ea typeface="宋体" pitchFamily="28"/>
              </a:rPr>
              <a:t>B</a:t>
            </a:r>
            <a:r>
              <a:rPr lang="zh-CN" altLang="zh-CN" sz="2800" b="0" i="0" u="none" spc="150" dirty="0">
                <a:solidFill>
                  <a:srgbClr val="C00000"/>
                </a:solidFill>
                <a:effectLst/>
                <a:latin typeface="Times New Roman" pitchFamily="28"/>
                <a:ea typeface="仿宋" pitchFamily="28"/>
              </a:rPr>
              <a:t>错误</a:t>
            </a:r>
            <a:r>
              <a:rPr lang="zh-CN" altLang="zh-CN" sz="2800" b="0" i="0" u="none" spc="150" dirty="0">
                <a:solidFill>
                  <a:srgbClr val="C00000"/>
                </a:solidFill>
                <a:effectLst/>
                <a:latin typeface="宋体" pitchFamily="28"/>
                <a:ea typeface="宋体" pitchFamily="28"/>
              </a:rPr>
              <a:t>，</a:t>
            </a:r>
            <a:r>
              <a:rPr lang="en-US" altLang="zh-CN" sz="2800" b="0" i="0" u="none" spc="150" dirty="0">
                <a:solidFill>
                  <a:srgbClr val="C00000"/>
                </a:solidFill>
                <a:effectLst/>
                <a:latin typeface="Times New Roman" pitchFamily="28"/>
                <a:ea typeface="宋体" pitchFamily="28"/>
              </a:rPr>
              <a:t>C</a:t>
            </a:r>
            <a:r>
              <a:rPr lang="zh-CN" altLang="zh-CN" sz="2800" b="0" i="0" u="none" spc="150" dirty="0">
                <a:solidFill>
                  <a:srgbClr val="C00000"/>
                </a:solidFill>
                <a:effectLst/>
                <a:latin typeface="Times New Roman" pitchFamily="28"/>
                <a:ea typeface="仿宋" pitchFamily="28"/>
              </a:rPr>
              <a:t>正确</a:t>
            </a:r>
            <a:r>
              <a:rPr lang="zh-CN" altLang="zh-CN" sz="2800" b="0" i="0" u="none" spc="150" dirty="0">
                <a:solidFill>
                  <a:srgbClr val="C00000"/>
                </a:solidFill>
                <a:effectLst/>
                <a:latin typeface="宋体" pitchFamily="28"/>
                <a:ea typeface="宋体" pitchFamily="28"/>
              </a:rPr>
              <a:t>；</a:t>
            </a:r>
            <a:r>
              <a:rPr lang="zh-CN" altLang="zh-CN" sz="2800" b="0" i="0" u="none" spc="150" dirty="0">
                <a:solidFill>
                  <a:srgbClr val="C00000"/>
                </a:solidFill>
                <a:effectLst/>
                <a:latin typeface="Times New Roman" pitchFamily="28"/>
                <a:ea typeface="仿宋" pitchFamily="28"/>
              </a:rPr>
              <a:t>当外电路断开时</a:t>
            </a:r>
            <a:r>
              <a:rPr lang="zh-CN" altLang="zh-CN" sz="2800" b="0" i="0" u="none" spc="150" dirty="0">
                <a:solidFill>
                  <a:srgbClr val="C00000"/>
                </a:solidFill>
                <a:effectLst/>
                <a:latin typeface="宋体" pitchFamily="28"/>
                <a:ea typeface="宋体" pitchFamily="28"/>
              </a:rPr>
              <a:t>，</a:t>
            </a:r>
            <a:r>
              <a:rPr lang="zh-CN" altLang="zh-CN" sz="2800" b="0" i="0" u="none" spc="150" dirty="0">
                <a:solidFill>
                  <a:srgbClr val="C00000"/>
                </a:solidFill>
                <a:effectLst/>
                <a:latin typeface="Times New Roman" pitchFamily="28"/>
                <a:ea typeface="仿宋" pitchFamily="28"/>
              </a:rPr>
              <a:t>路端电压为</a:t>
            </a:r>
            <a:r>
              <a:rPr lang="en-US" altLang="zh-CN" sz="2800" b="0" i="1" u="none" spc="150" dirty="0">
                <a:solidFill>
                  <a:srgbClr val="C00000"/>
                </a:solidFill>
                <a:effectLst/>
                <a:latin typeface="Times New Roman" pitchFamily="28"/>
                <a:ea typeface="宋体" pitchFamily="28"/>
              </a:rPr>
              <a:t>E</a:t>
            </a:r>
            <a:r>
              <a:rPr lang="zh-CN" altLang="zh-CN" sz="2800" b="0" i="0" u="none" spc="150" dirty="0">
                <a:solidFill>
                  <a:srgbClr val="C00000"/>
                </a:solidFill>
                <a:effectLst/>
                <a:latin typeface="宋体" pitchFamily="28"/>
                <a:ea typeface="宋体" pitchFamily="28"/>
                <a:sym typeface="_⨹_1_05566"/>
              </a:rPr>
              <a:t>，</a:t>
            </a:r>
            <a:br>
              <a:rPr lang="zh-CN" altLang="zh-CN" sz="2800" b="0" i="0" u="none" spc="150" dirty="0">
                <a:solidFill>
                  <a:srgbClr val="C00000"/>
                </a:solidFill>
                <a:effectLst/>
                <a:latin typeface="宋体" pitchFamily="28"/>
                <a:ea typeface="宋体" pitchFamily="28"/>
              </a:rPr>
            </a:br>
            <a:r>
              <a:rPr lang="zh-CN" altLang="zh-CN" sz="2800" b="0" i="0" u="none" spc="150" dirty="0">
                <a:solidFill>
                  <a:srgbClr val="C00000"/>
                </a:solidFill>
                <a:effectLst/>
                <a:latin typeface="Times New Roman" pitchFamily="28"/>
                <a:ea typeface="仿宋" pitchFamily="28"/>
              </a:rPr>
              <a:t>选项</a:t>
            </a:r>
            <a:r>
              <a:rPr lang="en-US" altLang="zh-CN" sz="2800" b="0" i="0" u="none" spc="150" dirty="0">
                <a:solidFill>
                  <a:srgbClr val="C00000"/>
                </a:solidFill>
                <a:effectLst/>
                <a:latin typeface="Times New Roman" pitchFamily="28"/>
                <a:ea typeface="宋体" pitchFamily="28"/>
              </a:rPr>
              <a:t>D</a:t>
            </a:r>
            <a:r>
              <a:rPr lang="zh-CN" altLang="zh-CN" sz="2800" b="0" i="0" u="none" spc="150" dirty="0">
                <a:solidFill>
                  <a:srgbClr val="C00000"/>
                </a:solidFill>
                <a:effectLst/>
                <a:latin typeface="Times New Roman" pitchFamily="28"/>
                <a:ea typeface="仿宋" pitchFamily="28"/>
              </a:rPr>
              <a:t>错误。</a:t>
            </a:r>
          </a:p>
        </p:txBody>
      </p:sp>
      <p:sp>
        <p:nvSpPr>
          <p:cNvPr id="6" name="矩形 5"/>
          <p:cNvSpPr/>
          <p:nvPr/>
        </p:nvSpPr>
        <p:spPr>
          <a:xfrm>
            <a:off x="0" y="2849042"/>
            <a:ext cx="761669" cy="861774"/>
          </a:xfrm>
          <a:prstGeom prst="rect">
            <a:avLst/>
          </a:prstGeom>
        </p:spPr>
        <p:txBody>
          <a:bodyPr wrap="square">
            <a:spAutoFit/>
          </a:bodyPr>
          <a:lstStyle/>
          <a:p>
            <a:r>
              <a:rPr lang="en-US" altLang="zh-CN" sz="5000" b="1" dirty="0">
                <a:solidFill>
                  <a:srgbClr val="C00000"/>
                </a:solidFill>
                <a:latin typeface="华文细黑" panose="02010600040101010101" pitchFamily="2" charset="-122"/>
                <a:ea typeface="华文细黑" panose="02010600040101010101" pitchFamily="2" charset="-122"/>
              </a:rPr>
              <a:t>√  </a:t>
            </a:r>
            <a:endParaRPr lang="zh-CN" altLang="en-US" sz="5000" b="1" dirty="0">
              <a:solidFill>
                <a:srgbClr val="C00000"/>
              </a:solidFill>
              <a:latin typeface="华文细黑" panose="02010600040101010101" pitchFamily="2" charset="-122"/>
              <a:ea typeface="华文细黑" panose="02010600040101010101"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xmlns:a14="http://schemas.microsoft.com/office/drawing/2010/main" xmlns:a16="http://schemas.microsoft.com/office/drawing/2014/main" xmlns:p14="http://schemas.microsoft.com/office/powerpoint/2010/main">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6424">
                                            <p:txEl>
                                              <p:pRg st="0" end="0"/>
                                            </p:txEl>
                                          </p:spTgt>
                                        </p:tgtEl>
                                        <p:attrNameLst>
                                          <p:attrName>style.visibility</p:attrName>
                                        </p:attrNameLst>
                                      </p:cBhvr>
                                      <p:to>
                                        <p:strVal val="visible"/>
                                      </p:to>
                                    </p:set>
                                    <p:animEffect transition="in" filter="blinds(horizontal)">
                                      <p:cBhvr>
                                        <p:cTn id="13" dur="500"/>
                                        <p:tgtEl>
                                          <p:spTgt spid="164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24" grpId="0" build="allAtOnce"/>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YT"/>
        <p:cNvGrpSpPr/>
        <p:nvPr/>
      </p:nvGrpSpPr>
      <p:grpSpPr>
        <a:xfrm>
          <a:off x="0" y="0"/>
          <a:ext cx="0" cy="0"/>
          <a:chOff x="0" y="0"/>
          <a:chExt cx="0" cy="0"/>
        </a:xfrm>
      </p:grpSpPr>
      <p:sp>
        <p:nvSpPr>
          <p:cNvPr id="16425" name="yt_shape_16425"/>
          <p:cNvSpPr txBox="1"/>
          <p:nvPr/>
        </p:nvSpPr>
        <p:spPr>
          <a:xfrm>
            <a:off x="324071" y="467999"/>
            <a:ext cx="11924914" cy="2322752"/>
          </a:xfrm>
          <a:prstGeom prst="rect">
            <a:avLst/>
          </a:prstGeom>
        </p:spPr>
        <p:txBody>
          <a:bodyPr vert="horz" wrap="square" lIns="0" tIns="0" rIns="0" bIns="0" rtlCol="0">
            <a:noAutofit/>
          </a:bodyPr>
          <a:lstStyle/>
          <a:p>
            <a:pPr algn="l" eaLnBrk="1" latinLnBrk="0" hangingPunct="0">
              <a:lnSpc>
                <a:spcPct val="140000"/>
              </a:lnSpc>
            </a:pPr>
            <a:r>
              <a:rPr lang="zh-CN" altLang="zh-CN" sz="2800" b="1" i="0" u="none">
                <a:solidFill>
                  <a:srgbClr val="000000"/>
                </a:solidFill>
                <a:effectLst/>
                <a:latin typeface="Times New Roman" pitchFamily="28"/>
                <a:ea typeface="微软雅黑" pitchFamily="28"/>
              </a:rPr>
              <a:t>【例</a:t>
            </a:r>
            <a:r>
              <a:rPr lang="en-US" altLang="zh-CN" sz="2800" b="1" i="0" u="none">
                <a:solidFill>
                  <a:srgbClr val="000000"/>
                </a:solidFill>
                <a:effectLst/>
                <a:latin typeface="Times New Roman" pitchFamily="28"/>
                <a:ea typeface="微软雅黑" pitchFamily="28"/>
              </a:rPr>
              <a:t>2</a:t>
            </a:r>
            <a:r>
              <a:rPr lang="zh-CN" altLang="zh-CN" sz="2800" b="1" i="0" u="none">
                <a:solidFill>
                  <a:srgbClr val="000000"/>
                </a:solidFill>
                <a:effectLst/>
                <a:latin typeface="Times New Roman" pitchFamily="28"/>
                <a:ea typeface="微软雅黑" pitchFamily="28"/>
              </a:rPr>
              <a:t>】　</a:t>
            </a:r>
            <a:r>
              <a:rPr lang="zh-CN" altLang="zh-CN" sz="2800" b="0" i="0" u="none">
                <a:solidFill>
                  <a:srgbClr val="000000"/>
                </a:solidFill>
                <a:effectLst/>
                <a:latin typeface="宋体" pitchFamily="28"/>
                <a:ea typeface="宋体" pitchFamily="28"/>
              </a:rPr>
              <a:t>（</a:t>
            </a:r>
            <a:r>
              <a:rPr lang="zh-CN" altLang="zh-CN" sz="2800" b="0" i="0" u="none">
                <a:solidFill>
                  <a:srgbClr val="000000"/>
                </a:solidFill>
                <a:effectLst/>
                <a:latin typeface="Times New Roman" pitchFamily="28"/>
                <a:ea typeface="楷体" pitchFamily="28"/>
              </a:rPr>
              <a:t>路端电压的计算</a:t>
            </a:r>
            <a:r>
              <a:rPr lang="zh-CN" altLang="zh-CN" sz="2800" b="0" i="0" u="none">
                <a:solidFill>
                  <a:srgbClr val="000000"/>
                </a:solidFill>
                <a:effectLst/>
                <a:latin typeface="宋体" pitchFamily="28"/>
                <a:ea typeface="宋体" pitchFamily="28"/>
              </a:rPr>
              <a:t>）</a:t>
            </a:r>
            <a:r>
              <a:rPr lang="zh-CN" altLang="zh-CN" sz="2800" b="0" i="0" u="none">
                <a:solidFill>
                  <a:srgbClr val="000000"/>
                </a:solidFill>
                <a:effectLst/>
                <a:latin typeface="Times New Roman" pitchFamily="28"/>
                <a:ea typeface="宋体" pitchFamily="28"/>
              </a:rPr>
              <a:t>人造卫星在太空飞行</a:t>
            </a:r>
            <a:r>
              <a:rPr lang="zh-CN" altLang="zh-CN" sz="2800" b="0" i="0" u="none">
                <a:solidFill>
                  <a:srgbClr val="000000"/>
                </a:solidFill>
                <a:effectLst/>
                <a:latin typeface="宋体" pitchFamily="28"/>
                <a:ea typeface="宋体" pitchFamily="28"/>
              </a:rPr>
              <a:t>，</a:t>
            </a:r>
            <a:r>
              <a:rPr lang="zh-CN" altLang="zh-CN" sz="2800" b="0" i="0" u="none">
                <a:solidFill>
                  <a:srgbClr val="000000"/>
                </a:solidFill>
                <a:effectLst/>
                <a:latin typeface="Times New Roman" pitchFamily="28"/>
                <a:ea typeface="宋体" pitchFamily="28"/>
                <a:sym typeface="_⨹_8_bd32c"/>
              </a:rPr>
              <a:t>主要靠太阳能电池</a:t>
            </a:r>
            <a:br>
              <a:rPr lang="zh-CN" altLang="zh-CN" sz="2800" b="0" i="0" u="none">
                <a:solidFill>
                  <a:srgbClr val="000000"/>
                </a:solidFill>
                <a:effectLst/>
                <a:latin typeface="Times New Roman" pitchFamily="28"/>
                <a:ea typeface="宋体" pitchFamily="28"/>
              </a:rPr>
            </a:br>
            <a:r>
              <a:rPr lang="zh-CN" altLang="zh-CN" sz="2800" b="0" i="0" u="none">
                <a:solidFill>
                  <a:srgbClr val="000000"/>
                </a:solidFill>
                <a:effectLst/>
                <a:latin typeface="Times New Roman" pitchFamily="28"/>
                <a:ea typeface="宋体" pitchFamily="28"/>
              </a:rPr>
              <a:t>提供能量</a:t>
            </a:r>
            <a:r>
              <a:rPr lang="zh-CN" altLang="zh-CN" sz="2800" b="0" i="0" u="none">
                <a:solidFill>
                  <a:srgbClr val="000000"/>
                </a:solidFill>
                <a:effectLst/>
                <a:latin typeface="宋体" pitchFamily="28"/>
                <a:ea typeface="宋体" pitchFamily="28"/>
              </a:rPr>
              <a:t>。</a:t>
            </a:r>
            <a:r>
              <a:rPr lang="zh-CN" altLang="zh-CN" sz="2800" b="0" i="0" u="none">
                <a:solidFill>
                  <a:srgbClr val="000000"/>
                </a:solidFill>
                <a:effectLst/>
                <a:latin typeface="Times New Roman" pitchFamily="28"/>
                <a:ea typeface="宋体" pitchFamily="28"/>
              </a:rPr>
              <a:t>有一太阳能电池板</a:t>
            </a:r>
            <a:r>
              <a:rPr lang="zh-CN" altLang="zh-CN" sz="2800" b="0" i="0" u="none">
                <a:solidFill>
                  <a:srgbClr val="000000"/>
                </a:solidFill>
                <a:effectLst/>
                <a:latin typeface="宋体" pitchFamily="28"/>
                <a:ea typeface="宋体" pitchFamily="28"/>
              </a:rPr>
              <a:t>，</a:t>
            </a:r>
            <a:r>
              <a:rPr lang="zh-CN" altLang="zh-CN" sz="2800" b="0" i="0" u="none">
                <a:solidFill>
                  <a:srgbClr val="000000"/>
                </a:solidFill>
                <a:effectLst/>
                <a:latin typeface="Times New Roman" pitchFamily="28"/>
                <a:ea typeface="宋体" pitchFamily="28"/>
              </a:rPr>
              <a:t>测得它的开路电压为</a:t>
            </a:r>
            <a:r>
              <a:rPr lang="en-US" altLang="zh-CN" sz="2800" b="0" i="0" u="none">
                <a:solidFill>
                  <a:srgbClr val="000000"/>
                </a:solidFill>
                <a:effectLst/>
                <a:latin typeface="Times New Roman" pitchFamily="28"/>
                <a:ea typeface="宋体" pitchFamily="28"/>
              </a:rPr>
              <a:t>800</a:t>
            </a:r>
            <a:r>
              <a:rPr lang="zh-CN" altLang="zh-CN" sz="2800" b="0" i="0" u="none">
                <a:solidFill>
                  <a:srgbClr val="000000"/>
                </a:solidFill>
                <a:effectLst/>
                <a:latin typeface="Times New Roman" pitchFamily="28"/>
                <a:ea typeface="宋体" pitchFamily="28"/>
              </a:rPr>
              <a:t> </a:t>
            </a:r>
            <a:r>
              <a:rPr lang="en-US" altLang="zh-CN" sz="2800" b="0" i="0" u="none">
                <a:solidFill>
                  <a:srgbClr val="000000"/>
                </a:solidFill>
                <a:effectLst/>
                <a:latin typeface="Times New Roman" pitchFamily="28"/>
                <a:ea typeface="宋体" pitchFamily="28"/>
              </a:rPr>
              <a:t>mV</a:t>
            </a:r>
            <a:r>
              <a:rPr lang="zh-CN" altLang="zh-CN" sz="2800" b="0" i="0" u="none">
                <a:solidFill>
                  <a:srgbClr val="000000"/>
                </a:solidFill>
                <a:effectLst/>
                <a:latin typeface="宋体" pitchFamily="28"/>
                <a:ea typeface="宋体" pitchFamily="28"/>
              </a:rPr>
              <a:t>，</a:t>
            </a:r>
            <a:r>
              <a:rPr lang="zh-CN" altLang="zh-CN" sz="2800" b="0" i="0" u="none">
                <a:solidFill>
                  <a:srgbClr val="000000"/>
                </a:solidFill>
                <a:effectLst/>
                <a:latin typeface="Times New Roman" pitchFamily="28"/>
                <a:ea typeface="宋体" pitchFamily="28"/>
                <a:sym typeface="_⨹_5_c7107"/>
              </a:rPr>
              <a:t>短路电流为</a:t>
            </a:r>
            <a:br>
              <a:rPr lang="zh-CN" altLang="zh-CN" sz="2800" b="0" i="0" u="none">
                <a:solidFill>
                  <a:srgbClr val="000000"/>
                </a:solidFill>
                <a:effectLst/>
                <a:latin typeface="Times New Roman" pitchFamily="28"/>
                <a:ea typeface="宋体" pitchFamily="28"/>
              </a:rPr>
            </a:br>
            <a:r>
              <a:rPr lang="en-US" altLang="zh-CN" sz="2800" b="0" i="0" u="none">
                <a:solidFill>
                  <a:srgbClr val="000000"/>
                </a:solidFill>
                <a:effectLst/>
                <a:latin typeface="Times New Roman" pitchFamily="28"/>
                <a:ea typeface="宋体" pitchFamily="28"/>
              </a:rPr>
              <a:t>40</a:t>
            </a:r>
            <a:r>
              <a:rPr lang="zh-CN" altLang="zh-CN" sz="2800" b="0" i="0" u="none">
                <a:solidFill>
                  <a:srgbClr val="000000"/>
                </a:solidFill>
                <a:effectLst/>
                <a:latin typeface="Times New Roman" pitchFamily="28"/>
                <a:ea typeface="宋体" pitchFamily="28"/>
              </a:rPr>
              <a:t> </a:t>
            </a:r>
            <a:r>
              <a:rPr lang="en-US" altLang="zh-CN" sz="2800" b="0" i="0" u="none">
                <a:solidFill>
                  <a:srgbClr val="000000"/>
                </a:solidFill>
                <a:effectLst/>
                <a:latin typeface="Times New Roman" pitchFamily="28"/>
                <a:ea typeface="宋体" pitchFamily="28"/>
              </a:rPr>
              <a:t>mA</a:t>
            </a:r>
            <a:r>
              <a:rPr lang="zh-CN" altLang="zh-CN" sz="2800" b="0" i="0" u="none">
                <a:solidFill>
                  <a:srgbClr val="000000"/>
                </a:solidFill>
                <a:effectLst/>
                <a:latin typeface="宋体" pitchFamily="28"/>
                <a:ea typeface="宋体" pitchFamily="28"/>
              </a:rPr>
              <a:t>。</a:t>
            </a:r>
            <a:r>
              <a:rPr lang="zh-CN" altLang="zh-CN" sz="2800" b="0" i="0" u="none">
                <a:solidFill>
                  <a:srgbClr val="000000"/>
                </a:solidFill>
                <a:effectLst/>
                <a:latin typeface="Times New Roman" pitchFamily="28"/>
                <a:ea typeface="宋体" pitchFamily="28"/>
              </a:rPr>
              <a:t>若将该电池板与一阻值为</a:t>
            </a:r>
            <a:r>
              <a:rPr lang="en-US" altLang="zh-CN" sz="2800" b="0" i="0" u="none">
                <a:solidFill>
                  <a:srgbClr val="000000"/>
                </a:solidFill>
                <a:effectLst/>
                <a:latin typeface="Times New Roman" pitchFamily="28"/>
                <a:ea typeface="宋体" pitchFamily="28"/>
              </a:rPr>
              <a:t>20</a:t>
            </a:r>
            <a:r>
              <a:rPr lang="zh-CN" altLang="zh-CN" sz="2800" b="0" i="0" u="none">
                <a:solidFill>
                  <a:srgbClr val="000000"/>
                </a:solidFill>
                <a:effectLst/>
                <a:latin typeface="Times New Roman" pitchFamily="28"/>
                <a:ea typeface="宋体" pitchFamily="28"/>
              </a:rPr>
              <a:t> </a:t>
            </a:r>
            <a:r>
              <a:rPr lang="en-US" altLang="zh-CN" sz="2800" b="0" i="0" u="none">
                <a:solidFill>
                  <a:srgbClr val="000000"/>
                </a:solidFill>
                <a:effectLst/>
                <a:latin typeface="Times New Roman" pitchFamily="28"/>
                <a:ea typeface="宋体" pitchFamily="28"/>
              </a:rPr>
              <a:t>Ω</a:t>
            </a:r>
            <a:r>
              <a:rPr lang="zh-CN" altLang="zh-CN" sz="2800" b="0" i="0" u="none">
                <a:solidFill>
                  <a:srgbClr val="000000"/>
                </a:solidFill>
                <a:effectLst/>
                <a:latin typeface="Times New Roman" pitchFamily="28"/>
                <a:ea typeface="宋体" pitchFamily="28"/>
              </a:rPr>
              <a:t>的电阻连成一闭合电路</a:t>
            </a:r>
            <a:r>
              <a:rPr lang="zh-CN" altLang="zh-CN" sz="2800" b="0" i="0" u="none">
                <a:solidFill>
                  <a:srgbClr val="000000"/>
                </a:solidFill>
                <a:effectLst/>
                <a:latin typeface="宋体" pitchFamily="28"/>
                <a:ea typeface="宋体" pitchFamily="28"/>
              </a:rPr>
              <a:t>，</a:t>
            </a:r>
            <a:r>
              <a:rPr lang="zh-CN" altLang="zh-CN" sz="2800" b="0" i="0" u="none">
                <a:solidFill>
                  <a:srgbClr val="000000"/>
                </a:solidFill>
                <a:effectLst/>
                <a:latin typeface="Times New Roman" pitchFamily="28"/>
                <a:ea typeface="宋体" pitchFamily="28"/>
                <a:sym typeface="_⨹_4_51828"/>
              </a:rPr>
              <a:t>则路端电</a:t>
            </a:r>
            <a:br>
              <a:rPr lang="zh-CN" altLang="zh-CN" sz="2800" b="0" i="0" u="none">
                <a:solidFill>
                  <a:srgbClr val="000000"/>
                </a:solidFill>
                <a:effectLst/>
                <a:latin typeface="Times New Roman" pitchFamily="28"/>
                <a:ea typeface="宋体" pitchFamily="28"/>
              </a:rPr>
            </a:br>
            <a:r>
              <a:rPr lang="zh-CN" altLang="zh-CN" sz="2800" b="0" i="0" u="none">
                <a:solidFill>
                  <a:srgbClr val="000000"/>
                </a:solidFill>
                <a:effectLst/>
                <a:latin typeface="Times New Roman" pitchFamily="28"/>
                <a:ea typeface="宋体" pitchFamily="28"/>
              </a:rPr>
              <a:t>压为</a:t>
            </a:r>
            <a:r>
              <a:rPr lang="zh-CN" altLang="zh-CN" sz="2800" b="0" i="0" u="none">
                <a:solidFill>
                  <a:srgbClr val="000000"/>
                </a:solidFill>
                <a:effectLst/>
                <a:latin typeface="宋体" pitchFamily="28"/>
                <a:ea typeface="宋体" pitchFamily="28"/>
              </a:rPr>
              <a:t>（</a:t>
            </a:r>
            <a:r>
              <a:rPr lang="zh-CN" altLang="zh-CN" sz="2800" b="0" i="1" u="none">
                <a:solidFill>
                  <a:srgbClr val="000000"/>
                </a:solidFill>
                <a:effectLst/>
                <a:latin typeface="Times New Roman" pitchFamily="28"/>
                <a:ea typeface="宋体" pitchFamily="28"/>
              </a:rPr>
              <a:t>　　</a:t>
            </a:r>
            <a:r>
              <a:rPr lang="zh-CN" altLang="zh-CN" sz="2800" b="0" i="0" u="none">
                <a:solidFill>
                  <a:srgbClr val="000000"/>
                </a:solidFill>
                <a:effectLst/>
                <a:latin typeface="宋体" pitchFamily="28"/>
                <a:ea typeface="宋体" pitchFamily="28"/>
              </a:rPr>
              <a:t>）</a:t>
            </a:r>
          </a:p>
        </p:txBody>
      </p:sp>
      <p:graphicFrame>
        <p:nvGraphicFramePr>
          <p:cNvPr id="16426" name="yt_table_16426" title="H_94.08">
            <a:extLst>
              <a:ext uri="{FF2B5EF4-FFF2-40B4-BE49-F238E27FC236}">
                <a16:creationId xmlns:a16="http://schemas.microsoft.com/office/drawing/2014/main" id="{85F9CD91-DE56-4981-AD6D-3D4292DC4A24}"/>
              </a:ext>
            </a:extLst>
          </p:cNvPr>
          <p:cNvGraphicFramePr>
            <a:graphicFrameLocks noGrp="1"/>
          </p:cNvGraphicFramePr>
          <p:nvPr/>
        </p:nvGraphicFramePr>
        <p:xfrm>
          <a:off x="324066" y="2841539"/>
          <a:ext cx="4919854" cy="1194816"/>
        </p:xfrm>
        <a:graphic>
          <a:graphicData uri="http://schemas.openxmlformats.org/drawingml/2006/table">
            <a:tbl>
              <a:tblPr/>
              <a:tblGrid>
                <a:gridCol w="2926017">
                  <a:extLst>
                    <a:ext uri="{9D8B030D-6E8A-4147-A177-3AD203B41FA5}">
                      <a16:colId xmlns:a16="http://schemas.microsoft.com/office/drawing/2014/main" val="10568"/>
                    </a:ext>
                  </a:extLst>
                </a:gridCol>
                <a:gridCol w="1993837">
                  <a:extLst>
                    <a:ext uri="{9D8B030D-6E8A-4147-A177-3AD203B41FA5}">
                      <a16:colId xmlns:a16="http://schemas.microsoft.com/office/drawing/2014/main" val="10569"/>
                    </a:ext>
                  </a:extLst>
                </a:gridCol>
              </a:tblGrid>
              <a:tr h="370840">
                <a:tc>
                  <a:txBody>
                    <a:bodyPr/>
                    <a:lstStyle/>
                    <a:p>
                      <a:pPr marL="523174" indent="-523174" algn="l" eaLnBrk="1" fontAlgn="ctr" latinLnBrk="0" hangingPunct="0">
                        <a:lnSpc>
                          <a:spcPct val="140000"/>
                        </a:lnSpc>
                      </a:pPr>
                      <a:r>
                        <a:rPr lang="en-US" altLang="zh-CN" sz="2800" b="0" i="0" u="none">
                          <a:solidFill>
                            <a:srgbClr val="000000"/>
                          </a:solidFill>
                          <a:effectLst/>
                          <a:latin typeface="Times New Roman" pitchFamily="28"/>
                          <a:ea typeface="宋体" pitchFamily="28"/>
                        </a:rPr>
                        <a:t>A</a:t>
                      </a:r>
                      <a:r>
                        <a:rPr lang="en-US" altLang="zh-CN" sz="2800" b="0" i="0" u="none">
                          <a:solidFill>
                            <a:srgbClr val="000000"/>
                          </a:solidFill>
                          <a:effectLst/>
                          <a:latin typeface="宋体" pitchFamily="28"/>
                          <a:ea typeface="宋体" pitchFamily="28"/>
                        </a:rPr>
                        <a:t>.</a:t>
                      </a:r>
                      <a:r>
                        <a:rPr lang="en-US" altLang="zh-CN" sz="2800" b="0" i="0" u="none">
                          <a:solidFill>
                            <a:srgbClr val="000000"/>
                          </a:solidFill>
                          <a:effectLst/>
                          <a:latin typeface="Times New Roman" pitchFamily="28"/>
                          <a:ea typeface="宋体" pitchFamily="28"/>
                        </a:rPr>
                        <a:t> 0</a:t>
                      </a:r>
                      <a:r>
                        <a:rPr lang="en-US" altLang="zh-CN" sz="2800" b="0" i="0" u="none">
                          <a:solidFill>
                            <a:srgbClr val="000000"/>
                          </a:solidFill>
                          <a:effectLst/>
                          <a:latin typeface="宋体" pitchFamily="28"/>
                          <a:ea typeface="宋体" pitchFamily="28"/>
                        </a:rPr>
                        <a:t>.</a:t>
                      </a:r>
                      <a:r>
                        <a:rPr lang="en-US" altLang="zh-CN" sz="2800" b="0" i="0" u="none">
                          <a:solidFill>
                            <a:srgbClr val="000000"/>
                          </a:solidFill>
                          <a:effectLst/>
                          <a:latin typeface="Times New Roman" pitchFamily="28"/>
                          <a:ea typeface="宋体" pitchFamily="28"/>
                        </a:rPr>
                        <a:t>1</a:t>
                      </a:r>
                      <a:r>
                        <a:rPr lang="zh-CN" altLang="zh-CN" sz="2800" b="0" i="0" u="none">
                          <a:solidFill>
                            <a:srgbClr val="000000"/>
                          </a:solidFill>
                          <a:effectLst/>
                          <a:latin typeface="Times New Roman" pitchFamily="28"/>
                          <a:ea typeface="宋体" pitchFamily="28"/>
                        </a:rPr>
                        <a:t> </a:t>
                      </a:r>
                      <a:r>
                        <a:rPr lang="en-US" altLang="zh-CN" sz="2800" b="0" i="0" u="none">
                          <a:solidFill>
                            <a:srgbClr val="000000"/>
                          </a:solidFill>
                          <a:effectLst/>
                          <a:latin typeface="Times New Roman" pitchFamily="28"/>
                          <a:ea typeface="宋体" pitchFamily="28"/>
                        </a:rPr>
                        <a:t>V</a:t>
                      </a:r>
                    </a:p>
                  </a:txBody>
                  <a:tcPr marL="0" marR="0" marT="0" marB="0" anchor="ctr">
                    <a:lnL w="9522" cmpd="sng">
                      <a:noFill/>
                    </a:lnL>
                    <a:lnR w="9522" cmpd="sng">
                      <a:noFill/>
                    </a:lnR>
                    <a:lnT w="9522" cmpd="sng">
                      <a:noFill/>
                    </a:lnT>
                    <a:lnB w="9522" cmpd="sng">
                      <a:noFill/>
                    </a:lnB>
                  </a:tcPr>
                </a:tc>
                <a:tc>
                  <a:txBody>
                    <a:bodyPr/>
                    <a:lstStyle/>
                    <a:p>
                      <a:pPr marL="523174" indent="-523174" algn="l" eaLnBrk="1" fontAlgn="ctr" latinLnBrk="0" hangingPunct="0">
                        <a:lnSpc>
                          <a:spcPct val="140000"/>
                        </a:lnSpc>
                      </a:pPr>
                      <a:r>
                        <a:rPr lang="en-US" altLang="zh-CN" sz="2800" b="0" i="0" u="none">
                          <a:solidFill>
                            <a:srgbClr val="000000"/>
                          </a:solidFill>
                          <a:effectLst/>
                          <a:latin typeface="Times New Roman" pitchFamily="28"/>
                          <a:ea typeface="宋体" pitchFamily="28"/>
                        </a:rPr>
                        <a:t>B</a:t>
                      </a:r>
                      <a:r>
                        <a:rPr lang="en-US" altLang="zh-CN" sz="2800" b="0" i="0" u="none">
                          <a:solidFill>
                            <a:srgbClr val="000000"/>
                          </a:solidFill>
                          <a:effectLst/>
                          <a:latin typeface="宋体" pitchFamily="28"/>
                          <a:ea typeface="宋体" pitchFamily="28"/>
                        </a:rPr>
                        <a:t>.</a:t>
                      </a:r>
                      <a:r>
                        <a:rPr lang="en-US" altLang="zh-CN" sz="2800" b="0" i="0" u="none">
                          <a:solidFill>
                            <a:srgbClr val="000000"/>
                          </a:solidFill>
                          <a:effectLst/>
                          <a:latin typeface="Times New Roman" pitchFamily="28"/>
                          <a:ea typeface="宋体" pitchFamily="28"/>
                        </a:rPr>
                        <a:t> 0</a:t>
                      </a:r>
                      <a:r>
                        <a:rPr lang="en-US" altLang="zh-CN" sz="2800" b="0" i="0" u="none">
                          <a:solidFill>
                            <a:srgbClr val="000000"/>
                          </a:solidFill>
                          <a:effectLst/>
                          <a:latin typeface="宋体" pitchFamily="28"/>
                          <a:ea typeface="宋体" pitchFamily="28"/>
                        </a:rPr>
                        <a:t>.</a:t>
                      </a:r>
                      <a:r>
                        <a:rPr lang="en-US" altLang="zh-CN" sz="2800" b="0" i="0" u="none">
                          <a:solidFill>
                            <a:srgbClr val="000000"/>
                          </a:solidFill>
                          <a:effectLst/>
                          <a:latin typeface="Times New Roman" pitchFamily="28"/>
                          <a:ea typeface="宋体" pitchFamily="28"/>
                        </a:rPr>
                        <a:t>2</a:t>
                      </a:r>
                      <a:r>
                        <a:rPr lang="zh-CN" altLang="zh-CN" sz="2800" b="0" i="0" u="none">
                          <a:solidFill>
                            <a:srgbClr val="000000"/>
                          </a:solidFill>
                          <a:effectLst/>
                          <a:latin typeface="Times New Roman" pitchFamily="28"/>
                          <a:ea typeface="宋体" pitchFamily="28"/>
                        </a:rPr>
                        <a:t> </a:t>
                      </a:r>
                      <a:r>
                        <a:rPr lang="en-US" altLang="zh-CN" sz="2800" b="0" i="0" u="none">
                          <a:solidFill>
                            <a:srgbClr val="000000"/>
                          </a:solidFill>
                          <a:effectLst/>
                          <a:latin typeface="Times New Roman" pitchFamily="28"/>
                          <a:ea typeface="宋体" pitchFamily="28"/>
                        </a:rPr>
                        <a:t>V</a:t>
                      </a:r>
                    </a:p>
                  </a:txBody>
                  <a:tcPr marL="0" marR="0" marT="0" marB="0" anchor="ctr">
                    <a:lnL w="9522" cmpd="sng">
                      <a:noFill/>
                    </a:lnL>
                    <a:lnR w="9522" cmpd="sng">
                      <a:noFill/>
                    </a:lnR>
                    <a:lnT w="9522" cmpd="sng">
                      <a:noFill/>
                    </a:lnT>
                    <a:lnB w="9522" cmpd="sng">
                      <a:noFill/>
                    </a:lnB>
                  </a:tcPr>
                </a:tc>
                <a:extLst>
                  <a:ext uri="{0D108BD9-81ED-4DB2-BD59-A6C34878D82A}">
                    <a16:rowId xmlns:a16="http://schemas.microsoft.com/office/drawing/2014/main" val="11415"/>
                  </a:ext>
                </a:extLst>
              </a:tr>
              <a:tr h="370840">
                <a:tc>
                  <a:txBody>
                    <a:bodyPr/>
                    <a:lstStyle/>
                    <a:p>
                      <a:pPr marL="503492" indent="-503492" algn="l" eaLnBrk="1" fontAlgn="ctr" latinLnBrk="0" hangingPunct="0">
                        <a:lnSpc>
                          <a:spcPct val="140000"/>
                        </a:lnSpc>
                      </a:pPr>
                      <a:r>
                        <a:rPr lang="en-US" altLang="zh-CN" sz="2800" b="0" i="0" u="none">
                          <a:solidFill>
                            <a:srgbClr val="000000"/>
                          </a:solidFill>
                          <a:effectLst/>
                          <a:latin typeface="Times New Roman" pitchFamily="28"/>
                          <a:ea typeface="宋体" pitchFamily="28"/>
                        </a:rPr>
                        <a:t>C</a:t>
                      </a:r>
                      <a:r>
                        <a:rPr lang="en-US" altLang="zh-CN" sz="2800" b="0" i="0" u="none">
                          <a:solidFill>
                            <a:srgbClr val="000000"/>
                          </a:solidFill>
                          <a:effectLst/>
                          <a:latin typeface="宋体" pitchFamily="28"/>
                          <a:ea typeface="宋体" pitchFamily="28"/>
                        </a:rPr>
                        <a:t>.</a:t>
                      </a:r>
                      <a:r>
                        <a:rPr lang="en-US" altLang="zh-CN" sz="2800" b="0" i="0" u="none">
                          <a:solidFill>
                            <a:srgbClr val="000000"/>
                          </a:solidFill>
                          <a:effectLst/>
                          <a:latin typeface="Times New Roman" pitchFamily="28"/>
                          <a:ea typeface="宋体" pitchFamily="28"/>
                        </a:rPr>
                        <a:t> 0</a:t>
                      </a:r>
                      <a:r>
                        <a:rPr lang="en-US" altLang="zh-CN" sz="2800" b="0" i="0" u="none">
                          <a:solidFill>
                            <a:srgbClr val="000000"/>
                          </a:solidFill>
                          <a:effectLst/>
                          <a:latin typeface="宋体" pitchFamily="28"/>
                          <a:ea typeface="宋体" pitchFamily="28"/>
                        </a:rPr>
                        <a:t>.</a:t>
                      </a:r>
                      <a:r>
                        <a:rPr lang="en-US" altLang="zh-CN" sz="2800" b="0" i="0" u="none">
                          <a:solidFill>
                            <a:srgbClr val="000000"/>
                          </a:solidFill>
                          <a:effectLst/>
                          <a:latin typeface="Times New Roman" pitchFamily="28"/>
                          <a:ea typeface="宋体" pitchFamily="28"/>
                        </a:rPr>
                        <a:t>3</a:t>
                      </a:r>
                      <a:r>
                        <a:rPr lang="zh-CN" altLang="zh-CN" sz="2800" b="0" i="0" u="none">
                          <a:solidFill>
                            <a:srgbClr val="000000"/>
                          </a:solidFill>
                          <a:effectLst/>
                          <a:latin typeface="Times New Roman" pitchFamily="28"/>
                          <a:ea typeface="宋体" pitchFamily="28"/>
                        </a:rPr>
                        <a:t> </a:t>
                      </a:r>
                      <a:r>
                        <a:rPr lang="en-US" altLang="zh-CN" sz="2800" b="0" i="0" u="none">
                          <a:solidFill>
                            <a:srgbClr val="000000"/>
                          </a:solidFill>
                          <a:effectLst/>
                          <a:latin typeface="Times New Roman" pitchFamily="28"/>
                          <a:ea typeface="宋体" pitchFamily="28"/>
                        </a:rPr>
                        <a:t>V</a:t>
                      </a:r>
                    </a:p>
                  </a:txBody>
                  <a:tcPr marL="0" marR="0" marT="0" marB="0" anchor="ctr">
                    <a:lnL w="9522" cmpd="sng">
                      <a:noFill/>
                    </a:lnL>
                    <a:lnR w="9522" cmpd="sng">
                      <a:noFill/>
                    </a:lnR>
                    <a:lnT w="9522" cmpd="sng">
                      <a:noFill/>
                    </a:lnT>
                    <a:lnB w="9522" cmpd="sng">
                      <a:noFill/>
                    </a:lnB>
                  </a:tcPr>
                </a:tc>
                <a:tc>
                  <a:txBody>
                    <a:bodyPr/>
                    <a:lstStyle/>
                    <a:p>
                      <a:pPr marL="503492" indent="-503492" algn="l" eaLnBrk="1" fontAlgn="ctr" latinLnBrk="0" hangingPunct="0">
                        <a:lnSpc>
                          <a:spcPct val="140000"/>
                        </a:lnSpc>
                      </a:pPr>
                      <a:r>
                        <a:rPr lang="en-US" altLang="zh-CN" sz="2800" b="0" i="0" u="none">
                          <a:solidFill>
                            <a:srgbClr val="000000"/>
                          </a:solidFill>
                          <a:effectLst/>
                          <a:latin typeface="Times New Roman" pitchFamily="28"/>
                          <a:ea typeface="宋体" pitchFamily="28"/>
                        </a:rPr>
                        <a:t>D</a:t>
                      </a:r>
                      <a:r>
                        <a:rPr lang="en-US" altLang="zh-CN" sz="2800" b="0" i="0" u="none">
                          <a:solidFill>
                            <a:srgbClr val="000000"/>
                          </a:solidFill>
                          <a:effectLst/>
                          <a:latin typeface="宋体" pitchFamily="28"/>
                          <a:ea typeface="宋体" pitchFamily="28"/>
                        </a:rPr>
                        <a:t>.</a:t>
                      </a:r>
                      <a:r>
                        <a:rPr lang="en-US" altLang="zh-CN" sz="2800" b="0" i="0" u="none">
                          <a:solidFill>
                            <a:srgbClr val="000000"/>
                          </a:solidFill>
                          <a:effectLst/>
                          <a:latin typeface="Times New Roman" pitchFamily="28"/>
                          <a:ea typeface="宋体" pitchFamily="28"/>
                        </a:rPr>
                        <a:t> 0</a:t>
                      </a:r>
                      <a:r>
                        <a:rPr lang="en-US" altLang="zh-CN" sz="2800" b="0" i="0" u="none">
                          <a:solidFill>
                            <a:srgbClr val="000000"/>
                          </a:solidFill>
                          <a:effectLst/>
                          <a:latin typeface="宋体" pitchFamily="28"/>
                          <a:ea typeface="宋体" pitchFamily="28"/>
                        </a:rPr>
                        <a:t>.</a:t>
                      </a:r>
                      <a:r>
                        <a:rPr lang="en-US" altLang="zh-CN" sz="2800" b="0" i="0" u="none">
                          <a:solidFill>
                            <a:srgbClr val="000000"/>
                          </a:solidFill>
                          <a:effectLst/>
                          <a:latin typeface="Times New Roman" pitchFamily="28"/>
                          <a:ea typeface="宋体" pitchFamily="28"/>
                        </a:rPr>
                        <a:t>4</a:t>
                      </a:r>
                      <a:r>
                        <a:rPr lang="zh-CN" altLang="zh-CN" sz="2800" b="0" i="0" u="none">
                          <a:solidFill>
                            <a:srgbClr val="000000"/>
                          </a:solidFill>
                          <a:effectLst/>
                          <a:latin typeface="Times New Roman" pitchFamily="28"/>
                          <a:ea typeface="宋体" pitchFamily="28"/>
                        </a:rPr>
                        <a:t> </a:t>
                      </a:r>
                      <a:r>
                        <a:rPr lang="en-US" altLang="zh-CN" sz="2800" b="0" i="0" u="none">
                          <a:solidFill>
                            <a:srgbClr val="000000"/>
                          </a:solidFill>
                          <a:effectLst/>
                          <a:latin typeface="Times New Roman" pitchFamily="28"/>
                          <a:ea typeface="宋体" pitchFamily="28"/>
                        </a:rPr>
                        <a:t>V</a:t>
                      </a:r>
                    </a:p>
                  </a:txBody>
                  <a:tcPr marL="0" marR="0" marT="0" marB="0" anchor="ctr">
                    <a:lnL w="9522" cmpd="sng">
                      <a:noFill/>
                    </a:lnL>
                    <a:lnR w="9522" cmpd="sng">
                      <a:noFill/>
                    </a:lnR>
                    <a:lnT w="9522" cmpd="sng">
                      <a:noFill/>
                    </a:lnT>
                    <a:lnB w="9522" cmpd="sng">
                      <a:noFill/>
                    </a:lnB>
                  </a:tcPr>
                </a:tc>
                <a:extLst>
                  <a:ext uri="{0D108BD9-81ED-4DB2-BD59-A6C34878D82A}">
                    <a16:rowId xmlns:a16="http://schemas.microsoft.com/office/drawing/2014/main" val="11416"/>
                  </a:ext>
                </a:extLst>
              </a:tr>
            </a:tbl>
          </a:graphicData>
        </a:graphic>
      </p:graphicFrame>
      <p:sp>
        <p:nvSpPr>
          <p:cNvPr id="5" name="矩形 4"/>
          <p:cNvSpPr/>
          <p:nvPr/>
        </p:nvSpPr>
        <p:spPr>
          <a:xfrm>
            <a:off x="2969377" y="3493929"/>
            <a:ext cx="761669" cy="861774"/>
          </a:xfrm>
          <a:prstGeom prst="rect">
            <a:avLst/>
          </a:prstGeom>
        </p:spPr>
        <p:txBody>
          <a:bodyPr wrap="square">
            <a:spAutoFit/>
          </a:bodyPr>
          <a:lstStyle/>
          <a:p>
            <a:r>
              <a:rPr lang="en-US" altLang="zh-CN" sz="5000" b="1" dirty="0">
                <a:solidFill>
                  <a:srgbClr val="C00000"/>
                </a:solidFill>
                <a:latin typeface="华文细黑" panose="02010600040101010101" pitchFamily="2" charset="-122"/>
                <a:ea typeface="华文细黑" panose="02010600040101010101" pitchFamily="2" charset="-122"/>
              </a:rPr>
              <a:t>√  </a:t>
            </a:r>
            <a:endParaRPr lang="zh-CN" altLang="en-US" sz="5000" b="1" dirty="0">
              <a:solidFill>
                <a:srgbClr val="C00000"/>
              </a:solidFill>
              <a:latin typeface="华文细黑" panose="02010600040101010101" pitchFamily="2" charset="-122"/>
              <a:ea typeface="华文细黑" panose="02010600040101010101"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xmlns:a14="http://schemas.microsoft.com/office/drawing/2010/main" xmlns:a16="http://schemas.microsoft.com/office/drawing/2014/main" xmlns:p14="http://schemas.microsoft.com/office/powerpoint/2010/main">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tand Chines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功" id="{305D7A6B-F211-124E-A565-AFD60AE97881}" vid="{BCE79254-6837-AE48-BBE5-2699EE225D4E}"/>
    </a:ext>
  </a:extLst>
</a:theme>
</file>

<file path=docProps/app.xml><?xml version="1.0" encoding="utf-8"?>
<Properties xmlns="http://schemas.openxmlformats.org/officeDocument/2006/extended-properties" xmlns:vt="http://schemas.openxmlformats.org/officeDocument/2006/docPropsVTypes">
  <Template>Office 主题​​</Template>
  <TotalTime>1146</TotalTime>
  <Words>618</Words>
  <Application>Microsoft Macintosh PowerPoint</Application>
  <PresentationFormat>Widescreen</PresentationFormat>
  <Paragraphs>36</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微软雅黑</vt:lpstr>
      <vt:lpstr>宋体</vt:lpstr>
      <vt:lpstr>华文细黑</vt:lpstr>
      <vt:lpstr>Arial</vt:lpstr>
      <vt:lpstr>Times New Roman</vt:lpstr>
      <vt:lpstr>Office 主题​​</vt:lpstr>
      <vt:lpstr>路端电压与负载的关系 电阻表的原理</vt:lpstr>
      <vt:lpstr>PowerPoint Presentation</vt:lpstr>
      <vt:lpstr>写出电路中电压，电流，电阻之间的关系</vt:lpstr>
      <vt:lpstr>路端电压与负载的关系</vt:lpstr>
      <vt:lpstr>某电源的路端电压与电流的关系图像，下列结论正确的是（     ）</vt:lpstr>
      <vt:lpstr>利用所学知识，设计一个可以测量电阻的仪器</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Xingyu Shu</dc:creator>
  <cp:lastModifiedBy>Xingyu Shu</cp:lastModifiedBy>
  <cp:revision>3</cp:revision>
  <dcterms:created xsi:type="dcterms:W3CDTF">2025-09-08T06:42:01Z</dcterms:created>
  <dcterms:modified xsi:type="dcterms:W3CDTF">2026-09-04T03:07:12Z</dcterms:modified>
</cp:coreProperties>
</file>