
<file path=[Content_Types].xml><?xml version="1.0" encoding="utf-8"?>
<Types xmlns="http://schemas.openxmlformats.org/package/2006/content-types">
  <Default Extension="bin" ContentType="image/png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50" r:id="rId3"/>
    <p:sldId id="257" r:id="rId4"/>
    <p:sldId id="258" r:id="rId5"/>
    <p:sldId id="351" r:id="rId6"/>
    <p:sldId id="352" r:id="rId7"/>
    <p:sldId id="326" r:id="rId8"/>
    <p:sldId id="284" r:id="rId9"/>
    <p:sldId id="28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5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BAE26-56B8-2430-61FE-210867C46B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37BB5E0-8FB4-28ED-7516-8F1B6E232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12B10A-941C-D939-27AC-6B15C7D34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9AD2BD-88C2-A651-59BE-1F23AE6AA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89C6D7-3953-E131-FC50-ABB0C76B8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310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787BA6-2A8E-5FA0-58D6-C944834A0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37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3081"/>
            <a:ext cx="10515600" cy="5811838"/>
          </a:xfrm>
        </p:spPr>
        <p:txBody>
          <a:bodyPr/>
          <a:lstStyle>
            <a:lvl1pPr marL="0" indent="0">
              <a:buNone/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945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6037C5-4353-B18D-E7F6-50395C053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>
            <a:lvl1pPr algn="ctr"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095E053-2D55-7D42-832A-64D9FD71F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6/12/26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409B3BC-5091-C9EB-93DC-DAA2C048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9B95254-26E7-464E-C68E-165FA6809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500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135E84-15A1-7FC9-AFAF-8FADC46CD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4AF478-0EFE-AC89-ED8A-29756B0B9E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49BB167-44B9-706B-D666-89AE18CB9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E7B3BB-7A6E-45B9-71DF-CB6C64FBA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162526-EB46-7571-519E-1D9919B8F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DE84E-A2DC-6924-24F0-2B9796818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4904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3554D5-D7A9-A1DD-900A-2FD838DA3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E7B749-E7A9-21B5-B42B-E0A39C25C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7C0BC1-B0B5-7AAD-E11A-81B8F71F4C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339032A-E84E-69B4-CBA0-AA0E80DEEB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95D864D-D9D2-FFDB-0B84-6A573F795D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1228042-54E5-4EAA-2940-C44C57443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6/12/26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0899DAD-BFB9-32DF-3CE6-59BAD615A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7AF6A48-CE64-6945-8AD6-C8258AA9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596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9658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C416FE3-9FFB-D473-650E-C0FF08387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F6876DD-7317-1E24-5465-9C24EFCE5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8481CF-CAF6-E439-D9F9-98DE38F887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A95057-F28B-4021-A46F-4C2D267CFC9D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123095-2A83-7320-9954-6441CBEAF2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D8FB62F-A58A-E29F-AA4A-4628B24796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0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4" r:id="rId4"/>
    <p:sldLayoutId id="2147483652" r:id="rId5"/>
    <p:sldLayoutId id="2147483653" r:id="rId6"/>
    <p:sldLayoutId id="214748365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bin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5E9302-FB36-523F-F429-8361E51208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zh-CN" altLang="en-US" dirty="0"/>
              <a:t>路端电压与负载的关系</a:t>
            </a:r>
            <a:br>
              <a:rPr kumimoji="1" lang="en-US" altLang="zh-CN" dirty="0"/>
            </a:br>
            <a:r>
              <a:rPr kumimoji="1" lang="zh-CN" altLang="en-US" dirty="0"/>
              <a:t>电阻表的原理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8CD27B1-C465-4A02-E274-F45318308D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 dirty="0"/>
              <a:t>The relationship between the roadside voltage and the load</a:t>
            </a:r>
            <a:br>
              <a:rPr kumimoji="1" lang="en-US" altLang="zh-CN" dirty="0"/>
            </a:br>
            <a:r>
              <a:rPr kumimoji="1" lang="en-US" altLang="zh-CN" dirty="0"/>
              <a:t>Principle of resistance meter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11161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3A6CBD-CAF0-CCF7-67E9-D901F0910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kumimoji="1" lang="zh-CN" altLang="en-US" dirty="0"/>
              <a:t>写出电路中电压，电流，电阻之间的关系</a:t>
            </a:r>
          </a:p>
        </p:txBody>
      </p:sp>
      <p:pic>
        <p:nvPicPr>
          <p:cNvPr id="7" name="内容占位符 3" descr="墙上的钟表&#10;&#10;AI 生成的内容可能不正确。">
            <a:extLst>
              <a:ext uri="{FF2B5EF4-FFF2-40B4-BE49-F238E27FC236}">
                <a16:creationId xmlns:a16="http://schemas.microsoft.com/office/drawing/2014/main" id="{D085FBB0-3C9F-2438-9632-7F13775B63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7526" y="1825625"/>
            <a:ext cx="5596948" cy="435133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169593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94CE93-8D09-944E-064D-48BEF1B17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路端电压与负载的关系</a:t>
            </a:r>
            <a:endParaRPr lang="en-US" dirty="0"/>
          </a:p>
        </p:txBody>
      </p:sp>
      <p:pic>
        <p:nvPicPr>
          <p:cNvPr id="34" name="内容占位符 33">
            <a:extLst>
              <a:ext uri="{FF2B5EF4-FFF2-40B4-BE49-F238E27FC236}">
                <a16:creationId xmlns:a16="http://schemas.microsoft.com/office/drawing/2014/main" id="{4D76A8D3-5F0B-4385-215A-DE9B4B6D730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16736" y="2062501"/>
            <a:ext cx="4224528" cy="3877586"/>
          </a:xfrm>
          <a:prstGeom prst="rect">
            <a:avLst/>
          </a:prstGeom>
        </p:spPr>
      </p:pic>
      <p:pic>
        <p:nvPicPr>
          <p:cNvPr id="35" name="内容占位符 3" descr="墙上的钟表&#10;&#10;AI 生成的内容可能不正确。">
            <a:extLst>
              <a:ext uri="{FF2B5EF4-FFF2-40B4-BE49-F238E27FC236}">
                <a16:creationId xmlns:a16="http://schemas.microsoft.com/office/drawing/2014/main" id="{73E91812-AE44-BBC9-63AD-83889DFF41C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67548" y="2211388"/>
            <a:ext cx="4590904" cy="357981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82879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11EF06-32C8-4DB1-C10B-1E9643FF9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某电源的路端电压与电流的关系图像，下列结论正确的是（     ）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7DE420-8BAF-0250-761A-FE6E9F1CA0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A. </a:t>
            </a:r>
            <a:r>
              <a:rPr lang="zh-CN" altLang="en-US" dirty="0"/>
              <a:t>电源的电动势为</a:t>
            </a:r>
            <a:r>
              <a:rPr lang="en-US" altLang="zh-CN" dirty="0"/>
              <a:t>6.0V</a:t>
            </a:r>
          </a:p>
          <a:p>
            <a:pPr marL="0" indent="0">
              <a:buNone/>
            </a:pPr>
            <a:r>
              <a:rPr lang="en-US" altLang="zh-CN" dirty="0"/>
              <a:t>B. </a:t>
            </a:r>
            <a:r>
              <a:rPr lang="zh-CN" altLang="en-US" dirty="0"/>
              <a:t>电源的内阻为</a:t>
            </a:r>
            <a:r>
              <a:rPr lang="en-US" altLang="zh-CN" dirty="0"/>
              <a:t>12</a:t>
            </a:r>
            <a:r>
              <a:rPr lang="zh-CN" altLang="en-US" dirty="0"/>
              <a:t>𝛺</a:t>
            </a:r>
          </a:p>
          <a:p>
            <a:pPr marL="0" indent="0">
              <a:buNone/>
            </a:pPr>
            <a:r>
              <a:rPr lang="en-US" altLang="zh-CN" dirty="0"/>
              <a:t>C. </a:t>
            </a:r>
            <a:r>
              <a:rPr lang="zh-CN" altLang="en-US" dirty="0"/>
              <a:t>电源的短路电流为</a:t>
            </a:r>
            <a:r>
              <a:rPr lang="en-US" altLang="zh-CN" dirty="0"/>
              <a:t>0.5A</a:t>
            </a:r>
          </a:p>
          <a:p>
            <a:pPr marL="0" indent="0">
              <a:buNone/>
            </a:pPr>
            <a:r>
              <a:rPr lang="en-US" altLang="zh-CN" dirty="0"/>
              <a:t>D. </a:t>
            </a:r>
            <a:r>
              <a:rPr lang="zh-CN" altLang="en-US" dirty="0"/>
              <a:t>电流为</a:t>
            </a:r>
            <a:r>
              <a:rPr lang="en-US" altLang="zh-CN" dirty="0"/>
              <a:t>0.3A</a:t>
            </a:r>
            <a:r>
              <a:rPr lang="zh-CN" altLang="en-US" dirty="0"/>
              <a:t>时外电阻是</a:t>
            </a:r>
            <a:r>
              <a:rPr lang="en-US" altLang="zh-CN" dirty="0"/>
              <a:t>1.8</a:t>
            </a:r>
            <a:r>
              <a:rPr lang="zh-CN" altLang="en-US" dirty="0"/>
              <a:t>𝛺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8CEB7A6-85BD-EB3E-92D6-C394C6ED611D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2000" contrast="6000"/>
          </a:blip>
          <a:stretch>
            <a:fillRect/>
          </a:stretch>
        </p:blipFill>
        <p:spPr>
          <a:xfrm>
            <a:off x="6096001" y="1825625"/>
            <a:ext cx="5257800" cy="4036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75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F99310-3C1E-F5B6-E98F-E01F8638D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kumimoji="1" lang="zh-CN" altLang="en-US" sz="3600" dirty="0"/>
              <a:t>利用所学知识，设计一个可以测量电阻的仪器</a:t>
            </a:r>
          </a:p>
        </p:txBody>
      </p:sp>
      <p:pic>
        <p:nvPicPr>
          <p:cNvPr id="5" name="内容占位符 69" descr="手机屏幕的截图&#10;&#10;AI 生成的内容可能不正确。">
            <a:extLst>
              <a:ext uri="{FF2B5EF4-FFF2-40B4-BE49-F238E27FC236}">
                <a16:creationId xmlns:a16="http://schemas.microsoft.com/office/drawing/2014/main" id="{A9D83FEB-55D5-1D01-4BE9-80AEC6FB12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7604" y="1825625"/>
            <a:ext cx="8096791" cy="435133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67205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4" name="yt_shape_15354"/>
          <p:cNvSpPr txBox="1"/>
          <p:nvPr/>
        </p:nvSpPr>
        <p:spPr>
          <a:xfrm>
            <a:off x="4928734" y="467999"/>
            <a:ext cx="2225353" cy="53655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en-US" altLang="zh-CN" sz="2800" b="0" i="0" u="none" spc="16653">
                <a:solidFill>
                  <a:srgbClr val="1EE3CF"/>
                </a:solidFill>
                <a:effectLst/>
                <a:latin typeface="Times New Roman" pitchFamily="28"/>
                <a:ea typeface="宋体" pitchFamily="28"/>
              </a:rPr>
              <a:t> </a:t>
            </a:r>
          </a:p>
        </p:txBody>
      </p:sp>
      <p:sp>
        <p:nvSpPr>
          <p:cNvPr id="15356" name="yt_shape_15356"/>
          <p:cNvSpPr txBox="1"/>
          <p:nvPr/>
        </p:nvSpPr>
        <p:spPr>
          <a:xfrm>
            <a:off x="133543" y="1042309"/>
            <a:ext cx="11924914" cy="121655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475615" indent="-475555" algn="l" eaLnBrk="1" latinLnBrk="0" hangingPunct="0">
              <a:lnSpc>
                <a:spcPct val="140000"/>
              </a:lnSpc>
            </a:pPr>
            <a:r>
              <a:rPr lang="en-US" altLang="zh-CN" sz="3000" b="0" i="0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	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一个电流表的满偏电流</a:t>
            </a:r>
            <a:r>
              <a:rPr lang="en-US" altLang="zh-CN" sz="3000" b="0" i="1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I</a:t>
            </a:r>
            <a:r>
              <a:rPr lang="en-US" altLang="zh-CN" sz="3000" b="0" i="0" u="none" baseline="-25000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g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宋体" pitchFamily="30"/>
                <a:ea typeface="宋体" pitchFamily="30"/>
              </a:rPr>
              <a:t>＝</a:t>
            </a:r>
            <a:r>
              <a:rPr lang="en-US" altLang="zh-CN" sz="3000" b="0" i="0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1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 </a:t>
            </a:r>
            <a:r>
              <a:rPr lang="en-US" altLang="zh-CN" sz="3000" b="0" i="0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mA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宋体" pitchFamily="30"/>
                <a:ea typeface="宋体" pitchFamily="30"/>
              </a:rPr>
              <a:t>，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内阻</a:t>
            </a:r>
            <a:r>
              <a:rPr lang="en-US" altLang="zh-CN" sz="3000" b="0" i="1" u="none" dirty="0" err="1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R</a:t>
            </a:r>
            <a:r>
              <a:rPr lang="en-US" altLang="zh-CN" sz="3000" b="0" i="0" u="none" baseline="-25000" dirty="0" err="1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g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宋体" pitchFamily="30"/>
                <a:ea typeface="宋体" pitchFamily="30"/>
              </a:rPr>
              <a:t>＝</a:t>
            </a:r>
            <a:r>
              <a:rPr lang="en-US" altLang="zh-CN" sz="3000" b="0" i="0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500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 </a:t>
            </a:r>
            <a:r>
              <a:rPr lang="en-US" altLang="zh-CN" sz="3000" b="0" i="0" u="none" dirty="0" err="1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Ω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宋体" pitchFamily="30"/>
                <a:ea typeface="宋体" pitchFamily="30"/>
              </a:rPr>
              <a:t>，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  <a:sym typeface="_⨹_6_ab360"/>
              </a:rPr>
              <a:t>要把它改装成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一个量程为</a:t>
            </a:r>
            <a:r>
              <a:rPr lang="en-US" altLang="zh-CN" sz="3000" b="0" i="0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10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 </a:t>
            </a:r>
            <a:r>
              <a:rPr lang="en-US" altLang="zh-CN" sz="3000" b="0" i="0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V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的电压表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宋体" pitchFamily="30"/>
                <a:ea typeface="宋体" pitchFamily="30"/>
              </a:rPr>
              <a:t>，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则应在电流表上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宋体" pitchFamily="30"/>
                <a:ea typeface="宋体" pitchFamily="30"/>
              </a:rPr>
              <a:t>（</a:t>
            </a:r>
            <a:r>
              <a:rPr lang="zh-CN" altLang="zh-CN" sz="3000" b="0" i="1" u="none" dirty="0">
                <a:solidFill>
                  <a:srgbClr val="000000"/>
                </a:solidFill>
                <a:effectLst/>
                <a:latin typeface="Times New Roman" pitchFamily="30"/>
                <a:ea typeface="宋体" pitchFamily="30"/>
              </a:rPr>
              <a:t>　　</a:t>
            </a:r>
            <a:r>
              <a:rPr lang="zh-CN" altLang="zh-CN" sz="3000" b="0" i="0" u="none" dirty="0">
                <a:solidFill>
                  <a:srgbClr val="000000"/>
                </a:solidFill>
                <a:effectLst/>
                <a:latin typeface="宋体" pitchFamily="30"/>
                <a:ea typeface="宋体" pitchFamily="30"/>
              </a:rPr>
              <a:t>）</a:t>
            </a:r>
          </a:p>
        </p:txBody>
      </p:sp>
      <p:graphicFrame>
        <p:nvGraphicFramePr>
          <p:cNvPr id="15357" name="yt_table_15357" title="H_201.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799686" y="2411408"/>
          <a:ext cx="4970463" cy="2560320"/>
        </p:xfrm>
        <a:graphic>
          <a:graphicData uri="http://schemas.openxmlformats.org/drawingml/2006/table">
            <a:tbl>
              <a:tblPr/>
              <a:tblGrid>
                <a:gridCol w="4970463">
                  <a:extLst>
                    <a:ext uri="{9D8B030D-6E8A-4147-A177-3AD203B41FA5}">
                      <a16:colId xmlns:a16="http://schemas.microsoft.com/office/drawing/2014/main" val="104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60634" indent="-56063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3000" b="0" i="0" u="none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A</a:t>
                      </a:r>
                      <a:r>
                        <a:rPr lang="en-US" altLang="zh-CN" sz="3000" b="0" i="0" u="none">
                          <a:solidFill>
                            <a:srgbClr val="000000"/>
                          </a:solidFill>
                          <a:effectLst/>
                          <a:latin typeface="宋体" pitchFamily="30"/>
                          <a:ea typeface="宋体" pitchFamily="30"/>
                        </a:rPr>
                        <a:t>.</a:t>
                      </a:r>
                      <a:r>
                        <a:rPr lang="en-US" altLang="zh-CN" sz="3000" b="0" i="0" u="none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 </a:t>
                      </a:r>
                      <a:r>
                        <a:rPr lang="zh-CN" altLang="zh-CN" sz="3000" b="0" i="0" u="none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串联一个</a:t>
                      </a:r>
                      <a:r>
                        <a:rPr lang="en-US" altLang="zh-CN" sz="3000" b="0" i="0" u="none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10</a:t>
                      </a:r>
                      <a:r>
                        <a:rPr lang="zh-CN" altLang="zh-CN" sz="3000" b="0" i="0" u="none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 </a:t>
                      </a:r>
                      <a:r>
                        <a:rPr lang="en-US" altLang="zh-CN" sz="3000" b="0" i="0" u="none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kΩ</a:t>
                      </a:r>
                      <a:r>
                        <a:rPr lang="zh-CN" altLang="zh-CN" sz="3000" b="0" i="0" u="none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的电阻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39682" indent="-53968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B</a:t>
                      </a:r>
                      <a:r>
                        <a:rPr lang="en-US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宋体" pitchFamily="30"/>
                          <a:ea typeface="宋体" pitchFamily="30"/>
                        </a:rPr>
                        <a:t>.</a:t>
                      </a:r>
                      <a:r>
                        <a:rPr lang="en-US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 </a:t>
                      </a:r>
                      <a:r>
                        <a:rPr lang="zh-CN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并联一个</a:t>
                      </a:r>
                      <a:r>
                        <a:rPr lang="en-US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10</a:t>
                      </a:r>
                      <a:r>
                        <a:rPr lang="zh-CN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 </a:t>
                      </a:r>
                      <a:r>
                        <a:rPr lang="en-US" altLang="zh-CN" sz="3000" b="0" i="0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kΩ</a:t>
                      </a:r>
                      <a:r>
                        <a:rPr lang="zh-CN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的电阻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39682" indent="-53968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3000" b="0" i="0" u="none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C</a:t>
                      </a:r>
                      <a:r>
                        <a:rPr lang="en-US" altLang="zh-CN" sz="3000" b="0" i="0" u="none">
                          <a:solidFill>
                            <a:srgbClr val="000000"/>
                          </a:solidFill>
                          <a:effectLst/>
                          <a:latin typeface="宋体" pitchFamily="30"/>
                          <a:ea typeface="宋体" pitchFamily="30"/>
                        </a:rPr>
                        <a:t>.</a:t>
                      </a:r>
                      <a:r>
                        <a:rPr lang="en-US" altLang="zh-CN" sz="3000" b="0" i="0" u="none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 </a:t>
                      </a:r>
                      <a:r>
                        <a:rPr lang="zh-CN" altLang="zh-CN" sz="3000" b="0" i="0" u="none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串联一个</a:t>
                      </a:r>
                      <a:r>
                        <a:rPr lang="en-US" altLang="zh-CN" sz="3000" b="0" i="0" u="none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9</a:t>
                      </a:r>
                      <a:r>
                        <a:rPr lang="en-US" altLang="zh-CN" sz="3000" b="0" i="0" u="none">
                          <a:solidFill>
                            <a:srgbClr val="000000"/>
                          </a:solidFill>
                          <a:effectLst/>
                          <a:latin typeface="宋体" pitchFamily="30"/>
                          <a:ea typeface="宋体" pitchFamily="30"/>
                        </a:rPr>
                        <a:t>.</a:t>
                      </a:r>
                      <a:r>
                        <a:rPr lang="en-US" altLang="zh-CN" sz="3000" b="0" i="0" u="none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5</a:t>
                      </a:r>
                      <a:r>
                        <a:rPr lang="zh-CN" altLang="zh-CN" sz="3000" b="0" i="0" u="none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 </a:t>
                      </a:r>
                      <a:r>
                        <a:rPr lang="en-US" altLang="zh-CN" sz="3000" b="0" i="0" u="none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kΩ</a:t>
                      </a:r>
                      <a:r>
                        <a:rPr lang="zh-CN" altLang="zh-CN" sz="3000" b="0" i="0" u="none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的电阻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60634" indent="-56063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D</a:t>
                      </a:r>
                      <a:r>
                        <a:rPr lang="en-US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宋体" pitchFamily="30"/>
                          <a:ea typeface="宋体" pitchFamily="30"/>
                        </a:rPr>
                        <a:t>.</a:t>
                      </a:r>
                      <a:r>
                        <a:rPr lang="en-US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 </a:t>
                      </a:r>
                      <a:r>
                        <a:rPr lang="zh-CN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并联一个</a:t>
                      </a:r>
                      <a:r>
                        <a:rPr lang="en-US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9</a:t>
                      </a:r>
                      <a:r>
                        <a:rPr lang="en-US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宋体" pitchFamily="30"/>
                          <a:ea typeface="宋体" pitchFamily="30"/>
                        </a:rPr>
                        <a:t>.</a:t>
                      </a:r>
                      <a:r>
                        <a:rPr lang="en-US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5</a:t>
                      </a:r>
                      <a:r>
                        <a:rPr lang="zh-CN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 </a:t>
                      </a:r>
                      <a:r>
                        <a:rPr lang="en-US" altLang="zh-CN" sz="3000" b="0" i="0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kΩ</a:t>
                      </a:r>
                      <a:r>
                        <a:rPr lang="zh-CN" altLang="zh-CN" sz="30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30"/>
                          <a:ea typeface="宋体" pitchFamily="30"/>
                        </a:rPr>
                        <a:t>的电阻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75"/>
                  </a:ext>
                </a:extLst>
              </a:tr>
            </a:tbl>
          </a:graphicData>
        </a:graphic>
      </p:graphicFrame>
      <p:pic>
        <p:nvPicPr>
          <p:cNvPr id="6" name="图片 5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3392" y="3933056"/>
            <a:ext cx="722784" cy="5796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:a14="http://schemas.microsoft.com/office/drawing/2010/main" xmlns:a16="http://schemas.microsoft.com/office/drawing/2014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48" name="yt_shape_16448"/>
          <p:cNvSpPr txBox="1"/>
          <p:nvPr/>
        </p:nvSpPr>
        <p:spPr>
          <a:xfrm>
            <a:off x="324071" y="467999"/>
            <a:ext cx="11924914" cy="2322752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微软雅黑" pitchFamily="28"/>
                <a:ea typeface="微软雅黑" pitchFamily="28"/>
              </a:rPr>
              <a:t>【典例】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隶书" pitchFamily="28"/>
              </a:rPr>
              <a:t>〔多选〕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2025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·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天津北辰期中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如图所示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df232"/>
              </a:rPr>
              <a:t>将某一电源的路端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电压随干路电流的变化关系和某一定值电阻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2_5a608"/>
              </a:rPr>
              <a:t>两端的电压与通过该电阻的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电流关系画在同一个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U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-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图像中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若将该电源与定值电阻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7_ea4d7"/>
              </a:rPr>
              <a:t>串联构成闭合回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下列分析中正确的是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pic>
        <p:nvPicPr>
          <p:cNvPr id="16449" name="yt_image_16449" title="H_191.37495">
            <a:extLst>
              <a:ext uri="">
                <a16:creationId xmlns:a16="http://schemas.microsoft.com/office/drawing/2014/main" xmlns:p15="http://schemas.microsoft.com/office/powerpoint/2012/main" xmlns:mc="http://schemas.openxmlformats.org/markup-compatibility/2006" xmlns:p14="http://schemas.microsoft.com/office/powerpoint/2010/main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507015" y="2921332"/>
            <a:ext cx="3044712" cy="2430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yt_table_16451" title="H_188.16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324137" y="2962162"/>
          <a:ext cx="7664387" cy="2389632"/>
        </p:xfrm>
        <a:graphic>
          <a:graphicData uri="http://schemas.openxmlformats.org/drawingml/2006/table">
            <a:tbl>
              <a:tblPr/>
              <a:tblGrid>
                <a:gridCol w="7664387">
                  <a:extLst>
                    <a:ext uri="{9D8B030D-6E8A-4147-A177-3AD203B41FA5}">
                      <a16:colId xmlns:a16="http://schemas.microsoft.com/office/drawing/2014/main" val="105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甲反映定值电阻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U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-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I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关系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乙反映电源的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U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-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I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关系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其电动势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E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5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0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通过定值电阻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的电流大小一定为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电源内阻</a:t>
                      </a:r>
                      <a:r>
                        <a:rPr lang="en-US" altLang="zh-CN" sz="2800" b="0" i="1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r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Ω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24"/>
                  </a:ext>
                </a:extLst>
              </a:tr>
            </a:tbl>
          </a:graphicData>
        </a:graphic>
      </p:graphicFrame>
      <p:sp>
        <p:nvSpPr>
          <p:cNvPr id="6" name="矩形 5"/>
          <p:cNvSpPr/>
          <p:nvPr/>
        </p:nvSpPr>
        <p:spPr>
          <a:xfrm>
            <a:off x="52007" y="2950361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52007" y="4787565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20" name="yt_shape_16420"/>
          <p:cNvSpPr txBox="1"/>
          <p:nvPr/>
        </p:nvSpPr>
        <p:spPr>
          <a:xfrm>
            <a:off x="324071" y="467999"/>
            <a:ext cx="11543998" cy="113543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【例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1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】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路端电压与外电阻关系的理解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电源电动势为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E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内阻为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  <a:sym typeface="_⨹_1_4b814"/>
              </a:rPr>
              <a:t>，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向可变电阻</a:t>
            </a:r>
            <a:r>
              <a:rPr lang="en-US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供电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关于路端电压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下列说法正确的是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6421" name="yt_table_16421" title="H_141.12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324066" y="1654226"/>
          <a:ext cx="9139248" cy="2389632"/>
        </p:xfrm>
        <a:graphic>
          <a:graphicData uri="http://schemas.openxmlformats.org/drawingml/2006/table">
            <a:tbl>
              <a:tblPr/>
              <a:tblGrid>
                <a:gridCol w="9139248">
                  <a:extLst>
                    <a:ext uri="{9D8B030D-6E8A-4147-A177-3AD203B41FA5}">
                      <a16:colId xmlns:a16="http://schemas.microsoft.com/office/drawing/2014/main" val="10566"/>
                    </a:ext>
                  </a:extLst>
                </a:gridCol>
              </a:tblGrid>
              <a:tr h="111252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因为电源电动势不变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所以路端电压也不变</a:t>
                      </a:r>
                    </a:p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因为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U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IR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所以当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I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增大时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路端电压也增大</a:t>
                      </a:r>
                    </a:p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因为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U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＝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E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－</a:t>
                      </a:r>
                      <a:r>
                        <a:rPr lang="en-US" altLang="zh-CN" sz="2800" b="0" i="1" u="none" dirty="0" err="1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Ir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所以当</a:t>
                      </a:r>
                      <a:r>
                        <a:rPr lang="en-US" altLang="zh-CN" sz="2800" b="0" i="1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I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增大时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路端电压减小</a:t>
                      </a:r>
                    </a:p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若外电路断开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，</a:t>
                      </a:r>
                      <a:r>
                        <a:rPr lang="zh-CN" altLang="zh-CN" sz="2800" b="0" i="0" u="none" dirty="0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则路端电压为零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12700" cmpd="sng">
                      <a:noFill/>
                      <a:prstDash val="solid"/>
                    </a:lnR>
                    <a:lnT w="9522" cmpd="sng">
                      <a:noFill/>
                    </a:lnT>
                    <a:lnB w="9522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412"/>
                  </a:ext>
                </a:extLst>
              </a:tr>
            </a:tbl>
          </a:graphicData>
        </a:graphic>
      </p:graphicFrame>
      <p:sp>
        <p:nvSpPr>
          <p:cNvPr id="16424" name="yt_shape_16424"/>
          <p:cNvSpPr txBox="1"/>
          <p:nvPr/>
        </p:nvSpPr>
        <p:spPr>
          <a:xfrm>
            <a:off x="324071" y="4085278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0" i="0" u="none" spc="150" dirty="0">
                <a:solidFill>
                  <a:srgbClr val="0000FF"/>
                </a:solidFill>
                <a:effectLst/>
                <a:latin typeface="微软雅黑" pitchFamily="28"/>
                <a:ea typeface="微软雅黑" pitchFamily="28"/>
              </a:rPr>
              <a:t>解析：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路端电压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U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IR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E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1" u="none" spc="15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Ir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因为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增大时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R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减小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所以不能用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  <a:sym typeface="_⨹_1_6fa4d"/>
              </a:rPr>
              <a:t>U</a:t>
            </a:r>
            <a:b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IR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判断路端电压的变化情况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根据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U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＝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E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－</a:t>
            </a:r>
            <a:r>
              <a:rPr lang="en-US" altLang="zh-CN" sz="2800" b="0" i="1" u="none" spc="150" dirty="0" err="1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Ir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可知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当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I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增大时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  <a:sym typeface="_⨹_2_e8b8c"/>
              </a:rPr>
              <a:t>路端</a:t>
            </a:r>
            <a:b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</a:b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电压减小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选项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、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C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正确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；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当外电路断开时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路端电压为</a:t>
            </a:r>
            <a:r>
              <a:rPr lang="en-US" altLang="zh-CN" sz="2800" b="0" i="1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E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  <a:sym typeface="_⨹_1_05566"/>
              </a:rPr>
              <a:t>，</a:t>
            </a:r>
            <a:br>
              <a:rPr lang="zh-CN" altLang="zh-CN" sz="2800" b="0" i="0" u="none" spc="150" dirty="0">
                <a:solidFill>
                  <a:srgbClr val="C00000"/>
                </a:solidFill>
                <a:effectLst/>
                <a:latin typeface="宋体" pitchFamily="28"/>
                <a:ea typeface="宋体" pitchFamily="28"/>
              </a:rPr>
            </a:b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选项</a:t>
            </a:r>
            <a:r>
              <a:rPr lang="en-US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D</a:t>
            </a:r>
            <a:r>
              <a:rPr lang="zh-CN" altLang="zh-CN" sz="2800" b="0" i="0" u="none" spc="150" dirty="0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错误。</a:t>
            </a:r>
          </a:p>
        </p:txBody>
      </p:sp>
      <p:sp>
        <p:nvSpPr>
          <p:cNvPr id="6" name="矩形 5"/>
          <p:cNvSpPr/>
          <p:nvPr/>
        </p:nvSpPr>
        <p:spPr>
          <a:xfrm>
            <a:off x="0" y="2849042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6="http://schemas.microsoft.com/office/drawing/2014/main" xmlns:a14="http://schemas.microsoft.com/office/drawing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6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424" grpId="0" build="allAtOnce"/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25" name="yt_shape_16425"/>
          <p:cNvSpPr txBox="1"/>
          <p:nvPr/>
        </p:nvSpPr>
        <p:spPr>
          <a:xfrm>
            <a:off x="324071" y="467999"/>
            <a:ext cx="11924914" cy="2322752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【例</a:t>
            </a:r>
            <a:r>
              <a:rPr lang="en-US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2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微软雅黑" pitchFamily="28"/>
              </a:rPr>
              <a:t>】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路端电压的计算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人造卫星在太空飞行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bd32c"/>
              </a:rPr>
              <a:t>主要靠太阳能电池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提供能量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有一太阳能电池板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测得它的开路电压为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800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5_c7107"/>
              </a:rPr>
              <a:t>短路电流为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40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。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若将该电池板与一阻值为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20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en-US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的电阻连成一闭合电路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，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4_51828"/>
              </a:rPr>
              <a:t>则路端电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压为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（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　　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宋体" pitchFamily="28"/>
                <a:ea typeface="宋体" pitchFamily="28"/>
              </a:rPr>
              <a:t>）</a:t>
            </a:r>
          </a:p>
        </p:txBody>
      </p:sp>
      <p:graphicFrame>
        <p:nvGraphicFramePr>
          <p:cNvPr id="16426" name="yt_table_16426" title="H_94.08">
            <a:extLst>
              <a:ext uri="{FF2B5EF4-FFF2-40B4-BE49-F238E27FC236}">
                <a16:creationId xmlns:a16="http://schemas.microsoft.com/office/drawing/2014/main" id="{85F9CD91-DE56-4981-AD6D-3D4292DC4A24}"/>
              </a:ext>
            </a:extLst>
          </p:cNvPr>
          <p:cNvGraphicFramePr>
            <a:graphicFrameLocks noGrp="1"/>
          </p:cNvGraphicFramePr>
          <p:nvPr/>
        </p:nvGraphicFramePr>
        <p:xfrm>
          <a:off x="324066" y="2841539"/>
          <a:ext cx="4919854" cy="1194816"/>
        </p:xfrm>
        <a:graphic>
          <a:graphicData uri="http://schemas.openxmlformats.org/drawingml/2006/table">
            <a:tbl>
              <a:tblPr/>
              <a:tblGrid>
                <a:gridCol w="2926017">
                  <a:extLst>
                    <a:ext uri="{9D8B030D-6E8A-4147-A177-3AD203B41FA5}">
                      <a16:colId xmlns:a16="http://schemas.microsoft.com/office/drawing/2014/main" val="10568"/>
                    </a:ext>
                  </a:extLst>
                </a:gridCol>
                <a:gridCol w="1993837">
                  <a:extLst>
                    <a:ext uri="{9D8B030D-6E8A-4147-A177-3AD203B41FA5}">
                      <a16:colId xmlns:a16="http://schemas.microsoft.com/office/drawing/2014/main" val="105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A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0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1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23174" indent="-523174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B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0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2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C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0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3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503492" indent="-503492" algn="l" eaLnBrk="1" fontAlgn="ctr" latinLnBrk="0" hangingPunct="0">
                        <a:lnSpc>
                          <a:spcPct val="140000"/>
                        </a:lnSpc>
                      </a:pP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D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0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宋体" pitchFamily="28"/>
                          <a:ea typeface="宋体" pitchFamily="28"/>
                        </a:rPr>
                        <a:t>.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4</a:t>
                      </a:r>
                      <a:r>
                        <a:rPr lang="zh-CN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 </a:t>
                      </a:r>
                      <a:r>
                        <a:rPr lang="en-US" altLang="zh-CN" sz="2800" b="0" i="0" u="none">
                          <a:solidFill>
                            <a:srgbClr val="000000"/>
                          </a:solidFill>
                          <a:effectLst/>
                          <a:latin typeface="Times New Roman" pitchFamily="28"/>
                          <a:ea typeface="宋体" pitchFamily="28"/>
                        </a:rPr>
                        <a:t>V</a:t>
                      </a:r>
                    </a:p>
                  </a:txBody>
                  <a:tcPr marL="0" marR="0" marT="0" marB="0" anchor="ctr">
                    <a:lnL w="9522" cmpd="sng">
                      <a:noFill/>
                    </a:lnL>
                    <a:lnR w="9522" cmpd="sng">
                      <a:noFill/>
                    </a:lnR>
                    <a:lnT w="9522" cmpd="sng">
                      <a:noFill/>
                    </a:lnT>
                    <a:lnB w="9522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16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2969377" y="3493929"/>
            <a:ext cx="76166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50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  </a:t>
            </a:r>
            <a:endParaRPr lang="zh-CN" altLang="en-US" sz="50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:a16="http://schemas.microsoft.com/office/drawing/2014/main" xmlns:a14="http://schemas.microsoft.com/office/drawing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and Chinese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功" id="{305D7A6B-F211-124E-A565-AFD60AE97881}" vid="{BCE79254-6837-AE48-BBE5-2699EE225D4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主题​​</Template>
  <TotalTime>1131</TotalTime>
  <Words>618</Words>
  <Application>Microsoft Macintosh PowerPoint</Application>
  <PresentationFormat>Widescreen</PresentationFormat>
  <Paragraphs>36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微软雅黑</vt:lpstr>
      <vt:lpstr>宋体</vt:lpstr>
      <vt:lpstr>华文细黑</vt:lpstr>
      <vt:lpstr>Arial</vt:lpstr>
      <vt:lpstr>Times New Roman</vt:lpstr>
      <vt:lpstr>Office 主题​​</vt:lpstr>
      <vt:lpstr>路端电压与负载的关系 电阻表的原理</vt:lpstr>
      <vt:lpstr>写出电路中电压，电流，电阻之间的关系</vt:lpstr>
      <vt:lpstr>路端电压与负载的关系</vt:lpstr>
      <vt:lpstr>某电源的路端电压与电流的关系图像，下列结论正确的是（     ）</vt:lpstr>
      <vt:lpstr>利用所学知识，设计一个可以测量电阻的仪器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Xingyu Shu</dc:creator>
  <cp:lastModifiedBy>Xingyu Shu</cp:lastModifiedBy>
  <cp:revision>2</cp:revision>
  <dcterms:created xsi:type="dcterms:W3CDTF">2025-09-08T06:42:01Z</dcterms:created>
  <dcterms:modified xsi:type="dcterms:W3CDTF">2026-06-12T08:36:19Z</dcterms:modified>
</cp:coreProperties>
</file>