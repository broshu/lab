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3" r:id="rId3"/>
    <p:sldId id="318" r:id="rId4"/>
    <p:sldId id="337" r:id="rId5"/>
    <p:sldId id="319" r:id="rId6"/>
    <p:sldId id="322" r:id="rId7"/>
    <p:sldId id="338" r:id="rId8"/>
    <p:sldId id="314" r:id="rId9"/>
    <p:sldId id="333" r:id="rId10"/>
    <p:sldId id="334" r:id="rId11"/>
    <p:sldId id="33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26">
            <a:hlinkClick r:id="rId3" action="ppaction://hlinksldjump"/>
          </p:cNvPr>
          <p:cNvSpPr txBox="1"/>
          <p:nvPr userDrawn="1"/>
        </p:nvSpPr>
        <p:spPr>
          <a:xfrm>
            <a:off x="11519866" y="645360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  <p:sp>
        <p:nvSpPr>
          <p:cNvPr id="6" name="TextBox 26"/>
          <p:cNvSpPr txBox="1"/>
          <p:nvPr userDrawn="1"/>
        </p:nvSpPr>
        <p:spPr>
          <a:xfrm>
            <a:off x="706381" y="28047"/>
            <a:ext cx="3217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理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必修第一册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方正新报宋_GBK" panose="03000509000000000000" pitchFamily="65" charset="-122"/>
              <a:ea typeface="方正新报宋_GBK" panose="03000509000000000000" pitchFamily="65" charset="-122"/>
              <a:cs typeface="+mn-cs"/>
            </a:endParaRPr>
          </a:p>
        </p:txBody>
      </p:sp>
      <p:cxnSp>
        <p:nvCxnSpPr>
          <p:cNvPr id="7" name="直接箭头连接符 6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0" y="-972"/>
            <a:ext cx="508986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80369" y="-4354"/>
            <a:ext cx="90025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5609740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7.bin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BE4E-9908-2D21-CF48-08ECF7A122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专题强化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B2F800-A07C-C77F-2341-3279B7D268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129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047" name="yt_shape_12047"/>
              <p:cNvSpPr txBox="1"/>
              <p:nvPr/>
            </p:nvSpPr>
            <p:spPr>
              <a:xfrm>
                <a:off x="267086" y="598628"/>
                <a:ext cx="11924914" cy="619047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 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匀变速直线运动的平均速度公式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barPr>
                      <m:e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</m:bar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zh-CN" sz="2800" b="0" i="0" u="none">
                  <a:solidFill>
                    <a:srgbClr val="000000"/>
                  </a:solidFill>
                  <a:effectLst/>
                  <a:latin typeface="宋体" pitchFamily="28"/>
                  <a:ea typeface="宋体" pitchFamily="28"/>
                </a:endParaRP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匀变速直线运动中任意一段时间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5_c6975"/>
                  </a:rPr>
                  <a:t>内的平均速度等于该段时间的中间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时刻的瞬时速度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还等于该段时间初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、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末速度矢量和的一半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若同时涉及位移与时间而不涉及加速度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1_c47a5"/>
                  </a:rPr>
                  <a:t>选用中间时刻瞬时速度公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式及平均速度公式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barPr>
                      <m:e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</m:bar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 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三个平均速度公式的适用范围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barPr>
                      <m:e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</m:bar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适用于任何运动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barPr>
                      <m:e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</m:bar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及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barPr>
                      <m:e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</m:bar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仅适用于匀变速直线运动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 xmlns:p15="http://schemas.microsoft.com/office/powerpoint/2012/main" xmlns:m="http://schemas.openxmlformats.org/officeDocument/2006/math">
          <p:sp>
            <p:nvSpPr>
              <p:cNvPr id="12047" name="yt_shape_120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598628"/>
                <a:ext cx="11924914" cy="6190477"/>
              </a:xfrm>
              <a:prstGeom prst="rect">
                <a:avLst/>
              </a:prstGeom>
              <a:blipFill>
                <a:blip r:embed="rId2"/>
                <a:stretch>
                  <a:fillRect l="-1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yt_image_12045">
            <a:extLst>
              <a:ext uri="">
                <a16:creationId xmlns="" xmlns:m="http://schemas.openxmlformats.org/officeDocument/2006/math" xmlns:a16="http://schemas.microsoft.com/office/drawing/2014/main" xmlns:p15="http://schemas.microsoft.com/office/powerpoint/2012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7086" y="381274"/>
            <a:ext cx="2134593" cy="57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a14="http://schemas.microsoft.com/office/drawing/2010/main" xmlns:m="http://schemas.openxmlformats.org/officeDocument/2006/math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7" name="yt_shape_12077"/>
          <p:cNvSpPr txBox="1"/>
          <p:nvPr/>
        </p:nvSpPr>
        <p:spPr>
          <a:xfrm>
            <a:off x="5679942" y="-236640"/>
            <a:ext cx="71814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</a:p>
        </p:txBody>
      </p:sp>
      <p:sp>
        <p:nvSpPr>
          <p:cNvPr id="12080" name="yt_shape_12080"/>
          <p:cNvSpPr txBox="1"/>
          <p:nvPr/>
        </p:nvSpPr>
        <p:spPr>
          <a:xfrm>
            <a:off x="267086" y="1126965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在匀变速直线运动中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某段位移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对应时间为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末速度分别是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266f6"/>
              </a:rPr>
              <a:t> 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加速度为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12081" name="yt_image_12081">
            <a:extLst>
              <a:ext uri="">
                <a16:creationId xmlns="" xmlns:a16="http://schemas.microsoft.com/office/drawing/2014/main" xmlns:p15="http://schemas.microsoft.com/office/powerpoint/2012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61587" y="2465556"/>
            <a:ext cx="2154854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083" name="yt_shape_12083"/>
              <p:cNvSpPr txBox="1"/>
              <p:nvPr/>
            </p:nvSpPr>
            <p:spPr>
              <a:xfrm>
                <a:off x="267015" y="3064863"/>
                <a:ext cx="8066760" cy="844911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活动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该段位移中点位置的瞬时速度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等于多少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？</a:t>
                </a:r>
              </a:p>
            </p:txBody>
          </p:sp>
        </mc:Choice>
        <mc:Fallback xmlns="" xmlns:a16="http://schemas.microsoft.com/office/drawing/2014/main" xmlns:p15="http://schemas.microsoft.com/office/powerpoint/2012/main">
          <p:sp>
            <p:nvSpPr>
              <p:cNvPr id="12083" name="yt_shape_120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15" y="3064863"/>
                <a:ext cx="8066760" cy="844911"/>
              </a:xfrm>
              <a:prstGeom prst="rect">
                <a:avLst/>
              </a:prstGeom>
              <a:blipFill>
                <a:blip r:embed="rId3"/>
                <a:stretch>
                  <a:fillRect l="-2721" r="-1285"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问题探究彩.jpg" descr="id:2147493359;FounderCES">
            <a:extLst>
              <a:ext uri="{FF2B5EF4-FFF2-40B4-BE49-F238E27FC236}">
                <a16:creationId xmlns:a16="http://schemas.microsoft.com/office/drawing/2014/main" id="{F4E11D75-4E2C-4D90-B3EC-8EAF3571E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15" y="509095"/>
            <a:ext cx="2347293" cy="6178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yt_shape_12085"/>
              <p:cNvSpPr txBox="1"/>
              <p:nvPr/>
            </p:nvSpPr>
            <p:spPr>
              <a:xfrm>
                <a:off x="267015" y="3960441"/>
                <a:ext cx="11543998" cy="199695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提示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由匀变速直线运动速度与位移关系式得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f>
                              <m:f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f>
                              <m:f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486f2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联立解得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zh-CN" sz="2800" b="0" i="1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56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2800" b="0" i="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＋</m:t>
                            </m:r>
                            <m:sSup>
                              <m:sSup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 xmlns:p15="http://schemas.microsoft.com/office/powerpoint/2012/main">
          <p:sp>
            <p:nvSpPr>
              <p:cNvPr id="9" name="yt_shape_120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15" y="3960441"/>
                <a:ext cx="11543998" cy="1996957"/>
              </a:xfrm>
              <a:prstGeom prst="rect">
                <a:avLst/>
              </a:prstGeom>
              <a:blipFill>
                <a:blip r:embed="rId5"/>
                <a:stretch>
                  <a:fillRect l="-1901" b="-1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087" name="yt_shape_12087"/>
              <p:cNvSpPr txBox="1"/>
              <p:nvPr/>
            </p:nvSpPr>
            <p:spPr>
              <a:xfrm>
                <a:off x="268088" y="304389"/>
                <a:ext cx="11543998" cy="135793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活动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该段位移中点位置的瞬时速度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4_f3119"/>
                  </a:rPr>
                  <a:t>与该段时间中间时刻的瞬时速度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大小关系如何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？</a:t>
                </a:r>
              </a:p>
            </p:txBody>
          </p:sp>
        </mc:Choice>
        <mc:Fallback xmlns="" xmlns:a16="http://schemas.microsoft.com/office/drawing/2014/main">
          <p:sp>
            <p:nvSpPr>
              <p:cNvPr id="12087" name="yt_shape_120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088" y="304389"/>
                <a:ext cx="11543998" cy="1357936"/>
              </a:xfrm>
              <a:prstGeom prst="rect">
                <a:avLst/>
              </a:prstGeom>
              <a:blipFill>
                <a:blip r:embed="rId2"/>
                <a:stretch>
                  <a:fillRect l="-1901" b="-147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89" name="yt_shape_12089"/>
          <p:cNvSpPr txBox="1"/>
          <p:nvPr/>
        </p:nvSpPr>
        <p:spPr>
          <a:xfrm>
            <a:off x="268089" y="1713113"/>
            <a:ext cx="7122329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提示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分别作出匀加速直线运动的速度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仿宋" pitchFamily="28"/>
                <a:ea typeface="仿宋" pitchFamily="28"/>
                <a:sym typeface="_⨹_1_c9ca4"/>
              </a:rPr>
              <a:t>—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仿宋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时间图像和匀减速直线运动的速度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仿宋" pitchFamily="28"/>
                <a:ea typeface="仿宋" pitchFamily="28"/>
              </a:rPr>
              <a:t>—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94667"/>
              </a:rPr>
              <a:t>时间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图像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如图甲、乙所示。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D31635-0140-5BE2-C527-70E27CDFE2A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518" y="1713113"/>
            <a:ext cx="3956596" cy="17386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yt_shape_12090"/>
              <p:cNvSpPr txBox="1"/>
              <p:nvPr/>
            </p:nvSpPr>
            <p:spPr>
              <a:xfrm>
                <a:off x="268088" y="3451794"/>
                <a:ext cx="11543998" cy="172572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由图甲看出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时间内的位移不到总位移的一半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因此位移中点的时刻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  <a:sym typeface="_⨹_11_50989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  <a:sym typeface="_⨹_11_50989"/>
                          </a:rPr>
                          <m:t>𝑡</m:t>
                        </m:r>
                      </m:e>
                      <m:sub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  <a:sym typeface="_⨹_11_50989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  <a:sym typeface="_⨹_11_50989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  <a:sym typeface="_⨹_11_50989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br>
                  <a:rPr lang="en-US" altLang="zh-CN" sz="2800" b="0" i="1">
                    <a:solidFill>
                      <a:srgbClr val="C00000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56" charset="0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由图乙可知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e>
                      <m:sub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6" name="yt_shape_120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088" y="3451794"/>
                <a:ext cx="11543998" cy="1725729"/>
              </a:xfrm>
              <a:prstGeom prst="rect">
                <a:avLst/>
              </a:prstGeom>
              <a:blipFill>
                <a:blip r:embed="rId4"/>
                <a:stretch>
                  <a:fillRect l="-1901" b="-1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yt_shape_12092"/>
              <p:cNvSpPr txBox="1"/>
              <p:nvPr/>
            </p:nvSpPr>
            <p:spPr>
              <a:xfrm>
                <a:off x="268088" y="5228311"/>
                <a:ext cx="11924914" cy="148335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由以上推导过程可得出结论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9_95b2e"/>
                  </a:rPr>
                  <a:t>不论物体做匀加速直线运动还是做匀减速直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线运动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总有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7" name="yt_shape_120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088" y="5228311"/>
                <a:ext cx="11924914" cy="1483355"/>
              </a:xfrm>
              <a:prstGeom prst="rect">
                <a:avLst/>
              </a:prstGeom>
              <a:blipFill>
                <a:blip r:embed="rId5"/>
                <a:stretch>
                  <a:fillRect l="-1840" t="-16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9" grpId="0" build="allAtOnce"/>
      <p:bldP spid="6" grpId="0" build="allAtOnce"/>
      <p:bldP spid="7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096" name="yt_shape_12096"/>
              <p:cNvSpPr txBox="1"/>
              <p:nvPr/>
            </p:nvSpPr>
            <p:spPr>
              <a:xfrm>
                <a:off x="408047" y="1093150"/>
                <a:ext cx="11924914" cy="331417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 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中点位置的瞬时速度公式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zh-CN" sz="2800" b="0" i="1">
                                        <a:solidFill>
                                          <a:srgbClr val="01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56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 b="0" i="0">
                                        <a:solidFill>
                                          <a:srgbClr val="01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en-US" altLang="zh-CN" sz="2800" b="0" i="0">
                                        <a:solidFill>
                                          <a:srgbClr val="01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2800" b="0" i="0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＋</m:t>
                            </m:r>
                            <m:sSup>
                              <m:sSupPr>
                                <m:ctrlP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v</m:t>
                                </m:r>
                              </m:e>
                              <m:sup>
                                <m:r>
                                  <a:rPr lang="en-US" altLang="zh-CN" sz="2800" b="0" i="0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 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适用条件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匀变速直线运动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 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对于任意一段匀变速直线运动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7_e174c"/>
                  </a:rPr>
                  <a:t>无论是匀加速直线运动还是匀减速直线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运动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中点位置的瞬时速度大于中间时刻的瞬时速度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 xmlns:p15="http://schemas.microsoft.com/office/powerpoint/2012/main" xmlns:m="http://schemas.openxmlformats.org/officeDocument/2006/math">
          <p:sp>
            <p:nvSpPr>
              <p:cNvPr id="12096" name="yt_shape_120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47" y="1093150"/>
                <a:ext cx="11924914" cy="3314177"/>
              </a:xfrm>
              <a:prstGeom prst="rect">
                <a:avLst/>
              </a:prstGeom>
              <a:blipFill>
                <a:blip r:embed="rId2"/>
                <a:stretch>
                  <a:fillRect l="-1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yt_image_12094" title="H_45.48">
            <a:extLst>
              <a:ext uri="">
                <a16:creationId xmlns="" xmlns:m="http://schemas.openxmlformats.org/officeDocument/2006/math" xmlns:a16="http://schemas.microsoft.com/office/drawing/2014/main" xmlns:p15="http://schemas.microsoft.com/office/powerpoint/2012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8047" y="515554"/>
            <a:ext cx="2134593" cy="57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a14="http://schemas.microsoft.com/office/drawing/2010/main" xmlns:m="http://schemas.openxmlformats.org/officeDocument/2006/math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1" name="yt_shape_12101"/>
          <p:cNvSpPr txBox="1"/>
          <p:nvPr/>
        </p:nvSpPr>
        <p:spPr>
          <a:xfrm>
            <a:off x="324071" y="467999"/>
            <a:ext cx="11543998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中间时刻瞬时速度与中间位置瞬时速度公式的应用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b72f8"/>
              </a:rPr>
              <a:t>）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浙江宁波期末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汽车从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到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做匀加速直线运动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已知汽车经过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4ef90"/>
              </a:rPr>
              <a:t>点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时速度为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经过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点时速度为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间距离为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62549"/>
              </a:rPr>
              <a:t>则下列说法中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103" name="yt_table_12103_skip" title="H_267.39505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4066" y="2860710"/>
              <a:ext cx="8918032" cy="3395917"/>
            </p:xfrm>
            <a:graphic>
              <a:graphicData uri="http://schemas.openxmlformats.org/drawingml/2006/table">
                <a:tbl>
                  <a:tblPr/>
                  <a:tblGrid>
                    <a:gridCol w="8918032">
                      <a:extLst>
                        <a:ext uri="{9D8B030D-6E8A-4147-A177-3AD203B41FA5}">
                          <a16:colId xmlns:a16="http://schemas.microsoft.com/office/drawing/2014/main" val="101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汽车经过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中间时刻的速度是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34</m:t>
                                  </m:r>
                                </m:e>
                              </m:rad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汽车经过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位移中点时速度是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5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若汽车前一半位移所用时间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9_34c4d"/>
                            </a:rPr>
                            <a:t>后一半位移所用时间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则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∶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∶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（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e>
                              </m:rad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若汽车前一半时间发生位移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9_4ee17"/>
                            </a:rPr>
                            <a:t>后一半时间发生位移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则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∶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7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∶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13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23"/>
                      </a:ext>
                    </a:extLst>
                  </a:tr>
                </a:tbl>
              </a:graphicData>
            </a:graphic>
          </p:graphicFrame>
        </mc:Choice>
        <mc:Fallback xmlns="" xmlns:a16="http://schemas.microsoft.com/office/drawing/2014/main" xmlns:p14="http://schemas.microsoft.com/office/powerpoint/2010/main" xmlns:p15="http://schemas.microsoft.com/office/powerpoint/2012/main">
          <p:graphicFrame>
            <p:nvGraphicFramePr>
              <p:cNvPr id="12103" name="yt_table_12103_skip" descr="{&quot;rangeId&quot;:24,&quot;type&quot;:&quot;Option&quot;,&quot;drawing&quot;:[&quot;yt_image_12102&quot;]}" title="H_267.39505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4138863"/>
                  </p:ext>
                </p:extLst>
              </p:nvPr>
            </p:nvGraphicFramePr>
            <p:xfrm>
              <a:off x="324066" y="2860710"/>
              <a:ext cx="8918032" cy="3395917"/>
            </p:xfrm>
            <a:graphic>
              <a:graphicData uri="http://schemas.openxmlformats.org/drawingml/2006/table">
                <a:tbl>
                  <a:tblPr/>
                  <a:tblGrid>
                    <a:gridCol w="8918032">
                      <a:extLst>
                        <a:ext uri="{9D8B030D-6E8A-4147-A177-3AD203B41FA5}">
                          <a16:colId xmlns:a16="http://schemas.microsoft.com/office/drawing/2014/main" val="10185"/>
                        </a:ext>
                      </a:extLst>
                    </a:gridCol>
                  </a:tblGrid>
                  <a:tr h="57277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b="-5319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20"/>
                      </a:ext>
                    </a:extLst>
                  </a:tr>
                  <a:tr h="52705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汽车经过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位移中点时速度是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5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21"/>
                      </a:ext>
                    </a:extLst>
                  </a:tr>
                  <a:tr h="117163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94271" b="-1151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22"/>
                      </a:ext>
                    </a:extLst>
                  </a:tr>
                  <a:tr h="1124458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若汽车前一半时间发生位移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9_4ee17"/>
                            </a:rPr>
                            <a:t>后一半时间发生位移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则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∶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7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∶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13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102" name="yt_image_12102_skip" title="H_93.84">
            <a:extLst>
              <a:ext uri="">
                <a16:creationId xmlns="" xmlns:a16="http://schemas.microsoft.com/office/drawing/2014/main" xmlns:p15="http://schemas.microsoft.com/office/powerpoint/2012/main" xmlns:mc="http://schemas.openxmlformats.org/markup-compatibility/2006" xmlns:a14="http://schemas.microsoft.com/office/drawing/2010/main" xmlns:p14="http://schemas.microsoft.com/office/powerpoint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40107" y="2860710"/>
            <a:ext cx="2625886" cy="107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93577" y="5485771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p14="http://schemas.microsoft.com/office/powerpoint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5" name="yt_shape_12195"/>
          <p:cNvSpPr txBox="1"/>
          <p:nvPr/>
        </p:nvSpPr>
        <p:spPr>
          <a:xfrm>
            <a:off x="267015" y="1186456"/>
            <a:ext cx="332142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逐差公式及其应用</a:t>
            </a:r>
          </a:p>
        </p:txBody>
      </p:sp>
      <p:sp>
        <p:nvSpPr>
          <p:cNvPr id="12196" name="yt_shape_12196"/>
          <p:cNvSpPr txBox="1"/>
          <p:nvPr/>
        </p:nvSpPr>
        <p:spPr>
          <a:xfrm>
            <a:off x="267015" y="1769441"/>
            <a:ext cx="734015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逐差公式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Ⅱ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Ⅰ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Ⅱ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＝…＝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aT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</a:p>
        </p:txBody>
      </p:sp>
      <p:sp>
        <p:nvSpPr>
          <p:cNvPr id="12197" name="yt_shape_12197"/>
          <p:cNvSpPr txBox="1"/>
          <p:nvPr/>
        </p:nvSpPr>
        <p:spPr>
          <a:xfrm>
            <a:off x="267015" y="2352426"/>
            <a:ext cx="9694962" cy="51302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即匀变速直线运动中任意两个连续相等时间内的位移差相等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2198" name="yt_shape_12198"/>
          <p:cNvSpPr txBox="1"/>
          <p:nvPr/>
        </p:nvSpPr>
        <p:spPr>
          <a:xfrm>
            <a:off x="267015" y="2916240"/>
            <a:ext cx="269304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公式的应用</a:t>
            </a:r>
          </a:p>
        </p:txBody>
      </p:sp>
      <p:sp>
        <p:nvSpPr>
          <p:cNvPr id="12199" name="yt_shape_12199"/>
          <p:cNvSpPr txBox="1"/>
          <p:nvPr/>
        </p:nvSpPr>
        <p:spPr>
          <a:xfrm>
            <a:off x="267015" y="3499225"/>
            <a:ext cx="5386090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判断物体是否做匀变速直线运动</a:t>
            </a:r>
          </a:p>
        </p:txBody>
      </p:sp>
      <p:sp>
        <p:nvSpPr>
          <p:cNvPr id="12200" name="yt_shape_12200"/>
          <p:cNvSpPr txBox="1"/>
          <p:nvPr/>
        </p:nvSpPr>
        <p:spPr>
          <a:xfrm>
            <a:off x="267086" y="4082210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如果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＝…＝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aT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成立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为一恒量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57845"/>
              </a:rPr>
              <a:t>说明物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体做匀变速直线运动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01" name="yt_shape_12201"/>
              <p:cNvSpPr txBox="1"/>
              <p:nvPr/>
            </p:nvSpPr>
            <p:spPr>
              <a:xfrm>
                <a:off x="267015" y="5249266"/>
                <a:ext cx="6794168" cy="808235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②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求加速度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利用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可求得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</p:txBody>
          </p:sp>
        </mc:Choice>
        <mc:Fallback xmlns="" xmlns:p15="http://schemas.microsoft.com/office/powerpoint/2012/main" xmlns:a16="http://schemas.microsoft.com/office/drawing/2014/main">
          <p:sp>
            <p:nvSpPr>
              <p:cNvPr id="12201" name="yt_shape_122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15" y="5249266"/>
                <a:ext cx="6794168" cy="808235"/>
              </a:xfrm>
              <a:prstGeom prst="rect">
                <a:avLst/>
              </a:prstGeom>
              <a:blipFill>
                <a:blip r:embed="rId2"/>
                <a:stretch>
                  <a:fillRect l="-3232" r="-1795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03" name="yt_shape_12203"/>
          <p:cNvSpPr txBox="1"/>
          <p:nvPr/>
        </p:nvSpPr>
        <p:spPr>
          <a:xfrm>
            <a:off x="267015" y="6108289"/>
            <a:ext cx="5679440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推论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＝（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aT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10" name="yt_image_12193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7015" y="464221"/>
            <a:ext cx="2134593" cy="57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4" name="yt_shape_12204"/>
          <p:cNvSpPr txBox="1"/>
          <p:nvPr/>
        </p:nvSpPr>
        <p:spPr>
          <a:xfrm>
            <a:off x="324000" y="467999"/>
            <a:ext cx="4757713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逐差法求加速度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纸带类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12205" name="yt_shape_12205"/>
          <p:cNvSpPr txBox="1"/>
          <p:nvPr/>
        </p:nvSpPr>
        <p:spPr>
          <a:xfrm>
            <a:off x="324000" y="1050984"/>
            <a:ext cx="5565626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纸带上提供的数据为偶数段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2206" name="yt_shape_12206"/>
          <p:cNvSpPr txBox="1"/>
          <p:nvPr/>
        </p:nvSpPr>
        <p:spPr>
          <a:xfrm>
            <a:off x="324000" y="1633969"/>
            <a:ext cx="6104235" cy="51302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若已知连续相等时间内的两段位移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07" name="yt_shape_12207"/>
              <p:cNvSpPr txBox="1"/>
              <p:nvPr/>
            </p:nvSpPr>
            <p:spPr>
              <a:xfrm>
                <a:off x="324000" y="2197783"/>
                <a:ext cx="4171848" cy="746486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由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得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zh-CN" altLang="zh-CN" sz="2800" b="0" i="0" u="none">
                  <a:solidFill>
                    <a:srgbClr val="000000"/>
                  </a:solidFill>
                  <a:effectLst/>
                  <a:latin typeface="宋体" pitchFamily="28"/>
                  <a:ea typeface="宋体" pitchFamily="28"/>
                </a:endParaRPr>
              </a:p>
            </p:txBody>
          </p:sp>
        </mc:Choice>
        <mc:Fallback xmlns="" xmlns:a16="http://schemas.microsoft.com/office/drawing/2014/main" xmlns:p15="http://schemas.microsoft.com/office/powerpoint/2012/main">
          <p:sp>
            <p:nvSpPr>
              <p:cNvPr id="12207" name="yt_shape_12207" descr="{&quot;rangeId&quot;:28,&quot;color&quot;:&quot;B&quot;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2197783"/>
                <a:ext cx="4171848" cy="746486"/>
              </a:xfrm>
              <a:prstGeom prst="rect">
                <a:avLst/>
              </a:prstGeom>
              <a:blipFill>
                <a:blip r:embed="rId2"/>
                <a:stretch>
                  <a:fillRect l="-5109" b="-155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9" name="yt_shape_12209"/>
          <p:cNvSpPr txBox="1"/>
          <p:nvPr/>
        </p:nvSpPr>
        <p:spPr>
          <a:xfrm>
            <a:off x="324000" y="467999"/>
            <a:ext cx="6104235" cy="51302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②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若已知连续相等时间内的四段位移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</a:p>
        </p:txBody>
      </p:sp>
      <p:pic>
        <p:nvPicPr>
          <p:cNvPr id="12210" name="yt_image_12210">
            <a:extLst>
              <a:ext uri="">
                <a16:creationId xmlns="" xmlns:mc="http://schemas.openxmlformats.org/markup-compatibility/2006" xmlns:a14="http://schemas.microsoft.com/office/drawing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36883" y="1184177"/>
            <a:ext cx="5118233" cy="891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12" name="yt_shape_12212"/>
          <p:cNvSpPr txBox="1"/>
          <p:nvPr/>
        </p:nvSpPr>
        <p:spPr>
          <a:xfrm>
            <a:off x="324000" y="2126308"/>
            <a:ext cx="486671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可以简化成两大段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CE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研究</a:t>
            </a:r>
          </a:p>
        </p:txBody>
      </p:sp>
      <p:sp>
        <p:nvSpPr>
          <p:cNvPr id="12213" name="yt_shape_12213"/>
          <p:cNvSpPr txBox="1"/>
          <p:nvPr/>
        </p:nvSpPr>
        <p:spPr>
          <a:xfrm>
            <a:off x="324000" y="2709293"/>
            <a:ext cx="151483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Ⅰ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</a:p>
        </p:txBody>
      </p:sp>
      <p:sp>
        <p:nvSpPr>
          <p:cNvPr id="12214" name="yt_shape_12214"/>
          <p:cNvSpPr txBox="1"/>
          <p:nvPr/>
        </p:nvSpPr>
        <p:spPr>
          <a:xfrm>
            <a:off x="324000" y="3292278"/>
            <a:ext cx="1586973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Ⅱ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</a:p>
        </p:txBody>
      </p:sp>
      <p:sp>
        <p:nvSpPr>
          <p:cNvPr id="12215" name="yt_shape_12215"/>
          <p:cNvSpPr txBox="1"/>
          <p:nvPr/>
        </p:nvSpPr>
        <p:spPr>
          <a:xfrm>
            <a:off x="324000" y="3875263"/>
            <a:ext cx="190917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CE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16" name="yt_shape_12216"/>
              <p:cNvSpPr txBox="1"/>
              <p:nvPr/>
            </p:nvSpPr>
            <p:spPr>
              <a:xfrm>
                <a:off x="324000" y="4458248"/>
                <a:ext cx="6021777" cy="93403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Ⅱ</m:t>
                            </m:r>
                          </m:sub>
                        </m:sSub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Ⅰ</m:t>
                            </m:r>
                          </m:sub>
                        </m:sSub>
                      </m:num>
                      <m:den>
                        <m:r>
                          <a:rPr lang="zh-CN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𝑇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zh-CN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）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zh-CN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4</m:t>
                            </m:r>
                          </m:sub>
                        </m:sSub>
                        <m:r>
                          <a:rPr lang="zh-CN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zh-CN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</a:p>
            </p:txBody>
          </p:sp>
        </mc:Choice>
        <mc:Fallback xmlns="" xmlns:p15="http://schemas.microsoft.com/office/powerpoint/2012/main" xmlns:a16="http://schemas.microsoft.com/office/drawing/2014/main">
          <p:sp>
            <p:nvSpPr>
              <p:cNvPr id="12216" name="yt_shape_12216" descr="{&quot;rangeId&quot;:29,&quot;color&quot;:&quot;B&quot;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4458248"/>
                <a:ext cx="6021777" cy="934038"/>
              </a:xfrm>
              <a:prstGeom prst="rect">
                <a:avLst/>
              </a:prstGeom>
              <a:blipFill>
                <a:blip r:embed="rId3"/>
                <a:stretch>
                  <a:fillRect l="-3543" r="-2530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8" name="yt_shape_12218"/>
          <p:cNvSpPr txBox="1"/>
          <p:nvPr/>
        </p:nvSpPr>
        <p:spPr>
          <a:xfrm>
            <a:off x="324000" y="467999"/>
            <a:ext cx="5745163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若已知连续相等时间内的六段位移</a:t>
            </a:r>
          </a:p>
        </p:txBody>
      </p:sp>
      <p:pic>
        <p:nvPicPr>
          <p:cNvPr id="12219" name="yt_image_12219">
            <a:extLst>
              <a:ext uri="">
                <a16:creationId xmlns="" xmlns:mc="http://schemas.openxmlformats.org/markup-compatibility/2006" xmlns:a14="http://schemas.microsoft.com/office/drawing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3967" y="1203348"/>
            <a:ext cx="5204064" cy="920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21" name="yt_shape_12221"/>
          <p:cNvSpPr txBox="1"/>
          <p:nvPr/>
        </p:nvSpPr>
        <p:spPr>
          <a:xfrm>
            <a:off x="324000" y="2174429"/>
            <a:ext cx="494847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可以简化成两大段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AD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DG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研究</a:t>
            </a:r>
          </a:p>
        </p:txBody>
      </p:sp>
      <p:sp>
        <p:nvSpPr>
          <p:cNvPr id="12222" name="yt_shape_12222"/>
          <p:cNvSpPr txBox="1"/>
          <p:nvPr/>
        </p:nvSpPr>
        <p:spPr>
          <a:xfrm>
            <a:off x="324000" y="2757414"/>
            <a:ext cx="2152833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Ⅰ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</a:p>
        </p:txBody>
      </p:sp>
      <p:sp>
        <p:nvSpPr>
          <p:cNvPr id="12223" name="yt_shape_12223"/>
          <p:cNvSpPr txBox="1"/>
          <p:nvPr/>
        </p:nvSpPr>
        <p:spPr>
          <a:xfrm>
            <a:off x="324000" y="3340399"/>
            <a:ext cx="222496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Ⅱ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24" name="yt_shape_12224"/>
              <p:cNvSpPr txBox="1"/>
              <p:nvPr/>
            </p:nvSpPr>
            <p:spPr>
              <a:xfrm>
                <a:off x="324000" y="3923384"/>
                <a:ext cx="7329058" cy="93698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Ⅱ</m:t>
                            </m:r>
                          </m:sub>
                        </m:sSub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Ⅰ</m:t>
                            </m:r>
                          </m:sub>
                        </m:sSub>
                      </m:num>
                      <m:den>
                        <m:r>
                          <a:rPr lang="zh-CN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𝑇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zh-CN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）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zh-CN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4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5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6</m:t>
                            </m:r>
                          </m:sub>
                        </m:sSub>
                        <m:r>
                          <a:rPr lang="zh-CN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zh-CN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9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</p:txBody>
          </p:sp>
        </mc:Choice>
        <mc:Fallback xmlns="" xmlns:p15="http://schemas.microsoft.com/office/powerpoint/2012/main" xmlns:a16="http://schemas.microsoft.com/office/drawing/2014/main">
          <p:sp>
            <p:nvSpPr>
              <p:cNvPr id="12224" name="yt_shape_12224" descr="{&quot;rangeId&quot;:30,&quot;color&quot;:&quot;B&quot;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3923384"/>
                <a:ext cx="7329058" cy="936988"/>
              </a:xfrm>
              <a:prstGeom prst="rect">
                <a:avLst/>
              </a:prstGeom>
              <a:blipFill>
                <a:blip r:embed="rId3"/>
                <a:stretch>
                  <a:fillRect l="-2912" r="-1997" b="-9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yt_shape_12227"/>
          <p:cNvSpPr txBox="1"/>
          <p:nvPr/>
        </p:nvSpPr>
        <p:spPr>
          <a:xfrm>
            <a:off x="324000" y="6005539"/>
            <a:ext cx="10772180" cy="51302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可以先舍去一个较小的数据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选取偶数段数据再利用上述方法求解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9" name="yt_shape_12226"/>
          <p:cNvSpPr txBox="1"/>
          <p:nvPr/>
        </p:nvSpPr>
        <p:spPr>
          <a:xfrm>
            <a:off x="324000" y="5113768"/>
            <a:ext cx="5206554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纸带上提供的数据为奇数段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8" name="yt_shape_12228"/>
          <p:cNvSpPr txBox="1"/>
          <p:nvPr/>
        </p:nvSpPr>
        <p:spPr>
          <a:xfrm>
            <a:off x="324071" y="1614798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逐差公式用于解决匀变速直线运动问题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7f7de"/>
              </a:rPr>
              <a:t>一物体做匀变速直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在连续相等的两个时间间隔内通过的位移分别是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28a88"/>
              </a:rPr>
              <a:t>每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一个时间间隔为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求物体的初速度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末速度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及加速度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的大小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12229" name="yt_image_12229">
            <a:extLst>
              <a:ext uri="">
                <a16:creationId xmlns="" xmlns:mc="http://schemas.openxmlformats.org/markup-compatibility/2006" xmlns:a14="http://schemas.microsoft.com/office/drawing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11231" y="3556631"/>
            <a:ext cx="4369536" cy="108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31" name="yt_shape_12231"/>
          <p:cNvSpPr txBox="1"/>
          <p:nvPr/>
        </p:nvSpPr>
        <p:spPr>
          <a:xfrm>
            <a:off x="324000" y="4696838"/>
            <a:ext cx="481542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31" grpId="0" build="allAtOnce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4</TotalTime>
  <Words>965</Words>
  <Application>Microsoft Macintosh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方正新报宋_GBK</vt:lpstr>
      <vt:lpstr>仿宋</vt:lpstr>
      <vt:lpstr>Microsoft YaHei</vt:lpstr>
      <vt:lpstr>Microsoft YaHei</vt:lpstr>
      <vt:lpstr>宋体</vt:lpstr>
      <vt:lpstr>华文细黑</vt:lpstr>
      <vt:lpstr>Arial</vt:lpstr>
      <vt:lpstr>Cambria Math</vt:lpstr>
      <vt:lpstr>Times New Roman</vt:lpstr>
      <vt:lpstr>Office 主题​​</vt:lpstr>
      <vt:lpstr>专题强化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2</cp:revision>
  <dcterms:created xsi:type="dcterms:W3CDTF">2026-09-16T08:24:17Z</dcterms:created>
  <dcterms:modified xsi:type="dcterms:W3CDTF">2026-09-16T08:29:02Z</dcterms:modified>
</cp:coreProperties>
</file>