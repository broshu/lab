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18" r:id="rId2"/>
    <p:sldId id="256" r:id="rId3"/>
    <p:sldId id="257" r:id="rId4"/>
    <p:sldId id="258" r:id="rId5"/>
    <p:sldId id="260" r:id="rId6"/>
    <p:sldId id="261" r:id="rId7"/>
    <p:sldId id="262" r:id="rId8"/>
    <p:sldId id="259" r:id="rId9"/>
    <p:sldId id="263" r:id="rId10"/>
    <p:sldId id="2314" r:id="rId11"/>
    <p:sldId id="2315" r:id="rId12"/>
    <p:sldId id="2316" r:id="rId13"/>
    <p:sldId id="2317" r:id="rId14"/>
    <p:sldId id="2318" r:id="rId15"/>
    <p:sldId id="2319" r:id="rId16"/>
    <p:sldId id="2322" r:id="rId17"/>
    <p:sldId id="2323" r:id="rId18"/>
    <p:sldId id="2324" r:id="rId19"/>
    <p:sldId id="2254" r:id="rId20"/>
    <p:sldId id="2287" r:id="rId21"/>
    <p:sldId id="2263" r:id="rId22"/>
    <p:sldId id="2515" r:id="rId23"/>
    <p:sldId id="2516" r:id="rId24"/>
    <p:sldId id="251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138828-CD73-834D-8E90-3162ECA795A4}" v="32" dt="2024-09-22T13:54:56.376"/>
    <p1510:client id="{5FD52005-C03C-2E0F-7AA9-C2A19EEAF2DE}" v="23" dt="2024-09-22T13:33:07.224"/>
    <p1510:client id="{A5A48093-92E6-433A-B78A-D98FB8147BF6}" v="19" dt="2024-09-22T07:28:24.5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6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4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BAE26-56B8-2430-61FE-210867C46B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37BB5E0-8FB4-28ED-7516-8F1B6E232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12B10A-941C-D939-27AC-6B15C7D34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9AD2BD-88C2-A651-59BE-1F23AE6AA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89C6D7-3953-E131-FC50-ABB0C76B8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310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787BA6-2A8E-5FA0-58D6-C944834A0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37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3081"/>
            <a:ext cx="10515600" cy="5811838"/>
          </a:xfrm>
        </p:spPr>
        <p:txBody>
          <a:bodyPr/>
          <a:lstStyle>
            <a:lvl1pPr marL="0" indent="0">
              <a:buNone/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945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6037C5-4353-B18D-E7F6-50395C053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>
            <a:lvl1pPr algn="ctr"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095E053-2D55-7D42-832A-64D9FD71F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409B3BC-5091-C9EB-93DC-DAA2C048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9B95254-26E7-464E-C68E-165FA6809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500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C20D54-C7A4-F62C-CC22-B293E0704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0589F1-7D74-4430-FB9E-40E1F442B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92771C-A8D5-5948-1E5C-1736747CD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EDC015-CD30-C731-1C93-A1325969F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B0D019-59E6-17D0-F066-F6DA9B4E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45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135E84-15A1-7FC9-AFAF-8FADC46CD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4AF478-0EFE-AC89-ED8A-29756B0B9E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9BB167-44B9-706B-D666-89AE18CB9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E7B3BB-7A6E-45B9-71DF-CB6C64FBA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162526-EB46-7571-519E-1D9919B8F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DE84E-A2DC-6924-24F0-2B979681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490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3554D5-D7A9-A1DD-900A-2FD838DA3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E7B749-E7A9-21B5-B42B-E0A39C25C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7C0BC1-B0B5-7AAD-E11A-81B8F71F4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339032A-E84E-69B4-CBA0-AA0E80DEE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95D864D-D9D2-FFDB-0B84-6A573F795D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228042-54E5-4EAA-2940-C44C57443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0899DAD-BFB9-32DF-3CE6-59BAD615A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7AF6A48-CE64-6945-8AD6-C8258AA9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596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A0B8863-BAC7-B36D-C13B-DA7B7689B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C1886FE-AD99-9024-2807-F5F02650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443AE4A-99B5-3215-CD93-6E770BD76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9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3955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观察与思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23018D4D-2C6E-4FF7-A0CF-743607A22C3A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0" y="266129"/>
            <a:ext cx="1846974" cy="546588"/>
            <a:chOff x="0" y="266190"/>
            <a:chExt cx="2136676" cy="546715"/>
          </a:xfrm>
        </p:grpSpPr>
        <p:sp>
          <p:nvSpPr>
            <p:cNvPr id="4" name="同侧圆角矩形 12">
              <a:extLst>
                <a:ext uri="{FF2B5EF4-FFF2-40B4-BE49-F238E27FC236}">
                  <a16:creationId xmlns:a16="http://schemas.microsoft.com/office/drawing/2014/main" id="{D6B81DCC-5098-42FF-80DB-AB912919AA88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 rot="5400000">
              <a:off x="794980" y="-528790"/>
              <a:ext cx="546715" cy="213667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7AD9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800">
                <a:solidFill>
                  <a:prstClr val="white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68558685-F173-4476-BDB5-337E81B4D792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51819" y="308715"/>
              <a:ext cx="15490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800" b="1">
                  <a:solidFill>
                    <a:prstClr val="white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观察与思考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5283368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9324142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思考与讨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BA0F119A-F821-4FCB-8DC3-1D6ABA6D6FAE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2568" y="266129"/>
            <a:ext cx="1921560" cy="546588"/>
            <a:chOff x="0" y="266190"/>
            <a:chExt cx="2136676" cy="546715"/>
          </a:xfrm>
        </p:grpSpPr>
        <p:sp>
          <p:nvSpPr>
            <p:cNvPr id="4" name="同侧圆角矩形 6">
              <a:extLst>
                <a:ext uri="{FF2B5EF4-FFF2-40B4-BE49-F238E27FC236}">
                  <a16:creationId xmlns:a16="http://schemas.microsoft.com/office/drawing/2014/main" id="{FBD8B4BE-CF66-42B0-9B2D-4F498F57409A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 rot="5400000">
              <a:off x="794980" y="-528790"/>
              <a:ext cx="546715" cy="213667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7AD9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800">
                <a:solidFill>
                  <a:prstClr val="white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5C1B3E9-4A17-45D6-8280-2BFEE008082C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92809" y="308715"/>
              <a:ext cx="14889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kumimoji="1" lang="zh-CN" altLang="en-US" sz="1800" b="1">
                  <a:solidFill>
                    <a:prstClr val="white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思考与讨论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73618306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导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 userDrawn="1">
            <p:custDataLst>
              <p:tags r:id="rId1"/>
            </p:custDataLst>
          </p:nvPr>
        </p:nvGrpSpPr>
        <p:grpSpPr>
          <a:xfrm>
            <a:off x="1" y="266129"/>
            <a:ext cx="983773" cy="546588"/>
            <a:chOff x="0" y="266190"/>
            <a:chExt cx="2136676" cy="546715"/>
          </a:xfrm>
        </p:grpSpPr>
        <p:sp>
          <p:nvSpPr>
            <p:cNvPr id="6" name="同侧圆角矩形 5">
              <a:extLst>
                <a:ext uri="{FF2B5EF4-FFF2-40B4-BE49-F238E27FC236}">
                  <a16:creationId xmlns:a16="http://schemas.microsoft.com/office/drawing/2014/main" id="{9E724A0F-5D89-744F-A341-F2D8DD5120ED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 rot="5400000">
              <a:off x="794980" y="-528790"/>
              <a:ext cx="546715" cy="213667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7AD9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800">
                <a:solidFill>
                  <a:prstClr val="white"/>
                </a:solidFill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183CC594-3877-FC4B-9179-9E1D140BC07D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06561" y="308715"/>
              <a:ext cx="1403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800" b="1">
                  <a:solidFill>
                    <a:prstClr val="white"/>
                  </a:solidFill>
                  <a:ea typeface="微软雅黑" panose="020B0503020204020204" pitchFamily="34" charset="-122"/>
                </a:rPr>
                <a:t>练习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9334295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C416FE3-9FFB-D473-650E-C0FF08387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6876DD-7317-1E24-5465-9C24EFCE5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8481CF-CAF6-E439-D9F9-98DE38F887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A95057-F28B-4021-A46F-4C2D267CFC9D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123095-2A83-7320-9954-6441CBEAF2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D8FB62F-A58A-E29F-AA4A-4628B24796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0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4" r:id="rId4"/>
    <p:sldLayoutId id="2147483651" r:id="rId5"/>
    <p:sldLayoutId id="2147483652" r:id="rId6"/>
    <p:sldLayoutId id="2147483653" r:id="rId7"/>
    <p:sldLayoutId id="2147483655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microsoft.com/office/2007/relationships/media" Target="../media/media1.mp4"/><Relationship Id="rId7" Type="http://schemas.openxmlformats.org/officeDocument/2006/relationships/slideLayout" Target="../slideLayouts/slideLayout6.xml"/><Relationship Id="rId2" Type="http://schemas.openxmlformats.org/officeDocument/2006/relationships/tags" Target="../tags/tag10.xml"/><Relationship Id="rId1" Type="http://schemas.openxmlformats.org/officeDocument/2006/relationships/video" Target="NULL" TargetMode="External"/><Relationship Id="rId6" Type="http://schemas.openxmlformats.org/officeDocument/2006/relationships/tags" Target="../tags/tag11.xml"/><Relationship Id="rId5" Type="http://schemas.openxmlformats.org/officeDocument/2006/relationships/video" Target="../media/media2.mp4"/><Relationship Id="rId4" Type="http://schemas.microsoft.com/office/2007/relationships/media" Target="../media/media2.mp4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.xml"/><Relationship Id="rId3" Type="http://schemas.openxmlformats.org/officeDocument/2006/relationships/video" Target="../media/media3.mp4"/><Relationship Id="rId7" Type="http://schemas.openxmlformats.org/officeDocument/2006/relationships/tags" Target="../tags/tag17.xml"/><Relationship Id="rId2" Type="http://schemas.microsoft.com/office/2007/relationships/media" Target="../media/media3.mp4"/><Relationship Id="rId1" Type="http://schemas.openxmlformats.org/officeDocument/2006/relationships/tags" Target="../tags/tag13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10" Type="http://schemas.openxmlformats.org/officeDocument/2006/relationships/image" Target="../media/image8.png"/><Relationship Id="rId4" Type="http://schemas.openxmlformats.org/officeDocument/2006/relationships/tags" Target="../tags/tag14.xml"/><Relationship Id="rId9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slideLayout" Target="../slideLayouts/slideLayout10.xml"/><Relationship Id="rId5" Type="http://schemas.openxmlformats.org/officeDocument/2006/relationships/tags" Target="../tags/tag23.xml"/><Relationship Id="rId4" Type="http://schemas.openxmlformats.org/officeDocument/2006/relationships/tags" Target="../tags/tag2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07/relationships/media" Target="../media/media4.mp4"/><Relationship Id="rId7" Type="http://schemas.openxmlformats.org/officeDocument/2006/relationships/slideLayout" Target="../slideLayouts/slideLayout1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10" Type="http://schemas.microsoft.com/office/2007/relationships/hdphoto" Target="../media/hdphoto1.wdp"/><Relationship Id="rId4" Type="http://schemas.openxmlformats.org/officeDocument/2006/relationships/video" Target="../media/media4.mp4"/><Relationship Id="rId9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microsoft.com/office/2007/relationships/media" Target="../media/media5.mp4"/><Relationship Id="rId7" Type="http://schemas.openxmlformats.org/officeDocument/2006/relationships/tags" Target="../tags/tag32.xml"/><Relationship Id="rId2" Type="http://schemas.openxmlformats.org/officeDocument/2006/relationships/tags" Target="../tags/tag28.xml"/><Relationship Id="rId1" Type="http://schemas.openxmlformats.org/officeDocument/2006/relationships/video" Target="NULL" TargetMode="Externa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10" Type="http://schemas.openxmlformats.org/officeDocument/2006/relationships/image" Target="../media/image13.jpeg"/><Relationship Id="rId4" Type="http://schemas.openxmlformats.org/officeDocument/2006/relationships/tags" Target="../tags/tag29.xml"/><Relationship Id="rId9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33.xml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5" Type="http://schemas.openxmlformats.org/officeDocument/2006/relationships/image" Target="../media/image14.png"/><Relationship Id="rId4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7" Type="http://schemas.openxmlformats.org/officeDocument/2006/relationships/image" Target="../media/image15.png"/><Relationship Id="rId2" Type="http://schemas.openxmlformats.org/officeDocument/2006/relationships/video" Target="../media/media7.mp4"/><Relationship Id="rId1" Type="http://schemas.microsoft.com/office/2007/relationships/media" Target="../media/media7.mp4"/><Relationship Id="rId6" Type="http://schemas.openxmlformats.org/officeDocument/2006/relationships/slideLayout" Target="../slideLayouts/slideLayout10.xml"/><Relationship Id="rId5" Type="http://schemas.openxmlformats.org/officeDocument/2006/relationships/tags" Target="../tags/tag36.xml"/><Relationship Id="rId4" Type="http://schemas.openxmlformats.org/officeDocument/2006/relationships/tags" Target="../tags/tag35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tags" Target="../tags/tag39.xml"/><Relationship Id="rId7" Type="http://schemas.openxmlformats.org/officeDocument/2006/relationships/slideLayout" Target="../slideLayouts/slideLayout11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9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image" Target="../media/image18.png"/><Relationship Id="rId5" Type="http://schemas.openxmlformats.org/officeDocument/2006/relationships/slideLayout" Target="../slideLayouts/slideLayout10.xml"/><Relationship Id="rId4" Type="http://schemas.openxmlformats.org/officeDocument/2006/relationships/tags" Target="../tags/tag4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tags" Target="../tags/tag47.xml"/><Relationship Id="rId4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image" Target="../media/image19.gif"/><Relationship Id="rId5" Type="http://schemas.openxmlformats.org/officeDocument/2006/relationships/slideLayout" Target="../slideLayouts/slideLayout8.xml"/><Relationship Id="rId4" Type="http://schemas.openxmlformats.org/officeDocument/2006/relationships/tags" Target="../tags/tag5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tags" Target="../tags/tag61.xml"/><Relationship Id="rId3" Type="http://schemas.openxmlformats.org/officeDocument/2006/relationships/tags" Target="../tags/tag56.xml"/><Relationship Id="rId7" Type="http://schemas.openxmlformats.org/officeDocument/2006/relationships/tags" Target="../tags/tag60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6" Type="http://schemas.openxmlformats.org/officeDocument/2006/relationships/tags" Target="../tags/tag59.xml"/><Relationship Id="rId5" Type="http://schemas.openxmlformats.org/officeDocument/2006/relationships/tags" Target="../tags/tag58.xml"/><Relationship Id="rId10" Type="http://schemas.openxmlformats.org/officeDocument/2006/relationships/image" Target="../media/image20.png"/><Relationship Id="rId4" Type="http://schemas.openxmlformats.org/officeDocument/2006/relationships/tags" Target="../tags/tag57.xml"/><Relationship Id="rId9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tags" Target="../tags/tag69.xml"/><Relationship Id="rId13" Type="http://schemas.openxmlformats.org/officeDocument/2006/relationships/tags" Target="../tags/tag74.xml"/><Relationship Id="rId18" Type="http://schemas.openxmlformats.org/officeDocument/2006/relationships/slideLayout" Target="../slideLayouts/slideLayout12.xml"/><Relationship Id="rId3" Type="http://schemas.openxmlformats.org/officeDocument/2006/relationships/tags" Target="../tags/tag64.xml"/><Relationship Id="rId7" Type="http://schemas.openxmlformats.org/officeDocument/2006/relationships/tags" Target="../tags/tag68.xml"/><Relationship Id="rId12" Type="http://schemas.openxmlformats.org/officeDocument/2006/relationships/tags" Target="../tags/tag73.xml"/><Relationship Id="rId17" Type="http://schemas.openxmlformats.org/officeDocument/2006/relationships/tags" Target="../tags/tag78.xml"/><Relationship Id="rId2" Type="http://schemas.openxmlformats.org/officeDocument/2006/relationships/tags" Target="../tags/tag63.xml"/><Relationship Id="rId16" Type="http://schemas.openxmlformats.org/officeDocument/2006/relationships/tags" Target="../tags/tag77.xml"/><Relationship Id="rId20" Type="http://schemas.openxmlformats.org/officeDocument/2006/relationships/image" Target="../media/image22.png"/><Relationship Id="rId1" Type="http://schemas.openxmlformats.org/officeDocument/2006/relationships/tags" Target="../tags/tag62.xml"/><Relationship Id="rId6" Type="http://schemas.openxmlformats.org/officeDocument/2006/relationships/tags" Target="../tags/tag67.xml"/><Relationship Id="rId11" Type="http://schemas.openxmlformats.org/officeDocument/2006/relationships/tags" Target="../tags/tag72.xml"/><Relationship Id="rId5" Type="http://schemas.openxmlformats.org/officeDocument/2006/relationships/tags" Target="../tags/tag66.xml"/><Relationship Id="rId15" Type="http://schemas.openxmlformats.org/officeDocument/2006/relationships/tags" Target="../tags/tag76.xml"/><Relationship Id="rId10" Type="http://schemas.openxmlformats.org/officeDocument/2006/relationships/tags" Target="../tags/tag71.xml"/><Relationship Id="rId19" Type="http://schemas.openxmlformats.org/officeDocument/2006/relationships/image" Target="../media/image21.png"/><Relationship Id="rId4" Type="http://schemas.openxmlformats.org/officeDocument/2006/relationships/tags" Target="../tags/tag65.xml"/><Relationship Id="rId9" Type="http://schemas.openxmlformats.org/officeDocument/2006/relationships/tags" Target="../tags/tag70.xml"/><Relationship Id="rId14" Type="http://schemas.openxmlformats.org/officeDocument/2006/relationships/tags" Target="../tags/tag7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6" Type="http://schemas.openxmlformats.org/officeDocument/2006/relationships/image" Target="../media/image23.png"/><Relationship Id="rId5" Type="http://schemas.openxmlformats.org/officeDocument/2006/relationships/slideLayout" Target="../slideLayouts/slideLayout13.xml"/><Relationship Id="rId4" Type="http://schemas.openxmlformats.org/officeDocument/2006/relationships/tags" Target="../tags/tag8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tags" Target="../tags/tag85.xml"/><Relationship Id="rId7" Type="http://schemas.openxmlformats.org/officeDocument/2006/relationships/slideLayout" Target="../slideLayouts/slideLayout8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6" Type="http://schemas.openxmlformats.org/officeDocument/2006/relationships/tags" Target="../tags/tag88.xml"/><Relationship Id="rId5" Type="http://schemas.openxmlformats.org/officeDocument/2006/relationships/tags" Target="../tags/tag87.xml"/><Relationship Id="rId10" Type="http://schemas.openxmlformats.org/officeDocument/2006/relationships/image" Target="../media/image26.png"/><Relationship Id="rId4" Type="http://schemas.openxmlformats.org/officeDocument/2006/relationships/tags" Target="../tags/tag86.xml"/><Relationship Id="rId9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9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4965D1A-9986-EEBE-C45E-C5D0B7A111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965029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8E98E-4CAA-681E-BEF7-AEB1FE3EA8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N" dirty="0"/>
              <a:t>简谐运动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78F8D4-64A9-23C0-1514-2B48332582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Simple harmonic movement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705982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473D1-F0EC-B3CC-D9BC-34948DAC7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金属片的运动有什么特点</a:t>
            </a:r>
            <a:r>
              <a:rPr lang="zh-CN" altLang="en-US" dirty="0"/>
              <a:t>？</a:t>
            </a:r>
            <a:endParaRPr lang="en-CN" dirty="0"/>
          </a:p>
        </p:txBody>
      </p:sp>
      <p:pic>
        <p:nvPicPr>
          <p:cNvPr id="1026" name="Picture 2" descr="Sound is vibration animated gif">
            <a:extLst>
              <a:ext uri="{FF2B5EF4-FFF2-40B4-BE49-F238E27FC236}">
                <a16:creationId xmlns:a16="http://schemas.microsoft.com/office/drawing/2014/main" id="{31670DF5-A01B-BADD-CECD-5F85E1D6623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3096" y="1981616"/>
            <a:ext cx="5385808" cy="403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4550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41F1F-18F3-95A6-3796-8629C776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弹簧振子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B9584E-F464-7190-C8D9-F51AE15152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1250" y="2369344"/>
            <a:ext cx="4889500" cy="326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218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2A2ED-3CD1-5A61-850C-8CB5D1141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阻力对振动的影响</a:t>
            </a:r>
          </a:p>
        </p:txBody>
      </p:sp>
      <p:pic>
        <p:nvPicPr>
          <p:cNvPr id="7" name="实验视频：阻尼振动图像">
            <a:hlinkClick r:id="" action="ppaction://media"/>
            <a:extLst>
              <a:ext uri="{FF2B5EF4-FFF2-40B4-BE49-F238E27FC236}">
                <a16:creationId xmlns:a16="http://schemas.microsoft.com/office/drawing/2014/main" id="{2033B439-C0BF-7B79-976B-3DB6B1DE3281}"/>
              </a:ext>
            </a:extLst>
          </p:cNvPr>
          <p:cNvPicPr>
            <a:picLocks noGrp="1"/>
          </p:cNvPicPr>
          <p:nvPr>
            <p:ph sz="half" idx="1"/>
            <a:videoFile r:link="rId1"/>
            <p:custDataLst>
              <p:tags r:id="rId2"/>
            </p:custDataLst>
            <p:extLst>
              <p:ext uri="{DAA4B4D4-6D71-4841-9C94-3DE7FCFB9230}">
                <p14:media xmlns:p14="http://schemas.microsoft.com/office/powerpoint/2010/main" r:embed="rId3">
                  <p14:trim st="44068" end="4449"/>
                </p14:media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38200" y="2277663"/>
            <a:ext cx="5181600" cy="3447262"/>
          </a:xfrm>
          <a:prstGeom prst="rect">
            <a:avLst/>
          </a:prstGeom>
        </p:spPr>
      </p:pic>
      <p:pic>
        <p:nvPicPr>
          <p:cNvPr id="8" name="20220806_211528Edit">
            <a:hlinkClick r:id="" action="ppaction://media"/>
            <a:extLst>
              <a:ext uri="{FF2B5EF4-FFF2-40B4-BE49-F238E27FC236}">
                <a16:creationId xmlns:a16="http://schemas.microsoft.com/office/drawing/2014/main" id="{535EA5D0-B0EE-BF86-A09C-F26BE27F0C89}"/>
              </a:ext>
            </a:extLst>
          </p:cNvPr>
          <p:cNvPicPr>
            <a:picLocks noGrp="1"/>
          </p:cNvPicPr>
          <p:nvPr>
            <p:ph sz="half" idx="2"/>
            <a:videoFile r:link="rId5"/>
            <p:custDataLst>
              <p:tags r:id="rId6"/>
            </p:custDataLst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6172200" y="2828545"/>
            <a:ext cx="5181600" cy="2345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474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video fullScrn="1"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 fullScrn="1">
              <p:cMediaNode vol="0" mute="1">
                <p:cTn id="1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0F3D1-867E-89DF-40AB-2E80FD62F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如果阻力忽略不计</a:t>
            </a:r>
            <a:r>
              <a:rPr lang="zh-CN" altLang="en-US" dirty="0"/>
              <a:t>，弹簧振子</a:t>
            </a:r>
            <a:r>
              <a:rPr lang="zh-CN" altLang="en-CN" dirty="0"/>
              <a:t>将做怎样的运动</a:t>
            </a:r>
            <a:r>
              <a:rPr lang="zh-CN" altLang="en-US" dirty="0"/>
              <a:t>？</a:t>
            </a:r>
            <a:endParaRPr lang="en-CN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1FDA634-EEAD-F09E-DCAE-0F7654383B56}"/>
              </a:ext>
            </a:extLst>
          </p:cNvPr>
          <p:cNvPicPr>
            <a:picLocks noGrp="1" noChangeAspect="1"/>
          </p:cNvPicPr>
          <p:nvPr>
            <p:ph idx="1"/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405575" y="1468036"/>
            <a:ext cx="7380850" cy="5066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759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5C748B5-780B-9DCE-779F-0AF489922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其他弹簧振子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283539F2-1572-FA9C-4AF0-DAEECF4B787B}"/>
              </a:ext>
            </a:extLst>
          </p:cNvPr>
          <p:cNvPicPr>
            <a:picLocks noGrp="1" noChangeAspect="1" noChangeArrowheads="1"/>
          </p:cNvPicPr>
          <p:nvPr>
            <p:ph sz="half" idx="1"/>
            <p:custDataLst>
              <p:tags r:id="rId1"/>
            </p:custDataLst>
          </p:nvPr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561514" y="2265631"/>
            <a:ext cx="3734972" cy="3471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" name="录制_2023_07_15_11_16_07_612">
            <a:hlinkClick r:id="" action="ppaction://media"/>
            <a:extLst>
              <a:ext uri="{FF2B5EF4-FFF2-40B4-BE49-F238E27FC236}">
                <a16:creationId xmlns:a16="http://schemas.microsoft.com/office/drawing/2014/main" id="{AF09704D-228D-8C38-5FC1-83AC9719F785}"/>
              </a:ext>
            </a:extLst>
          </p:cNvPr>
          <p:cNvPicPr>
            <a:picLocks noChangeAspect="1"/>
          </p:cNvPicPr>
          <p:nvPr>
            <a:videoFile r:link="rId3"/>
            <p:custDataLst>
              <p:tags r:id="rId4"/>
            </p:custDataLst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10"/>
          <a:stretch>
            <a:fillRect/>
          </a:stretch>
        </p:blipFill>
        <p:spPr>
          <a:xfrm rot="18000000">
            <a:off x="9150118" y="2729651"/>
            <a:ext cx="499099" cy="2858475"/>
          </a:xfrm>
          <a:prstGeom prst="rect">
            <a:avLst/>
          </a:prstGeom>
        </p:spPr>
      </p:pic>
      <p:grpSp>
        <p:nvGrpSpPr>
          <p:cNvPr id="18" name="组合 22">
            <a:extLst>
              <a:ext uri="{FF2B5EF4-FFF2-40B4-BE49-F238E27FC236}">
                <a16:creationId xmlns:a16="http://schemas.microsoft.com/office/drawing/2014/main" id="{5B52DC6C-775E-7995-0D5B-9FB7E02C9148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7716238" y="3052228"/>
            <a:ext cx="2653457" cy="1828536"/>
            <a:chOff x="8036004" y="4121503"/>
            <a:chExt cx="2653457" cy="1828536"/>
          </a:xfrm>
        </p:grpSpPr>
        <p:sp>
          <p:nvSpPr>
            <p:cNvPr id="19" name="Rectangle 59">
              <a:extLst>
                <a:ext uri="{FF2B5EF4-FFF2-40B4-BE49-F238E27FC236}">
                  <a16:creationId xmlns:a16="http://schemas.microsoft.com/office/drawing/2014/main" id="{DEADC1BB-4FA6-AA14-4742-E6FE73A09413}"/>
                </a:ext>
              </a:extLst>
            </p:cNvPr>
            <p:cNvSpPr>
              <a:spLocks noChangeArrowheads="1"/>
            </p:cNvSpPr>
            <p:nvPr>
              <p:custDataLst>
                <p:tags r:id="rId6"/>
              </p:custDataLst>
            </p:nvPr>
          </p:nvSpPr>
          <p:spPr bwMode="auto">
            <a:xfrm rot="18000000">
              <a:off x="8216096" y="4428685"/>
              <a:ext cx="684213" cy="69850"/>
            </a:xfrm>
            <a:prstGeom prst="rect">
              <a:avLst/>
            </a:prstGeom>
            <a:gradFill rotWithShape="1">
              <a:gsLst>
                <a:gs pos="0">
                  <a:srgbClr val="FDFDFC"/>
                </a:gs>
                <a:gs pos="50000">
                  <a:srgbClr val="FFFFFF"/>
                </a:gs>
                <a:gs pos="100000">
                  <a:srgbClr val="FDFDFC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</a:ln>
          </p:spPr>
          <p:txBody>
            <a:bodyPr wrap="none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20" name="直角三角形 31">
              <a:extLst>
                <a:ext uri="{FF2B5EF4-FFF2-40B4-BE49-F238E27FC236}">
                  <a16:creationId xmlns:a16="http://schemas.microsoft.com/office/drawing/2014/main" id="{2D617F9D-FEC6-C87B-9894-855A5F50FBD0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8036004" y="4509914"/>
              <a:ext cx="2653457" cy="1440125"/>
            </a:xfrm>
            <a:prstGeom prst="rt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47258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3" dur="1103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4" repeatCount="indefinite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91531-4AA1-446B-17C3-E95B1D2D5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试试对弹簧振子的运动状态进行分析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F569B-4F86-B942-7A99-BBDDA1951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N" dirty="0"/>
              <a:t>平衡位置</a:t>
            </a:r>
          </a:p>
          <a:p>
            <a:r>
              <a:rPr lang="en-CN" dirty="0"/>
              <a:t>端点</a:t>
            </a:r>
          </a:p>
          <a:p>
            <a:r>
              <a:rPr lang="en-CN" dirty="0"/>
              <a:t>一般位置</a:t>
            </a:r>
          </a:p>
        </p:txBody>
      </p:sp>
    </p:spTree>
    <p:extLst>
      <p:ext uri="{BB962C8B-B14F-4D97-AF65-F5344CB8AC3E}">
        <p14:creationId xmlns:p14="http://schemas.microsoft.com/office/powerpoint/2010/main" val="483570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05C1E4-8643-D24D-2A6A-DEE48EF8B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弹簧上端固定在</a:t>
            </a:r>
            <a:r>
              <a:rPr lang="en-US" dirty="0"/>
              <a:t>O</a:t>
            </a:r>
            <a:r>
              <a:rPr lang="zh-CN" altLang="en-US" dirty="0"/>
              <a:t>点，下端连接一小球，组成一个振动系统，开始时，系统静止，如图所示，用手竖直向下拉一小段距离后释放小球，小球便上下振动起来，关于小球的平衡位置，下列说法正确的是</a:t>
            </a:r>
          </a:p>
          <a:p>
            <a:r>
              <a:rPr lang="en-US" dirty="0"/>
              <a:t>A.</a:t>
            </a:r>
            <a:r>
              <a:rPr lang="zh-CN" altLang="en-US" dirty="0"/>
              <a:t>在小球运动的最低点</a:t>
            </a:r>
          </a:p>
          <a:p>
            <a:r>
              <a:rPr lang="en-US" dirty="0"/>
              <a:t>B.</a:t>
            </a:r>
            <a:r>
              <a:rPr lang="zh-CN" altLang="en-US" dirty="0"/>
              <a:t>在弹簧处于原长的位置</a:t>
            </a:r>
          </a:p>
          <a:p>
            <a:r>
              <a:rPr lang="en-US" dirty="0"/>
              <a:t>C.</a:t>
            </a:r>
            <a:r>
              <a:rPr lang="zh-CN" altLang="en-US" dirty="0"/>
              <a:t>在小球速度最大的位置</a:t>
            </a:r>
          </a:p>
          <a:p>
            <a:r>
              <a:rPr lang="en-US" dirty="0"/>
              <a:t>D.</a:t>
            </a:r>
            <a:r>
              <a:rPr lang="zh-CN" altLang="en-US" dirty="0"/>
              <a:t>在小球原来静止的位置</a:t>
            </a:r>
            <a:endParaRPr lang="en-CN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0BF0CCD9-2160-02FF-A3BC-060CF626F605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053582" y="2103877"/>
            <a:ext cx="1002010" cy="26502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88079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B8B594D-00F4-47F5-8CD5-FDC614E819A8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1848357" y="1115596"/>
            <a:ext cx="7863050" cy="52309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sz="2799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如何得到弹簧振子的位移—时间</a:t>
            </a:r>
            <a:r>
              <a:rPr lang="zh-CN" altLang="en-US" sz="2799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图像（</a:t>
            </a:r>
            <a:r>
              <a:rPr lang="en-US" altLang="zh-CN" sz="2799" i="1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x-t </a:t>
            </a:r>
            <a:r>
              <a:rPr lang="zh-CN" altLang="en-US" sz="2799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图像）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DB4EBD6-81A1-4873-A7DC-20B48BBCD49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40632" y="2408384"/>
            <a:ext cx="10770261" cy="1308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799">
                <a:latin typeface="微软雅黑" panose="020B0503020204020204" pitchFamily="34" charset="-122"/>
                <a:ea typeface="微软雅黑" panose="020B0503020204020204" pitchFamily="34" charset="-122"/>
              </a:rPr>
              <a:t>要想得到位移与时间的关系，关键在于记录不同时刻小球的位置。为了便于分析，最好是</a:t>
            </a:r>
            <a:r>
              <a:rPr lang="zh-CN" altLang="en-US" sz="2799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相等时间间隔</a:t>
            </a:r>
            <a:r>
              <a:rPr lang="zh-CN" altLang="en-US" sz="2799">
                <a:latin typeface="微软雅黑" panose="020B0503020204020204" pitchFamily="34" charset="-122"/>
                <a:ea typeface="微软雅黑" panose="020B0503020204020204" pitchFamily="34" charset="-122"/>
              </a:rPr>
              <a:t>的不同时刻的位置。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9729DC-8082-49ED-A814-370061200FB0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40632" y="4708005"/>
            <a:ext cx="10614845" cy="1308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799">
                <a:latin typeface="微软雅黑" panose="020B0503020204020204" pitchFamily="34" charset="-122"/>
                <a:ea typeface="微软雅黑" panose="020B0503020204020204" pitchFamily="34" charset="-122"/>
              </a:rPr>
              <a:t>利用</a:t>
            </a:r>
            <a:r>
              <a:rPr lang="zh-CN" altLang="en-US" sz="2799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频闪照相</a:t>
            </a:r>
            <a:r>
              <a:rPr lang="zh-CN" altLang="en-US" sz="2799">
                <a:latin typeface="微软雅黑" panose="020B0503020204020204" pitchFamily="34" charset="-122"/>
                <a:ea typeface="微软雅黑" panose="020B0503020204020204" pitchFamily="34" charset="-122"/>
              </a:rPr>
              <a:t>、照相机连拍，或用摄像机摄像后逐帧观察的方式，都可以的得到相等时间间隔的不同时刻小球的位置。</a:t>
            </a:r>
          </a:p>
        </p:txBody>
      </p:sp>
      <p:sp>
        <p:nvSpPr>
          <p:cNvPr id="5" name="下箭头 4">
            <a:extLst>
              <a:ext uri="{FF2B5EF4-FFF2-40B4-BE49-F238E27FC236}">
                <a16:creationId xmlns:a16="http://schemas.microsoft.com/office/drawing/2014/main" id="{C1642FD6-2B97-460D-A48C-2BD686CBF3E6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5254661" y="1692503"/>
            <a:ext cx="170775" cy="719923"/>
          </a:xfrm>
          <a:prstGeom prst="downArrow">
            <a:avLst/>
          </a:prstGeom>
          <a:solidFill>
            <a:srgbClr val="7AD9E7"/>
          </a:solidFill>
          <a:ln>
            <a:solidFill>
              <a:srgbClr val="7AD9E7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下箭头 7">
            <a:extLst>
              <a:ext uri="{FF2B5EF4-FFF2-40B4-BE49-F238E27FC236}">
                <a16:creationId xmlns:a16="http://schemas.microsoft.com/office/drawing/2014/main" id="{FD9BEF15-B181-4B55-95FD-99AC3F0F1AE1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5258789" y="3793059"/>
            <a:ext cx="166648" cy="804736"/>
          </a:xfrm>
          <a:prstGeom prst="downArrow">
            <a:avLst/>
          </a:prstGeom>
          <a:solidFill>
            <a:srgbClr val="7AD9E7"/>
          </a:solidFill>
          <a:ln>
            <a:solidFill>
              <a:srgbClr val="7AD9E7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517485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  <p:cond evt="onBegin" delay="0">
                          <p:tn val="7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4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  <p:cond evt="onBegin" delay="0">
                          <p:tn val="16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3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D662325-3E4B-46ED-BD18-CF1FDD0E83D4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2414919" y="480778"/>
            <a:ext cx="1996340" cy="521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799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频闪照相法</a:t>
            </a:r>
            <a:endParaRPr lang="zh-CN" altLang="en-US" sz="2799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180CA69-422B-49F0-834D-07A82FD8724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302451" y="990521"/>
            <a:ext cx="5416566" cy="46147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频闪仪每隔 </a:t>
            </a:r>
            <a:r>
              <a:rPr lang="en-US" altLang="zh-CN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0.05 s </a:t>
            </a:r>
            <a:r>
              <a:rPr lang="zh-CN" altLang="en-US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闪光一次，闪光的瞬间振子被照亮，从而得到闪光时小球的位置，相邻两个位置之间的时间相隔为 </a:t>
            </a:r>
            <a:r>
              <a:rPr lang="en-US" altLang="zh-CN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0.05 s</a:t>
            </a:r>
            <a:r>
              <a:rPr lang="zh-CN" altLang="en-US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</a:t>
            </a:r>
            <a:r>
              <a:rPr lang="zh-CN" altLang="en-US" sz="2799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拍摄时底片从下向上</a:t>
            </a:r>
            <a:r>
              <a:rPr lang="zh-CN" altLang="en-US" sz="2799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匀速运动</a:t>
            </a:r>
            <a:r>
              <a:rPr lang="zh-CN" altLang="en-US" sz="2799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，因此在底片上留下了小球和弹簧的一系列的像。</a:t>
            </a:r>
            <a:endParaRPr lang="zh-CN" altLang="en-US" sz="2799">
              <a:solidFill>
                <a:prstClr val="black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4" name="频闪">
            <a:hlinkClick r:id="" action="ppaction://media"/>
            <a:extLst>
              <a:ext uri="{FF2B5EF4-FFF2-40B4-BE49-F238E27FC236}">
                <a16:creationId xmlns:a16="http://schemas.microsoft.com/office/drawing/2014/main" id="{4F6F1546-F683-45DE-86A9-9EF88431538D}"/>
              </a:ext>
            </a:extLst>
          </p:cNvPr>
          <p:cNvPicPr/>
          <p:nvPr>
            <a:videoFile r:link="rId4"/>
            <p:custDataLst>
              <p:tags r:id="rId5"/>
            </p:custDataLst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71153" y="1207357"/>
            <a:ext cx="5677337" cy="428297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F1D6BEB-6F66-4EFD-86AD-73098A558F7B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571" y="4598249"/>
            <a:ext cx="1439827" cy="462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804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 nodeType="clickPar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 fullScrn="1">
              <p:cMediaNode>
                <p:cTn id="1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频闪坐标">
            <a:hlinkClick r:id="" action="ppaction://media"/>
            <a:extLst>
              <a:ext uri="{FF2B5EF4-FFF2-40B4-BE49-F238E27FC236}">
                <a16:creationId xmlns:a16="http://schemas.microsoft.com/office/drawing/2014/main" id="{42AE7B85-CE9A-4450-9A46-D95B290941B4}"/>
              </a:ext>
            </a:extLst>
          </p:cNvPr>
          <p:cNvPicPr/>
          <p:nvPr>
            <a:videoFile r:link="rId1"/>
            <p:custDataLst>
              <p:tags r:id="rId2"/>
            </p:custDataLst>
            <p:extLst>
              <p:ext uri="{DAA4B4D4-6D71-4841-9C94-3DE7FCFB9230}">
                <p14:media xmlns:p14="http://schemas.microsoft.com/office/powerpoint/2010/main" r:embed="rId3">
                  <p14:trim st="17661"/>
                </p14:media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1392186" y="833883"/>
            <a:ext cx="5111043" cy="4126485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FE0ED07A-DC45-4DC8-8ECE-29373F6B8B62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0219" y="5085649"/>
            <a:ext cx="11356615" cy="130858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2799" dirty="0" err="1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振子的频闪照片反映了不同时刻，振子离开平衡位置的位移。也就是位移随时间变化的规律</a:t>
            </a:r>
            <a:r>
              <a:rPr sz="2799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</a:t>
            </a:r>
            <a:endParaRPr lang="zh-CN" altLang="en-US" sz="2799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C3241255-9962-448C-BF79-F3D9708BE5D6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0"/>
          <a:srcRect r="-2965" b="6404"/>
          <a:stretch>
            <a:fillRect/>
          </a:stretch>
        </p:blipFill>
        <p:spPr>
          <a:xfrm>
            <a:off x="7295476" y="940538"/>
            <a:ext cx="2014879" cy="3965738"/>
          </a:xfrm>
          <a:prstGeom prst="rect">
            <a:avLst/>
          </a:prstGeom>
          <a:noFill/>
          <a:ln w="9525">
            <a:noFill/>
          </a:ln>
          <a:effectLst>
            <a:outerShdw dist="139700" dir="2699999" algn="ctr" rotWithShape="0">
              <a:srgbClr val="333333">
                <a:alpha val="59998"/>
              </a:srgbClr>
            </a:outerShdw>
          </a:effec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1D6B97A-1CBC-477A-AA75-76BF1E549FF0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627193" y="1854941"/>
            <a:ext cx="405036" cy="1814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799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绘制图像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2A10660-FD91-48A3-91FD-46F6174A9940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0031146" y="4101299"/>
            <a:ext cx="1751902" cy="523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799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" action="ppaction://noaction"/>
              </a:rPr>
              <a:t>数码相机</a:t>
            </a:r>
            <a:endParaRPr lang="zh-CN" altLang="en-US" sz="2799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9554462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 nodeType="clickPar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17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 fullScrn="1">
              <p:cMediaNode>
                <p:cTn id="18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20220806_213216Edit">
            <a:hlinkClick r:id="" action="ppaction://media"/>
            <a:extLst>
              <a:ext uri="{FF2B5EF4-FFF2-40B4-BE49-F238E27FC236}">
                <a16:creationId xmlns:a16="http://schemas.microsoft.com/office/drawing/2014/main" id="{F4282799-054E-475E-8083-9ED623C9C9C8}"/>
              </a:ext>
            </a:extLst>
          </p:cNvPr>
          <p:cNvPicPr/>
          <p:nvPr>
            <a:videoFile r:link="rId2"/>
            <p:custDataLst>
              <p:tags r:id="rId3"/>
            </p:custDataLst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48713" y="1117562"/>
            <a:ext cx="9494574" cy="4622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6159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 nodeType="clickPar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 fullScrn="1"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24490b9eabaf3802296193246b7ea74">
            <a:hlinkClick r:id="" action="ppaction://media"/>
            <a:extLst>
              <a:ext uri="{FF2B5EF4-FFF2-40B4-BE49-F238E27FC236}">
                <a16:creationId xmlns:a16="http://schemas.microsoft.com/office/drawing/2014/main" id="{D142F214-AFFC-41DE-9371-EE82785A0578}"/>
              </a:ext>
            </a:extLst>
          </p:cNvPr>
          <p:cNvPicPr/>
          <p:nvPr>
            <a:videoFile r:link="rId2"/>
            <p:custDataLst>
              <p:tags r:id="rId3"/>
            </p:custDataLst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rcRect l="22415" r="16106"/>
          <a:stretch>
            <a:fillRect/>
          </a:stretch>
        </p:blipFill>
        <p:spPr>
          <a:xfrm>
            <a:off x="2712408" y="1074480"/>
            <a:ext cx="6911169" cy="5186115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3AA0B56F-81C8-4EC6-A390-AF50A4D9BEB9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4656173" y="403888"/>
            <a:ext cx="3811658" cy="521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799">
                <a:latin typeface="微软雅黑" panose="020B0503020204020204" pitchFamily="34" charset="-122"/>
                <a:ea typeface="微软雅黑" panose="020B0503020204020204" pitchFamily="34" charset="-122"/>
              </a:rPr>
              <a:t>弹簧振子图像动画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E727FEC-649D-4DEF-AB9D-2027B6075E3D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984110" y="502803"/>
            <a:ext cx="184688" cy="3692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710144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 nodeType="clickPar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 fullScrn="1">
              <p:cMediaNode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B583B783-E84E-4B4F-BAF5-0B0079C7229A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136477" y="3694198"/>
            <a:ext cx="1367835" cy="2839142"/>
            <a:chOff x="9642" y="3194"/>
            <a:chExt cx="2043" cy="4642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2D58F7A0-1461-4A1D-B152-01C5D9BFE9A9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9642" y="3194"/>
              <a:ext cx="2043" cy="3908"/>
            </a:xfrm>
            <a:prstGeom prst="rect">
              <a:avLst/>
            </a:prstGeom>
          </p:spPr>
        </p:pic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A8164CE-21EC-48D1-B9B7-12E683FF7104}"/>
                </a:ext>
              </a:extLst>
            </p:cNvPr>
            <p:cNvSpPr txBox="1"/>
            <p:nvPr>
              <p:custDataLst>
                <p:tags r:id="rId6"/>
              </p:custDataLst>
            </p:nvPr>
          </p:nvSpPr>
          <p:spPr>
            <a:xfrm>
              <a:off x="10097" y="7232"/>
              <a:ext cx="1132" cy="604"/>
            </a:xfrm>
            <a:prstGeom prst="rect">
              <a:avLst/>
            </a:prstGeom>
            <a:noFill/>
            <a:ln w="12700" cap="flat">
              <a:noFill/>
              <a:miter lim="400000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vertOverflow="overflow" horzOverflow="overflow" vert="horz" wrap="square" lIns="45708" tIns="45708" rIns="45708" bIns="45708" numCol="1" spcCol="38100" rtlCol="0" anchor="t" forceAA="0">
              <a:spAutoFit/>
            </a:bodyPr>
            <a:lstStyle/>
            <a:p>
              <a:pPr defTabSz="914217" latinLnBrk="1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CN" altLang="en-US"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纵向</a:t>
              </a:r>
              <a:endParaRPr lang="zh-CN" altLang="en-US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/>
                <a:sym typeface="+mn-ea"/>
              </a:endParaRPr>
            </a:p>
          </p:txBody>
        </p:sp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3B69F149-B6D5-4FE1-A08F-3E173F7C446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rcRect b="22993"/>
          <a:stretch>
            <a:fillRect/>
          </a:stretch>
        </p:blipFill>
        <p:spPr>
          <a:xfrm>
            <a:off x="4728165" y="4197146"/>
            <a:ext cx="5546076" cy="196677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62095A73-4D3E-4E3E-8BE3-FB92CC7A37CD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16672" y="1629217"/>
            <a:ext cx="11158657" cy="20296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799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建立坐标系：以小球的</a:t>
            </a:r>
            <a:r>
              <a:rPr lang="zh-CN" altLang="en-US" sz="2799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平衡位置</a:t>
            </a:r>
            <a:r>
              <a:rPr lang="zh-CN" altLang="en-US" sz="2799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为坐标原点</a:t>
            </a:r>
            <a:r>
              <a:rPr lang="en-US" altLang="zh-CN" sz="2799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 </a:t>
            </a:r>
            <a:r>
              <a:rPr lang="zh-CN" altLang="en-US" sz="2799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，用横坐标表示振子运动的</a:t>
            </a:r>
            <a:r>
              <a:rPr lang="zh-CN" altLang="en-US" sz="2799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时间</a:t>
            </a:r>
            <a:r>
              <a:rPr lang="en-US" altLang="zh-CN" sz="2799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(</a:t>
            </a:r>
            <a:r>
              <a:rPr lang="en-US" altLang="zh-CN" sz="2799" i="1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t</a:t>
            </a:r>
            <a:r>
              <a:rPr lang="en-US" altLang="zh-CN" sz="2799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)</a:t>
            </a:r>
            <a:r>
              <a:rPr lang="zh-CN" altLang="en-US" sz="2799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，纵坐标表示振子</a:t>
            </a:r>
            <a:r>
              <a:rPr lang="zh-CN" altLang="en-US" sz="2799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偏离平衡位置的位移</a:t>
            </a:r>
            <a:r>
              <a:rPr lang="en-US" altLang="zh-CN" sz="2799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(</a:t>
            </a:r>
            <a:r>
              <a:rPr lang="en-US" altLang="zh-CN" sz="2799" i="1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x</a:t>
            </a:r>
            <a:r>
              <a:rPr lang="en-US" altLang="zh-CN" sz="2799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)</a:t>
            </a:r>
            <a:r>
              <a:rPr lang="zh-CN" altLang="en-US" sz="2799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，描绘出的图像就是</a:t>
            </a:r>
            <a:r>
              <a:rPr lang="zh-CN" altLang="en-US" sz="2799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弹簧振子的位移</a:t>
            </a:r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方正中等线简体" panose="03000509000000000000" pitchFamily="65" charset="-122"/>
                <a:cs typeface="Times New Roman" panose="02020603050405020304" pitchFamily="18" charset="0"/>
                <a:sym typeface="+mn-ea"/>
              </a:rPr>
              <a:t>－</a:t>
            </a:r>
            <a:r>
              <a:rPr lang="zh-CN" altLang="en-US" sz="2799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时间图像</a:t>
            </a:r>
            <a:r>
              <a:rPr lang="zh-CN" altLang="en-US" sz="2799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，即</a:t>
            </a:r>
            <a:r>
              <a:rPr lang="en-US" altLang="zh-CN" sz="2799" i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x-t </a:t>
            </a:r>
            <a:r>
              <a:rPr lang="zh-CN" altLang="en-US" sz="2799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图像。</a:t>
            </a:r>
            <a:endParaRPr lang="zh-CN" altLang="en-US" sz="2799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0679799-D037-4FD6-9425-F7FCF22B8C81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309028" y="444732"/>
            <a:ext cx="7736225" cy="646181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zh-CN" altLang="en-US" sz="3599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Wingdings" panose="05000000000000000000" pitchFamily="2" charset="2"/>
              </a:rPr>
              <a:t>弹簧振子的位移时间图像（</a:t>
            </a:r>
            <a:r>
              <a:rPr lang="en-US" altLang="zh-CN" sz="3599" b="1" i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Wingdings" panose="05000000000000000000" pitchFamily="2" charset="2"/>
              </a:rPr>
              <a:t>x</a:t>
            </a:r>
            <a:r>
              <a:rPr lang="en-US" altLang="zh-CN" sz="3599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Wingdings" panose="05000000000000000000" pitchFamily="2" charset="2"/>
              </a:rPr>
              <a:t>-</a:t>
            </a:r>
            <a:r>
              <a:rPr lang="en-US" altLang="zh-CN" sz="3599" b="1" i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Wingdings" panose="05000000000000000000" pitchFamily="2" charset="2"/>
              </a:rPr>
              <a:t>t</a:t>
            </a:r>
            <a:r>
              <a:rPr lang="en-US" altLang="zh-CN" sz="3599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zh-CN" altLang="en-US" sz="3599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Wingdings" panose="05000000000000000000" pitchFamily="2" charset="2"/>
              </a:rPr>
              <a:t>图像）</a:t>
            </a:r>
          </a:p>
        </p:txBody>
      </p:sp>
    </p:spTree>
    <p:extLst>
      <p:ext uri="{BB962C8B-B14F-4D97-AF65-F5344CB8AC3E}">
        <p14:creationId xmlns:p14="http://schemas.microsoft.com/office/powerpoint/2010/main" val="275805243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5">
            <a:extLst>
              <a:ext uri="{FF2B5EF4-FFF2-40B4-BE49-F238E27FC236}">
                <a16:creationId xmlns:a16="http://schemas.microsoft.com/office/drawing/2014/main" id="{F2526355-14C6-47B2-857F-1072E72E379A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604124" y="777125"/>
            <a:ext cx="7368660" cy="380099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799" b="1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方法二  </a:t>
            </a:r>
            <a:r>
              <a:rPr lang="en-US" sz="2799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</a:p>
          <a:p>
            <a:pPr fontAlgn="base">
              <a:lnSpc>
                <a:spcPct val="150000"/>
              </a:lnSpc>
            </a:pPr>
            <a:r>
              <a:rPr lang="en-US" sz="2799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拟合法</a:t>
            </a:r>
            <a:r>
              <a:rPr lang="zh-CN" altLang="en-US" sz="2799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r>
              <a:rPr lang="en-US" sz="2799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在图中，测量小球在各个位置的横坐标和纵坐标，把测量值输入计算机中作出这条曲线，然后按照计算机提示用一个周期性函数拟合这条曲线，看一看弹簧振子的位移—时间的关系可以用什么函数表示。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47B3093-BD98-41FE-AC59-0F2B88536910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942179" y="5422879"/>
            <a:ext cx="7366119" cy="52309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>
              <a:spcBef>
                <a:spcPct val="50000"/>
              </a:spcBef>
            </a:pPr>
            <a:r>
              <a:rPr lang="zh-CN" altLang="en-US" sz="2799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结论</a:t>
            </a:r>
            <a:r>
              <a:rPr lang="zh-CN" altLang="en-US" sz="2799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zh-CN" altLang="en-US" sz="2799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弹簧振子的振动图像是一条</a:t>
            </a:r>
            <a:r>
              <a:rPr lang="zh-CN" altLang="en-US" sz="2799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正弦曲线</a:t>
            </a:r>
            <a:r>
              <a:rPr lang="zh-CN" altLang="en-US" sz="2799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。</a:t>
            </a:r>
          </a:p>
        </p:txBody>
      </p:sp>
      <p:sp>
        <p:nvSpPr>
          <p:cNvPr id="4" name="下箭头 3">
            <a:extLst>
              <a:ext uri="{FF2B5EF4-FFF2-40B4-BE49-F238E27FC236}">
                <a16:creationId xmlns:a16="http://schemas.microsoft.com/office/drawing/2014/main" id="{F0AF443D-44F5-4232-BB1B-5E3D8D247EC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4377334" y="4675746"/>
            <a:ext cx="113775" cy="719923"/>
          </a:xfrm>
          <a:prstGeom prst="downArrow">
            <a:avLst>
              <a:gd name="adj1" fmla="val 50000"/>
              <a:gd name="adj2" fmla="val 189497"/>
            </a:avLst>
          </a:prstGeom>
          <a:solidFill>
            <a:srgbClr val="7AD9E7"/>
          </a:solidFill>
          <a:ln>
            <a:solidFill>
              <a:srgbClr val="7AD9E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C89678E-ABF3-4616-A835-0DCE7274DD86}"/>
              </a:ext>
            </a:extLst>
          </p:cNvPr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23082" y="1721010"/>
            <a:ext cx="3006774" cy="22097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5877541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  <p:cond evt="onBegin" delay="0">
                          <p:tn val="7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4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5A44D8B-0CA3-499B-81B3-2633EA85E47A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480885" y="1900144"/>
            <a:ext cx="11086458" cy="130858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1.</a:t>
            </a:r>
            <a:r>
              <a:rPr lang="zh-CN" altLang="en-US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定义：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如果物体的位移与时间的关系遵从</a:t>
            </a:r>
            <a:r>
              <a:rPr lang="zh-CN" altLang="en-US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正弦函数</a:t>
            </a:r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的规律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，即它的振动图像</a:t>
            </a: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( 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x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－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t 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图像</a:t>
            </a: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)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是一条</a:t>
            </a:r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正弦曲线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，这样的振动是一种</a:t>
            </a:r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简谐运动</a:t>
            </a:r>
            <a:r>
              <a:rPr lang="zh-CN" altLang="en-US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。</a:t>
            </a:r>
            <a:endParaRPr lang="en-US" altLang="zh-CN" sz="2799" kern="1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BE0E542-FE5F-40DE-B61D-8C2D5ABA07E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58285" y="3436889"/>
            <a:ext cx="10864562" cy="662144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2.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特点：简谐运动是最基本的振动，弹簧振子的运动就是</a:t>
            </a:r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简谐运动</a:t>
            </a:r>
            <a:r>
              <a:rPr lang="zh-CN" altLang="en-US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。</a:t>
            </a:r>
            <a:endParaRPr lang="en-US" altLang="zh-CN" sz="2799" kern="100">
              <a:solidFill>
                <a:sysClr val="windowText" lastClr="0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9AE283-2A84-43D8-B0B4-60C4B9ABACDB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4152234" y="549347"/>
            <a:ext cx="3889909" cy="646181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zh-CN" altLang="en-US" sz="3599" b="1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" panose="05000000000000000000" pitchFamily="2" charset="2"/>
              </a:rPr>
              <a:t>简谐运动及其图像</a:t>
            </a:r>
          </a:p>
        </p:txBody>
      </p:sp>
    </p:spTree>
    <p:extLst>
      <p:ext uri="{BB962C8B-B14F-4D97-AF65-F5344CB8AC3E}">
        <p14:creationId xmlns:p14="http://schemas.microsoft.com/office/powerpoint/2010/main" val="3978080886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D85B22E-7691-434E-B7C1-2261870FA0E1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864122" y="1327018"/>
            <a:ext cx="7300249" cy="2600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altLang="zh-CN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(1)</a:t>
            </a:r>
            <a:r>
              <a:rPr lang="zh-CN" altLang="en-US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形式：正（余）弦曲线</a:t>
            </a:r>
            <a:endParaRPr lang="zh-CN" altLang="en-US" sz="2799">
              <a:solidFill>
                <a:prstClr val="black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(2)</a:t>
            </a:r>
            <a:r>
              <a:rPr lang="zh-CN" altLang="en-US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物理意义：</a:t>
            </a:r>
            <a:r>
              <a:rPr lang="en-US" altLang="zh-CN" sz="2799" i="1" kern="100">
                <a:latin typeface="Times New Roman" panose="02020603050405020304" pitchFamily="18" charset="0"/>
                <a:ea typeface="方正中等线简体" panose="03000509000000000000" pitchFamily="65" charset="-122"/>
                <a:cs typeface="Times New Roman" panose="02020603050405020304" pitchFamily="18" charset="0"/>
                <a:sym typeface="+mn-ea"/>
              </a:rPr>
              <a:t>x</a:t>
            </a:r>
            <a:r>
              <a:rPr lang="zh-CN" altLang="zh-CN" sz="2799" kern="100">
                <a:latin typeface="Times New Roman" panose="02020603050405020304" pitchFamily="18" charset="0"/>
                <a:ea typeface="方正中等线简体" panose="03000509000000000000" pitchFamily="65" charset="-122"/>
                <a:cs typeface="Times New Roman" panose="02020603050405020304" pitchFamily="18" charset="0"/>
                <a:sym typeface="+mn-ea"/>
              </a:rPr>
              <a:t>－</a:t>
            </a:r>
            <a:r>
              <a:rPr lang="en-US" altLang="zh-CN" sz="2799" i="1" kern="100">
                <a:latin typeface="Times New Roman" panose="02020603050405020304" pitchFamily="18" charset="0"/>
                <a:ea typeface="方正中等线简体" panose="03000509000000000000" pitchFamily="65" charset="-122"/>
                <a:cs typeface="Times New Roman" panose="02020603050405020304" pitchFamily="18" charset="0"/>
                <a:sym typeface="+mn-ea"/>
              </a:rPr>
              <a:t>t 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图</a:t>
            </a:r>
            <a:r>
              <a:rPr lang="zh-CN" altLang="en-US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像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上的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x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坐标表示振子相对平衡位置的位移，也表示振子的位置坐标</a:t>
            </a:r>
            <a:r>
              <a:rPr lang="zh-CN" altLang="en-US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。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它</a:t>
            </a:r>
            <a:r>
              <a:rPr lang="zh-CN" altLang="zh-CN" sz="2799" b="1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反映了振子位移随时间变化的规律</a:t>
            </a:r>
            <a:r>
              <a:rPr lang="zh-CN" altLang="en-US" sz="2799" b="1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。</a:t>
            </a:r>
            <a:endParaRPr lang="zh-CN" altLang="zh-CN" sz="2799" kern="1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86A517C-C917-4F1E-9233-D6265BBD0224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64123" y="674668"/>
            <a:ext cx="5407601" cy="523099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en-US" altLang="zh-CN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3.</a:t>
            </a:r>
            <a:r>
              <a:rPr lang="zh-CN" altLang="en-US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对简谐运动图像</a:t>
            </a:r>
            <a:r>
              <a:rPr lang="en-US" altLang="zh-CN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(</a:t>
            </a:r>
            <a:r>
              <a:rPr lang="en-US" altLang="zh-CN" sz="2799" i="1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x-t</a:t>
            </a:r>
            <a:r>
              <a:rPr lang="zh-CN" altLang="en-US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图像</a:t>
            </a:r>
            <a:r>
              <a:rPr lang="en-US" altLang="zh-CN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)</a:t>
            </a:r>
            <a:r>
              <a:rPr lang="zh-CN" altLang="en-US" sz="2799">
                <a:solidFill>
                  <a:prstClr val="black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的认识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2C6EC4A-A017-44B5-AFBC-D36C1B3AFD85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473664" y="1233811"/>
            <a:ext cx="2591688" cy="317448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FB974CFA-92FA-C93B-F0E9-20EF4709F3BB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003055" y="4077222"/>
            <a:ext cx="6093389" cy="66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zh-CN" altLang="zh-CN" sz="2799" b="1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注意</a:t>
            </a:r>
            <a:r>
              <a:rPr lang="zh-CN" altLang="zh-CN" sz="2799" b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2799" b="1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x</a:t>
            </a:r>
            <a:r>
              <a:rPr lang="zh-CN" altLang="zh-CN" sz="2799" b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－</a:t>
            </a:r>
            <a:r>
              <a:rPr lang="en-US" altLang="zh-CN" sz="2799" b="1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t </a:t>
            </a:r>
            <a:r>
              <a:rPr lang="zh-CN" altLang="zh-CN" sz="2799" b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图像不是振子的运动轨迹</a:t>
            </a:r>
            <a:r>
              <a:rPr lang="en-US" altLang="zh-CN" sz="2799" b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509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33EFB8F-3D7F-4E52-AD5C-13399E5B3DEA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777882" y="760367"/>
            <a:ext cx="9674004" cy="664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1.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如图所示为水平弹簧振子振动时的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x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－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图像，试分析：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27CFC-978C-4358-B4BC-E184D9A3A736}"/>
              </a:ext>
            </a:extLst>
          </p:cNvPr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74944" y="3199660"/>
            <a:ext cx="3216738" cy="2361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A10D2B1-157E-4FB3-86DC-33F2A286308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800859" y="1410447"/>
            <a:ext cx="6184730" cy="664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(1)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</a:t>
            </a:r>
            <a:r>
              <a:rPr lang="en-US" altLang="zh-CN" sz="2799" kern="100" baseline="-25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和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</a:t>
            </a:r>
            <a:r>
              <a:rPr lang="en-US" altLang="zh-CN" sz="2799" kern="100" baseline="-25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时刻小球分别位于哪个位置？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F9CA49B-66B7-4050-9C2D-EFC063641825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873109" y="2202572"/>
            <a:ext cx="9483548" cy="664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i="1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</a:t>
            </a:r>
            <a:r>
              <a:rPr lang="en-US" altLang="zh-CN" sz="2799" kern="100" baseline="-250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时刻小球位于正向最大位移处，</a:t>
            </a:r>
            <a:r>
              <a:rPr lang="en-US" altLang="zh-CN" sz="2799" i="1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</a:t>
            </a:r>
            <a:r>
              <a:rPr lang="en-US" altLang="zh-CN" sz="2799" kern="100" baseline="-250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时刻小球位于平衡位置。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168949-D1BE-484E-BDDC-06ACEAB2422D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800859" y="2852650"/>
            <a:ext cx="6432952" cy="13085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(2)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</a:t>
            </a:r>
            <a:r>
              <a:rPr lang="en-US" altLang="zh-CN" sz="2799" kern="100" baseline="-25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～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</a:t>
            </a:r>
            <a:r>
              <a:rPr lang="en-US" altLang="zh-CN" sz="2799" kern="100" baseline="-25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时间内位移和速度各如何变化？</a:t>
            </a:r>
            <a:endParaRPr lang="en-US" altLang="zh-CN" sz="2799" kern="1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[(2)(3)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问分别从大小和方向两方面描述</a:t>
            </a: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]</a:t>
            </a:r>
            <a:endParaRPr lang="zh-CN" altLang="zh-CN" sz="2799" kern="1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67C493C-C24B-4126-8839-96E1F3149C16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800859" y="4233500"/>
            <a:ext cx="6929813" cy="664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位移为正，在减小，速度增大，方向为负。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C175AF0-567C-4F68-87E5-E516DCCE02A8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777882" y="4858588"/>
            <a:ext cx="7217123" cy="664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(3)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</a:t>
            </a:r>
            <a:r>
              <a:rPr lang="en-US" altLang="zh-CN" sz="2799" kern="100" baseline="-25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～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</a:t>
            </a:r>
            <a:r>
              <a:rPr lang="en-US" altLang="zh-CN" sz="2799" kern="100" baseline="-250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时间内位移和速度各如何变化？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DCCA8BF-8382-418D-AEA1-430B4554E457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873110" y="5636469"/>
            <a:ext cx="6906044" cy="664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位移为负，在增大，速度减小，方向为负。</a:t>
            </a:r>
          </a:p>
        </p:txBody>
      </p:sp>
    </p:spTree>
    <p:extLst>
      <p:ext uri="{BB962C8B-B14F-4D97-AF65-F5344CB8AC3E}">
        <p14:creationId xmlns:p14="http://schemas.microsoft.com/office/powerpoint/2010/main" val="385685979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>
            <a:off x="408685" y="624636"/>
            <a:ext cx="11374631" cy="13105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Courier New" panose="02070309020205020404" pitchFamily="49" charset="0"/>
              </a:rPr>
              <a:t>2.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请结合图像分析在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Courier New" panose="02070309020205020404" pitchFamily="49" charset="0"/>
              </a:rPr>
              <a:t>M</a:t>
            </a:r>
            <a:r>
              <a:rPr lang="en-US" altLang="zh-CN" sz="2799" kern="100">
                <a:latin typeface="宋体" panose="02010600030101010101" pitchFamily="2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′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与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Courier New" panose="02070309020205020404" pitchFamily="49" charset="0"/>
              </a:rPr>
              <a:t>M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间做简谐运动的振子的位移、速度、加速度并填写表格</a:t>
            </a:r>
            <a:r>
              <a:rPr lang="zh-CN" altLang="en-US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</a:t>
            </a:r>
            <a:endParaRPr lang="zh-CN" altLang="zh-CN" sz="1050" kern="100">
              <a:latin typeface="微软雅黑" panose="020B0503020204020204" pitchFamily="34" charset="-122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pic>
        <p:nvPicPr>
          <p:cNvPr id="310274" name="Picture 2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435"/>
          <a:stretch>
            <a:fillRect/>
          </a:stretch>
        </p:blipFill>
        <p:spPr bwMode="auto">
          <a:xfrm>
            <a:off x="6941130" y="2053729"/>
            <a:ext cx="2854774" cy="18124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7" name="表格 6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408685" y="4144798"/>
          <a:ext cx="11557491" cy="2269236"/>
        </p:xfrm>
        <a:graphic>
          <a:graphicData uri="http://schemas.openxmlformats.org/drawingml/2006/table">
            <a:tbl>
              <a:tblPr/>
              <a:tblGrid>
                <a:gridCol w="14787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71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87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87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82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174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328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6425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 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平衡位置</a:t>
                      </a: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O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→</a:t>
                      </a: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M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M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M</a:t>
                      </a: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→</a:t>
                      </a: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O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→</a:t>
                      </a: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M</a:t>
                      </a: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′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M</a:t>
                      </a: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′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M</a:t>
                      </a: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′→</a:t>
                      </a: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O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425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位移</a:t>
                      </a: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x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alt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___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增大</a:t>
                      </a: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alt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____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减小</a:t>
                      </a: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alt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____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alt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____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alt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____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593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速度</a:t>
                      </a:r>
                      <a:r>
                        <a:rPr lang="en-US" sz="2800" i="1" kern="100">
                          <a:effectLst/>
                          <a:latin typeface="Book Antiqua" panose="0204060205030503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zh-CN" sz="2800" kern="100">
                        <a:effectLst/>
                        <a:latin typeface="Book Antiqua" panose="0204060205030503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最大</a:t>
                      </a: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alt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_____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alt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___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alt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____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alt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____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增大</a:t>
                      </a: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425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加速度</a:t>
                      </a:r>
                      <a:r>
                        <a:rPr lang="en-US" sz="2800" i="1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alt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___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增大</a:t>
                      </a: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最大</a:t>
                      </a: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alt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_____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增大</a:t>
                      </a: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alt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____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ct val="0"/>
                        </a:spcAft>
                      </a:pPr>
                      <a:r>
                        <a:rPr lang="en-US" altLang="zh-CN" sz="2800" kern="100">
                          <a:effectLst/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_____</a:t>
                      </a:r>
                      <a:endParaRPr lang="zh-CN" sz="2800" kern="100">
                        <a:effectLst/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33305" marR="3330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矩形 1"/>
          <p:cNvSpPr/>
          <p:nvPr>
            <p:custDataLst>
              <p:tags r:id="rId4"/>
            </p:custDataLst>
          </p:nvPr>
        </p:nvSpPr>
        <p:spPr>
          <a:xfrm>
            <a:off x="2564263" y="4668727"/>
            <a:ext cx="364118" cy="6610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0</a:t>
            </a:r>
            <a:endParaRPr lang="zh-CN" altLang="zh-CN" sz="2799" kern="10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>
            <p:custDataLst>
              <p:tags r:id="rId5"/>
            </p:custDataLst>
          </p:nvPr>
        </p:nvSpPr>
        <p:spPr>
          <a:xfrm>
            <a:off x="5429033" y="4787635"/>
            <a:ext cx="902602" cy="523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最大</a:t>
            </a:r>
            <a:endParaRPr lang="zh-CN" altLang="en-US" sz="2799" kern="10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>
            <p:custDataLst>
              <p:tags r:id="rId6"/>
            </p:custDataLst>
          </p:nvPr>
        </p:nvSpPr>
        <p:spPr>
          <a:xfrm>
            <a:off x="7948115" y="4802490"/>
            <a:ext cx="902602" cy="523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增大</a:t>
            </a:r>
            <a:endParaRPr lang="zh-CN" altLang="en-US" sz="2799" kern="10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>
            <p:custDataLst>
              <p:tags r:id="rId7"/>
            </p:custDataLst>
          </p:nvPr>
        </p:nvSpPr>
        <p:spPr>
          <a:xfrm>
            <a:off x="9296905" y="4802490"/>
            <a:ext cx="902602" cy="523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最大</a:t>
            </a:r>
            <a:endParaRPr lang="zh-CN" altLang="en-US" sz="2799" kern="10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>
            <p:custDataLst>
              <p:tags r:id="rId8"/>
            </p:custDataLst>
          </p:nvPr>
        </p:nvSpPr>
        <p:spPr>
          <a:xfrm>
            <a:off x="10755777" y="4792967"/>
            <a:ext cx="902602" cy="523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减小</a:t>
            </a:r>
            <a:endParaRPr lang="zh-CN" altLang="en-US" sz="2799" kern="10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>
            <p:custDataLst>
              <p:tags r:id="rId9"/>
            </p:custDataLst>
          </p:nvPr>
        </p:nvSpPr>
        <p:spPr>
          <a:xfrm>
            <a:off x="4051060" y="5458729"/>
            <a:ext cx="902602" cy="523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减小</a:t>
            </a:r>
            <a:endParaRPr lang="zh-CN" altLang="en-US" sz="2799" kern="10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/>
          <p:nvPr>
            <p:custDataLst>
              <p:tags r:id="rId10"/>
            </p:custDataLst>
          </p:nvPr>
        </p:nvSpPr>
        <p:spPr>
          <a:xfrm>
            <a:off x="5664052" y="5244657"/>
            <a:ext cx="364118" cy="6610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0</a:t>
            </a:r>
            <a:endParaRPr lang="zh-CN" altLang="zh-CN" sz="2799" kern="10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" name="矩形 10"/>
          <p:cNvSpPr/>
          <p:nvPr>
            <p:custDataLst>
              <p:tags r:id="rId11"/>
            </p:custDataLst>
          </p:nvPr>
        </p:nvSpPr>
        <p:spPr>
          <a:xfrm>
            <a:off x="6556517" y="5481619"/>
            <a:ext cx="902602" cy="523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增大</a:t>
            </a:r>
            <a:endParaRPr lang="zh-CN" altLang="en-US" sz="2799" kern="10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>
            <p:custDataLst>
              <p:tags r:id="rId12"/>
            </p:custDataLst>
          </p:nvPr>
        </p:nvSpPr>
        <p:spPr>
          <a:xfrm>
            <a:off x="7943398" y="5473470"/>
            <a:ext cx="902602" cy="523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减小</a:t>
            </a:r>
            <a:endParaRPr lang="zh-CN" altLang="en-US" sz="2799" kern="10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>
            <p:custDataLst>
              <p:tags r:id="rId13"/>
            </p:custDataLst>
          </p:nvPr>
        </p:nvSpPr>
        <p:spPr>
          <a:xfrm>
            <a:off x="2568424" y="5939432"/>
            <a:ext cx="364118" cy="6610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0</a:t>
            </a:r>
            <a:endParaRPr lang="zh-CN" altLang="zh-CN" sz="2799" kern="10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>
            <p:custDataLst>
              <p:tags r:id="rId14"/>
            </p:custDataLst>
          </p:nvPr>
        </p:nvSpPr>
        <p:spPr>
          <a:xfrm>
            <a:off x="6556516" y="6037809"/>
            <a:ext cx="902602" cy="523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减小</a:t>
            </a:r>
            <a:endParaRPr lang="zh-CN" altLang="en-US" sz="2799" kern="10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>
            <p:custDataLst>
              <p:tags r:id="rId15"/>
            </p:custDataLst>
          </p:nvPr>
        </p:nvSpPr>
        <p:spPr>
          <a:xfrm>
            <a:off x="9296905" y="6053124"/>
            <a:ext cx="902602" cy="523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最大</a:t>
            </a:r>
            <a:endParaRPr lang="zh-CN" altLang="en-US" sz="2799" kern="10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/>
          <p:cNvSpPr/>
          <p:nvPr>
            <p:custDataLst>
              <p:tags r:id="rId16"/>
            </p:custDataLst>
          </p:nvPr>
        </p:nvSpPr>
        <p:spPr>
          <a:xfrm>
            <a:off x="10775437" y="6082835"/>
            <a:ext cx="902602" cy="523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zh-CN" sz="2799" kern="10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减小</a:t>
            </a:r>
            <a:endParaRPr lang="zh-CN" altLang="en-US" sz="2799" kern="100">
              <a:solidFill>
                <a:srgbClr val="C00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6A63FEBC-B65D-408A-95AD-10F64A890B4E}"/>
              </a:ext>
            </a:extLst>
          </p:cNvPr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20"/>
          <a:srcRect t="17217" r="7899" b="27681"/>
          <a:stretch>
            <a:fillRect/>
          </a:stretch>
        </p:blipFill>
        <p:spPr>
          <a:xfrm>
            <a:off x="2055073" y="2222272"/>
            <a:ext cx="4132357" cy="142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46077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>
            <p:custDataLst>
              <p:tags r:id="rId1"/>
            </p:custDataLst>
          </p:nvPr>
        </p:nvSpPr>
        <p:spPr>
          <a:xfrm>
            <a:off x="391321" y="909303"/>
            <a:ext cx="11391995" cy="46155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方正中等线简体" panose="03000509000000000000" pitchFamily="65" charset="-122"/>
                <a:cs typeface="Courier New" panose="02070309020205020404" pitchFamily="49" charset="0"/>
              </a:rPr>
              <a:t>2.</a:t>
            </a:r>
            <a:r>
              <a:rPr lang="en-US" altLang="zh-CN" sz="2799" kern="100">
                <a:latin typeface="Times New Roman" panose="02020603050405020304" pitchFamily="18" charset="0"/>
                <a:ea typeface="楷体_GB2312" panose="02010609030101010101" pitchFamily="49" charset="-122"/>
                <a:cs typeface="Courier New" panose="02070309020205020404" pitchFamily="49" charset="0"/>
              </a:rPr>
              <a:t>(</a:t>
            </a:r>
            <a:r>
              <a:rPr lang="zh-CN" altLang="zh-CN" sz="2799" kern="100">
                <a:latin typeface="Times New Roman" panose="02020603050405020304" pitchFamily="18" charset="0"/>
                <a:ea typeface="楷体_GB2312" panose="02010609030101010101" pitchFamily="49" charset="-122"/>
                <a:cs typeface="Times New Roman" panose="02020603050405020304" pitchFamily="18" charset="0"/>
              </a:rPr>
              <a:t>多选</a:t>
            </a:r>
            <a:r>
              <a:rPr lang="en-US" altLang="zh-CN" sz="2799" kern="100">
                <a:latin typeface="Times New Roman" panose="02020603050405020304" pitchFamily="18" charset="0"/>
                <a:ea typeface="楷体_GB2312" panose="02010609030101010101" pitchFamily="49" charset="-122"/>
                <a:cs typeface="Courier New" panose="02070309020205020404" pitchFamily="49" charset="0"/>
              </a:rPr>
              <a:t>)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如图所示为获取弹簧振子的位移</a:t>
            </a: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Courier New" panose="02070309020205020404" pitchFamily="49" charset="0"/>
              </a:rPr>
              <a:t>—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时间图像的一种方法，改变纸带运动的速度，下列说法正确的是</a:t>
            </a:r>
            <a:r>
              <a:rPr lang="zh-CN" altLang="zh-CN" sz="2799" kern="100">
                <a:latin typeface="宋体" panose="02010600030101010101" pitchFamily="2" charset="-122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endParaRPr lang="zh-CN" altLang="zh-CN" sz="1050" kern="100">
              <a:latin typeface="微软雅黑" panose="020B0503020204020204" pitchFamily="34" charset="-122"/>
              <a:ea typeface="微软雅黑" panose="020B0503020204020204" pitchFamily="34" charset="-122"/>
              <a:cs typeface="Courier New" panose="02070309020205020404" pitchFamily="49" charset="0"/>
            </a:endParaRPr>
          </a:p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Courier New" panose="02070309020205020404" pitchFamily="49" charset="0"/>
              </a:rPr>
              <a:t>A.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如果纸带不动，作出的振动图像仍然是正弦</a:t>
            </a:r>
            <a:endParaRPr lang="en-US" altLang="zh-CN" sz="2799" kern="1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  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函数曲线</a:t>
            </a:r>
            <a:endParaRPr lang="zh-CN" altLang="zh-CN" sz="1050" kern="100">
              <a:latin typeface="微软雅黑" panose="020B0503020204020204" pitchFamily="34" charset="-122"/>
              <a:ea typeface="微软雅黑" panose="020B0503020204020204" pitchFamily="34" charset="-122"/>
              <a:cs typeface="Courier New" panose="02070309020205020404" pitchFamily="49" charset="0"/>
            </a:endParaRPr>
          </a:p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Courier New" panose="02070309020205020404" pitchFamily="49" charset="0"/>
              </a:rPr>
              <a:t>B.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如果纸带不动，作出的振动图像是一段线段</a:t>
            </a:r>
            <a:endParaRPr lang="zh-CN" altLang="zh-CN" sz="1050" kern="100">
              <a:latin typeface="微软雅黑" panose="020B0503020204020204" pitchFamily="34" charset="-122"/>
              <a:ea typeface="微软雅黑" panose="020B0503020204020204" pitchFamily="34" charset="-122"/>
              <a:cs typeface="Courier New" panose="02070309020205020404" pitchFamily="49" charset="0"/>
            </a:endParaRPr>
          </a:p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Courier New" panose="02070309020205020404" pitchFamily="49" charset="0"/>
              </a:rPr>
              <a:t>C.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图示时刻，振子正经过平衡位置向右运动</a:t>
            </a:r>
            <a:endParaRPr lang="zh-CN" altLang="zh-CN" sz="1050" kern="100">
              <a:latin typeface="微软雅黑" panose="020B0503020204020204" pitchFamily="34" charset="-122"/>
              <a:ea typeface="微软雅黑" panose="020B0503020204020204" pitchFamily="34" charset="-122"/>
              <a:cs typeface="Courier New" panose="02070309020205020404" pitchFamily="49" charset="0"/>
            </a:endParaRPr>
          </a:p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Courier New" panose="02070309020205020404" pitchFamily="49" charset="0"/>
              </a:rPr>
              <a:t>D.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若纸带运动的速度不恒定，则纸带上描出的仍然是简谐运动的图像</a:t>
            </a:r>
            <a:endParaRPr lang="zh-CN" altLang="zh-CN" sz="1050" kern="100">
              <a:latin typeface="微软雅黑" panose="020B0503020204020204" pitchFamily="34" charset="-122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2" name="TextBox 14"/>
          <p:cNvSpPr txBox="1"/>
          <p:nvPr>
            <p:custDataLst>
              <p:tags r:id="rId2"/>
            </p:custDataLst>
          </p:nvPr>
        </p:nvSpPr>
        <p:spPr>
          <a:xfrm>
            <a:off x="255179" y="3500992"/>
            <a:ext cx="657540" cy="784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99" b="1">
                <a:solidFill>
                  <a:srgbClr val="C00000"/>
                </a:solidFill>
                <a:latin typeface="华文细黑" pitchFamily="2" charset="-122"/>
                <a:ea typeface="华文细黑" pitchFamily="2" charset="-122"/>
              </a:rPr>
              <a:t>√</a:t>
            </a:r>
          </a:p>
        </p:txBody>
      </p:sp>
      <p:sp>
        <p:nvSpPr>
          <p:cNvPr id="13" name="TextBox 14"/>
          <p:cNvSpPr txBox="1"/>
          <p:nvPr>
            <p:custDataLst>
              <p:tags r:id="rId3"/>
            </p:custDataLst>
          </p:nvPr>
        </p:nvSpPr>
        <p:spPr>
          <a:xfrm>
            <a:off x="255179" y="4123519"/>
            <a:ext cx="657540" cy="784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99" b="1">
                <a:solidFill>
                  <a:srgbClr val="C00000"/>
                </a:solidFill>
                <a:latin typeface="华文细黑" pitchFamily="2" charset="-122"/>
                <a:ea typeface="华文细黑" pitchFamily="2" charset="-122"/>
              </a:rPr>
              <a:t>√</a:t>
            </a:r>
          </a:p>
        </p:txBody>
      </p:sp>
      <p:pic>
        <p:nvPicPr>
          <p:cNvPr id="314370" name="Picture 2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543705" y="1949743"/>
            <a:ext cx="2995573" cy="2703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266464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2A17BD7-F7B5-447C-A2FA-B99AE964E9D9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84273" y="405364"/>
            <a:ext cx="11409359" cy="19566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ct val="0"/>
              </a:spcAft>
            </a:pP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3.(2023·</a:t>
            </a:r>
            <a:r>
              <a:rPr lang="zh-CN" altLang="zh-CN" sz="2799" kern="100">
                <a:latin typeface="楷体_GB2312" panose="02010609030101010101" pitchFamily="49" charset="-122"/>
                <a:ea typeface="楷体_GB2312" panose="02010609030101010101" pitchFamily="49" charset="-122"/>
                <a:cs typeface="Times New Roman" panose="02020603050405020304" pitchFamily="18" charset="0"/>
              </a:rPr>
              <a:t>云南师大附中高二下期中</a:t>
            </a:r>
            <a:r>
              <a:rPr lang="en-US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)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如图所示，滑块在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M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N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之间做简谐运动。以平衡位置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O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为原点，建立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Ox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轴，向右为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x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轴正方向。若滑块位于</a:t>
            </a:r>
            <a:r>
              <a:rPr lang="en-US" altLang="zh-CN" sz="2799" i="1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N</a:t>
            </a:r>
            <a:r>
              <a:rPr lang="zh-CN" altLang="zh-CN" sz="2799" kern="1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点时开始计时，则其振动图像为</a:t>
            </a:r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01EDB76D-132B-4F00-9159-D6E891C349ED}"/>
              </a:ext>
            </a:extLst>
          </p:cNvPr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400196" y="2387580"/>
            <a:ext cx="5391608" cy="9831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2CA8795D-136B-417C-A8D6-36119391221F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701302" y="3575794"/>
            <a:ext cx="10789397" cy="1896523"/>
            <a:chOff x="716707" y="3216582"/>
            <a:chExt cx="10791895" cy="1896962"/>
          </a:xfrm>
        </p:grpSpPr>
        <p:pic>
          <p:nvPicPr>
            <p:cNvPr id="5" name="Picture 8" descr="2-10">
              <a:extLst>
                <a:ext uri="{FF2B5EF4-FFF2-40B4-BE49-F238E27FC236}">
                  <a16:creationId xmlns:a16="http://schemas.microsoft.com/office/drawing/2014/main" id="{0FDF5935-1564-4196-B373-2EA7F1F2304B}"/>
                </a:ext>
              </a:extLst>
            </p:cNvPr>
            <p:cNvPicPr>
              <a:picLocks noChangeAspect="1" noChangeArrowheads="1"/>
            </p:cNvPicPr>
            <p:nvPr>
              <p:custDataLst>
                <p:tags r:id="rId5"/>
              </p:custDataLst>
            </p:nvPr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716707" y="3216582"/>
              <a:ext cx="5053356" cy="18969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" name="Picture 9" descr="2-11">
              <a:extLst>
                <a:ext uri="{FF2B5EF4-FFF2-40B4-BE49-F238E27FC236}">
                  <a16:creationId xmlns:a16="http://schemas.microsoft.com/office/drawing/2014/main" id="{E8D50FEF-BA41-47C8-8ECC-A10FCD0A28B2}"/>
                </a:ext>
              </a:extLst>
            </p:cNvPr>
            <p:cNvPicPr>
              <a:picLocks noChangeAspect="1" noChangeArrowheads="1"/>
            </p:cNvPicPr>
            <p:nvPr>
              <p:custDataLst>
                <p:tags r:id="rId6"/>
              </p:custDataLst>
            </p:nvPr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6455246" y="3251572"/>
              <a:ext cx="5053356" cy="18619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" name="TextBox 19">
            <a:extLst>
              <a:ext uri="{FF2B5EF4-FFF2-40B4-BE49-F238E27FC236}">
                <a16:creationId xmlns:a16="http://schemas.microsoft.com/office/drawing/2014/main" id="{8C9A2421-36AC-4DEA-B1AE-B0E0BC501FCE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335049" y="4948075"/>
            <a:ext cx="755923" cy="784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8896"/>
            <a:r>
              <a:rPr lang="zh-CN" altLang="en-US" sz="4499" b="1">
                <a:solidFill>
                  <a:srgbClr val="C00000"/>
                </a:solidFill>
                <a:latin typeface="华文细黑" pitchFamily="2" charset="-122"/>
                <a:ea typeface="华文细黑" pitchFamily="2" charset="-122"/>
              </a:rPr>
              <a:t>√</a:t>
            </a:r>
          </a:p>
        </p:txBody>
      </p:sp>
    </p:spTree>
    <p:extLst>
      <p:ext uri="{BB962C8B-B14F-4D97-AF65-F5344CB8AC3E}">
        <p14:creationId xmlns:p14="http://schemas.microsoft.com/office/powerpoint/2010/main" val="276908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6E7AF-7307-477D-B60D-CB40C06FF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CN" dirty="0"/>
              <a:t>已知弹簧振子的x-t图像</a:t>
            </a:r>
            <a:r>
              <a:rPr lang="zh-CN" altLang="en-US" dirty="0"/>
              <a:t>，则它的</a:t>
            </a:r>
            <a:r>
              <a:rPr lang="en-US" altLang="zh-CN" dirty="0"/>
              <a:t>v-t, a-t, F-x</a:t>
            </a:r>
            <a:r>
              <a:rPr lang="zh-CN" altLang="en-US" dirty="0"/>
              <a:t>图像分别是怎样的？</a:t>
            </a:r>
            <a:endParaRPr lang="en-CN" dirty="0"/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8ED0AFCA-233A-7863-5416-4B3EFABF915A}"/>
              </a:ext>
            </a:extLst>
          </p:cNvPr>
          <p:cNvPicPr>
            <a:picLocks noGrp="1" noChangeAspect="1" noChangeArrowheads="1"/>
          </p:cNvPicPr>
          <p:nvPr>
            <p:ph idx="1"/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8200" y="3041747"/>
            <a:ext cx="10515600" cy="1919093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E93905F-A8AB-1A81-9682-F4EE7E863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6060" y="1619347"/>
            <a:ext cx="2433135" cy="1919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2748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C8B91-4821-17A5-6C66-850D6D99B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他的v-t图像是怎样的</a:t>
            </a:r>
            <a:r>
              <a:rPr lang="zh-CN" altLang="en-US" dirty="0"/>
              <a:t>？</a:t>
            </a:r>
            <a:endParaRPr lang="en-CN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5AE3C11-0B0E-FA4C-8310-AC027A69692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283" y="2241953"/>
            <a:ext cx="6255434" cy="3518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685746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5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54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5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7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7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68"/>
  <p:tag name="KSO_WM_UNIT_PLACING_PICTURE_USER_VIEWPORT" val="{&quot;height&quot;:2846,&quot;width&quot;:4579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97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8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8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06"/>
  <p:tag name="KSO_WM_UNIT_FILL_FORE_SCHEMECOLOR_INDEX_1" val="16"/>
  <p:tag name="KSO_WM_UNIT_FILL_FORE_SCHEMECOLOR_INDEX_1_BRIGHTNESS" val="0"/>
  <p:tag name="KSO_WM_UNIT_FILL_FORE_SCHEMECOLOR_INDEX_1_POS" val="0"/>
  <p:tag name="KSO_WM_UNIT_FILL_FORE_SCHEMECOLOR_INDEX_1_TRANS" val="0"/>
  <p:tag name="KSO_WM_UNIT_LINE_FILL_TYPE" val="2"/>
  <p:tag name="KSO_WM_UNIT_LINE_FORE_SCHEMECOLOR_INDEX" val="13"/>
  <p:tag name="KSO_WM_UNIT_LINE_FORE_SCHEMECOLOR_INDEX_BRIGHTNESS" val="0"/>
  <p:tag name="KSO_WM_UNIT_TEXT_FILL_FORE_SCHEMECOLOR_INDEX" val="13"/>
  <p:tag name="KSO_WM_UNIT_TEXT_FILL_FORE_SCHEMECOLOR_INDEX_BRIGHTNESS" val="0"/>
  <p:tag name="KSO_WM_UNIT_TEXT_FILL_TYPE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8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0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5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7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74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9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2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0"/>
  <p:tag name="KSO_WM_UNIT_PLACING_PICTURE_USER_VIEWPORT" val="{&quot;height&quot;:6212,&quot;width&quot;:3156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3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4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8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9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3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2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48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32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3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2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22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4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38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39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0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2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3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4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6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7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63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8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0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1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2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3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4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5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6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7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9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0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2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3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4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5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6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7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8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9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0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2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3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4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0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6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7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8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9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2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3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6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4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2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and Chinese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演示文稿1" id="{F8B9FEED-8146-4839-8053-D9880E4F147B}" vid="{01A7EF7B-974A-4C72-8CCA-666A79B3FFE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Stand Chinese</Template>
  <TotalTime>79</TotalTime>
  <Words>941</Words>
  <Application>Microsoft Macintosh PowerPoint</Application>
  <PresentationFormat>Widescreen</PresentationFormat>
  <Paragraphs>104</Paragraphs>
  <Slides>24</Slides>
  <Notes>0</Notes>
  <HiddenSlides>0</HiddenSlides>
  <MMClips>7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楷体_GB2312</vt:lpstr>
      <vt:lpstr>微软雅黑</vt:lpstr>
      <vt:lpstr>宋体</vt:lpstr>
      <vt:lpstr>华文细黑</vt:lpstr>
      <vt:lpstr>Arial</vt:lpstr>
      <vt:lpstr>Book Antiqua</vt:lpstr>
      <vt:lpstr>Times New Roman</vt:lpstr>
      <vt:lpstr>Office 主题​​</vt:lpstr>
      <vt:lpstr>PowerPoint Presentation</vt:lpstr>
      <vt:lpstr>简谐运动</vt:lpstr>
      <vt:lpstr>金属片的运动有什么特点？</vt:lpstr>
      <vt:lpstr>弹簧振子</vt:lpstr>
      <vt:lpstr>阻力对振动的影响</vt:lpstr>
      <vt:lpstr>如果阻力忽略不计，弹簧振子将做怎样的运动？</vt:lpstr>
      <vt:lpstr>其他弹簧振子</vt:lpstr>
      <vt:lpstr>试试对弹簧振子的运动状态进行分析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已知弹簧振子的x-t图像，则它的v-t, a-t, F-x图像分别是怎样的？</vt:lpstr>
      <vt:lpstr>他的v-t图像是怎样的？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</dc:creator>
  <cp:lastModifiedBy>Xingyu Shu</cp:lastModifiedBy>
  <cp:revision>4</cp:revision>
  <dcterms:created xsi:type="dcterms:W3CDTF">2024-09-20T08:20:47Z</dcterms:created>
  <dcterms:modified xsi:type="dcterms:W3CDTF">2026-10-13T00:43:19Z</dcterms:modified>
</cp:coreProperties>
</file>