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314" r:id="rId10"/>
    <p:sldId id="2315" r:id="rId11"/>
    <p:sldId id="2316" r:id="rId12"/>
    <p:sldId id="2317" r:id="rId13"/>
    <p:sldId id="2318" r:id="rId14"/>
    <p:sldId id="2319" r:id="rId15"/>
    <p:sldId id="2322" r:id="rId16"/>
    <p:sldId id="2323" r:id="rId17"/>
    <p:sldId id="2324" r:id="rId18"/>
    <p:sldId id="2254" r:id="rId19"/>
    <p:sldId id="2287" r:id="rId20"/>
    <p:sldId id="2263" r:id="rId21"/>
    <p:sldId id="2515" r:id="rId22"/>
    <p:sldId id="2516" r:id="rId23"/>
    <p:sldId id="251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138828-CD73-834D-8E90-3162ECA795A4}" v="32" dt="2024-09-22T13:54:56.376"/>
    <p1510:client id="{5FD52005-C03C-2E0F-7AA9-C2A19EEAF2DE}" v="23" dt="2024-09-22T13:33:07.224"/>
    <p1510:client id="{A5A48093-92E6-433A-B78A-D98FB8147BF6}" v="19" dt="2024-09-22T07:28:24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20D54-C7A4-F62C-CC22-B293E070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0589F1-7D74-4430-FB9E-40E1F442B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2771C-A8D5-5948-1E5C-1736747C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DC015-CD30-C731-1C93-A1325969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0D019-59E6-17D0-F066-F6DA9B4E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4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0B8863-BAC7-B36D-C13B-DA7B7689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1886FE-AD99-9024-2807-F5F02650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3AE4A-99B5-3215-CD93-6E770BD7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95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观察与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3018D4D-2C6E-4FF7-A0CF-743607A22C3A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266129"/>
            <a:ext cx="1846974" cy="546588"/>
            <a:chOff x="0" y="266190"/>
            <a:chExt cx="2136676" cy="546715"/>
          </a:xfrm>
        </p:grpSpPr>
        <p:sp>
          <p:nvSpPr>
            <p:cNvPr id="4" name="同侧圆角矩形 12">
              <a:extLst>
                <a:ext uri="{FF2B5EF4-FFF2-40B4-BE49-F238E27FC236}">
                  <a16:creationId xmlns:a16="http://schemas.microsoft.com/office/drawing/2014/main" id="{D6B81DCC-5098-42FF-80DB-AB912919AA8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794980" y="-528790"/>
              <a:ext cx="546715" cy="213667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7AD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8558685-F173-4476-BDB5-337E81B4D792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51819" y="308715"/>
              <a:ext cx="1549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800" b="1">
                  <a:solidFill>
                    <a:prstClr val="white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观察与思考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28336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32414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思考与讨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A0F119A-F821-4FCB-8DC3-1D6ABA6D6FAE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2568" y="266129"/>
            <a:ext cx="1921560" cy="546588"/>
            <a:chOff x="0" y="266190"/>
            <a:chExt cx="2136676" cy="546715"/>
          </a:xfrm>
        </p:grpSpPr>
        <p:sp>
          <p:nvSpPr>
            <p:cNvPr id="4" name="同侧圆角矩形 6">
              <a:extLst>
                <a:ext uri="{FF2B5EF4-FFF2-40B4-BE49-F238E27FC236}">
                  <a16:creationId xmlns:a16="http://schemas.microsoft.com/office/drawing/2014/main" id="{FBD8B4BE-CF66-42B0-9B2D-4F498F57409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794980" y="-528790"/>
              <a:ext cx="546715" cy="213667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7AD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5C1B3E9-4A17-45D6-8280-2BFEE008082C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2809" y="308715"/>
              <a:ext cx="14889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kumimoji="1" lang="zh-CN" altLang="en-US" sz="1800" b="1">
                  <a:solidFill>
                    <a:prstClr val="white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思考与讨论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361830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导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>
            <p:custDataLst>
              <p:tags r:id="rId1"/>
            </p:custDataLst>
          </p:nvPr>
        </p:nvGrpSpPr>
        <p:grpSpPr>
          <a:xfrm>
            <a:off x="1" y="266129"/>
            <a:ext cx="983773" cy="546588"/>
            <a:chOff x="0" y="266190"/>
            <a:chExt cx="2136676" cy="546715"/>
          </a:xfrm>
        </p:grpSpPr>
        <p:sp>
          <p:nvSpPr>
            <p:cNvPr id="6" name="同侧圆角矩形 5">
              <a:extLst>
                <a:ext uri="{FF2B5EF4-FFF2-40B4-BE49-F238E27FC236}">
                  <a16:creationId xmlns:a16="http://schemas.microsoft.com/office/drawing/2014/main" id="{9E724A0F-5D89-744F-A341-F2D8DD5120E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794980" y="-528790"/>
              <a:ext cx="546715" cy="213667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7AD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83CC594-3877-FC4B-9179-9E1D140BC07D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06561" y="308715"/>
              <a:ext cx="1403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800" b="1">
                  <a:solidFill>
                    <a:prstClr val="white"/>
                  </a:solidFill>
                  <a:ea typeface="微软雅黑" panose="020B0503020204020204" pitchFamily="34" charset="-122"/>
                </a:rPr>
                <a:t>练习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933429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1" r:id="rId5"/>
    <p:sldLayoutId id="2147483652" r:id="rId6"/>
    <p:sldLayoutId id="2147483653" r:id="rId7"/>
    <p:sldLayoutId id="2147483655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1.mp4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10.xml"/><Relationship Id="rId1" Type="http://schemas.openxmlformats.org/officeDocument/2006/relationships/video" Target="NULL" TargetMode="External"/><Relationship Id="rId6" Type="http://schemas.openxmlformats.org/officeDocument/2006/relationships/tags" Target="../tags/tag11.xml"/><Relationship Id="rId5" Type="http://schemas.openxmlformats.org/officeDocument/2006/relationships/video" Target="../media/media2.mp4"/><Relationship Id="rId4" Type="http://schemas.microsoft.com/office/2007/relationships/media" Target="../media/media2.mp4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video" Target="../media/media3.mp4"/><Relationship Id="rId7" Type="http://schemas.openxmlformats.org/officeDocument/2006/relationships/tags" Target="../tags/tag17.xml"/><Relationship Id="rId2" Type="http://schemas.microsoft.com/office/2007/relationships/media" Target="../media/media3.mp4"/><Relationship Id="rId1" Type="http://schemas.openxmlformats.org/officeDocument/2006/relationships/tags" Target="../tags/tag13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image" Target="../media/image7.png"/><Relationship Id="rId4" Type="http://schemas.openxmlformats.org/officeDocument/2006/relationships/tags" Target="../tags/tag14.xml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media" Target="../media/media4.mp4"/><Relationship Id="rId7" Type="http://schemas.openxmlformats.org/officeDocument/2006/relationships/slideLayout" Target="../slideLayouts/slideLayout1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10" Type="http://schemas.microsoft.com/office/2007/relationships/hdphoto" Target="../media/hdphoto1.wdp"/><Relationship Id="rId4" Type="http://schemas.openxmlformats.org/officeDocument/2006/relationships/video" Target="../media/media4.mp4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microsoft.com/office/2007/relationships/media" Target="../media/media5.mp4"/><Relationship Id="rId7" Type="http://schemas.openxmlformats.org/officeDocument/2006/relationships/tags" Target="../tags/tag32.xml"/><Relationship Id="rId2" Type="http://schemas.openxmlformats.org/officeDocument/2006/relationships/tags" Target="../tags/tag28.xml"/><Relationship Id="rId1" Type="http://schemas.openxmlformats.org/officeDocument/2006/relationships/video" Target="NULL" TargetMode="Externa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10" Type="http://schemas.openxmlformats.org/officeDocument/2006/relationships/image" Target="../media/image12.jpeg"/><Relationship Id="rId4" Type="http://schemas.openxmlformats.org/officeDocument/2006/relationships/tags" Target="../tags/tag29.xml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14.png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39.xml"/><Relationship Id="rId7" Type="http://schemas.openxmlformats.org/officeDocument/2006/relationships/slideLayout" Target="../slideLayouts/slideLayout1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17.png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18.gif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5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10" Type="http://schemas.openxmlformats.org/officeDocument/2006/relationships/image" Target="../media/image19.png"/><Relationship Id="rId4" Type="http://schemas.openxmlformats.org/officeDocument/2006/relationships/tags" Target="../tags/tag57.xml"/><Relationship Id="rId9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18" Type="http://schemas.openxmlformats.org/officeDocument/2006/relationships/slideLayout" Target="../slideLayouts/slideLayout12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17" Type="http://schemas.openxmlformats.org/officeDocument/2006/relationships/tags" Target="../tags/tag78.xml"/><Relationship Id="rId2" Type="http://schemas.openxmlformats.org/officeDocument/2006/relationships/tags" Target="../tags/tag63.xml"/><Relationship Id="rId16" Type="http://schemas.openxmlformats.org/officeDocument/2006/relationships/tags" Target="../tags/tag77.xml"/><Relationship Id="rId20" Type="http://schemas.openxmlformats.org/officeDocument/2006/relationships/image" Target="../media/image21.png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5" Type="http://schemas.openxmlformats.org/officeDocument/2006/relationships/tags" Target="../tags/tag66.xml"/><Relationship Id="rId15" Type="http://schemas.openxmlformats.org/officeDocument/2006/relationships/tags" Target="../tags/tag76.xml"/><Relationship Id="rId10" Type="http://schemas.openxmlformats.org/officeDocument/2006/relationships/tags" Target="../tags/tag71.xml"/><Relationship Id="rId19" Type="http://schemas.openxmlformats.org/officeDocument/2006/relationships/image" Target="../media/image20.png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tags" Target="../tags/tag7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22.png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85.xml"/><Relationship Id="rId7" Type="http://schemas.openxmlformats.org/officeDocument/2006/relationships/slideLayout" Target="../slideLayouts/slideLayout8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10" Type="http://schemas.openxmlformats.org/officeDocument/2006/relationships/image" Target="../media/image25.png"/><Relationship Id="rId4" Type="http://schemas.openxmlformats.org/officeDocument/2006/relationships/tags" Target="../tags/tag86.xml"/><Relationship Id="rId9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8E98E-4CAA-681E-BEF7-AEB1FE3EA8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简谐运动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8F8D4-64A9-23C0-1514-2B48332582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Simple harmonic movement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70598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473D1-F0EC-B3CC-D9BC-34948DAC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金属片的运动有什么特点</a:t>
            </a:r>
            <a:r>
              <a:rPr lang="zh-CN" altLang="en-US" dirty="0"/>
              <a:t>？</a:t>
            </a:r>
            <a:endParaRPr lang="en-CN" dirty="0"/>
          </a:p>
        </p:txBody>
      </p:sp>
      <p:pic>
        <p:nvPicPr>
          <p:cNvPr id="1026" name="Picture 2" descr="Sound is vibration animated gif">
            <a:extLst>
              <a:ext uri="{FF2B5EF4-FFF2-40B4-BE49-F238E27FC236}">
                <a16:creationId xmlns:a16="http://schemas.microsoft.com/office/drawing/2014/main" id="{31670DF5-A01B-BADD-CECD-5F85E1D662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096" y="1981616"/>
            <a:ext cx="5385808" cy="4039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4550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41F1F-18F3-95A6-3796-8629C776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弹簧振子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B9584E-F464-7190-C8D9-F51AE1515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250" y="2369344"/>
            <a:ext cx="48895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18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A2ED-3CD1-5A61-850C-8CB5D114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阻力对振动的影响</a:t>
            </a:r>
          </a:p>
        </p:txBody>
      </p:sp>
      <p:pic>
        <p:nvPicPr>
          <p:cNvPr id="7" name="实验视频：阻尼振动图像">
            <a:hlinkClick r:id="" action="ppaction://media"/>
            <a:extLst>
              <a:ext uri="{FF2B5EF4-FFF2-40B4-BE49-F238E27FC236}">
                <a16:creationId xmlns:a16="http://schemas.microsoft.com/office/drawing/2014/main" id="{2033B439-C0BF-7B79-976B-3DB6B1DE3281}"/>
              </a:ext>
            </a:extLst>
          </p:cNvPr>
          <p:cNvPicPr>
            <a:picLocks noGrp="1"/>
          </p:cNvPicPr>
          <p:nvPr>
            <p:ph sz="half" idx="1"/>
            <a:videoFile r:link="rId1"/>
            <p:custDataLst>
              <p:tags r:id="rId2"/>
            </p:custDataLst>
            <p:extLst>
              <p:ext uri="{DAA4B4D4-6D71-4841-9C94-3DE7FCFB9230}">
                <p14:media xmlns:p14="http://schemas.microsoft.com/office/powerpoint/2010/main" r:embed="rId3">
                  <p14:trim st="44068" end="4449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38200" y="2277663"/>
            <a:ext cx="5181600" cy="3447262"/>
          </a:xfrm>
          <a:prstGeom prst="rect">
            <a:avLst/>
          </a:prstGeom>
        </p:spPr>
      </p:pic>
      <p:pic>
        <p:nvPicPr>
          <p:cNvPr id="8" name="20220806_211528Edit">
            <a:hlinkClick r:id="" action="ppaction://media"/>
            <a:extLst>
              <a:ext uri="{FF2B5EF4-FFF2-40B4-BE49-F238E27FC236}">
                <a16:creationId xmlns:a16="http://schemas.microsoft.com/office/drawing/2014/main" id="{535EA5D0-B0EE-BF86-A09C-F26BE27F0C89}"/>
              </a:ext>
            </a:extLst>
          </p:cNvPr>
          <p:cNvPicPr>
            <a:picLocks noGrp="1"/>
          </p:cNvPicPr>
          <p:nvPr>
            <p:ph sz="half" idx="2"/>
            <a:videoFile r:link="rId5"/>
            <p:custDataLst>
              <p:tags r:id="rId6"/>
            </p:custDataLst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172200" y="2828545"/>
            <a:ext cx="5181600" cy="234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7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 fullScrn="1"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 fullScrn="1">
              <p:cMediaNode vol="0" mute="1">
                <p:cTn id="13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F3D1-867E-89DF-40AB-2E80FD62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如果阻力忽略不计</a:t>
            </a:r>
            <a:r>
              <a:rPr lang="zh-CN" altLang="en-US" dirty="0"/>
              <a:t>，弹簧振子</a:t>
            </a:r>
            <a:r>
              <a:rPr lang="zh-CN" altLang="en-CN" dirty="0"/>
              <a:t>将做怎样的运动</a:t>
            </a:r>
            <a:r>
              <a:rPr lang="zh-CN" altLang="en-US" dirty="0"/>
              <a:t>？</a:t>
            </a:r>
            <a:endParaRPr lang="en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FDA634-EEAD-F09E-DCAE-0F7654383B56}"/>
              </a:ext>
            </a:extLst>
          </p:cNvPr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05575" y="1468036"/>
            <a:ext cx="7380850" cy="506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59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5C748B5-780B-9DCE-779F-0AF489922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其他弹簧振子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83539F2-1572-FA9C-4AF0-DAEECF4B787B}"/>
              </a:ext>
            </a:extLst>
          </p:cNvPr>
          <p:cNvPicPr>
            <a:picLocks noGrp="1" noChangeAspect="1" noChangeArrowheads="1"/>
          </p:cNvPicPr>
          <p:nvPr>
            <p:ph sz="half" idx="1"/>
            <p:custDataLst>
              <p:tags r:id="rId1"/>
            </p:custDataLst>
          </p:nvPr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61514" y="2265631"/>
            <a:ext cx="3734972" cy="3471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录制_2023_07_15_11_16_07_612">
            <a:hlinkClick r:id="" action="ppaction://media"/>
            <a:extLst>
              <a:ext uri="{FF2B5EF4-FFF2-40B4-BE49-F238E27FC236}">
                <a16:creationId xmlns:a16="http://schemas.microsoft.com/office/drawing/2014/main" id="{AF09704D-228D-8C38-5FC1-83AC9719F785}"/>
              </a:ext>
            </a:extLst>
          </p:cNvPr>
          <p:cNvPicPr>
            <a:picLocks noChangeAspect="1"/>
          </p:cNvPicPr>
          <p:nvPr>
            <a:videoFile r:link="rId3"/>
            <p:custDataLst>
              <p:tags r:id="rId4"/>
            </p:custDataLst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0"/>
          <a:stretch>
            <a:fillRect/>
          </a:stretch>
        </p:blipFill>
        <p:spPr>
          <a:xfrm rot="18000000">
            <a:off x="9150118" y="2729651"/>
            <a:ext cx="499099" cy="2858475"/>
          </a:xfrm>
          <a:prstGeom prst="rect">
            <a:avLst/>
          </a:prstGeom>
        </p:spPr>
      </p:pic>
      <p:grpSp>
        <p:nvGrpSpPr>
          <p:cNvPr id="18" name="组合 22">
            <a:extLst>
              <a:ext uri="{FF2B5EF4-FFF2-40B4-BE49-F238E27FC236}">
                <a16:creationId xmlns:a16="http://schemas.microsoft.com/office/drawing/2014/main" id="{5B52DC6C-775E-7995-0D5B-9FB7E02C9148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7716238" y="3052228"/>
            <a:ext cx="2653457" cy="1828536"/>
            <a:chOff x="8036004" y="4121503"/>
            <a:chExt cx="2653457" cy="1828536"/>
          </a:xfrm>
        </p:grpSpPr>
        <p:sp>
          <p:nvSpPr>
            <p:cNvPr id="19" name="Rectangle 59">
              <a:extLst>
                <a:ext uri="{FF2B5EF4-FFF2-40B4-BE49-F238E27FC236}">
                  <a16:creationId xmlns:a16="http://schemas.microsoft.com/office/drawing/2014/main" id="{DEADC1BB-4FA6-AA14-4742-E6FE73A09413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 rot="18000000">
              <a:off x="8216096" y="4428685"/>
              <a:ext cx="684213" cy="69850"/>
            </a:xfrm>
            <a:prstGeom prst="rect">
              <a:avLst/>
            </a:prstGeom>
            <a:gradFill rotWithShape="1">
              <a:gsLst>
                <a:gs pos="0">
                  <a:srgbClr val="FDFDFC"/>
                </a:gs>
                <a:gs pos="50000">
                  <a:srgbClr val="FFFFFF"/>
                </a:gs>
                <a:gs pos="100000">
                  <a:srgbClr val="FDFDFC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直角三角形 31">
              <a:extLst>
                <a:ext uri="{FF2B5EF4-FFF2-40B4-BE49-F238E27FC236}">
                  <a16:creationId xmlns:a16="http://schemas.microsoft.com/office/drawing/2014/main" id="{2D617F9D-FEC6-C87B-9894-855A5F50FBD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036004" y="4509914"/>
              <a:ext cx="2653457" cy="1440125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725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1103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91531-4AA1-446B-17C3-E95B1D2D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试试对弹簧振子的运动状态进行分析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F569B-4F86-B942-7A99-BBDDA1951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平衡位置</a:t>
            </a:r>
          </a:p>
          <a:p>
            <a:r>
              <a:rPr lang="en-CN" dirty="0"/>
              <a:t>端点</a:t>
            </a:r>
          </a:p>
          <a:p>
            <a:r>
              <a:rPr lang="en-CN" dirty="0"/>
              <a:t>一般位置</a:t>
            </a:r>
          </a:p>
        </p:txBody>
      </p:sp>
    </p:spTree>
    <p:extLst>
      <p:ext uri="{BB962C8B-B14F-4D97-AF65-F5344CB8AC3E}">
        <p14:creationId xmlns:p14="http://schemas.microsoft.com/office/powerpoint/2010/main" val="48357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05C1E4-8643-D24D-2A6A-DEE48EF8B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弹簧上端固定在</a:t>
            </a:r>
            <a:r>
              <a:rPr lang="en-US" dirty="0"/>
              <a:t>O</a:t>
            </a:r>
            <a:r>
              <a:rPr lang="zh-CN" altLang="en-US" dirty="0"/>
              <a:t>点，下端连接一小球，组成一个振动系统，开始时，系统静止，如图所示，用手竖直向下拉一小段距离后释放小球，小球便上下振动起来，关于小球的平衡位置，下列说法正确的是</a:t>
            </a:r>
          </a:p>
          <a:p>
            <a:r>
              <a:rPr lang="en-US" dirty="0"/>
              <a:t>A.</a:t>
            </a:r>
            <a:r>
              <a:rPr lang="zh-CN" altLang="en-US" dirty="0"/>
              <a:t>在小球运动的最低点</a:t>
            </a:r>
          </a:p>
          <a:p>
            <a:r>
              <a:rPr lang="en-US" dirty="0"/>
              <a:t>B.</a:t>
            </a:r>
            <a:r>
              <a:rPr lang="zh-CN" altLang="en-US" dirty="0"/>
              <a:t>在弹簧处于原长的位置</a:t>
            </a:r>
          </a:p>
          <a:p>
            <a:r>
              <a:rPr lang="en-US" dirty="0"/>
              <a:t>C.</a:t>
            </a:r>
            <a:r>
              <a:rPr lang="zh-CN" altLang="en-US" dirty="0"/>
              <a:t>在小球速度最大的位置</a:t>
            </a:r>
          </a:p>
          <a:p>
            <a:r>
              <a:rPr lang="en-US" dirty="0"/>
              <a:t>D.</a:t>
            </a:r>
            <a:r>
              <a:rPr lang="zh-CN" altLang="en-US" dirty="0"/>
              <a:t>在小球原来静止的位置</a:t>
            </a:r>
            <a:endParaRPr lang="en-CN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0BF0CCD9-2160-02FF-A3BC-060CF626F605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53582" y="2103877"/>
            <a:ext cx="1002010" cy="265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8079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B8B594D-00F4-47F5-8CD5-FDC614E819A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848357" y="1115596"/>
            <a:ext cx="7863050" cy="52309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sz="2799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如何得到弹簧振子的位移—时间</a:t>
            </a:r>
            <a:r>
              <a:rPr lang="zh-CN" altLang="en-US" sz="2799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图像（</a:t>
            </a:r>
            <a:r>
              <a:rPr lang="en-US" altLang="zh-CN" sz="2799" i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x-t </a:t>
            </a:r>
            <a:r>
              <a:rPr lang="zh-CN" altLang="en-US" sz="2799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图像）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B4EBD6-81A1-4873-A7DC-20B48BBCD49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40632" y="2408384"/>
            <a:ext cx="10770261" cy="1308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799">
                <a:latin typeface="微软雅黑" panose="020B0503020204020204" pitchFamily="34" charset="-122"/>
                <a:ea typeface="微软雅黑" panose="020B0503020204020204" pitchFamily="34" charset="-122"/>
              </a:rPr>
              <a:t>要想得到位移与时间的关系，关键在于记录不同时刻小球的位置。为了便于分析，最好是</a:t>
            </a:r>
            <a:r>
              <a:rPr lang="zh-CN" altLang="en-US" sz="2799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相等时间间隔</a:t>
            </a:r>
            <a:r>
              <a:rPr lang="zh-CN" altLang="en-US" sz="2799">
                <a:latin typeface="微软雅黑" panose="020B0503020204020204" pitchFamily="34" charset="-122"/>
                <a:ea typeface="微软雅黑" panose="020B0503020204020204" pitchFamily="34" charset="-122"/>
              </a:rPr>
              <a:t>的不同时刻的位置。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729DC-8082-49ED-A814-370061200FB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40632" y="4708005"/>
            <a:ext cx="10614845" cy="1308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799"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zh-CN" altLang="en-US" sz="2799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频闪照相</a:t>
            </a:r>
            <a:r>
              <a:rPr lang="zh-CN" altLang="en-US" sz="2799">
                <a:latin typeface="微软雅黑" panose="020B0503020204020204" pitchFamily="34" charset="-122"/>
                <a:ea typeface="微软雅黑" panose="020B0503020204020204" pitchFamily="34" charset="-122"/>
              </a:rPr>
              <a:t>、照相机连拍，或用摄像机摄像后逐帧观察的方式，都可以的得到相等时间间隔的不同时刻小球的位置。</a:t>
            </a:r>
          </a:p>
        </p:txBody>
      </p:sp>
      <p:sp>
        <p:nvSpPr>
          <p:cNvPr id="5" name="下箭头 4">
            <a:extLst>
              <a:ext uri="{FF2B5EF4-FFF2-40B4-BE49-F238E27FC236}">
                <a16:creationId xmlns:a16="http://schemas.microsoft.com/office/drawing/2014/main" id="{C1642FD6-2B97-460D-A48C-2BD686CBF3E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254661" y="1692503"/>
            <a:ext cx="170775" cy="719923"/>
          </a:xfrm>
          <a:prstGeom prst="downArrow">
            <a:avLst/>
          </a:prstGeom>
          <a:solidFill>
            <a:srgbClr val="7AD9E7"/>
          </a:solidFill>
          <a:ln>
            <a:solidFill>
              <a:srgbClr val="7AD9E7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下箭头 7">
            <a:extLst>
              <a:ext uri="{FF2B5EF4-FFF2-40B4-BE49-F238E27FC236}">
                <a16:creationId xmlns:a16="http://schemas.microsoft.com/office/drawing/2014/main" id="{FD9BEF15-B181-4B55-95FD-99AC3F0F1AE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258789" y="3793059"/>
            <a:ext cx="166648" cy="804736"/>
          </a:xfrm>
          <a:prstGeom prst="downArrow">
            <a:avLst/>
          </a:prstGeom>
          <a:solidFill>
            <a:srgbClr val="7AD9E7"/>
          </a:solidFill>
          <a:ln>
            <a:solidFill>
              <a:srgbClr val="7AD9E7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1748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  <p:cond evt="onBegin" delay="0">
                          <p:tn val="16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D662325-3E4B-46ED-BD18-CF1FDD0E83D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414919" y="480778"/>
            <a:ext cx="1996340" cy="521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99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频闪照相法</a:t>
            </a:r>
            <a:endParaRPr lang="zh-CN" altLang="en-US" sz="2799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80CA69-422B-49F0-834D-07A82FD8724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02451" y="990521"/>
            <a:ext cx="5416566" cy="46147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频闪仪每隔 </a:t>
            </a:r>
            <a:r>
              <a:rPr lang="en-US" altLang="zh-CN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0.05 s </a:t>
            </a:r>
            <a:r>
              <a:rPr lang="zh-CN" altLang="en-US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闪光一次，闪光的瞬间振子被照亮，从而得到闪光时小球的位置，相邻两个位置之间的时间相隔为 </a:t>
            </a:r>
            <a:r>
              <a:rPr lang="en-US" altLang="zh-CN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0.05 s</a:t>
            </a:r>
            <a:r>
              <a:rPr lang="zh-CN" altLang="en-US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zh-CN" altLang="en-US" sz="2799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拍摄时底片从下向上</a:t>
            </a:r>
            <a:r>
              <a:rPr lang="zh-CN" altLang="en-US" sz="2799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匀速运动</a:t>
            </a:r>
            <a:r>
              <a:rPr lang="zh-CN" altLang="en-US" sz="2799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，因此在底片上留下了小球和弹簧的一系列的像。</a:t>
            </a:r>
            <a:endParaRPr lang="zh-CN" altLang="en-US" sz="2799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频闪">
            <a:hlinkClick r:id="" action="ppaction://media"/>
            <a:extLst>
              <a:ext uri="{FF2B5EF4-FFF2-40B4-BE49-F238E27FC236}">
                <a16:creationId xmlns:a16="http://schemas.microsoft.com/office/drawing/2014/main" id="{4F6F1546-F683-45DE-86A9-9EF88431538D}"/>
              </a:ext>
            </a:extLst>
          </p:cNvPr>
          <p:cNvPicPr/>
          <p:nvPr>
            <a:videoFile r:link="rId4"/>
            <p:custDataLst>
              <p:tags r:id="rId5"/>
            </p:custDataLst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71153" y="1207357"/>
            <a:ext cx="5677337" cy="42829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F1D6BEB-6F66-4EFD-86AD-73098A558F7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71" y="4598249"/>
            <a:ext cx="1439827" cy="46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046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 fullScrn="1">
              <p:cMediaNode>
                <p:cTn id="13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频闪坐标">
            <a:hlinkClick r:id="" action="ppaction://media"/>
            <a:extLst>
              <a:ext uri="{FF2B5EF4-FFF2-40B4-BE49-F238E27FC236}">
                <a16:creationId xmlns:a16="http://schemas.microsoft.com/office/drawing/2014/main" id="{42AE7B85-CE9A-4450-9A46-D95B290941B4}"/>
              </a:ext>
            </a:extLst>
          </p:cNvPr>
          <p:cNvPicPr/>
          <p:nvPr>
            <a:videoFile r:link="rId1"/>
            <p:custDataLst>
              <p:tags r:id="rId2"/>
            </p:custDataLst>
            <p:extLst>
              <p:ext uri="{DAA4B4D4-6D71-4841-9C94-3DE7FCFB9230}">
                <p14:media xmlns:p14="http://schemas.microsoft.com/office/powerpoint/2010/main" r:embed="rId3">
                  <p14:trim st="17661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392186" y="833883"/>
            <a:ext cx="5111043" cy="412648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E0ED07A-DC45-4DC8-8ECE-29373F6B8B6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0219" y="5085649"/>
            <a:ext cx="11356615" cy="13085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2799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振子的频闪照片反映了不同时刻，振子离开平衡位置的位移。也就是位移随时间变化的规律</a:t>
            </a:r>
            <a:r>
              <a:rPr sz="2799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799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3241255-9962-448C-BF79-F3D9708BE5D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/>
          <a:srcRect r="-2965" b="6404"/>
          <a:stretch>
            <a:fillRect/>
          </a:stretch>
        </p:blipFill>
        <p:spPr>
          <a:xfrm>
            <a:off x="7295476" y="940538"/>
            <a:ext cx="2014879" cy="3965738"/>
          </a:xfrm>
          <a:prstGeom prst="rect">
            <a:avLst/>
          </a:prstGeom>
          <a:noFill/>
          <a:ln w="9525">
            <a:noFill/>
          </a:ln>
          <a:effectLst>
            <a:outerShdw dist="139700" dir="2699999" algn="ctr" rotWithShape="0">
              <a:srgbClr val="333333">
                <a:alpha val="59998"/>
              </a:srgb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1D6B97A-1CBC-477A-AA75-76BF1E549FF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27193" y="1854941"/>
            <a:ext cx="405036" cy="1814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99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绘制图像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A10660-FD91-48A3-91FD-46F6174A994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0031146" y="4101299"/>
            <a:ext cx="1751902" cy="523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99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noaction"/>
              </a:rPr>
              <a:t>数码相机</a:t>
            </a:r>
            <a:endParaRPr lang="zh-CN" altLang="en-US" sz="2799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55446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 nodeType="clickPar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 fullScrn="1">
              <p:cMediaNode>
                <p:cTn id="18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220806_213216Edit">
            <a:hlinkClick r:id="" action="ppaction://media"/>
            <a:extLst>
              <a:ext uri="{FF2B5EF4-FFF2-40B4-BE49-F238E27FC236}">
                <a16:creationId xmlns:a16="http://schemas.microsoft.com/office/drawing/2014/main" id="{F4282799-054E-475E-8083-9ED623C9C9C8}"/>
              </a:ext>
            </a:extLst>
          </p:cNvPr>
          <p:cNvPicPr/>
          <p:nvPr>
            <a:videoFile r:link="rId2"/>
            <p:custDataLst>
              <p:tags r:id="rId3"/>
            </p:custDataLst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48713" y="1117562"/>
            <a:ext cx="9494574" cy="462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615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 fullScrn="1"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24490b9eabaf3802296193246b7ea74">
            <a:hlinkClick r:id="" action="ppaction://media"/>
            <a:extLst>
              <a:ext uri="{FF2B5EF4-FFF2-40B4-BE49-F238E27FC236}">
                <a16:creationId xmlns:a16="http://schemas.microsoft.com/office/drawing/2014/main" id="{D142F214-AFFC-41DE-9371-EE82785A0578}"/>
              </a:ext>
            </a:extLst>
          </p:cNvPr>
          <p:cNvPicPr/>
          <p:nvPr>
            <a:videoFile r:link="rId2"/>
            <p:custDataLst>
              <p:tags r:id="rId3"/>
            </p:custDataLst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22415" r="16106"/>
          <a:stretch>
            <a:fillRect/>
          </a:stretch>
        </p:blipFill>
        <p:spPr>
          <a:xfrm>
            <a:off x="2712408" y="1074480"/>
            <a:ext cx="6911169" cy="518611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AA0B56F-81C8-4EC6-A390-AF50A4D9BEB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656173" y="403888"/>
            <a:ext cx="3811658" cy="521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99">
                <a:latin typeface="微软雅黑" panose="020B0503020204020204" pitchFamily="34" charset="-122"/>
                <a:ea typeface="微软雅黑" panose="020B0503020204020204" pitchFamily="34" charset="-122"/>
              </a:rPr>
              <a:t>弹簧振子图像动画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727FEC-649D-4DEF-AB9D-2027B6075E3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984110" y="502803"/>
            <a:ext cx="184688" cy="3692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1014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 fullScrn="1"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583B783-E84E-4B4F-BAF5-0B0079C7229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136477" y="3694198"/>
            <a:ext cx="1367835" cy="2839142"/>
            <a:chOff x="9642" y="3194"/>
            <a:chExt cx="2043" cy="464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2D58F7A0-1461-4A1D-B152-01C5D9BFE9A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642" y="3194"/>
              <a:ext cx="2043" cy="3908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A8164CE-21EC-48D1-B9B7-12E683FF7104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10097" y="7232"/>
              <a:ext cx="1132" cy="60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45708" tIns="45708" rIns="45708" bIns="45708" numCol="1" spcCol="38100" rtlCol="0" anchor="t" forceAA="0">
              <a:spAutoFit/>
            </a:bodyPr>
            <a:lstStyle/>
            <a:p>
              <a:pPr defTabSz="914217" latinLnBrk="1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纵向</a:t>
              </a:r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+mn-ea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3B69F149-B6D5-4FE1-A08F-3E173F7C446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rcRect b="22993"/>
          <a:stretch>
            <a:fillRect/>
          </a:stretch>
        </p:blipFill>
        <p:spPr>
          <a:xfrm>
            <a:off x="4728165" y="4197146"/>
            <a:ext cx="5546076" cy="19667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2095A73-4D3E-4E3E-8BE3-FB92CC7A37C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16672" y="1629217"/>
            <a:ext cx="11158657" cy="2029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799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建立坐标系：以小球的</a:t>
            </a:r>
            <a:r>
              <a:rPr lang="zh-CN" altLang="en-US" sz="2799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平衡位置</a:t>
            </a:r>
            <a:r>
              <a:rPr lang="zh-CN" altLang="en-US" sz="2799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为坐标原点</a:t>
            </a:r>
            <a:r>
              <a:rPr lang="en-US" altLang="zh-CN" sz="2799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799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，用横坐标表示振子运动的</a:t>
            </a:r>
            <a:r>
              <a:rPr lang="zh-CN" altLang="en-US" sz="2799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时间</a:t>
            </a:r>
            <a:r>
              <a:rPr lang="en-US" altLang="zh-CN" sz="2799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799" i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zh-CN" sz="2799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799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，纵坐标表示振子</a:t>
            </a:r>
            <a:r>
              <a:rPr lang="zh-CN" altLang="en-US" sz="2799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偏离平衡位置的位移</a:t>
            </a:r>
            <a:r>
              <a:rPr lang="en-US" altLang="zh-CN" sz="2799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799" i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799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799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，描绘出的图像就是</a:t>
            </a:r>
            <a:r>
              <a:rPr lang="zh-CN" altLang="en-US" sz="2799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弹簧振子的位移</a:t>
            </a: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  <a:sym typeface="+mn-ea"/>
              </a:rPr>
              <a:t>－</a:t>
            </a:r>
            <a:r>
              <a:rPr lang="zh-CN" altLang="en-US" sz="2799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时间图像</a:t>
            </a:r>
            <a:r>
              <a:rPr lang="zh-CN" altLang="en-US" sz="2799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，即</a:t>
            </a:r>
            <a:r>
              <a:rPr lang="en-US" altLang="zh-CN" sz="2799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x-t </a:t>
            </a:r>
            <a:r>
              <a:rPr lang="zh-CN" altLang="en-US" sz="2799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图像。</a:t>
            </a:r>
            <a:endParaRPr lang="zh-CN" altLang="en-US" sz="2799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679799-D037-4FD6-9425-F7FCF22B8C8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309028" y="444732"/>
            <a:ext cx="7736225" cy="64618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599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弹簧振子的位移时间图像（</a:t>
            </a:r>
            <a:r>
              <a:rPr lang="en-US" altLang="zh-CN" sz="3599" b="1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3599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-</a:t>
            </a:r>
            <a:r>
              <a:rPr lang="en-US" altLang="zh-CN" sz="3599" b="1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en-US" altLang="zh-CN" sz="3599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CN" altLang="en-US" sz="3599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图像）</a:t>
            </a:r>
          </a:p>
        </p:txBody>
      </p:sp>
    </p:spTree>
    <p:extLst>
      <p:ext uri="{BB962C8B-B14F-4D97-AF65-F5344CB8AC3E}">
        <p14:creationId xmlns:p14="http://schemas.microsoft.com/office/powerpoint/2010/main" val="27580524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F2526355-14C6-47B2-857F-1072E72E379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4124" y="777125"/>
            <a:ext cx="7368660" cy="380099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799" b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方法二  </a:t>
            </a:r>
            <a:r>
              <a:rPr lang="en-US" sz="2799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 fontAlgn="base">
              <a:lnSpc>
                <a:spcPct val="150000"/>
              </a:lnSpc>
            </a:pPr>
            <a:r>
              <a:rPr lang="en-US" sz="2799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拟合法</a:t>
            </a:r>
            <a:r>
              <a:rPr lang="zh-CN" altLang="en-US" sz="2799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z="2799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在图中，测量小球在各个位置的横坐标和纵坐标，把测量值输入计算机中作出这条曲线，然后按照计算机提示用一个周期性函数拟合这条曲线，看一看弹簧振子的位移—时间的关系可以用什么函数表示。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7B3093-BD98-41FE-AC59-0F2B8853691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42179" y="5422879"/>
            <a:ext cx="7366119" cy="52309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99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结论</a:t>
            </a:r>
            <a:r>
              <a:rPr lang="zh-CN" altLang="en-US" sz="2799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2799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弹簧振子的振动图像是一条</a:t>
            </a:r>
            <a:r>
              <a:rPr lang="zh-CN" altLang="en-US" sz="2799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正弦曲线</a:t>
            </a:r>
            <a:r>
              <a:rPr lang="zh-CN" altLang="en-US" sz="2799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4" name="下箭头 3">
            <a:extLst>
              <a:ext uri="{FF2B5EF4-FFF2-40B4-BE49-F238E27FC236}">
                <a16:creationId xmlns:a16="http://schemas.microsoft.com/office/drawing/2014/main" id="{F0AF443D-44F5-4232-BB1B-5E3D8D247EC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77334" y="4675746"/>
            <a:ext cx="113775" cy="719923"/>
          </a:xfrm>
          <a:prstGeom prst="downArrow">
            <a:avLst>
              <a:gd name="adj1" fmla="val 50000"/>
              <a:gd name="adj2" fmla="val 189497"/>
            </a:avLst>
          </a:prstGeom>
          <a:solidFill>
            <a:srgbClr val="7AD9E7"/>
          </a:solidFill>
          <a:ln>
            <a:solidFill>
              <a:srgbClr val="7AD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C89678E-ABF3-4616-A835-0DCE7274DD86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23082" y="1721010"/>
            <a:ext cx="3006774" cy="2209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87754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5A44D8B-0CA3-499B-81B3-2633EA85E47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0885" y="1900144"/>
            <a:ext cx="11086458" cy="13085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1.</a:t>
            </a:r>
            <a:r>
              <a:rPr lang="zh-CN" altLang="en-US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定义：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如果物体的位移与时间的关系遵从</a:t>
            </a:r>
            <a:r>
              <a:rPr lang="zh-CN" altLang="en-US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正弦函数</a:t>
            </a: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的规律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，即它的振动图像</a:t>
            </a: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 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－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 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图像</a:t>
            </a: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是一条</a:t>
            </a: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正弦曲线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，这样的振动是一种</a:t>
            </a: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简谐运动</a:t>
            </a:r>
            <a:r>
              <a:rPr lang="zh-CN" altLang="en-US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2799" kern="1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E0E542-FE5F-40DE-B61D-8C2D5ABA07E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8285" y="3436889"/>
            <a:ext cx="10864562" cy="66214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2.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特点：简谐运动是最基本的振动，弹簧振子的运动就是</a:t>
            </a: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简谐运动</a:t>
            </a:r>
            <a:r>
              <a:rPr lang="zh-CN" altLang="en-US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2799" kern="100">
              <a:solidFill>
                <a:sysClr val="windowText" lastClr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9AE283-2A84-43D8-B0B4-60C4B9ABACD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152234" y="549347"/>
            <a:ext cx="3889909" cy="64618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599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简谐运动及其图像</a:t>
            </a:r>
          </a:p>
        </p:txBody>
      </p:sp>
    </p:spTree>
    <p:extLst>
      <p:ext uri="{BB962C8B-B14F-4D97-AF65-F5344CB8AC3E}">
        <p14:creationId xmlns:p14="http://schemas.microsoft.com/office/powerpoint/2010/main" val="397808088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85B22E-7691-434E-B7C1-2261870FA0E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64122" y="1327018"/>
            <a:ext cx="7300249" cy="2600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(1)</a:t>
            </a:r>
            <a:r>
              <a:rPr lang="zh-CN" altLang="en-US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形式：正（余）弦曲线</a:t>
            </a:r>
            <a:endParaRPr lang="zh-CN" altLang="en-US" sz="2799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(2)</a:t>
            </a:r>
            <a:r>
              <a:rPr lang="zh-CN" altLang="en-US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物理意义：</a:t>
            </a:r>
            <a:r>
              <a:rPr lang="en-US" altLang="zh-CN" sz="2799" i="1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  <a:sym typeface="+mn-ea"/>
              </a:rPr>
              <a:t>－</a:t>
            </a:r>
            <a:r>
              <a:rPr lang="en-US" altLang="zh-CN" sz="2799" i="1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  <a:sym typeface="+mn-ea"/>
              </a:rPr>
              <a:t>t 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图</a:t>
            </a:r>
            <a:r>
              <a:rPr lang="zh-CN" altLang="en-US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像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上的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坐标表示振子相对平衡位置的位移，也表示振子的位置坐标</a:t>
            </a:r>
            <a:r>
              <a:rPr lang="zh-CN" altLang="en-US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它</a:t>
            </a:r>
            <a:r>
              <a:rPr lang="zh-CN" altLang="zh-CN" sz="2799" b="1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反映了振子位移随时间变化的规律</a:t>
            </a:r>
            <a:r>
              <a:rPr lang="zh-CN" altLang="en-US" sz="2799" b="1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zh-CN" sz="2799" kern="1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6A517C-C917-4F1E-9233-D6265BBD022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64123" y="674668"/>
            <a:ext cx="5407601" cy="5230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3.</a:t>
            </a:r>
            <a:r>
              <a:rPr lang="zh-CN" altLang="en-US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对简谐运动图像</a:t>
            </a:r>
            <a:r>
              <a:rPr lang="en-US" altLang="zh-CN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799" i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x-t</a:t>
            </a:r>
            <a:r>
              <a:rPr lang="zh-CN" altLang="en-US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图像</a:t>
            </a:r>
            <a:r>
              <a:rPr lang="en-US" altLang="zh-CN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799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的认识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C6EC4A-A017-44B5-AFBC-D36C1B3AFD8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73664" y="1233811"/>
            <a:ext cx="2591688" cy="317448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B974CFA-92FA-C93B-F0E9-20EF4709F3B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03055" y="4077222"/>
            <a:ext cx="6093389" cy="66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799" b="1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注意</a:t>
            </a:r>
            <a:r>
              <a:rPr lang="zh-CN" altLang="zh-CN" sz="2799" b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799" b="1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zh-CN" sz="2799" b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－</a:t>
            </a:r>
            <a:r>
              <a:rPr lang="en-US" altLang="zh-CN" sz="2799" b="1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 </a:t>
            </a:r>
            <a:r>
              <a:rPr lang="zh-CN" altLang="zh-CN" sz="2799" b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图像不是振子的运动轨迹</a:t>
            </a:r>
            <a:r>
              <a:rPr lang="en-US" altLang="zh-CN" sz="2799" b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50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3EFB8F-3D7F-4E52-AD5C-13399E5B3DE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77882" y="760367"/>
            <a:ext cx="9674004" cy="664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如图所示为水平弹簧振子振动时的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－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图像，试分析：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A27CFC-978C-4358-B4BC-E184D9A3A736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74944" y="3199660"/>
            <a:ext cx="3216738" cy="2361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A10D2B1-157E-4FB3-86DC-33F2A286308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00859" y="1410447"/>
            <a:ext cx="6184730" cy="664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799" kern="100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799" kern="100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时刻小球分别位于哪个位置？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9CA49B-66B7-4050-9C2D-EFC06364182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873109" y="2202572"/>
            <a:ext cx="9483548" cy="664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i="1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799" kern="100" baseline="-250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时刻小球位于正向最大位移处，</a:t>
            </a:r>
            <a:r>
              <a:rPr lang="en-US" altLang="zh-CN" sz="2799" i="1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799" kern="100" baseline="-250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时刻小球位于平衡位置。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168949-D1BE-484E-BDDC-06ACEAB2422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00859" y="2852650"/>
            <a:ext cx="6432952" cy="1308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799" kern="100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799" kern="100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时间内位移和速度各如何变化？</a:t>
            </a:r>
            <a:endParaRPr lang="en-US" altLang="zh-CN" sz="2799" kern="1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[(2)(3)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问分别从大小和方向两方面描述</a:t>
            </a: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endParaRPr lang="zh-CN" altLang="zh-CN" sz="2799" kern="1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7C493C-C24B-4126-8839-96E1F3149C1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00859" y="4233500"/>
            <a:ext cx="6929813" cy="664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位移为正，在减小，速度增大，方向为负。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175AF0-567C-4F68-87E5-E516DCCE02A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77882" y="4858588"/>
            <a:ext cx="7217123" cy="664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799" kern="100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799" kern="100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时间内位移和速度各如何变化？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CCA8BF-8382-418D-AEA1-430B4554E45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73110" y="5636469"/>
            <a:ext cx="6906044" cy="664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位移为负，在增大，速度减小，方向为负。</a:t>
            </a:r>
          </a:p>
        </p:txBody>
      </p:sp>
    </p:spTree>
    <p:extLst>
      <p:ext uri="{BB962C8B-B14F-4D97-AF65-F5344CB8AC3E}">
        <p14:creationId xmlns:p14="http://schemas.microsoft.com/office/powerpoint/2010/main" val="38568597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408685" y="624636"/>
            <a:ext cx="11374631" cy="1310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2.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请结合图像分析在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M</a:t>
            </a:r>
            <a:r>
              <a:rPr lang="en-US" altLang="zh-CN" sz="2799" kern="100">
                <a:latin typeface="宋体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′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M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间做简谐运动的振子的位移、速度、加速度并填写表格</a:t>
            </a:r>
            <a:r>
              <a:rPr lang="zh-CN" altLang="en-US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1050" kern="10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pic>
        <p:nvPicPr>
          <p:cNvPr id="310274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35"/>
          <a:stretch>
            <a:fillRect/>
          </a:stretch>
        </p:blipFill>
        <p:spPr bwMode="auto">
          <a:xfrm>
            <a:off x="6941130" y="2053729"/>
            <a:ext cx="2854774" cy="1812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08685" y="4144798"/>
          <a:ext cx="11557491" cy="2269236"/>
        </p:xfrm>
        <a:graphic>
          <a:graphicData uri="http://schemas.openxmlformats.org/drawingml/2006/table">
            <a:tbl>
              <a:tblPr/>
              <a:tblGrid>
                <a:gridCol w="1478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7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8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7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32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42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i="1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平衡位置</a:t>
                      </a:r>
                      <a:r>
                        <a:rPr lang="en-US" sz="2800" i="1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i="1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sz="2800" i="1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i="1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i="1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sz="2800" i="1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i="1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sz="2800" i="1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′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i="1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′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i="1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′→</a:t>
                      </a:r>
                      <a:r>
                        <a:rPr lang="en-US" sz="2800" i="1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2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位移</a:t>
                      </a:r>
                      <a:r>
                        <a:rPr lang="en-US" sz="2800" i="1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___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增大</a:t>
                      </a: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____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减小</a:t>
                      </a: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____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____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____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速度</a:t>
                      </a:r>
                      <a:r>
                        <a:rPr lang="en-US" sz="2800" i="1" kern="100">
                          <a:effectLst/>
                          <a:latin typeface="Book Antiqua" panose="0204060205030503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zh-CN" sz="2800" kern="100">
                        <a:effectLst/>
                        <a:latin typeface="Book Antiqua" panose="0204060205030503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最大</a:t>
                      </a: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_____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___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____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____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增大</a:t>
                      </a: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2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加速度</a:t>
                      </a:r>
                      <a:r>
                        <a:rPr lang="en-US" sz="2800" i="1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___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增大</a:t>
                      </a: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最大</a:t>
                      </a: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_____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增大</a:t>
                      </a: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____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_____</a:t>
                      </a:r>
                      <a:endParaRPr lang="zh-CN" sz="2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3305" marR="333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2564263" y="4668727"/>
            <a:ext cx="364118" cy="661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endParaRPr lang="zh-CN" altLang="zh-CN" sz="2799" kern="10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5429033" y="4787635"/>
            <a:ext cx="902602" cy="523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最大</a:t>
            </a:r>
            <a:endParaRPr lang="zh-CN" altLang="en-US" sz="2799" kern="10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7948115" y="4802490"/>
            <a:ext cx="902602" cy="523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增大</a:t>
            </a:r>
            <a:endParaRPr lang="zh-CN" altLang="en-US" sz="2799" kern="10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9296905" y="4802490"/>
            <a:ext cx="902602" cy="523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最大</a:t>
            </a:r>
            <a:endParaRPr lang="zh-CN" altLang="en-US" sz="2799" kern="10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10755777" y="4792967"/>
            <a:ext cx="902602" cy="523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减小</a:t>
            </a:r>
            <a:endParaRPr lang="zh-CN" altLang="en-US" sz="2799" kern="10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4051060" y="5458729"/>
            <a:ext cx="902602" cy="523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减小</a:t>
            </a:r>
            <a:endParaRPr lang="zh-CN" altLang="en-US" sz="2799" kern="10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5664052" y="5244657"/>
            <a:ext cx="364118" cy="661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endParaRPr lang="zh-CN" altLang="zh-CN" sz="2799" kern="10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>
            <p:custDataLst>
              <p:tags r:id="rId11"/>
            </p:custDataLst>
          </p:nvPr>
        </p:nvSpPr>
        <p:spPr>
          <a:xfrm>
            <a:off x="6556517" y="5481619"/>
            <a:ext cx="902602" cy="523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增大</a:t>
            </a:r>
            <a:endParaRPr lang="zh-CN" altLang="en-US" sz="2799" kern="10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>
            <p:custDataLst>
              <p:tags r:id="rId12"/>
            </p:custDataLst>
          </p:nvPr>
        </p:nvSpPr>
        <p:spPr>
          <a:xfrm>
            <a:off x="7943398" y="5473470"/>
            <a:ext cx="902602" cy="523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减小</a:t>
            </a:r>
            <a:endParaRPr lang="zh-CN" altLang="en-US" sz="2799" kern="10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>
            <p:custDataLst>
              <p:tags r:id="rId13"/>
            </p:custDataLst>
          </p:nvPr>
        </p:nvSpPr>
        <p:spPr>
          <a:xfrm>
            <a:off x="2568424" y="5939432"/>
            <a:ext cx="364118" cy="661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endParaRPr lang="zh-CN" altLang="zh-CN" sz="2799" kern="10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>
            <p:custDataLst>
              <p:tags r:id="rId14"/>
            </p:custDataLst>
          </p:nvPr>
        </p:nvSpPr>
        <p:spPr>
          <a:xfrm>
            <a:off x="6556516" y="6037809"/>
            <a:ext cx="902602" cy="523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减小</a:t>
            </a:r>
            <a:endParaRPr lang="zh-CN" altLang="en-US" sz="2799" kern="10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>
            <p:custDataLst>
              <p:tags r:id="rId15"/>
            </p:custDataLst>
          </p:nvPr>
        </p:nvSpPr>
        <p:spPr>
          <a:xfrm>
            <a:off x="9296905" y="6053124"/>
            <a:ext cx="902602" cy="523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最大</a:t>
            </a:r>
            <a:endParaRPr lang="zh-CN" altLang="en-US" sz="2799" kern="10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>
            <p:custDataLst>
              <p:tags r:id="rId16"/>
            </p:custDataLst>
          </p:nvPr>
        </p:nvSpPr>
        <p:spPr>
          <a:xfrm>
            <a:off x="10775437" y="6082835"/>
            <a:ext cx="902602" cy="523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减小</a:t>
            </a:r>
            <a:endParaRPr lang="zh-CN" altLang="en-US" sz="2799" kern="10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A63FEBC-B65D-408A-95AD-10F64A890B4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0"/>
          <a:srcRect t="17217" r="7899" b="27681"/>
          <a:stretch>
            <a:fillRect/>
          </a:stretch>
        </p:blipFill>
        <p:spPr>
          <a:xfrm>
            <a:off x="2055073" y="2222272"/>
            <a:ext cx="4132357" cy="142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4607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391321" y="909303"/>
            <a:ext cx="11391995" cy="4615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2.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多选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如图所示为获取弹簧振子的位移</a:t>
            </a: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—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时间图像的一种方法，改变纸带运动的速度，下列说法正确的是</a:t>
            </a:r>
            <a:r>
              <a:rPr lang="zh-CN" altLang="zh-CN" sz="2799" kern="100">
                <a:latin typeface="宋体" panose="02010600030101010101" pitchFamily="2" charset="-122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endParaRPr lang="zh-CN" altLang="zh-CN" sz="1050" kern="10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A.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如果纸带不动，作出的振动图像仍然是正弦</a:t>
            </a:r>
            <a:endParaRPr lang="en-US" altLang="zh-CN" sz="2799" kern="1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函数曲线</a:t>
            </a:r>
            <a:endParaRPr lang="zh-CN" altLang="zh-CN" sz="1050" kern="10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B.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如果纸带不动，作出的振动图像是一段线段</a:t>
            </a:r>
            <a:endParaRPr lang="zh-CN" altLang="zh-CN" sz="1050" kern="10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C.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图示时刻，振子正经过平衡位置向右运动</a:t>
            </a:r>
            <a:endParaRPr lang="zh-CN" altLang="zh-CN" sz="1050" kern="10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D.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若纸带运动的速度不恒定，则纸带上描出的仍然是简谐运动的图像</a:t>
            </a:r>
            <a:endParaRPr lang="zh-CN" altLang="zh-CN" sz="1050" kern="10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2" name="TextBox 14"/>
          <p:cNvSpPr txBox="1"/>
          <p:nvPr>
            <p:custDataLst>
              <p:tags r:id="rId2"/>
            </p:custDataLst>
          </p:nvPr>
        </p:nvSpPr>
        <p:spPr>
          <a:xfrm>
            <a:off x="255179" y="3500992"/>
            <a:ext cx="657540" cy="784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99" b="1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√</a:t>
            </a:r>
          </a:p>
        </p:txBody>
      </p:sp>
      <p:sp>
        <p:nvSpPr>
          <p:cNvPr id="13" name="TextBox 14"/>
          <p:cNvSpPr txBox="1"/>
          <p:nvPr>
            <p:custDataLst>
              <p:tags r:id="rId3"/>
            </p:custDataLst>
          </p:nvPr>
        </p:nvSpPr>
        <p:spPr>
          <a:xfrm>
            <a:off x="255179" y="4123519"/>
            <a:ext cx="657540" cy="784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99" b="1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√</a:t>
            </a:r>
          </a:p>
        </p:txBody>
      </p:sp>
      <p:pic>
        <p:nvPicPr>
          <p:cNvPr id="314370" name="Picture 2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43705" y="1949743"/>
            <a:ext cx="2995573" cy="2703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26646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A17BD7-F7B5-447C-A2FA-B99AE964E9D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84273" y="405364"/>
            <a:ext cx="11409359" cy="1956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3.(2023·</a:t>
            </a:r>
            <a:r>
              <a:rPr lang="zh-CN" altLang="zh-CN" sz="2799" kern="100"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云南师大附中高二下期中</a:t>
            </a:r>
            <a:r>
              <a:rPr lang="en-US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如图所示，滑块在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之间做简谐运动。以平衡位置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为原点，建立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Ox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轴，向右为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轴正方向。若滑块位于</a:t>
            </a:r>
            <a:r>
              <a:rPr lang="en-US" altLang="zh-CN" sz="2799" i="1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zh-CN" sz="2799" kern="1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点时开始计时，则其振动图像为</a:t>
            </a: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01EDB76D-132B-4F00-9159-D6E891C349ED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00196" y="2387580"/>
            <a:ext cx="5391608" cy="983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2CA8795D-136B-417C-A8D6-36119391221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01302" y="3575794"/>
            <a:ext cx="10789397" cy="1896523"/>
            <a:chOff x="716707" y="3216582"/>
            <a:chExt cx="10791895" cy="1896962"/>
          </a:xfrm>
        </p:grpSpPr>
        <p:pic>
          <p:nvPicPr>
            <p:cNvPr id="5" name="Picture 8" descr="2-10">
              <a:extLst>
                <a:ext uri="{FF2B5EF4-FFF2-40B4-BE49-F238E27FC236}">
                  <a16:creationId xmlns:a16="http://schemas.microsoft.com/office/drawing/2014/main" id="{0FDF5935-1564-4196-B373-2EA7F1F2304B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16707" y="3216582"/>
              <a:ext cx="5053356" cy="1896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9" descr="2-11">
              <a:extLst>
                <a:ext uri="{FF2B5EF4-FFF2-40B4-BE49-F238E27FC236}">
                  <a16:creationId xmlns:a16="http://schemas.microsoft.com/office/drawing/2014/main" id="{E8D50FEF-BA41-47C8-8ECC-A10FCD0A28B2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455246" y="3251572"/>
              <a:ext cx="5053356" cy="1861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TextBox 19">
            <a:extLst>
              <a:ext uri="{FF2B5EF4-FFF2-40B4-BE49-F238E27FC236}">
                <a16:creationId xmlns:a16="http://schemas.microsoft.com/office/drawing/2014/main" id="{8C9A2421-36AC-4DEA-B1AE-B0E0BC501FC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35049" y="4948075"/>
            <a:ext cx="755923" cy="784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896"/>
            <a:r>
              <a:rPr lang="zh-CN" altLang="en-US" sz="4499" b="1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√</a:t>
            </a:r>
          </a:p>
        </p:txBody>
      </p:sp>
    </p:spTree>
    <p:extLst>
      <p:ext uri="{BB962C8B-B14F-4D97-AF65-F5344CB8AC3E}">
        <p14:creationId xmlns:p14="http://schemas.microsoft.com/office/powerpoint/2010/main" val="27690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E7AF-7307-477D-B60D-CB40C06FF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CN" dirty="0"/>
              <a:t>已知弹簧振子的x-t图像</a:t>
            </a:r>
            <a:r>
              <a:rPr lang="zh-CN" altLang="en-US" dirty="0"/>
              <a:t>，则它的</a:t>
            </a:r>
            <a:r>
              <a:rPr lang="en-US" altLang="zh-CN" dirty="0"/>
              <a:t>v-t, a-t, F-x</a:t>
            </a:r>
            <a:r>
              <a:rPr lang="zh-CN" altLang="en-US" dirty="0"/>
              <a:t>图像分别是怎样的？</a:t>
            </a:r>
            <a:endParaRPr lang="en-CN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8ED0AFCA-233A-7863-5416-4B3EFABF915A}"/>
              </a:ext>
            </a:extLst>
          </p:cNvPr>
          <p:cNvPicPr>
            <a:picLocks noGrp="1" noChangeAspect="1" noChangeArrowheads="1"/>
          </p:cNvPicPr>
          <p:nvPr>
            <p:ph idx="1"/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3041747"/>
            <a:ext cx="10515600" cy="191909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93905F-A8AB-1A81-9682-F4EE7E863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6060" y="1619347"/>
            <a:ext cx="2433135" cy="191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74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8B91-4821-17A5-6C66-850D6D99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他的v-t图像是怎样的</a:t>
            </a:r>
            <a:r>
              <a:rPr lang="zh-CN" altLang="en-US" dirty="0"/>
              <a:t>？</a:t>
            </a:r>
            <a:endParaRPr lang="en-C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AE3C11-0B0E-FA4C-8310-AC027A6969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283" y="2241953"/>
            <a:ext cx="6255434" cy="351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857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7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7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8"/>
  <p:tag name="KSO_WM_UNIT_PLACING_PICTURE_USER_VIEWPORT" val="{&quot;height&quot;:2846,&quot;width&quot;:457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6"/>
  <p:tag name="KSO_WM_UNIT_FILL_FORE_SCHEMECOLOR_INDEX_1" val="16"/>
  <p:tag name="KSO_WM_UNIT_FILL_FORE_SCHEMECOLOR_INDEX_1_BRIGHTNESS" val="0"/>
  <p:tag name="KSO_WM_UNIT_FILL_FORE_SCHEMECOLOR_INDEX_1_POS" val="0"/>
  <p:tag name="KSO_WM_UNIT_FILL_FORE_SCHEMECOLOR_INDEX_1_TRANS" val="0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"/>
  <p:tag name="KSO_WM_UNIT_PLACING_PICTURE_USER_VIEWPORT" val="{&quot;height&quot;:6212,&quot;width&quot;:315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9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9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9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6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8B9FEED-8146-4839-8053-D9880E4F147B}" vid="{01A7EF7B-974A-4C72-8CCA-666A79B3FF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 Chinese</Template>
  <TotalTime>69</TotalTime>
  <Words>941</Words>
  <Application>Microsoft Macintosh PowerPoint</Application>
  <PresentationFormat>Widescreen</PresentationFormat>
  <Paragraphs>104</Paragraphs>
  <Slides>23</Slides>
  <Notes>0</Notes>
  <HiddenSlides>0</HiddenSlides>
  <MMClips>7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楷体_GB2312</vt:lpstr>
      <vt:lpstr>微软雅黑</vt:lpstr>
      <vt:lpstr>宋体</vt:lpstr>
      <vt:lpstr>华文细黑</vt:lpstr>
      <vt:lpstr>Arial</vt:lpstr>
      <vt:lpstr>Book Antiqua</vt:lpstr>
      <vt:lpstr>Times New Roman</vt:lpstr>
      <vt:lpstr>Office 主题​​</vt:lpstr>
      <vt:lpstr>简谐运动</vt:lpstr>
      <vt:lpstr>金属片的运动有什么特点？</vt:lpstr>
      <vt:lpstr>弹簧振子</vt:lpstr>
      <vt:lpstr>阻力对振动的影响</vt:lpstr>
      <vt:lpstr>如果阻力忽略不计，弹簧振子将做怎样的运动？</vt:lpstr>
      <vt:lpstr>其他弹簧振子</vt:lpstr>
      <vt:lpstr>试试对弹簧振子的运动状态进行分析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已知弹簧振子的x-t图像，则它的v-t, a-t, F-x图像分别是怎样的？</vt:lpstr>
      <vt:lpstr>他的v-t图像是怎样的？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</dc:creator>
  <cp:lastModifiedBy>Xingyu Shu</cp:lastModifiedBy>
  <cp:revision>3</cp:revision>
  <dcterms:created xsi:type="dcterms:W3CDTF">2024-09-20T08:20:47Z</dcterms:created>
  <dcterms:modified xsi:type="dcterms:W3CDTF">2026-10-12T08:33:16Z</dcterms:modified>
</cp:coreProperties>
</file>