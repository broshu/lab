
<file path=[Content_Types].xml><?xml version="1.0" encoding="utf-8"?>
<Types xmlns="http://schemas.openxmlformats.org/package/2006/content-types">
  <Default Extension="bin" ContentType="image/pn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98" r:id="rId2"/>
    <p:sldId id="299" r:id="rId3"/>
    <p:sldId id="311" r:id="rId4"/>
    <p:sldId id="301" r:id="rId5"/>
    <p:sldId id="312" r:id="rId6"/>
    <p:sldId id="344" r:id="rId7"/>
    <p:sldId id="345" r:id="rId8"/>
    <p:sldId id="346" r:id="rId9"/>
    <p:sldId id="347" r:id="rId10"/>
    <p:sldId id="348" r:id="rId11"/>
    <p:sldId id="349" r:id="rId12"/>
    <p:sldId id="313" r:id="rId13"/>
    <p:sldId id="302" r:id="rId14"/>
    <p:sldId id="315" r:id="rId15"/>
    <p:sldId id="316" r:id="rId16"/>
    <p:sldId id="317" r:id="rId17"/>
    <p:sldId id="328" r:id="rId18"/>
    <p:sldId id="318" r:id="rId19"/>
    <p:sldId id="330" r:id="rId20"/>
    <p:sldId id="331" r:id="rId21"/>
    <p:sldId id="332" r:id="rId22"/>
    <p:sldId id="333" r:id="rId23"/>
    <p:sldId id="305" r:id="rId24"/>
    <p:sldId id="319" r:id="rId25"/>
    <p:sldId id="320" r:id="rId26"/>
    <p:sldId id="334" r:id="rId27"/>
    <p:sldId id="321" r:id="rId28"/>
    <p:sldId id="322" r:id="rId29"/>
    <p:sldId id="335" r:id="rId30"/>
    <p:sldId id="336" r:id="rId31"/>
    <p:sldId id="323" r:id="rId32"/>
    <p:sldId id="337" r:id="rId33"/>
    <p:sldId id="324" r:id="rId34"/>
    <p:sldId id="338" r:id="rId35"/>
    <p:sldId id="339" r:id="rId36"/>
    <p:sldId id="325" r:id="rId37"/>
    <p:sldId id="351" r:id="rId38"/>
    <p:sldId id="352" r:id="rId39"/>
    <p:sldId id="326" r:id="rId40"/>
    <p:sldId id="340" r:id="rId41"/>
    <p:sldId id="327" r:id="rId42"/>
    <p:sldId id="341" r:id="rId43"/>
    <p:sldId id="342" r:id="rId44"/>
    <p:sldId id="343" r:id="rId45"/>
    <p:sldId id="265" r:id="rId4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D63C"/>
    <a:srgbClr val="B7E3E5"/>
    <a:srgbClr val="2595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4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216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0D7E41-FDAA-4148-A422-C3913B176212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5EB803-5943-4B22-B194-77DCF36597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638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96E7A9-759E-4F37-A7A3-84E99B66B5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3307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96E7A9-759E-4F37-A7A3-84E99B66B5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28879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6E7A9-759E-4F37-A7A3-84E99B66B55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513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6E7A9-759E-4F37-A7A3-84E99B66B55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0463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6E7A9-759E-4F37-A7A3-84E99B66B55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9479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slide" Target="../slides/slide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slide" Target="../slides/slide4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9195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>
            <a:hlinkClick r:id="rId2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26">
            <a:hlinkClick r:id="rId3" action="ppaction://hlinksldjump"/>
          </p:cNvPr>
          <p:cNvSpPr txBox="1"/>
          <p:nvPr userDrawn="1"/>
        </p:nvSpPr>
        <p:spPr>
          <a:xfrm>
            <a:off x="11519866" y="6453601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</p:spTree>
    <p:extLst>
      <p:ext uri="{BB962C8B-B14F-4D97-AF65-F5344CB8AC3E}">
        <p14:creationId xmlns:p14="http://schemas.microsoft.com/office/powerpoint/2010/main" val="818890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336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5695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hlinkClick r:id="rId2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26">
            <a:hlinkClick r:id="rId3" action="ppaction://hlinksldjump"/>
          </p:cNvPr>
          <p:cNvSpPr txBox="1"/>
          <p:nvPr userDrawn="1"/>
        </p:nvSpPr>
        <p:spPr>
          <a:xfrm>
            <a:off x="11519866" y="6453601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  <p:sp>
        <p:nvSpPr>
          <p:cNvPr id="6" name="TextBox 26"/>
          <p:cNvSpPr txBox="1"/>
          <p:nvPr userDrawn="1"/>
        </p:nvSpPr>
        <p:spPr>
          <a:xfrm>
            <a:off x="706381" y="28047"/>
            <a:ext cx="3217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物 理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·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选择性必修第一册</a:t>
            </a:r>
          </a:p>
        </p:txBody>
      </p:sp>
      <p:cxnSp>
        <p:nvCxnSpPr>
          <p:cNvPr id="7" name="直接箭头连接符 6"/>
          <p:cNvCxnSpPr/>
          <p:nvPr userDrawn="1"/>
        </p:nvCxnSpPr>
        <p:spPr>
          <a:xfrm>
            <a:off x="773038" y="366455"/>
            <a:ext cx="11377264" cy="0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 userDrawn="1"/>
        </p:nvSpPr>
        <p:spPr>
          <a:xfrm>
            <a:off x="0" y="-972"/>
            <a:ext cx="508986" cy="357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/>
              <a:ea typeface="Microsoft JhengHei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580369" y="-4354"/>
            <a:ext cx="90025" cy="357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/>
              <a:ea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9342177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566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7120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0" r:id="rId2"/>
    <p:sldLayoutId id="2147483673" r:id="rId3"/>
    <p:sldLayoutId id="2147483653" r:id="rId4"/>
    <p:sldLayoutId id="2147483651" r:id="rId5"/>
    <p:sldLayoutId id="214748367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slide" Target="slide23.xml"/><Relationship Id="rId5" Type="http://schemas.openxmlformats.org/officeDocument/2006/relationships/slide" Target="slide13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in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bin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bin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13" Type="http://schemas.openxmlformats.org/officeDocument/2006/relationships/slide" Target="slide41.xml"/><Relationship Id="rId3" Type="http://schemas.openxmlformats.org/officeDocument/2006/relationships/image" Target="../media/image14.png"/><Relationship Id="rId7" Type="http://schemas.openxmlformats.org/officeDocument/2006/relationships/slide" Target="slide27.xml"/><Relationship Id="rId12" Type="http://schemas.openxmlformats.org/officeDocument/2006/relationships/slide" Target="slide39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5.xml"/><Relationship Id="rId11" Type="http://schemas.openxmlformats.org/officeDocument/2006/relationships/slide" Target="slide36.xml"/><Relationship Id="rId5" Type="http://schemas.openxmlformats.org/officeDocument/2006/relationships/slide" Target="slide24.xml"/><Relationship Id="rId10" Type="http://schemas.openxmlformats.org/officeDocument/2006/relationships/slide" Target="slide33.xml"/><Relationship Id="rId4" Type="http://schemas.openxmlformats.org/officeDocument/2006/relationships/image" Target="../media/image12.png"/><Relationship Id="rId9" Type="http://schemas.openxmlformats.org/officeDocument/2006/relationships/slide" Target="slide3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31.xml"/><Relationship Id="rId3" Type="http://schemas.openxmlformats.org/officeDocument/2006/relationships/image" Target="../media/image16.png"/><Relationship Id="rId7" Type="http://schemas.openxmlformats.org/officeDocument/2006/relationships/slide" Target="slide28.xml"/><Relationship Id="rId12" Type="http://schemas.openxmlformats.org/officeDocument/2006/relationships/slide" Target="slide41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7.xml"/><Relationship Id="rId11" Type="http://schemas.openxmlformats.org/officeDocument/2006/relationships/slide" Target="slide39.xml"/><Relationship Id="rId5" Type="http://schemas.openxmlformats.org/officeDocument/2006/relationships/slide" Target="slide25.xml"/><Relationship Id="rId10" Type="http://schemas.openxmlformats.org/officeDocument/2006/relationships/slide" Target="slide36.xml"/><Relationship Id="rId4" Type="http://schemas.openxmlformats.org/officeDocument/2006/relationships/slide" Target="slide24.xml"/><Relationship Id="rId9" Type="http://schemas.openxmlformats.org/officeDocument/2006/relationships/slide" Target="slide3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3" Type="http://schemas.openxmlformats.org/officeDocument/2006/relationships/slide" Target="slide24.xml"/><Relationship Id="rId7" Type="http://schemas.openxmlformats.org/officeDocument/2006/relationships/slide" Target="slide31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8.xml"/><Relationship Id="rId11" Type="http://schemas.openxmlformats.org/officeDocument/2006/relationships/slide" Target="slide41.xml"/><Relationship Id="rId5" Type="http://schemas.openxmlformats.org/officeDocument/2006/relationships/slide" Target="slide27.xml"/><Relationship Id="rId10" Type="http://schemas.openxmlformats.org/officeDocument/2006/relationships/slide" Target="slide39.xml"/><Relationship Id="rId4" Type="http://schemas.openxmlformats.org/officeDocument/2006/relationships/slide" Target="slide25.xml"/><Relationship Id="rId9" Type="http://schemas.openxmlformats.org/officeDocument/2006/relationships/slide" Target="slide36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" Target="slide27.xml"/><Relationship Id="rId13" Type="http://schemas.openxmlformats.org/officeDocument/2006/relationships/slide" Target="slide39.xml"/><Relationship Id="rId3" Type="http://schemas.openxmlformats.org/officeDocument/2006/relationships/image" Target="../media/image23.png"/><Relationship Id="rId7" Type="http://schemas.openxmlformats.org/officeDocument/2006/relationships/slide" Target="slide25.xml"/><Relationship Id="rId12" Type="http://schemas.openxmlformats.org/officeDocument/2006/relationships/slide" Target="slide36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4.xml"/><Relationship Id="rId11" Type="http://schemas.openxmlformats.org/officeDocument/2006/relationships/slide" Target="slide33.xml"/><Relationship Id="rId5" Type="http://schemas.openxmlformats.org/officeDocument/2006/relationships/image" Target="../media/image22.png"/><Relationship Id="rId10" Type="http://schemas.openxmlformats.org/officeDocument/2006/relationships/slide" Target="slide31.xml"/><Relationship Id="rId4" Type="http://schemas.openxmlformats.org/officeDocument/2006/relationships/image" Target="../media/image17.png"/><Relationship Id="rId9" Type="http://schemas.openxmlformats.org/officeDocument/2006/relationships/slide" Target="slide28.xml"/><Relationship Id="rId14" Type="http://schemas.openxmlformats.org/officeDocument/2006/relationships/slide" Target="slide4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" Target="slide36.xml"/><Relationship Id="rId3" Type="http://schemas.openxmlformats.org/officeDocument/2006/relationships/slide" Target="slide25.xml"/><Relationship Id="rId7" Type="http://schemas.openxmlformats.org/officeDocument/2006/relationships/slide" Target="slide33.xml"/><Relationship Id="rId2" Type="http://schemas.openxmlformats.org/officeDocument/2006/relationships/slide" Target="slide24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1.xml"/><Relationship Id="rId5" Type="http://schemas.openxmlformats.org/officeDocument/2006/relationships/slide" Target="slide28.xml"/><Relationship Id="rId10" Type="http://schemas.openxmlformats.org/officeDocument/2006/relationships/slide" Target="slide41.xml"/><Relationship Id="rId4" Type="http://schemas.openxmlformats.org/officeDocument/2006/relationships/slide" Target="slide27.xml"/><Relationship Id="rId9" Type="http://schemas.openxmlformats.org/officeDocument/2006/relationships/slide" Target="slide39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31.xml"/><Relationship Id="rId3" Type="http://schemas.openxmlformats.org/officeDocument/2006/relationships/image" Target="../media/image18.bin"/><Relationship Id="rId7" Type="http://schemas.openxmlformats.org/officeDocument/2006/relationships/slide" Target="slide28.xml"/><Relationship Id="rId12" Type="http://schemas.openxmlformats.org/officeDocument/2006/relationships/slide" Target="slide41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7.xml"/><Relationship Id="rId11" Type="http://schemas.openxmlformats.org/officeDocument/2006/relationships/slide" Target="slide39.xml"/><Relationship Id="rId5" Type="http://schemas.openxmlformats.org/officeDocument/2006/relationships/slide" Target="slide25.xml"/><Relationship Id="rId10" Type="http://schemas.openxmlformats.org/officeDocument/2006/relationships/slide" Target="slide36.xml"/><Relationship Id="rId4" Type="http://schemas.openxmlformats.org/officeDocument/2006/relationships/slide" Target="slide24.xml"/><Relationship Id="rId9" Type="http://schemas.openxmlformats.org/officeDocument/2006/relationships/slide" Target="slide33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3" Type="http://schemas.openxmlformats.org/officeDocument/2006/relationships/slide" Target="slide24.xml"/><Relationship Id="rId7" Type="http://schemas.openxmlformats.org/officeDocument/2006/relationships/slide" Target="slide31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8.xml"/><Relationship Id="rId11" Type="http://schemas.openxmlformats.org/officeDocument/2006/relationships/slide" Target="slide41.xml"/><Relationship Id="rId5" Type="http://schemas.openxmlformats.org/officeDocument/2006/relationships/slide" Target="slide27.xml"/><Relationship Id="rId10" Type="http://schemas.openxmlformats.org/officeDocument/2006/relationships/slide" Target="slide39.xml"/><Relationship Id="rId4" Type="http://schemas.openxmlformats.org/officeDocument/2006/relationships/slide" Target="slide25.xml"/><Relationship Id="rId9" Type="http://schemas.openxmlformats.org/officeDocument/2006/relationships/slide" Target="slide36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" Target="slide36.xml"/><Relationship Id="rId3" Type="http://schemas.openxmlformats.org/officeDocument/2006/relationships/slide" Target="slide25.xml"/><Relationship Id="rId7" Type="http://schemas.openxmlformats.org/officeDocument/2006/relationships/slide" Target="slide33.xml"/><Relationship Id="rId2" Type="http://schemas.openxmlformats.org/officeDocument/2006/relationships/slide" Target="slide24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1.xml"/><Relationship Id="rId5" Type="http://schemas.openxmlformats.org/officeDocument/2006/relationships/slide" Target="slide28.xml"/><Relationship Id="rId10" Type="http://schemas.openxmlformats.org/officeDocument/2006/relationships/slide" Target="slide41.xml"/><Relationship Id="rId4" Type="http://schemas.openxmlformats.org/officeDocument/2006/relationships/slide" Target="slide27.xml"/><Relationship Id="rId9" Type="http://schemas.openxmlformats.org/officeDocument/2006/relationships/slide" Target="slide39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" Target="slide36.xml"/><Relationship Id="rId3" Type="http://schemas.openxmlformats.org/officeDocument/2006/relationships/slide" Target="slide25.xml"/><Relationship Id="rId7" Type="http://schemas.openxmlformats.org/officeDocument/2006/relationships/slide" Target="slide33.xml"/><Relationship Id="rId2" Type="http://schemas.openxmlformats.org/officeDocument/2006/relationships/slide" Target="slide24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1.xml"/><Relationship Id="rId5" Type="http://schemas.openxmlformats.org/officeDocument/2006/relationships/slide" Target="slide28.xml"/><Relationship Id="rId10" Type="http://schemas.openxmlformats.org/officeDocument/2006/relationships/slide" Target="slide41.xml"/><Relationship Id="rId4" Type="http://schemas.openxmlformats.org/officeDocument/2006/relationships/slide" Target="slide27.xml"/><Relationship Id="rId9" Type="http://schemas.openxmlformats.org/officeDocument/2006/relationships/slide" Target="slide39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3" Type="http://schemas.openxmlformats.org/officeDocument/2006/relationships/slide" Target="slide24.xml"/><Relationship Id="rId7" Type="http://schemas.openxmlformats.org/officeDocument/2006/relationships/slide" Target="slide31.xml"/><Relationship Id="rId2" Type="http://schemas.openxmlformats.org/officeDocument/2006/relationships/image" Target="../media/image19.bin"/><Relationship Id="rId1" Type="http://schemas.openxmlformats.org/officeDocument/2006/relationships/slideLayout" Target="../slideLayouts/slideLayout5.xml"/><Relationship Id="rId6" Type="http://schemas.openxmlformats.org/officeDocument/2006/relationships/slide" Target="slide28.xml"/><Relationship Id="rId11" Type="http://schemas.openxmlformats.org/officeDocument/2006/relationships/slide" Target="slide41.xml"/><Relationship Id="rId5" Type="http://schemas.openxmlformats.org/officeDocument/2006/relationships/slide" Target="slide27.xml"/><Relationship Id="rId10" Type="http://schemas.openxmlformats.org/officeDocument/2006/relationships/slide" Target="slide39.xml"/><Relationship Id="rId4" Type="http://schemas.openxmlformats.org/officeDocument/2006/relationships/slide" Target="slide25.xml"/><Relationship Id="rId9" Type="http://schemas.openxmlformats.org/officeDocument/2006/relationships/slide" Target="slide36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3" Type="http://schemas.openxmlformats.org/officeDocument/2006/relationships/slide" Target="slide24.xml"/><Relationship Id="rId7" Type="http://schemas.openxmlformats.org/officeDocument/2006/relationships/slide" Target="slide31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8.xml"/><Relationship Id="rId11" Type="http://schemas.openxmlformats.org/officeDocument/2006/relationships/slide" Target="slide41.xml"/><Relationship Id="rId5" Type="http://schemas.openxmlformats.org/officeDocument/2006/relationships/slide" Target="slide27.xml"/><Relationship Id="rId10" Type="http://schemas.openxmlformats.org/officeDocument/2006/relationships/slide" Target="slide39.xml"/><Relationship Id="rId4" Type="http://schemas.openxmlformats.org/officeDocument/2006/relationships/slide" Target="slide25.xml"/><Relationship Id="rId9" Type="http://schemas.openxmlformats.org/officeDocument/2006/relationships/slide" Target="slide36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" Target="slide36.xml"/><Relationship Id="rId3" Type="http://schemas.openxmlformats.org/officeDocument/2006/relationships/slide" Target="slide25.xml"/><Relationship Id="rId7" Type="http://schemas.openxmlformats.org/officeDocument/2006/relationships/slide" Target="slide33.xml"/><Relationship Id="rId2" Type="http://schemas.openxmlformats.org/officeDocument/2006/relationships/slide" Target="slide24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1.xml"/><Relationship Id="rId5" Type="http://schemas.openxmlformats.org/officeDocument/2006/relationships/slide" Target="slide28.xml"/><Relationship Id="rId10" Type="http://schemas.openxmlformats.org/officeDocument/2006/relationships/slide" Target="slide41.xml"/><Relationship Id="rId4" Type="http://schemas.openxmlformats.org/officeDocument/2006/relationships/slide" Target="slide27.xml"/><Relationship Id="rId9" Type="http://schemas.openxmlformats.org/officeDocument/2006/relationships/slide" Target="slide39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3" Type="http://schemas.openxmlformats.org/officeDocument/2006/relationships/slide" Target="slide24.xml"/><Relationship Id="rId7" Type="http://schemas.openxmlformats.org/officeDocument/2006/relationships/slide" Target="slide31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8.xml"/><Relationship Id="rId11" Type="http://schemas.openxmlformats.org/officeDocument/2006/relationships/slide" Target="slide41.xml"/><Relationship Id="rId5" Type="http://schemas.openxmlformats.org/officeDocument/2006/relationships/slide" Target="slide27.xml"/><Relationship Id="rId10" Type="http://schemas.openxmlformats.org/officeDocument/2006/relationships/slide" Target="slide39.xml"/><Relationship Id="rId4" Type="http://schemas.openxmlformats.org/officeDocument/2006/relationships/slide" Target="slide25.xml"/><Relationship Id="rId9" Type="http://schemas.openxmlformats.org/officeDocument/2006/relationships/slide" Target="slide36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slide" Target="slide31.xml"/><Relationship Id="rId3" Type="http://schemas.openxmlformats.org/officeDocument/2006/relationships/image" Target="../media/image22.bin"/><Relationship Id="rId7" Type="http://schemas.openxmlformats.org/officeDocument/2006/relationships/slide" Target="slide28.xml"/><Relationship Id="rId12" Type="http://schemas.openxmlformats.org/officeDocument/2006/relationships/slide" Target="slide41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7.xml"/><Relationship Id="rId11" Type="http://schemas.openxmlformats.org/officeDocument/2006/relationships/slide" Target="slide39.xml"/><Relationship Id="rId5" Type="http://schemas.openxmlformats.org/officeDocument/2006/relationships/slide" Target="slide25.xml"/><Relationship Id="rId10" Type="http://schemas.openxmlformats.org/officeDocument/2006/relationships/slide" Target="slide36.xml"/><Relationship Id="rId4" Type="http://schemas.openxmlformats.org/officeDocument/2006/relationships/slide" Target="slide24.xml"/><Relationship Id="rId9" Type="http://schemas.openxmlformats.org/officeDocument/2006/relationships/slide" Target="slide33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3" Type="http://schemas.openxmlformats.org/officeDocument/2006/relationships/slide" Target="slide24.xml"/><Relationship Id="rId7" Type="http://schemas.openxmlformats.org/officeDocument/2006/relationships/slide" Target="slide31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8.xml"/><Relationship Id="rId11" Type="http://schemas.openxmlformats.org/officeDocument/2006/relationships/slide" Target="slide41.xml"/><Relationship Id="rId5" Type="http://schemas.openxmlformats.org/officeDocument/2006/relationships/slide" Target="slide27.xml"/><Relationship Id="rId10" Type="http://schemas.openxmlformats.org/officeDocument/2006/relationships/slide" Target="slide39.xml"/><Relationship Id="rId4" Type="http://schemas.openxmlformats.org/officeDocument/2006/relationships/slide" Target="slide25.xml"/><Relationship Id="rId9" Type="http://schemas.openxmlformats.org/officeDocument/2006/relationships/slide" Target="slide36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3" Type="http://schemas.openxmlformats.org/officeDocument/2006/relationships/slide" Target="slide24.xml"/><Relationship Id="rId7" Type="http://schemas.openxmlformats.org/officeDocument/2006/relationships/slide" Target="slide31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8.xml"/><Relationship Id="rId11" Type="http://schemas.openxmlformats.org/officeDocument/2006/relationships/slide" Target="slide41.xml"/><Relationship Id="rId5" Type="http://schemas.openxmlformats.org/officeDocument/2006/relationships/slide" Target="slide27.xml"/><Relationship Id="rId10" Type="http://schemas.openxmlformats.org/officeDocument/2006/relationships/slide" Target="slide39.xml"/><Relationship Id="rId4" Type="http://schemas.openxmlformats.org/officeDocument/2006/relationships/slide" Target="slide25.xml"/><Relationship Id="rId9" Type="http://schemas.openxmlformats.org/officeDocument/2006/relationships/slide" Target="slide36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slide" Target="slide36.xml"/><Relationship Id="rId3" Type="http://schemas.openxmlformats.org/officeDocument/2006/relationships/slide" Target="slide25.xml"/><Relationship Id="rId7" Type="http://schemas.openxmlformats.org/officeDocument/2006/relationships/slide" Target="slide33.xml"/><Relationship Id="rId2" Type="http://schemas.openxmlformats.org/officeDocument/2006/relationships/slide" Target="slide24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1.xml"/><Relationship Id="rId5" Type="http://schemas.openxmlformats.org/officeDocument/2006/relationships/slide" Target="slide28.xml"/><Relationship Id="rId10" Type="http://schemas.openxmlformats.org/officeDocument/2006/relationships/slide" Target="slide41.xml"/><Relationship Id="rId4" Type="http://schemas.openxmlformats.org/officeDocument/2006/relationships/slide" Target="slide27.xml"/><Relationship Id="rId9" Type="http://schemas.openxmlformats.org/officeDocument/2006/relationships/slide" Target="slide39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3" Type="http://schemas.openxmlformats.org/officeDocument/2006/relationships/slide" Target="slide24.xml"/><Relationship Id="rId7" Type="http://schemas.openxmlformats.org/officeDocument/2006/relationships/slide" Target="slide31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8.xml"/><Relationship Id="rId11" Type="http://schemas.openxmlformats.org/officeDocument/2006/relationships/slide" Target="slide41.xml"/><Relationship Id="rId5" Type="http://schemas.openxmlformats.org/officeDocument/2006/relationships/slide" Target="slide27.xml"/><Relationship Id="rId10" Type="http://schemas.openxmlformats.org/officeDocument/2006/relationships/slide" Target="slide39.xml"/><Relationship Id="rId4" Type="http://schemas.openxmlformats.org/officeDocument/2006/relationships/slide" Target="slide25.xml"/><Relationship Id="rId9" Type="http://schemas.openxmlformats.org/officeDocument/2006/relationships/slide" Target="slide36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3" Type="http://schemas.openxmlformats.org/officeDocument/2006/relationships/slide" Target="slide24.xml"/><Relationship Id="rId7" Type="http://schemas.openxmlformats.org/officeDocument/2006/relationships/slide" Target="slide31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8.xml"/><Relationship Id="rId11" Type="http://schemas.openxmlformats.org/officeDocument/2006/relationships/slide" Target="slide41.xml"/><Relationship Id="rId5" Type="http://schemas.openxmlformats.org/officeDocument/2006/relationships/slide" Target="slide27.xml"/><Relationship Id="rId10" Type="http://schemas.openxmlformats.org/officeDocument/2006/relationships/slide" Target="slide39.xml"/><Relationship Id="rId4" Type="http://schemas.openxmlformats.org/officeDocument/2006/relationships/slide" Target="slide25.xml"/><Relationship Id="rId9" Type="http://schemas.openxmlformats.org/officeDocument/2006/relationships/slide" Target="slide36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slide" Target="slide36.xml"/><Relationship Id="rId3" Type="http://schemas.openxmlformats.org/officeDocument/2006/relationships/slide" Target="slide25.xml"/><Relationship Id="rId7" Type="http://schemas.openxmlformats.org/officeDocument/2006/relationships/slide" Target="slide33.xml"/><Relationship Id="rId2" Type="http://schemas.openxmlformats.org/officeDocument/2006/relationships/slide" Target="slide24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1.xml"/><Relationship Id="rId5" Type="http://schemas.openxmlformats.org/officeDocument/2006/relationships/slide" Target="slide28.xml"/><Relationship Id="rId10" Type="http://schemas.openxmlformats.org/officeDocument/2006/relationships/slide" Target="slide41.xml"/><Relationship Id="rId4" Type="http://schemas.openxmlformats.org/officeDocument/2006/relationships/slide" Target="slide27.xml"/><Relationship Id="rId9" Type="http://schemas.openxmlformats.org/officeDocument/2006/relationships/slide" Target="slide39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3" Type="http://schemas.openxmlformats.org/officeDocument/2006/relationships/slide" Target="slide24.xml"/><Relationship Id="rId7" Type="http://schemas.openxmlformats.org/officeDocument/2006/relationships/slide" Target="slide31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8.xml"/><Relationship Id="rId11" Type="http://schemas.openxmlformats.org/officeDocument/2006/relationships/slide" Target="slide41.xml"/><Relationship Id="rId5" Type="http://schemas.openxmlformats.org/officeDocument/2006/relationships/slide" Target="slide27.xml"/><Relationship Id="rId10" Type="http://schemas.openxmlformats.org/officeDocument/2006/relationships/slide" Target="slide39.xml"/><Relationship Id="rId4" Type="http://schemas.openxmlformats.org/officeDocument/2006/relationships/slide" Target="slide25.xml"/><Relationship Id="rId9" Type="http://schemas.openxmlformats.org/officeDocument/2006/relationships/slide" Target="slide36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slide" Target="slide31.xml"/><Relationship Id="rId3" Type="http://schemas.openxmlformats.org/officeDocument/2006/relationships/image" Target="../media/image29.png"/><Relationship Id="rId7" Type="http://schemas.openxmlformats.org/officeDocument/2006/relationships/slide" Target="slide28.xml"/><Relationship Id="rId12" Type="http://schemas.openxmlformats.org/officeDocument/2006/relationships/slide" Target="slide4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7.xml"/><Relationship Id="rId11" Type="http://schemas.openxmlformats.org/officeDocument/2006/relationships/slide" Target="slide39.xml"/><Relationship Id="rId5" Type="http://schemas.openxmlformats.org/officeDocument/2006/relationships/slide" Target="slide25.xml"/><Relationship Id="rId10" Type="http://schemas.openxmlformats.org/officeDocument/2006/relationships/slide" Target="slide36.xml"/><Relationship Id="rId4" Type="http://schemas.openxmlformats.org/officeDocument/2006/relationships/slide" Target="slide24.xml"/><Relationship Id="rId9" Type="http://schemas.openxmlformats.org/officeDocument/2006/relationships/slide" Target="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YTSlide_13_1_0.9_1.3_0.9_1.1__1_1_0_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368" y="-434907"/>
            <a:ext cx="7614606" cy="7614606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0" y="2716370"/>
            <a:ext cx="12192000" cy="1569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79400" sx="99000" sy="99000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77119" y="1745951"/>
            <a:ext cx="9970638" cy="343751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317500" dist="38100" dir="5400000" sx="101000" sy="10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TextBox 2"/>
          <p:cNvSpPr txBox="1"/>
          <p:nvPr/>
        </p:nvSpPr>
        <p:spPr>
          <a:xfrm>
            <a:off x="0" y="2808355"/>
            <a:ext cx="12192000" cy="147732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专题强化1　应用动量定理处理多过程</a:t>
            </a:r>
            <a:endParaRPr kumimoji="0" lang="en-US" altLang="zh-CN" sz="4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和流体类问题</a:t>
            </a:r>
          </a:p>
        </p:txBody>
      </p:sp>
      <p:sp>
        <p:nvSpPr>
          <p:cNvPr id="10" name="TextBox 2"/>
          <p:cNvSpPr txBox="1"/>
          <p:nvPr/>
        </p:nvSpPr>
        <p:spPr>
          <a:xfrm>
            <a:off x="1044243" y="2000328"/>
            <a:ext cx="3448050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第一章  动量守恒定律</a:t>
            </a:r>
          </a:p>
        </p:txBody>
      </p:sp>
    </p:spTree>
    <p:extLst>
      <p:ext uri="{BB962C8B-B14F-4D97-AF65-F5344CB8AC3E}">
        <p14:creationId xmlns:p14="http://schemas.microsoft.com/office/powerpoint/2010/main" val="2464074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doors dir="vert"/>
      </p:transition>
    </mc:Choice>
    <mc:Fallback xmlns="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0.31666 L 1.45833E-6 -2.59259E-6 " pathEditMode="relative" rAng="0" ptsTypes="AA">
                                      <p:cBhvr>
                                        <p:cTn id="18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75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25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6" grpId="0" animBg="1"/>
      <p:bldP spid="6" grpId="1" animBg="1"/>
      <p:bldP spid="9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矩形 108"/>
          <p:cNvSpPr/>
          <p:nvPr/>
        </p:nvSpPr>
        <p:spPr>
          <a:xfrm>
            <a:off x="0" y="0"/>
            <a:ext cx="12192000" cy="11303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endParaRPr lang="zh-CN" altLang="en-US" dirty="0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9002511" y="-291475"/>
            <a:ext cx="3127779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>
              <a:lnSpc>
                <a:spcPct val="200000"/>
              </a:lnSpc>
            </a:pPr>
            <a:r>
              <a:rPr lang="zh-CN" altLang="en-US" sz="35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目 录  </a:t>
            </a:r>
            <a:r>
              <a:rPr lang="en-US" altLang="zh-CN" sz="4400" b="1" dirty="0">
                <a:gradFill>
                  <a:gsLst>
                    <a:gs pos="100000">
                      <a:prstClr val="white">
                        <a:alpha val="18000"/>
                      </a:prstClr>
                    </a:gs>
                    <a:gs pos="0">
                      <a:prstClr val="white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</a:t>
            </a:r>
            <a:r>
              <a:rPr lang="en-US" altLang="zh-CN" sz="2000" b="1" dirty="0">
                <a:gradFill>
                  <a:gsLst>
                    <a:gs pos="100000">
                      <a:prstClr val="white">
                        <a:alpha val="18000"/>
                      </a:prstClr>
                    </a:gs>
                    <a:gs pos="0">
                      <a:prstClr val="white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ONTENTS</a:t>
            </a:r>
            <a:endParaRPr lang="zh-CN" altLang="en-US" sz="2000" b="1" dirty="0">
              <a:gradFill>
                <a:gsLst>
                  <a:gs pos="100000">
                    <a:prstClr val="white">
                      <a:alpha val="18000"/>
                    </a:prstClr>
                  </a:gs>
                  <a:gs pos="0">
                    <a:prstClr val="white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38" name="组合 137"/>
          <p:cNvGrpSpPr/>
          <p:nvPr/>
        </p:nvGrpSpPr>
        <p:grpSpPr>
          <a:xfrm>
            <a:off x="1308360" y="2777225"/>
            <a:ext cx="774083" cy="774363"/>
            <a:chOff x="925104" y="1199848"/>
            <a:chExt cx="914281" cy="914612"/>
          </a:xfrm>
        </p:grpSpPr>
        <p:sp>
          <p:nvSpPr>
            <p:cNvPr id="139" name="Rounded Rectangle 4"/>
            <p:cNvSpPr/>
            <p:nvPr/>
          </p:nvSpPr>
          <p:spPr>
            <a:xfrm>
              <a:off x="925104" y="1199848"/>
              <a:ext cx="914281" cy="914612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212215"/>
              <a:endParaRPr lang="en-GB" sz="3135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140" name="Group 80"/>
            <p:cNvGrpSpPr/>
            <p:nvPr/>
          </p:nvGrpSpPr>
          <p:grpSpPr>
            <a:xfrm>
              <a:off x="1222721" y="1424531"/>
              <a:ext cx="319046" cy="465246"/>
              <a:chOff x="3582988" y="3510757"/>
              <a:chExt cx="319088" cy="465138"/>
            </a:xfrm>
            <a:solidFill>
              <a:schemeClr val="bg2"/>
            </a:solidFill>
          </p:grpSpPr>
          <p:sp>
            <p:nvSpPr>
              <p:cNvPr id="141" name="AutoShape 113"/>
              <p:cNvSpPr/>
              <p:nvPr/>
            </p:nvSpPr>
            <p:spPr bwMode="auto">
              <a:xfrm>
                <a:off x="3582988" y="3510757"/>
                <a:ext cx="319088" cy="46513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5386" y="14175"/>
                    </a:moveTo>
                    <a:lnTo>
                      <a:pt x="6223" y="14175"/>
                    </a:lnTo>
                    <a:cubicBezTo>
                      <a:pt x="5734" y="13446"/>
                      <a:pt x="5147" y="12716"/>
                      <a:pt x="4568" y="12003"/>
                    </a:cubicBezTo>
                    <a:cubicBezTo>
                      <a:pt x="3287" y="10427"/>
                      <a:pt x="1963" y="8797"/>
                      <a:pt x="1963" y="7425"/>
                    </a:cubicBezTo>
                    <a:cubicBezTo>
                      <a:pt x="1963" y="4075"/>
                      <a:pt x="5927" y="1350"/>
                      <a:pt x="10800" y="1350"/>
                    </a:cubicBezTo>
                    <a:cubicBezTo>
                      <a:pt x="15672" y="1350"/>
                      <a:pt x="19636" y="4075"/>
                      <a:pt x="19636" y="7425"/>
                    </a:cubicBezTo>
                    <a:cubicBezTo>
                      <a:pt x="19636" y="8787"/>
                      <a:pt x="18312" y="10425"/>
                      <a:pt x="17029" y="12011"/>
                    </a:cubicBezTo>
                    <a:cubicBezTo>
                      <a:pt x="16455" y="12723"/>
                      <a:pt x="15873" y="13449"/>
                      <a:pt x="15386" y="14175"/>
                    </a:cubicBezTo>
                    <a:moveTo>
                      <a:pt x="10800" y="20249"/>
                    </a:moveTo>
                    <a:cubicBezTo>
                      <a:pt x="9805" y="20249"/>
                      <a:pt x="9347" y="20171"/>
                      <a:pt x="8839" y="19406"/>
                    </a:cubicBezTo>
                    <a:lnTo>
                      <a:pt x="13000" y="19048"/>
                    </a:lnTo>
                    <a:cubicBezTo>
                      <a:pt x="12398" y="20164"/>
                      <a:pt x="11959" y="20249"/>
                      <a:pt x="10800" y="20249"/>
                    </a:cubicBezTo>
                    <a:moveTo>
                      <a:pt x="7595" y="16813"/>
                    </a:moveTo>
                    <a:cubicBezTo>
                      <a:pt x="7417" y="16407"/>
                      <a:pt x="7215" y="15978"/>
                      <a:pt x="6991" y="15525"/>
                    </a:cubicBezTo>
                    <a:lnTo>
                      <a:pt x="14616" y="15525"/>
                    </a:lnTo>
                    <a:cubicBezTo>
                      <a:pt x="14496" y="15767"/>
                      <a:pt x="14375" y="16010"/>
                      <a:pt x="14270" y="16239"/>
                    </a:cubicBezTo>
                    <a:cubicBezTo>
                      <a:pt x="14270" y="16239"/>
                      <a:pt x="7595" y="16813"/>
                      <a:pt x="7595" y="16813"/>
                    </a:cubicBezTo>
                    <a:close/>
                    <a:moveTo>
                      <a:pt x="13345" y="18343"/>
                    </a:moveTo>
                    <a:lnTo>
                      <a:pt x="8476" y="18762"/>
                    </a:lnTo>
                    <a:cubicBezTo>
                      <a:pt x="8303" y="18416"/>
                      <a:pt x="8116" y="18011"/>
                      <a:pt x="7890" y="17483"/>
                    </a:cubicBezTo>
                    <a:cubicBezTo>
                      <a:pt x="7887" y="17477"/>
                      <a:pt x="7883" y="17469"/>
                      <a:pt x="7881" y="17462"/>
                    </a:cubicBezTo>
                    <a:lnTo>
                      <a:pt x="13957" y="16941"/>
                    </a:lnTo>
                    <a:cubicBezTo>
                      <a:pt x="13871" y="17140"/>
                      <a:pt x="13778" y="17350"/>
                      <a:pt x="13698" y="17537"/>
                    </a:cubicBezTo>
                    <a:cubicBezTo>
                      <a:pt x="13569" y="17841"/>
                      <a:pt x="13453" y="18104"/>
                      <a:pt x="13345" y="18343"/>
                    </a:cubicBezTo>
                    <a:moveTo>
                      <a:pt x="10800" y="0"/>
                    </a:moveTo>
                    <a:cubicBezTo>
                      <a:pt x="4835" y="0"/>
                      <a:pt x="0" y="3324"/>
                      <a:pt x="0" y="7425"/>
                    </a:cubicBezTo>
                    <a:cubicBezTo>
                      <a:pt x="0" y="10146"/>
                      <a:pt x="3621" y="13029"/>
                      <a:pt x="4939" y="15562"/>
                    </a:cubicBezTo>
                    <a:cubicBezTo>
                      <a:pt x="6906" y="19339"/>
                      <a:pt x="6688" y="21599"/>
                      <a:pt x="10800" y="21599"/>
                    </a:cubicBezTo>
                    <a:cubicBezTo>
                      <a:pt x="14972" y="21599"/>
                      <a:pt x="14692" y="19349"/>
                      <a:pt x="16660" y="15577"/>
                    </a:cubicBezTo>
                    <a:cubicBezTo>
                      <a:pt x="17983" y="13039"/>
                      <a:pt x="21600" y="10124"/>
                      <a:pt x="21600" y="7425"/>
                    </a:cubicBezTo>
                    <a:cubicBezTo>
                      <a:pt x="21600" y="3324"/>
                      <a:pt x="16764" y="0"/>
                      <a:pt x="10800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3890" tIns="23890" rIns="23890" bIns="23890" anchor="ctr"/>
              <a:lstStyle/>
              <a:p>
                <a:pPr algn="ctr" defTabSz="286385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385">
                  <a:solidFill>
                    <a:srgbClr val="6C6C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42" name="AutoShape 114"/>
              <p:cNvSpPr/>
              <p:nvPr/>
            </p:nvSpPr>
            <p:spPr bwMode="auto">
              <a:xfrm>
                <a:off x="3655219" y="3583782"/>
                <a:ext cx="94456" cy="94456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938" y="0"/>
                    </a:moveTo>
                    <a:cubicBezTo>
                      <a:pt x="8943" y="0"/>
                      <a:pt x="0" y="8942"/>
                      <a:pt x="0" y="19938"/>
                    </a:cubicBezTo>
                    <a:cubicBezTo>
                      <a:pt x="0" y="20855"/>
                      <a:pt x="743" y="21600"/>
                      <a:pt x="1661" y="21600"/>
                    </a:cubicBezTo>
                    <a:cubicBezTo>
                      <a:pt x="2579" y="21600"/>
                      <a:pt x="3323" y="20855"/>
                      <a:pt x="3323" y="19938"/>
                    </a:cubicBezTo>
                    <a:cubicBezTo>
                      <a:pt x="3323" y="10777"/>
                      <a:pt x="10777" y="3323"/>
                      <a:pt x="19938" y="3323"/>
                    </a:cubicBezTo>
                    <a:cubicBezTo>
                      <a:pt x="20856" y="3323"/>
                      <a:pt x="21600" y="2578"/>
                      <a:pt x="21600" y="1661"/>
                    </a:cubicBezTo>
                    <a:cubicBezTo>
                      <a:pt x="21600" y="744"/>
                      <a:pt x="20856" y="0"/>
                      <a:pt x="19938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3890" tIns="23890" rIns="23890" bIns="23890" anchor="ctr"/>
              <a:lstStyle/>
              <a:p>
                <a:pPr algn="ctr" defTabSz="286385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385">
                  <a:solidFill>
                    <a:srgbClr val="6C6C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  <p:sp>
        <p:nvSpPr>
          <p:cNvPr id="154" name="矩形 153">
            <a:hlinkClick r:id="rId3" action="ppaction://hlinksldjump"/>
          </p:cNvPr>
          <p:cNvSpPr/>
          <p:nvPr/>
        </p:nvSpPr>
        <p:spPr>
          <a:xfrm>
            <a:off x="2451905" y="3010927"/>
            <a:ext cx="4093752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强化点一  应用动量定理处理多过程问题</a:t>
            </a:r>
          </a:p>
        </p:txBody>
      </p:sp>
      <p:pic>
        <p:nvPicPr>
          <p:cNvPr id="159" name="图片 158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5688" y="3551588"/>
            <a:ext cx="4448412" cy="4448412"/>
          </a:xfrm>
          <a:prstGeom prst="rect">
            <a:avLst/>
          </a:prstGeom>
        </p:spPr>
      </p:pic>
      <p:grpSp>
        <p:nvGrpSpPr>
          <p:cNvPr id="196" name="组合 195"/>
          <p:cNvGrpSpPr/>
          <p:nvPr/>
        </p:nvGrpSpPr>
        <p:grpSpPr>
          <a:xfrm>
            <a:off x="1290717" y="4266688"/>
            <a:ext cx="774083" cy="774363"/>
            <a:chOff x="911036" y="2590077"/>
            <a:chExt cx="914281" cy="914612"/>
          </a:xfrm>
        </p:grpSpPr>
        <p:sp>
          <p:nvSpPr>
            <p:cNvPr id="197" name="Rounded Rectangle 5"/>
            <p:cNvSpPr/>
            <p:nvPr/>
          </p:nvSpPr>
          <p:spPr>
            <a:xfrm>
              <a:off x="911036" y="2590077"/>
              <a:ext cx="914281" cy="914612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212215"/>
              <a:endParaRPr lang="en-GB" sz="3135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198" name="Group 59"/>
            <p:cNvGrpSpPr/>
            <p:nvPr/>
          </p:nvGrpSpPr>
          <p:grpSpPr>
            <a:xfrm>
              <a:off x="1136034" y="2814760"/>
              <a:ext cx="464284" cy="465246"/>
              <a:chOff x="9145588" y="4435475"/>
              <a:chExt cx="464344" cy="465138"/>
            </a:xfrm>
            <a:solidFill>
              <a:schemeClr val="bg2"/>
            </a:solidFill>
          </p:grpSpPr>
          <p:sp>
            <p:nvSpPr>
              <p:cNvPr id="199" name="AutoShape 7"/>
              <p:cNvSpPr/>
              <p:nvPr/>
            </p:nvSpPr>
            <p:spPr bwMode="auto">
              <a:xfrm>
                <a:off x="9145588" y="4435475"/>
                <a:ext cx="464344" cy="465138"/>
              </a:xfrm>
              <a:custGeom>
                <a:avLst/>
                <a:gdLst>
                  <a:gd name="T0" fmla="+- 0 10800 1271"/>
                  <a:gd name="T1" fmla="*/ T0 w 19058"/>
                  <a:gd name="T2" fmla="+- 0 10799 1270"/>
                  <a:gd name="T3" fmla="*/ 10799 h 19059"/>
                  <a:gd name="T4" fmla="+- 0 10800 1271"/>
                  <a:gd name="T5" fmla="*/ T4 w 19058"/>
                  <a:gd name="T6" fmla="+- 0 10799 1270"/>
                  <a:gd name="T7" fmla="*/ 10799 h 19059"/>
                  <a:gd name="T8" fmla="+- 0 10800 1271"/>
                  <a:gd name="T9" fmla="*/ T8 w 19058"/>
                  <a:gd name="T10" fmla="+- 0 10799 1270"/>
                  <a:gd name="T11" fmla="*/ 10799 h 19059"/>
                  <a:gd name="T12" fmla="+- 0 10800 1271"/>
                  <a:gd name="T13" fmla="*/ T12 w 19058"/>
                  <a:gd name="T14" fmla="+- 0 10799 1270"/>
                  <a:gd name="T15" fmla="*/ 10799 h 1905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058" h="19059">
                    <a:moveTo>
                      <a:pt x="6430" y="17268"/>
                    </a:moveTo>
                    <a:cubicBezTo>
                      <a:pt x="2162" y="15559"/>
                      <a:pt x="82" y="10698"/>
                      <a:pt x="1790" y="6431"/>
                    </a:cubicBezTo>
                    <a:cubicBezTo>
                      <a:pt x="3499" y="2164"/>
                      <a:pt x="8360" y="81"/>
                      <a:pt x="12627" y="1791"/>
                    </a:cubicBezTo>
                    <a:cubicBezTo>
                      <a:pt x="16894" y="3499"/>
                      <a:pt x="18975" y="8361"/>
                      <a:pt x="17267" y="12628"/>
                    </a:cubicBezTo>
                    <a:cubicBezTo>
                      <a:pt x="15558" y="16895"/>
                      <a:pt x="10696" y="18976"/>
                      <a:pt x="6430" y="17268"/>
                    </a:cubicBezTo>
                    <a:moveTo>
                      <a:pt x="13070" y="685"/>
                    </a:moveTo>
                    <a:cubicBezTo>
                      <a:pt x="8186" y="-1270"/>
                      <a:pt x="2641" y="1103"/>
                      <a:pt x="685" y="5987"/>
                    </a:cubicBezTo>
                    <a:cubicBezTo>
                      <a:pt x="-1271" y="10872"/>
                      <a:pt x="1103" y="16418"/>
                      <a:pt x="5987" y="18373"/>
                    </a:cubicBezTo>
                    <a:cubicBezTo>
                      <a:pt x="10871" y="20330"/>
                      <a:pt x="16416" y="17955"/>
                      <a:pt x="18373" y="13071"/>
                    </a:cubicBezTo>
                    <a:cubicBezTo>
                      <a:pt x="20329" y="8186"/>
                      <a:pt x="17954" y="2641"/>
                      <a:pt x="13070" y="685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3890" tIns="23890" rIns="23890" bIns="23890" anchor="ctr"/>
              <a:lstStyle/>
              <a:p>
                <a:pPr algn="ctr" defTabSz="286385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385">
                  <a:solidFill>
                    <a:srgbClr val="6C6C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00" name="AutoShape 8"/>
              <p:cNvSpPr/>
              <p:nvPr/>
            </p:nvSpPr>
            <p:spPr bwMode="auto">
              <a:xfrm>
                <a:off x="9348788" y="4638675"/>
                <a:ext cx="57944" cy="57944"/>
              </a:xfrm>
              <a:custGeom>
                <a:avLst/>
                <a:gdLst>
                  <a:gd name="T0" fmla="+- 0 10801 1272"/>
                  <a:gd name="T1" fmla="*/ T0 w 19059"/>
                  <a:gd name="T2" fmla="+- 0 10800 1272"/>
                  <a:gd name="T3" fmla="*/ 10800 h 19056"/>
                  <a:gd name="T4" fmla="+- 0 10801 1272"/>
                  <a:gd name="T5" fmla="*/ T4 w 19059"/>
                  <a:gd name="T6" fmla="+- 0 10800 1272"/>
                  <a:gd name="T7" fmla="*/ 10800 h 19056"/>
                  <a:gd name="T8" fmla="+- 0 10801 1272"/>
                  <a:gd name="T9" fmla="*/ T8 w 19059"/>
                  <a:gd name="T10" fmla="+- 0 10800 1272"/>
                  <a:gd name="T11" fmla="*/ 10800 h 19056"/>
                  <a:gd name="T12" fmla="+- 0 10801 1272"/>
                  <a:gd name="T13" fmla="*/ T12 w 19059"/>
                  <a:gd name="T14" fmla="+- 0 10800 1272"/>
                  <a:gd name="T15" fmla="*/ 10800 h 190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059" h="19056">
                    <a:moveTo>
                      <a:pt x="7753" y="13951"/>
                    </a:moveTo>
                    <a:cubicBezTo>
                      <a:pt x="5315" y="12969"/>
                      <a:pt x="4129" y="10197"/>
                      <a:pt x="5101" y="7755"/>
                    </a:cubicBezTo>
                    <a:cubicBezTo>
                      <a:pt x="6083" y="5323"/>
                      <a:pt x="8860" y="4132"/>
                      <a:pt x="11298" y="5104"/>
                    </a:cubicBezTo>
                    <a:cubicBezTo>
                      <a:pt x="13735" y="6081"/>
                      <a:pt x="14926" y="8858"/>
                      <a:pt x="13949" y="11300"/>
                    </a:cubicBezTo>
                    <a:cubicBezTo>
                      <a:pt x="12972" y="13737"/>
                      <a:pt x="10195" y="14923"/>
                      <a:pt x="7753" y="13951"/>
                    </a:cubicBezTo>
                    <a:moveTo>
                      <a:pt x="13070" y="686"/>
                    </a:moveTo>
                    <a:cubicBezTo>
                      <a:pt x="8190" y="-1272"/>
                      <a:pt x="2640" y="1104"/>
                      <a:pt x="686" y="5988"/>
                    </a:cubicBezTo>
                    <a:cubicBezTo>
                      <a:pt x="-1272" y="10872"/>
                      <a:pt x="1105" y="16416"/>
                      <a:pt x="5985" y="18369"/>
                    </a:cubicBezTo>
                    <a:cubicBezTo>
                      <a:pt x="10870" y="20328"/>
                      <a:pt x="16415" y="17951"/>
                      <a:pt x="18374" y="13072"/>
                    </a:cubicBezTo>
                    <a:cubicBezTo>
                      <a:pt x="20328" y="8188"/>
                      <a:pt x="17960" y="2644"/>
                      <a:pt x="13070" y="686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3890" tIns="23890" rIns="23890" bIns="23890" anchor="ctr"/>
              <a:lstStyle/>
              <a:p>
                <a:pPr algn="ctr" defTabSz="286385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385">
                  <a:solidFill>
                    <a:srgbClr val="6C6C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01" name="AutoShape 9"/>
              <p:cNvSpPr/>
              <p:nvPr/>
            </p:nvSpPr>
            <p:spPr bwMode="auto">
              <a:xfrm>
                <a:off x="9290050" y="4580732"/>
                <a:ext cx="174625" cy="174625"/>
              </a:xfrm>
              <a:custGeom>
                <a:avLst/>
                <a:gdLst>
                  <a:gd name="T0" fmla="+- 0 10800 1271"/>
                  <a:gd name="T1" fmla="*/ T0 w 19059"/>
                  <a:gd name="T2" fmla="+- 0 10800 1271"/>
                  <a:gd name="T3" fmla="*/ 10800 h 19058"/>
                  <a:gd name="T4" fmla="+- 0 10800 1271"/>
                  <a:gd name="T5" fmla="*/ T4 w 19059"/>
                  <a:gd name="T6" fmla="+- 0 10800 1271"/>
                  <a:gd name="T7" fmla="*/ 10800 h 19058"/>
                  <a:gd name="T8" fmla="+- 0 10800 1271"/>
                  <a:gd name="T9" fmla="*/ T8 w 19059"/>
                  <a:gd name="T10" fmla="+- 0 10800 1271"/>
                  <a:gd name="T11" fmla="*/ 10800 h 19058"/>
                  <a:gd name="T12" fmla="+- 0 10800 1271"/>
                  <a:gd name="T13" fmla="*/ T12 w 19059"/>
                  <a:gd name="T14" fmla="+- 0 10800 1271"/>
                  <a:gd name="T15" fmla="*/ 10800 h 1905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059" h="19058">
                    <a:moveTo>
                      <a:pt x="7169" y="15424"/>
                    </a:moveTo>
                    <a:cubicBezTo>
                      <a:pt x="3916" y="14123"/>
                      <a:pt x="2331" y="10417"/>
                      <a:pt x="3632" y="7167"/>
                    </a:cubicBezTo>
                    <a:cubicBezTo>
                      <a:pt x="4934" y="3917"/>
                      <a:pt x="8638" y="2331"/>
                      <a:pt x="11889" y="3632"/>
                    </a:cubicBezTo>
                    <a:cubicBezTo>
                      <a:pt x="15141" y="4934"/>
                      <a:pt x="16728" y="8640"/>
                      <a:pt x="15425" y="11890"/>
                    </a:cubicBezTo>
                    <a:cubicBezTo>
                      <a:pt x="14124" y="15140"/>
                      <a:pt x="10419" y="16728"/>
                      <a:pt x="7169" y="15424"/>
                    </a:cubicBezTo>
                    <a:moveTo>
                      <a:pt x="13071" y="685"/>
                    </a:moveTo>
                    <a:cubicBezTo>
                      <a:pt x="8186" y="-1271"/>
                      <a:pt x="2639" y="1104"/>
                      <a:pt x="686" y="5987"/>
                    </a:cubicBezTo>
                    <a:cubicBezTo>
                      <a:pt x="-1271" y="10871"/>
                      <a:pt x="1104" y="16416"/>
                      <a:pt x="5987" y="18372"/>
                    </a:cubicBezTo>
                    <a:cubicBezTo>
                      <a:pt x="10874" y="20329"/>
                      <a:pt x="16418" y="17955"/>
                      <a:pt x="18375" y="13070"/>
                    </a:cubicBezTo>
                    <a:cubicBezTo>
                      <a:pt x="20328" y="8186"/>
                      <a:pt x="17956" y="2641"/>
                      <a:pt x="13071" y="685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3890" tIns="23890" rIns="23890" bIns="23890" anchor="ctr"/>
              <a:lstStyle/>
              <a:p>
                <a:pPr algn="ctr" defTabSz="286385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385">
                  <a:solidFill>
                    <a:srgbClr val="6C6C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02" name="AutoShape 10"/>
              <p:cNvSpPr/>
              <p:nvPr/>
            </p:nvSpPr>
            <p:spPr bwMode="auto">
              <a:xfrm>
                <a:off x="9406732" y="4696619"/>
                <a:ext cx="72231" cy="74613"/>
              </a:xfrm>
              <a:custGeom>
                <a:avLst/>
                <a:gdLst>
                  <a:gd name="T0" fmla="+- 0 10804 288"/>
                  <a:gd name="T1" fmla="*/ T0 w 21033"/>
                  <a:gd name="T2" fmla="+- 0 10798 277"/>
                  <a:gd name="T3" fmla="*/ 10798 h 21043"/>
                  <a:gd name="T4" fmla="+- 0 10804 288"/>
                  <a:gd name="T5" fmla="*/ T4 w 21033"/>
                  <a:gd name="T6" fmla="+- 0 10798 277"/>
                  <a:gd name="T7" fmla="*/ 10798 h 21043"/>
                  <a:gd name="T8" fmla="+- 0 10804 288"/>
                  <a:gd name="T9" fmla="*/ T8 w 21033"/>
                  <a:gd name="T10" fmla="+- 0 10798 277"/>
                  <a:gd name="T11" fmla="*/ 10798 h 21043"/>
                  <a:gd name="T12" fmla="+- 0 10804 288"/>
                  <a:gd name="T13" fmla="*/ T12 w 21033"/>
                  <a:gd name="T14" fmla="+- 0 10798 277"/>
                  <a:gd name="T15" fmla="*/ 10798 h 2104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033" h="21043">
                    <a:moveTo>
                      <a:pt x="20881" y="2825"/>
                    </a:moveTo>
                    <a:cubicBezTo>
                      <a:pt x="21312" y="1771"/>
                      <a:pt x="20787" y="572"/>
                      <a:pt x="19713" y="149"/>
                    </a:cubicBezTo>
                    <a:cubicBezTo>
                      <a:pt x="18636" y="-277"/>
                      <a:pt x="17414" y="238"/>
                      <a:pt x="16984" y="1296"/>
                    </a:cubicBezTo>
                    <a:lnTo>
                      <a:pt x="16980" y="1292"/>
                    </a:lnTo>
                    <a:cubicBezTo>
                      <a:pt x="13964" y="8692"/>
                      <a:pt x="8182" y="14184"/>
                      <a:pt x="1269" y="17089"/>
                    </a:cubicBezTo>
                    <a:cubicBezTo>
                      <a:pt x="207" y="17536"/>
                      <a:pt x="-288" y="18747"/>
                      <a:pt x="170" y="19789"/>
                    </a:cubicBezTo>
                    <a:cubicBezTo>
                      <a:pt x="629" y="20840"/>
                      <a:pt x="1863" y="21323"/>
                      <a:pt x="2924" y="20876"/>
                    </a:cubicBezTo>
                    <a:cubicBezTo>
                      <a:pt x="2961" y="20860"/>
                      <a:pt x="2982" y="20828"/>
                      <a:pt x="3014" y="20815"/>
                    </a:cubicBezTo>
                    <a:cubicBezTo>
                      <a:pt x="10874" y="17480"/>
                      <a:pt x="17451" y="11227"/>
                      <a:pt x="20877" y="2825"/>
                    </a:cubicBezTo>
                    <a:cubicBezTo>
                      <a:pt x="20877" y="2825"/>
                      <a:pt x="20881" y="2825"/>
                      <a:pt x="20881" y="2825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3890" tIns="23890" rIns="23890" bIns="23890" anchor="ctr"/>
              <a:lstStyle/>
              <a:p>
                <a:pPr algn="ctr" defTabSz="286385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385">
                  <a:solidFill>
                    <a:srgbClr val="6C6C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03" name="AutoShape 11"/>
              <p:cNvSpPr/>
              <p:nvPr/>
            </p:nvSpPr>
            <p:spPr bwMode="auto">
              <a:xfrm>
                <a:off x="9435307" y="4725988"/>
                <a:ext cx="103981" cy="106363"/>
              </a:xfrm>
              <a:custGeom>
                <a:avLst/>
                <a:gdLst>
                  <a:gd name="T0" fmla="+- 0 10803 203"/>
                  <a:gd name="T1" fmla="*/ T0 w 21201"/>
                  <a:gd name="T2" fmla="+- 0 10798 194"/>
                  <a:gd name="T3" fmla="*/ 10798 h 21209"/>
                  <a:gd name="T4" fmla="+- 0 10803 203"/>
                  <a:gd name="T5" fmla="*/ T4 w 21201"/>
                  <a:gd name="T6" fmla="+- 0 10798 194"/>
                  <a:gd name="T7" fmla="*/ 10798 h 21209"/>
                  <a:gd name="T8" fmla="+- 0 10803 203"/>
                  <a:gd name="T9" fmla="*/ T8 w 21201"/>
                  <a:gd name="T10" fmla="+- 0 10798 194"/>
                  <a:gd name="T11" fmla="*/ 10798 h 21209"/>
                  <a:gd name="T12" fmla="+- 0 10803 203"/>
                  <a:gd name="T13" fmla="*/ T12 w 21201"/>
                  <a:gd name="T14" fmla="+- 0 10798 194"/>
                  <a:gd name="T15" fmla="*/ 10798 h 2120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201" h="21209">
                    <a:moveTo>
                      <a:pt x="20267" y="104"/>
                    </a:moveTo>
                    <a:cubicBezTo>
                      <a:pt x="19508" y="-194"/>
                      <a:pt x="18645" y="169"/>
                      <a:pt x="18339" y="912"/>
                    </a:cubicBezTo>
                    <a:cubicBezTo>
                      <a:pt x="14991" y="9110"/>
                      <a:pt x="8568" y="15198"/>
                      <a:pt x="894" y="18420"/>
                    </a:cubicBezTo>
                    <a:cubicBezTo>
                      <a:pt x="144" y="18735"/>
                      <a:pt x="-203" y="19589"/>
                      <a:pt x="121" y="20327"/>
                    </a:cubicBezTo>
                    <a:cubicBezTo>
                      <a:pt x="442" y="21068"/>
                      <a:pt x="1314" y="21406"/>
                      <a:pt x="2067" y="21090"/>
                    </a:cubicBezTo>
                    <a:cubicBezTo>
                      <a:pt x="2102" y="21073"/>
                      <a:pt x="2125" y="21042"/>
                      <a:pt x="2159" y="21025"/>
                    </a:cubicBezTo>
                    <a:cubicBezTo>
                      <a:pt x="10491" y="17500"/>
                      <a:pt x="17461" y="10881"/>
                      <a:pt x="21095" y="1994"/>
                    </a:cubicBezTo>
                    <a:cubicBezTo>
                      <a:pt x="21397" y="1250"/>
                      <a:pt x="21026" y="404"/>
                      <a:pt x="20267" y="104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3890" tIns="23890" rIns="23890" bIns="23890" anchor="ctr"/>
              <a:lstStyle/>
              <a:p>
                <a:pPr algn="ctr" defTabSz="286385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385">
                  <a:solidFill>
                    <a:srgbClr val="6C6C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04" name="AutoShape 12"/>
              <p:cNvSpPr/>
              <p:nvPr/>
            </p:nvSpPr>
            <p:spPr bwMode="auto">
              <a:xfrm>
                <a:off x="9421019" y="4711700"/>
                <a:ext cx="88106" cy="89694"/>
              </a:xfrm>
              <a:custGeom>
                <a:avLst/>
                <a:gdLst>
                  <a:gd name="T0" fmla="+- 0 10802 238"/>
                  <a:gd name="T1" fmla="*/ T0 w 21128"/>
                  <a:gd name="T2" fmla="+- 0 10797 227"/>
                  <a:gd name="T3" fmla="*/ 10797 h 21141"/>
                  <a:gd name="T4" fmla="+- 0 10802 238"/>
                  <a:gd name="T5" fmla="*/ T4 w 21128"/>
                  <a:gd name="T6" fmla="+- 0 10797 227"/>
                  <a:gd name="T7" fmla="*/ 10797 h 21141"/>
                  <a:gd name="T8" fmla="+- 0 10802 238"/>
                  <a:gd name="T9" fmla="*/ T8 w 21128"/>
                  <a:gd name="T10" fmla="+- 0 10797 227"/>
                  <a:gd name="T11" fmla="*/ 10797 h 21141"/>
                  <a:gd name="T12" fmla="+- 0 10802 238"/>
                  <a:gd name="T13" fmla="*/ T12 w 21128"/>
                  <a:gd name="T14" fmla="+- 0 10797 227"/>
                  <a:gd name="T15" fmla="*/ 10797 h 21141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128" h="21141">
                    <a:moveTo>
                      <a:pt x="20035" y="122"/>
                    </a:moveTo>
                    <a:cubicBezTo>
                      <a:pt x="19142" y="-227"/>
                      <a:pt x="18134" y="195"/>
                      <a:pt x="17778" y="1071"/>
                    </a:cubicBezTo>
                    <a:cubicBezTo>
                      <a:pt x="14571" y="8936"/>
                      <a:pt x="8412" y="14778"/>
                      <a:pt x="1051" y="17867"/>
                    </a:cubicBezTo>
                    <a:lnTo>
                      <a:pt x="1054" y="17867"/>
                    </a:lnTo>
                    <a:cubicBezTo>
                      <a:pt x="172" y="18240"/>
                      <a:pt x="-238" y="19242"/>
                      <a:pt x="142" y="20108"/>
                    </a:cubicBezTo>
                    <a:cubicBezTo>
                      <a:pt x="522" y="20973"/>
                      <a:pt x="1543" y="21372"/>
                      <a:pt x="2425" y="21003"/>
                    </a:cubicBezTo>
                    <a:cubicBezTo>
                      <a:pt x="2459" y="20986"/>
                      <a:pt x="2476" y="20956"/>
                      <a:pt x="2514" y="20936"/>
                    </a:cubicBezTo>
                    <a:cubicBezTo>
                      <a:pt x="10651" y="17491"/>
                      <a:pt x="17459" y="11027"/>
                      <a:pt x="21002" y="2339"/>
                    </a:cubicBezTo>
                    <a:cubicBezTo>
                      <a:pt x="21361" y="1463"/>
                      <a:pt x="20927" y="472"/>
                      <a:pt x="20035" y="122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3890" tIns="23890" rIns="23890" bIns="23890" anchor="ctr"/>
              <a:lstStyle/>
              <a:p>
                <a:pPr algn="ctr" defTabSz="286385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385">
                  <a:solidFill>
                    <a:srgbClr val="6C6C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05" name="AutoShape 13"/>
              <p:cNvSpPr/>
              <p:nvPr/>
            </p:nvSpPr>
            <p:spPr bwMode="auto">
              <a:xfrm>
                <a:off x="9275763" y="4566444"/>
                <a:ext cx="73025" cy="73819"/>
              </a:xfrm>
              <a:custGeom>
                <a:avLst/>
                <a:gdLst>
                  <a:gd name="T0" fmla="+- 0 10797 278"/>
                  <a:gd name="T1" fmla="*/ T0 w 21039"/>
                  <a:gd name="T2" fmla="+- 0 10803 281"/>
                  <a:gd name="T3" fmla="*/ 10803 h 21044"/>
                  <a:gd name="T4" fmla="+- 0 10797 278"/>
                  <a:gd name="T5" fmla="*/ T4 w 21039"/>
                  <a:gd name="T6" fmla="+- 0 10803 281"/>
                  <a:gd name="T7" fmla="*/ 10803 h 21044"/>
                  <a:gd name="T8" fmla="+- 0 10797 278"/>
                  <a:gd name="T9" fmla="*/ T8 w 21039"/>
                  <a:gd name="T10" fmla="+- 0 10803 281"/>
                  <a:gd name="T11" fmla="*/ 10803 h 21044"/>
                  <a:gd name="T12" fmla="+- 0 10797 278"/>
                  <a:gd name="T13" fmla="*/ T12 w 21039"/>
                  <a:gd name="T14" fmla="+- 0 10803 281"/>
                  <a:gd name="T15" fmla="*/ 10803 h 21044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039" h="21044">
                    <a:moveTo>
                      <a:pt x="20871" y="1248"/>
                    </a:moveTo>
                    <a:cubicBezTo>
                      <a:pt x="20411" y="197"/>
                      <a:pt x="19177" y="-281"/>
                      <a:pt x="18112" y="169"/>
                    </a:cubicBezTo>
                    <a:cubicBezTo>
                      <a:pt x="18075" y="181"/>
                      <a:pt x="18050" y="214"/>
                      <a:pt x="18021" y="226"/>
                    </a:cubicBezTo>
                    <a:cubicBezTo>
                      <a:pt x="10159" y="3562"/>
                      <a:pt x="3583" y="9820"/>
                      <a:pt x="152" y="18220"/>
                    </a:cubicBezTo>
                    <a:lnTo>
                      <a:pt x="148" y="18220"/>
                    </a:lnTo>
                    <a:cubicBezTo>
                      <a:pt x="-278" y="19278"/>
                      <a:pt x="242" y="20473"/>
                      <a:pt x="1320" y="20896"/>
                    </a:cubicBezTo>
                    <a:cubicBezTo>
                      <a:pt x="2398" y="21318"/>
                      <a:pt x="3620" y="20803"/>
                      <a:pt x="4046" y="19749"/>
                    </a:cubicBezTo>
                    <a:lnTo>
                      <a:pt x="4051" y="19749"/>
                    </a:lnTo>
                    <a:cubicBezTo>
                      <a:pt x="7068" y="12356"/>
                      <a:pt x="12856" y="6858"/>
                      <a:pt x="19764" y="3956"/>
                    </a:cubicBezTo>
                    <a:cubicBezTo>
                      <a:pt x="20830" y="3506"/>
                      <a:pt x="21322" y="2298"/>
                      <a:pt x="20871" y="1248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3890" tIns="23890" rIns="23890" bIns="23890" anchor="ctr"/>
              <a:lstStyle/>
              <a:p>
                <a:pPr algn="ctr" defTabSz="286385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385">
                  <a:solidFill>
                    <a:srgbClr val="6C6C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06" name="AutoShape 14"/>
              <p:cNvSpPr/>
              <p:nvPr/>
            </p:nvSpPr>
            <p:spPr bwMode="auto">
              <a:xfrm>
                <a:off x="9217819" y="4508500"/>
                <a:ext cx="103981" cy="105569"/>
              </a:xfrm>
              <a:custGeom>
                <a:avLst/>
                <a:gdLst>
                  <a:gd name="T0" fmla="+- 0 10797 198"/>
                  <a:gd name="T1" fmla="*/ T0 w 21199"/>
                  <a:gd name="T2" fmla="+- 0 10802 198"/>
                  <a:gd name="T3" fmla="*/ 10802 h 21208"/>
                  <a:gd name="T4" fmla="+- 0 10797 198"/>
                  <a:gd name="T5" fmla="*/ T4 w 21199"/>
                  <a:gd name="T6" fmla="+- 0 10802 198"/>
                  <a:gd name="T7" fmla="*/ 10802 h 21208"/>
                  <a:gd name="T8" fmla="+- 0 10797 198"/>
                  <a:gd name="T9" fmla="*/ T8 w 21199"/>
                  <a:gd name="T10" fmla="+- 0 10802 198"/>
                  <a:gd name="T11" fmla="*/ 10802 h 21208"/>
                  <a:gd name="T12" fmla="+- 0 10797 198"/>
                  <a:gd name="T13" fmla="*/ T12 w 21199"/>
                  <a:gd name="T14" fmla="+- 0 10802 198"/>
                  <a:gd name="T15" fmla="*/ 10802 h 2120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199" h="21208">
                    <a:moveTo>
                      <a:pt x="21077" y="880"/>
                    </a:moveTo>
                    <a:cubicBezTo>
                      <a:pt x="20753" y="142"/>
                      <a:pt x="19881" y="-198"/>
                      <a:pt x="19129" y="117"/>
                    </a:cubicBezTo>
                    <a:cubicBezTo>
                      <a:pt x="19097" y="131"/>
                      <a:pt x="19071" y="162"/>
                      <a:pt x="19039" y="179"/>
                    </a:cubicBezTo>
                    <a:cubicBezTo>
                      <a:pt x="10706" y="3707"/>
                      <a:pt x="3739" y="10322"/>
                      <a:pt x="106" y="19208"/>
                    </a:cubicBezTo>
                    <a:cubicBezTo>
                      <a:pt x="-198" y="19957"/>
                      <a:pt x="172" y="20803"/>
                      <a:pt x="934" y="21101"/>
                    </a:cubicBezTo>
                    <a:cubicBezTo>
                      <a:pt x="1689" y="21401"/>
                      <a:pt x="2552" y="21041"/>
                      <a:pt x="2859" y="20292"/>
                    </a:cubicBezTo>
                    <a:cubicBezTo>
                      <a:pt x="6206" y="12096"/>
                      <a:pt x="12625" y="6008"/>
                      <a:pt x="20301" y="2787"/>
                    </a:cubicBezTo>
                    <a:cubicBezTo>
                      <a:pt x="21051" y="2469"/>
                      <a:pt x="21402" y="1618"/>
                      <a:pt x="21077" y="88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3890" tIns="23890" rIns="23890" bIns="23890" anchor="ctr"/>
              <a:lstStyle/>
              <a:p>
                <a:pPr algn="ctr" defTabSz="286385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385">
                  <a:solidFill>
                    <a:srgbClr val="6C6C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07" name="AutoShape 15"/>
              <p:cNvSpPr/>
              <p:nvPr/>
            </p:nvSpPr>
            <p:spPr bwMode="auto">
              <a:xfrm>
                <a:off x="9247188" y="4537075"/>
                <a:ext cx="88107" cy="90488"/>
              </a:xfrm>
              <a:custGeom>
                <a:avLst/>
                <a:gdLst>
                  <a:gd name="T0" fmla="+- 0 10796 232"/>
                  <a:gd name="T1" fmla="*/ T0 w 21129"/>
                  <a:gd name="T2" fmla="+- 0 10804 234"/>
                  <a:gd name="T3" fmla="*/ 10804 h 21141"/>
                  <a:gd name="T4" fmla="+- 0 10796 232"/>
                  <a:gd name="T5" fmla="*/ T4 w 21129"/>
                  <a:gd name="T6" fmla="+- 0 10804 234"/>
                  <a:gd name="T7" fmla="*/ 10804 h 21141"/>
                  <a:gd name="T8" fmla="+- 0 10796 232"/>
                  <a:gd name="T9" fmla="*/ T8 w 21129"/>
                  <a:gd name="T10" fmla="+- 0 10804 234"/>
                  <a:gd name="T11" fmla="*/ 10804 h 21141"/>
                  <a:gd name="T12" fmla="+- 0 10796 232"/>
                  <a:gd name="T13" fmla="*/ T12 w 21129"/>
                  <a:gd name="T14" fmla="+- 0 10804 234"/>
                  <a:gd name="T15" fmla="*/ 10804 h 21141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129" h="21141">
                    <a:moveTo>
                      <a:pt x="20075" y="3267"/>
                    </a:moveTo>
                    <a:cubicBezTo>
                      <a:pt x="20953" y="2898"/>
                      <a:pt x="21368" y="1899"/>
                      <a:pt x="20987" y="1030"/>
                    </a:cubicBezTo>
                    <a:cubicBezTo>
                      <a:pt x="20611" y="168"/>
                      <a:pt x="19589" y="-234"/>
                      <a:pt x="18707" y="138"/>
                    </a:cubicBezTo>
                    <a:cubicBezTo>
                      <a:pt x="18670" y="152"/>
                      <a:pt x="18649" y="185"/>
                      <a:pt x="18615" y="198"/>
                    </a:cubicBezTo>
                    <a:cubicBezTo>
                      <a:pt x="10481" y="3647"/>
                      <a:pt x="3673" y="10118"/>
                      <a:pt x="124" y="18802"/>
                    </a:cubicBezTo>
                    <a:cubicBezTo>
                      <a:pt x="-232" y="19678"/>
                      <a:pt x="205" y="20666"/>
                      <a:pt x="1094" y="21019"/>
                    </a:cubicBezTo>
                    <a:cubicBezTo>
                      <a:pt x="1983" y="21366"/>
                      <a:pt x="2991" y="20946"/>
                      <a:pt x="3354" y="20071"/>
                    </a:cubicBezTo>
                    <a:cubicBezTo>
                      <a:pt x="6561" y="12205"/>
                      <a:pt x="12717" y="6360"/>
                      <a:pt x="20075" y="3274"/>
                    </a:cubicBezTo>
                    <a:cubicBezTo>
                      <a:pt x="20075" y="3274"/>
                      <a:pt x="20075" y="3267"/>
                      <a:pt x="20075" y="3267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3890" tIns="23890" rIns="23890" bIns="23890" anchor="ctr"/>
              <a:lstStyle/>
              <a:p>
                <a:pPr algn="ctr" defTabSz="286385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385">
                  <a:solidFill>
                    <a:srgbClr val="6C6C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  <p:sp>
        <p:nvSpPr>
          <p:cNvPr id="214" name="矩形 213">
            <a:hlinkClick r:id="rId5" action="ppaction://hlinksldjump"/>
          </p:cNvPr>
          <p:cNvSpPr/>
          <p:nvPr/>
        </p:nvSpPr>
        <p:spPr>
          <a:xfrm>
            <a:off x="2388173" y="4505111"/>
            <a:ext cx="4182884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强化点二  应用动量定理处理流体类问题</a:t>
            </a:r>
          </a:p>
        </p:txBody>
      </p:sp>
      <p:grpSp>
        <p:nvGrpSpPr>
          <p:cNvPr id="255" name="组合 254"/>
          <p:cNvGrpSpPr/>
          <p:nvPr/>
        </p:nvGrpSpPr>
        <p:grpSpPr>
          <a:xfrm>
            <a:off x="7374528" y="3641570"/>
            <a:ext cx="774083" cy="774363"/>
            <a:chOff x="5363854" y="2590077"/>
            <a:chExt cx="914281" cy="914612"/>
          </a:xfrm>
        </p:grpSpPr>
        <p:sp>
          <p:nvSpPr>
            <p:cNvPr id="256" name="Rounded Rectangle 8"/>
            <p:cNvSpPr/>
            <p:nvPr/>
          </p:nvSpPr>
          <p:spPr>
            <a:xfrm>
              <a:off x="5363854" y="2590077"/>
              <a:ext cx="914281" cy="914612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212215"/>
              <a:endParaRPr lang="en-GB" sz="3135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257" name="Group 69"/>
            <p:cNvGrpSpPr/>
            <p:nvPr/>
          </p:nvGrpSpPr>
          <p:grpSpPr>
            <a:xfrm>
              <a:off x="5595411" y="2814760"/>
              <a:ext cx="464284" cy="465246"/>
              <a:chOff x="7287419" y="3505994"/>
              <a:chExt cx="464344" cy="465138"/>
            </a:xfrm>
            <a:solidFill>
              <a:schemeClr val="bg2"/>
            </a:solidFill>
          </p:grpSpPr>
          <p:sp>
            <p:nvSpPr>
              <p:cNvPr id="258" name="AutoShape 37"/>
              <p:cNvSpPr/>
              <p:nvPr/>
            </p:nvSpPr>
            <p:spPr bwMode="auto">
              <a:xfrm>
                <a:off x="7287419" y="3549650"/>
                <a:ext cx="423069" cy="421482"/>
              </a:xfrm>
              <a:custGeom>
                <a:avLst/>
                <a:gdLst>
                  <a:gd name="T0" fmla="+- 0 10849 98"/>
                  <a:gd name="T1" fmla="*/ T0 w 21502"/>
                  <a:gd name="T2" fmla="*/ 10800 h 21600"/>
                  <a:gd name="T3" fmla="+- 0 10849 98"/>
                  <a:gd name="T4" fmla="*/ T3 w 21502"/>
                  <a:gd name="T5" fmla="*/ 10800 h 21600"/>
                  <a:gd name="T6" fmla="+- 0 10849 98"/>
                  <a:gd name="T7" fmla="*/ T6 w 21502"/>
                  <a:gd name="T8" fmla="*/ 10800 h 21600"/>
                  <a:gd name="T9" fmla="+- 0 10849 98"/>
                  <a:gd name="T10" fmla="*/ T9 w 21502"/>
                  <a:gd name="T11" fmla="*/ 10800 h 21600"/>
                </a:gdLst>
                <a:ahLst/>
                <a:cxnLst>
                  <a:cxn ang="0">
                    <a:pos x="T1" y="T2"/>
                  </a:cxn>
                  <a:cxn ang="0">
                    <a:pos x="T4" y="T5"/>
                  </a:cxn>
                  <a:cxn ang="0">
                    <a:pos x="T7" y="T8"/>
                  </a:cxn>
                  <a:cxn ang="0">
                    <a:pos x="T10" y="T11"/>
                  </a:cxn>
                </a:cxnLst>
                <a:rect l="0" t="0" r="r" b="b"/>
                <a:pathLst>
                  <a:path w="21502" h="21600">
                    <a:moveTo>
                      <a:pt x="19917" y="7880"/>
                    </a:moveTo>
                    <a:lnTo>
                      <a:pt x="18875" y="8932"/>
                    </a:lnTo>
                    <a:cubicBezTo>
                      <a:pt x="18730" y="9079"/>
                      <a:pt x="18497" y="9079"/>
                      <a:pt x="18353" y="8932"/>
                    </a:cubicBezTo>
                    <a:lnTo>
                      <a:pt x="17048" y="7617"/>
                    </a:lnTo>
                    <a:lnTo>
                      <a:pt x="15991" y="10290"/>
                    </a:lnTo>
                    <a:lnTo>
                      <a:pt x="16080" y="10064"/>
                    </a:lnTo>
                    <a:cubicBezTo>
                      <a:pt x="13859" y="7826"/>
                      <a:pt x="11601" y="7544"/>
                      <a:pt x="9565" y="7291"/>
                    </a:cubicBezTo>
                    <a:cubicBezTo>
                      <a:pt x="8910" y="7210"/>
                      <a:pt x="8276" y="7126"/>
                      <a:pt x="7652" y="6990"/>
                    </a:cubicBezTo>
                    <a:lnTo>
                      <a:pt x="13918" y="4456"/>
                    </a:lnTo>
                    <a:lnTo>
                      <a:pt x="12652" y="3179"/>
                    </a:lnTo>
                    <a:cubicBezTo>
                      <a:pt x="12508" y="3033"/>
                      <a:pt x="12508" y="2798"/>
                      <a:pt x="12652" y="2652"/>
                    </a:cubicBezTo>
                    <a:lnTo>
                      <a:pt x="13695" y="1598"/>
                    </a:lnTo>
                    <a:cubicBezTo>
                      <a:pt x="13840" y="1453"/>
                      <a:pt x="14073" y="1453"/>
                      <a:pt x="14217" y="1598"/>
                    </a:cubicBezTo>
                    <a:lnTo>
                      <a:pt x="19917" y="7353"/>
                    </a:lnTo>
                    <a:cubicBezTo>
                      <a:pt x="20062" y="7499"/>
                      <a:pt x="20062" y="7734"/>
                      <a:pt x="19917" y="7880"/>
                    </a:cubicBezTo>
                    <a:moveTo>
                      <a:pt x="12292" y="19639"/>
                    </a:moveTo>
                    <a:cubicBezTo>
                      <a:pt x="12200" y="19872"/>
                      <a:pt x="11999" y="20044"/>
                      <a:pt x="11756" y="20095"/>
                    </a:cubicBezTo>
                    <a:cubicBezTo>
                      <a:pt x="11700" y="20106"/>
                      <a:pt x="11643" y="20111"/>
                      <a:pt x="11587" y="20110"/>
                    </a:cubicBezTo>
                    <a:cubicBezTo>
                      <a:pt x="11400" y="20105"/>
                      <a:pt x="11219" y="20030"/>
                      <a:pt x="11084" y="19892"/>
                    </a:cubicBezTo>
                    <a:lnTo>
                      <a:pt x="1692" y="10517"/>
                    </a:lnTo>
                    <a:cubicBezTo>
                      <a:pt x="1519" y="10343"/>
                      <a:pt x="1443" y="10094"/>
                      <a:pt x="1488" y="9852"/>
                    </a:cubicBezTo>
                    <a:cubicBezTo>
                      <a:pt x="1533" y="9610"/>
                      <a:pt x="1695" y="9407"/>
                      <a:pt x="1917" y="9308"/>
                    </a:cubicBezTo>
                    <a:lnTo>
                      <a:pt x="6505" y="7453"/>
                    </a:lnTo>
                    <a:cubicBezTo>
                      <a:pt x="9597" y="8490"/>
                      <a:pt x="12689" y="7491"/>
                      <a:pt x="15781" y="10821"/>
                    </a:cubicBezTo>
                    <a:cubicBezTo>
                      <a:pt x="15781" y="10821"/>
                      <a:pt x="12292" y="19639"/>
                      <a:pt x="12292" y="19639"/>
                    </a:cubicBezTo>
                    <a:close/>
                    <a:moveTo>
                      <a:pt x="15260" y="545"/>
                    </a:moveTo>
                    <a:cubicBezTo>
                      <a:pt x="14912" y="193"/>
                      <a:pt x="14449" y="0"/>
                      <a:pt x="13956" y="0"/>
                    </a:cubicBezTo>
                    <a:cubicBezTo>
                      <a:pt x="13463" y="0"/>
                      <a:pt x="13000" y="193"/>
                      <a:pt x="12651" y="546"/>
                    </a:cubicBezTo>
                    <a:lnTo>
                      <a:pt x="11610" y="1598"/>
                    </a:lnTo>
                    <a:cubicBezTo>
                      <a:pt x="11261" y="1949"/>
                      <a:pt x="11068" y="2417"/>
                      <a:pt x="11068" y="2915"/>
                    </a:cubicBezTo>
                    <a:cubicBezTo>
                      <a:pt x="11068" y="3265"/>
                      <a:pt x="11164" y="3601"/>
                      <a:pt x="11342" y="3893"/>
                    </a:cubicBezTo>
                    <a:lnTo>
                      <a:pt x="1324" y="7944"/>
                    </a:lnTo>
                    <a:cubicBezTo>
                      <a:pt x="654" y="8241"/>
                      <a:pt x="173" y="8851"/>
                      <a:pt x="38" y="9575"/>
                    </a:cubicBezTo>
                    <a:cubicBezTo>
                      <a:pt x="-98" y="10302"/>
                      <a:pt x="130" y="11048"/>
                      <a:pt x="654" y="11576"/>
                    </a:cubicBezTo>
                    <a:lnTo>
                      <a:pt x="10041" y="20946"/>
                    </a:lnTo>
                    <a:cubicBezTo>
                      <a:pt x="10445" y="21354"/>
                      <a:pt x="10982" y="21586"/>
                      <a:pt x="11549" y="21599"/>
                    </a:cubicBezTo>
                    <a:cubicBezTo>
                      <a:pt x="11562" y="21599"/>
                      <a:pt x="11593" y="21599"/>
                      <a:pt x="11605" y="21599"/>
                    </a:cubicBezTo>
                    <a:cubicBezTo>
                      <a:pt x="11754" y="21599"/>
                      <a:pt x="11906" y="21584"/>
                      <a:pt x="12056" y="21553"/>
                    </a:cubicBezTo>
                    <a:cubicBezTo>
                      <a:pt x="12789" y="21399"/>
                      <a:pt x="13390" y="20888"/>
                      <a:pt x="13662" y="20191"/>
                    </a:cubicBezTo>
                    <a:lnTo>
                      <a:pt x="17604" y="10229"/>
                    </a:lnTo>
                    <a:cubicBezTo>
                      <a:pt x="17902" y="10426"/>
                      <a:pt x="18250" y="10532"/>
                      <a:pt x="18613" y="10532"/>
                    </a:cubicBezTo>
                    <a:cubicBezTo>
                      <a:pt x="19107" y="10532"/>
                      <a:pt x="19570" y="10338"/>
                      <a:pt x="19918" y="9986"/>
                    </a:cubicBezTo>
                    <a:lnTo>
                      <a:pt x="20957" y="8937"/>
                    </a:lnTo>
                    <a:cubicBezTo>
                      <a:pt x="21308" y="8585"/>
                      <a:pt x="21502" y="8116"/>
                      <a:pt x="21502" y="7617"/>
                    </a:cubicBezTo>
                    <a:cubicBezTo>
                      <a:pt x="21502" y="7117"/>
                      <a:pt x="21308" y="6648"/>
                      <a:pt x="20961" y="6300"/>
                    </a:cubicBezTo>
                    <a:cubicBezTo>
                      <a:pt x="20961" y="6300"/>
                      <a:pt x="15260" y="545"/>
                      <a:pt x="15260" y="545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3890" tIns="23890" rIns="23890" bIns="23890" anchor="ctr"/>
              <a:lstStyle/>
              <a:p>
                <a:pPr algn="ctr" defTabSz="286385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385">
                  <a:solidFill>
                    <a:srgbClr val="6C6C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59" name="AutoShape 38"/>
              <p:cNvSpPr/>
              <p:nvPr/>
            </p:nvSpPr>
            <p:spPr bwMode="auto">
              <a:xfrm>
                <a:off x="7490619" y="3738563"/>
                <a:ext cx="72231" cy="7302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4320"/>
                    </a:moveTo>
                    <a:cubicBezTo>
                      <a:pt x="14381" y="4320"/>
                      <a:pt x="17279" y="7222"/>
                      <a:pt x="17279" y="10800"/>
                    </a:cubicBezTo>
                    <a:cubicBezTo>
                      <a:pt x="17279" y="14377"/>
                      <a:pt x="14381" y="17279"/>
                      <a:pt x="10800" y="17279"/>
                    </a:cubicBezTo>
                    <a:cubicBezTo>
                      <a:pt x="7218" y="17279"/>
                      <a:pt x="4319" y="14377"/>
                      <a:pt x="4319" y="10800"/>
                    </a:cubicBezTo>
                    <a:cubicBezTo>
                      <a:pt x="4319" y="7222"/>
                      <a:pt x="7218" y="4320"/>
                      <a:pt x="10800" y="4320"/>
                    </a:cubicBezTo>
                    <a:moveTo>
                      <a:pt x="10800" y="21599"/>
                    </a:moveTo>
                    <a:cubicBezTo>
                      <a:pt x="16752" y="21599"/>
                      <a:pt x="21600" y="16756"/>
                      <a:pt x="21600" y="10800"/>
                    </a:cubicBezTo>
                    <a:cubicBezTo>
                      <a:pt x="21600" y="4843"/>
                      <a:pt x="16752" y="0"/>
                      <a:pt x="10800" y="0"/>
                    </a:cubicBezTo>
                    <a:cubicBezTo>
                      <a:pt x="4847" y="0"/>
                      <a:pt x="0" y="4843"/>
                      <a:pt x="0" y="10800"/>
                    </a:cubicBezTo>
                    <a:cubicBezTo>
                      <a:pt x="0" y="16756"/>
                      <a:pt x="4847" y="21599"/>
                      <a:pt x="10800" y="21599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3890" tIns="23890" rIns="23890" bIns="23890" anchor="ctr"/>
              <a:lstStyle/>
              <a:p>
                <a:pPr algn="ctr" defTabSz="286385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385">
                  <a:solidFill>
                    <a:srgbClr val="6C6C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60" name="AutoShape 39"/>
              <p:cNvSpPr/>
              <p:nvPr/>
            </p:nvSpPr>
            <p:spPr bwMode="auto">
              <a:xfrm>
                <a:off x="7679532" y="3505994"/>
                <a:ext cx="72231" cy="7302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17279"/>
                    </a:moveTo>
                    <a:cubicBezTo>
                      <a:pt x="7218" y="17279"/>
                      <a:pt x="4320" y="14377"/>
                      <a:pt x="4320" y="10800"/>
                    </a:cubicBezTo>
                    <a:cubicBezTo>
                      <a:pt x="4320" y="7222"/>
                      <a:pt x="7218" y="4320"/>
                      <a:pt x="10800" y="4320"/>
                    </a:cubicBezTo>
                    <a:cubicBezTo>
                      <a:pt x="14381" y="4320"/>
                      <a:pt x="17280" y="7222"/>
                      <a:pt x="17280" y="10800"/>
                    </a:cubicBezTo>
                    <a:cubicBezTo>
                      <a:pt x="17280" y="14377"/>
                      <a:pt x="14381" y="17279"/>
                      <a:pt x="10800" y="17279"/>
                    </a:cubicBezTo>
                    <a:moveTo>
                      <a:pt x="10800" y="0"/>
                    </a:moveTo>
                    <a:cubicBezTo>
                      <a:pt x="4847" y="0"/>
                      <a:pt x="0" y="4843"/>
                      <a:pt x="0" y="10800"/>
                    </a:cubicBezTo>
                    <a:cubicBezTo>
                      <a:pt x="0" y="16756"/>
                      <a:pt x="4847" y="21599"/>
                      <a:pt x="10800" y="21599"/>
                    </a:cubicBezTo>
                    <a:cubicBezTo>
                      <a:pt x="16752" y="21599"/>
                      <a:pt x="21600" y="16756"/>
                      <a:pt x="21600" y="10800"/>
                    </a:cubicBezTo>
                    <a:cubicBezTo>
                      <a:pt x="21600" y="4843"/>
                      <a:pt x="16752" y="0"/>
                      <a:pt x="10800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3890" tIns="23890" rIns="23890" bIns="23890" anchor="ctr"/>
              <a:lstStyle/>
              <a:p>
                <a:pPr algn="ctr" defTabSz="286385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385">
                  <a:solidFill>
                    <a:srgbClr val="6C6C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61" name="AutoShape 40"/>
              <p:cNvSpPr/>
              <p:nvPr/>
            </p:nvSpPr>
            <p:spPr bwMode="auto">
              <a:xfrm>
                <a:off x="7403307" y="3724275"/>
                <a:ext cx="57944" cy="5794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5400"/>
                    </a:moveTo>
                    <a:cubicBezTo>
                      <a:pt x="13779" y="5400"/>
                      <a:pt x="16199" y="7815"/>
                      <a:pt x="16199" y="10800"/>
                    </a:cubicBezTo>
                    <a:cubicBezTo>
                      <a:pt x="16199" y="13784"/>
                      <a:pt x="13779" y="16200"/>
                      <a:pt x="10800" y="16200"/>
                    </a:cubicBezTo>
                    <a:cubicBezTo>
                      <a:pt x="7820" y="16200"/>
                      <a:pt x="5399" y="13784"/>
                      <a:pt x="5399" y="10800"/>
                    </a:cubicBezTo>
                    <a:cubicBezTo>
                      <a:pt x="5399" y="7815"/>
                      <a:pt x="7820" y="5400"/>
                      <a:pt x="10800" y="5400"/>
                    </a:cubicBezTo>
                    <a:moveTo>
                      <a:pt x="0" y="10800"/>
                    </a:moveTo>
                    <a:cubicBezTo>
                      <a:pt x="0" y="16753"/>
                      <a:pt x="4843" y="21599"/>
                      <a:pt x="10800" y="21599"/>
                    </a:cubicBezTo>
                    <a:cubicBezTo>
                      <a:pt x="16756" y="21599"/>
                      <a:pt x="21600" y="16753"/>
                      <a:pt x="21600" y="10800"/>
                    </a:cubicBezTo>
                    <a:cubicBezTo>
                      <a:pt x="21600" y="4846"/>
                      <a:pt x="16756" y="0"/>
                      <a:pt x="10800" y="0"/>
                    </a:cubicBezTo>
                    <a:cubicBezTo>
                      <a:pt x="4843" y="0"/>
                      <a:pt x="0" y="4846"/>
                      <a:pt x="0" y="1080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3890" tIns="23890" rIns="23890" bIns="23890" anchor="ctr"/>
              <a:lstStyle/>
              <a:p>
                <a:pPr algn="ctr" defTabSz="286385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385">
                  <a:solidFill>
                    <a:srgbClr val="6C6C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62" name="AutoShape 41"/>
              <p:cNvSpPr/>
              <p:nvPr/>
            </p:nvSpPr>
            <p:spPr bwMode="auto">
              <a:xfrm>
                <a:off x="7461250" y="3825875"/>
                <a:ext cx="29369" cy="2857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21599"/>
                    </a:moveTo>
                    <a:cubicBezTo>
                      <a:pt x="16758" y="21599"/>
                      <a:pt x="21600" y="16769"/>
                      <a:pt x="21600" y="10800"/>
                    </a:cubicBezTo>
                    <a:cubicBezTo>
                      <a:pt x="21600" y="4830"/>
                      <a:pt x="16758" y="0"/>
                      <a:pt x="10800" y="0"/>
                    </a:cubicBezTo>
                    <a:cubicBezTo>
                      <a:pt x="4841" y="0"/>
                      <a:pt x="0" y="4830"/>
                      <a:pt x="0" y="10800"/>
                    </a:cubicBezTo>
                    <a:cubicBezTo>
                      <a:pt x="0" y="16769"/>
                      <a:pt x="4841" y="21599"/>
                      <a:pt x="10800" y="21599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3890" tIns="23890" rIns="23890" bIns="23890" anchor="ctr"/>
              <a:lstStyle/>
              <a:p>
                <a:pPr algn="ctr" defTabSz="286385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385">
                  <a:solidFill>
                    <a:srgbClr val="6C6C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63" name="AutoShape 42"/>
              <p:cNvSpPr/>
              <p:nvPr/>
            </p:nvSpPr>
            <p:spPr bwMode="auto">
              <a:xfrm>
                <a:off x="7693819" y="3607594"/>
                <a:ext cx="28575" cy="29369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0"/>
                    </a:moveTo>
                    <a:cubicBezTo>
                      <a:pt x="4841" y="0"/>
                      <a:pt x="0" y="4830"/>
                      <a:pt x="0" y="10800"/>
                    </a:cubicBezTo>
                    <a:cubicBezTo>
                      <a:pt x="0" y="16769"/>
                      <a:pt x="4841" y="21599"/>
                      <a:pt x="10800" y="21599"/>
                    </a:cubicBezTo>
                    <a:cubicBezTo>
                      <a:pt x="16758" y="21599"/>
                      <a:pt x="21600" y="16769"/>
                      <a:pt x="21600" y="10800"/>
                    </a:cubicBezTo>
                    <a:cubicBezTo>
                      <a:pt x="21600" y="4830"/>
                      <a:pt x="16758" y="0"/>
                      <a:pt x="10800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3890" tIns="23890" rIns="23890" bIns="23890" anchor="ctr"/>
              <a:lstStyle/>
              <a:p>
                <a:pPr algn="ctr" defTabSz="286385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385">
                  <a:solidFill>
                    <a:srgbClr val="6C6C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  <p:sp>
        <p:nvSpPr>
          <p:cNvPr id="264" name="矩形 263">
            <a:hlinkClick r:id="rId6" action="ppaction://hlinksldjump"/>
          </p:cNvPr>
          <p:cNvSpPr/>
          <p:nvPr/>
        </p:nvSpPr>
        <p:spPr>
          <a:xfrm>
            <a:off x="8735954" y="3868117"/>
            <a:ext cx="1313180" cy="43088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课时作业</a:t>
            </a:r>
          </a:p>
        </p:txBody>
      </p:sp>
    </p:spTree>
    <p:extLst>
      <p:ext uri="{BB962C8B-B14F-4D97-AF65-F5344CB8AC3E}">
        <p14:creationId xmlns:p14="http://schemas.microsoft.com/office/powerpoint/2010/main" val="728366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animBg="1"/>
      <p:bldP spid="154" grpId="0"/>
      <p:bldP spid="214" grpId="0"/>
      <p:bldP spid="26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6" name="yt_shape_10516"/>
          <p:cNvSpPr txBox="1"/>
          <p:nvPr/>
        </p:nvSpPr>
        <p:spPr>
          <a:xfrm>
            <a:off x="324000" y="467999"/>
            <a:ext cx="1436291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学习目标</a:t>
            </a:r>
          </a:p>
        </p:txBody>
      </p:sp>
      <p:graphicFrame>
        <p:nvGraphicFramePr>
          <p:cNvPr id="10517" name="yt_table_10517" title="H_101.28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054007"/>
              </p:ext>
            </p:extLst>
          </p:nvPr>
        </p:nvGraphicFramePr>
        <p:xfrm>
          <a:off x="324000" y="1203348"/>
          <a:ext cx="11543998" cy="128625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543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9"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会应用动量定理处理多过程问题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。</a:t>
                      </a:r>
                    </a:p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会应用动量定理处理流体类问题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。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p14="http://schemas.microsoft.com/office/powerpoint/2010/main" xmlns:a16="http://schemas.microsoft.com/office/drawing/2014/main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4860" y="1224757"/>
            <a:ext cx="5988843" cy="5988843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0" y="2386170"/>
            <a:ext cx="12192000" cy="1569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79400" sx="99000" sy="99000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4240" y="2112168"/>
            <a:ext cx="10383520" cy="21336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317500" dist="38100" dir="5400000" sx="101000" sy="10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TextBox 14"/>
          <p:cNvSpPr txBox="1"/>
          <p:nvPr/>
        </p:nvSpPr>
        <p:spPr>
          <a:xfrm>
            <a:off x="927100" y="2808613"/>
            <a:ext cx="103250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强化点一  应用动量定理处理多过程问题</a:t>
            </a:r>
          </a:p>
        </p:txBody>
      </p:sp>
    </p:spTree>
    <p:extLst>
      <p:ext uri="{BB962C8B-B14F-4D97-AF65-F5344CB8AC3E}">
        <p14:creationId xmlns:p14="http://schemas.microsoft.com/office/powerpoint/2010/main" val="558373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31667 L 0 4.07407E-6 " pathEditMode="relative" rAng="0" ptsTypes="AA">
                                      <p:cBhvr>
                                        <p:cTn id="14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1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6" grpId="0" animBg="1"/>
      <p:bldP spid="6" grpId="1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0" name="yt_shape_10520"/>
          <p:cNvSpPr txBox="1"/>
          <p:nvPr/>
        </p:nvSpPr>
        <p:spPr>
          <a:xfrm>
            <a:off x="5736927" y="1050984"/>
            <a:ext cx="718145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</a:p>
        </p:txBody>
      </p:sp>
      <p:sp>
        <p:nvSpPr>
          <p:cNvPr id="10521" name="yt_shape_10521"/>
          <p:cNvSpPr txBox="1"/>
          <p:nvPr/>
        </p:nvSpPr>
        <p:spPr>
          <a:xfrm>
            <a:off x="324001" y="948169"/>
            <a:ext cx="11543998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如果物体在不同阶段受力不同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即合外力不恒定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0_527b5"/>
              </a:rPr>
              <a:t>此情况下应用动量定理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一般采取以下两种方法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</a:p>
        </p:txBody>
      </p:sp>
      <p:sp>
        <p:nvSpPr>
          <p:cNvPr id="10522" name="yt_shape_10522"/>
          <p:cNvSpPr txBox="1"/>
          <p:nvPr/>
        </p:nvSpPr>
        <p:spPr>
          <a:xfrm>
            <a:off x="324001" y="2115225"/>
            <a:ext cx="11924914" cy="17195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分段处理法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找出每一段合外力的冲量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7_1c7da"/>
              </a:rPr>
              <a:t>这些冲量的矢量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和即外力的合冲量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＋…＋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根据动量定理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p'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求解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ce637"/>
              </a:rPr>
              <a:t>分段处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理时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需注意各段冲量的正负及每一阶段的初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末速度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p14="http://schemas.microsoft.com/office/powerpoint/2010/main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3" name="yt_shape_10523"/>
          <p:cNvSpPr txBox="1"/>
          <p:nvPr/>
        </p:nvSpPr>
        <p:spPr>
          <a:xfrm>
            <a:off x="324071" y="467999"/>
            <a:ext cx="11543998" cy="17195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全过程处理法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在全过程中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第一个力的冲量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7_3cccf"/>
              </a:rPr>
              <a:t>第二个力的冲量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第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个力的冲量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这些冲量的矢量和即合冲量为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根据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p'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f45a9"/>
              </a:rPr>
              <a:t>求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解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用全过程法求解时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需注意每个力的作用时间及力的方向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10524" name="yt_shape_10524"/>
          <p:cNvSpPr txBox="1"/>
          <p:nvPr/>
        </p:nvSpPr>
        <p:spPr>
          <a:xfrm>
            <a:off x="324000" y="2238297"/>
            <a:ext cx="7899598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提醒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若不需要求中间量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用全过程法更为简便。</a:t>
            </a:r>
          </a:p>
        </p:txBody>
      </p:sp>
      <p:sp>
        <p:nvSpPr>
          <p:cNvPr id="10525" name="yt_shape_10525"/>
          <p:cNvSpPr txBox="1"/>
          <p:nvPr/>
        </p:nvSpPr>
        <p:spPr>
          <a:xfrm>
            <a:off x="324071" y="2821282"/>
            <a:ext cx="11924914" cy="29451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【例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】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四川南充期中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）（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分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蹦极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8_9b9df"/>
              </a:rPr>
              <a:t>是一项勇敢者的运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动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某人用弹性橡皮绳拴住身体</a:t>
            </a:r>
            <a:r>
              <a:rPr lang="zh-CN" altLang="zh-CN" sz="2800" b="0" i="0" u="wavy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从高空</a:t>
            </a:r>
            <a:r>
              <a:rPr lang="en-US" altLang="zh-CN" sz="2800" b="0" i="1" u="wavy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wavy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处自由下落</a:t>
            </a:r>
            <a:r>
              <a:rPr lang="zh-CN" altLang="zh-CN" sz="2800" b="0" i="0" u="wavy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wavy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sym typeface="_⨹_3_308dd"/>
              </a:rPr>
              <a:t>在空中</a:t>
            </a:r>
            <a:br>
              <a:rPr lang="zh-CN" altLang="zh-CN" sz="2800" b="0" i="0" u="wavy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</a:br>
            <a:r>
              <a:rPr lang="zh-CN" altLang="zh-CN" sz="2800" b="0" i="0" u="wavy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感受完全失重的滋味</a:t>
            </a:r>
            <a:r>
              <a:rPr lang="zh-CN" altLang="zh-CN" sz="2800" b="0" i="0" u="wavy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wavy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此人质量为</a:t>
            </a:r>
            <a:r>
              <a:rPr lang="en-US" altLang="zh-CN" sz="2800" b="0" i="0" u="wavy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60</a:t>
            </a:r>
            <a:r>
              <a:rPr lang="zh-CN" altLang="zh-CN" sz="2800" b="0" i="0" u="wavy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wavy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wavy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wavy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橡皮绳原长</a:t>
            </a:r>
            <a:r>
              <a:rPr lang="en-US" altLang="zh-CN" sz="2800" b="0" i="0" u="wavy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45</a:t>
            </a:r>
            <a:r>
              <a:rPr lang="zh-CN" altLang="zh-CN" sz="2800" b="0" i="0" u="wavy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wavy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wavy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宋体" pitchFamily="28"/>
                <a:ea typeface="宋体" pitchFamily="28"/>
              </a:rPr>
              <a:t>②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2d7ec"/>
              </a:rPr>
              <a:t>人可看成质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不计空气阻力作用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此人</a:t>
            </a:r>
            <a:r>
              <a:rPr lang="zh-CN" altLang="zh-CN" sz="2800" b="0" i="0" u="wavy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从</a:t>
            </a:r>
            <a:r>
              <a:rPr lang="en-US" altLang="zh-CN" sz="2800" b="0" i="1" u="wavy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wavy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点自静止下落到最低点所用时间</a:t>
            </a:r>
            <a:r>
              <a:rPr lang="en-US" altLang="zh-CN" sz="2800" b="0" i="1" u="wavy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wavy" baseline="-250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总</a:t>
            </a:r>
            <a:r>
              <a:rPr lang="zh-CN" altLang="zh-CN" sz="2800" b="0" i="0" u="wavy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wavy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9</a:t>
            </a:r>
            <a:r>
              <a:rPr lang="zh-CN" altLang="zh-CN" sz="2800" b="0" i="0" u="wavy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wavy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sym typeface="_⨹_1_cd835"/>
              </a:rPr>
              <a:t>s</a:t>
            </a:r>
            <a:br>
              <a:rPr lang="en-US" altLang="zh-CN" sz="2800" b="0" i="0" u="wavy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</a:br>
            <a:r>
              <a:rPr lang="en-US" altLang="zh-CN" sz="2800" b="0" i="0" u="wavy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宋体" pitchFamily="28"/>
                <a:ea typeface="宋体" pitchFamily="28"/>
              </a:rPr>
              <a:t>①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。（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取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26" name="yt_image_10526" title="H_237.24">
            <a:extLst>
              <a:ext uri="">
                <a16:creationId xmlns="" xmlns:a16="http://schemas.microsoft.com/office/drawing/2014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70810" y="467999"/>
            <a:ext cx="1650379" cy="301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28" name="yt_shape_10528"/>
          <p:cNvSpPr txBox="1"/>
          <p:nvPr/>
        </p:nvSpPr>
        <p:spPr>
          <a:xfrm>
            <a:off x="324071" y="3531071"/>
            <a:ext cx="11924914" cy="292599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人从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点下落到最低点的过程中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重力的冲量大小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人下落到橡皮绳刚伸直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原长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人的动量大小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从橡皮绳开始伸直到人下落到最低点的过程中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8_4f90e"/>
              </a:rPr>
              <a:t>人对橡皮绳的平均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作用力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532" name="yt_table_10532" title="H_611.48505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8357019"/>
                  </p:ext>
                </p:extLst>
              </p:nvPr>
            </p:nvGraphicFramePr>
            <p:xfrm>
              <a:off x="324001" y="1255399"/>
              <a:ext cx="11543997" cy="5193606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3473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0706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67999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zh-CN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信息读取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zh-CN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信息加工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7999"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en-US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①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从</a:t>
                          </a:r>
                          <a:r>
                            <a:rPr lang="en-US" altLang="zh-CN" sz="24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P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5_23410"/>
                            </a:rPr>
                            <a:t>点静止下落</a:t>
                          </a:r>
                          <a:b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8_4645f"/>
                            </a:rPr>
                            <a:t>到最低点的过程中</a:t>
                          </a:r>
                          <a:b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的时间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可求得这个过程中重力的冲量大小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7999">
                    <a:tc rowSpan="4"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en-US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②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从高空</a:t>
                          </a:r>
                          <a:r>
                            <a:rPr lang="en-US" altLang="zh-CN" sz="24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P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3_0c4d3_⨹_3_5f150_⨹_3_c9c40_⨹_3_e1915"/>
                            </a:rPr>
                            <a:t>处自由</a:t>
                          </a:r>
                          <a:b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下落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5_1d2d8_⨹_5_e29ac_⨹_5_acbf2_⨹_5_43813"/>
                            </a:rPr>
                            <a:t>到橡皮绳刚</a:t>
                          </a:r>
                          <a:b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伸直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（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楷体" pitchFamily="28"/>
                            </a:rPr>
                            <a:t>原长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）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zh-CN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可求出人此时的速度为</a:t>
                          </a:r>
                          <a:r>
                            <a:rPr lang="en-US" altLang="zh-CN" sz="24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</a:t>
                          </a:r>
                          <a:r>
                            <a:rPr lang="zh-CN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zh-CN" sz="24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gl</m:t>
                                  </m:r>
                                </m:e>
                              </m:rad>
                            </m:oMath>
                          </a14:m>
                          <a:r>
                            <a:rPr lang="zh-CN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zh-CN" sz="24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2×10×45</m:t>
                                  </m:r>
                                </m:e>
                              </m:rad>
                            </m:oMath>
                          </a14:m>
                          <a:r>
                            <a:rPr lang="zh-CN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3_e57e3"/>
                            </a:rPr>
                            <a:t>m/s</a:t>
                          </a:r>
                          <a:br>
                            <a:rPr lang="en-US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30</a:t>
                          </a:r>
                          <a:r>
                            <a:rPr lang="zh-CN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m/s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7999">
                    <a:tc vMerge="1"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endParaRPr/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接着求出橡皮绳刚伸直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（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楷体" pitchFamily="28"/>
                            </a:rPr>
                            <a:t>原长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）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的过程所用时间</a:t>
                          </a:r>
                          <a:r>
                            <a:rPr lang="en-US" altLang="zh-CN" sz="24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  <a:r>
                            <a:rPr lang="en-US" altLang="zh-CN" sz="2400" b="0" i="0" u="none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  <a:sym typeface="_⨹_1_a07d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4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v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g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4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30</m:t>
                                  </m:r>
                                </m:num>
                                <m:den>
                                  <m:r>
                                    <a:rPr lang="en-US" altLang="zh-CN" sz="24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m/s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3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s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67999">
                    <a:tc vMerge="1"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endParaRPr/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zh-CN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22_60d15"/>
                            </a:rPr>
                            <a:t>然后得出从橡皮绳开始伸直到人下落到最低点的过</a:t>
                          </a:r>
                          <a:br>
                            <a:rPr lang="zh-CN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程所用时间为</a:t>
                          </a:r>
                          <a:r>
                            <a:rPr lang="en-US" altLang="zh-CN" sz="24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  <a:r>
                            <a:rPr lang="en-US" altLang="zh-CN" sz="24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4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  <a:r>
                            <a:rPr lang="zh-CN" altLang="zh-CN" sz="24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总</a:t>
                          </a:r>
                          <a:r>
                            <a:rPr lang="zh-CN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－</a:t>
                          </a:r>
                          <a:r>
                            <a:rPr lang="en-US" altLang="zh-CN" sz="24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  <a:r>
                            <a:rPr lang="en-US" altLang="zh-CN" sz="24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</a:t>
                          </a:r>
                          <a:r>
                            <a:rPr lang="zh-CN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＝（</a:t>
                          </a:r>
                          <a:r>
                            <a:rPr lang="en-US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9</a:t>
                          </a:r>
                          <a:r>
                            <a:rPr lang="zh-CN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－</a:t>
                          </a:r>
                          <a:r>
                            <a:rPr lang="en-US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3</a:t>
                          </a:r>
                          <a:r>
                            <a:rPr lang="zh-CN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）</a:t>
                          </a:r>
                          <a:r>
                            <a:rPr lang="en-US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s</a:t>
                          </a:r>
                          <a:r>
                            <a:rPr lang="zh-CN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6</a:t>
                          </a:r>
                          <a:r>
                            <a:rPr lang="zh-CN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s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67999">
                    <a:tc vMerge="1"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endParaRPr/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利用动量定理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（</a:t>
                          </a:r>
                          <a:r>
                            <a:rPr lang="en-US" altLang="zh-CN" sz="24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mg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－</a:t>
                          </a:r>
                          <a:r>
                            <a:rPr lang="en-US" altLang="zh-CN" sz="24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F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）</a:t>
                          </a:r>
                          <a:r>
                            <a:rPr lang="en-US" altLang="zh-CN" sz="24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  <a:r>
                            <a:rPr lang="en-US" altLang="zh-CN" sz="2400" b="0" i="0" u="none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0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－</a:t>
                          </a:r>
                          <a:r>
                            <a:rPr lang="en-US" altLang="zh-CN" sz="24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mv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6_dfaca"/>
                            </a:rPr>
                            <a:t>得出人对橡皮</a:t>
                          </a:r>
                          <a:b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绳的平均作用力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 xmlns:a16="http://schemas.microsoft.com/office/drawing/2014/main" xmlns:p14="http://schemas.microsoft.com/office/powerpoint/2010/main">
          <p:graphicFrame>
            <p:nvGraphicFramePr>
              <p:cNvPr id="10532" name="yt_table_10532" title="H_611.48505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8357019"/>
                  </p:ext>
                </p:extLst>
              </p:nvPr>
            </p:nvGraphicFramePr>
            <p:xfrm>
              <a:off x="324001" y="1255399"/>
              <a:ext cx="11543997" cy="5193606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3473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0706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67999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zh-CN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信息读取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zh-CN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信息加工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en-US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①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从</a:t>
                          </a:r>
                          <a:r>
                            <a:rPr lang="en-US" altLang="zh-CN" sz="24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P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5_23410"/>
                            </a:rPr>
                            <a:t>点静止下落</a:t>
                          </a:r>
                          <a:b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8_4645f"/>
                            </a:rPr>
                            <a:t>到最低点的过程中</a:t>
                          </a:r>
                          <a:b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的时间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可求得这个过程中重力的冲量大小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00113">
                    <a:tc rowSpan="4"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en-US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②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从高空</a:t>
                          </a:r>
                          <a:r>
                            <a:rPr lang="en-US" altLang="zh-CN" sz="24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P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3_0c4d3_⨹_3_5f150_⨹_3_c9c40_⨹_3_e1915"/>
                            </a:rPr>
                            <a:t>处自由</a:t>
                          </a:r>
                          <a:b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下落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5_1d2d8_⨹_5_e29ac_⨹_5_acbf2_⨹_5_43813"/>
                            </a:rPr>
                            <a:t>到橡皮绳刚</a:t>
                          </a:r>
                          <a:b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伸直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（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楷体" pitchFamily="28"/>
                            </a:rPr>
                            <a:t>原长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）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  <a:blipFill>
                          <a:blip r:embed="rId2"/>
                          <a:stretch>
                            <a:fillRect l="-43127" t="-189865" r="-151" b="-3060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90854">
                    <a:tc vMerge="1"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endParaRPr/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  <a:blipFill>
                          <a:blip r:embed="rId2"/>
                          <a:stretch>
                            <a:fillRect l="-43127" t="-263190" r="-151" b="-1779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822960">
                    <a:tc vMerge="1"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endParaRPr/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zh-CN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22_60d15"/>
                            </a:rPr>
                            <a:t>然后得出从橡皮绳开始伸直到人下落到最低点的过</a:t>
                          </a:r>
                          <a:br>
                            <a:rPr lang="zh-CN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程所用时间为</a:t>
                          </a:r>
                          <a:r>
                            <a:rPr lang="en-US" altLang="zh-CN" sz="24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  <a:r>
                            <a:rPr lang="en-US" altLang="zh-CN" sz="24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4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  <a:r>
                            <a:rPr lang="zh-CN" altLang="zh-CN" sz="24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总</a:t>
                          </a:r>
                          <a:r>
                            <a:rPr lang="zh-CN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－</a:t>
                          </a:r>
                          <a:r>
                            <a:rPr lang="en-US" altLang="zh-CN" sz="24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  <a:r>
                            <a:rPr lang="en-US" altLang="zh-CN" sz="24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</a:t>
                          </a:r>
                          <a:r>
                            <a:rPr lang="zh-CN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＝（</a:t>
                          </a:r>
                          <a:r>
                            <a:rPr lang="en-US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9</a:t>
                          </a:r>
                          <a:r>
                            <a:rPr lang="zh-CN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－</a:t>
                          </a:r>
                          <a:r>
                            <a:rPr lang="en-US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3</a:t>
                          </a:r>
                          <a:r>
                            <a:rPr lang="zh-CN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）</a:t>
                          </a:r>
                          <a:r>
                            <a:rPr lang="en-US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s</a:t>
                          </a:r>
                          <a:r>
                            <a:rPr lang="zh-CN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6</a:t>
                          </a:r>
                          <a:r>
                            <a:rPr lang="zh-CN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4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s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822960">
                    <a:tc vMerge="1"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endParaRPr/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利用动量定理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（</a:t>
                          </a:r>
                          <a:r>
                            <a:rPr lang="en-US" altLang="zh-CN" sz="24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mg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－</a:t>
                          </a:r>
                          <a:r>
                            <a:rPr lang="en-US" altLang="zh-CN" sz="24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F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）</a:t>
                          </a:r>
                          <a:r>
                            <a:rPr lang="en-US" altLang="zh-CN" sz="24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  <a:r>
                            <a:rPr lang="en-US" altLang="zh-CN" sz="2400" b="0" i="0" u="none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0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－</a:t>
                          </a:r>
                          <a:r>
                            <a:rPr lang="en-US" altLang="zh-CN" sz="24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mv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6_dfaca"/>
                            </a:rPr>
                            <a:t>得出人对橡皮</a:t>
                          </a:r>
                          <a:b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4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绳的平均作用力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A7771F06-4D09-4D52-8448-C0D3F774EA5E}"/>
              </a:ext>
            </a:extLst>
          </p:cNvPr>
          <p:cNvSpPr txBox="1"/>
          <p:nvPr/>
        </p:nvSpPr>
        <p:spPr>
          <a:xfrm>
            <a:off x="324001" y="595399"/>
            <a:ext cx="6121400" cy="605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993300"/>
                </a:solidFill>
                <a:effectLst/>
                <a:latin typeface="黑体" pitchFamily="28"/>
                <a:ea typeface="黑体" pitchFamily="28"/>
              </a:rPr>
              <a:t>教您审题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4" name="yt_shape_10534"/>
          <p:cNvSpPr txBox="1"/>
          <p:nvPr/>
        </p:nvSpPr>
        <p:spPr>
          <a:xfrm>
            <a:off x="324000" y="467999"/>
            <a:ext cx="6543458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400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800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</a:p>
        </p:txBody>
      </p:sp>
      <p:sp>
        <p:nvSpPr>
          <p:cNvPr id="10535" name="yt_shape_10535"/>
          <p:cNvSpPr txBox="1"/>
          <p:nvPr/>
        </p:nvSpPr>
        <p:spPr>
          <a:xfrm>
            <a:off x="324000" y="1050984"/>
            <a:ext cx="5376472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大小为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900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方向竖直向下</a:t>
            </a:r>
          </a:p>
        </p:txBody>
      </p:sp>
      <p:sp>
        <p:nvSpPr>
          <p:cNvPr id="10536" name="yt_shape_10536"/>
          <p:cNvSpPr txBox="1"/>
          <p:nvPr/>
        </p:nvSpPr>
        <p:spPr>
          <a:xfrm>
            <a:off x="324000" y="1633969"/>
            <a:ext cx="10453183" cy="113543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黑体" pitchFamily="28"/>
              </a:rPr>
              <a:t>规范解答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：（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人从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点下落到最低点的过程中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重力的冲量大小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mgt</a:t>
            </a:r>
            <a:r>
              <a:rPr lang="zh-CN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总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60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9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400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分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37" name="yt_shape_10537"/>
              <p:cNvSpPr txBox="1"/>
              <p:nvPr/>
            </p:nvSpPr>
            <p:spPr>
              <a:xfrm>
                <a:off x="324071" y="2820196"/>
                <a:ext cx="11924914" cy="192886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人下落到橡皮绳刚伸直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原长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人的速度为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𝑔𝑙</m:t>
                        </m:r>
                      </m:e>
                    </m:ra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0ad32"/>
                  </a:rPr>
                  <a:t>＝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2×10×45</m:t>
                        </m:r>
                      </m:e>
                    </m:ra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分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此时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人的动量大小为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kg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·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800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kg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·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分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</a:p>
            </p:txBody>
          </p:sp>
        </mc:Choice>
        <mc:Fallback xmlns="">
          <p:sp>
            <p:nvSpPr>
              <p:cNvPr id="10537" name="yt_shape_105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2820196"/>
                <a:ext cx="11924914" cy="1928861"/>
              </a:xfrm>
              <a:prstGeom prst="rect">
                <a:avLst/>
              </a:prstGeom>
              <a:blipFill>
                <a:blip r:embed="rId2"/>
                <a:stretch>
                  <a:fillRect l="-1789" b="-104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539" name="yt_shape_10539"/>
              <p:cNvSpPr txBox="1"/>
              <p:nvPr/>
            </p:nvSpPr>
            <p:spPr>
              <a:xfrm>
                <a:off x="324071" y="467999"/>
                <a:ext cx="11924914" cy="6234014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人下落到橡皮绳刚伸直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原长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的过程所用时间为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30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c2c00"/>
                  </a:rPr>
                  <a:t>s</a:t>
                </a:r>
                <a:b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分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从橡皮绳开始伸直到人下落到最低点的过程所用时间为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总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＝（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9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9e6a7"/>
                  </a:rPr>
                  <a:t>－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分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该过程中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设橡皮绳对人的平均作用力大小为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竖直向下为正方向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cdca6"/>
                  </a:rPr>
                  <a:t>根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据动量定理有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mg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分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求得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900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N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分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根据牛顿第三定律可知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人对橡皮绳平均作用力大小为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900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N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4_f3535"/>
                  </a:rPr>
                  <a:t>方向竖直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向下。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分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</a:p>
            </p:txBody>
          </p:sp>
        </mc:Choice>
        <mc:Fallback xmlns="">
          <p:sp>
            <p:nvSpPr>
              <p:cNvPr id="10539" name="yt_shape_105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6234014"/>
              </a:xfrm>
              <a:prstGeom prst="rect">
                <a:avLst/>
              </a:prstGeom>
              <a:blipFill>
                <a:blip r:embed="rId2"/>
                <a:stretch>
                  <a:fillRect l="-1789" b="-26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1" name="yt_shape_10541"/>
          <p:cNvSpPr txBox="1"/>
          <p:nvPr/>
        </p:nvSpPr>
        <p:spPr>
          <a:xfrm>
            <a:off x="324071" y="467999"/>
            <a:ext cx="11924914" cy="148780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/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【例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】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在水平力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30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的作用下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质量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9_750fc"/>
              </a:rPr>
              <a:t>的物体由静止开始沿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水平面运动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已知物体与水平面间的动摩擦因数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μ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若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作用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d0c98"/>
              </a:rPr>
              <a:t>后撤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去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撤去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后物体还能向前运动多长时间才能停止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取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）？</a:t>
            </a:r>
          </a:p>
        </p:txBody>
      </p:sp>
      <p:sp>
        <p:nvSpPr>
          <p:cNvPr id="10542" name="yt_shape_10542"/>
          <p:cNvSpPr txBox="1"/>
          <p:nvPr/>
        </p:nvSpPr>
        <p:spPr>
          <a:xfrm>
            <a:off x="324071" y="1790700"/>
            <a:ext cx="1665521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12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yt_shape_10543">
                <a:extLst>
                  <a:ext uri="{FF2B5EF4-FFF2-40B4-BE49-F238E27FC236}">
                    <a16:creationId xmlns:a16="http://schemas.microsoft.com/office/drawing/2014/main" id="{836EE00D-0C75-4786-A3E9-B0008AF02FE3}"/>
                  </a:ext>
                </a:extLst>
              </p:cNvPr>
              <p:cNvSpPr txBox="1"/>
              <p:nvPr/>
            </p:nvSpPr>
            <p:spPr>
              <a:xfrm>
                <a:off x="324071" y="2322897"/>
                <a:ext cx="11924914" cy="443663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2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解法一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用动量定理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分段求解</a:t>
                </a:r>
              </a:p>
              <a:p>
                <a:pPr algn="l" eaLnBrk="1" latinLnBrk="0" hangingPunct="0">
                  <a:lnSpc>
                    <a:spcPct val="12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选物体为研究对象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对于撤去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前物体做匀加速直线运动的过程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58b00"/>
                  </a:rPr>
                  <a:t>初速度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为零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末速度为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取水平力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的方向为正方向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根据动量定理有</a:t>
                </a:r>
              </a:p>
              <a:p>
                <a:pPr algn="l" eaLnBrk="1" latinLnBrk="0" hangingPunct="0">
                  <a:lnSpc>
                    <a:spcPct val="12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μ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mg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</a:p>
              <a:p>
                <a:pPr algn="l" eaLnBrk="1" latinLnBrk="0" hangingPunct="0">
                  <a:lnSpc>
                    <a:spcPct val="12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对于撤去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后物体做匀减速直线运动的过程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初速度为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末速度为零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d1bb9"/>
                  </a:rPr>
                  <a:t>根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据动量定理有</a:t>
                </a:r>
              </a:p>
              <a:p>
                <a:pPr algn="l" eaLnBrk="1" latinLnBrk="0" hangingPunct="0">
                  <a:lnSpc>
                    <a:spcPct val="12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μ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mgt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</a:p>
              <a:p>
                <a:pPr algn="l" eaLnBrk="1" latinLnBrk="0" hangingPunct="0">
                  <a:lnSpc>
                    <a:spcPct val="12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联立解得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𝐹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𝜇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𝑚𝑔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𝜇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𝑚𝑔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30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2×5×10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2×5×10</m:t>
                        </m:r>
                      </m:den>
                    </m:f>
                  </m:oMath>
                </a14:m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 xmlns:a16="http://schemas.microsoft.com/office/drawing/2014/main">
          <p:sp>
            <p:nvSpPr>
              <p:cNvPr id="4" name="yt_shape_10543">
                <a:extLst>
                  <a:ext uri="{FF2B5EF4-FFF2-40B4-BE49-F238E27FC236}">
                    <a16:creationId xmlns:a16="http://schemas.microsoft.com/office/drawing/2014/main" id="{836EE00D-0C75-4786-A3E9-B0008AF02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2322897"/>
                <a:ext cx="11924914" cy="4436635"/>
              </a:xfrm>
              <a:prstGeom prst="rect">
                <a:avLst/>
              </a:prstGeom>
              <a:blipFill>
                <a:blip r:embed="rId2"/>
                <a:stretch>
                  <a:fillRect l="-1789" t="-2060" b="-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5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2" grpId="0" build="allAtOnce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5" name="yt_shape_10545"/>
          <p:cNvSpPr txBox="1"/>
          <p:nvPr/>
        </p:nvSpPr>
        <p:spPr>
          <a:xfrm>
            <a:off x="324071" y="467999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解法二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用动量定理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研究全过程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选物体为研究对象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研究整个运动过程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4_76191"/>
              </a:rPr>
              <a:t>运动过程中的始、末状态物体的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速度都为零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取水平力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的方向为正方向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根据动量定理得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Ft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0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μ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mg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）＝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46" name="yt_shape_10546"/>
              <p:cNvSpPr txBox="1"/>
              <p:nvPr/>
            </p:nvSpPr>
            <p:spPr>
              <a:xfrm>
                <a:off x="324000" y="2860710"/>
                <a:ext cx="6611362" cy="859274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𝐹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𝜇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𝑚𝑔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𝜇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𝑚𝑔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30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2×5×10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2×5×10</m:t>
                        </m:r>
                      </m:den>
                    </m:f>
                  </m:oMath>
                </a14:m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 xmlns:p15="http://schemas.microsoft.com/office/powerpoint/2012/main">
          <p:sp>
            <p:nvSpPr>
              <p:cNvPr id="10546" name="yt_shape_105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2860710"/>
                <a:ext cx="6611362" cy="859274"/>
              </a:xfrm>
              <a:prstGeom prst="rect">
                <a:avLst/>
              </a:prstGeom>
              <a:blipFill>
                <a:blip r:embed="rId2"/>
                <a:stretch>
                  <a:fillRect l="-3226" r="-2028" b="-7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4="http://schemas.microsoft.com/office/drawing/2010/main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4860" y="1224757"/>
            <a:ext cx="5988843" cy="5988843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0" y="2386170"/>
            <a:ext cx="12192000" cy="1569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79400" sx="99000" sy="99000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4240" y="2112168"/>
            <a:ext cx="10383520" cy="21336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317500" dist="38100" dir="5400000" sx="101000" sy="10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TextBox 14"/>
          <p:cNvSpPr txBox="1"/>
          <p:nvPr/>
        </p:nvSpPr>
        <p:spPr>
          <a:xfrm>
            <a:off x="927100" y="2808613"/>
            <a:ext cx="103250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5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强化点二  应用动量定理处理流体类问题</a:t>
            </a:r>
          </a:p>
        </p:txBody>
      </p:sp>
    </p:spTree>
    <p:extLst>
      <p:ext uri="{BB962C8B-B14F-4D97-AF65-F5344CB8AC3E}">
        <p14:creationId xmlns:p14="http://schemas.microsoft.com/office/powerpoint/2010/main" val="1205559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-0.31667 L 0 4.07407E-6 " pathEditMode="relative" rAng="0" ptsTypes="AA">
                                      <p:cBhvr>
                                        <p:cTn id="14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6" grpId="0" animBg="1"/>
      <p:bldP spid="6" grpId="1" animBg="1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0" name="yt_shape_10550"/>
          <p:cNvSpPr txBox="1"/>
          <p:nvPr/>
        </p:nvSpPr>
        <p:spPr>
          <a:xfrm>
            <a:off x="324000" y="467999"/>
            <a:ext cx="5116785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流体类问题的特点及求解思路</a:t>
            </a:r>
          </a:p>
        </p:txBody>
      </p:sp>
      <p:graphicFrame>
        <p:nvGraphicFramePr>
          <p:cNvPr id="10551" name="yt_table_10551" title="H_507.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648291"/>
              </p:ext>
            </p:extLst>
          </p:nvPr>
        </p:nvGraphicFramePr>
        <p:xfrm>
          <a:off x="324000" y="1203348"/>
          <a:ext cx="11543998" cy="541673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0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1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92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6518">
                <a:tc gridSpan="2"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流体及</a:t>
                      </a:r>
                    </a:p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其特点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 hMerge="1">
                  <a:txBody>
                    <a:bodyPr/>
                    <a:lstStyle/>
                    <a:p>
                      <a:pPr fontAlgn="ctr">
                        <a:lnSpc>
                          <a:spcPct val="140000"/>
                        </a:lnSpc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主要包括液态流体和气态流体这两类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它们的质量具有连续性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  <a:sym typeface="_⨹_1_b7010"/>
                        </a:rPr>
                        <a:t>，</a:t>
                      </a:r>
                      <a:b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</a:b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通常已知密度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ρ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5371">
                <a:tc rowSpan="3"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分</a:t>
                      </a:r>
                    </a:p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析</a:t>
                      </a:r>
                    </a:p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步</a:t>
                      </a:r>
                    </a:p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骤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建立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“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柱状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”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模型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如图所示</a:t>
                      </a:r>
                    </a:p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沿流速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的方向选取一段柱状流体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其横截面积为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6518">
                <a:tc vMerge="1"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endParaRPr/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微元研究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作用时间</a:t>
                      </a:r>
                      <a:r>
                        <a:rPr lang="en-US" altLang="zh-CN" sz="2800" b="0" i="0" u="none" dirty="0" err="1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Δ</a:t>
                      </a:r>
                      <a:r>
                        <a:rPr lang="en-US" altLang="zh-CN" sz="2800" b="0" i="1" u="none" dirty="0" err="1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内的一段柱状流体的长度为</a:t>
                      </a:r>
                      <a:r>
                        <a:rPr lang="en-US" altLang="zh-CN" sz="2800" b="0" i="0" u="none" dirty="0" err="1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Δ</a:t>
                      </a:r>
                      <a:r>
                        <a:rPr lang="en-US" altLang="zh-CN" sz="2800" b="0" i="1" u="none" dirty="0" err="1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l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4_dd027"/>
                        </a:rPr>
                        <a:t>对应的质</a:t>
                      </a:r>
                      <a:b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量为</a:t>
                      </a:r>
                      <a:r>
                        <a:rPr lang="en-US" altLang="zh-CN" sz="2800" b="0" i="0" u="none" dirty="0" err="1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Δ</a:t>
                      </a:r>
                      <a:r>
                        <a:rPr lang="en-US" altLang="zh-CN" sz="2800" b="0" i="1" u="none" dirty="0" err="1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0" u="none" dirty="0" err="1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ρ</a:t>
                      </a:r>
                      <a:r>
                        <a:rPr lang="en-US" altLang="zh-CN" sz="2800" b="0" i="1" u="none" dirty="0" err="1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en-US" altLang="zh-CN" sz="2800" b="0" i="0" u="none" dirty="0" err="1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Δ</a:t>
                      </a:r>
                      <a:r>
                        <a:rPr lang="en-US" altLang="zh-CN" sz="2800" b="0" i="1" u="none" dirty="0" err="1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l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0" u="none" dirty="0" err="1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ρ</a:t>
                      </a:r>
                      <a:r>
                        <a:rPr lang="en-US" altLang="zh-CN" sz="2800" b="0" i="1" u="none" dirty="0" err="1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Sv</a:t>
                      </a:r>
                      <a:r>
                        <a:rPr lang="en-US" altLang="zh-CN" sz="2800" b="0" i="0" u="none" dirty="0" err="1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Δ</a:t>
                      </a:r>
                      <a:r>
                        <a:rPr lang="en-US" altLang="zh-CN" sz="2800" b="0" i="1" u="none" dirty="0" err="1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endParaRPr lang="en-US" altLang="zh-CN" sz="2800" b="0" i="1" u="none" dirty="0">
                        <a:solidFill>
                          <a:srgbClr val="000000"/>
                        </a:solidFill>
                        <a:effectLst/>
                        <a:latin typeface="Times New Roman" pitchFamily="28"/>
                        <a:ea typeface="宋体" pitchFamily="28"/>
                      </a:endParaRP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182">
                <a:tc vMerge="1"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endParaRPr/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建立方程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应用动量定理研究这段柱状流体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yt_shape_1785399364283">
            <a:extLst>
              <a:ext uri="{FF2B5EF4-FFF2-40B4-BE49-F238E27FC236}">
                <a16:creationId xmlns:a16="http://schemas.microsoft.com/office/drawing/2014/main" id="{B0380A0B-46D1-CE52-ECEF-DF28DB84D1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281" y="2637317"/>
            <a:ext cx="2295717" cy="15833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p14="http://schemas.microsoft.com/office/powerpoint/2010/main" xmlns:a16="http://schemas.microsoft.com/office/drawing/2014/main" xmlns:a14="http://schemas.microsoft.com/office/drawing/2010/main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3" name="yt_shape_10553"/>
          <p:cNvSpPr txBox="1"/>
          <p:nvPr/>
        </p:nvSpPr>
        <p:spPr>
          <a:xfrm>
            <a:off x="324000" y="467999"/>
            <a:ext cx="5116785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粒子流问题的特点及求解思路</a:t>
            </a:r>
          </a:p>
        </p:txBody>
      </p:sp>
      <p:graphicFrame>
        <p:nvGraphicFramePr>
          <p:cNvPr id="10554" name="yt_table_10554" title="H_358.08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023970"/>
              </p:ext>
            </p:extLst>
          </p:nvPr>
        </p:nvGraphicFramePr>
        <p:xfrm>
          <a:off x="324000" y="1203348"/>
          <a:ext cx="11543998" cy="454761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0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1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92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999">
                <a:tc gridSpan="2"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微粒及</a:t>
                      </a:r>
                    </a:p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其特点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 hMerge="1">
                  <a:txBody>
                    <a:bodyPr/>
                    <a:lstStyle/>
                    <a:p>
                      <a:pPr fontAlgn="ctr">
                        <a:lnSpc>
                          <a:spcPct val="140000"/>
                        </a:lnSpc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电子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尘埃等微粒可以形成粒子流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2_9ed57"/>
                        </a:rPr>
                        <a:t>此类问题通常给出单位体积</a:t>
                      </a:r>
                      <a:b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内的粒子数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n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999">
                <a:tc rowSpan="3"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分</a:t>
                      </a:r>
                    </a:p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析</a:t>
                      </a:r>
                    </a:p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步</a:t>
                      </a:r>
                    </a:p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骤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建立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“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柱状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”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模型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沿运动的方向选取一段微元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6_d6b94"/>
                        </a:rPr>
                        <a:t>柱体的横截面</a:t>
                      </a:r>
                      <a:b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积为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999">
                <a:tc vMerge="1"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endParaRPr/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微元研究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作用时间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Δ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内的一段柱体的长度为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Δ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l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6_bcb0a"/>
                        </a:rPr>
                        <a:t>对应的体积为</a:t>
                      </a:r>
                      <a:b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Δ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Δ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l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Sv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Δ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则微元内的粒子数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N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nv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Δ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999">
                <a:tc vMerge="1"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endParaRPr/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先应用动量定理研究单个粒子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建立方程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再乘以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N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计算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p14="http://schemas.microsoft.com/office/powerpoint/2010/main" xmlns:a16="http://schemas.microsoft.com/office/drawing/2014/main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6" name="yt_shape_10556"/>
          <p:cNvSpPr txBox="1"/>
          <p:nvPr/>
        </p:nvSpPr>
        <p:spPr>
          <a:xfrm>
            <a:off x="324071" y="467999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【例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】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湖北武汉期中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水力采煤时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fcff4"/>
              </a:rPr>
              <a:t>用水枪在高压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下喷出强力的水柱冲击煤层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设水柱横截面积为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水速为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水的密度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ρ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01258"/>
              </a:rPr>
              <a:t>，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假设水柱射在煤层的表面上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冲击煤层后水的速度变为零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aa1de"/>
              </a:rPr>
              <a:t>则水柱对煤层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的平均冲击力大小是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 dirty="0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10557" name="yt_image_10557" title="H_166.44">
            <a:extLst>
              <a:ext uri="">
                <a16:creationId xmlns="" xmlns:a16="http://schemas.microsoft.com/office/drawing/2014/main" xmlns:p15="http://schemas.microsoft.com/office/powerpoint/2012/main" xmlns:mc="http://schemas.openxmlformats.org/markup-compatibility/2006" xmlns:p14="http://schemas.microsoft.com/office/powerpoint/2010/main" xmlns:a14="http://schemas.microsoft.com/office/drawing/2010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8455" y="3013074"/>
            <a:ext cx="2579474" cy="211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yt_table_10559" title="H_129.83504">
                <a:extLst>
                  <a:ext uri="{FF2B5EF4-FFF2-40B4-BE49-F238E27FC236}">
                    <a16:creationId xmlns:a16="http://schemas.microsoft.com/office/drawing/2014/main" id="{7467DD47-1E8A-4B7F-945D-B0A89C72A2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9121371"/>
                  </p:ext>
                </p:extLst>
              </p:nvPr>
            </p:nvGraphicFramePr>
            <p:xfrm>
              <a:off x="324071" y="3013074"/>
              <a:ext cx="4448493" cy="1648905"/>
            </p:xfrm>
            <a:graphic>
              <a:graphicData uri="http://schemas.openxmlformats.org/drawingml/2006/table">
                <a:tbl>
                  <a:tblPr/>
                  <a:tblGrid>
                    <a:gridCol w="2814955">
                      <a:extLst>
                        <a:ext uri="{9D8B030D-6E8A-4147-A177-3AD203B41FA5}">
                          <a16:colId xmlns:a16="http://schemas.microsoft.com/office/drawing/2014/main" val="10047"/>
                        </a:ext>
                      </a:extLst>
                    </a:gridCol>
                    <a:gridCol w="1633538">
                      <a:extLst>
                        <a:ext uri="{9D8B030D-6E8A-4147-A177-3AD203B41FA5}">
                          <a16:colId xmlns:a16="http://schemas.microsoft.com/office/drawing/2014/main" val="100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ρ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</a:t>
                          </a:r>
                          <a:r>
                            <a:rPr lang="en-US" altLang="zh-CN" sz="2800" b="0" i="0" u="none" baseline="30000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S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𝜌</m:t>
                                  </m:r>
                                  <m:sSup>
                                    <m:sSup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𝑆</m:t>
                                  </m:r>
                                </m:den>
                              </m:f>
                            </m:oMath>
                          </a14:m>
                          <a:endParaRPr lang="en-US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ρ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</a:t>
                          </a:r>
                          <a:r>
                            <a:rPr lang="en-US" altLang="zh-CN" sz="2800" b="0" i="0" u="none" baseline="30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S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ρ</a:t>
                          </a:r>
                          <a:r>
                            <a:rPr lang="en-US" altLang="zh-CN" sz="2800" b="0" i="1" u="none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vS</a:t>
                          </a:r>
                          <a:endParaRPr lang="en-US" altLang="zh-CN" sz="2800" b="0" i="1" u="none" dirty="0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14"/>
                      </a:ext>
                    </a:extLst>
                  </a:tr>
                </a:tbl>
              </a:graphicData>
            </a:graphic>
          </p:graphicFrame>
        </mc:Choice>
        <mc:Fallback xmlns="" xmlns:a16="http://schemas.microsoft.com/office/drawing/2014/main" xmlns:p15="http://schemas.microsoft.com/office/powerpoint/2012/main" xmlns:p14="http://schemas.microsoft.com/office/powerpoint/2010/main">
          <p:graphicFrame>
            <p:nvGraphicFramePr>
              <p:cNvPr id="5" name="yt_table_10559" title="H_129.83504">
                <a:extLst>
                  <a:ext uri="{FF2B5EF4-FFF2-40B4-BE49-F238E27FC236}">
                    <a16:creationId xmlns:a16="http://schemas.microsoft.com/office/drawing/2014/main" id="{7467DD47-1E8A-4B7F-945D-B0A89C72A2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9121371"/>
                  </p:ext>
                </p:extLst>
              </p:nvPr>
            </p:nvGraphicFramePr>
            <p:xfrm>
              <a:off x="324071" y="3013074"/>
              <a:ext cx="4448493" cy="1648905"/>
            </p:xfrm>
            <a:graphic>
              <a:graphicData uri="http://schemas.openxmlformats.org/drawingml/2006/table">
                <a:tbl>
                  <a:tblPr/>
                  <a:tblGrid>
                    <a:gridCol w="2814955">
                      <a:extLst>
                        <a:ext uri="{9D8B030D-6E8A-4147-A177-3AD203B41FA5}">
                          <a16:colId xmlns:a16="http://schemas.microsoft.com/office/drawing/2014/main" val="10047"/>
                        </a:ext>
                      </a:extLst>
                    </a:gridCol>
                    <a:gridCol w="1633538">
                      <a:extLst>
                        <a:ext uri="{9D8B030D-6E8A-4147-A177-3AD203B41FA5}">
                          <a16:colId xmlns:a16="http://schemas.microsoft.com/office/drawing/2014/main" val="10048"/>
                        </a:ext>
                      </a:extLst>
                    </a:gridCol>
                  </a:tblGrid>
                  <a:tr h="865632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ρ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</a:t>
                          </a:r>
                          <a:r>
                            <a:rPr lang="en-US" altLang="zh-CN" sz="2800" b="0" i="0" u="none" baseline="30000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S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3"/>
                          <a:stretch>
                            <a:fillRect l="-172388" b="-1049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13"/>
                      </a:ext>
                    </a:extLst>
                  </a:tr>
                  <a:tr h="78327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3"/>
                          <a:stretch>
                            <a:fillRect t="-110078" r="-58009" b="-155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ρ</a:t>
                          </a:r>
                          <a:r>
                            <a:rPr lang="en-US" altLang="zh-CN" sz="2800" b="0" i="1" u="none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vS</a:t>
                          </a:r>
                          <a:endParaRPr lang="en-US" altLang="zh-CN" sz="2800" b="0" i="1" u="none" dirty="0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1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06BE54C6-CC60-4EEA-8FB6-8946D67C891D}"/>
              </a:ext>
            </a:extLst>
          </p:cNvPr>
          <p:cNvSpPr/>
          <p:nvPr/>
        </p:nvSpPr>
        <p:spPr>
          <a:xfrm>
            <a:off x="92281" y="3142750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p14="http://schemas.microsoft.com/office/powerpoint/2010/main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560" name="yt_shape_10560"/>
              <p:cNvSpPr txBox="1"/>
              <p:nvPr/>
            </p:nvSpPr>
            <p:spPr>
              <a:xfrm>
                <a:off x="267086" y="1303728"/>
                <a:ext cx="11924914" cy="301223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时间内水枪射出水的质量为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则有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ρ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·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ρ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·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_fe3b5"/>
                  </a:rPr>
                  <a:t>以这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小段水柱为研究对象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选取初速度的方向为正方向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9_bf6b7"/>
                  </a:rPr>
                  <a:t>设煤层对水柱的平均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作用力为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barPr>
                      <m:e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𝐹</m:t>
                        </m:r>
                      </m:e>
                    </m:bar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根据动量定理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barPr>
                      <m:e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𝐹</m:t>
                        </m:r>
                      </m:e>
                    </m:bar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·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·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联立解得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barPr>
                      <m:e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𝐹</m:t>
                        </m:r>
                      </m:e>
                    </m:bar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ρ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Sv</a:t>
                </a:r>
                <a:r>
                  <a:rPr lang="en-US" altLang="zh-CN" sz="2800" b="0" i="0" u="none" baseline="30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68a12"/>
                  </a:rPr>
                  <a:t>。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根据牛顿第三定律可知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1_04880"/>
                  </a:rPr>
                  <a:t>水柱对煤层平均作用力的大小等于煤层对水柱平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均作用力的大小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即水柱对煤层平均作用力的大小为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ρ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Sv</a:t>
                </a:r>
                <a:r>
                  <a:rPr lang="en-US" altLang="zh-CN" sz="2800" b="0" i="0" u="none" baseline="30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。故选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>
          <p:sp>
            <p:nvSpPr>
              <p:cNvPr id="10560" name="yt_shape_105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86" y="1303728"/>
                <a:ext cx="11924914" cy="3012235"/>
              </a:xfrm>
              <a:prstGeom prst="rect">
                <a:avLst/>
              </a:prstGeom>
              <a:blipFill>
                <a:blip r:embed="rId2"/>
                <a:stretch>
                  <a:fillRect l="-1840" t="-810" b="-6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2" name="yt_shape_10562"/>
          <p:cNvSpPr txBox="1"/>
          <p:nvPr/>
        </p:nvSpPr>
        <p:spPr>
          <a:xfrm>
            <a:off x="324071" y="467999"/>
            <a:ext cx="11924914" cy="354840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【例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】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广东佛山质检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7_56aef"/>
              </a:rPr>
              <a:t>悬浮床是一种基于气体流动悬浮原理设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计的医疗设备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通过向床内充入高压气体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3_26f40"/>
              </a:rPr>
              <a:t>使重症烧伤患者的身体悬浮在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空中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从而减少创面受压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促进创面愈合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3_ed093"/>
              </a:rPr>
              <a:t>人体下方的床板源源不断地往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上喷出气体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设气体遇到人体后速度大小变为原本的十分之一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b0800"/>
              </a:rPr>
              <a:t>方向向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已知人体质量为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喷出气体的速率为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重力加速度为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3cd14"/>
              </a:rPr>
              <a:t>时间内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喷出气体的质量为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 dirty="0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4" name="yt_image_10563" title="H_195.24">
            <a:extLst>
              <a:ext uri="{FF2B5EF4-FFF2-40B4-BE49-F238E27FC236}">
                <a16:creationId xmlns:a16="http://schemas.microsoft.com/office/drawing/2014/main" id="{5F044187-3F63-4777-AB17-902EA037CBE4}"/>
              </a:ext>
              <a:ext uri="">
                <a16:creationId xmlns="" xmlns:a16="http://schemas.microsoft.com/office/drawing/2014/main" xmlns:p15="http://schemas.microsoft.com/office/powerpoint/2012/main" xmlns:mc="http://schemas.openxmlformats.org/markup-compatibility/2006" xmlns:p14="http://schemas.microsoft.com/office/powerpoint/2010/main" xmlns:a14="http://schemas.microsoft.com/office/drawing/2010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27148" y="3718564"/>
            <a:ext cx="3440781" cy="2479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yt_table_10565" title="H_134.22008">
                <a:extLst>
                  <a:ext uri="{FF2B5EF4-FFF2-40B4-BE49-F238E27FC236}">
                    <a16:creationId xmlns:a16="http://schemas.microsoft.com/office/drawing/2014/main" id="{05FFEE95-0CF6-4BD8-A58D-3DB824C035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5576368"/>
                  </p:ext>
                </p:extLst>
              </p:nvPr>
            </p:nvGraphicFramePr>
            <p:xfrm>
              <a:off x="324071" y="4254961"/>
              <a:ext cx="5024946" cy="1704595"/>
            </p:xfrm>
            <a:graphic>
              <a:graphicData uri="http://schemas.openxmlformats.org/drawingml/2006/table">
                <a:tbl>
                  <a:tblPr/>
                  <a:tblGrid>
                    <a:gridCol w="2988882">
                      <a:extLst>
                        <a:ext uri="{9D8B030D-6E8A-4147-A177-3AD203B41FA5}">
                          <a16:colId xmlns:a16="http://schemas.microsoft.com/office/drawing/2014/main" val="10049"/>
                        </a:ext>
                      </a:extLst>
                    </a:gridCol>
                    <a:gridCol w="2036064">
                      <a:extLst>
                        <a:ext uri="{9D8B030D-6E8A-4147-A177-3AD203B41FA5}">
                          <a16:colId xmlns:a16="http://schemas.microsoft.com/office/drawing/2014/main" val="100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11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𝑀𝑔𝑡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10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𝑣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−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𝑔𝑡</m:t>
                                  </m:r>
                                </m:den>
                              </m:f>
                            </m:oMath>
                          </a14:m>
                          <a:endParaRPr lang="en-US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10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𝑀𝑔𝑡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11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𝑣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−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𝑔𝑡</m:t>
                                  </m:r>
                                </m:den>
                              </m:f>
                            </m:oMath>
                          </a14:m>
                          <a:endParaRPr lang="en-US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11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𝑀𝑔𝑡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10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𝑣</m:t>
                                  </m:r>
                                </m:den>
                              </m:f>
                            </m:oMath>
                          </a14:m>
                          <a:endParaRPr lang="en-US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10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𝑀𝑔𝑡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11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𝑣</m:t>
                                  </m:r>
                                </m:den>
                              </m:f>
                            </m:oMath>
                          </a14:m>
                          <a:endParaRPr lang="en-US" altLang="zh-CN" sz="2800" b="0" i="0" u="none" dirty="0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16"/>
                      </a:ext>
                    </a:extLst>
                  </a:tr>
                </a:tbl>
              </a:graphicData>
            </a:graphic>
          </p:graphicFrame>
        </mc:Choice>
        <mc:Fallback xmlns="" xmlns:a16="http://schemas.microsoft.com/office/drawing/2014/main" xmlns:p15="http://schemas.microsoft.com/office/powerpoint/2012/main" xmlns:p14="http://schemas.microsoft.com/office/powerpoint/2010/main">
          <p:graphicFrame>
            <p:nvGraphicFramePr>
              <p:cNvPr id="5" name="yt_table_10565" title="H_134.22008">
                <a:extLst>
                  <a:ext uri="{FF2B5EF4-FFF2-40B4-BE49-F238E27FC236}">
                    <a16:creationId xmlns:a16="http://schemas.microsoft.com/office/drawing/2014/main" id="{05FFEE95-0CF6-4BD8-A58D-3DB824C035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5576368"/>
                  </p:ext>
                </p:extLst>
              </p:nvPr>
            </p:nvGraphicFramePr>
            <p:xfrm>
              <a:off x="324071" y="4254961"/>
              <a:ext cx="5024946" cy="1704595"/>
            </p:xfrm>
            <a:graphic>
              <a:graphicData uri="http://schemas.openxmlformats.org/drawingml/2006/table">
                <a:tbl>
                  <a:tblPr/>
                  <a:tblGrid>
                    <a:gridCol w="2988882">
                      <a:extLst>
                        <a:ext uri="{9D8B030D-6E8A-4147-A177-3AD203B41FA5}">
                          <a16:colId xmlns:a16="http://schemas.microsoft.com/office/drawing/2014/main" val="10049"/>
                        </a:ext>
                      </a:extLst>
                    </a:gridCol>
                    <a:gridCol w="2036064">
                      <a:extLst>
                        <a:ext uri="{9D8B030D-6E8A-4147-A177-3AD203B41FA5}">
                          <a16:colId xmlns:a16="http://schemas.microsoft.com/office/drawing/2014/main" val="10050"/>
                        </a:ext>
                      </a:extLst>
                    </a:gridCol>
                  </a:tblGrid>
                  <a:tr h="916369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3"/>
                          <a:stretch>
                            <a:fillRect r="-68024" b="-993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3"/>
                          <a:stretch>
                            <a:fillRect l="-147006" b="-993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15"/>
                      </a:ext>
                    </a:extLst>
                  </a:tr>
                  <a:tr h="78822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3"/>
                          <a:stretch>
                            <a:fillRect t="-116154" r="-68024" b="-1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3"/>
                          <a:stretch>
                            <a:fillRect l="-147006" t="-116154" b="-1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F59A2C52-BB60-4548-9444-A8A36CF6EF87}"/>
              </a:ext>
            </a:extLst>
          </p:cNvPr>
          <p:cNvSpPr/>
          <p:nvPr/>
        </p:nvSpPr>
        <p:spPr>
          <a:xfrm>
            <a:off x="3152981" y="5400792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p14="http://schemas.microsoft.com/office/powerpoint/2010/main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6" name="yt_shape_10566"/>
          <p:cNvSpPr txBox="1"/>
          <p:nvPr/>
        </p:nvSpPr>
        <p:spPr>
          <a:xfrm>
            <a:off x="324071" y="467999"/>
            <a:ext cx="11543998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</a:t>
            </a: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设极短</a:t>
            </a:r>
            <a:r>
              <a:rPr lang="en-US" altLang="zh-CN" sz="2800" b="0" i="0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时间内喷出气体的质量为</a:t>
            </a:r>
            <a:r>
              <a:rPr lang="en-US" altLang="zh-CN" sz="2800" b="0" i="0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以喷出气体</a:t>
            </a:r>
            <a:r>
              <a:rPr lang="en-US" altLang="zh-CN" sz="2800" b="0" i="0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为对象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dabcb"/>
              </a:rPr>
              <a:t>以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向上为正方向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根据动量定理可得</a:t>
            </a:r>
          </a:p>
        </p:txBody>
      </p:sp>
      <p:pic>
        <p:nvPicPr>
          <p:cNvPr id="10567" name="yt_image_10567" title="H_129">
            <a:extLst>
              <a:ext uri="">
                <a16:creationId xmlns="" xmlns:a16="http://schemas.microsoft.com/office/drawing/2014/main" xmlns:p15="http://schemas.microsoft.com/office/powerpoint/2012/main" xmlns:mc="http://schemas.openxmlformats.org/markup-compatibility/2006" xmlns:p14="http://schemas.microsoft.com/office/powerpoint/2010/main" xmlns:a14="http://schemas.microsoft.com/office/drawing/2010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3199" y="1806590"/>
            <a:ext cx="6865601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1" name="yt_shape_10571"/>
          <p:cNvSpPr txBox="1"/>
          <p:nvPr/>
        </p:nvSpPr>
        <p:spPr>
          <a:xfrm>
            <a:off x="267086" y="2271399"/>
            <a:ext cx="11924914" cy="152590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若求解流体对接触物体的力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首先转换研究对象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7_2638e"/>
              </a:rPr>
              <a:t>分析与流体接触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的物体对流体的力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再结合牛顿第三定律进行解答。</a:t>
            </a:r>
          </a:p>
          <a:p>
            <a:pPr algn="l" eaLnBrk="1" latinLnBrk="0" hangingPunct="0">
              <a:lnSpc>
                <a:spcPct val="140000"/>
              </a:lnSpc>
            </a:pPr>
            <a:endParaRPr lang="zh-CN" altLang="zh-CN" sz="2800" b="0" i="0" u="none" dirty="0">
              <a:solidFill>
                <a:srgbClr val="000000"/>
              </a:solidFill>
              <a:effectLst/>
              <a:latin typeface="宋体" pitchFamily="28"/>
              <a:ea typeface="宋体" pitchFamily="28"/>
            </a:endParaRPr>
          </a:p>
        </p:txBody>
      </p:sp>
      <p:sp>
        <p:nvSpPr>
          <p:cNvPr id="4" name="yt_shape_10569">
            <a:extLst>
              <a:ext uri="{FF2B5EF4-FFF2-40B4-BE49-F238E27FC236}">
                <a16:creationId xmlns:a16="http://schemas.microsoft.com/office/drawing/2014/main" id="{C6333B7D-F00B-4CD4-8D2B-100295F85ABE}"/>
              </a:ext>
            </a:extLst>
          </p:cNvPr>
          <p:cNvSpPr txBox="1"/>
          <p:nvPr/>
        </p:nvSpPr>
        <p:spPr>
          <a:xfrm>
            <a:off x="267086" y="532718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993300"/>
                </a:solidFill>
                <a:effectLst/>
                <a:latin typeface="黑体" pitchFamily="28"/>
                <a:ea typeface="黑体" pitchFamily="28"/>
              </a:rPr>
              <a:t>方法技巧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用动量定理处理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楷体" pitchFamily="28"/>
                <a:ea typeface="楷体" pitchFamily="28"/>
              </a:rPr>
              <a:t>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流体类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楷体" pitchFamily="28"/>
                <a:ea typeface="楷体" pitchFamily="28"/>
              </a:rPr>
              <a:t>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问题时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应将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楷体" pitchFamily="28"/>
                <a:ea typeface="楷体" pitchFamily="28"/>
              </a:rPr>
              <a:t>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无形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楷体" pitchFamily="28"/>
                <a:ea typeface="楷体" pitchFamily="28"/>
              </a:rPr>
              <a:t>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流体变为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楷体" pitchFamily="28"/>
                <a:ea typeface="楷体" pitchFamily="28"/>
              </a:rPr>
              <a:t>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1_5b40f"/>
              </a:rPr>
              <a:t>有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形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楷体" pitchFamily="28"/>
                <a:ea typeface="楷体" pitchFamily="28"/>
              </a:rPr>
              <a:t>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实物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5" name="yt_shape_10575"/>
          <p:cNvSpPr txBox="1"/>
          <p:nvPr/>
        </p:nvSpPr>
        <p:spPr>
          <a:xfrm>
            <a:off x="267086" y="4824099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</a:t>
            </a: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飞船在尘埃区飞行</a:t>
            </a:r>
            <a:r>
              <a:rPr lang="en-US" altLang="zh-CN" sz="2800" b="0" i="0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时间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7_2fef1"/>
              </a:rPr>
              <a:t>则在这段时间内附着在飞船上的微粒质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量</a:t>
            </a:r>
            <a:r>
              <a:rPr lang="en-US" altLang="zh-CN" sz="2800" b="0" i="0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ρ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Sv</a:t>
            </a:r>
            <a:r>
              <a:rPr lang="en-US" altLang="zh-CN" sz="2800" b="0" i="0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03CE3D5-5ED6-4608-B321-E6901C1161B8}"/>
              </a:ext>
            </a:extLst>
          </p:cNvPr>
          <p:cNvSpPr txBox="1"/>
          <p:nvPr/>
        </p:nvSpPr>
        <p:spPr>
          <a:xfrm>
            <a:off x="78385" y="458829"/>
            <a:ext cx="12113615" cy="3649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【例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】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《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三体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》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中描绘了三体舰队通过尘埃区被动减速的场景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8ec29"/>
              </a:rPr>
              <a:t>引起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了天文爱好者们的讨论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如果想要不减速通过尘埃区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8_629c2"/>
              </a:rPr>
              <a:t>就需要飞船提供足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够的动力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假设尘埃区密度为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ρ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 baseline="30000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0" u="none" baseline="30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8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kg/m</a:t>
            </a:r>
            <a:r>
              <a:rPr lang="en-US" altLang="zh-CN" sz="2800" b="0" i="0" u="none" baseline="30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9_63662"/>
              </a:rPr>
              <a:t>飞船进入尘埃区的速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度为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en-US" altLang="zh-CN" sz="2800" b="0" i="0" u="none" baseline="30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飞船垂直于运动方向上的最大横截面积为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ef877"/>
              </a:rPr>
              <a:t> 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30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尘埃微粒与飞船相碰后都附着在飞船上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单位时间</a:t>
            </a:r>
            <a:r>
              <a:rPr lang="en-US" altLang="zh-CN" sz="2800" b="0" i="0" u="none" dirty="0" err="1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 dirty="0" err="1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内附着在飞船上的微粒质量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  <a:endParaRPr lang="zh-CN" altLang="en-US" sz="2800" dirty="0"/>
          </a:p>
        </p:txBody>
      </p:sp>
      <p:sp>
        <p:nvSpPr>
          <p:cNvPr id="7" name="yt_shape_10574">
            <a:extLst>
              <a:ext uri="{FF2B5EF4-FFF2-40B4-BE49-F238E27FC236}">
                <a16:creationId xmlns:a16="http://schemas.microsoft.com/office/drawing/2014/main" id="{E520B2D4-8EEE-4FBB-A15B-494A5BC8B940}"/>
              </a:ext>
            </a:extLst>
          </p:cNvPr>
          <p:cNvSpPr txBox="1"/>
          <p:nvPr/>
        </p:nvSpPr>
        <p:spPr>
          <a:xfrm>
            <a:off x="267086" y="4169622"/>
            <a:ext cx="2064668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5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75" grpId="0" build="allAtOnce"/>
      <p:bldP spid="7" grpId="0" build="allAtOnce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8" name="yt_shape_10578"/>
          <p:cNvSpPr txBox="1"/>
          <p:nvPr/>
        </p:nvSpPr>
        <p:spPr>
          <a:xfrm>
            <a:off x="324000" y="1746917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</a:t>
            </a: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微粒由静止到与飞船一起运动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微粒的动量增加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6_bcbea"/>
              </a:rPr>
              <a:t>由动量定理得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mv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ρ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Sv</a:t>
            </a:r>
            <a:r>
              <a:rPr lang="en-US" altLang="zh-CN" sz="2800" b="0" i="0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tv</a:t>
            </a:r>
            <a:endParaRPr lang="en-US" altLang="zh-CN" sz="2800" b="0" i="1" u="none" dirty="0">
              <a:solidFill>
                <a:srgbClr val="C00000"/>
              </a:solidFill>
              <a:effectLst/>
              <a:latin typeface="Times New Roman" pitchFamily="28"/>
              <a:ea typeface="宋体" pitchFamily="28"/>
            </a:endParaRP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所以飞船所需推力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F'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ρ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Sv</a:t>
            </a:r>
            <a:r>
              <a:rPr lang="en-US" altLang="zh-CN" sz="2800" b="0" i="0" u="none" baseline="30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 baseline="3000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0" u="none" baseline="30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8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en-US" altLang="zh-CN" sz="2800" b="0" i="0" u="none" baseline="30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0" u="none" baseline="30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  <a:sym typeface="_⨹_1_88e36"/>
              </a:rPr>
              <a:t>＝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en-US" altLang="zh-CN" sz="2800" b="0" i="0" u="none" baseline="30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  <p:sp>
        <p:nvSpPr>
          <p:cNvPr id="10581" name="yt_shape_10581"/>
          <p:cNvSpPr txBox="1"/>
          <p:nvPr/>
        </p:nvSpPr>
        <p:spPr>
          <a:xfrm>
            <a:off x="324071" y="3505757"/>
            <a:ext cx="718145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</a:p>
        </p:txBody>
      </p:sp>
      <p:sp>
        <p:nvSpPr>
          <p:cNvPr id="6" name="yt_shape_10576">
            <a:extLst>
              <a:ext uri="{FF2B5EF4-FFF2-40B4-BE49-F238E27FC236}">
                <a16:creationId xmlns:a16="http://schemas.microsoft.com/office/drawing/2014/main" id="{946EE486-70DE-49E9-81FB-A54142652267}"/>
              </a:ext>
            </a:extLst>
          </p:cNvPr>
          <p:cNvSpPr txBox="1"/>
          <p:nvPr/>
        </p:nvSpPr>
        <p:spPr>
          <a:xfrm>
            <a:off x="267015" y="580947"/>
            <a:ext cx="7160615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飞船要保持速度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不变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所需推力多大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7" name="yt_shape_10577">
            <a:extLst>
              <a:ext uri="{FF2B5EF4-FFF2-40B4-BE49-F238E27FC236}">
                <a16:creationId xmlns:a16="http://schemas.microsoft.com/office/drawing/2014/main" id="{30924DA2-5045-42C1-9B61-9A55ED02B0B0}"/>
              </a:ext>
            </a:extLst>
          </p:cNvPr>
          <p:cNvSpPr txBox="1"/>
          <p:nvPr/>
        </p:nvSpPr>
        <p:spPr>
          <a:xfrm>
            <a:off x="267015" y="1163932"/>
            <a:ext cx="2803653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en-US" altLang="zh-CN" sz="2800" b="0" i="0" u="none" baseline="30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78" grpId="0" build="allAtOnce"/>
      <p:bldP spid="7" grpId="0" build="allAtOnce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4860" y="1224757"/>
            <a:ext cx="5988843" cy="5988843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0" y="2386170"/>
            <a:ext cx="12192000" cy="1569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79400" sx="99000" sy="99000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4240" y="2112168"/>
            <a:ext cx="10383520" cy="21336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317500" dist="38100" dir="5400000" sx="101000" sy="10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TextBox 14"/>
          <p:cNvSpPr txBox="1"/>
          <p:nvPr/>
        </p:nvSpPr>
        <p:spPr>
          <a:xfrm>
            <a:off x="4076699" y="2719713"/>
            <a:ext cx="398780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课时作业</a:t>
            </a:r>
          </a:p>
        </p:txBody>
      </p:sp>
    </p:spTree>
    <p:extLst>
      <p:ext uri="{BB962C8B-B14F-4D97-AF65-F5344CB8AC3E}">
        <p14:creationId xmlns:p14="http://schemas.microsoft.com/office/powerpoint/2010/main" val="938321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-0.31667 L 0 4.07407E-6 " pathEditMode="relative" rAng="0" ptsTypes="AA">
                                      <p:cBhvr>
                                        <p:cTn id="14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6" grpId="0" animBg="1"/>
      <p:bldP spid="6" grpId="1" animBg="1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4" name="yt_shape_10584"/>
          <p:cNvSpPr txBox="1"/>
          <p:nvPr/>
        </p:nvSpPr>
        <p:spPr>
          <a:xfrm>
            <a:off x="324001" y="1356999"/>
            <a:ext cx="11543998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水平面上一质量为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的物体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在水平推力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的作用下由静止开始运动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fb8ca"/>
              </a:rPr>
              <a:t>。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经时间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2Δ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撤去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又经过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3Δ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物体停止运动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重力加速度为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ff41f"/>
              </a:rPr>
              <a:t>则该物体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与水平面之间的动摩擦因数为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585" name="yt_table_10585" title="H_72.15504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0107686"/>
                  </p:ext>
                </p:extLst>
              </p:nvPr>
            </p:nvGraphicFramePr>
            <p:xfrm>
              <a:off x="323996" y="3146468"/>
              <a:ext cx="9215121" cy="916369"/>
            </p:xfrm>
            <a:graphic>
              <a:graphicData uri="http://schemas.openxmlformats.org/drawingml/2006/table">
                <a:tbl>
                  <a:tblPr/>
                  <a:tblGrid>
                    <a:gridCol w="2471738">
                      <a:extLst>
                        <a:ext uri="{9D8B030D-6E8A-4147-A177-3AD203B41FA5}">
                          <a16:colId xmlns:a16="http://schemas.microsoft.com/office/drawing/2014/main" val="10051"/>
                        </a:ext>
                      </a:extLst>
                    </a:gridCol>
                    <a:gridCol w="2451100">
                      <a:extLst>
                        <a:ext uri="{9D8B030D-6E8A-4147-A177-3AD203B41FA5}">
                          <a16:colId xmlns:a16="http://schemas.microsoft.com/office/drawing/2014/main" val="10052"/>
                        </a:ext>
                      </a:extLst>
                    </a:gridCol>
                    <a:gridCol w="2601913">
                      <a:extLst>
                        <a:ext uri="{9D8B030D-6E8A-4147-A177-3AD203B41FA5}">
                          <a16:colId xmlns:a16="http://schemas.microsoft.com/office/drawing/2014/main" val="10053"/>
                        </a:ext>
                      </a:extLst>
                    </a:gridCol>
                    <a:gridCol w="1690370">
                      <a:extLst>
                        <a:ext uri="{9D8B030D-6E8A-4147-A177-3AD203B41FA5}">
                          <a16:colId xmlns:a16="http://schemas.microsoft.com/office/drawing/2014/main" val="1005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𝐹</m:t>
                                  </m:r>
                                </m:num>
                                <m:den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𝑚𝑔</m:t>
                                  </m:r>
                                </m:den>
                              </m:f>
                            </m:oMath>
                          </a14:m>
                          <a:endParaRPr lang="en-US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𝐹</m:t>
                                  </m:r>
                                </m:num>
                                <m:den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𝑚𝑔</m:t>
                                  </m:r>
                                </m:den>
                              </m:f>
                            </m:oMath>
                          </a14:m>
                          <a:endParaRPr lang="en-US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𝐹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5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𝑚𝑔</m:t>
                                  </m:r>
                                </m:den>
                              </m:f>
                            </m:oMath>
                          </a14:m>
                          <a:endParaRPr lang="en-US" altLang="zh-CN" sz="2800" b="0" i="0" u="none" dirty="0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𝐹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5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𝑚𝑔</m:t>
                                  </m:r>
                                </m:den>
                              </m:f>
                            </m:oMath>
                          </a14:m>
                          <a:endParaRPr lang="en-US" altLang="zh-CN" sz="2800" b="0" i="0" u="none" dirty="0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17"/>
                      </a:ext>
                    </a:extLst>
                  </a:tr>
                </a:tbl>
              </a:graphicData>
            </a:graphic>
          </p:graphicFrame>
        </mc:Choice>
        <mc:Fallback xmlns="" xmlns:a16="http://schemas.microsoft.com/office/drawing/2014/main" xmlns:p14="http://schemas.microsoft.com/office/powerpoint/2010/main" xmlns:p15="http://schemas.microsoft.com/office/powerpoint/2012/main">
          <p:graphicFrame>
            <p:nvGraphicFramePr>
              <p:cNvPr id="10585" name="yt_table_10585" title="H_72.15504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0107686"/>
                  </p:ext>
                </p:extLst>
              </p:nvPr>
            </p:nvGraphicFramePr>
            <p:xfrm>
              <a:off x="323996" y="3146468"/>
              <a:ext cx="9215121" cy="916369"/>
            </p:xfrm>
            <a:graphic>
              <a:graphicData uri="http://schemas.openxmlformats.org/drawingml/2006/table">
                <a:tbl>
                  <a:tblPr/>
                  <a:tblGrid>
                    <a:gridCol w="2471738">
                      <a:extLst>
                        <a:ext uri="{9D8B030D-6E8A-4147-A177-3AD203B41FA5}">
                          <a16:colId xmlns:a16="http://schemas.microsoft.com/office/drawing/2014/main" val="10051"/>
                        </a:ext>
                      </a:extLst>
                    </a:gridCol>
                    <a:gridCol w="2451100">
                      <a:extLst>
                        <a:ext uri="{9D8B030D-6E8A-4147-A177-3AD203B41FA5}">
                          <a16:colId xmlns:a16="http://schemas.microsoft.com/office/drawing/2014/main" val="10052"/>
                        </a:ext>
                      </a:extLst>
                    </a:gridCol>
                    <a:gridCol w="2601913">
                      <a:extLst>
                        <a:ext uri="{9D8B030D-6E8A-4147-A177-3AD203B41FA5}">
                          <a16:colId xmlns:a16="http://schemas.microsoft.com/office/drawing/2014/main" val="10053"/>
                        </a:ext>
                      </a:extLst>
                    </a:gridCol>
                    <a:gridCol w="1690370">
                      <a:extLst>
                        <a:ext uri="{9D8B030D-6E8A-4147-A177-3AD203B41FA5}">
                          <a16:colId xmlns:a16="http://schemas.microsoft.com/office/drawing/2014/main" val="10054"/>
                        </a:ext>
                      </a:extLst>
                    </a:gridCol>
                  </a:tblGrid>
                  <a:tr h="916369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r="-272414" b="-7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l="-100995" r="-175124" b="-7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l="-189227" r="-64871" b="-7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l="-445848" b="-79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1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86" name="yt_shape_10586"/>
              <p:cNvSpPr txBox="1"/>
              <p:nvPr/>
            </p:nvSpPr>
            <p:spPr>
              <a:xfrm>
                <a:off x="324001" y="4113423"/>
                <a:ext cx="11924914" cy="152856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对整个过程研究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根据动量定理可得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·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2Δ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μ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mg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·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2Δ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3Δ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2_6c840"/>
                  </a:rPr>
                  <a:t>）＝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μ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𝐹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5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𝑚𝑔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="" xmlns:a16="http://schemas.microsoft.com/office/drawing/2014/main" xmlns:p14="http://schemas.microsoft.com/office/powerpoint/2010/main" xmlns:p15="http://schemas.microsoft.com/office/powerpoint/2012/main">
          <p:sp>
            <p:nvSpPr>
              <p:cNvPr id="10586" name="yt_shape_105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1" y="4113423"/>
                <a:ext cx="11924914" cy="1528560"/>
              </a:xfrm>
              <a:prstGeom prst="rect">
                <a:avLst/>
              </a:prstGeom>
              <a:blipFill>
                <a:blip r:embed="rId3"/>
                <a:stretch>
                  <a:fillRect l="-1789" t="-1594" b="-35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yt_image_10628" title="H_47.87496">
            <a:extLst>
              <a:ext uri="{FF2B5EF4-FFF2-40B4-BE49-F238E27FC236}">
                <a16:creationId xmlns:a16="http://schemas.microsoft.com/office/drawing/2014/main" id="{3DEC427D-EC15-4174-93DD-8330F7B59BD2}"/>
              </a:ext>
              <a:ext uri="">
                <a16:creationId xmlns="" xmlns:a16="http://schemas.microsoft.com/office/drawing/2014/main" xmlns:p14="http://schemas.microsoft.com/office/powerpoint/2010/main" xmlns:p15="http://schemas.microsoft.com/office/powerpoint/2012/main" xmlns:mc="http://schemas.openxmlformats.org/markup-compatibility/2006" xmlns:a14="http://schemas.microsoft.com/office/drawing/2010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4BACC6">
                <a:shade val="45000"/>
                <a:satMod val="135000"/>
              </a:srgbClr>
              <a:prstClr val="white"/>
            </a:duotone>
          </a:blip>
          <a:srcRect/>
          <a:stretch>
            <a:fillRect/>
          </a:stretch>
        </p:blipFill>
        <p:spPr bwMode="auto">
          <a:xfrm>
            <a:off x="5132360" y="544122"/>
            <a:ext cx="2308195" cy="608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组合 12"/>
          <p:cNvGrpSpPr/>
          <p:nvPr/>
        </p:nvGrpSpPr>
        <p:grpSpPr>
          <a:xfrm>
            <a:off x="4394999" y="6445607"/>
            <a:ext cx="3407864" cy="288000"/>
            <a:chOff x="1325563" y="6444186"/>
            <a:chExt cx="3407864" cy="288000"/>
          </a:xfrm>
        </p:grpSpPr>
        <p:sp>
          <p:nvSpPr>
            <p:cNvPr id="8" name="883144ee-ef7c-487b-bdd7-822c9e687f0a" descr="{&quot;SlideID&quot;:&quot;319&quot;,&quot;SlideNumber&quot;:&quot;2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D3F124B-F3B9-4F96-AAEF-6B6361B9B842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b01f04bf-c03c-4348-984e-ada9b3bca643" descr="{&quot;SlideID&quot;:&quot;320&quot;,&quot;SlideNumber&quot;:&quot;25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26e2f7b4-5a28-4bb8-9693-b89bc9c4b327" descr="{&quot;SlideID&quot;:&quot;321&quot;,&quot;SlideNumber&quot;:&quot;27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27563d70-0b44-418c-b835-f344275668fc" descr="{&quot;SlideID&quot;:&quot;322&quot;,&quot;SlideNumber&quot;:&quot;2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d12d62f0-a6f0-42f2-a1c9-da57357b0b57" descr="{&quot;SlideID&quot;:&quot;323&quot;,&quot;SlideNumber&quot;:&quot;31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7bc8a8e7-4d0a-41f3-9665-e470201cb7f4" descr="{&quot;SlideID&quot;:&quot;324&quot;,&quot;SlideNumber&quot;:&quot;33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230a2bb3-2a94-47b5-9c1d-fe81bf8c50e9" descr="{&quot;SlideID&quot;:&quot;325&quot;,&quot;SlideNumber&quot;:&quot;3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d8bb7174-0ad7-4a1a-a617-378d49da9e8f" descr="{&quot;SlideID&quot;:&quot;326&quot;,&quot;SlideNumber&quot;:&quot;39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417102da-9f2f-41a5-a47a-8c551633c264" descr="{&quot;SlideID&quot;:&quot;327&quot;,&quot;SlideNumber&quot;:&quot;41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6486C22B-0B1B-404A-B041-C634356C1E6D}"/>
              </a:ext>
            </a:extLst>
          </p:cNvPr>
          <p:cNvSpPr/>
          <p:nvPr/>
        </p:nvSpPr>
        <p:spPr>
          <a:xfrm>
            <a:off x="4985676" y="3328593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4="http://schemas.microsoft.com/office/drawing/2010/main" xmlns:p14="http://schemas.microsoft.com/office/powerpoint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86" grpId="0" build="allAtOnce"/>
      <p:bldP spid="3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8" name="yt_shape_10588"/>
          <p:cNvSpPr txBox="1"/>
          <p:nvPr/>
        </p:nvSpPr>
        <p:spPr>
          <a:xfrm>
            <a:off x="324071" y="467999"/>
            <a:ext cx="11543998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质量为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的小球从距离地面高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H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点由静止释放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632ca"/>
              </a:rPr>
              <a:t>，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落到地面上后又陷入泥潭中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由于受到阻力作用到达距地面深度为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h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68747"/>
              </a:rPr>
              <a:t>点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时速度减为零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不计空气阻力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重力加速度为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0_6d8a9"/>
              </a:rPr>
              <a:t>关于小球从释放到速度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变为零的过程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下列说法中正确的有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BD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590" name="yt_table_10590_skip" title="H_233.85008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96246951"/>
                  </p:ext>
                </p:extLst>
              </p:nvPr>
            </p:nvGraphicFramePr>
            <p:xfrm>
              <a:off x="324066" y="2860710"/>
              <a:ext cx="10154415" cy="2969896"/>
            </p:xfrm>
            <a:graphic>
              <a:graphicData uri="http://schemas.openxmlformats.org/drawingml/2006/table">
                <a:tbl>
                  <a:tblPr/>
                  <a:tblGrid>
                    <a:gridCol w="10154415">
                      <a:extLst>
                        <a:ext uri="{9D8B030D-6E8A-4147-A177-3AD203B41FA5}">
                          <a16:colId xmlns:a16="http://schemas.microsoft.com/office/drawing/2014/main" val="1005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小球的机械能减少了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mgh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小球克服阻力做的功为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mg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（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H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＋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h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）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小球所受阻力的冲量等于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𝑔𝐻</m:t>
                                  </m:r>
                                </m:e>
                              </m:rad>
                            </m:oMath>
                          </a14:m>
                          <a:endParaRPr lang="en-US" altLang="zh-CN" sz="2800" b="0" i="1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在小球刚落到地面到速度变为零的过程中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8_d5fc6"/>
                            </a:rPr>
                            <a:t>小球动量的改变量</a:t>
                          </a:r>
                          <a:b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大小等于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𝑔𝐻</m:t>
                                  </m:r>
                                </m:e>
                              </m:rad>
                            </m:oMath>
                          </a14:m>
                          <a:endParaRPr lang="en-US" altLang="zh-CN" sz="2800" b="0" i="1" u="none" dirty="0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21"/>
                      </a:ext>
                    </a:extLst>
                  </a:tr>
                </a:tbl>
              </a:graphicData>
            </a:graphic>
          </p:graphicFrame>
        </mc:Choice>
        <mc:Fallback xmlns="" xmlns:a16="http://schemas.microsoft.com/office/drawing/2014/main" xmlns:p14="http://schemas.microsoft.com/office/powerpoint/2010/main" xmlns:p15="http://schemas.microsoft.com/office/powerpoint/2012/main">
          <p:graphicFrame>
            <p:nvGraphicFramePr>
              <p:cNvPr id="10590" name="yt_table_10590_skip" descr="{&quot;rangeId&quot;:56,&quot;type&quot;:&quot;Option&quot;,&quot;drawing&quot;:[&quot;yt_image_10589&quot;]}" title="H_233.85008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102591"/>
                  </p:ext>
                </p:extLst>
              </p:nvPr>
            </p:nvGraphicFramePr>
            <p:xfrm>
              <a:off x="324066" y="2860710"/>
              <a:ext cx="10154415" cy="2969896"/>
            </p:xfrm>
            <a:graphic>
              <a:graphicData uri="http://schemas.openxmlformats.org/drawingml/2006/table">
                <a:tbl>
                  <a:tblPr/>
                  <a:tblGrid>
                    <a:gridCol w="10154415">
                      <a:extLst>
                        <a:ext uri="{9D8B030D-6E8A-4147-A177-3AD203B41FA5}">
                          <a16:colId xmlns:a16="http://schemas.microsoft.com/office/drawing/2014/main" val="10055"/>
                        </a:ext>
                      </a:extLst>
                    </a:gridCol>
                  </a:tblGrid>
                  <a:tr h="52705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小球的机械能减少了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mgh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18"/>
                      </a:ext>
                    </a:extLst>
                  </a:tr>
                  <a:tr h="52705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小球克服阻力做的功为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mg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（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H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＋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h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）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19"/>
                      </a:ext>
                    </a:extLst>
                  </a:tr>
                  <a:tr h="65919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162385" b="-2165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20"/>
                      </a:ext>
                    </a:extLst>
                  </a:tr>
                  <a:tr h="125660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138835" b="-145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2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589" name="yt_image_10589_skip" title="H_182.95204">
            <a:extLst>
              <a:ext uri="">
                <a16:creationId xmlns="" xmlns:a16="http://schemas.microsoft.com/office/drawing/2014/main" xmlns:p15="http://schemas.microsoft.com/office/powerpoint/2012/main" xmlns:mc="http://schemas.openxmlformats.org/markup-compatibility/2006" xmlns:a14="http://schemas.microsoft.com/office/drawing/2010/main" xmlns:p14="http://schemas.microsoft.com/office/powerpoint/2010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76217" y="2860710"/>
            <a:ext cx="1389504" cy="2323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A40802C-AE2C-4874-B3DC-6B727D95B2D6}"/>
              </a:ext>
            </a:extLst>
          </p:cNvPr>
          <p:cNvSpPr/>
          <p:nvPr/>
        </p:nvSpPr>
        <p:spPr>
          <a:xfrm>
            <a:off x="92281" y="3429000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794F46-F721-4059-9588-99C083DBBD98}"/>
              </a:ext>
            </a:extLst>
          </p:cNvPr>
          <p:cNvSpPr/>
          <p:nvPr/>
        </p:nvSpPr>
        <p:spPr>
          <a:xfrm>
            <a:off x="92281" y="4585911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394999" y="6445607"/>
            <a:ext cx="3407864" cy="288000"/>
            <a:chOff x="1325563" y="6444186"/>
            <a:chExt cx="3407864" cy="288000"/>
          </a:xfrm>
        </p:grpSpPr>
        <p:sp>
          <p:nvSpPr>
            <p:cNvPr id="9" name="dbc60a95-e15e-483a-b815-d931bf601456" descr="{&quot;SlideID&quot;:&quot;319&quot;,&quot;SlideNumber&quot;:&quot;24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b5941f30-f4ee-4b2d-989a-48de00f742fc" descr="{&quot;SlideID&quot;:&quot;320&quot;,&quot;SlideNumber&quot;:&quot;25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D3F124B-F3B9-4F96-AAEF-6B6361B9B842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ab4ef601-7fde-475e-9e88-3f2db6b51801" descr="{&quot;SlideID&quot;:&quot;321&quot;,&quot;SlideNumber&quot;:&quot;27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97ffdfcc-e58a-4e28-9f4b-9e087aeabc2c" descr="{&quot;SlideID&quot;:&quot;322&quot;,&quot;SlideNumber&quot;:&quot;2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985717c2-3501-48b5-ab4d-b3562b5e3828" descr="{&quot;SlideID&quot;:&quot;323&quot;,&quot;SlideNumber&quot;:&quot;31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8032a1d4-dd85-4d3d-8ea7-c6bcf07f7b5f" descr="{&quot;SlideID&quot;:&quot;324&quot;,&quot;SlideNumber&quot;:&quot;33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ccb55c8f-b159-482c-a1b4-b377485e5053" descr="{&quot;SlideID&quot;:&quot;325&quot;,&quot;SlideNumber&quot;:&quot;3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4bb29a1c-3a6e-4584-b7e8-ceb9c9685963" descr="{&quot;SlideID&quot;:&quot;326&quot;,&quot;SlideNumber&quot;:&quot;39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4a7c69e5-9710-4188-af14-cc0d62901ad7" descr="{&quot;SlideID&quot;:&quot;327&quot;,&quot;SlideNumber&quot;:&quot;41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4="http://schemas.microsoft.com/office/drawing/2010/main" xmlns:p14="http://schemas.microsoft.com/office/powerpoint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591" name="yt_shape_10591"/>
              <p:cNvSpPr txBox="1"/>
              <p:nvPr/>
            </p:nvSpPr>
            <p:spPr>
              <a:xfrm>
                <a:off x="324071" y="467999"/>
                <a:ext cx="11924914" cy="466691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小球在整个运动过程中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动能变化量为零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重力势能减小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mg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a3a40"/>
                  </a:rPr>
                  <a:t>＋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则小球的机械能减少了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mg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对全过程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6fa04"/>
                  </a:rPr>
                  <a:t>根据动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能定理得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mg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）－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W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则小球克服阻力做功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W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mg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2_cbfe5"/>
                  </a:rPr>
                  <a:t>），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小球落到地面时的速度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𝑔𝐻</m:t>
                        </m:r>
                      </m:e>
                    </m:rad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对小球进入泥潭的过程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9444e"/>
                  </a:rPr>
                  <a:t>根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据动量定理得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𝑔𝐻</m:t>
                        </m:r>
                      </m:e>
                    </m:rad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6_b0231"/>
                  </a:rPr>
                  <a:t>可知小球所受阻力的冲量大小不等于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𝑔𝐻</m:t>
                        </m:r>
                      </m:e>
                    </m:rad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小球落到地面时的速度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𝑔𝐻</m:t>
                        </m:r>
                      </m:e>
                    </m:rad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8_65327"/>
                  </a:rPr>
                  <a:t>进入泥潭后的速度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为零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所以小球动量的改变量大小等于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𝑔𝐻</m:t>
                        </m:r>
                      </m:e>
                    </m:rad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="" xmlns:a16="http://schemas.microsoft.com/office/drawing/2014/main">
          <p:sp>
            <p:nvSpPr>
              <p:cNvPr id="10591" name="yt_shape_105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4666919"/>
              </a:xfrm>
              <a:prstGeom prst="rect">
                <a:avLst/>
              </a:prstGeom>
              <a:blipFill>
                <a:blip r:embed="rId2"/>
                <a:stretch>
                  <a:fillRect l="-1789" t="-523" b="-30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/>
          <p:cNvGrpSpPr/>
          <p:nvPr/>
        </p:nvGrpSpPr>
        <p:grpSpPr>
          <a:xfrm>
            <a:off x="4394999" y="6445607"/>
            <a:ext cx="3407864" cy="288000"/>
            <a:chOff x="1325563" y="6444186"/>
            <a:chExt cx="3407864" cy="288000"/>
          </a:xfrm>
        </p:grpSpPr>
        <p:sp>
          <p:nvSpPr>
            <p:cNvPr id="9" name="cc6c0ced-80a5-400e-8f24-5dc4b24f317d" descr="{&quot;SlideID&quot;:&quot;319&quot;,&quot;SlideNumber&quot;:&quot;24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069ea219-77c9-4e64-a050-0487555a0395" descr="{&quot;SlideID&quot;:&quot;320&quot;,&quot;SlideNumber&quot;:&quot;25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D3F124B-F3B9-4F96-AAEF-6B6361B9B842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4090f6fa-5221-4e5e-944a-bf11e2284d0c" descr="{&quot;SlideID&quot;:&quot;321&quot;,&quot;SlideNumber&quot;:&quot;27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66a51a66-87ee-41c1-9284-f9ac210851b4" descr="{&quot;SlideID&quot;:&quot;322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bc966d6e-ce10-450e-8de5-84635ec88844" descr="{&quot;SlideID&quot;:&quot;323&quot;,&quot;SlideNumber&quot;:&quot;31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bc0bdb56-2b57-42ae-8ea8-4c57a7583adc" descr="{&quot;SlideID&quot;:&quot;324&quot;,&quot;SlideNumber&quot;:&quot;33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f93d5da3-fa26-41a2-881c-62264f3793b9" descr="{&quot;SlideID&quot;:&quot;325&quot;,&quot;SlideNumber&quot;:&quot;36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3c6d7156-3ef0-4cee-8abf-ec5950c5c2bb" descr="{&quot;SlideID&quot;:&quot;326&quot;,&quot;SlideNumber&quot;:&quot;39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79387849-bab6-4ad8-9141-d1d3d2bc079d" descr="{&quot;SlideID&quot;:&quot;327&quot;,&quot;SlideNumber&quot;:&quot;41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593" name="yt_shape_10593"/>
              <p:cNvSpPr txBox="1"/>
              <p:nvPr/>
            </p:nvSpPr>
            <p:spPr>
              <a:xfrm>
                <a:off x="324071" y="467999"/>
                <a:ext cx="11543998" cy="2542556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</a:rPr>
                  <a:t> 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如图所示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小华发现质量为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的水平平板锅盖刚好被水蒸气顶起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2_a13c5"/>
                  </a:rPr>
                  <a:t>假设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水分子的质量均为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并均以速度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垂直撞击锅盖后以大小为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5_37dc0"/>
                  </a:rPr>
                  <a:t>的速度反向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弹回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重力加速度为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忽略水分子的重力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12_1c03e"/>
                  </a:rPr>
                  <a:t>则单位时间撞击锅盖的水分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子个数为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:r>
                  <a:rPr lang="en-US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</a:p>
            </p:txBody>
          </p:sp>
        </mc:Choice>
        <mc:Fallback xmlns="" xmlns:a16="http://schemas.microsoft.com/office/drawing/2014/main" xmlns:p14="http://schemas.microsoft.com/office/powerpoint/2010/main" xmlns:p15="http://schemas.microsoft.com/office/powerpoint/2012/main">
          <p:sp>
            <p:nvSpPr>
              <p:cNvPr id="10593" name="yt_shape_105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543998" cy="2542556"/>
              </a:xfrm>
              <a:prstGeom prst="rect">
                <a:avLst/>
              </a:prstGeom>
              <a:blipFill>
                <a:blip r:embed="rId2"/>
                <a:stretch>
                  <a:fillRect l="-1848" t="-959" r="-475" b="-76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596" name="yt_table_10596_skip" title="H_62.02504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666785"/>
                  </p:ext>
                </p:extLst>
              </p:nvPr>
            </p:nvGraphicFramePr>
            <p:xfrm>
              <a:off x="324066" y="4091339"/>
              <a:ext cx="9450642" cy="787718"/>
            </p:xfrm>
            <a:graphic>
              <a:graphicData uri="http://schemas.openxmlformats.org/drawingml/2006/table">
                <a:tbl>
                  <a:tblPr/>
                  <a:tblGrid>
                    <a:gridCol w="2599309">
                      <a:extLst>
                        <a:ext uri="{9D8B030D-6E8A-4147-A177-3AD203B41FA5}">
                          <a16:colId xmlns:a16="http://schemas.microsoft.com/office/drawing/2014/main" val="10056"/>
                        </a:ext>
                      </a:extLst>
                    </a:gridCol>
                    <a:gridCol w="2587625">
                      <a:extLst>
                        <a:ext uri="{9D8B030D-6E8A-4147-A177-3AD203B41FA5}">
                          <a16:colId xmlns:a16="http://schemas.microsoft.com/office/drawing/2014/main" val="10057"/>
                        </a:ext>
                      </a:extLst>
                    </a:gridCol>
                    <a:gridCol w="2587625">
                      <a:extLst>
                        <a:ext uri="{9D8B030D-6E8A-4147-A177-3AD203B41FA5}">
                          <a16:colId xmlns:a16="http://schemas.microsoft.com/office/drawing/2014/main" val="10058"/>
                        </a:ext>
                      </a:extLst>
                    </a:gridCol>
                    <a:gridCol w="1676083">
                      <a:extLst>
                        <a:ext uri="{9D8B030D-6E8A-4147-A177-3AD203B41FA5}">
                          <a16:colId xmlns:a16="http://schemas.microsoft.com/office/drawing/2014/main" val="1005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𝑀𝑔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𝑚𝑣</m:t>
                                  </m:r>
                                </m:den>
                              </m:f>
                            </m:oMath>
                          </a14:m>
                          <a:endParaRPr lang="en-US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3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𝑀𝑔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𝑚𝑣</m:t>
                                  </m:r>
                                </m:den>
                              </m:f>
                            </m:oMath>
                          </a14:m>
                          <a:endParaRPr lang="en-US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𝑀𝑔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3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𝑚𝑣</m:t>
                                  </m:r>
                                </m:den>
                              </m:f>
                            </m:oMath>
                          </a14:m>
                          <a:endParaRPr lang="en-US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𝑀𝑔</m:t>
                                  </m:r>
                                </m:num>
                                <m:den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𝑚𝑣</m:t>
                                  </m:r>
                                </m:den>
                              </m:f>
                            </m:oMath>
                          </a14:m>
                          <a:endParaRPr lang="en-US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22"/>
                      </a:ext>
                    </a:extLst>
                  </a:tr>
                </a:tbl>
              </a:graphicData>
            </a:graphic>
          </p:graphicFrame>
        </mc:Choice>
        <mc:Fallback xmlns="" xmlns:a16="http://schemas.microsoft.com/office/drawing/2014/main" xmlns:p14="http://schemas.microsoft.com/office/powerpoint/2010/main" xmlns:p15="http://schemas.microsoft.com/office/powerpoint/2012/main">
          <p:graphicFrame>
            <p:nvGraphicFramePr>
              <p:cNvPr id="10596" name="yt_table_10596_skip" descr="{&quot;rangeId&quot;:11,&quot;type&quot;:&quot;Option&quot;,&quot;drawing&quot;:[&quot;yt_image_10595&quot;]}" title="H_62.02504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666785"/>
                  </p:ext>
                </p:extLst>
              </p:nvPr>
            </p:nvGraphicFramePr>
            <p:xfrm>
              <a:off x="324066" y="4091339"/>
              <a:ext cx="9450642" cy="787718"/>
            </p:xfrm>
            <a:graphic>
              <a:graphicData uri="http://schemas.openxmlformats.org/drawingml/2006/table">
                <a:tbl>
                  <a:tblPr/>
                  <a:tblGrid>
                    <a:gridCol w="2599309">
                      <a:extLst>
                        <a:ext uri="{9D8B030D-6E8A-4147-A177-3AD203B41FA5}">
                          <a16:colId xmlns:a16="http://schemas.microsoft.com/office/drawing/2014/main" val="10056"/>
                        </a:ext>
                      </a:extLst>
                    </a:gridCol>
                    <a:gridCol w="2587625">
                      <a:extLst>
                        <a:ext uri="{9D8B030D-6E8A-4147-A177-3AD203B41FA5}">
                          <a16:colId xmlns:a16="http://schemas.microsoft.com/office/drawing/2014/main" val="10057"/>
                        </a:ext>
                      </a:extLst>
                    </a:gridCol>
                    <a:gridCol w="2587625">
                      <a:extLst>
                        <a:ext uri="{9D8B030D-6E8A-4147-A177-3AD203B41FA5}">
                          <a16:colId xmlns:a16="http://schemas.microsoft.com/office/drawing/2014/main" val="10058"/>
                        </a:ext>
                      </a:extLst>
                    </a:gridCol>
                    <a:gridCol w="1676083">
                      <a:extLst>
                        <a:ext uri="{9D8B030D-6E8A-4147-A177-3AD203B41FA5}">
                          <a16:colId xmlns:a16="http://schemas.microsoft.com/office/drawing/2014/main" val="10059"/>
                        </a:ext>
                      </a:extLst>
                    </a:gridCol>
                  </a:tblGrid>
                  <a:tr h="78771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3"/>
                          <a:stretch>
                            <a:fillRect r="-263232" b="-1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3"/>
                          <a:stretch>
                            <a:fillRect l="-100708" r="-165094" b="-1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3"/>
                          <a:stretch>
                            <a:fillRect l="-200235" r="-64706" b="-1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3"/>
                          <a:stretch>
                            <a:fillRect l="-464000" b="-1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2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595" name="yt_image_10595_skip" title="H_81.12">
            <a:extLst>
              <a:ext uri="">
                <a16:creationId xmlns="" xmlns:a16="http://schemas.microsoft.com/office/drawing/2014/main" xmlns:p15="http://schemas.microsoft.com/office/powerpoint/2012/main" xmlns:p14="http://schemas.microsoft.com/office/powerpoint/2010/main" xmlns:a14="http://schemas.microsoft.com/office/drawing/2010/main" xmlns:mc="http://schemas.openxmlformats.org/markup-compatibility/2006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60647" y="3061343"/>
            <a:ext cx="4269103" cy="103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597" name="yt_shape_10597"/>
              <p:cNvSpPr txBox="1"/>
              <p:nvPr/>
            </p:nvSpPr>
            <p:spPr>
              <a:xfrm>
                <a:off x="324071" y="4930073"/>
                <a:ext cx="11924914" cy="144161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设单位时间撞击锅盖的水分子个数为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n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由动量定理可得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·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45b98"/>
                  </a:rPr>
                  <a:t>p</a:t>
                </a:r>
                <a:b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nm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·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num>
                          <m:den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den>
                        </m:f>
                        <m:r>
                          <a:rPr lang="zh-CN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其中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Mg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n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𝑀𝑔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𝑚𝑣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故选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 xmlns:a16="http://schemas.microsoft.com/office/drawing/2014/main" xmlns:p14="http://schemas.microsoft.com/office/powerpoint/2010/main" xmlns:p15="http://schemas.microsoft.com/office/powerpoint/2012/main">
          <p:sp>
            <p:nvSpPr>
              <p:cNvPr id="10597" name="yt_shape_105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930073"/>
                <a:ext cx="11924914" cy="1441613"/>
              </a:xfrm>
              <a:prstGeom prst="rect">
                <a:avLst/>
              </a:prstGeom>
              <a:blipFill>
                <a:blip r:embed="rId5"/>
                <a:stretch>
                  <a:fillRect l="-1789" t="-1695" b="-6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A337C755-D73D-4167-BEDD-29E285D2D1E9}"/>
              </a:ext>
            </a:extLst>
          </p:cNvPr>
          <p:cNvSpPr/>
          <p:nvPr/>
        </p:nvSpPr>
        <p:spPr>
          <a:xfrm>
            <a:off x="5223081" y="4185600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394999" y="6445607"/>
            <a:ext cx="3407864" cy="288000"/>
            <a:chOff x="1325563" y="6444186"/>
            <a:chExt cx="3407864" cy="288000"/>
          </a:xfrm>
        </p:grpSpPr>
        <p:sp>
          <p:nvSpPr>
            <p:cNvPr id="9" name="7441a8ef-1740-4f25-966d-a801cb58b5cc" descr="{&quot;SlideID&quot;:&quot;319&quot;,&quot;SlideNumber&quot;:&quot;2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1366342e-4e1c-4d67-a362-3de5ba093265" descr="{&quot;SlideID&quot;:&quot;320&quot;,&quot;SlideNumber&quot;:&quot;25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779025cb-674b-4c12-84cd-2b515c8b7d74" descr="{&quot;SlideID&quot;:&quot;321&quot;,&quot;SlideNumber&quot;:&quot;27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D3F124B-F3B9-4F96-AAEF-6B6361B9B842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23fa8b10-e11f-4f1e-920a-bdbc97a9ba09" descr="{&quot;SlideID&quot;:&quot;322&quot;,&quot;SlideNumber&quot;:&quot;28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670f4397-62c5-4bce-821d-eb8b73701270" descr="{&quot;SlideID&quot;:&quot;323&quot;,&quot;SlideNumber&quot;:&quot;31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2b7587b4-55ec-465c-a141-3191c2372fe3" descr="{&quot;SlideID&quot;:&quot;324&quot;,&quot;SlideNumber&quot;:&quot;33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4c20482b-d56a-4819-9529-bfcba4091946" descr="{&quot;SlideID&quot;:&quot;325&quot;,&quot;SlideNumber&quot;:&quot;36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67777167-d819-43a6-9f25-3f84c5c5903f" descr="{&quot;SlideID&quot;:&quot;326&quot;,&quot;SlideNumber&quot;:&quot;39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c8a63583-4629-41d4-b352-dd5e026a5cc2" descr="{&quot;SlideID&quot;:&quot;327&quot;,&quot;SlideNumber&quot;:&quot;41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p14="http://schemas.microsoft.com/office/powerpoint/2010/main" xmlns:a16="http://schemas.microsoft.com/office/drawing/2014/main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5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97" grpId="0" build="allAtOnce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9" name="yt_shape_10599"/>
          <p:cNvSpPr txBox="1"/>
          <p:nvPr/>
        </p:nvSpPr>
        <p:spPr>
          <a:xfrm>
            <a:off x="267086" y="1318899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浙江浙南联盟期中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9_6e8e9"/>
              </a:rPr>
              <a:t>直升机的桨叶旋转形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成的圆面面积为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空气密度为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ρ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直升机质量为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重力加速度为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bce76"/>
              </a:rPr>
              <a:t>当直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升机向上匀速运动时空气阻力恒为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不计空气浮力及风力影响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56f3b"/>
              </a:rPr>
              <a:t>下列说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法正确的是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 dirty="0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AC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4394999" y="6445607"/>
            <a:ext cx="3407864" cy="288000"/>
            <a:chOff x="1325563" y="6444186"/>
            <a:chExt cx="3407864" cy="288000"/>
          </a:xfrm>
        </p:grpSpPr>
        <p:sp>
          <p:nvSpPr>
            <p:cNvPr id="9" name="149c77db-da1a-46fa-8507-3e509db8bd79" descr="{&quot;SlideID&quot;:&quot;319&quot;,&quot;SlideNumber&quot;:&quot;24&quot;}">
              <a:hlinkClick r:id="rId2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c26c8b0c-74d3-4769-a71d-c8432b04e87c" descr="{&quot;SlideID&quot;:&quot;320&quot;,&quot;SlideNumber&quot;:&quot;25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5ad52480-560c-4a78-9d50-338ff487d21d" descr="{&quot;SlideID&quot;:&quot;321&quot;,&quot;SlideNumber&quot;:&quot;27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eb8aa33a-72fa-4ca6-a27c-ed9e3e518c00" descr="{&quot;SlideID&quot;:&quot;322&quot;,&quot;SlideNumber&quot;:&quot;28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D3F124B-F3B9-4F96-AAEF-6B6361B9B842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5b77871e-905b-4b0d-8e3e-87e19618ee14" descr="{&quot;SlideID&quot;:&quot;323&quot;,&quot;SlideNumber&quot;:&quot;31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779aca52-53d6-40bb-b18b-e8941a5c1581" descr="{&quot;SlideID&quot;:&quot;324&quot;,&quot;SlideNumber&quot;:&quot;33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69aad37f-81b2-46da-9c90-fc7bbc5e5704" descr="{&quot;SlideID&quot;:&quot;325&quot;,&quot;SlideNumber&quot;:&quot;36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1c092f97-3cf3-4228-bbcc-388507f70dc8" descr="{&quot;SlideID&quot;:&quot;326&quot;,&quot;SlideNumber&quot;:&quot;39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d3247301-0b7e-47e7-9311-ac56b00dcc3a" descr="{&quot;SlideID&quot;:&quot;327&quot;,&quot;SlideNumber&quot;:&quot;41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4="http://schemas.microsoft.com/office/drawing/2010/main" xmlns:p14="http://schemas.microsoft.com/office/powerpoint/2010/main" xmlns:a16="http://schemas.microsoft.com/office/drawing/2014/main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601" name="yt_table_10601_skip" title="H_456.47504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0891153"/>
                  </p:ext>
                </p:extLst>
              </p:nvPr>
            </p:nvGraphicFramePr>
            <p:xfrm>
              <a:off x="324066" y="467999"/>
              <a:ext cx="8451542" cy="5797233"/>
            </p:xfrm>
            <a:graphic>
              <a:graphicData uri="http://schemas.openxmlformats.org/drawingml/2006/table">
                <a:tbl>
                  <a:tblPr/>
                  <a:tblGrid>
                    <a:gridCol w="8451542">
                      <a:extLst>
                        <a:ext uri="{9D8B030D-6E8A-4147-A177-3AD203B41FA5}">
                          <a16:colId xmlns:a16="http://schemas.microsoft.com/office/drawing/2014/main" val="100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直升机悬停时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螺旋桨推动空气的速度为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𝑚𝑔</m:t>
                                      </m:r>
                                    </m:num>
                                    <m:den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𝜌</m:t>
                                      </m:r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𝑆</m:t>
                                      </m:r>
                                    </m:den>
                                  </m:f>
                                </m:e>
                              </m:rad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宋体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直升机悬停时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螺旋桨推动空气的速度为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𝑚𝑔𝑆</m:t>
                                      </m:r>
                                    </m:num>
                                    <m:den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𝜌</m:t>
                                      </m:r>
                                    </m:den>
                                  </m:f>
                                </m:e>
                              </m:rad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宋体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直升机向上匀速运动时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11_c40ed"/>
                            </a:rPr>
                            <a:t>螺旋桨推动空气的速度为</a:t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v'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𝑚𝑔</m:t>
                                      </m:r>
                                      <m:r>
                                        <a:rPr lang="zh-CN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＋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56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800" b="0" i="0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f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𝜌</m:t>
                                      </m:r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𝑆</m:t>
                                      </m:r>
                                    </m:den>
                                  </m:f>
                                </m:e>
                              </m:rad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宋体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直升机向上匀速运动时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11_37ab5"/>
                            </a:rPr>
                            <a:t>螺旋桨推动空气的速度为</a:t>
                          </a:r>
                          <a:b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v'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𝑚𝑔</m:t>
                                      </m:r>
                                      <m:r>
                                        <a:rPr lang="zh-CN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＋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56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800" b="0" i="0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f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2</m:t>
                                      </m:r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𝜌</m:t>
                                      </m:r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𝑆</m:t>
                                      </m:r>
                                    </m:den>
                                  </m:f>
                                </m:e>
                              </m:rad>
                            </m:oMath>
                          </a14:m>
                          <a:endParaRPr lang="zh-CN" altLang="zh-CN" sz="2800" b="0" i="0" u="none" dirty="0">
                            <a:solidFill>
                              <a:srgbClr val="000000"/>
                            </a:solidFill>
                            <a:effectLst/>
                            <a:latin typeface="宋体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26"/>
                      </a:ext>
                    </a:extLst>
                  </a:tr>
                </a:tbl>
              </a:graphicData>
            </a:graphic>
          </p:graphicFrame>
        </mc:Choice>
        <mc:Fallback xmlns="" xmlns:a16="http://schemas.microsoft.com/office/drawing/2014/main" xmlns:p14="http://schemas.microsoft.com/office/powerpoint/2010/main" xmlns:p15="http://schemas.microsoft.com/office/powerpoint/2012/main">
          <p:graphicFrame>
            <p:nvGraphicFramePr>
              <p:cNvPr id="10601" name="yt_table_10601_skip" descr="{&quot;rangeId&quot;:32,&quot;type&quot;:&quot;Option&quot;,&quot;drawing&quot;:[&quot;yt_image_10600&quot;]}" title="H_456.47504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8781147"/>
                  </p:ext>
                </p:extLst>
              </p:nvPr>
            </p:nvGraphicFramePr>
            <p:xfrm>
              <a:off x="324066" y="467999"/>
              <a:ext cx="8451542" cy="5797233"/>
            </p:xfrm>
            <a:graphic>
              <a:graphicData uri="http://schemas.openxmlformats.org/drawingml/2006/table">
                <a:tbl>
                  <a:tblPr/>
                  <a:tblGrid>
                    <a:gridCol w="8451542">
                      <a:extLst>
                        <a:ext uri="{9D8B030D-6E8A-4147-A177-3AD203B41FA5}">
                          <a16:colId xmlns:a16="http://schemas.microsoft.com/office/drawing/2014/main" val="10060"/>
                        </a:ext>
                      </a:extLst>
                    </a:gridCol>
                  </a:tblGrid>
                  <a:tr h="121570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b="-379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23"/>
                      </a:ext>
                    </a:extLst>
                  </a:tr>
                  <a:tr h="112890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108108" b="-3102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24"/>
                      </a:ext>
                    </a:extLst>
                  </a:tr>
                  <a:tr h="172631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135563" b="-1021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25"/>
                      </a:ext>
                    </a:extLst>
                  </a:tr>
                  <a:tr h="172631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236396" b="-24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2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600" name="yt_image_10600_skip" title="H_134.24402">
            <a:extLst>
              <a:ext uri="">
                <a16:creationId xmlns="" xmlns:a16="http://schemas.microsoft.com/office/drawing/2014/main" xmlns:p15="http://schemas.microsoft.com/office/powerpoint/2012/main" xmlns:mc="http://schemas.openxmlformats.org/markup-compatibility/2006" xmlns:a14="http://schemas.microsoft.com/office/drawing/2010/main" xmlns:p14="http://schemas.microsoft.com/office/powerpoint/2010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773719" y="467999"/>
            <a:ext cx="3092377" cy="1704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F64D358-D2F5-4FDD-A152-FA6A0E735B39}"/>
              </a:ext>
            </a:extLst>
          </p:cNvPr>
          <p:cNvSpPr/>
          <p:nvPr/>
        </p:nvSpPr>
        <p:spPr>
          <a:xfrm>
            <a:off x="92281" y="928033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3022EEE-B04A-4EA1-92A7-04459732037D}"/>
              </a:ext>
            </a:extLst>
          </p:cNvPr>
          <p:cNvSpPr/>
          <p:nvPr/>
        </p:nvSpPr>
        <p:spPr>
          <a:xfrm>
            <a:off x="92281" y="2811802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394999" y="6445607"/>
            <a:ext cx="3407864" cy="288000"/>
            <a:chOff x="1325563" y="6444186"/>
            <a:chExt cx="3407864" cy="288000"/>
          </a:xfrm>
        </p:grpSpPr>
        <p:sp>
          <p:nvSpPr>
            <p:cNvPr id="9" name="0b4745ed-2fea-47d2-b50f-13b857658015" descr="{&quot;SlideID&quot;:&quot;319&quot;,&quot;SlideNumber&quot;:&quot;24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46640b3f-69ec-417e-9889-c48f74070e1b" descr="{&quot;SlideID&quot;:&quot;320&quot;,&quot;SlideNumber&quot;:&quot;25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39d1e801-9ff8-4d07-a23d-18036a49fa21" descr="{&quot;SlideID&quot;:&quot;321&quot;,&quot;SlideNumber&quot;:&quot;27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715d3f7f-2864-4f91-ab82-40a701309e5e" descr="{&quot;SlideID&quot;:&quot;322&quot;,&quot;SlideNumber&quot;:&quot;2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D3F124B-F3B9-4F96-AAEF-6B6361B9B842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1743e55b-7c82-4743-9350-d66951949a30" descr="{&quot;SlideID&quot;:&quot;323&quot;,&quot;SlideNumber&quot;:&quot;31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372f4eba-ecc1-4944-898a-1ac7f462d2df" descr="{&quot;SlideID&quot;:&quot;324&quot;,&quot;SlideNumber&quot;:&quot;33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881268fe-f6f0-4300-8b7e-1fa00807849e" descr="{&quot;SlideID&quot;:&quot;325&quot;,&quot;SlideNumber&quot;:&quot;3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3bcfdac3-244e-40bb-9b0d-f540a6f3412e" descr="{&quot;SlideID&quot;:&quot;326&quot;,&quot;SlideNumber&quot;:&quot;39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65ffd90c-5d4b-4433-8461-ee3bbd657045" descr="{&quot;SlideID&quot;:&quot;327&quot;,&quot;SlideNumber&quot;:&quot;41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602" name="yt_shape_10602"/>
              <p:cNvSpPr txBox="1"/>
              <p:nvPr/>
            </p:nvSpPr>
            <p:spPr>
              <a:xfrm>
                <a:off x="324071" y="467999"/>
                <a:ext cx="11924914" cy="3844386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时间内被螺旋桨加速的空气的质量为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'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ρ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Sv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6_a5e82"/>
                  </a:rPr>
                  <a:t>螺旋桨对空气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的作用力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𝑝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其中动量变化量为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m'v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为使直升机悬停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有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ff3b6"/>
                  </a:rPr>
                  <a:t>＝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mg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联立解得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𝑚𝑔</m:t>
                            </m:r>
                          </m:num>
                          <m:den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𝜌</m:t>
                            </m:r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𝑆</m:t>
                            </m:r>
                          </m:den>
                        </m:f>
                      </m:e>
                    </m:rad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为使飞机向上匀速运动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有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69428"/>
                  </a:rPr>
                  <a:t>＝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mg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联立解得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v'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𝑚𝑔</m:t>
                            </m:r>
                            <m:r>
                              <a:rPr lang="zh-CN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＋</m:t>
                            </m:r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f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𝜌</m:t>
                            </m:r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𝑆</m:t>
                            </m:r>
                          </m:den>
                        </m:f>
                      </m:e>
                    </m:rad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="" xmlns:a16="http://schemas.microsoft.com/office/drawing/2014/main">
          <p:sp>
            <p:nvSpPr>
              <p:cNvPr id="10602" name="yt_shape_106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3844386"/>
              </a:xfrm>
              <a:prstGeom prst="rect">
                <a:avLst/>
              </a:prstGeom>
              <a:blipFill>
                <a:blip r:embed="rId2"/>
                <a:stretch>
                  <a:fillRect l="-1789" t="-635" b="-3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/>
          <p:cNvGrpSpPr/>
          <p:nvPr/>
        </p:nvGrpSpPr>
        <p:grpSpPr>
          <a:xfrm>
            <a:off x="4394999" y="6445607"/>
            <a:ext cx="3407864" cy="288000"/>
            <a:chOff x="1325563" y="6444186"/>
            <a:chExt cx="3407864" cy="288000"/>
          </a:xfrm>
        </p:grpSpPr>
        <p:sp>
          <p:nvSpPr>
            <p:cNvPr id="9" name="92bc3e7b-2928-41f8-a8d6-c9f0ba05bd4b" descr="{&quot;SlideID&quot;:&quot;319&quot;,&quot;SlideNumber&quot;:&quot;24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68a71b9d-6d98-43e2-99be-e8822f75a651" descr="{&quot;SlideID&quot;:&quot;320&quot;,&quot;SlideNumber&quot;:&quot;25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812ce36f-74af-4b72-8196-ee1a3b5a9129" descr="{&quot;SlideID&quot;:&quot;321&quot;,&quot;SlideNumber&quot;:&quot;27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b4b8c4f3-4ae4-4fcd-82ce-e6f98ac7087a" descr="{&quot;SlideID&quot;:&quot;322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D3F124B-F3B9-4F96-AAEF-6B6361B9B842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dfc752b1-9088-4939-88fd-1accec9894a6" descr="{&quot;SlideID&quot;:&quot;323&quot;,&quot;SlideNumber&quot;:&quot;31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9087dd40-6ebe-4a6b-bcd6-e469933562fc" descr="{&quot;SlideID&quot;:&quot;324&quot;,&quot;SlideNumber&quot;:&quot;33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485c31de-fe18-41b4-94d1-dafda442e52e" descr="{&quot;SlideID&quot;:&quot;325&quot;,&quot;SlideNumber&quot;:&quot;36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14299146-6f30-4326-9405-c94bcc682866" descr="{&quot;SlideID&quot;:&quot;326&quot;,&quot;SlideNumber&quot;:&quot;39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11a6cfe0-5fad-49b1-a46a-4b986aad4a95" descr="{&quot;SlideID&quot;:&quot;327&quot;,&quot;SlideNumber&quot;:&quot;41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4" name="yt_shape_10604"/>
          <p:cNvSpPr txBox="1"/>
          <p:nvPr/>
        </p:nvSpPr>
        <p:spPr>
          <a:xfrm>
            <a:off x="324071" y="467999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山东济南期中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将质量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500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的杯子放在磅秤上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d133e"/>
              </a:rPr>
              <a:t>一水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龙头以每秒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500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的流量将水注入杯中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注入杯时水流的速度是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0e1b5"/>
              </a:rPr>
              <a:t>方向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垂直于杯中水面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和杯中水面作用后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水流速度变为零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重力加速度取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6730c"/>
              </a:rPr>
              <a:t>g</a:t>
            </a:r>
            <a:b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AC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0605" name="yt_table_10605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094227"/>
              </p:ext>
            </p:extLst>
          </p:nvPr>
        </p:nvGraphicFramePr>
        <p:xfrm>
          <a:off x="324066" y="2860710"/>
          <a:ext cx="7689850" cy="2389632"/>
        </p:xfrm>
        <a:graphic>
          <a:graphicData uri="http://schemas.openxmlformats.org/drawingml/2006/table">
            <a:tbl>
              <a:tblPr/>
              <a:tblGrid>
                <a:gridCol w="7689850">
                  <a:extLst>
                    <a:ext uri="{9D8B030D-6E8A-4147-A177-3AD203B41FA5}">
                      <a16:colId xmlns:a16="http://schemas.microsoft.com/office/drawing/2014/main" val="10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注入水流对杯中水面的冲击力大小为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N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注入水流对杯中水面的冲击力大小为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N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注至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磅秤示数为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57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N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注至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磅秤示数为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7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N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0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8221AF07-7228-4D6D-84FB-AD7DD0AAE337}"/>
              </a:ext>
            </a:extLst>
          </p:cNvPr>
          <p:cNvSpPr/>
          <p:nvPr/>
        </p:nvSpPr>
        <p:spPr>
          <a:xfrm>
            <a:off x="117681" y="2860710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58CE3EF-62FE-4447-8F94-1834E126D17A}"/>
              </a:ext>
            </a:extLst>
          </p:cNvPr>
          <p:cNvSpPr/>
          <p:nvPr/>
        </p:nvSpPr>
        <p:spPr>
          <a:xfrm>
            <a:off x="117681" y="4055526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394999" y="6445607"/>
            <a:ext cx="3407864" cy="288000"/>
            <a:chOff x="1325563" y="6444186"/>
            <a:chExt cx="3407864" cy="288000"/>
          </a:xfrm>
        </p:grpSpPr>
        <p:sp>
          <p:nvSpPr>
            <p:cNvPr id="9" name="e735b38b-8f37-4458-88cd-46f7a06a0a3b" descr="{&quot;SlideID&quot;:&quot;319&quot;,&quot;SlideNumber&quot;:&quot;24&quot;}">
              <a:hlinkClick r:id="rId2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b1df736a-3873-487c-8e07-af01e226094d" descr="{&quot;SlideID&quot;:&quot;320&quot;,&quot;SlideNumber&quot;:&quot;25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d93e66fa-739b-44bf-8e80-3c6bb04342a9" descr="{&quot;SlideID&quot;:&quot;321&quot;,&quot;SlideNumber&quot;:&quot;27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86610e1f-9f86-427b-b1b9-fd609a58e090" descr="{&quot;SlideID&quot;:&quot;322&quot;,&quot;SlideNumber&quot;:&quot;28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c5de6600-7416-4d57-a89d-8391f7b365ac" descr="{&quot;SlideID&quot;:&quot;323&quot;,&quot;SlideNumber&quot;:&quot;31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D3F124B-F3B9-4F96-AAEF-6B6361B9B842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37b3d8b6-bace-4504-b9e9-309ae6a7ed0f" descr="{&quot;SlideID&quot;:&quot;324&quot;,&quot;SlideNumber&quot;:&quot;33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34c896d8-6cb5-474b-8d86-2fb577a9deb2" descr="{&quot;SlideID&quot;:&quot;325&quot;,&quot;SlideNumber&quot;:&quot;36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b3993567-c589-472e-b4af-f22fb518d15d" descr="{&quot;SlideID&quot;:&quot;326&quot;,&quot;SlideNumber&quot;:&quot;39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dbe44dff-17da-47b7-811d-353fe3b964a3" descr="{&quot;SlideID&quot;:&quot;327&quot;,&quot;SlideNumber&quot;:&quot;41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p14="http://schemas.microsoft.com/office/powerpoint/2010/main" xmlns:a16="http://schemas.microsoft.com/office/drawing/2014/main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7" name="yt_shape_10607"/>
          <p:cNvSpPr txBox="1"/>
          <p:nvPr/>
        </p:nvSpPr>
        <p:spPr>
          <a:xfrm>
            <a:off x="324071" y="467999"/>
            <a:ext cx="11924914" cy="415164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</a:t>
            </a: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以很短时间</a:t>
            </a:r>
            <a:r>
              <a:rPr lang="en-US" altLang="zh-CN" sz="2800" b="0" i="0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内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落在杯中的水柱为研究对象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设质量为</a:t>
            </a:r>
            <a:r>
              <a:rPr lang="en-US" altLang="zh-CN" sz="2800" b="0" i="0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2_8bc95"/>
              </a:rPr>
              <a:t>规定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向上为正方向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由动量定理得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0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mg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0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－（－</a:t>
            </a:r>
            <a:r>
              <a:rPr lang="en-US" altLang="zh-CN" sz="2800" b="0" i="0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mv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其中</a:t>
            </a:r>
            <a:r>
              <a:rPr lang="en-US" altLang="zh-CN" sz="2800" b="0" i="0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  <a:sym typeface="_⨹_1_2fe5c"/>
              </a:rPr>
              <a:t>＝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500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g/s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由于</a:t>
            </a:r>
            <a:r>
              <a:rPr lang="en-US" altLang="zh-CN" sz="2800" b="0" i="0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很小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所以</a:t>
            </a:r>
            <a:r>
              <a:rPr lang="en-US" altLang="zh-CN" sz="2800" b="0" i="0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mg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可忽略不计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解得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  <a:sym typeface="_⨹_1_efe21"/>
              </a:rPr>
              <a:t>，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根据牛顿第三定律可知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注入水流对杯中水面的冲击力为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F'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＝－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＝－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cdb80"/>
              </a:rPr>
              <a:t> 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即冲击力大小为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方向向下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结合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2_a2cee"/>
              </a:rPr>
              <a:t>选项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分析可知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注至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磅秤示数为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Mg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tg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57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70304"/>
              </a:rPr>
              <a:t>正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确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错误。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4394999" y="6445607"/>
            <a:ext cx="3407864" cy="288000"/>
            <a:chOff x="1325563" y="6444186"/>
            <a:chExt cx="3407864" cy="288000"/>
          </a:xfrm>
        </p:grpSpPr>
        <p:sp>
          <p:nvSpPr>
            <p:cNvPr id="9" name="315362da-face-4f0b-a809-f542e08d1d48" descr="{&quot;SlideID&quot;:&quot;319&quot;,&quot;SlideNumber&quot;:&quot;24&quot;}">
              <a:hlinkClick r:id="rId2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2e831b8e-a5c2-416a-9270-fe81d660553f" descr="{&quot;SlideID&quot;:&quot;320&quot;,&quot;SlideNumber&quot;:&quot;25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46762283-6eea-4a6d-a2a7-fdb957dcd079" descr="{&quot;SlideID&quot;:&quot;321&quot;,&quot;SlideNumber&quot;:&quot;27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3b0e1e66-161d-474a-9bf7-f1b9a378f8bc" descr="{&quot;SlideID&quot;:&quot;322&quot;,&quot;SlideNumber&quot;:&quot;28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9191b96a-b68b-4a8f-9812-b838b26e38a1" descr="{&quot;SlideID&quot;:&quot;323&quot;,&quot;SlideNumber&quot;:&quot;31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D3F124B-F3B9-4F96-AAEF-6B6361B9B842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5e3a412b-5ceb-4ac9-8d03-8f4a655ea946" descr="{&quot;SlideID&quot;:&quot;324&quot;,&quot;SlideNumber&quot;:&quot;33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07c4acda-4cff-4dfe-a4cf-30c008029146" descr="{&quot;SlideID&quot;:&quot;325&quot;,&quot;SlideNumber&quot;:&quot;36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5b7ece27-910e-4900-b74d-87f846925c1e" descr="{&quot;SlideID&quot;:&quot;326&quot;,&quot;SlideNumber&quot;:&quot;39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6bd3c27f-479e-49c2-b3db-a9f6348f5150" descr="{&quot;SlideID&quot;:&quot;327&quot;,&quot;SlideNumber&quot;:&quot;41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8" name="yt_shape_10608"/>
          <p:cNvSpPr txBox="1"/>
          <p:nvPr/>
        </p:nvSpPr>
        <p:spPr>
          <a:xfrm>
            <a:off x="324071" y="467999"/>
            <a:ext cx="11924914" cy="413247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摩托车骑乘人员必须依法佩戴具有防护作用的安全头盔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e6eb4"/>
              </a:rPr>
              <a:t>刘同学利用课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余时间对某头盔的安全性能进行测试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他在质量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0c74c"/>
              </a:rPr>
              <a:t>的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头盔中装入质量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的物块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使头盔从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h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7_ad039"/>
              </a:rPr>
              <a:t>的高处由静止落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头盔与水平地面发生碰撞后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头盔经过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速度减为零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2fb24"/>
              </a:rPr>
              <a:t>不反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由于头盔的缓冲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物块经过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速度减为零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7_75b23"/>
              </a:rPr>
              <a:t>取重力加速度大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不计空气阻力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8_69c96"/>
              </a:rPr>
              <a:t>认为物块减速过程中物块与头盔的作用力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可看作恒力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</a:p>
        </p:txBody>
      </p:sp>
      <p:pic>
        <p:nvPicPr>
          <p:cNvPr id="3" name="yt_image_10609">
            <a:extLst>
              <a:ext uri="{FF2B5EF4-FFF2-40B4-BE49-F238E27FC236}">
                <a16:creationId xmlns:a16="http://schemas.microsoft.com/office/drawing/2014/main" id="{97210A20-523A-48C6-9313-9354181D384F}"/>
              </a:ext>
              <a:ext uri="">
                <a16:creationId xmlns="" xmlns:a16="http://schemas.microsoft.com/office/drawing/2014/main" xmlns:p15="http://schemas.microsoft.com/office/powerpoint/2012/main" xmlns:mc="http://schemas.openxmlformats.org/markup-compatibility/2006" xmlns:a14="http://schemas.microsoft.com/office/drawing/2010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60513" y="4303399"/>
            <a:ext cx="1670974" cy="1978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组合 12"/>
          <p:cNvGrpSpPr/>
          <p:nvPr/>
        </p:nvGrpSpPr>
        <p:grpSpPr>
          <a:xfrm>
            <a:off x="4394999" y="6445607"/>
            <a:ext cx="3407864" cy="288000"/>
            <a:chOff x="1325563" y="6444186"/>
            <a:chExt cx="3407864" cy="288000"/>
          </a:xfrm>
        </p:grpSpPr>
        <p:sp>
          <p:nvSpPr>
            <p:cNvPr id="9" name="32ca71b2-6f49-48ca-bbc8-2d395a98330a" descr="{&quot;SlideID&quot;:&quot;319&quot;,&quot;SlideNumber&quot;:&quot;24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4c36468f-141c-4a38-b31d-4a05dcef79d3" descr="{&quot;SlideID&quot;:&quot;320&quot;,&quot;SlideNumber&quot;:&quot;25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0c12e7a7-9963-4ad3-95ad-9f52470087da" descr="{&quot;SlideID&quot;:&quot;321&quot;,&quot;SlideNumber&quot;:&quot;27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3868e6c8-5df0-44f0-ba55-4951f0053495" descr="{&quot;SlideID&quot;:&quot;322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b6089609-6aae-474e-b44b-14e992685a80" descr="{&quot;SlideID&quot;:&quot;323&quot;,&quot;SlideNumber&quot;:&quot;31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29982fb4-527d-431b-ad79-4977798977f9" descr="{&quot;SlideID&quot;:&quot;324&quot;,&quot;SlideNumber&quot;:&quot;33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D3F124B-F3B9-4F96-AAEF-6B6361B9B842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e404d261-e83f-4ca2-af33-9ff4fea0b04d" descr="{&quot;SlideID&quot;:&quot;325&quot;,&quot;SlideNumber&quot;:&quot;36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4006751b-6d43-4b11-857f-ee83a09b4b1c" descr="{&quot;SlideID&quot;:&quot;326&quot;,&quot;SlideNumber&quot;:&quot;39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11f9aa51-eabe-46e5-9766-b711ec350edc" descr="{&quot;SlideID&quot;:&quot;327&quot;,&quot;SlideNumber&quot;:&quot;41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1" name="yt_shape_10611"/>
          <p:cNvSpPr txBox="1"/>
          <p:nvPr/>
        </p:nvSpPr>
        <p:spPr>
          <a:xfrm>
            <a:off x="374800" y="831655"/>
            <a:ext cx="6463308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头盔落地瞬间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物块的动量大小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sp>
        <p:nvSpPr>
          <p:cNvPr id="10612" name="yt_shape_10612"/>
          <p:cNvSpPr txBox="1"/>
          <p:nvPr/>
        </p:nvSpPr>
        <p:spPr>
          <a:xfrm>
            <a:off x="374800" y="1414640"/>
            <a:ext cx="3241272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48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13" name="yt_shape_10613"/>
              <p:cNvSpPr txBox="1"/>
              <p:nvPr/>
            </p:nvSpPr>
            <p:spPr>
              <a:xfrm>
                <a:off x="374871" y="1997625"/>
                <a:ext cx="11924914" cy="186596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由自由落体运动规律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有头盔落地瞬间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物块的速度大小为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fd7fe"/>
                  </a:rPr>
                  <a:t>＝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𝑔h</m:t>
                        </m:r>
                      </m:e>
                    </m:rad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8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物块的动量大小为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48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kg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·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 xmlns:a16="http://schemas.microsoft.com/office/drawing/2014/main">
          <p:sp>
            <p:nvSpPr>
              <p:cNvPr id="10613" name="yt_shape_106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871" y="1997625"/>
                <a:ext cx="11924914" cy="1865960"/>
              </a:xfrm>
              <a:prstGeom prst="rect">
                <a:avLst/>
              </a:prstGeom>
              <a:blipFill>
                <a:blip r:embed="rId2"/>
                <a:stretch>
                  <a:fillRect l="-1788" t="-1307" b="-107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/>
          <p:cNvGrpSpPr/>
          <p:nvPr/>
        </p:nvGrpSpPr>
        <p:grpSpPr>
          <a:xfrm>
            <a:off x="4394999" y="6445607"/>
            <a:ext cx="3407864" cy="288000"/>
            <a:chOff x="1325563" y="6444186"/>
            <a:chExt cx="3407864" cy="288000"/>
          </a:xfrm>
        </p:grpSpPr>
        <p:sp>
          <p:nvSpPr>
            <p:cNvPr id="9" name="f61af03c-4b48-4b57-9331-95f727446bf3" descr="{&quot;SlideID&quot;:&quot;319&quot;,&quot;SlideNumber&quot;:&quot;24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abfc7f84-b483-40fc-aaa3-7c43ecb99ce6" descr="{&quot;SlideID&quot;:&quot;320&quot;,&quot;SlideNumber&quot;:&quot;25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648f2185-fadc-45b5-9a06-a08dd708834c" descr="{&quot;SlideID&quot;:&quot;321&quot;,&quot;SlideNumber&quot;:&quot;27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3fa40720-2a2a-46ac-bbcd-0c2167621dcf" descr="{&quot;SlideID&quot;:&quot;322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4322267f-67e9-4094-a28b-8ee455da2b60" descr="{&quot;SlideID&quot;:&quot;323&quot;,&quot;SlideNumber&quot;:&quot;31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8c9be323-8e94-4753-aa07-96ae5ef8cee0" descr="{&quot;SlideID&quot;:&quot;324&quot;,&quot;SlideNumber&quot;:&quot;33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D3F124B-F3B9-4F96-AAEF-6B6361B9B842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fb34726a-e580-4723-962a-813ba064e651" descr="{&quot;SlideID&quot;:&quot;325&quot;,&quot;SlideNumber&quot;:&quot;36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921e8a37-c5c6-435a-89f8-440782b3ab7d" descr="{&quot;SlideID&quot;:&quot;326&quot;,&quot;SlideNumber&quot;:&quot;39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88dee506-d651-43f6-8382-f4a3f760986d" descr="{&quot;SlideID&quot;:&quot;327&quot;,&quot;SlideNumber&quot;:&quot;41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6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12" grpId="0" build="allAtOnce"/>
      <p:bldP spid="10613" grpId="0" build="allAtOnce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5" name="yt_shape_10615"/>
          <p:cNvSpPr txBox="1"/>
          <p:nvPr/>
        </p:nvSpPr>
        <p:spPr>
          <a:xfrm>
            <a:off x="324000" y="467999"/>
            <a:ext cx="10453183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在物块的速度减为零的过程中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头盔对物块作用力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的大小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sp>
        <p:nvSpPr>
          <p:cNvPr id="10616" name="yt_shape_10616"/>
          <p:cNvSpPr txBox="1"/>
          <p:nvPr/>
        </p:nvSpPr>
        <p:spPr>
          <a:xfrm>
            <a:off x="324000" y="1050984"/>
            <a:ext cx="1965282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300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</a:p>
        </p:txBody>
      </p:sp>
      <p:sp>
        <p:nvSpPr>
          <p:cNvPr id="10617" name="yt_shape_10617"/>
          <p:cNvSpPr txBox="1"/>
          <p:nvPr/>
        </p:nvSpPr>
        <p:spPr>
          <a:xfrm>
            <a:off x="324000" y="1633969"/>
            <a:ext cx="7322517" cy="113543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</a:t>
            </a: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由动量定理有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Ft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gt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－（－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得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300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  <p:sp>
        <p:nvSpPr>
          <p:cNvPr id="10618" name="yt_shape_10618"/>
          <p:cNvSpPr txBox="1"/>
          <p:nvPr/>
        </p:nvSpPr>
        <p:spPr>
          <a:xfrm>
            <a:off x="324000" y="2820196"/>
            <a:ext cx="9994724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在头盔的速度减为零的过程中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地面对头盔冲量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的大小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10619" name="yt_shape_10619"/>
          <p:cNvSpPr txBox="1"/>
          <p:nvPr/>
        </p:nvSpPr>
        <p:spPr>
          <a:xfrm>
            <a:off x="324000" y="3403181"/>
            <a:ext cx="2404504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18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</a:p>
        </p:txBody>
      </p:sp>
      <p:sp>
        <p:nvSpPr>
          <p:cNvPr id="10620" name="yt_shape_10620"/>
          <p:cNvSpPr txBox="1"/>
          <p:nvPr/>
        </p:nvSpPr>
        <p:spPr>
          <a:xfrm>
            <a:off x="324000" y="3986166"/>
            <a:ext cx="9597179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</a:t>
            </a: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对头盔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由动量定理有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gt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Ft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－（－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</a:p>
        </p:txBody>
      </p:sp>
      <p:sp>
        <p:nvSpPr>
          <p:cNvPr id="10621" name="yt_shape_10621"/>
          <p:cNvSpPr txBox="1"/>
          <p:nvPr/>
        </p:nvSpPr>
        <p:spPr>
          <a:xfrm>
            <a:off x="324000" y="4569151"/>
            <a:ext cx="2524730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得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18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4394999" y="6445607"/>
            <a:ext cx="3407864" cy="288000"/>
            <a:chOff x="1325563" y="6444186"/>
            <a:chExt cx="3407864" cy="288000"/>
          </a:xfrm>
        </p:grpSpPr>
        <p:sp>
          <p:nvSpPr>
            <p:cNvPr id="9" name="07a1c069-f25f-4e7a-b522-f4d7d5125c99" descr="{&quot;SlideID&quot;:&quot;319&quot;,&quot;SlideNumber&quot;:&quot;24&quot;}">
              <a:hlinkClick r:id="rId2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dabefc91-ca9f-4ab6-b250-6863d5070469" descr="{&quot;SlideID&quot;:&quot;320&quot;,&quot;SlideNumber&quot;:&quot;25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806e2966-e84c-4538-b707-1ddee1d89b60" descr="{&quot;SlideID&quot;:&quot;321&quot;,&quot;SlideNumber&quot;:&quot;27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d4d03148-4289-4e52-929c-48f93409555e" descr="{&quot;SlideID&quot;:&quot;322&quot;,&quot;SlideNumber&quot;:&quot;28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fca89c37-a8af-44f5-9f05-fd709406b858" descr="{&quot;SlideID&quot;:&quot;323&quot;,&quot;SlideNumber&quot;:&quot;31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625cd43d-1e36-44d4-9286-27e2ce128c30" descr="{&quot;SlideID&quot;:&quot;324&quot;,&quot;SlideNumber&quot;:&quot;33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D3F124B-F3B9-4F96-AAEF-6B6361B9B842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1efc8a26-0381-4f80-b2f4-43094761c1ff" descr="{&quot;SlideID&quot;:&quot;325&quot;,&quot;SlideNumber&quot;:&quot;36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3a47604-b8b2-4c0a-8ac0-d0afb7710b6a" descr="{&quot;SlideID&quot;:&quot;326&quot;,&quot;SlideNumber&quot;:&quot;39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0322c362-e18f-4970-a852-a20fb474f3bb" descr="{&quot;SlideID&quot;:&quot;327&quot;,&quot;SlideNumber&quot;:&quot;41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6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6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6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16" grpId="0" build="allAtOnce"/>
      <p:bldP spid="10617" grpId="0" build="allAtOnce"/>
      <p:bldP spid="10619" grpId="0" build="allAtOnce"/>
      <p:bldP spid="10620" grpId="0" build="allAtOnce"/>
      <p:bldP spid="10621" grpId="0" build="allAtOnce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4" name="yt_shape_10624"/>
          <p:cNvSpPr txBox="1"/>
          <p:nvPr/>
        </p:nvSpPr>
        <p:spPr>
          <a:xfrm>
            <a:off x="267086" y="1353175"/>
            <a:ext cx="11924914" cy="415164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7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浙江宁波期中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娱乐风洞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是一项新型娱乐项目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f5655"/>
              </a:rPr>
              <a:t>在一个特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定的空间内通过风机制造的气流把人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吹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起来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0_38687"/>
              </a:rPr>
              <a:t>使人产生在天空翱翔的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感觉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其简化模型如图所示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一质量为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的游客恰好静止在直径为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7b054"/>
              </a:rPr>
              <a:t>的圆柱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形竖直风洞内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已知气流密度为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ρ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游客受风面积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9_38dc0"/>
              </a:rPr>
              <a:t>游客在垂直于风力方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向的投影面积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风洞内气流竖直向上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吹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出且速度恒定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7bcfa"/>
              </a:rPr>
              <a:t>假设气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流吹到人身上后速度变为零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重力加速度为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8_bb5fb"/>
              </a:rPr>
              <a:t>下列说法正确的是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 dirty="0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4" name="yt_image_10672" title="H_47.87496">
            <a:extLst>
              <a:ext uri="{FF2B5EF4-FFF2-40B4-BE49-F238E27FC236}">
                <a16:creationId xmlns:a16="http://schemas.microsoft.com/office/drawing/2014/main" id="{2C75EC77-02C7-4536-975F-1B958B3ABA74}"/>
              </a:ext>
              <a:ext uri="">
                <a16:creationId xmlns="" xmlns:a16="http://schemas.microsoft.com/office/drawing/2014/main" xmlns:p14="http://schemas.microsoft.com/office/powerpoint/2010/main" xmlns:p15="http://schemas.microsoft.com/office/powerpoint/2012/main" xmlns:mc="http://schemas.openxmlformats.org/markup-compatibility/2006" xmlns:a14="http://schemas.microsoft.com/office/drawing/2010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rgbClr val="4BACC6">
                <a:shade val="45000"/>
                <a:satMod val="135000"/>
              </a:srgbClr>
              <a:prstClr val="white"/>
            </a:duotone>
          </a:blip>
          <a:srcRect/>
          <a:stretch>
            <a:fillRect/>
          </a:stretch>
        </p:blipFill>
        <p:spPr bwMode="auto">
          <a:xfrm>
            <a:off x="5075445" y="600846"/>
            <a:ext cx="2308195" cy="608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组合 12"/>
          <p:cNvGrpSpPr/>
          <p:nvPr/>
        </p:nvGrpSpPr>
        <p:grpSpPr>
          <a:xfrm>
            <a:off x="4394999" y="6445607"/>
            <a:ext cx="3407864" cy="288000"/>
            <a:chOff x="1325563" y="6444186"/>
            <a:chExt cx="3407864" cy="288000"/>
          </a:xfrm>
        </p:grpSpPr>
        <p:sp>
          <p:nvSpPr>
            <p:cNvPr id="9" name="5017864a-f244-4b0a-80a6-eb5204f2798c" descr="{&quot;SlideID&quot;:&quot;319&quot;,&quot;SlideNumber&quot;:&quot;24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0ebdf119-b003-440b-956b-2eeb52cc8bc5" descr="{&quot;SlideID&quot;:&quot;320&quot;,&quot;SlideNumber&quot;:&quot;25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977a3fd4-0851-4d17-9e06-dbc43de4288d" descr="{&quot;SlideID&quot;:&quot;321&quot;,&quot;SlideNumber&quot;:&quot;27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66b85d0b-6c49-47f4-99a0-c42c4f996f5a" descr="{&quot;SlideID&quot;:&quot;322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40aa8a2b-22fe-41a5-96d6-606aee9b1fdf" descr="{&quot;SlideID&quot;:&quot;323&quot;,&quot;SlideNumber&quot;:&quot;31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e5e0b0b2-2d4f-403d-a31d-46d448989281" descr="{&quot;SlideID&quot;:&quot;324&quot;,&quot;SlideNumber&quot;:&quot;33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40723c4c-f625-4726-8f57-34e1fc23332f" descr="{&quot;SlideID&quot;:&quot;325&quot;,&quot;SlideNumber&quot;:&quot;36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D3F124B-F3B9-4F96-AAEF-6B6361B9B842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8dedf1fc-607c-451b-b2f3-104d4501ce62" descr="{&quot;SlideID&quot;:&quot;326&quot;,&quot;SlideNumber&quot;:&quot;39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fe642cc6-462a-4a4b-a129-0eaf2860adaa" descr="{&quot;SlideID&quot;:&quot;327&quot;,&quot;SlideNumber&quot;:&quot;41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4="http://schemas.microsoft.com/office/drawing/2010/main" xmlns:p14="http://schemas.microsoft.com/office/powerpoint/2010/main" xmlns:a16="http://schemas.microsoft.com/office/drawing/2014/main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626" name="yt_table_10626_skip" title="H_335.18008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3104696"/>
                  </p:ext>
                </p:extLst>
              </p:nvPr>
            </p:nvGraphicFramePr>
            <p:xfrm>
              <a:off x="324066" y="467999"/>
              <a:ext cx="10113963" cy="4256787"/>
            </p:xfrm>
            <a:graphic>
              <a:graphicData uri="http://schemas.openxmlformats.org/drawingml/2006/table">
                <a:tbl>
                  <a:tblPr/>
                  <a:tblGrid>
                    <a:gridCol w="10113963">
                      <a:extLst>
                        <a:ext uri="{9D8B030D-6E8A-4147-A177-3AD203B41FA5}">
                          <a16:colId xmlns:a16="http://schemas.microsoft.com/office/drawing/2014/main" val="1006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气流速度大小为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4</m:t>
                                      </m:r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𝑚𝑔</m:t>
                                      </m:r>
                                    </m:num>
                                    <m:den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𝜌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π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56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𝑑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800" b="0" i="0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rad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单位时间内流过风洞内某横截面的气体体积为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𝑚𝑔𝑆</m:t>
                                      </m:r>
                                    </m:num>
                                    <m:den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𝜌</m:t>
                                      </m:r>
                                    </m:den>
                                  </m:f>
                                </m:e>
                              </m:rad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若风速变为原来的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则游客开始运动时的加速度大小为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g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单位时间内风机做的功为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π</m:t>
                                  </m:r>
                                  <m:sSup>
                                    <m:sSup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8</m:t>
                                  </m:r>
                                </m:den>
                              </m:f>
                              <m:rad>
                                <m:radPr>
                                  <m:degHide m:val="on"/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56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𝑚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800" b="0" i="0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  <m:sSup>
                                        <m:sSupPr>
                                          <m:ctrlP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56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𝑔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800" b="0" i="0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𝜌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56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𝑆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800" b="0" i="0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rad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34"/>
                      </a:ext>
                    </a:extLst>
                  </a:tr>
                </a:tbl>
              </a:graphicData>
            </a:graphic>
          </p:graphicFrame>
        </mc:Choice>
        <mc:Fallback xmlns="" xmlns:a16="http://schemas.microsoft.com/office/drawing/2014/main" xmlns:p14="http://schemas.microsoft.com/office/powerpoint/2010/main" xmlns:p15="http://schemas.microsoft.com/office/powerpoint/2012/main">
          <p:graphicFrame>
            <p:nvGraphicFramePr>
              <p:cNvPr id="10626" name="yt_table_10626_skip" descr="{&quot;rangeId&quot;:60,&quot;type&quot;:&quot;Option&quot;,&quot;drawing&quot;:[&quot;yt_image_10625&quot;]}" title="H_335.18008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3104696"/>
                  </p:ext>
                </p:extLst>
              </p:nvPr>
            </p:nvGraphicFramePr>
            <p:xfrm>
              <a:off x="324066" y="467999"/>
              <a:ext cx="10113963" cy="4256787"/>
            </p:xfrm>
            <a:graphic>
              <a:graphicData uri="http://schemas.openxmlformats.org/drawingml/2006/table">
                <a:tbl>
                  <a:tblPr/>
                  <a:tblGrid>
                    <a:gridCol w="10113963">
                      <a:extLst>
                        <a:ext uri="{9D8B030D-6E8A-4147-A177-3AD203B41FA5}">
                          <a16:colId xmlns:a16="http://schemas.microsoft.com/office/drawing/2014/main" val="10062"/>
                        </a:ext>
                      </a:extLst>
                    </a:gridCol>
                  </a:tblGrid>
                  <a:tr h="121570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b="-25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31"/>
                      </a:ext>
                    </a:extLst>
                  </a:tr>
                  <a:tr h="112890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107527" b="-1698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32"/>
                      </a:ext>
                    </a:extLst>
                  </a:tr>
                  <a:tr h="78327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301563" b="-1468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33"/>
                      </a:ext>
                    </a:extLst>
                  </a:tr>
                  <a:tr h="112890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276344" b="-10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3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625" name="yt_image_10625_skip" title="H_203.28">
            <a:extLst>
              <a:ext uri="">
                <a16:creationId xmlns="" xmlns:a16="http://schemas.microsoft.com/office/drawing/2014/main" xmlns:p15="http://schemas.microsoft.com/office/powerpoint/2012/main" xmlns:mc="http://schemas.openxmlformats.org/markup-compatibility/2006" xmlns:a14="http://schemas.microsoft.com/office/drawing/2010/main" xmlns:p14="http://schemas.microsoft.com/office/powerpoint/2010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60199" y="467999"/>
            <a:ext cx="1405526" cy="258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C8BAE74-2B85-4A22-B056-792E5AE54958}"/>
              </a:ext>
            </a:extLst>
          </p:cNvPr>
          <p:cNvSpPr/>
          <p:nvPr/>
        </p:nvSpPr>
        <p:spPr>
          <a:xfrm>
            <a:off x="92281" y="3939956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394999" y="6445607"/>
            <a:ext cx="3407864" cy="288000"/>
            <a:chOff x="1325563" y="6444186"/>
            <a:chExt cx="3407864" cy="288000"/>
          </a:xfrm>
        </p:grpSpPr>
        <p:sp>
          <p:nvSpPr>
            <p:cNvPr id="9" name="cfd99c8c-451c-47ef-8b84-0a99ba711d03" descr="{&quot;SlideID&quot;:&quot;319&quot;,&quot;SlideNumber&quot;:&quot;24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87f1dee7-b59e-4f41-a173-9dad9fa5668b" descr="{&quot;SlideID&quot;:&quot;320&quot;,&quot;SlideNumber&quot;:&quot;25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7464a1e4-8c10-4922-8389-34cf588d0330" descr="{&quot;SlideID&quot;:&quot;321&quot;,&quot;SlideNumber&quot;:&quot;27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949d980c-eb3c-4dbe-a284-c5cfb95576cc" descr="{&quot;SlideID&quot;:&quot;322&quot;,&quot;SlideNumber&quot;:&quot;2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b3b967ca-553e-4f41-a0f9-11117ba491b3" descr="{&quot;SlideID&quot;:&quot;323&quot;,&quot;SlideNumber&quot;:&quot;31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6470bdcb-e6c0-4145-b58b-6e908f3937ec" descr="{&quot;SlideID&quot;:&quot;324&quot;,&quot;SlideNumber&quot;:&quot;33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5194cb39-f12b-4ce1-8c0b-52e7a6e859c4" descr="{&quot;SlideID&quot;:&quot;325&quot;,&quot;SlideNumber&quot;:&quot;3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D3F124B-F3B9-4F96-AAEF-6B6361B9B842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7de7729e-bb10-4397-afa3-63bdb8fcc3ab" descr="{&quot;SlideID&quot;:&quot;326&quot;,&quot;SlideNumber&quot;:&quot;39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49618ee5-9e8b-459e-a54f-8a4ace3b3eaf" descr="{&quot;SlideID&quot;:&quot;327&quot;,&quot;SlideNumber&quot;:&quot;41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627" name="yt_shape_10627"/>
              <p:cNvSpPr txBox="1"/>
              <p:nvPr/>
            </p:nvSpPr>
            <p:spPr>
              <a:xfrm>
                <a:off x="324071" y="468103"/>
                <a:ext cx="11543998" cy="556439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hangingPunct="0">
                  <a:lnSpc>
                    <a:spcPct val="11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对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时间内吹向游客的空气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设气体质量为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ρ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8f589"/>
                  </a:rPr>
                  <a:t>则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风的动量变化量为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＝－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以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2_c0511"/>
                  </a:rPr>
                  <a:t>时间内吹向游客的空气为研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究对象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由动量定理可得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由于游客处于静止状态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7b7b2"/>
                  </a:rPr>
                  <a:t>＝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mg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联立解得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𝑚𝑔</m:t>
                            </m:r>
                          </m:num>
                          <m:den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𝜌</m:t>
                            </m:r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𝑆</m:t>
                            </m:r>
                          </m:den>
                        </m:f>
                      </m:e>
                    </m:rad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8_8e87d"/>
                  </a:rPr>
                  <a:t>单位时间内流过风洞内横截面积的气体体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积为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π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𝑑</m:t>
                                </m:r>
                              </m:num>
                              <m:den>
                                <m: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π</m:t>
                        </m:r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𝑚𝑔</m:t>
                            </m:r>
                          </m:num>
                          <m:den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𝜌</m:t>
                            </m:r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𝑆</m:t>
                            </m:r>
                          </m:den>
                        </m:f>
                      </m:e>
                    </m:rad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若风速为原来的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4_8eced"/>
                  </a:rPr>
                  <a:t>则风力为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F'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'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ρ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·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由动量定理可知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F'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'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0_c5765"/>
                  </a:rPr>
                  <a:t>根据牛顿第二定律可知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mg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F'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联立解得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风洞单位时间流出的气体质量为</a:t>
                </a:r>
                <a:r>
                  <a:rPr lang="en-US" altLang="zh-CN" sz="2800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dirty="0" err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ρ</a:t>
                </a:r>
                <a:r>
                  <a:rPr lang="en-US" altLang="zh-CN" sz="2800" i="1" dirty="0" err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单位时间内风机做的功为</a:t>
                </a:r>
                <a:r>
                  <a:rPr lang="en-US" altLang="zh-CN" sz="2800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W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  <a:sym typeface="_⨹_1_69634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aseline="30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π</m:t>
                        </m:r>
                        <m:sSup>
                          <m:sSupPr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8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US" altLang="zh-CN" sz="28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3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𝑔</m:t>
                                </m:r>
                              </m:e>
                              <m:sup>
                                <m:r>
                                  <a:rPr lang="en-US" altLang="zh-CN" sz="28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𝜌</m:t>
                            </m:r>
                            <m:sSup>
                              <m:sSupPr>
                                <m:ctrlPr>
                                  <a:rPr lang="en-US" altLang="zh-CN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𝑆</m:t>
                                </m:r>
                              </m:e>
                              <m:sup>
                                <m:r>
                                  <a:rPr lang="en-US" altLang="zh-CN" sz="28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rad>
                  </m:oMath>
                </a14:m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正确。</a:t>
                </a:r>
                <a:endParaRPr lang="zh-CN" alt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 xmlns="" xmlns:a16="http://schemas.microsoft.com/office/drawing/2014/main">
          <p:sp>
            <p:nvSpPr>
              <p:cNvPr id="10627" name="yt_shape_106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8103"/>
                <a:ext cx="11543998" cy="5564397"/>
              </a:xfrm>
              <a:prstGeom prst="rect">
                <a:avLst/>
              </a:prstGeom>
              <a:blipFill>
                <a:blip r:embed="rId2"/>
                <a:stretch>
                  <a:fillRect l="-1848" t="-2191" r="-1584" b="-2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/>
          <p:cNvGrpSpPr/>
          <p:nvPr/>
        </p:nvGrpSpPr>
        <p:grpSpPr>
          <a:xfrm>
            <a:off x="4394999" y="6445607"/>
            <a:ext cx="3407864" cy="288000"/>
            <a:chOff x="1325563" y="6444186"/>
            <a:chExt cx="3407864" cy="288000"/>
          </a:xfrm>
        </p:grpSpPr>
        <p:sp>
          <p:nvSpPr>
            <p:cNvPr id="9" name="ff1e99b2-e448-4adf-9363-3a1e1eed4467" descr="{&quot;SlideID&quot;:&quot;319&quot;,&quot;SlideNumber&quot;:&quot;24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2a930e45-a877-4117-85f8-b2f0532abd0f" descr="{&quot;SlideID&quot;:&quot;320&quot;,&quot;SlideNumber&quot;:&quot;25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26bc99de-35ed-4ee0-8728-6effa68a28ef" descr="{&quot;SlideID&quot;:&quot;321&quot;,&quot;SlideNumber&quot;:&quot;27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b9482d15-4e98-4244-924b-d930ee462daa" descr="{&quot;SlideID&quot;:&quot;322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dd5b5d36-1ef8-4517-a95e-3dcb172530c3" descr="{&quot;SlideID&quot;:&quot;323&quot;,&quot;SlideNumber&quot;:&quot;31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98b84b57-e7f3-4c63-bbe4-8c059bc4b1bc" descr="{&quot;SlideID&quot;:&quot;324&quot;,&quot;SlideNumber&quot;:&quot;33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a573662f-6d88-4a9a-a27f-6b1d5240abe7" descr="{&quot;SlideID&quot;:&quot;325&quot;,&quot;SlideNumber&quot;:&quot;36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D3F124B-F3B9-4F96-AAEF-6B6361B9B842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9d45eaaa-c34b-4531-b4c2-2785dbf2266c" descr="{&quot;SlideID&quot;:&quot;326&quot;,&quot;SlideNumber&quot;:&quot;39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23f33881-18a5-470b-bb85-95f4a7c72baf" descr="{&quot;SlideID&quot;:&quot;327&quot;,&quot;SlideNumber&quot;:&quot;41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9" name="yt_shape_10629"/>
          <p:cNvSpPr txBox="1"/>
          <p:nvPr/>
        </p:nvSpPr>
        <p:spPr>
          <a:xfrm>
            <a:off x="324071" y="467999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8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如图甲所示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倾角为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°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的光滑斜面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足够长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224c3"/>
              </a:rPr>
              <a:t>固定在水平面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上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质量为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的物块静止在斜面底端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2_eb440"/>
              </a:rPr>
              <a:t>时刻给物块施加沿斜面方向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的作用力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物块运动的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图像如图乙所示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取沿斜面向上为正方向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dae87"/>
              </a:rPr>
              <a:t>重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力加速度取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下列说法中正确的有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ABD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0631" name="yt_table_10631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610284"/>
              </p:ext>
            </p:extLst>
          </p:nvPr>
        </p:nvGraphicFramePr>
        <p:xfrm>
          <a:off x="324066" y="2860710"/>
          <a:ext cx="5881688" cy="2389632"/>
        </p:xfrm>
        <a:graphic>
          <a:graphicData uri="http://schemas.openxmlformats.org/drawingml/2006/table">
            <a:tbl>
              <a:tblPr/>
              <a:tblGrid>
                <a:gridCol w="5881688">
                  <a:extLst>
                    <a:ext uri="{9D8B030D-6E8A-4147-A177-3AD203B41FA5}">
                      <a16:colId xmlns:a16="http://schemas.microsoft.com/office/drawing/2014/main" val="100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前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内力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F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的大小是第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倍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3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内物块所受合力的冲量为零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3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内力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F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做功为零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3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内力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F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的冲量为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30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N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Times New Roman" pitchFamily="28"/>
                        </a:rPr>
                        <a:t>·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8"/>
                  </a:ext>
                </a:extLst>
              </a:tr>
            </a:tbl>
          </a:graphicData>
        </a:graphic>
      </p:graphicFrame>
      <p:pic>
        <p:nvPicPr>
          <p:cNvPr id="10630" name="yt_image_10630_skip" title="H_159.9752">
            <a:extLst>
              <a:ext uri="">
                <a16:creationId xmlns="" xmlns:a16="http://schemas.microsoft.com/office/drawing/2014/main" xmlns:p15="http://schemas.microsoft.com/office/powerpoint/2012/main" xmlns:p14="http://schemas.microsoft.com/office/powerpoint/2010/main" xmlns:a14="http://schemas.microsoft.com/office/drawing/2010/main" xmlns:mc="http://schemas.openxmlformats.org/markup-compatibility/2006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04431" y="2860710"/>
            <a:ext cx="5662231" cy="2031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8A643DB-844D-43D4-97B2-B4AAE0F7E6F5}"/>
              </a:ext>
            </a:extLst>
          </p:cNvPr>
          <p:cNvSpPr/>
          <p:nvPr/>
        </p:nvSpPr>
        <p:spPr>
          <a:xfrm>
            <a:off x="73457" y="2860710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DE217B4-E185-46E0-9EE5-3DD2C78DAB01}"/>
              </a:ext>
            </a:extLst>
          </p:cNvPr>
          <p:cNvSpPr/>
          <p:nvPr/>
        </p:nvSpPr>
        <p:spPr>
          <a:xfrm>
            <a:off x="73457" y="3484137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C6CE88E-EEE5-4262-82EF-27ADE10E0773}"/>
              </a:ext>
            </a:extLst>
          </p:cNvPr>
          <p:cNvSpPr/>
          <p:nvPr/>
        </p:nvSpPr>
        <p:spPr>
          <a:xfrm>
            <a:off x="73456" y="4579378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394999" y="6445607"/>
            <a:ext cx="3407864" cy="288000"/>
            <a:chOff x="1325563" y="6444186"/>
            <a:chExt cx="3407864" cy="288000"/>
          </a:xfrm>
        </p:grpSpPr>
        <p:sp>
          <p:nvSpPr>
            <p:cNvPr id="9" name="17e5f812-e2b2-4c89-959c-55eff416dcf8" descr="{&quot;SlideID&quot;:&quot;319&quot;,&quot;SlideNumber&quot;:&quot;24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b8ab7630-7856-4616-9301-7b3e23c302f4" descr="{&quot;SlideID&quot;:&quot;320&quot;,&quot;SlideNumber&quot;:&quot;25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ab253480-4d40-4193-ad94-bcf60e0dbd96" descr="{&quot;SlideID&quot;:&quot;321&quot;,&quot;SlideNumber&quot;:&quot;27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a86e2673-d466-46ec-a4c8-a57e545c7151" descr="{&quot;SlideID&quot;:&quot;322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88bbd7ea-b511-4937-b1f3-230002bc67c5" descr="{&quot;SlideID&quot;:&quot;323&quot;,&quot;SlideNumber&quot;:&quot;31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17a4b35c-b07f-422f-a220-08279d5cbea8" descr="{&quot;SlideID&quot;:&quot;324&quot;,&quot;SlideNumber&quot;:&quot;33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db2cac36-1048-4bfa-8c97-2cdd53314c44" descr="{&quot;SlideID&quot;:&quot;325&quot;,&quot;SlideNumber&quot;:&quot;36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4d2a2822-aab0-41a3-ab1b-96cfb6db41fb" descr="{&quot;SlideID&quot;:&quot;326&quot;,&quot;SlideNumber&quot;:&quot;39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D3F124B-F3B9-4F96-AAEF-6B6361B9B842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5bc424ce-ded7-4dab-bd99-eead35d3fb6f" descr="{&quot;SlideID&quot;:&quot;327&quot;,&quot;SlideNumber&quot;:&quot;41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p14="http://schemas.microsoft.com/office/powerpoint/2010/main" xmlns:a16="http://schemas.microsoft.com/office/drawing/2014/main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3" name="yt_shape_10633"/>
          <p:cNvSpPr txBox="1"/>
          <p:nvPr/>
        </p:nvSpPr>
        <p:spPr>
          <a:xfrm>
            <a:off x="324071" y="467999"/>
            <a:ext cx="11924914" cy="475489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spc="150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</a:t>
            </a:r>
            <a:r>
              <a:rPr lang="zh-CN" altLang="zh-CN" sz="2800" b="0" i="0" u="none" spc="150" dirty="0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0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～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根据牛顿第二定律有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1" u="none" spc="150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mg</a:t>
            </a:r>
            <a:r>
              <a:rPr lang="en-US" altLang="zh-CN" sz="2800" b="0" i="0" u="none" spc="150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sin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30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°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ma</a:t>
            </a:r>
            <a:r>
              <a:rPr lang="en-US" altLang="zh-CN" sz="2800" b="0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可得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  <a:sym typeface="_⨹_1_fd45e"/>
              </a:rPr>
              <a:t>＝</a:t>
            </a:r>
            <a:b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20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～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根据牛顿第二定律有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1" u="none" spc="150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mg</a:t>
            </a:r>
            <a:r>
              <a:rPr lang="en-US" altLang="zh-CN" sz="2800" b="0" i="0" u="none" spc="150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sin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30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°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ma</a:t>
            </a:r>
            <a:r>
              <a:rPr lang="en-US" altLang="zh-CN" sz="2800" b="0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可得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  <a:sym typeface="_⨹_1_1f06b"/>
              </a:rPr>
              <a:t>＝</a:t>
            </a:r>
            <a:b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故前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内力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的大小是第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倍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-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5_d5964"/>
              </a:rPr>
              <a:t>图像与坐标</a:t>
            </a:r>
            <a:b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轴围成的面积表示速度变化量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可得</a:t>
            </a:r>
            <a:r>
              <a:rPr lang="en-US" altLang="zh-CN" sz="2800" b="0" i="0" u="none" spc="150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 spc="150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＋（－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  <a:sym typeface="_⨹_3_6365e"/>
              </a:rPr>
              <a:t>m/s</a:t>
            </a:r>
            <a:b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根据动量定理可知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内物块所受合力的冲量为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zh-CN" altLang="zh-CN" sz="2800" b="0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合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 spc="150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spc="150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 spc="150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  <a:sym typeface="_⨹_1_000db"/>
              </a:rPr>
              <a:t>，</a:t>
            </a:r>
            <a:b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内根据动能定理有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W</a:t>
            </a:r>
            <a:r>
              <a:rPr lang="en-US" altLang="zh-CN" sz="2800" b="0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W</a:t>
            </a:r>
            <a:r>
              <a:rPr lang="en-US" altLang="zh-CN" sz="2800" b="0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内重力做负功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  <a:sym typeface="_⨹_1_f9bff"/>
              </a:rPr>
              <a:t>s</a:t>
            </a:r>
            <a:b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内力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做正功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内力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的冲量为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en-US" altLang="zh-CN" sz="2800" b="0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en-US" altLang="zh-CN" sz="2800" b="0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20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  <a:sym typeface="_⨹_1_f9441"/>
              </a:rPr>
              <a:t>s</a:t>
            </a:r>
            <a:b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30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正确。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4394999" y="6445607"/>
            <a:ext cx="3407864" cy="288000"/>
            <a:chOff x="1325563" y="6444186"/>
            <a:chExt cx="3407864" cy="288000"/>
          </a:xfrm>
        </p:grpSpPr>
        <p:sp>
          <p:nvSpPr>
            <p:cNvPr id="9" name="23740870-8968-48cb-97af-dc1951523a6f" descr="{&quot;SlideID&quot;:&quot;319&quot;,&quot;SlideNumber&quot;:&quot;24&quot;}">
              <a:hlinkClick r:id="rId2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154771a0-e60d-48e6-8e1e-7c7e6f1903ea" descr="{&quot;SlideID&quot;:&quot;320&quot;,&quot;SlideNumber&quot;:&quot;25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42686233-cd2b-4f8b-9884-86467368dace" descr="{&quot;SlideID&quot;:&quot;321&quot;,&quot;SlideNumber&quot;:&quot;27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e8021db9-a48b-491d-8b0f-e76316754ab7" descr="{&quot;SlideID&quot;:&quot;322&quot;,&quot;SlideNumber&quot;:&quot;28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91405137-5654-4992-b92c-ccef6d0071f7" descr="{&quot;SlideID&quot;:&quot;323&quot;,&quot;SlideNumber&quot;:&quot;31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908d0f70-083b-4570-8a75-3dd006c07ee9" descr="{&quot;SlideID&quot;:&quot;324&quot;,&quot;SlideNumber&quot;:&quot;33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007e8eb2-1f3b-4776-8b0f-d6fdacda841c" descr="{&quot;SlideID&quot;:&quot;325&quot;,&quot;SlideNumber&quot;:&quot;36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152f3572-e982-416c-b525-cf7a47f430cb" descr="{&quot;SlideID&quot;:&quot;326&quot;,&quot;SlideNumber&quot;:&quot;39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D3F124B-F3B9-4F96-AAEF-6B6361B9B842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4778be4b-c33a-41fb-a936-e92cb30122cd" descr="{&quot;SlideID&quot;:&quot;327&quot;,&quot;SlideNumber&quot;:&quot;41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4" name="yt_shape_10634"/>
          <p:cNvSpPr txBox="1"/>
          <p:nvPr/>
        </p:nvSpPr>
        <p:spPr>
          <a:xfrm>
            <a:off x="324071" y="467999"/>
            <a:ext cx="11924914" cy="29451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9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山东济南月考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某自动秤米机的原理如图所示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de824"/>
              </a:rPr>
              <a:t>阀门距秤盘的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高度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h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当阀门打开时大米从静止开始下落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9_ff67f"/>
              </a:rPr>
              <a:t>大米与秤盘的碰撞时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间极短且不反弹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碰撞过程重力可忽略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当秤米机的示数为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66a2d"/>
              </a:rPr>
              <a:t>阀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门在电机控制下立即关闭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已知大米的流量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Q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重力加速度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取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75642"/>
              </a:rPr>
              <a:t> 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忽略空气阻力及大米在秤盘堆积的高度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</a:p>
        </p:txBody>
      </p:sp>
      <p:pic>
        <p:nvPicPr>
          <p:cNvPr id="10635" name="yt_image_10635" title="H_188.88">
            <a:extLst>
              <a:ext uri="">
                <a16:creationId xmlns="" xmlns:a16="http://schemas.microsoft.com/office/drawing/2014/main" xmlns:p15="http://schemas.microsoft.com/office/powerpoint/2012/main" xmlns:mc="http://schemas.openxmlformats.org/markup-compatibility/2006" xmlns:a14="http://schemas.microsoft.com/office/drawing/2010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88563" y="3616316"/>
            <a:ext cx="3014873" cy="239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组合 11"/>
          <p:cNvGrpSpPr/>
          <p:nvPr/>
        </p:nvGrpSpPr>
        <p:grpSpPr>
          <a:xfrm>
            <a:off x="4394999" y="6445607"/>
            <a:ext cx="3407864" cy="288000"/>
            <a:chOff x="1325563" y="6444186"/>
            <a:chExt cx="3407864" cy="288000"/>
          </a:xfrm>
        </p:grpSpPr>
        <p:sp>
          <p:nvSpPr>
            <p:cNvPr id="9" name="997d0b06-1d56-4000-8b6e-906931b977ce" descr="{&quot;SlideID&quot;:&quot;319&quot;,&quot;SlideNumber&quot;:&quot;24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0ae0a385-c7d6-465e-9509-9f0ecb8e4ae9" descr="{&quot;SlideID&quot;:&quot;320&quot;,&quot;SlideNumber&quot;:&quot;25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09353ac5-66d5-4f00-8b1d-3b3b6e23cc5f" descr="{&quot;SlideID&quot;:&quot;321&quot;,&quot;SlideNumber&quot;:&quot;27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c087f43f-cfb0-4be4-941e-708d569ed205" descr="{&quot;SlideID&quot;:&quot;322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21df15fa-c630-47b7-a011-65d6cb7eacb1" descr="{&quot;SlideID&quot;:&quot;323&quot;,&quot;SlideNumber&quot;:&quot;31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b5df06f8-f0f9-42b3-9a3a-015173ac10bf" descr="{&quot;SlideID&quot;:&quot;324&quot;,&quot;SlideNumber&quot;:&quot;33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46b1f818-96c9-4538-b4d6-dbc708b34398" descr="{&quot;SlideID&quot;:&quot;325&quot;,&quot;SlideNumber&quot;:&quot;36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c9c2be9e-e8d5-473e-a698-0f500fec9ab5" descr="{&quot;SlideID&quot;:&quot;326&quot;,&quot;SlideNumber&quot;:&quot;39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d1fcc783-5afa-4d3f-a76a-0366c2c0a25a" descr="{&quot;SlideID&quot;:&quot;327&quot;,&quot;SlideNumber&quot;:&quot;41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D3F124B-F3B9-4F96-AAEF-6B6361B9B842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7" name="yt_shape_10637"/>
          <p:cNvSpPr txBox="1"/>
          <p:nvPr/>
        </p:nvSpPr>
        <p:spPr>
          <a:xfrm>
            <a:off x="324071" y="467999"/>
            <a:ext cx="11924914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大米落到秤盘前瞬间速度的大小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3_591b6"/>
              </a:rPr>
              <a:t>及阀门关闭瞬间空中大米的质</a:t>
            </a:r>
            <a:b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量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sp>
        <p:nvSpPr>
          <p:cNvPr id="10638" name="yt_shape_10638"/>
          <p:cNvSpPr txBox="1"/>
          <p:nvPr/>
        </p:nvSpPr>
        <p:spPr>
          <a:xfrm>
            <a:off x="324000" y="1635055"/>
            <a:ext cx="3390352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39" name="yt_shape_10639"/>
              <p:cNvSpPr txBox="1"/>
              <p:nvPr/>
            </p:nvSpPr>
            <p:spPr>
              <a:xfrm>
                <a:off x="324000" y="2218040"/>
                <a:ext cx="9111469" cy="2245871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设每粒大米质量为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由机械能守恒得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gh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30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大米落入秤盘时的速度大小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阀门关闭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大米在空中运动的时间满足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gt</a:t>
                </a:r>
                <a:r>
                  <a:rPr lang="en-US" altLang="zh-CN" sz="2800" b="0" i="0" u="none" baseline="30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</a:p>
            </p:txBody>
          </p:sp>
        </mc:Choice>
        <mc:Fallback xmlns="" xmlns:a16="http://schemas.microsoft.com/office/drawing/2014/main">
          <p:sp>
            <p:nvSpPr>
              <p:cNvPr id="10639" name="yt_shape_106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2218040"/>
                <a:ext cx="9111469" cy="2245871"/>
              </a:xfrm>
              <a:prstGeom prst="rect">
                <a:avLst/>
              </a:prstGeom>
              <a:blipFill>
                <a:blip r:embed="rId2"/>
                <a:stretch>
                  <a:fillRect l="-2341" r="-401" b="-46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41" name="yt_shape_10641"/>
          <p:cNvSpPr txBox="1"/>
          <p:nvPr/>
        </p:nvSpPr>
        <p:spPr>
          <a:xfrm>
            <a:off x="324000" y="4514699"/>
            <a:ext cx="3491340" cy="113543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解得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空中大米的质量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Qt</a:t>
            </a:r>
          </a:p>
        </p:txBody>
      </p:sp>
      <p:sp>
        <p:nvSpPr>
          <p:cNvPr id="10642" name="yt_shape_10642"/>
          <p:cNvSpPr txBox="1"/>
          <p:nvPr/>
        </p:nvSpPr>
        <p:spPr>
          <a:xfrm>
            <a:off x="324000" y="5700926"/>
            <a:ext cx="2862963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解得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02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4394999" y="6445607"/>
            <a:ext cx="3407864" cy="288000"/>
            <a:chOff x="1325563" y="6444186"/>
            <a:chExt cx="3407864" cy="288000"/>
          </a:xfrm>
        </p:grpSpPr>
        <p:sp>
          <p:nvSpPr>
            <p:cNvPr id="9" name="95db7348-0a52-41e7-9f16-139d4953521a" descr="{&quot;SlideID&quot;:&quot;319&quot;,&quot;SlideNumber&quot;:&quot;24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8cbe4bb0-9d49-4f14-96fb-e22ccc3df027" descr="{&quot;SlideID&quot;:&quot;320&quot;,&quot;SlideNumber&quot;:&quot;25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5cd0a45c-597e-4bd4-851c-88b38e258f51" descr="{&quot;SlideID&quot;:&quot;321&quot;,&quot;SlideNumber&quot;:&quot;27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9c713235-f38f-4ab9-ab6c-3748725e84a2" descr="{&quot;SlideID&quot;:&quot;322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60846d09-542a-4d2b-8393-ed4683c46f2f" descr="{&quot;SlideID&quot;:&quot;323&quot;,&quot;SlideNumber&quot;:&quot;31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0c0e66d9-36c5-47ee-bc4d-6c6ea6d76489" descr="{&quot;SlideID&quot;:&quot;324&quot;,&quot;SlideNumber&quot;:&quot;33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583ee01f-8710-486a-9407-1998e1b75ba6" descr="{&quot;SlideID&quot;:&quot;325&quot;,&quot;SlideNumber&quot;:&quot;36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ec4b35cb-f2ca-4a60-9725-c7b25f4e236d" descr="{&quot;SlideID&quot;:&quot;326&quot;,&quot;SlideNumber&quot;:&quot;39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d448c02f-4838-46a9-8421-9fd9d483607e" descr="{&quot;SlideID&quot;:&quot;327&quot;,&quot;SlideNumber&quot;:&quot;41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D3F124B-F3B9-4F96-AAEF-6B6361B9B842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6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6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6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6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6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38" grpId="0" build="allAtOnce"/>
      <p:bldP spid="10639" grpId="0" build="allAtOnce"/>
      <p:bldP spid="10641" grpId="0" build="allAtOnce"/>
      <p:bldP spid="10642" grpId="0" build="allAtOnce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3" name="yt_shape_10643"/>
          <p:cNvSpPr txBox="1"/>
          <p:nvPr/>
        </p:nvSpPr>
        <p:spPr>
          <a:xfrm>
            <a:off x="324000" y="467999"/>
            <a:ext cx="7360989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大米与秤盘碰撞时对秤盘冲击力的大小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sp>
        <p:nvSpPr>
          <p:cNvPr id="10644" name="yt_shape_10644"/>
          <p:cNvSpPr txBox="1"/>
          <p:nvPr/>
        </p:nvSpPr>
        <p:spPr>
          <a:xfrm>
            <a:off x="324000" y="1050984"/>
            <a:ext cx="1965282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</a:p>
        </p:txBody>
      </p:sp>
      <p:sp>
        <p:nvSpPr>
          <p:cNvPr id="10645" name="yt_shape_10645"/>
          <p:cNvSpPr txBox="1"/>
          <p:nvPr/>
        </p:nvSpPr>
        <p:spPr>
          <a:xfrm>
            <a:off x="324000" y="1633969"/>
            <a:ext cx="11099192" cy="354840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时间内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从阀门处下落的大米质量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Q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其落到秤上时受到的冲击力为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由动量定理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mv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则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由牛顿第三定律可知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大米与秤盘碰撞时对秤盘冲击力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F'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4394999" y="6445607"/>
            <a:ext cx="3407864" cy="288000"/>
            <a:chOff x="1325563" y="6444186"/>
            <a:chExt cx="3407864" cy="288000"/>
          </a:xfrm>
        </p:grpSpPr>
        <p:sp>
          <p:nvSpPr>
            <p:cNvPr id="9" name="e02f4522-adfb-4cc9-b2f1-37cfc2773f8f" descr="{&quot;SlideID&quot;:&quot;319&quot;,&quot;SlideNumber&quot;:&quot;24&quot;}">
              <a:hlinkClick r:id="rId2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1058fe02-7497-420d-8d11-77aed420a236" descr="{&quot;SlideID&quot;:&quot;320&quot;,&quot;SlideNumber&quot;:&quot;25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60f83ecf-04c6-4321-ad2a-558a4f59a676" descr="{&quot;SlideID&quot;:&quot;321&quot;,&quot;SlideNumber&quot;:&quot;27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a24e0373-0eb4-41bd-ba99-e31d62f53e4a" descr="{&quot;SlideID&quot;:&quot;322&quot;,&quot;SlideNumber&quot;:&quot;28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a2490710-d7e5-45c5-8532-4dc7a52260e3" descr="{&quot;SlideID&quot;:&quot;323&quot;,&quot;SlideNumber&quot;:&quot;31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3a9cc074-8870-4745-8664-1cddbf3549bb" descr="{&quot;SlideID&quot;:&quot;324&quot;,&quot;SlideNumber&quot;:&quot;33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bb39363f-4585-4700-aec5-d873c0594907" descr="{&quot;SlideID&quot;:&quot;325&quot;,&quot;SlideNumber&quot;:&quot;36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4bab0ee-68cc-4bb8-8520-f1260ee7dd93" descr="{&quot;SlideID&quot;:&quot;326&quot;,&quot;SlideNumber&quot;:&quot;39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0855568e-24f6-4343-9e7d-f3da1fc2281b" descr="{&quot;SlideID&quot;:&quot;327&quot;,&quot;SlideNumber&quot;:&quot;41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D3F124B-F3B9-4F96-AAEF-6B6361B9B842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6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6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6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6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6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4" grpId="0" build="allAtOnce"/>
      <p:bldP spid="10645" grpId="0" build="allAtOnce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648" name="yt_shape_10648"/>
              <p:cNvSpPr txBox="1"/>
              <p:nvPr/>
            </p:nvSpPr>
            <p:spPr>
              <a:xfrm>
                <a:off x="311300" y="1649099"/>
                <a:ext cx="10747814" cy="2663999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关闭阀门时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秤示数为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kg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此时秤上大米质量为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m'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kg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𝐹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</m:t>
                        </m:r>
                      </m:den>
                    </m:f>
                  </m:oMath>
                </a14:m>
                <a:endParaRPr lang="zh-CN" altLang="zh-CN" sz="2800" b="0" i="0" u="none" dirty="0">
                  <a:solidFill>
                    <a:srgbClr val="C00000"/>
                  </a:solidFill>
                  <a:effectLst/>
                  <a:latin typeface="宋体" pitchFamily="28"/>
                  <a:ea typeface="宋体" pitchFamily="28"/>
                </a:endParaRP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m'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98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kg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当空中大米全部落入盘中后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大米的总质量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m'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kg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98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kg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kg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 xmlns:a16="http://schemas.microsoft.com/office/drawing/2014/main">
          <p:sp>
            <p:nvSpPr>
              <p:cNvPr id="10648" name="yt_shape_106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00" y="1649099"/>
                <a:ext cx="10747814" cy="2663999"/>
              </a:xfrm>
              <a:prstGeom prst="rect">
                <a:avLst/>
              </a:prstGeom>
              <a:blipFill>
                <a:blip r:embed="rId2"/>
                <a:stretch>
                  <a:fillRect l="-1985" b="-73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yt_shape_10646">
            <a:extLst>
              <a:ext uri="{FF2B5EF4-FFF2-40B4-BE49-F238E27FC236}">
                <a16:creationId xmlns:a16="http://schemas.microsoft.com/office/drawing/2014/main" id="{39843483-FC08-43E9-8211-033B41119BD0}"/>
              </a:ext>
            </a:extLst>
          </p:cNvPr>
          <p:cNvSpPr txBox="1"/>
          <p:nvPr/>
        </p:nvSpPr>
        <p:spPr>
          <a:xfrm>
            <a:off x="311300" y="673864"/>
            <a:ext cx="9515425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稳定后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空中的大米全部落入秤盘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秤米机的示数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4" name="yt_shape_10647">
            <a:extLst>
              <a:ext uri="{FF2B5EF4-FFF2-40B4-BE49-F238E27FC236}">
                <a16:creationId xmlns:a16="http://schemas.microsoft.com/office/drawing/2014/main" id="{F2693833-AA47-4DAC-B520-179445C80233}"/>
              </a:ext>
            </a:extLst>
          </p:cNvPr>
          <p:cNvSpPr txBox="1"/>
          <p:nvPr/>
        </p:nvSpPr>
        <p:spPr>
          <a:xfrm>
            <a:off x="311300" y="1256849"/>
            <a:ext cx="1705595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4394999" y="6445607"/>
            <a:ext cx="3407864" cy="288000"/>
            <a:chOff x="1325563" y="6444186"/>
            <a:chExt cx="3407864" cy="288000"/>
          </a:xfrm>
        </p:grpSpPr>
        <p:sp>
          <p:nvSpPr>
            <p:cNvPr id="9" name="e582ab0d-6aed-48ba-8c7c-b540a6236905" descr="{&quot;SlideID&quot;:&quot;319&quot;,&quot;SlideNumber&quot;:&quot;24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3ba7ad51-8641-43ff-aa43-7236a39c32ab" descr="{&quot;SlideID&quot;:&quot;320&quot;,&quot;SlideNumber&quot;:&quot;25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85a248a0-e197-4130-960e-3736efa56baa" descr="{&quot;SlideID&quot;:&quot;321&quot;,&quot;SlideNumber&quot;:&quot;27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fc92ba44-6dd8-4d65-8b43-312b26d2a255" descr="{&quot;SlideID&quot;:&quot;322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dc544ce5-82f7-4e93-9b2c-0c59411bb361" descr="{&quot;SlideID&quot;:&quot;323&quot;,&quot;SlideNumber&quot;:&quot;31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36e163d1-dfec-4da6-a31f-d5d504f3cf56" descr="{&quot;SlideID&quot;:&quot;324&quot;,&quot;SlideNumber&quot;:&quot;33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361aa401-0965-4c7b-87be-114f83baf633" descr="{&quot;SlideID&quot;:&quot;325&quot;,&quot;SlideNumber&quot;:&quot;36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5dda4d36-e509-49f4-8dfe-f02f24a42d56" descr="{&quot;SlideID&quot;:&quot;326&quot;,&quot;SlideNumber&quot;:&quot;39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fc4710da-2cf1-4272-8c38-7d1a522050f7" descr="{&quot;SlideID&quot;:&quot;327&quot;,&quot;SlideNumber&quot;:&quot;41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D3F124B-F3B9-4F96-AAEF-6B6361B9B842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8" grpId="0"/>
      <p:bldP spid="4" grpId="0" build="allAtOnce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068" y="-223206"/>
            <a:ext cx="7614606" cy="7614606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0" y="1917700"/>
            <a:ext cx="12192000" cy="2667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79400" sx="99000" sy="99000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95"/>
          <a:stretch/>
        </p:blipFill>
        <p:spPr>
          <a:xfrm>
            <a:off x="6005768" y="1917700"/>
            <a:ext cx="6563872" cy="3514274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7C2CE74F-02DD-4AC0-A86F-3C8DF00FACEC}"/>
              </a:ext>
            </a:extLst>
          </p:cNvPr>
          <p:cNvSpPr txBox="1"/>
          <p:nvPr/>
        </p:nvSpPr>
        <p:spPr>
          <a:xfrm>
            <a:off x="181430" y="2383972"/>
            <a:ext cx="631371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11000" b="1" i="0" u="none" strike="noStrike" kern="1200" normalizeH="0" baseline="0" noProof="0" dirty="0">
                <a:ln w="10160">
                  <a:solidFill>
                    <a:schemeClr val="bg2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Impact" panose="020B0806030902050204" pitchFamily="34" charset="0"/>
                <a:ea typeface="宋体" pitchFamily="2" charset="-122"/>
                <a:cs typeface="+mn-cs"/>
              </a:rPr>
              <a:t>THANKS</a:t>
            </a:r>
            <a:endParaRPr kumimoji="0" lang="zh-CN" altLang="en-US" sz="11000" b="1" i="0" u="none" strike="noStrike" kern="1200" normalizeH="0" baseline="0" noProof="0" dirty="0">
              <a:ln w="10160">
                <a:solidFill>
                  <a:schemeClr val="bg2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Impact" panose="020B080603090205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7" name="TextBox 32"/>
          <p:cNvSpPr txBox="1"/>
          <p:nvPr/>
        </p:nvSpPr>
        <p:spPr>
          <a:xfrm>
            <a:off x="6119586" y="1884101"/>
            <a:ext cx="6313715" cy="2047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50" endPos="850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演示完毕 </a:t>
            </a:r>
            <a:endParaRPr lang="en-US" altLang="zh-CN" sz="4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50" endPos="85000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50" endPos="850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感谢观看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4394999" y="6445607"/>
            <a:ext cx="3407864" cy="288000"/>
            <a:chOff x="1325563" y="6444186"/>
            <a:chExt cx="3407864" cy="288000"/>
          </a:xfrm>
        </p:grpSpPr>
        <p:sp>
          <p:nvSpPr>
            <p:cNvPr id="9" name="3aa30d8d-7516-46aa-8c09-6e13985ef6a2" descr="{&quot;SlideID&quot;:&quot;319&quot;,&quot;SlideNumber&quot;:&quot;24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bb8d314f-318a-4970-b423-929099137c08" descr="{&quot;SlideID&quot;:&quot;320&quot;,&quot;SlideNumber&quot;:&quot;25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abf3a68a-7967-40cf-8106-6fd0cae5e07f" descr="{&quot;SlideID&quot;:&quot;321&quot;,&quot;SlideNumber&quot;:&quot;27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3056d4ff-ba00-42d3-813a-89535e84b385" descr="{&quot;SlideID&quot;:&quot;322&quot;,&quot;SlideNumber&quot;:&quot;2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dbfcf6be-9c3b-46f6-a68e-20a7deb874ea" descr="{&quot;SlideID&quot;:&quot;323&quot;,&quot;SlideNumber&quot;:&quot;31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98c58a26-6b00-42c1-b8da-b55ce167a984" descr="{&quot;SlideID&quot;:&quot;324&quot;,&quot;SlideNumber&quot;:&quot;33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4d317150-384e-43e8-bf8e-496bb377351d" descr="{&quot;SlideID&quot;:&quot;325&quot;,&quot;SlideNumber&quot;:&quot;3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d1338786-7eeb-4455-bc12-77558a3f65bb" descr="{&quot;SlideID&quot;:&quot;326&quot;,&quot;SlideNumber&quot;:&quot;39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A6C0D875-7EA3-43F7-AB91-59482BB13A38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4728568f-f7c5-4e87-bc3c-e51128f3b1f3" descr="{&quot;SlideID&quot;:&quot;327&quot;,&quot;SlideNumber&quot;:&quot;41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D3F124B-F3B9-4F96-AAEF-6B6361B9B842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92291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airplane"/>
      </p:transition>
    </mc:Choice>
    <mc:Fallback xmlns="" xmlns:p14="http://schemas.microsoft.com/office/powerpoint/2010/main" xmlns:a16="http://schemas.microsoft.com/office/drawing/2014/main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/>
      <p:bldP spid="17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4951</Words>
  <Application>Microsoft Macintosh PowerPoint</Application>
  <PresentationFormat>Widescreen</PresentationFormat>
  <Paragraphs>407</Paragraphs>
  <Slides>45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9" baseType="lpstr">
      <vt:lpstr>方正新报宋_GBK</vt:lpstr>
      <vt:lpstr>等线</vt:lpstr>
      <vt:lpstr>楷体</vt:lpstr>
      <vt:lpstr>微软雅黑</vt:lpstr>
      <vt:lpstr>微软雅黑</vt:lpstr>
      <vt:lpstr>黑体</vt:lpstr>
      <vt:lpstr>宋体</vt:lpstr>
      <vt:lpstr>华文细黑</vt:lpstr>
      <vt:lpstr>Arial</vt:lpstr>
      <vt:lpstr>Calibri</vt:lpstr>
      <vt:lpstr>Cambria Math</vt:lpstr>
      <vt:lpstr>Impact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Xingyu Shu</cp:lastModifiedBy>
  <cp:revision>115</cp:revision>
  <dcterms:created xsi:type="dcterms:W3CDTF">2025-12-05T00:48:51Z</dcterms:created>
  <dcterms:modified xsi:type="dcterms:W3CDTF">2026-09-15T08:28:05Z</dcterms:modified>
</cp:coreProperties>
</file>