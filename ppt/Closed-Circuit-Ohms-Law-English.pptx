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797e7010f047af" /><Relationship Type="http://schemas.openxmlformats.org/officeDocument/2006/relationships/extended-properties" Target="/docProps/app.xml" Id="R820b1576bfe444ad" /><Relationship Type="http://schemas.openxmlformats.org/officeDocument/2006/relationships/officeDocument" Target="/ppt/presentation.xml" Id="Rb2feef5c09794f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f1fdc4f42945f7"/>
  </p:sldMasterIdLst>
  <p:notesMasterIdLst>
    <p:notesMasterId xmlns:r="http://schemas.openxmlformats.org/officeDocument/2006/relationships" r:id="Rf989985398394538"/>
  </p:notesMasterIdLst>
  <p:sldIdLst>
    <p:sldId xmlns:r="http://schemas.openxmlformats.org/officeDocument/2006/relationships" id="256" r:id="Rb3a6c77b93aa4705"/>
    <p:sldId xmlns:r="http://schemas.openxmlformats.org/officeDocument/2006/relationships" id="257" r:id="R249b71f6dabd4d80"/>
    <p:sldId xmlns:r="http://schemas.openxmlformats.org/officeDocument/2006/relationships" id="258" r:id="Rd02d685cf6d740e1"/>
    <p:sldId xmlns:r="http://schemas.openxmlformats.org/officeDocument/2006/relationships" id="259" r:id="R2db30ba6fa6e4a0c"/>
    <p:sldId xmlns:r="http://schemas.openxmlformats.org/officeDocument/2006/relationships" id="260" r:id="R11cab8b334fa44a5"/>
    <p:sldId xmlns:r="http://schemas.openxmlformats.org/officeDocument/2006/relationships" id="261" r:id="R8b7216f7aca34256"/>
    <p:sldId xmlns:r="http://schemas.openxmlformats.org/officeDocument/2006/relationships" id="262" r:id="R6d7197199bfa4cdf"/>
    <p:sldId xmlns:r="http://schemas.openxmlformats.org/officeDocument/2006/relationships" id="263" r:id="Rd8b43c3dc8614bc3"/>
    <p:sldId xmlns:r="http://schemas.openxmlformats.org/officeDocument/2006/relationships" id="264" r:id="R510a6f7c41864b76"/>
    <p:sldId xmlns:r="http://schemas.openxmlformats.org/officeDocument/2006/relationships" id="265" r:id="R7e6de7bb03804af3"/>
    <p:sldId xmlns:r="http://schemas.openxmlformats.org/officeDocument/2006/relationships" id="266" r:id="R0ff35f3c700d4fb4"/>
    <p:sldId xmlns:r="http://schemas.openxmlformats.org/officeDocument/2006/relationships" id="267" r:id="R8dfc8644d5914a68"/>
    <p:sldId xmlns:r="http://schemas.openxmlformats.org/officeDocument/2006/relationships" id="268" r:id="Ra0039044737340e5"/>
    <p:sldId xmlns:r="http://schemas.openxmlformats.org/officeDocument/2006/relationships" id="269" r:id="R3cb3e9d3a0c54831"/>
    <p:sldId xmlns:r="http://schemas.openxmlformats.org/officeDocument/2006/relationships" id="270" r:id="R0377d6168eb040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2aa68c7dfb4c3c" /><Relationship Type="http://schemas.openxmlformats.org/officeDocument/2006/relationships/slideMaster" Target="/ppt/slideMasters/slideMaster1.xml" Id="R59f1fdc4f42945f7" /><Relationship Type="http://schemas.openxmlformats.org/officeDocument/2006/relationships/notesMaster" Target="/ppt/notesMasters/notesMaster1.xml" Id="Rf989985398394538" /><Relationship Type="http://schemas.openxmlformats.org/officeDocument/2006/relationships/presProps" Target="/ppt/presProps.xml" Id="R333cbb4d0a08445a" /><Relationship Type="http://schemas.openxmlformats.org/officeDocument/2006/relationships/viewProps" Target="/ppt/viewProps.xml" Id="Ra3d1e6cfcac84ffc" /><Relationship Type="http://schemas.openxmlformats.org/officeDocument/2006/relationships/tableStyles" Target="/ppt/tableStyles.xml" Id="R085f674990e7421d" /><Relationship Type="http://schemas.openxmlformats.org/officeDocument/2006/relationships/slide" Target="/ppt/slides/slide1.xml" Id="Rb3a6c77b93aa4705" /><Relationship Type="http://schemas.openxmlformats.org/officeDocument/2006/relationships/slide" Target="/ppt/slides/slide2.xml" Id="R249b71f6dabd4d80" /><Relationship Type="http://schemas.openxmlformats.org/officeDocument/2006/relationships/slide" Target="/ppt/slides/slide3.xml" Id="Rd02d685cf6d740e1" /><Relationship Type="http://schemas.openxmlformats.org/officeDocument/2006/relationships/slide" Target="/ppt/slides/slide4.xml" Id="R2db30ba6fa6e4a0c" /><Relationship Type="http://schemas.openxmlformats.org/officeDocument/2006/relationships/slide" Target="/ppt/slides/slide5.xml" Id="R11cab8b334fa44a5" /><Relationship Type="http://schemas.openxmlformats.org/officeDocument/2006/relationships/slide" Target="/ppt/slides/slide6.xml" Id="R8b7216f7aca34256" /><Relationship Type="http://schemas.openxmlformats.org/officeDocument/2006/relationships/slide" Target="/ppt/slides/slide7.xml" Id="R6d7197199bfa4cdf" /><Relationship Type="http://schemas.openxmlformats.org/officeDocument/2006/relationships/slide" Target="/ppt/slides/slide8.xml" Id="Rd8b43c3dc8614bc3" /><Relationship Type="http://schemas.openxmlformats.org/officeDocument/2006/relationships/slide" Target="/ppt/slides/slide9.xml" Id="R510a6f7c41864b76" /><Relationship Type="http://schemas.openxmlformats.org/officeDocument/2006/relationships/slide" Target="/ppt/slides/slide10.xml" Id="R7e6de7bb03804af3" /><Relationship Type="http://schemas.openxmlformats.org/officeDocument/2006/relationships/slide" Target="/ppt/slides/slide11.xml" Id="R0ff35f3c700d4fb4" /><Relationship Type="http://schemas.openxmlformats.org/officeDocument/2006/relationships/slide" Target="/ppt/slides/slide12.xml" Id="R8dfc8644d5914a68" /><Relationship Type="http://schemas.openxmlformats.org/officeDocument/2006/relationships/slide" Target="/ppt/slides/slide13.xml" Id="Ra0039044737340e5" /><Relationship Type="http://schemas.openxmlformats.org/officeDocument/2006/relationships/slide" Target="/ppt/slides/slide14.xml" Id="R3cb3e9d3a0c54831" /><Relationship Type="http://schemas.openxmlformats.org/officeDocument/2006/relationships/slide" Target="/ppt/slides/slide15.xml" Id="R0377d6168eb040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d08b67e3d74c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df0f06830d4c95" /><Relationship Type="http://schemas.openxmlformats.org/officeDocument/2006/relationships/notesMaster" Target="/ppt/notesMasters/notesMaster1.xml" Id="R957cfc52253d43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2b195621eb4365" /><Relationship Type="http://schemas.openxmlformats.org/officeDocument/2006/relationships/notesMaster" Target="/ppt/notesMasters/notesMaster1.xml" Id="Rde00351b430c47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11a8d0f4b24715" /><Relationship Type="http://schemas.openxmlformats.org/officeDocument/2006/relationships/notesMaster" Target="/ppt/notesMasters/notesMaster1.xml" Id="R459af7c1536c4a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091b6a06934750" /><Relationship Type="http://schemas.openxmlformats.org/officeDocument/2006/relationships/notesMaster" Target="/ppt/notesMasters/notesMaster1.xml" Id="R6855539aa5e84f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60ba7fc7a24ad1" /><Relationship Type="http://schemas.openxmlformats.org/officeDocument/2006/relationships/notesMaster" Target="/ppt/notesMasters/notesMaster1.xml" Id="R0b11300d251e48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7ea92fe54641ef" /><Relationship Type="http://schemas.openxmlformats.org/officeDocument/2006/relationships/notesMaster" Target="/ppt/notesMasters/notesMaster1.xml" Id="R8352627d487a43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3c6f208650474e" /><Relationship Type="http://schemas.openxmlformats.org/officeDocument/2006/relationships/notesMaster" Target="/ppt/notesMasters/notesMaster1.xml" Id="R0cb2fe8969d441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a7f167bee641e1" /><Relationship Type="http://schemas.openxmlformats.org/officeDocument/2006/relationships/notesMaster" Target="/ppt/notesMasters/notesMaster1.xml" Id="R673ff2290e0d45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60c49c83174673" /><Relationship Type="http://schemas.openxmlformats.org/officeDocument/2006/relationships/notesMaster" Target="/ppt/notesMasters/notesMaster1.xml" Id="R7f72f6e4b05f4a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bc0e87486c4efc" /><Relationship Type="http://schemas.openxmlformats.org/officeDocument/2006/relationships/notesMaster" Target="/ppt/notesMasters/notesMaster1.xml" Id="R17c4a6d629e64c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49a269be264683" /><Relationship Type="http://schemas.openxmlformats.org/officeDocument/2006/relationships/notesMaster" Target="/ppt/notesMasters/notesMaster1.xml" Id="R699002b49a3a44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8ad08b0b1143bf" /><Relationship Type="http://schemas.openxmlformats.org/officeDocument/2006/relationships/notesMaster" Target="/ppt/notesMasters/notesMaster1.xml" Id="R3e70154949fc49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68798455104409" /><Relationship Type="http://schemas.openxmlformats.org/officeDocument/2006/relationships/notesMaster" Target="/ppt/notesMasters/notesMaster1.xml" Id="R9ee8be0a5d374d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68829840ec4621" /><Relationship Type="http://schemas.openxmlformats.org/officeDocument/2006/relationships/notesMaster" Target="/ppt/notesMasters/notesMaster1.xml" Id="Rc673d64f85ce49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75c823c818e422a" /><Relationship Type="http://schemas.openxmlformats.org/officeDocument/2006/relationships/notesMaster" Target="/ppt/notesMasters/notesMaster1.xml" Id="Rc0021e8def4946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c227971fc48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01101a2379420a" /><Relationship Type="http://schemas.openxmlformats.org/officeDocument/2006/relationships/slideLayout" Target="/ppt/slideLayouts/slideLayout1.xml" Id="R9a0efb8068d241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0efb8068d241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4eece28c343c3" /><Relationship Type="http://schemas.openxmlformats.org/officeDocument/2006/relationships/notesSlide" Target="/ppt/notesSlides/notesSlide1.xml" Id="Refb6be20964e44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b248a798f42d8" /><Relationship Type="http://schemas.openxmlformats.org/officeDocument/2006/relationships/image" Target="/ppt/media/image.png" Id="R93b1e91fb2c347c5" /><Relationship Type="http://schemas.openxmlformats.org/officeDocument/2006/relationships/notesSlide" Target="/ppt/notesSlides/notesSlide2.xml" Id="Ra468c08a2dd949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34fe188d1e4c9c" /><Relationship Type="http://schemas.openxmlformats.org/officeDocument/2006/relationships/notesSlide" Target="/ppt/notesSlides/notesSlide3.xml" Id="R6c34aaacefec47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86d5e10c64a6c" /><Relationship Type="http://schemas.openxmlformats.org/officeDocument/2006/relationships/notesSlide" Target="/ppt/notesSlides/notesSlide4.xml" Id="R3fabfc39003b44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8edfab82a4038" /><Relationship Type="http://schemas.openxmlformats.org/officeDocument/2006/relationships/notesSlide" Target="/ppt/notesSlides/notesSlide5.xml" Id="Rde79923fa13f41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5016969f44ab7" /><Relationship Type="http://schemas.openxmlformats.org/officeDocument/2006/relationships/notesSlide" Target="/ppt/notesSlides/notesSlide6.xml" Id="R3cf81f3a78cf40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394bd47e64fb5" /><Relationship Type="http://schemas.openxmlformats.org/officeDocument/2006/relationships/notesSlide" Target="/ppt/notesSlides/notesSlide7.xml" Id="R63da211a39d34b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96885b6a2402b" /><Relationship Type="http://schemas.openxmlformats.org/officeDocument/2006/relationships/notesSlide" Target="/ppt/notesSlides/notesSlide8.xml" Id="R11001cb222bf47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3a99d55c949b3" /><Relationship Type="http://schemas.openxmlformats.org/officeDocument/2006/relationships/notesSlide" Target="/ppt/notesSlides/notesSlide9.xml" Id="R095d385c968e40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97170ea2e4142" /><Relationship Type="http://schemas.openxmlformats.org/officeDocument/2006/relationships/notesSlide" Target="/ppt/notesSlides/notesSlide10.xml" Id="R0508e7a7af8248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36a2f97724f3e" /><Relationship Type="http://schemas.openxmlformats.org/officeDocument/2006/relationships/notesSlide" Target="/ppt/notesSlides/notesSlide11.xml" Id="Rc496cb7f8adb4b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ef820cdda4102" /><Relationship Type="http://schemas.openxmlformats.org/officeDocument/2006/relationships/image" Target="/ppt/media/image.jpeg" Id="Rd68b97b415ff45e5" /><Relationship Type="http://schemas.openxmlformats.org/officeDocument/2006/relationships/notesSlide" Target="/ppt/notesSlides/notesSlide12.xml" Id="R6392a16734db4b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453097815475e" /><Relationship Type="http://schemas.openxmlformats.org/officeDocument/2006/relationships/image" Target="/ppt/media/image2.png" Id="R252636ea30514e89" /><Relationship Type="http://schemas.openxmlformats.org/officeDocument/2006/relationships/notesSlide" Target="/ppt/notesSlides/notesSlide13.xml" Id="R35611694292041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8c1c0c547492f" /><Relationship Type="http://schemas.openxmlformats.org/officeDocument/2006/relationships/notesSlide" Target="/ppt/notesSlides/notesSlide14.xml" Id="R3b195c6c812149b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3cf194f7a4736" /><Relationship Type="http://schemas.openxmlformats.org/officeDocument/2006/relationships/notesSlide" Target="/ppt/notesSlides/notesSlide15.xml" Id="R57a50f99be0d4a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4C459D-21FB-4FEB-85A1-3F44170B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293C3-CDB1-44F7-B1EB-1F630AE1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C54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C542"/>
                </a:solidFill>
                <a:latin typeface="Avenir Next"/>
                <a:ea typeface="Avenir Next"/>
                <a:cs typeface="Avenir Next"/>
              </a:rPr>
              <a:t>PHYSICS · DIRECT CURRENT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E0F53-0D1D-4073-B995-27041F26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5524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Ohm's Law for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Closed Circuits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41A4C-747A-4551-A7DE-CCD8C5AA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33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AD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8CAD8"/>
                </a:solidFill>
                <a:latin typeface="Avenir Next"/>
                <a:ea typeface="Avenir Next"/>
                <a:cs typeface="Avenir Next"/>
              </a:rPr>
              <a:t>How a real source shares its voltage between the load and itself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C281A-EEB4-4659-B67C-B4F886E7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0970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D85A2-4461-4396-99D3-1EAB13F8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57300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28575">
            <a:solidFill>
              <a:srgbClr val="F4C5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71C9D-7F69-4A0E-BFF6-617E9B3A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38250"/>
            <a:ext cx="95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BB65E-AE06-49EC-8E92-88A53532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4097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3284A-7C55-4798-9CE7-10E2D28B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142875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50761-EA77-4146-9419-EE4AE0C3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267200"/>
            <a:ext cx="1295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8428C-A42E-4F6E-92EC-38821893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1148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28575">
            <a:solidFill>
              <a:srgbClr val="E76F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561CE-A554-49A5-8035-F167AA22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09575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3362D-886D-4B4A-9630-39E7FA9A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433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D86AB-D184-401A-8354-6078A55D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99097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3FA44-9F6E-4911-993B-BE8A419C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2448" y="4090035"/>
            <a:ext cx="28575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D3CC2-7F0F-42B6-804A-1B816DD0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735" y="4243388"/>
            <a:ext cx="28194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BC5732-4DBB-4E1C-A9A2-5E580D68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035" y="393001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08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DD804-5A5A-4C05-B9CF-4CD9649B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835" y="397573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4C78A8"/>
                </a:solidFill>
                <a:latin typeface="Avenir Next"/>
                <a:ea typeface="Avenir Next"/>
                <a:cs typeface="Avenir Next"/>
              </a:defRPr>
            </a:pPr>
            <a:r>
              <a:rPr sz="1080" b="1">
                <a:solidFill>
                  <a:srgbClr val="4C78A8"/>
                </a:solidFill>
                <a:latin typeface="Avenir Next"/>
                <a:ea typeface="Avenir Next"/>
                <a:cs typeface="Avenir Next"/>
              </a:rPr>
              <a:t>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B77C01-388D-4E42-8292-A0F1A82B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672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3DC6F9-DCA6-481F-81D8-09DBDE4B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26720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F630D-BA24-4786-B8AB-57DE5F9E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42875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9C236-EF2F-4AE8-985A-EB3D94B5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6289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C5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F4C542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02E80-012C-4D13-895D-0F6DA65C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933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7D4D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C7D4DF"/>
                </a:solidFill>
                <a:latin typeface="Avenir Next"/>
                <a:ea typeface="Avenir Next"/>
                <a:cs typeface="Avenir Next"/>
              </a:rPr>
              <a:t>external 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BF879-C045-452C-9EB8-C9826D1A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552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7D4D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C7D4DF"/>
                </a:solidFill>
                <a:latin typeface="Avenir Next"/>
                <a:ea typeface="Avenir Next"/>
                <a:cs typeface="Avenir Next"/>
              </a:rPr>
              <a:t>source interior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BACB1A-238C-4020-9B77-9A982102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57750"/>
            <a:ext cx="3810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32460-6FD2-473D-B45D-FF1FE4EE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33950"/>
            <a:ext cx="3467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E = I(R + r)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0E7A70-74DA-476B-A601-CA644F94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FA8B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8FA8BA"/>
                </a:solidFill>
                <a:latin typeface="Avenir Next"/>
                <a:ea typeface="Avenir Next"/>
                <a:cs typeface="Avenir Next"/>
              </a:rPr>
              <a:t>A compact English teaching edition based on the original lesson</a:t>
            </a:r>
          </a:p>
        </p:txBody>
      </p:sp>
    </p:spTree>
    <p:extLst>
      <p:ext uri="{BB962C8B-B14F-4D97-AF65-F5344CB8AC3E}">
        <p14:creationId xmlns:p14="http://schemas.microsoft.com/office/powerpoint/2010/main" val="18332093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EC5C5C-705B-4523-8CD5-D090D8DE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388B18-E553-488D-AB26-A5002A08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THE HIDDEN RESISTOR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AE46103-4B82-4914-8B98-6DE8CF03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77715-FA0A-49FE-A29F-93C721C8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D85D6-0613-4045-AD80-024E859A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9363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B473B-AAB8-4DDC-A1E5-C5E3523D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Battery heating reveals resistance inside the source.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11D55-3213-4DCD-B2CF-742F5999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A real battery is not an ideal voltage source.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1e91fb2c347c5"/>
          <a:stretch xmlns:a="http://schemas.openxmlformats.org/drawingml/2006/main"/>
        </p:blipFill>
        <p:spPr>
          <a:xfrm xmlns:a="http://schemas.openxmlformats.org/drawingml/2006/main">
            <a:off x="685800" y="2741409"/>
            <a:ext cx="3619500" cy="118468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075DF-8645-4228-8634-53FA6399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61912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138D8-12B2-4B27-A232-2A3E781E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76500"/>
            <a:ext cx="5334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When current flows, the battery warms because charges also lose energy inside the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F4938-F299-4D8D-B1F6-6281E38E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24250"/>
            <a:ext cx="4953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D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68E70-9B81-4EF8-8BDE-521B1C83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600450"/>
            <a:ext cx="4610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76F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E76F51"/>
                </a:solidFill>
                <a:latin typeface="Times New Roman"/>
                <a:ea typeface="Times New Roman"/>
                <a:cs typeface="Times New Roman"/>
              </a:rPr>
              <a:t>Internal heat = I^2 r 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56E6F-DCF0-4AD2-AC66-A1CA8AC1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81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9AC48-2CCC-4011-9FF0-5B5C008A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95875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32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8232E"/>
                </a:solidFill>
                <a:latin typeface="Avenir Next"/>
                <a:ea typeface="Avenir Next"/>
                <a:cs typeface="Avenir Next"/>
              </a:rPr>
              <a:t>r is the internal resistance of the source.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05F68-DCDB-45D3-9DAB-E289C59B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57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D2CE8-10A4-46F4-9B51-2E731CE9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572125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32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8232E"/>
                </a:solidFill>
                <a:latin typeface="Avenir Next"/>
                <a:ea typeface="Avenir Next"/>
                <a:cs typeface="Avenir Next"/>
              </a:rPr>
              <a:t>The load resistance R is outside the source.</a:t>
            </a:r>
          </a:p>
        </p:txBody>
      </p:sp>
    </p:spTree>
    <p:extLst>
      <p:ext uri="{BB962C8B-B14F-4D97-AF65-F5344CB8AC3E}">
        <p14:creationId xmlns:p14="http://schemas.microsoft.com/office/powerpoint/2010/main" val="15302791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9957EC-E3FB-4D1E-9694-4FA48AB4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063E625-EC94-4979-B27B-D7D8BB06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ENERGY PER CHARGE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0B9909D-CFDE-4025-BE32-FC103DB9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266D2-0EF0-4516-B6BE-F73040AF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06671-DE6E-4313-A5C0-5FC68644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9363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4F87F-916D-4059-A780-BF99A9AA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EMF measures how strongly a source can supply energy.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DE48C-D31D-41A9-B503-20C0A686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It is a property of the source, not a measure of stored charge.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54517-F5EB-4923-A290-86D18182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828E6-A36C-4695-AACA-49313941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4705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E = W / 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5F019-0C13-4222-BB2C-5DD60871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1 volt = 1 joule per coulomb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27034-181C-46BC-92C9-3CD38EF5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3810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E365E-3866-46E5-BDF2-F3989AEA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71750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chemical,</a:t>
            </a:r>
          </a:p>
          <a:p xmlns:a="http://schemas.openxmlformats.org/drawingml/2006/main">
            <a:pPr algn="ctr">
              <a:defRPr sz="157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mechanical,</a:t>
            </a:r>
          </a:p>
          <a:p xmlns:a="http://schemas.openxmlformats.org/drawingml/2006/main">
            <a:pPr algn="ctr">
              <a:defRPr sz="157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or light energy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78F7A-D8BF-4883-8923-E6F77435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14675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21973-EFD6-46A2-8610-835929CC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048000"/>
            <a:ext cx="2286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82224-FEE9-44EE-BB25-56BFAF4A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1047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electrical</a:t>
            </a:r>
          </a:p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energy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8BF3F-CA26-447C-B88F-819E3045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05375"/>
            <a:ext cx="3905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8232E"/>
                </a:solidFill>
                <a:latin typeface="Avenir Next"/>
                <a:ea typeface="Avenir Next"/>
                <a:cs typeface="Avenir Next"/>
              </a:rPr>
              <a:t>Non-electrostatic forces move charge from lower to higher electric potential inside the source.</a:t>
            </a:r>
          </a:p>
        </p:txBody>
      </p:sp>
    </p:spTree>
    <p:extLst>
      <p:ext uri="{BB962C8B-B14F-4D97-AF65-F5344CB8AC3E}">
        <p14:creationId xmlns:p14="http://schemas.microsoft.com/office/powerpoint/2010/main" val="11139163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737B2-4EAE-4C59-A2FB-58197AE8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CD9A7E6-7DF5-4006-A9CB-6BD0FA6E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TWO DIFFERENT IDEAS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F7DDD6C-2420-4D29-BF9B-0E0858B1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D23D6-34C6-4124-AC16-124D9739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EA52C-40CD-4392-B0D0-68EB5A6E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9363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82454-EFCD-46DF-8B80-B1464516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EMF supplies energy; terminal voltage delivers what remains.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4AB5D-9BC9-43C2-A915-F5F99301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Both use volts, but they describe different energy transfers.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399D0-4183-4CEA-927E-84E55104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0E45D-BFE9-4F85-9A27-B0875EFC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28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C54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C542"/>
                </a:solidFill>
                <a:latin typeface="Avenir Next"/>
                <a:ea typeface="Avenir Next"/>
                <a:cs typeface="Avenir Next"/>
              </a:rPr>
              <a:t>INSIDE THE 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C5503-32F6-4975-BD99-623E753E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EMF  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1EAB2-BDD4-43E4-9072-394F605E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3714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4D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C7D4DF"/>
                </a:solidFill>
                <a:latin typeface="Avenir Next"/>
                <a:ea typeface="Avenir Next"/>
                <a:cs typeface="Avenir Next"/>
              </a:rPr>
              <a:t>energy added per coulomb by non-electrostatic forces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B914D-3B37-4881-8ACD-1C24B866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B0A6F-2BC1-4381-9FF7-E8341123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ACROSS THE TERMINALS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F062E-5C53-4730-973E-F893C3EB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3810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Terminal voltage  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9C5D3-B936-43CB-8A2C-A55EBA66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3714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energy delivered per coulomb to the external circuit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FA769-325A-4B1F-B2DF-2ED0E78F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76875"/>
            <a:ext cx="4000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119D4-9EEA-4C07-8CC8-4ADB6151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53075"/>
            <a:ext cx="365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U = E − Ir</a:t>
            </a:r>
          </a:p>
        </p:txBody>
      </p:sp>
    </p:spTree>
    <p:extLst>
      <p:ext uri="{BB962C8B-B14F-4D97-AF65-F5344CB8AC3E}">
        <p14:creationId xmlns:p14="http://schemas.microsoft.com/office/powerpoint/2010/main" val="20632452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1FC08A-9B35-413E-AB15-17C82F71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DAC4486-1CE5-447C-BC22-3C09E8E9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ONE ENERGY BALANCE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20D6ECE-3D12-4910-AD87-E4A114F1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BE4C7-7247-49D2-9C6B-EF4533F7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9CEBE-522A-4FE5-8429-27D93AE1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9363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25DEC-5FED-4491-A5B6-7D372C7B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Each coulomb receives E, then spends it across R and 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DC493-0DCF-4177-A888-03954237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The full-circuit equation follows directly from energy conservation.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846D3-D1AB-4166-A7A0-DF9AB687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2CC24-E47E-437A-8460-0245A670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C54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C542"/>
                </a:solidFill>
                <a:latin typeface="Avenir Next"/>
                <a:ea typeface="Avenir Next"/>
                <a:cs typeface="Avenir Next"/>
              </a:rPr>
              <a:t>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D7DB4-4057-4E76-8FD7-4903D1E1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energy supplied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69168-5BF2-4092-B3C7-B7BE4107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C5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F4C542"/>
                </a:solidFill>
                <a:latin typeface="Times New Roman"/>
                <a:ea typeface="Times New Roman"/>
                <a:cs typeface="Times New Roman"/>
              </a:rPr>
              <a:t>E q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FF398-C252-4FEE-BB97-7D909C54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62300"/>
            <a:ext cx="4476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C88F6-B0BA-4069-B52D-AF18B04A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95625"/>
            <a:ext cx="2286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D49E2-5302-4E83-AC6F-C76CE5E6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27798-7487-4E72-BE93-7CA1D6AC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EXTERNAL 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74610-4439-428B-A3D4-38418942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03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useful energy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F6A58-8339-4B5C-B9F5-93B0DDB3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2900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B7A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2B7A78"/>
                </a:solidFill>
                <a:latin typeface="Times New Roman"/>
                <a:ea typeface="Times New Roman"/>
                <a:cs typeface="Times New Roman"/>
              </a:rPr>
              <a:t>I R 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CE4F9-B25A-47D3-8F06-46055079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E7067-D9BB-435B-A910-0FB34602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8D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F7D4F-1CD6-40ED-9042-04FCBF75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SOURCE INTERIOR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A05E3F-983E-4811-BD2D-E883252A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internal heating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13101-697E-4DB9-8F2E-A8FB49DA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76F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E76F51"/>
                </a:solidFill>
                <a:latin typeface="Times New Roman"/>
                <a:ea typeface="Times New Roman"/>
                <a:cs typeface="Times New Roman"/>
              </a:rPr>
              <a:t>I r q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29DEC-3710-447C-9BE5-61A7F583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14875"/>
            <a:ext cx="8667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1E32DE-5ABB-4BBE-A993-0F2AA394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791075"/>
            <a:ext cx="832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E q = I R q + I r q   →   E = I(R + r)</a:t>
            </a:r>
          </a:p>
        </p:txBody>
      </p:sp>
    </p:spTree>
    <p:extLst>
      <p:ext uri="{BB962C8B-B14F-4D97-AF65-F5344CB8AC3E}">
        <p14:creationId xmlns:p14="http://schemas.microsoft.com/office/powerpoint/2010/main" val="1928751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07BDDE-287A-436B-AD48-F2DD0A88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078B40F-DEB7-4CDD-9FD8-20C45F7F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THE CORE MODEL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23542CF-81DF-4B8E-8647-89CC2EF1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D0D45-FC30-4229-951C-93F43088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491E0-6706-4131-BBFD-DBDEB15A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9363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64F87-E380-424F-B078-F7B15010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Current is limited by both the load and the source.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974F9-B996-4A8E-988C-A9A4DDBC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Treat a real source as an ideal EMF E in series with internal resistance 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21AB8-1983-49CE-B8FE-B2BE57B9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52700"/>
            <a:ext cx="1600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982D2-D139-439A-BAB0-6F1B7CCF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0030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28575">
            <a:solidFill>
              <a:srgbClr val="F4C5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38D7A-7CF1-46F1-B7D8-FB77B39A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38125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B4D07-0772-4AE0-A573-9D3C79B8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52700"/>
            <a:ext cx="1828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41C46-255C-49B8-B5F6-3ABA9266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571750"/>
            <a:ext cx="381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CA062-9C55-4E4A-AA43-95FCF867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395" y="5124450"/>
            <a:ext cx="155448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DABC2-2A5E-4641-9822-D2DDECA5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435" y="4972050"/>
            <a:ext cx="8229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28575">
            <a:solidFill>
              <a:srgbClr val="E76F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59D46-BF9A-4C5C-967B-AC894FBB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435" y="4953000"/>
            <a:ext cx="82296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418B5-3D74-4A79-BD5F-88945682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510063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88D9A-BF69-4890-BD88-0D4E6BF4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84822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3D1EC-E107-456F-92C5-312F6DF5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848" y="4947285"/>
            <a:ext cx="28575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A6284-2506-42A8-B7DE-D4CB2336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3135" y="5100638"/>
            <a:ext cx="28194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DCE548-7BF5-4291-9444-C76E4DC3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435" y="478726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08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9B668-6243-4A62-A14B-94C4F758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1235" y="483298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4C78A8"/>
                </a:solidFill>
                <a:latin typeface="Avenir Next"/>
                <a:ea typeface="Avenir Next"/>
                <a:cs typeface="Avenir Next"/>
              </a:defRPr>
            </a:pPr>
            <a:r>
              <a:rPr sz="1080" b="1">
                <a:solidFill>
                  <a:srgbClr val="4C78A8"/>
                </a:solidFill>
                <a:latin typeface="Avenir Next"/>
                <a:ea typeface="Avenir Next"/>
                <a:cs typeface="Avenir Next"/>
              </a:rPr>
              <a:t>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21EC29-2271-4121-BE23-1ABD384A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244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704B2B-F078-4E52-932A-50460B80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124450"/>
            <a:ext cx="5943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BC7EEA-E816-4B7D-8A9D-4731B5FF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71750"/>
            <a:ext cx="381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EFF1A3-9661-40C0-BC17-FF67BDE1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5188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B7A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B7A78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B0DFD2-0AAA-4D4D-9025-13959A57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0764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external load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443256-AD1B-4E8A-AED9-B47195B4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915" y="54102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source interior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95265B-A511-456B-B23F-9E624CDE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28875"/>
            <a:ext cx="4095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9FE004-4770-43ED-8590-66098903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05075"/>
            <a:ext cx="3752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I = E / (R + r)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1AE0F0-82DF-479F-87AB-506456B6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29325B-2B00-40FB-9537-62A1ACBA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8232E"/>
                </a:solidFill>
                <a:latin typeface="Avenir Next"/>
                <a:ea typeface="Avenir Next"/>
                <a:cs typeface="Avenir Next"/>
              </a:rPr>
              <a:t>Increasing R reduces the current.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2B1FBC-E21E-42A9-AB95-03F027E5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14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575254-E388-45BB-8285-A333A119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29125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8232E"/>
                </a:solidFill>
                <a:latin typeface="Avenir Next"/>
                <a:ea typeface="Avenir Next"/>
                <a:cs typeface="Avenir Next"/>
              </a:rPr>
              <a:t>Increasing r also reduces the current.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EE951C-DFC2-4AAD-9ED9-D7982053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86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CBA808-C4F1-48C9-918D-AA683BF8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00625"/>
            <a:ext cx="381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32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8232E"/>
                </a:solidFill>
                <a:latin typeface="Avenir Next"/>
                <a:ea typeface="Avenir Next"/>
                <a:cs typeface="Avenir Next"/>
              </a:rPr>
              <a:t>If R → 0, the short-circuit current approaches E/r.</a:t>
            </a:r>
          </a:p>
        </p:txBody>
      </p:sp>
    </p:spTree>
    <p:extLst>
      <p:ext uri="{BB962C8B-B14F-4D97-AF65-F5344CB8AC3E}">
        <p14:creationId xmlns:p14="http://schemas.microsoft.com/office/powerpoint/2010/main" val="10154791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D8760-5BC3-4772-9EE0-F8AD49D8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CCFBC5C-70BF-4E73-A1CA-332B4861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VOLTAGE SHARING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AA43AA6-1B66-4A9A-AE4F-704FF5E6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B75F1-E096-48C3-B557-4E794745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2E88F-3CF2-448C-9A67-3B9928EA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9363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0967B-0EFC-4953-AC3F-18C63E47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The terminal voltage drops when the source supplies more current.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1EA6A-A660-46FF-8920-8CC76E7F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Part of the EMF is lost across the internal resistance.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BD07A-78F7-4FEF-A1EC-CCCDA57B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37F6D-2FEF-4DF4-8AC9-438FC00F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57450"/>
            <a:ext cx="165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EB46A-5AD4-49BC-89DF-8A4C3C10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7655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B23C0-2BA7-458C-A50E-A93A3372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09875"/>
            <a:ext cx="2286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8A41C-9F5C-4593-9A23-7950179E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000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D8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958A0-D560-4C4D-B4FE-764E2DA7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57450"/>
            <a:ext cx="16573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E76F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1">
                <a:solidFill>
                  <a:srgbClr val="E76F51"/>
                </a:solidFill>
                <a:latin typeface="Times New Roman"/>
                <a:ea typeface="Times New Roman"/>
                <a:cs typeface="Times New Roman"/>
              </a:rPr>
              <a:t>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3FC91-0F3D-4B07-B70F-7D8299AC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internal voltage drop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1B8D8-18C3-4316-953D-C387D8E8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76550"/>
            <a:ext cx="590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250D1-E9E2-488A-8B54-7F9A80A4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09875"/>
            <a:ext cx="2286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395A8-6CBE-4F1F-A362-1A7430CA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81250"/>
            <a:ext cx="3619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B0D5C0-EF60-4AB9-AC25-9B9278D5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457450"/>
            <a:ext cx="3276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U = E − 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2622CD-9D14-47AD-87B3-AC1BAAAC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314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voltage available to the 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0728D-3EE8-4576-8166-8CFF09E2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57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357D2-9ABC-4E03-B09C-D21F770A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53000"/>
            <a:ext cx="790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Open circuit: I = 0, so U = E.     Heavy load: I is large, so U is smaller.</a:t>
            </a:r>
          </a:p>
        </p:txBody>
      </p:sp>
    </p:spTree>
    <p:extLst>
      <p:ext uri="{BB962C8B-B14F-4D97-AF65-F5344CB8AC3E}">
        <p14:creationId xmlns:p14="http://schemas.microsoft.com/office/powerpoint/2010/main" val="9835013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8855FD-3B1F-40E5-976F-ADABEBA2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3FCCDFD-F45C-49EF-953C-740C8152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READ THE SOURCE FROM A GRAPH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2A8CC5-844D-442F-ABD4-5DD9568C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04081-7615-4365-99B7-B1FF4FAD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2A63A-BB8F-4291-958A-9EBE9386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9363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E43C4-4531-47B0-B1CD-523D5C0E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A U-I graph reveals both EMF and internal resistance.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F9EEF-6961-42B8-BAA6-9DD23EF6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For a source, U = E − Ir is a straight line.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EB8A4-E172-452F-B4F2-5DDE82A8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10213"/>
            <a:ext cx="600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A76E2-C2F2-48C0-88F6-853D497F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213" y="2333625"/>
            <a:ext cx="2857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5ED2A-A907-4156-AFDE-D921028F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14625"/>
            <a:ext cx="5334000" cy="28098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E76F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13517-499E-4E53-9AF2-5E1646D5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638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F4547-14C2-42D1-96B0-E748377E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448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64040-6959-43C1-94C2-817E651B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38375"/>
            <a:ext cx="333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B7A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B7A78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9DAC1-6BE4-4AE0-ACE7-EB3C4826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816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B7A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B7A78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CFB61-8BED-4520-BC97-62725BD2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38375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vertical intercept = 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DEC37-AA71-49FB-9C59-5C3C1DD1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150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horizontal intercept = E/r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35F9F-7BB5-4274-89F3-0A10F97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19375"/>
            <a:ext cx="2619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5AFC02-4AC2-42DE-A9D2-148325EF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051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SLOPE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231CB-1C0B-4B3F-9AE8-21525A78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33750"/>
            <a:ext cx="190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ΔU / ΔI = −r</a:t>
            </a:r>
          </a:p>
        </p:txBody>
      </p:sp>
    </p:spTree>
    <p:extLst>
      <p:ext uri="{BB962C8B-B14F-4D97-AF65-F5344CB8AC3E}">
        <p14:creationId xmlns:p14="http://schemas.microsoft.com/office/powerpoint/2010/main" val="11306039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C905DF-B268-45C0-BF05-A8414B06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2072D31-DBD4-4B72-9621-A230C25D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WHERE THE POWER GOES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6856407-F3D9-45D7-9E08-E73AC1E0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77F76-7538-4E27-8E23-F4B3AB59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2DED7-02F5-452D-A968-C5BB8C91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9363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8E340-272D-4E0B-8A86-D482166C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Internal resistance converts part of the source power into heat.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2A7FE-B251-48B5-8C2B-E2545249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Efficiency improves when the load resistance is large compared with 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67DCB-6DDD-40B5-8013-01C00472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0477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7368E-24E0-4C78-91E9-7F1D97A9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C54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C542"/>
                </a:solidFill>
                <a:latin typeface="Avenir Next"/>
                <a:ea typeface="Avenir Next"/>
                <a:cs typeface="Avenir Next"/>
              </a:rPr>
              <a:t>source power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5816A-655F-4FDE-8CB8-ECA1AB88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Psource = E 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736B3-5FAD-443A-932A-279CEC50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33625"/>
            <a:ext cx="571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17746-6724-451A-9EA1-B01D862E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C5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4C542"/>
                </a:solidFill>
                <a:latin typeface="Times New Roman"/>
                <a:ea typeface="Times New Roman"/>
                <a:cs typeface="Times New Roman"/>
              </a:rPr>
              <a:t>I^2 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17889-F918-4766-8935-64BC71CB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33625"/>
            <a:ext cx="571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254E3-70AC-4047-9BD3-0EBC0CB9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8D8C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F8D8CF"/>
                </a:solidFill>
                <a:latin typeface="Times New Roman"/>
                <a:ea typeface="Times New Roman"/>
                <a:cs typeface="Times New Roman"/>
              </a:rPr>
              <a:t>I^2 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00707-E85C-4EF9-BAB1-0F2B6406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381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53C3A-4811-4414-83D5-00CFA382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USEFUL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A0E02-D3C8-43CB-87D3-CF095474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342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Pload = I^2 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B0DB0-5329-4676-8100-B59B7A89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381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52A64B-3469-48F3-AA84-6F891ADE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EFFICIENCY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344DD6-474C-41C8-B1F2-473FE58D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342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η = R / (R + r)</a:t>
            </a:r>
          </a:p>
        </p:txBody>
      </p:sp>
    </p:spTree>
    <p:extLst>
      <p:ext uri="{BB962C8B-B14F-4D97-AF65-F5344CB8AC3E}">
        <p14:creationId xmlns:p14="http://schemas.microsoft.com/office/powerpoint/2010/main" val="116385778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A0C9DB-0FF9-4AC7-858D-900BEE25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6F99D4C-E36C-41CA-A59B-E1CF4B09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WORKED EXAMPLE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937D14-20A6-45E2-A4CE-6EA0C09D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155C5-EE99-4135-910E-D69CF8F3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1049F-2805-4E61-9952-A3D1484E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9363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CABD6-AACB-4A58-BDBF-5E068313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One model answers current, voltage, and heating questions.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E9D57-3ACA-4B85-996F-BB8CFC94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Given E = 3.0 V, R = 2.0 Ω, and r = 1.0 Ω.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DDF72-DBEA-4BF3-8242-7751ED35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13001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C3F1B-B979-4644-B211-36B45ADB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913" y="2543175"/>
            <a:ext cx="9286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28575">
            <a:solidFill>
              <a:srgbClr val="F4C5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5D67C-785D-4AEA-BF62-AE271DC9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6913" y="2524125"/>
            <a:ext cx="9286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2 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5CAE5-3CDC-4CEF-ADB1-8993E9FA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95575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E4CA3-F6F9-46EA-B771-DB06D856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14625"/>
            <a:ext cx="38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4BF9A-3C43-47FF-ADF4-984025F1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485" y="4791075"/>
            <a:ext cx="126301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E4831-79BC-4CCC-8A4A-E0500A8E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830" y="4638675"/>
            <a:ext cx="66865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28575">
            <a:solidFill>
              <a:srgbClr val="E76F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EE946-2DC7-4826-A908-7AE2C553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830" y="4619625"/>
            <a:ext cx="66865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1 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83456-D597-40B5-8B2F-FC76856B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67263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F0750C-1576-4FA9-BAB6-C3568E20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1485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F730F-DA94-443F-B316-39FC76C0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273" y="4613910"/>
            <a:ext cx="28575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2EC02-74E4-4AC0-9C51-4E7F1432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3560" y="4767263"/>
            <a:ext cx="28194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E27970-5314-47CE-80C3-6B41A1FC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860" y="445389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08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0AC42-1088-46DA-BA3F-702D5605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660" y="449961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4C78A8"/>
                </a:solidFill>
                <a:latin typeface="Avenir Next"/>
                <a:ea typeface="Avenir Next"/>
                <a:cs typeface="Avenir Next"/>
              </a:defRPr>
            </a:pPr>
            <a:r>
              <a:rPr sz="1080" b="1">
                <a:solidFill>
                  <a:srgbClr val="4C78A8"/>
                </a:solidFill>
                <a:latin typeface="Avenir Next"/>
                <a:ea typeface="Avenir Next"/>
                <a:cs typeface="Avenir Next"/>
              </a:rPr>
              <a:t>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33F356-59B1-4E4A-9753-BA8C22EA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D4ECF-EA7D-4AE4-BDA3-33074B17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91075"/>
            <a:ext cx="35433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87277A-4D5A-4D68-A40C-2CF0A929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38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04E1A1-70B8-49C9-81C3-50FAE757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9473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B7A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B7A78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8DC364-68F6-4DB8-B980-4A532280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38375"/>
            <a:ext cx="5857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EC5202-FB1C-461B-A40B-C27BF781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B9704-2E1F-4490-84AC-D3506FEE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476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91BCBA-452E-4E4D-AB86-48304354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Current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74083D-DA6C-4D10-A135-3541996F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95575"/>
            <a:ext cx="4524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I = E/(R+r) = 3.0/3.0 = 1.0 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8266B6-A5C2-4442-ADDF-1F39538D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5857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755507-74B2-429A-BB7A-7CACAD3C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67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E09DE8-3A0A-4B13-ACA0-BE75D35B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67125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0B7B75-F0BE-4395-A497-66A39715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90925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Terminal voltage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EEDCF8-794D-43D9-941A-15836B8E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4524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U = IR = 1.0 × 2.0 = 2.0 V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650921-A82B-4592-8802-AEF61D02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19625"/>
            <a:ext cx="5857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91B00C-DC98-4AF9-B25A-17C5E5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57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34D73D-F2CA-40EA-9212-80339DFB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57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BA9BD6-0923-47C3-AF6A-2082D2F7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81550"/>
            <a:ext cx="419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Internal heating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3F560A-03D1-44FC-BAD9-F502E2B3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76825"/>
            <a:ext cx="4524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Pinternal = I^2r = 1.0 W</a:t>
            </a:r>
          </a:p>
        </p:txBody>
      </p:sp>
    </p:spTree>
    <p:extLst>
      <p:ext uri="{BB962C8B-B14F-4D97-AF65-F5344CB8AC3E}">
        <p14:creationId xmlns:p14="http://schemas.microsoft.com/office/powerpoint/2010/main" val="5056010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1EE541-1282-4F90-A422-056B618D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036E17-CC38-4BC2-BA78-99EEC135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MEASURE E AND r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FCCF50B-F4BD-464B-A13F-B97DCF6C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30742-27C8-4D5E-8526-E8F3B9FE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93FCC-6A38-4B56-B950-284B5345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9363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C05C7-238E-487B-B4C4-2F2F5C61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Two operating points are enough to determine the source.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3E844-A14D-416F-8833-BEA6E0EF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Measure terminal voltage and current for two different loads.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73429-F846-4BAF-9E74-3A53CD90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AD0B2-9FB3-4C09-BDE5-5DF7C3D3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38450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2E400-AD4C-4049-B4F8-EFEE2234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686050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28575">
            <a:solidFill>
              <a:srgbClr val="F4C5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79885-EC3B-4DDC-8D74-D963B88A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667000"/>
            <a:ext cx="85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4DE79-0DD3-480B-9469-A9D9C8EF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8384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1BAB3-5F60-4074-A43D-B35E00DE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57500"/>
            <a:ext cx="38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72BD3-F1B3-4EBB-AB96-29221B85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015" y="4457700"/>
            <a:ext cx="11658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2461D2-A685-447E-BCC6-5F07826D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795" y="4305300"/>
            <a:ext cx="61722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28575">
            <a:solidFill>
              <a:srgbClr val="E76F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50A3C-0FE7-4C77-9B21-C66DBE2D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795" y="4286250"/>
            <a:ext cx="61722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919C4-DF60-460D-9AA4-7CA7EDC5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338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6FE3D-5C31-4CCD-AFB0-A189ECD0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18147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09762-92DE-4CAA-97B3-3FCE7F5D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248" y="4280535"/>
            <a:ext cx="28575" cy="335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BD410-4AC2-406C-80D5-F821F385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535" y="4433888"/>
            <a:ext cx="28194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EB888-11AB-47C1-B26A-3C8736DC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835" y="412051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08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FFCA08-3018-485C-8819-6FDCDDDD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635" y="416623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0" b="1">
                <a:solidFill>
                  <a:srgbClr val="4C78A8"/>
                </a:solidFill>
                <a:latin typeface="Avenir Next"/>
                <a:ea typeface="Avenir Next"/>
                <a:cs typeface="Avenir Next"/>
              </a:defRPr>
            </a:pPr>
            <a:r>
              <a:rPr sz="1080" b="1">
                <a:solidFill>
                  <a:srgbClr val="4C78A8"/>
                </a:solidFill>
                <a:latin typeface="Avenir Next"/>
                <a:ea typeface="Avenir Next"/>
                <a:cs typeface="Avenir Next"/>
              </a:rPr>
              <a:t>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B29D6D-4EFF-411B-BF12-242E6703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577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D9D908-3D99-4016-9867-B4D90650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457700"/>
            <a:ext cx="27432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4ACF17-B4A5-4FD1-9D07-92E3252A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57500"/>
            <a:ext cx="38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4FE52A-E6F0-4D82-8560-A58FE608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53758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B7A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B7A78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0A92CB-DB35-49E1-B8C6-5B01B03F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672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Change R, then record (I, U).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BB2A15-4FCA-436F-89F2-DD29DB0C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43125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C0A032-09C2-4FE1-B7DC-2C87FA39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C54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C542"/>
                </a:solidFill>
                <a:latin typeface="Avenir Next"/>
                <a:ea typeface="Avenir Next"/>
                <a:cs typeface="Avenir Next"/>
              </a:rPr>
              <a:t>Measurement 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E62AF7-6AB2-494E-B99D-DE516CC3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381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U1 = E − I1 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73D2B6-BDB2-4786-806F-E29FA07D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C54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4C542"/>
                </a:solidFill>
                <a:latin typeface="Avenir Next"/>
                <a:ea typeface="Avenir Next"/>
                <a:cs typeface="Avenir Next"/>
              </a:rPr>
              <a:t>Measurement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4ADA8A-22BF-4583-9160-3DA03AFD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3810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U2 = E − I2 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A82C53-8521-4791-9421-00927A0A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29250"/>
            <a:ext cx="6286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664B52-A207-4A5D-99C7-D2AFD0E5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505450"/>
            <a:ext cx="5943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r = (U1 − U2) / (I2 − I1)</a:t>
            </a:r>
          </a:p>
        </p:txBody>
      </p:sp>
    </p:spTree>
    <p:extLst>
      <p:ext uri="{BB962C8B-B14F-4D97-AF65-F5344CB8AC3E}">
        <p14:creationId xmlns:p14="http://schemas.microsoft.com/office/powerpoint/2010/main" val="719628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D154C5-EC93-4BA3-89C5-D4CB00C9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65C133-C21E-471F-9CDF-69640ED1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ORIGINAL PROBLEM · REWRITTEN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99CAE79-932D-4E88-9BCB-E53A6F39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94941-F1C8-4C33-8594-3E9BD4F7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A95CD-9864-45E2-80AE-40BD89F3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9363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CE8AD-4B1F-4815-8450-4883783C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Use open-circuit voltage and loaded current to identify the source.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DA179-9B0E-46DC-9BCF-DF7EB0CA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An ideal voltmeter and ammeter are connected as shown.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b97b415ff45e5"/>
          <a:stretch xmlns:a="http://schemas.openxmlformats.org/drawingml/2006/main"/>
        </p:blipFill>
        <p:spPr>
          <a:xfrm xmlns:a="http://schemas.openxmlformats.org/drawingml/2006/main">
            <a:off x="1115682" y="2333625"/>
            <a:ext cx="3959886" cy="3333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B9812-1D40-4EC1-89DE-D336C86E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4953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B9CFD-C98B-4106-BF45-A8F37101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6B9B0-B66D-45A2-9B25-0E4581ED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90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803B2B-A188-41C2-8075-A305CEBB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0512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8232E"/>
                </a:solidFill>
                <a:latin typeface="Avenir Next"/>
                <a:ea typeface="Avenir Next"/>
                <a:cs typeface="Avenir Next"/>
              </a:rPr>
              <a:t>Switch closed: U = 1.6 V, I = 0.4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4B7A6-A332-48EE-A516-B9DFEC5C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8A090-655B-4339-B68A-990A914F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8137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32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8232E"/>
                </a:solidFill>
                <a:latin typeface="Avenir Next"/>
                <a:ea typeface="Avenir Next"/>
                <a:cs typeface="Avenir Next"/>
              </a:rPr>
              <a:t>Switch open: U = 2.0 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DCB49-9164-485A-B3D5-F52F73C3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Solution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EB1E6-9D03-49E2-93E1-6BA63745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76750"/>
            <a:ext cx="3905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E = 2.0 V</a:t>
            </a:r>
          </a:p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B1F33"/>
                </a:solidFill>
                <a:latin typeface="Times New Roman"/>
                <a:ea typeface="Times New Roman"/>
                <a:cs typeface="Times New Roman"/>
              </a:rPr>
              <a:t>r = (E − U)/I = (2.0 − 1.6)/0.4 = 1.0 Ω</a:t>
            </a:r>
          </a:p>
        </p:txBody>
      </p:sp>
    </p:spTree>
    <p:extLst>
      <p:ext uri="{BB962C8B-B14F-4D97-AF65-F5344CB8AC3E}">
        <p14:creationId xmlns:p14="http://schemas.microsoft.com/office/powerpoint/2010/main" val="17661027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60D423-101E-410C-8BEF-5FB3BB02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A9BDFAF-E995-45BF-AA84-FF22ECB1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APPLICATION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FB5F831-151D-4C2E-9B53-B2BE5F7B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C7363-A4B6-4B90-966D-4CE2CCFB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15258-5FB7-46FD-80A7-07C2927A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9363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6685A-91C1-4A31-961E-F931F250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A motor receives less voltage when internal loss is significant.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D22E4-062C-4760-9F2B-7BF589A9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The original lamp-and-motor circuit becomes an energy-accounting problem.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636ea30514e89"/>
          <a:stretch xmlns:a="http://schemas.openxmlformats.org/drawingml/2006/main"/>
        </p:blipFill>
        <p:spPr>
          <a:xfrm xmlns:a="http://schemas.openxmlformats.org/drawingml/2006/main">
            <a:off x="1198868" y="2333625"/>
            <a:ext cx="3698264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D4246-30AB-4CFD-A842-46077516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43125"/>
            <a:ext cx="5095875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91E56-02EE-4436-8802-30259C8E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C5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C542"/>
                </a:solidFill>
                <a:latin typeface="Avenir Next"/>
                <a:ea typeface="Avenir Next"/>
                <a:cs typeface="Avenir Next"/>
              </a:rPr>
              <a:t>Reasoning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D4F76-9D96-497B-BB6C-5C76A82C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1DADF-7EB4-4521-8C37-A8CEE912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0037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Use the lamp rating to find the circuit current.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DD432-1954-4D5C-9481-A422FAC8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B863DC-C105-4EC5-963F-3E171333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7187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Apply E = I(R_total + r) in each switch position.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35371-E4EA-4A2A-9781-81CA0312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2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7A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EEDC9-A521-4B37-BF71-9690C74B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4337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Motor input: Pin = Umotor 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10CDA-9D81-4B92-91E1-E2A34222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00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4C274-8101-420E-B1BE-EEE6501C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71487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Motor output = input − coil heating.</a:t>
            </a:r>
          </a:p>
        </p:txBody>
      </p:sp>
    </p:spTree>
    <p:extLst>
      <p:ext uri="{BB962C8B-B14F-4D97-AF65-F5344CB8AC3E}">
        <p14:creationId xmlns:p14="http://schemas.microsoft.com/office/powerpoint/2010/main" val="133795283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1BBC75-FFE2-4CDB-B0D7-31395670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ED3AE3-4FA9-424D-A0AB-63592F7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CONCEPT CHECK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404E6B0-E0E0-4151-A903-44AB8092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70586-5E29-4358-B0F1-B1296D98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77621E-4213-4572-93BB-B56DAE4C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9363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D5AAD7-29A0-49CF-A116-7355F0ED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Which statement about EMF is correct?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35AAE-8607-40E7-8290-BCEA49F0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8E"/>
                </a:solidFill>
                <a:latin typeface="Avenir Next"/>
                <a:ea typeface="Avenir Next"/>
                <a:cs typeface="Avenir Next"/>
              </a:rPr>
              <a:t>Choose one answer, then justify it using energy per charge.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28698-6CA1-4E89-A871-937CBD7A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0096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72B4F-967C-4C83-9E39-BDCCFBBC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19325"/>
            <a:ext cx="923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8232E"/>
                </a:solidFill>
                <a:latin typeface="Avenir Next"/>
                <a:ea typeface="Avenir Next"/>
                <a:cs typeface="Avenir Next"/>
              </a:rPr>
              <a:t>A. EMF is simply the terminal voltage.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6687B-DD60-4D33-A85B-8DBEC1FC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0096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3D357-78D5-431A-B953-F7236794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76575"/>
            <a:ext cx="923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8232E"/>
                </a:solidFill>
                <a:latin typeface="Avenir Next"/>
                <a:ea typeface="Avenir Next"/>
                <a:cs typeface="Avenir Next"/>
              </a:rPr>
              <a:t>B. A larger EMF means the source must store more energy.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5C01F-582B-45C1-A458-46DBD864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0096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216FC-19BB-406C-BC38-5ACC9B64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33825"/>
            <a:ext cx="923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18232E"/>
                </a:solidFill>
                <a:latin typeface="Avenir Next"/>
                <a:ea typeface="Avenir Next"/>
                <a:cs typeface="Avenir Next"/>
              </a:rPr>
              <a:t>C. A larger EMF means the source must do work faster.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FAD05-6F22-46E7-9515-963E3DB4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1B8"/>
          </a:solidFill>
          <a:ln xmlns:a="http://schemas.openxmlformats.org/drawingml/2006/main" w="19050">
            <a:solidFill>
              <a:srgbClr val="F4C5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3956E-1DA5-4566-8AEE-A9F1227F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91075"/>
            <a:ext cx="923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B1F33"/>
                </a:solidFill>
                <a:latin typeface="Avenir Next"/>
                <a:ea typeface="Avenir Next"/>
                <a:cs typeface="Avenir Next"/>
              </a:rPr>
              <a:t>D. EMF equals the energy supplied by the source per unit charge.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25AD9-DCAC-4E35-86F6-B8C386C1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8102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Answer: D</a:t>
            </a:r>
          </a:p>
        </p:txBody>
      </p:sp>
    </p:spTree>
    <p:extLst>
      <p:ext uri="{BB962C8B-B14F-4D97-AF65-F5344CB8AC3E}">
        <p14:creationId xmlns:p14="http://schemas.microsoft.com/office/powerpoint/2010/main" val="55033038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A4FC78-99E6-43E5-B539-68F64A32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E90FBE5-FC76-4ED7-8258-BA8B6925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C54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C542"/>
                </a:solidFill>
                <a:latin typeface="Avenir Next"/>
                <a:ea typeface="Avenir Next"/>
                <a:cs typeface="Avenir Next"/>
              </a:rPr>
              <a:t>THE COMPLETE PICTURE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23DFE2-B715-4592-A8BA-D69626AA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81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BF622-20CA-4888-A363-838225A4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8B61F-0CC7-42BC-9F64-0EC73763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29363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1F4D5-374B-47E2-86DF-BB363EB1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 real source supplies energy and consumes some of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7D799-41C3-46AD-8E43-D65A3983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000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AD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B8CAD8"/>
                </a:solidFill>
                <a:latin typeface="Avenir Next"/>
                <a:ea typeface="Avenir Next"/>
                <a:cs typeface="Avenir Next"/>
              </a:rPr>
              <a:t>Model the source, conserve energy, then interpret the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C102B-C00E-4DF2-9138-D128A9B0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5095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5344C"/>
          </a:solidFill>
          <a:ln xmlns:a="http://schemas.openxmlformats.org/drawingml/2006/main" w="9525">
            <a:solidFill>
              <a:srgbClr val="3650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A822A-6FEB-4EBA-BE95-BDB7A65F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146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C54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C542"/>
                </a:solidFill>
                <a:latin typeface="Avenir Next"/>
                <a:ea typeface="Avenir Next"/>
                <a:cs typeface="Avenir Next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6C377-1568-4D9E-9D35-9ED4A492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38450"/>
            <a:ext cx="447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ideal EMF E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 internal resistance 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41BB9-683E-403F-BD23-7762FD23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86000"/>
            <a:ext cx="5095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5344C"/>
          </a:solidFill>
          <a:ln xmlns:a="http://schemas.openxmlformats.org/drawingml/2006/main" w="9525">
            <a:solidFill>
              <a:srgbClr val="3650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EE6E5-E843-48BC-A725-FEC03C2D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146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B7A78"/>
                </a:solidFill>
                <a:latin typeface="Avenir Next"/>
                <a:ea typeface="Avenir Next"/>
                <a:cs typeface="Avenir Next"/>
              </a:rPr>
              <a:t>CURRENT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FAFBE-F1E1-4976-95CB-40145D15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38450"/>
            <a:ext cx="447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 = E / (R + r)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861B7-63D7-416E-B1CF-83EB35C9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52875"/>
            <a:ext cx="5095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5344C"/>
          </a:solidFill>
          <a:ln xmlns:a="http://schemas.openxmlformats.org/drawingml/2006/main" w="9525">
            <a:solidFill>
              <a:srgbClr val="3650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B170E2-CB4D-4E2C-B88B-36A5E3E1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814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TERMINAL VOLTAGE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16679-FEFC-4494-AE78-D843A7A1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05325"/>
            <a:ext cx="447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 = E − Ir = 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C2C15-2AB7-4C64-A57E-56AD810D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52875"/>
            <a:ext cx="5095875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5344C"/>
          </a:solidFill>
          <a:ln xmlns:a="http://schemas.openxmlformats.org/drawingml/2006/main" w="9525">
            <a:solidFill>
              <a:srgbClr val="3650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6BE35-C64D-45D9-823B-6E785CE6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814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C54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C542"/>
                </a:solidFill>
                <a:latin typeface="Avenir Next"/>
                <a:ea typeface="Avenir Next"/>
                <a:cs typeface="Avenir Next"/>
              </a:rPr>
              <a:t>EFFICIENCY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42A07-C8C7-4513-B201-AAD79180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05325"/>
            <a:ext cx="447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η = R / (R + r)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9AE2F0-B11A-4E09-8FC6-3ADB7F1A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57875"/>
            <a:ext cx="971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D4D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C7D4DF"/>
                </a:solidFill>
                <a:latin typeface="Avenir Next"/>
                <a:ea typeface="Avenir Next"/>
                <a:cs typeface="Avenir Next"/>
              </a:rPr>
              <a:t>The central question is always: where does each joule per coulomb go?</a:t>
            </a:r>
          </a:p>
        </p:txBody>
      </p:sp>
    </p:spTree>
    <p:extLst>
      <p:ext uri="{BB962C8B-B14F-4D97-AF65-F5344CB8AC3E}">
        <p14:creationId xmlns:p14="http://schemas.microsoft.com/office/powerpoint/2010/main" val="961378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2026-06-12T06:51:26.0660000Z</dcterms:created>
  <dcterms:modified xsi:type="dcterms:W3CDTF">2026-06-12T06:51:26.0660000Z</dcterms:modified>
</coreProperties>
</file>