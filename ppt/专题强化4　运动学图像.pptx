
<file path=[Content_Types].xml><?xml version="1.0" encoding="utf-8"?>
<Types xmlns="http://schemas.openxmlformats.org/package/2006/content-types">
  <Default Extension="bin" ContentType="image/png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9"/>
  </p:notesMasterIdLst>
  <p:sldIdLst>
    <p:sldId id="298" r:id="rId2"/>
    <p:sldId id="311" r:id="rId3"/>
    <p:sldId id="312" r:id="rId4"/>
    <p:sldId id="314" r:id="rId5"/>
    <p:sldId id="367" r:id="rId6"/>
    <p:sldId id="315" r:id="rId7"/>
    <p:sldId id="353" r:id="rId8"/>
    <p:sldId id="356" r:id="rId9"/>
    <p:sldId id="368" r:id="rId10"/>
    <p:sldId id="316" r:id="rId11"/>
    <p:sldId id="319" r:id="rId12"/>
    <p:sldId id="339" r:id="rId13"/>
    <p:sldId id="340" r:id="rId14"/>
    <p:sldId id="322" r:id="rId15"/>
    <p:sldId id="341" r:id="rId16"/>
    <p:sldId id="342" r:id="rId17"/>
    <p:sldId id="323" r:id="rId18"/>
    <p:sldId id="343" r:id="rId19"/>
    <p:sldId id="324" r:id="rId20"/>
    <p:sldId id="357" r:id="rId21"/>
    <p:sldId id="325" r:id="rId22"/>
    <p:sldId id="344" r:id="rId23"/>
    <p:sldId id="369" r:id="rId24"/>
    <p:sldId id="326" r:id="rId25"/>
    <p:sldId id="346" r:id="rId26"/>
    <p:sldId id="327" r:id="rId27"/>
    <p:sldId id="328" r:id="rId28"/>
    <p:sldId id="358" r:id="rId29"/>
    <p:sldId id="329" r:id="rId30"/>
    <p:sldId id="347" r:id="rId31"/>
    <p:sldId id="330" r:id="rId32"/>
    <p:sldId id="359" r:id="rId33"/>
    <p:sldId id="331" r:id="rId34"/>
    <p:sldId id="360" r:id="rId35"/>
    <p:sldId id="332" r:id="rId36"/>
    <p:sldId id="348" r:id="rId37"/>
    <p:sldId id="333" r:id="rId38"/>
    <p:sldId id="349" r:id="rId39"/>
    <p:sldId id="334" r:id="rId40"/>
    <p:sldId id="350" r:id="rId41"/>
    <p:sldId id="335" r:id="rId42"/>
    <p:sldId id="351" r:id="rId43"/>
    <p:sldId id="336" r:id="rId44"/>
    <p:sldId id="352" r:id="rId45"/>
    <p:sldId id="337" r:id="rId46"/>
    <p:sldId id="361" r:id="rId47"/>
    <p:sldId id="265" r:id="rId4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BD63C"/>
    <a:srgbClr val="B7E3E5"/>
    <a:srgbClr val="2595A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1348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224" y="5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0D7E41-FDAA-4148-A422-C3913B176212}" type="datetimeFigureOut">
              <a:rPr lang="zh-CN" altLang="en-US" smtClean="0"/>
              <a:t>2026/9/28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5EB803-5943-4B22-B194-77DCF36597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66384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96E7A9-759E-4F37-A7A3-84E99B66B55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833074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96E7A9-759E-4F37-A7A3-84E99B66B550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58728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96E7A9-759E-4F37-A7A3-84E99B66B550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37308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091952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圆角矩形 8">
            <a:hlinkClick r:id="rId2" action="ppaction://hlinksldjump"/>
          </p:cNvPr>
          <p:cNvSpPr/>
          <p:nvPr userDrawn="1"/>
        </p:nvSpPr>
        <p:spPr>
          <a:xfrm>
            <a:off x="11519592" y="6475887"/>
            <a:ext cx="554462" cy="270504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TextBox 26">
            <a:hlinkClick r:id="rId2" action="ppaction://hlinksldjump"/>
          </p:cNvPr>
          <p:cNvSpPr txBox="1"/>
          <p:nvPr userDrawn="1"/>
        </p:nvSpPr>
        <p:spPr>
          <a:xfrm>
            <a:off x="11519866" y="6453601"/>
            <a:ext cx="598563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3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目 录</a:t>
            </a:r>
          </a:p>
        </p:txBody>
      </p:sp>
    </p:spTree>
    <p:extLst>
      <p:ext uri="{BB962C8B-B14F-4D97-AF65-F5344CB8AC3E}">
        <p14:creationId xmlns:p14="http://schemas.microsoft.com/office/powerpoint/2010/main" val="8188900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33362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56953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圆角矩形 3">
            <a:hlinkClick r:id="rId2" action="ppaction://hlinksldjump"/>
          </p:cNvPr>
          <p:cNvSpPr/>
          <p:nvPr userDrawn="1"/>
        </p:nvSpPr>
        <p:spPr>
          <a:xfrm>
            <a:off x="11519592" y="6475887"/>
            <a:ext cx="554462" cy="270504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TextBox 26">
            <a:hlinkClick r:id="rId2" action="ppaction://hlinksldjump"/>
          </p:cNvPr>
          <p:cNvSpPr txBox="1"/>
          <p:nvPr userDrawn="1"/>
        </p:nvSpPr>
        <p:spPr>
          <a:xfrm>
            <a:off x="11519866" y="6453601"/>
            <a:ext cx="598563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3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目 录</a:t>
            </a:r>
          </a:p>
        </p:txBody>
      </p:sp>
      <p:sp>
        <p:nvSpPr>
          <p:cNvPr id="6" name="TextBox 26"/>
          <p:cNvSpPr txBox="1"/>
          <p:nvPr userDrawn="1"/>
        </p:nvSpPr>
        <p:spPr>
          <a:xfrm>
            <a:off x="706381" y="28047"/>
            <a:ext cx="32179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方正新报宋_GBK" panose="03000509000000000000" pitchFamily="65" charset="-122"/>
                <a:ea typeface="方正新报宋_GBK" panose="03000509000000000000" pitchFamily="65" charset="-122"/>
                <a:cs typeface="+mn-cs"/>
              </a:rPr>
              <a:t>物 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方正新报宋_GBK" panose="03000509000000000000" pitchFamily="65" charset="-122"/>
                <a:ea typeface="方正新报宋_GBK" panose="03000509000000000000" pitchFamily="65" charset="-122"/>
                <a:cs typeface="+mn-cs"/>
              </a:rPr>
              <a:t>理</a:t>
            </a: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方正新报宋_GBK" panose="03000509000000000000" pitchFamily="65" charset="-122"/>
                <a:ea typeface="方正新报宋_GBK" panose="03000509000000000000" pitchFamily="65" charset="-122"/>
                <a:cs typeface="+mn-cs"/>
              </a:rPr>
              <a:t>·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方正新报宋_GBK" panose="03000509000000000000" pitchFamily="65" charset="-122"/>
                <a:ea typeface="方正新报宋_GBK" panose="03000509000000000000" pitchFamily="65" charset="-122"/>
                <a:cs typeface="+mn-cs"/>
              </a:rPr>
              <a:t>必修第一册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方正新报宋_GBK" panose="03000509000000000000" pitchFamily="65" charset="-122"/>
              <a:ea typeface="方正新报宋_GBK" panose="03000509000000000000" pitchFamily="65" charset="-122"/>
              <a:cs typeface="+mn-cs"/>
            </a:endParaRPr>
          </a:p>
        </p:txBody>
      </p:sp>
      <p:cxnSp>
        <p:nvCxnSpPr>
          <p:cNvPr id="7" name="直接箭头连接符 6"/>
          <p:cNvCxnSpPr/>
          <p:nvPr userDrawn="1"/>
        </p:nvCxnSpPr>
        <p:spPr>
          <a:xfrm>
            <a:off x="773038" y="366455"/>
            <a:ext cx="11377264" cy="0"/>
          </a:xfrm>
          <a:prstGeom prst="straightConnector1">
            <a:avLst/>
          </a:prstGeom>
          <a:ln>
            <a:solidFill>
              <a:schemeClr val="accent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/>
          <p:cNvSpPr/>
          <p:nvPr userDrawn="1"/>
        </p:nvSpPr>
        <p:spPr>
          <a:xfrm>
            <a:off x="0" y="-972"/>
            <a:ext cx="508986" cy="357419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indent="0" algn="ctr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b="0" i="0" u="none" strike="noStrike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crosoft YaHei"/>
              <a:ea typeface="Microsoft JhengHei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580369" y="-4354"/>
            <a:ext cx="90025" cy="357419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indent="0" algn="ctr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b="0" i="0" u="none" strike="noStrike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crosoft YaHei"/>
              <a:ea typeface="Microsoft JhengHei"/>
            </a:endParaRPr>
          </a:p>
        </p:txBody>
      </p:sp>
    </p:spTree>
    <p:extLst>
      <p:ext uri="{BB962C8B-B14F-4D97-AF65-F5344CB8AC3E}">
        <p14:creationId xmlns:p14="http://schemas.microsoft.com/office/powerpoint/2010/main" val="193421770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 xmlns:p14="http://schemas.microsoft.com/office/powerpoint/2010/main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05667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71202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0" r:id="rId2"/>
    <p:sldLayoutId id="2147483673" r:id="rId3"/>
    <p:sldLayoutId id="2147483653" r:id="rId4"/>
    <p:sldLayoutId id="2147483651" r:id="rId5"/>
    <p:sldLayoutId id="2147483674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bin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bin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1.bin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1.tiff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slide" Target="slide31.xml"/><Relationship Id="rId13" Type="http://schemas.openxmlformats.org/officeDocument/2006/relationships/slide" Target="slide41.xml"/><Relationship Id="rId3" Type="http://schemas.openxmlformats.org/officeDocument/2006/relationships/image" Target="../media/image26.png"/><Relationship Id="rId7" Type="http://schemas.openxmlformats.org/officeDocument/2006/relationships/slide" Target="slide29.xml"/><Relationship Id="rId12" Type="http://schemas.openxmlformats.org/officeDocument/2006/relationships/slide" Target="slide39.xml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Relationship Id="rId6" Type="http://schemas.openxmlformats.org/officeDocument/2006/relationships/slide" Target="slide27.xml"/><Relationship Id="rId11" Type="http://schemas.openxmlformats.org/officeDocument/2006/relationships/slide" Target="slide37.xml"/><Relationship Id="rId5" Type="http://schemas.openxmlformats.org/officeDocument/2006/relationships/slide" Target="slide26.xml"/><Relationship Id="rId15" Type="http://schemas.openxmlformats.org/officeDocument/2006/relationships/slide" Target="slide45.xml"/><Relationship Id="rId10" Type="http://schemas.openxmlformats.org/officeDocument/2006/relationships/slide" Target="slide35.xml"/><Relationship Id="rId4" Type="http://schemas.openxmlformats.org/officeDocument/2006/relationships/slide" Target="slide24.xml"/><Relationship Id="rId9" Type="http://schemas.openxmlformats.org/officeDocument/2006/relationships/slide" Target="slide33.xml"/><Relationship Id="rId14" Type="http://schemas.openxmlformats.org/officeDocument/2006/relationships/slide" Target="slide43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slide" Target="slide33.xml"/><Relationship Id="rId13" Type="http://schemas.openxmlformats.org/officeDocument/2006/relationships/slide" Target="slide43.xml"/><Relationship Id="rId3" Type="http://schemas.openxmlformats.org/officeDocument/2006/relationships/slide" Target="slide24.xml"/><Relationship Id="rId7" Type="http://schemas.openxmlformats.org/officeDocument/2006/relationships/slide" Target="slide31.xml"/><Relationship Id="rId12" Type="http://schemas.openxmlformats.org/officeDocument/2006/relationships/slide" Target="slide41.xml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5.xml"/><Relationship Id="rId6" Type="http://schemas.openxmlformats.org/officeDocument/2006/relationships/slide" Target="slide29.xml"/><Relationship Id="rId11" Type="http://schemas.openxmlformats.org/officeDocument/2006/relationships/slide" Target="slide39.xml"/><Relationship Id="rId5" Type="http://schemas.openxmlformats.org/officeDocument/2006/relationships/slide" Target="slide27.xml"/><Relationship Id="rId10" Type="http://schemas.openxmlformats.org/officeDocument/2006/relationships/slide" Target="slide37.xml"/><Relationship Id="rId4" Type="http://schemas.openxmlformats.org/officeDocument/2006/relationships/slide" Target="slide26.xml"/><Relationship Id="rId9" Type="http://schemas.openxmlformats.org/officeDocument/2006/relationships/slide" Target="slide35.xml"/><Relationship Id="rId14" Type="http://schemas.openxmlformats.org/officeDocument/2006/relationships/slide" Target="slide45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slide" Target="slide31.xml"/><Relationship Id="rId13" Type="http://schemas.openxmlformats.org/officeDocument/2006/relationships/slide" Target="slide41.xml"/><Relationship Id="rId3" Type="http://schemas.openxmlformats.org/officeDocument/2006/relationships/image" Target="../media/image31.png"/><Relationship Id="rId7" Type="http://schemas.openxmlformats.org/officeDocument/2006/relationships/slide" Target="slide29.xml"/><Relationship Id="rId12" Type="http://schemas.openxmlformats.org/officeDocument/2006/relationships/slide" Target="slide39.xml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.xml"/><Relationship Id="rId6" Type="http://schemas.openxmlformats.org/officeDocument/2006/relationships/slide" Target="slide27.xml"/><Relationship Id="rId11" Type="http://schemas.openxmlformats.org/officeDocument/2006/relationships/slide" Target="slide37.xml"/><Relationship Id="rId5" Type="http://schemas.openxmlformats.org/officeDocument/2006/relationships/slide" Target="slide26.xml"/><Relationship Id="rId15" Type="http://schemas.openxmlformats.org/officeDocument/2006/relationships/slide" Target="slide45.xml"/><Relationship Id="rId10" Type="http://schemas.openxmlformats.org/officeDocument/2006/relationships/slide" Target="slide35.xml"/><Relationship Id="rId4" Type="http://schemas.openxmlformats.org/officeDocument/2006/relationships/slide" Target="slide24.xml"/><Relationship Id="rId9" Type="http://schemas.openxmlformats.org/officeDocument/2006/relationships/slide" Target="slide33.xml"/><Relationship Id="rId14" Type="http://schemas.openxmlformats.org/officeDocument/2006/relationships/slide" Target="slide43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slide" Target="slide31.xml"/><Relationship Id="rId13" Type="http://schemas.openxmlformats.org/officeDocument/2006/relationships/slide" Target="slide41.xml"/><Relationship Id="rId3" Type="http://schemas.openxmlformats.org/officeDocument/2006/relationships/image" Target="../media/image32.png"/><Relationship Id="rId7" Type="http://schemas.openxmlformats.org/officeDocument/2006/relationships/slide" Target="slide29.xml"/><Relationship Id="rId12" Type="http://schemas.openxmlformats.org/officeDocument/2006/relationships/slide" Target="slide39.xml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5.xml"/><Relationship Id="rId6" Type="http://schemas.openxmlformats.org/officeDocument/2006/relationships/slide" Target="slide27.xml"/><Relationship Id="rId11" Type="http://schemas.openxmlformats.org/officeDocument/2006/relationships/slide" Target="slide37.xml"/><Relationship Id="rId5" Type="http://schemas.openxmlformats.org/officeDocument/2006/relationships/slide" Target="slide26.xml"/><Relationship Id="rId15" Type="http://schemas.openxmlformats.org/officeDocument/2006/relationships/slide" Target="slide45.xml"/><Relationship Id="rId10" Type="http://schemas.openxmlformats.org/officeDocument/2006/relationships/slide" Target="slide35.xml"/><Relationship Id="rId4" Type="http://schemas.openxmlformats.org/officeDocument/2006/relationships/slide" Target="slide24.xml"/><Relationship Id="rId9" Type="http://schemas.openxmlformats.org/officeDocument/2006/relationships/slide" Target="slide33.xml"/><Relationship Id="rId14" Type="http://schemas.openxmlformats.org/officeDocument/2006/relationships/slide" Target="slide43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slide" Target="slide33.xml"/><Relationship Id="rId13" Type="http://schemas.openxmlformats.org/officeDocument/2006/relationships/slide" Target="slide43.xml"/><Relationship Id="rId3" Type="http://schemas.openxmlformats.org/officeDocument/2006/relationships/slide" Target="slide24.xml"/><Relationship Id="rId7" Type="http://schemas.openxmlformats.org/officeDocument/2006/relationships/slide" Target="slide31.xml"/><Relationship Id="rId12" Type="http://schemas.openxmlformats.org/officeDocument/2006/relationships/slide" Target="slide41.xml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5.xml"/><Relationship Id="rId6" Type="http://schemas.openxmlformats.org/officeDocument/2006/relationships/slide" Target="slide29.xml"/><Relationship Id="rId11" Type="http://schemas.openxmlformats.org/officeDocument/2006/relationships/slide" Target="slide39.xml"/><Relationship Id="rId5" Type="http://schemas.openxmlformats.org/officeDocument/2006/relationships/slide" Target="slide27.xml"/><Relationship Id="rId10" Type="http://schemas.openxmlformats.org/officeDocument/2006/relationships/slide" Target="slide37.xml"/><Relationship Id="rId4" Type="http://schemas.openxmlformats.org/officeDocument/2006/relationships/slide" Target="slide26.xml"/><Relationship Id="rId9" Type="http://schemas.openxmlformats.org/officeDocument/2006/relationships/slide" Target="slide35.xml"/><Relationship Id="rId14" Type="http://schemas.openxmlformats.org/officeDocument/2006/relationships/slide" Target="slide45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slide" Target="slide33.xml"/><Relationship Id="rId13" Type="http://schemas.openxmlformats.org/officeDocument/2006/relationships/slide" Target="slide43.xml"/><Relationship Id="rId3" Type="http://schemas.openxmlformats.org/officeDocument/2006/relationships/slide" Target="slide24.xml"/><Relationship Id="rId7" Type="http://schemas.openxmlformats.org/officeDocument/2006/relationships/slide" Target="slide31.xml"/><Relationship Id="rId12" Type="http://schemas.openxmlformats.org/officeDocument/2006/relationships/slide" Target="slide41.xml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5.xml"/><Relationship Id="rId6" Type="http://schemas.openxmlformats.org/officeDocument/2006/relationships/slide" Target="slide29.xml"/><Relationship Id="rId11" Type="http://schemas.openxmlformats.org/officeDocument/2006/relationships/slide" Target="slide39.xml"/><Relationship Id="rId5" Type="http://schemas.openxmlformats.org/officeDocument/2006/relationships/slide" Target="slide27.xml"/><Relationship Id="rId10" Type="http://schemas.openxmlformats.org/officeDocument/2006/relationships/slide" Target="slide37.xml"/><Relationship Id="rId4" Type="http://schemas.openxmlformats.org/officeDocument/2006/relationships/slide" Target="slide26.xml"/><Relationship Id="rId9" Type="http://schemas.openxmlformats.org/officeDocument/2006/relationships/slide" Target="slide35.xml"/><Relationship Id="rId14" Type="http://schemas.openxmlformats.org/officeDocument/2006/relationships/slide" Target="slide45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slide" Target="slide35.xml"/><Relationship Id="rId13" Type="http://schemas.openxmlformats.org/officeDocument/2006/relationships/slide" Target="slide45.xml"/><Relationship Id="rId3" Type="http://schemas.openxmlformats.org/officeDocument/2006/relationships/slide" Target="slide26.xml"/><Relationship Id="rId7" Type="http://schemas.openxmlformats.org/officeDocument/2006/relationships/slide" Target="slide33.xml"/><Relationship Id="rId12" Type="http://schemas.openxmlformats.org/officeDocument/2006/relationships/slide" Target="slide43.xml"/><Relationship Id="rId2" Type="http://schemas.openxmlformats.org/officeDocument/2006/relationships/slide" Target="slide24.xml"/><Relationship Id="rId1" Type="http://schemas.openxmlformats.org/officeDocument/2006/relationships/slideLayout" Target="../slideLayouts/slideLayout5.xml"/><Relationship Id="rId6" Type="http://schemas.openxmlformats.org/officeDocument/2006/relationships/slide" Target="slide31.xml"/><Relationship Id="rId11" Type="http://schemas.openxmlformats.org/officeDocument/2006/relationships/slide" Target="slide41.xml"/><Relationship Id="rId5" Type="http://schemas.openxmlformats.org/officeDocument/2006/relationships/slide" Target="slide29.xml"/><Relationship Id="rId10" Type="http://schemas.openxmlformats.org/officeDocument/2006/relationships/slide" Target="slide39.xml"/><Relationship Id="rId4" Type="http://schemas.openxmlformats.org/officeDocument/2006/relationships/slide" Target="slide27.xml"/><Relationship Id="rId9" Type="http://schemas.openxmlformats.org/officeDocument/2006/relationships/slide" Target="slide37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slide" Target="slide33.xml"/><Relationship Id="rId13" Type="http://schemas.openxmlformats.org/officeDocument/2006/relationships/slide" Target="slide43.xml"/><Relationship Id="rId3" Type="http://schemas.openxmlformats.org/officeDocument/2006/relationships/slide" Target="slide24.xml"/><Relationship Id="rId7" Type="http://schemas.openxmlformats.org/officeDocument/2006/relationships/slide" Target="slide31.xml"/><Relationship Id="rId12" Type="http://schemas.openxmlformats.org/officeDocument/2006/relationships/slide" Target="slide41.xml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5.xml"/><Relationship Id="rId6" Type="http://schemas.openxmlformats.org/officeDocument/2006/relationships/slide" Target="slide29.xml"/><Relationship Id="rId11" Type="http://schemas.openxmlformats.org/officeDocument/2006/relationships/slide" Target="slide39.xml"/><Relationship Id="rId5" Type="http://schemas.openxmlformats.org/officeDocument/2006/relationships/slide" Target="slide27.xml"/><Relationship Id="rId10" Type="http://schemas.openxmlformats.org/officeDocument/2006/relationships/slide" Target="slide37.xml"/><Relationship Id="rId4" Type="http://schemas.openxmlformats.org/officeDocument/2006/relationships/slide" Target="slide26.xml"/><Relationship Id="rId9" Type="http://schemas.openxmlformats.org/officeDocument/2006/relationships/slide" Target="slide35.xml"/><Relationship Id="rId14" Type="http://schemas.openxmlformats.org/officeDocument/2006/relationships/slide" Target="slide45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slide" Target="slide35.xml"/><Relationship Id="rId13" Type="http://schemas.openxmlformats.org/officeDocument/2006/relationships/slide" Target="slide45.xml"/><Relationship Id="rId3" Type="http://schemas.openxmlformats.org/officeDocument/2006/relationships/slide" Target="slide26.xml"/><Relationship Id="rId7" Type="http://schemas.openxmlformats.org/officeDocument/2006/relationships/slide" Target="slide33.xml"/><Relationship Id="rId12" Type="http://schemas.openxmlformats.org/officeDocument/2006/relationships/slide" Target="slide43.xml"/><Relationship Id="rId2" Type="http://schemas.openxmlformats.org/officeDocument/2006/relationships/slide" Target="slide24.xml"/><Relationship Id="rId1" Type="http://schemas.openxmlformats.org/officeDocument/2006/relationships/slideLayout" Target="../slideLayouts/slideLayout5.xml"/><Relationship Id="rId6" Type="http://schemas.openxmlformats.org/officeDocument/2006/relationships/slide" Target="slide31.xml"/><Relationship Id="rId11" Type="http://schemas.openxmlformats.org/officeDocument/2006/relationships/slide" Target="slide41.xml"/><Relationship Id="rId5" Type="http://schemas.openxmlformats.org/officeDocument/2006/relationships/slide" Target="slide29.xml"/><Relationship Id="rId10" Type="http://schemas.openxmlformats.org/officeDocument/2006/relationships/slide" Target="slide39.xml"/><Relationship Id="rId4" Type="http://schemas.openxmlformats.org/officeDocument/2006/relationships/slide" Target="slide27.xml"/><Relationship Id="rId9" Type="http://schemas.openxmlformats.org/officeDocument/2006/relationships/slide" Target="slide37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slide" Target="slide33.xml"/><Relationship Id="rId13" Type="http://schemas.openxmlformats.org/officeDocument/2006/relationships/slide" Target="slide43.xml"/><Relationship Id="rId3" Type="http://schemas.openxmlformats.org/officeDocument/2006/relationships/slide" Target="slide24.xml"/><Relationship Id="rId7" Type="http://schemas.openxmlformats.org/officeDocument/2006/relationships/slide" Target="slide31.xml"/><Relationship Id="rId12" Type="http://schemas.openxmlformats.org/officeDocument/2006/relationships/slide" Target="slide41.xml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5.xml"/><Relationship Id="rId6" Type="http://schemas.openxmlformats.org/officeDocument/2006/relationships/slide" Target="slide29.xml"/><Relationship Id="rId11" Type="http://schemas.openxmlformats.org/officeDocument/2006/relationships/slide" Target="slide39.xml"/><Relationship Id="rId5" Type="http://schemas.openxmlformats.org/officeDocument/2006/relationships/slide" Target="slide27.xml"/><Relationship Id="rId10" Type="http://schemas.openxmlformats.org/officeDocument/2006/relationships/slide" Target="slide37.xml"/><Relationship Id="rId4" Type="http://schemas.openxmlformats.org/officeDocument/2006/relationships/slide" Target="slide26.xml"/><Relationship Id="rId9" Type="http://schemas.openxmlformats.org/officeDocument/2006/relationships/slide" Target="slide35.xml"/><Relationship Id="rId14" Type="http://schemas.openxmlformats.org/officeDocument/2006/relationships/slide" Target="slide45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slide" Target="slide33.xml"/><Relationship Id="rId13" Type="http://schemas.openxmlformats.org/officeDocument/2006/relationships/slide" Target="slide43.xml"/><Relationship Id="rId3" Type="http://schemas.openxmlformats.org/officeDocument/2006/relationships/slide" Target="slide24.xml"/><Relationship Id="rId7" Type="http://schemas.openxmlformats.org/officeDocument/2006/relationships/slide" Target="slide31.xml"/><Relationship Id="rId12" Type="http://schemas.openxmlformats.org/officeDocument/2006/relationships/slide" Target="slide41.xml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5.xml"/><Relationship Id="rId6" Type="http://schemas.openxmlformats.org/officeDocument/2006/relationships/slide" Target="slide29.xml"/><Relationship Id="rId11" Type="http://schemas.openxmlformats.org/officeDocument/2006/relationships/slide" Target="slide39.xml"/><Relationship Id="rId5" Type="http://schemas.openxmlformats.org/officeDocument/2006/relationships/slide" Target="slide27.xml"/><Relationship Id="rId10" Type="http://schemas.openxmlformats.org/officeDocument/2006/relationships/slide" Target="slide37.xml"/><Relationship Id="rId4" Type="http://schemas.openxmlformats.org/officeDocument/2006/relationships/slide" Target="slide26.xml"/><Relationship Id="rId9" Type="http://schemas.openxmlformats.org/officeDocument/2006/relationships/slide" Target="slide35.xml"/><Relationship Id="rId14" Type="http://schemas.openxmlformats.org/officeDocument/2006/relationships/slide" Target="slide45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slide" Target="slide31.xml"/><Relationship Id="rId13" Type="http://schemas.openxmlformats.org/officeDocument/2006/relationships/slide" Target="slide41.xml"/><Relationship Id="rId3" Type="http://schemas.openxmlformats.org/officeDocument/2006/relationships/image" Target="../media/image37.png"/><Relationship Id="rId7" Type="http://schemas.openxmlformats.org/officeDocument/2006/relationships/slide" Target="slide29.xml"/><Relationship Id="rId12" Type="http://schemas.openxmlformats.org/officeDocument/2006/relationships/slide" Target="slide39.xml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5.xml"/><Relationship Id="rId6" Type="http://schemas.openxmlformats.org/officeDocument/2006/relationships/slide" Target="slide27.xml"/><Relationship Id="rId11" Type="http://schemas.openxmlformats.org/officeDocument/2006/relationships/slide" Target="slide37.xml"/><Relationship Id="rId5" Type="http://schemas.openxmlformats.org/officeDocument/2006/relationships/slide" Target="slide26.xml"/><Relationship Id="rId15" Type="http://schemas.openxmlformats.org/officeDocument/2006/relationships/slide" Target="slide45.xml"/><Relationship Id="rId10" Type="http://schemas.openxmlformats.org/officeDocument/2006/relationships/slide" Target="slide35.xml"/><Relationship Id="rId4" Type="http://schemas.openxmlformats.org/officeDocument/2006/relationships/slide" Target="slide24.xml"/><Relationship Id="rId9" Type="http://schemas.openxmlformats.org/officeDocument/2006/relationships/slide" Target="slide33.xml"/><Relationship Id="rId14" Type="http://schemas.openxmlformats.org/officeDocument/2006/relationships/slide" Target="slide43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slide" Target="slide33.xml"/><Relationship Id="rId13" Type="http://schemas.openxmlformats.org/officeDocument/2006/relationships/slide" Target="slide43.xml"/><Relationship Id="rId3" Type="http://schemas.openxmlformats.org/officeDocument/2006/relationships/slide" Target="slide24.xml"/><Relationship Id="rId7" Type="http://schemas.openxmlformats.org/officeDocument/2006/relationships/slide" Target="slide31.xml"/><Relationship Id="rId12" Type="http://schemas.openxmlformats.org/officeDocument/2006/relationships/slide" Target="slide41.xml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5.xml"/><Relationship Id="rId6" Type="http://schemas.openxmlformats.org/officeDocument/2006/relationships/slide" Target="slide29.xml"/><Relationship Id="rId11" Type="http://schemas.openxmlformats.org/officeDocument/2006/relationships/slide" Target="slide39.xml"/><Relationship Id="rId5" Type="http://schemas.openxmlformats.org/officeDocument/2006/relationships/slide" Target="slide27.xml"/><Relationship Id="rId10" Type="http://schemas.openxmlformats.org/officeDocument/2006/relationships/slide" Target="slide37.xml"/><Relationship Id="rId4" Type="http://schemas.openxmlformats.org/officeDocument/2006/relationships/slide" Target="slide26.xml"/><Relationship Id="rId9" Type="http://schemas.openxmlformats.org/officeDocument/2006/relationships/slide" Target="slide35.xml"/><Relationship Id="rId14" Type="http://schemas.openxmlformats.org/officeDocument/2006/relationships/slide" Target="slide45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slide" Target="slide31.xml"/><Relationship Id="rId13" Type="http://schemas.openxmlformats.org/officeDocument/2006/relationships/slide" Target="slide41.xml"/><Relationship Id="rId3" Type="http://schemas.openxmlformats.org/officeDocument/2006/relationships/image" Target="../media/image42.png"/><Relationship Id="rId7" Type="http://schemas.openxmlformats.org/officeDocument/2006/relationships/slide" Target="slide29.xml"/><Relationship Id="rId12" Type="http://schemas.openxmlformats.org/officeDocument/2006/relationships/slide" Target="slide39.xml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5.xml"/><Relationship Id="rId6" Type="http://schemas.openxmlformats.org/officeDocument/2006/relationships/slide" Target="slide27.xml"/><Relationship Id="rId11" Type="http://schemas.openxmlformats.org/officeDocument/2006/relationships/slide" Target="slide37.xml"/><Relationship Id="rId5" Type="http://schemas.openxmlformats.org/officeDocument/2006/relationships/slide" Target="slide26.xml"/><Relationship Id="rId15" Type="http://schemas.openxmlformats.org/officeDocument/2006/relationships/slide" Target="slide45.xml"/><Relationship Id="rId10" Type="http://schemas.openxmlformats.org/officeDocument/2006/relationships/slide" Target="slide35.xml"/><Relationship Id="rId4" Type="http://schemas.openxmlformats.org/officeDocument/2006/relationships/slide" Target="slide24.xml"/><Relationship Id="rId9" Type="http://schemas.openxmlformats.org/officeDocument/2006/relationships/slide" Target="slide33.xml"/><Relationship Id="rId14" Type="http://schemas.openxmlformats.org/officeDocument/2006/relationships/slide" Target="slide43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slide" Target="slide33.xml"/><Relationship Id="rId13" Type="http://schemas.openxmlformats.org/officeDocument/2006/relationships/slide" Target="slide43.xml"/><Relationship Id="rId3" Type="http://schemas.openxmlformats.org/officeDocument/2006/relationships/slide" Target="slide24.xml"/><Relationship Id="rId7" Type="http://schemas.openxmlformats.org/officeDocument/2006/relationships/slide" Target="slide31.xml"/><Relationship Id="rId12" Type="http://schemas.openxmlformats.org/officeDocument/2006/relationships/slide" Target="slide41.xml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5.xml"/><Relationship Id="rId6" Type="http://schemas.openxmlformats.org/officeDocument/2006/relationships/slide" Target="slide29.xml"/><Relationship Id="rId11" Type="http://schemas.openxmlformats.org/officeDocument/2006/relationships/slide" Target="slide39.xml"/><Relationship Id="rId5" Type="http://schemas.openxmlformats.org/officeDocument/2006/relationships/slide" Target="slide27.xml"/><Relationship Id="rId10" Type="http://schemas.openxmlformats.org/officeDocument/2006/relationships/slide" Target="slide37.xml"/><Relationship Id="rId4" Type="http://schemas.openxmlformats.org/officeDocument/2006/relationships/slide" Target="slide26.xml"/><Relationship Id="rId9" Type="http://schemas.openxmlformats.org/officeDocument/2006/relationships/slide" Target="slide35.xml"/><Relationship Id="rId14" Type="http://schemas.openxmlformats.org/officeDocument/2006/relationships/slide" Target="slide45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slide" Target="slide31.xml"/><Relationship Id="rId13" Type="http://schemas.openxmlformats.org/officeDocument/2006/relationships/slide" Target="slide41.xml"/><Relationship Id="rId3" Type="http://schemas.openxmlformats.org/officeDocument/2006/relationships/image" Target="../media/image43.png"/><Relationship Id="rId7" Type="http://schemas.openxmlformats.org/officeDocument/2006/relationships/slide" Target="slide29.xml"/><Relationship Id="rId12" Type="http://schemas.openxmlformats.org/officeDocument/2006/relationships/slide" Target="slide39.xml"/><Relationship Id="rId2" Type="http://schemas.openxmlformats.org/officeDocument/2006/relationships/image" Target="../media/image440.png"/><Relationship Id="rId1" Type="http://schemas.openxmlformats.org/officeDocument/2006/relationships/slideLayout" Target="../slideLayouts/slideLayout5.xml"/><Relationship Id="rId6" Type="http://schemas.openxmlformats.org/officeDocument/2006/relationships/slide" Target="slide27.xml"/><Relationship Id="rId11" Type="http://schemas.openxmlformats.org/officeDocument/2006/relationships/slide" Target="slide37.xml"/><Relationship Id="rId5" Type="http://schemas.openxmlformats.org/officeDocument/2006/relationships/slide" Target="slide26.xml"/><Relationship Id="rId15" Type="http://schemas.openxmlformats.org/officeDocument/2006/relationships/slide" Target="slide45.xml"/><Relationship Id="rId10" Type="http://schemas.openxmlformats.org/officeDocument/2006/relationships/slide" Target="slide35.xml"/><Relationship Id="rId4" Type="http://schemas.openxmlformats.org/officeDocument/2006/relationships/slide" Target="slide24.xml"/><Relationship Id="rId9" Type="http://schemas.openxmlformats.org/officeDocument/2006/relationships/slide" Target="slide33.xml"/><Relationship Id="rId14" Type="http://schemas.openxmlformats.org/officeDocument/2006/relationships/slide" Target="slide43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slide" Target="slide31.xml"/><Relationship Id="rId13" Type="http://schemas.openxmlformats.org/officeDocument/2006/relationships/slide" Target="slide41.xml"/><Relationship Id="rId3" Type="http://schemas.openxmlformats.org/officeDocument/2006/relationships/image" Target="../media/image45.png"/><Relationship Id="rId7" Type="http://schemas.openxmlformats.org/officeDocument/2006/relationships/slide" Target="slide29.xml"/><Relationship Id="rId12" Type="http://schemas.openxmlformats.org/officeDocument/2006/relationships/slide" Target="slide39.xml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5.xml"/><Relationship Id="rId6" Type="http://schemas.openxmlformats.org/officeDocument/2006/relationships/slide" Target="slide27.xml"/><Relationship Id="rId11" Type="http://schemas.openxmlformats.org/officeDocument/2006/relationships/slide" Target="slide37.xml"/><Relationship Id="rId5" Type="http://schemas.openxmlformats.org/officeDocument/2006/relationships/slide" Target="slide26.xml"/><Relationship Id="rId15" Type="http://schemas.openxmlformats.org/officeDocument/2006/relationships/slide" Target="slide45.xml"/><Relationship Id="rId10" Type="http://schemas.openxmlformats.org/officeDocument/2006/relationships/slide" Target="slide35.xml"/><Relationship Id="rId4" Type="http://schemas.openxmlformats.org/officeDocument/2006/relationships/slide" Target="slide24.xml"/><Relationship Id="rId9" Type="http://schemas.openxmlformats.org/officeDocument/2006/relationships/slide" Target="slide33.xml"/><Relationship Id="rId14" Type="http://schemas.openxmlformats.org/officeDocument/2006/relationships/slide" Target="slide43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slide" Target="slide31.xml"/><Relationship Id="rId13" Type="http://schemas.openxmlformats.org/officeDocument/2006/relationships/slide" Target="slide41.xml"/><Relationship Id="rId3" Type="http://schemas.openxmlformats.org/officeDocument/2006/relationships/image" Target="../media/image47.png"/><Relationship Id="rId7" Type="http://schemas.openxmlformats.org/officeDocument/2006/relationships/slide" Target="slide29.xml"/><Relationship Id="rId12" Type="http://schemas.openxmlformats.org/officeDocument/2006/relationships/slide" Target="slide39.xml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5.xml"/><Relationship Id="rId6" Type="http://schemas.openxmlformats.org/officeDocument/2006/relationships/slide" Target="slide27.xml"/><Relationship Id="rId11" Type="http://schemas.openxmlformats.org/officeDocument/2006/relationships/slide" Target="slide37.xml"/><Relationship Id="rId5" Type="http://schemas.openxmlformats.org/officeDocument/2006/relationships/slide" Target="slide26.xml"/><Relationship Id="rId15" Type="http://schemas.openxmlformats.org/officeDocument/2006/relationships/slide" Target="slide45.xml"/><Relationship Id="rId10" Type="http://schemas.openxmlformats.org/officeDocument/2006/relationships/slide" Target="slide35.xml"/><Relationship Id="rId4" Type="http://schemas.openxmlformats.org/officeDocument/2006/relationships/slide" Target="slide24.xml"/><Relationship Id="rId9" Type="http://schemas.openxmlformats.org/officeDocument/2006/relationships/slide" Target="slide33.xml"/><Relationship Id="rId14" Type="http://schemas.openxmlformats.org/officeDocument/2006/relationships/slide" Target="slide43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slide" Target="slide33.xml"/><Relationship Id="rId13" Type="http://schemas.openxmlformats.org/officeDocument/2006/relationships/slide" Target="slide43.xml"/><Relationship Id="rId3" Type="http://schemas.openxmlformats.org/officeDocument/2006/relationships/slide" Target="slide24.xml"/><Relationship Id="rId7" Type="http://schemas.openxmlformats.org/officeDocument/2006/relationships/slide" Target="slide31.xml"/><Relationship Id="rId12" Type="http://schemas.openxmlformats.org/officeDocument/2006/relationships/slide" Target="slide41.xml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5.xml"/><Relationship Id="rId6" Type="http://schemas.openxmlformats.org/officeDocument/2006/relationships/slide" Target="slide29.xml"/><Relationship Id="rId11" Type="http://schemas.openxmlformats.org/officeDocument/2006/relationships/slide" Target="slide39.xml"/><Relationship Id="rId5" Type="http://schemas.openxmlformats.org/officeDocument/2006/relationships/slide" Target="slide27.xml"/><Relationship Id="rId10" Type="http://schemas.openxmlformats.org/officeDocument/2006/relationships/slide" Target="slide37.xml"/><Relationship Id="rId4" Type="http://schemas.openxmlformats.org/officeDocument/2006/relationships/slide" Target="slide26.xml"/><Relationship Id="rId9" Type="http://schemas.openxmlformats.org/officeDocument/2006/relationships/slide" Target="slide35.xml"/><Relationship Id="rId14" Type="http://schemas.openxmlformats.org/officeDocument/2006/relationships/slide" Target="slide45.xm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slide" Target="slide33.xml"/><Relationship Id="rId13" Type="http://schemas.openxmlformats.org/officeDocument/2006/relationships/slide" Target="slide43.xml"/><Relationship Id="rId3" Type="http://schemas.openxmlformats.org/officeDocument/2006/relationships/slide" Target="slide24.xml"/><Relationship Id="rId7" Type="http://schemas.openxmlformats.org/officeDocument/2006/relationships/slide" Target="slide31.xml"/><Relationship Id="rId12" Type="http://schemas.openxmlformats.org/officeDocument/2006/relationships/slide" Target="slide41.xml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5.xml"/><Relationship Id="rId6" Type="http://schemas.openxmlformats.org/officeDocument/2006/relationships/slide" Target="slide29.xml"/><Relationship Id="rId11" Type="http://schemas.openxmlformats.org/officeDocument/2006/relationships/slide" Target="slide39.xml"/><Relationship Id="rId5" Type="http://schemas.openxmlformats.org/officeDocument/2006/relationships/slide" Target="slide27.xml"/><Relationship Id="rId10" Type="http://schemas.openxmlformats.org/officeDocument/2006/relationships/slide" Target="slide37.xml"/><Relationship Id="rId4" Type="http://schemas.openxmlformats.org/officeDocument/2006/relationships/slide" Target="slide26.xml"/><Relationship Id="rId9" Type="http://schemas.openxmlformats.org/officeDocument/2006/relationships/slide" Target="slide35.xml"/><Relationship Id="rId14" Type="http://schemas.openxmlformats.org/officeDocument/2006/relationships/slide" Target="slide45.xml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slide" Target="slide35.xml"/><Relationship Id="rId13" Type="http://schemas.openxmlformats.org/officeDocument/2006/relationships/slide" Target="slide45.xml"/><Relationship Id="rId3" Type="http://schemas.openxmlformats.org/officeDocument/2006/relationships/slide" Target="slide26.xml"/><Relationship Id="rId7" Type="http://schemas.openxmlformats.org/officeDocument/2006/relationships/slide" Target="slide33.xml"/><Relationship Id="rId12" Type="http://schemas.openxmlformats.org/officeDocument/2006/relationships/slide" Target="slide43.xml"/><Relationship Id="rId2" Type="http://schemas.openxmlformats.org/officeDocument/2006/relationships/slide" Target="slide24.xml"/><Relationship Id="rId1" Type="http://schemas.openxmlformats.org/officeDocument/2006/relationships/slideLayout" Target="../slideLayouts/slideLayout5.xml"/><Relationship Id="rId6" Type="http://schemas.openxmlformats.org/officeDocument/2006/relationships/slide" Target="slide31.xml"/><Relationship Id="rId11" Type="http://schemas.openxmlformats.org/officeDocument/2006/relationships/slide" Target="slide41.xml"/><Relationship Id="rId5" Type="http://schemas.openxmlformats.org/officeDocument/2006/relationships/slide" Target="slide29.xml"/><Relationship Id="rId10" Type="http://schemas.openxmlformats.org/officeDocument/2006/relationships/slide" Target="slide39.xml"/><Relationship Id="rId4" Type="http://schemas.openxmlformats.org/officeDocument/2006/relationships/slide" Target="slide27.xml"/><Relationship Id="rId9" Type="http://schemas.openxmlformats.org/officeDocument/2006/relationships/slide" Target="slide37.xml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slide" Target="slide29.xml"/><Relationship Id="rId13" Type="http://schemas.openxmlformats.org/officeDocument/2006/relationships/slide" Target="slide39.xml"/><Relationship Id="rId3" Type="http://schemas.openxmlformats.org/officeDocument/2006/relationships/image" Target="../media/image51.png"/><Relationship Id="rId7" Type="http://schemas.openxmlformats.org/officeDocument/2006/relationships/slide" Target="slide27.xml"/><Relationship Id="rId12" Type="http://schemas.openxmlformats.org/officeDocument/2006/relationships/slide" Target="slide37.xml"/><Relationship Id="rId2" Type="http://schemas.openxmlformats.org/officeDocument/2006/relationships/image" Target="../media/image52.png"/><Relationship Id="rId16" Type="http://schemas.openxmlformats.org/officeDocument/2006/relationships/slide" Target="slide45.xml"/><Relationship Id="rId1" Type="http://schemas.openxmlformats.org/officeDocument/2006/relationships/slideLayout" Target="../slideLayouts/slideLayout5.xml"/><Relationship Id="rId6" Type="http://schemas.openxmlformats.org/officeDocument/2006/relationships/slide" Target="slide26.xml"/><Relationship Id="rId11" Type="http://schemas.openxmlformats.org/officeDocument/2006/relationships/slide" Target="slide35.xml"/><Relationship Id="rId5" Type="http://schemas.openxmlformats.org/officeDocument/2006/relationships/slide" Target="slide24.xml"/><Relationship Id="rId15" Type="http://schemas.openxmlformats.org/officeDocument/2006/relationships/slide" Target="slide43.xml"/><Relationship Id="rId10" Type="http://schemas.openxmlformats.org/officeDocument/2006/relationships/slide" Target="slide33.xml"/><Relationship Id="rId4" Type="http://schemas.openxmlformats.org/officeDocument/2006/relationships/image" Target="../media/image53.png"/><Relationship Id="rId9" Type="http://schemas.openxmlformats.org/officeDocument/2006/relationships/slide" Target="slide31.xml"/><Relationship Id="rId14" Type="http://schemas.openxmlformats.org/officeDocument/2006/relationships/slide" Target="slide41.xml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slide" Target="slide31.xml"/><Relationship Id="rId13" Type="http://schemas.openxmlformats.org/officeDocument/2006/relationships/slide" Target="slide41.xml"/><Relationship Id="rId3" Type="http://schemas.openxmlformats.org/officeDocument/2006/relationships/image" Target="../media/image56.png"/><Relationship Id="rId7" Type="http://schemas.openxmlformats.org/officeDocument/2006/relationships/slide" Target="slide29.xml"/><Relationship Id="rId12" Type="http://schemas.openxmlformats.org/officeDocument/2006/relationships/slide" Target="slide39.xml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5.xml"/><Relationship Id="rId6" Type="http://schemas.openxmlformats.org/officeDocument/2006/relationships/slide" Target="slide27.xml"/><Relationship Id="rId11" Type="http://schemas.openxmlformats.org/officeDocument/2006/relationships/slide" Target="slide37.xml"/><Relationship Id="rId5" Type="http://schemas.openxmlformats.org/officeDocument/2006/relationships/slide" Target="slide26.xml"/><Relationship Id="rId15" Type="http://schemas.openxmlformats.org/officeDocument/2006/relationships/slide" Target="slide45.xml"/><Relationship Id="rId10" Type="http://schemas.openxmlformats.org/officeDocument/2006/relationships/slide" Target="slide35.xml"/><Relationship Id="rId4" Type="http://schemas.openxmlformats.org/officeDocument/2006/relationships/slide" Target="slide24.xml"/><Relationship Id="rId9" Type="http://schemas.openxmlformats.org/officeDocument/2006/relationships/slide" Target="slide33.xml"/><Relationship Id="rId14" Type="http://schemas.openxmlformats.org/officeDocument/2006/relationships/slide" Target="slide43.xml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slide" Target="slide31.xml"/><Relationship Id="rId13" Type="http://schemas.openxmlformats.org/officeDocument/2006/relationships/slide" Target="slide41.xml"/><Relationship Id="rId3" Type="http://schemas.openxmlformats.org/officeDocument/2006/relationships/image" Target="../media/image54.png"/><Relationship Id="rId7" Type="http://schemas.openxmlformats.org/officeDocument/2006/relationships/slide" Target="slide29.xml"/><Relationship Id="rId12" Type="http://schemas.openxmlformats.org/officeDocument/2006/relationships/slide" Target="slide39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6" Type="http://schemas.openxmlformats.org/officeDocument/2006/relationships/slide" Target="slide27.xml"/><Relationship Id="rId11" Type="http://schemas.openxmlformats.org/officeDocument/2006/relationships/slide" Target="slide37.xml"/><Relationship Id="rId5" Type="http://schemas.openxmlformats.org/officeDocument/2006/relationships/slide" Target="slide26.xml"/><Relationship Id="rId15" Type="http://schemas.openxmlformats.org/officeDocument/2006/relationships/slide" Target="slide45.xml"/><Relationship Id="rId10" Type="http://schemas.openxmlformats.org/officeDocument/2006/relationships/slide" Target="slide35.xml"/><Relationship Id="rId4" Type="http://schemas.openxmlformats.org/officeDocument/2006/relationships/slide" Target="slide24.xml"/><Relationship Id="rId9" Type="http://schemas.openxmlformats.org/officeDocument/2006/relationships/slide" Target="slide33.xml"/><Relationship Id="rId14" Type="http://schemas.openxmlformats.org/officeDocument/2006/relationships/slide" Target="slide4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YTSlide_13_1_0.9_1.3_0.9_1.1__1_1_0_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/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4368" y="-434907"/>
            <a:ext cx="7614606" cy="7614606"/>
          </a:xfrm>
          <a:prstGeom prst="rect">
            <a:avLst/>
          </a:prstGeom>
        </p:spPr>
      </p:pic>
      <p:sp>
        <p:nvSpPr>
          <p:cNvPr id="23" name="矩形 22"/>
          <p:cNvSpPr/>
          <p:nvPr/>
        </p:nvSpPr>
        <p:spPr>
          <a:xfrm>
            <a:off x="0" y="2716370"/>
            <a:ext cx="12192000" cy="156931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79400" sx="99000" sy="99000" rotWithShape="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177119" y="1745951"/>
            <a:ext cx="9970638" cy="3437517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317500" dist="38100" dir="5400000" sx="101000" sy="101000" algn="t" rotWithShape="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9" name="TextBox 2"/>
          <p:cNvSpPr txBox="1"/>
          <p:nvPr/>
        </p:nvSpPr>
        <p:spPr>
          <a:xfrm>
            <a:off x="0" y="3026107"/>
            <a:ext cx="12192000" cy="78483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专题强化4　运动学图像</a:t>
            </a:r>
          </a:p>
        </p:txBody>
      </p:sp>
      <p:sp>
        <p:nvSpPr>
          <p:cNvPr id="7" name="TextBox 2"/>
          <p:cNvSpPr txBox="1"/>
          <p:nvPr/>
        </p:nvSpPr>
        <p:spPr>
          <a:xfrm>
            <a:off x="1306288" y="1901250"/>
            <a:ext cx="4693295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lvl="0" hangingPunct="0">
              <a:defRPr/>
            </a:pPr>
            <a:r>
              <a:rPr lang="zh-CN" altLang="en-US" sz="24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第二章    匀变速直线运动的研究</a:t>
            </a:r>
            <a:endParaRPr kumimoji="0" lang="zh-CN" altLang="en-US" sz="240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640748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doors dir="vert"/>
      </p:transition>
    </mc:Choice>
    <mc:Fallback xmlns:a14="http://schemas.microsoft.com/office/drawing/2010/main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45833E-6 -0.31666 L 1.45833E-6 -2.59259E-6 " pathEditMode="relative" rAng="0" ptsTypes="AA">
                                      <p:cBhvr>
                                        <p:cTn id="18" dur="1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583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750"/>
                            </p:stCondLst>
                            <p:childTnLst>
                              <p:par>
                                <p:cTn id="2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250"/>
                            </p:stCondLst>
                            <p:childTnLst>
                              <p:par>
                                <p:cTn id="2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6" grpId="0" animBg="1"/>
      <p:bldP spid="6" grpId="1" animBg="1"/>
      <p:bldP spid="9" grpId="0"/>
      <p:bldP spid="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66" name="yt_shape_12766"/>
          <p:cNvSpPr txBox="1"/>
          <p:nvPr/>
        </p:nvSpPr>
        <p:spPr>
          <a:xfrm>
            <a:off x="324000" y="467999"/>
            <a:ext cx="1436291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学习目标</a:t>
            </a:r>
          </a:p>
        </p:txBody>
      </p:sp>
      <p:graphicFrame>
        <p:nvGraphicFramePr>
          <p:cNvPr id="12767" name="yt_table_12767" title="H_148.32">
            <a:extLst>
              <a:ext uri="{FF2B5EF4-FFF2-40B4-BE49-F238E27FC236}">
                <a16:creationId xmlns:a16="http://schemas.microsoft.com/office/drawing/2014/main" id="{85F9CD91-DE56-4981-AD6D-3D4292DC4A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8291989"/>
              </p:ext>
            </p:extLst>
          </p:nvPr>
        </p:nvGraphicFramePr>
        <p:xfrm>
          <a:off x="324000" y="1203348"/>
          <a:ext cx="11543998" cy="188366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15439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67999">
                <a:tc>
                  <a:txBody>
                    <a:bodyPr/>
                    <a:lstStyle/>
                    <a:p>
                      <a:pPr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1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理解</a:t>
                      </a:r>
                      <a:r>
                        <a:rPr lang="en-US" altLang="zh-CN" sz="2800" b="0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x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-</a:t>
                      </a:r>
                      <a:r>
                        <a:rPr lang="en-US" altLang="zh-CN" sz="2800" b="0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t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图像和</a:t>
                      </a:r>
                      <a:r>
                        <a:rPr lang="en-US" altLang="zh-CN" sz="2800" b="0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v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-</a:t>
                      </a:r>
                      <a:r>
                        <a:rPr lang="en-US" altLang="zh-CN" sz="2800" b="0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t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图像的截距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、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斜率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、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交点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、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面积等的物理意义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。</a:t>
                      </a:r>
                    </a:p>
                    <a:p>
                      <a:pPr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2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会利用运动图像间的转换分析解决问题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。</a:t>
                      </a:r>
                    </a:p>
                    <a:p>
                      <a:pPr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3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能根据物理规律写出函数式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分析非常规图像问题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。</a:t>
                      </a:r>
                    </a:p>
                  </a:txBody>
                  <a:tcPr anchor="ctr">
                    <a:lnL w="9522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522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522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522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med">
        <p15:prstTrans prst="pageCurlDouble"/>
      </p:transition>
    </mc:Choice>
    <mc:Fallback xmlns:a16="http://schemas.microsoft.com/office/drawing/2014/main" xmlns:p14="http://schemas.microsoft.com/office/powerpoint/2010/main"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70" name="yt_shape_12770"/>
          <p:cNvSpPr txBox="1"/>
          <p:nvPr/>
        </p:nvSpPr>
        <p:spPr>
          <a:xfrm>
            <a:off x="5736927" y="1050984"/>
            <a:ext cx="718145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ctr" eaLnBrk="1" latinLnBrk="0" hangingPunct="0">
              <a:lnSpc>
                <a:spcPct val="140000"/>
              </a:lnSpc>
            </a:pPr>
            <a:r>
              <a:rPr lang="zh-CN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　</a:t>
            </a:r>
          </a:p>
        </p:txBody>
      </p:sp>
      <p:sp>
        <p:nvSpPr>
          <p:cNvPr id="12771" name="yt_shape_12771"/>
          <p:cNvSpPr txBox="1"/>
          <p:nvPr/>
        </p:nvSpPr>
        <p:spPr>
          <a:xfrm>
            <a:off x="324000" y="1633969"/>
            <a:ext cx="4398640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 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黑体" pitchFamily="28"/>
              </a:rPr>
              <a:t>应用运动图像的三点注意</a:t>
            </a:r>
          </a:p>
        </p:txBody>
      </p:sp>
      <p:sp>
        <p:nvSpPr>
          <p:cNvPr id="12772" name="yt_shape_12772"/>
          <p:cNvSpPr txBox="1"/>
          <p:nvPr/>
        </p:nvSpPr>
        <p:spPr>
          <a:xfrm>
            <a:off x="324000" y="2216954"/>
            <a:ext cx="8476679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无论是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x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-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t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图像还是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-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t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图像都只能描述直线运动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</a:p>
        </p:txBody>
      </p:sp>
      <p:sp>
        <p:nvSpPr>
          <p:cNvPr id="12773" name="yt_shape_12773"/>
          <p:cNvSpPr txBox="1"/>
          <p:nvPr/>
        </p:nvSpPr>
        <p:spPr>
          <a:xfrm>
            <a:off x="324000" y="2799939"/>
            <a:ext cx="7758534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x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-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t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图像和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-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t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图像都不表示物体运动的轨迹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</a:p>
        </p:txBody>
      </p:sp>
      <p:sp>
        <p:nvSpPr>
          <p:cNvPr id="12774" name="yt_shape_12774"/>
          <p:cNvSpPr txBox="1"/>
          <p:nvPr/>
        </p:nvSpPr>
        <p:spPr>
          <a:xfrm>
            <a:off x="324000" y="3382924"/>
            <a:ext cx="9351919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3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x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-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t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图像和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-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t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图像的形状由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x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与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t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、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与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t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的函数关系决定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med">
        <p15:prstTrans prst="pageCurlDouble"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75" name="yt_shape_12775"/>
          <p:cNvSpPr txBox="1"/>
          <p:nvPr/>
        </p:nvSpPr>
        <p:spPr>
          <a:xfrm>
            <a:off x="324000" y="467999"/>
            <a:ext cx="4078039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 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x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黑体" pitchFamily="28"/>
              </a:rPr>
              <a:t>-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t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黑体" pitchFamily="28"/>
              </a:rPr>
              <a:t>图像和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黑体" pitchFamily="28"/>
              </a:rPr>
              <a:t>-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t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黑体" pitchFamily="28"/>
              </a:rPr>
              <a:t>图像的对比</a:t>
            </a:r>
          </a:p>
        </p:txBody>
      </p:sp>
      <p:graphicFrame>
        <p:nvGraphicFramePr>
          <p:cNvPr id="12776" name="yt_table_12776" title="H_943.2">
            <a:extLst>
              <a:ext uri="{FF2B5EF4-FFF2-40B4-BE49-F238E27FC236}">
                <a16:creationId xmlns:a16="http://schemas.microsoft.com/office/drawing/2014/main" id="{85F9CD91-DE56-4981-AD6D-3D4292DC4A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2710473"/>
              </p:ext>
            </p:extLst>
          </p:nvPr>
        </p:nvGraphicFramePr>
        <p:xfrm>
          <a:off x="324000" y="1203349"/>
          <a:ext cx="11543998" cy="5132832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6010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039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390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969008">
                <a:tc>
                  <a:txBody>
                    <a:bodyPr/>
                    <a:lstStyle/>
                    <a:p>
                      <a:pPr algn="ctr" eaLnBrk="1" fontAlgn="ctr" latinLnBrk="0" hangingPunct="0">
                        <a:lnSpc>
                          <a:spcPct val="140000"/>
                        </a:lnSpc>
                      </a:pP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  <a:sym typeface="_⨹_1_b7dbf"/>
                        </a:rPr>
                        <a:t>比</a:t>
                      </a:r>
                      <a:b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</a:b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较</a:t>
                      </a:r>
                    </a:p>
                    <a:p>
                      <a:pPr algn="ctr" eaLnBrk="1" fontAlgn="ctr" latinLnBrk="0" hangingPunct="0">
                        <a:lnSpc>
                          <a:spcPct val="140000"/>
                        </a:lnSpc>
                      </a:pP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  <a:sym typeface="_⨹_1_45e40"/>
                        </a:rPr>
                        <a:t>项</a:t>
                      </a:r>
                      <a:b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</a:b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目</a:t>
                      </a:r>
                    </a:p>
                  </a:txBody>
                  <a:tcPr anchor="ctr">
                    <a:lnL w="9522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522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522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522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x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-</a:t>
                      </a:r>
                      <a:r>
                        <a:rPr lang="en-US" altLang="zh-CN" sz="2800" b="0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t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图像</a:t>
                      </a:r>
                    </a:p>
                  </a:txBody>
                  <a:tcPr anchor="ctr">
                    <a:lnL w="9522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522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522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522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v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-</a:t>
                      </a:r>
                      <a:r>
                        <a:rPr lang="en-US" altLang="zh-CN" sz="2800" b="0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t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图像</a:t>
                      </a:r>
                    </a:p>
                  </a:txBody>
                  <a:tcPr anchor="ctr">
                    <a:lnL w="9522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522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522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522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03120">
                <a:tc>
                  <a:txBody>
                    <a:bodyPr/>
                    <a:lstStyle/>
                    <a:p>
                      <a:pPr algn="ctr" eaLnBrk="1" fontAlgn="ctr" latinLnBrk="0" hangingPunct="0">
                        <a:lnSpc>
                          <a:spcPct val="140000"/>
                        </a:lnSpc>
                      </a:pP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  <a:sym typeface="_⨹_1_b0b7b"/>
                        </a:rPr>
                        <a:t>运</a:t>
                      </a:r>
                      <a:b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</a:b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动</a:t>
                      </a:r>
                    </a:p>
                    <a:p>
                      <a:pPr algn="ctr" eaLnBrk="1" fontAlgn="ctr" latinLnBrk="0" hangingPunct="0">
                        <a:lnSpc>
                          <a:spcPct val="140000"/>
                        </a:lnSpc>
                      </a:pP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  <a:sym typeface="_⨹_1_8c703"/>
                        </a:rPr>
                        <a:t>描</a:t>
                      </a:r>
                      <a:b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</a:b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述</a:t>
                      </a:r>
                    </a:p>
                  </a:txBody>
                  <a:tcPr anchor="ctr">
                    <a:lnL w="9522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522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522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522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9200" b="0" i="0" u="none">
                          <a:solidFill>
                            <a:srgbClr val="1EE3CF"/>
                          </a:solidFill>
                          <a:effectLst/>
                          <a:latin typeface="Times New Roman" pitchFamily="92"/>
                          <a:ea typeface="Times New Roman" pitchFamily="92"/>
                          <a:sym typeface="Finished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1EE3CF"/>
                          </a:solidFill>
                          <a:effectLst/>
                          <a:latin typeface="Times New Roman" pitchFamily="28"/>
                          <a:ea typeface="宋体" pitchFamily="28"/>
                          <a:sym typeface="_⨹_27_5c0b7"/>
                        </a:rPr>
                        <a:t>                           </a:t>
                      </a:r>
                      <a:br>
                        <a:rPr lang="en-US" altLang="zh-CN" sz="2800" b="0" i="0" u="none">
                          <a:solidFill>
                            <a:srgbClr val="1EE3CF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</a:br>
                      <a:r>
                        <a:rPr lang="en-US" altLang="zh-CN" sz="2800" b="0" i="0" u="none">
                          <a:solidFill>
                            <a:srgbClr val="1EE3CF"/>
                          </a:solidFill>
                          <a:effectLst/>
                          <a:latin typeface="Times New Roman" pitchFamily="28"/>
                          <a:ea typeface="宋体" pitchFamily="28"/>
                          <a:sym typeface="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1EE3CF"/>
                          </a:solidFill>
                          <a:effectLst/>
                          <a:latin typeface="Times New Roman" pitchFamily="28"/>
                          <a:ea typeface="宋体" pitchFamily="28"/>
                          <a:sym typeface="{&quot;placeHolderSpace&quot;:&quot;1&quot;}"/>
                        </a:rPr>
                        <a:t> </a:t>
                      </a:r>
                      <a:r>
                        <a:rPr lang="en-US" altLang="zh-CN" sz="1200" b="0" i="0" u="none">
                          <a:solidFill>
                            <a:srgbClr val="1EE3CF"/>
                          </a:solidFill>
                          <a:effectLst/>
                          <a:latin typeface="Times New Roman" pitchFamily="12"/>
                          <a:ea typeface="宋体" pitchFamily="12"/>
                          <a:sym typeface="{&quot;placeHolderSpace&quot;:&quot;1&quot;}"/>
                        </a:rPr>
                        <a:t> </a:t>
                      </a:r>
                    </a:p>
                  </a:txBody>
                  <a:tcPr anchor="ctr">
                    <a:lnL w="9522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522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522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522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9150" b="0" i="0" u="none">
                          <a:solidFill>
                            <a:srgbClr val="1EE3CF"/>
                          </a:solidFill>
                          <a:effectLst/>
                          <a:latin typeface="Times New Roman" pitchFamily="92"/>
                          <a:ea typeface="Times New Roman" pitchFamily="92"/>
                          <a:sym typeface="Finished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1EE3CF"/>
                          </a:solidFill>
                          <a:effectLst/>
                          <a:latin typeface="Times New Roman" pitchFamily="28"/>
                          <a:ea typeface="宋体" pitchFamily="28"/>
                          <a:sym typeface=""/>
                        </a:rPr>
                        <a:t>                          </a:t>
                      </a:r>
                      <a:r>
                        <a:rPr lang="en-US" altLang="zh-CN" sz="800" b="0" i="0" u="none">
                          <a:solidFill>
                            <a:srgbClr val="1EE3CF"/>
                          </a:solidFill>
                          <a:effectLst/>
                          <a:latin typeface="Times New Roman" pitchFamily="8"/>
                          <a:ea typeface="宋体" pitchFamily="8"/>
                          <a:sym typeface=""/>
                        </a:rPr>
                        <a:t> </a:t>
                      </a:r>
                    </a:p>
                  </a:txBody>
                  <a:tcPr anchor="ctr">
                    <a:lnL w="9522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522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522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522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3" name="yt_shape_1787190839784">
            <a:extLst>
              <a:ext uri="{FF2B5EF4-FFF2-40B4-BE49-F238E27FC236}">
                <a16:creationId xmlns:a16="http://schemas.microsoft.com/office/drawing/2014/main" id="{FF14E503-A77B-5473-3900-27A2A69A38B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5865" y="4322701"/>
            <a:ext cx="2400772" cy="1375199"/>
          </a:xfrm>
          <a:prstGeom prst="rect">
            <a:avLst/>
          </a:prstGeom>
        </p:spPr>
      </p:pic>
      <p:pic>
        <p:nvPicPr>
          <p:cNvPr id="5" name="yt_shape_1787190839854">
            <a:extLst>
              <a:ext uri="{FF2B5EF4-FFF2-40B4-BE49-F238E27FC236}">
                <a16:creationId xmlns:a16="http://schemas.microsoft.com/office/drawing/2014/main" id="{4E63BB55-55BA-D5E6-D0C2-86FD47C2B05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9273" y="4322701"/>
            <a:ext cx="2627502" cy="164004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med">
        <p15:prstTrans prst="pageCurlDouble"/>
      </p:transition>
    </mc:Choice>
    <mc:Fallback xmlns:a14="http://schemas.microsoft.com/office/drawing/2010/main" xmlns:a16="http://schemas.microsoft.com/office/drawing/2014/main" xmlns:p14="http://schemas.microsoft.com/office/powerpoint/2010/main"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7405118"/>
              </p:ext>
            </p:extLst>
          </p:nvPr>
        </p:nvGraphicFramePr>
        <p:xfrm>
          <a:off x="474306" y="855242"/>
          <a:ext cx="11226282" cy="5610051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84479">
                  <a:extLst>
                    <a:ext uri="{9D8B030D-6E8A-4147-A177-3AD203B41FA5}">
                      <a16:colId xmlns:a16="http://schemas.microsoft.com/office/drawing/2014/main" val="998007846"/>
                    </a:ext>
                  </a:extLst>
                </a:gridCol>
                <a:gridCol w="4671760">
                  <a:extLst>
                    <a:ext uri="{9D8B030D-6E8A-4147-A177-3AD203B41FA5}">
                      <a16:colId xmlns:a16="http://schemas.microsoft.com/office/drawing/2014/main" val="1436066836"/>
                    </a:ext>
                  </a:extLst>
                </a:gridCol>
                <a:gridCol w="5970043">
                  <a:extLst>
                    <a:ext uri="{9D8B030D-6E8A-4147-A177-3AD203B41FA5}">
                      <a16:colId xmlns:a16="http://schemas.microsoft.com/office/drawing/2014/main" val="2979662153"/>
                    </a:ext>
                  </a:extLst>
                </a:gridCol>
              </a:tblGrid>
              <a:tr h="1289029">
                <a:tc>
                  <a:txBody>
                    <a:bodyPr/>
                    <a:lstStyle/>
                    <a:p>
                      <a:pPr algn="ctr" eaLnBrk="1" fontAlgn="ctr" latinLnBrk="0" hangingPunct="0">
                        <a:lnSpc>
                          <a:spcPct val="100000"/>
                        </a:lnSpc>
                      </a:pP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  <a:sym typeface="_⨹_1_03662"/>
                        </a:rPr>
                        <a:t>交</a:t>
                      </a:r>
                      <a:b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</a:b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点</a:t>
                      </a:r>
                    </a:p>
                  </a:txBody>
                  <a:tcPr anchor="ctr">
                    <a:lnL w="9522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522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522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522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 eaLnBrk="1" fontAlgn="ctr" latinLnBrk="0" hangingPunct="0">
                        <a:lnSpc>
                          <a:spcPct val="100000"/>
                        </a:lnSpc>
                      </a:pP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  <a:sym typeface="_⨹_6_769e2"/>
                        </a:rPr>
                        <a:t>两条图线的交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  <a:sym typeface="_⨹_6_d1cff"/>
                        </a:rPr>
                        <a:t>点表示两个物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体该时刻相遇</a:t>
                      </a:r>
                    </a:p>
                  </a:txBody>
                  <a:tcPr anchor="ctr">
                    <a:lnL w="9522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522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522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522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 eaLnBrk="1" fontAlgn="ctr" latinLnBrk="0" hangingPunct="0">
                        <a:lnSpc>
                          <a:spcPct val="100000"/>
                        </a:lnSpc>
                      </a:pP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两条图线的交点表示两个物体此刻速度相等</a:t>
                      </a:r>
                    </a:p>
                  </a:txBody>
                  <a:tcPr anchor="ctr">
                    <a:lnL w="9522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522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522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522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9910630"/>
                  </a:ext>
                </a:extLst>
              </a:tr>
              <a:tr h="2095982">
                <a:tc>
                  <a:txBody>
                    <a:bodyPr/>
                    <a:lstStyle/>
                    <a:p>
                      <a:pPr algn="ctr" eaLnBrk="1" fontAlgn="ctr" latinLnBrk="0" hangingPunct="0">
                        <a:lnSpc>
                          <a:spcPct val="100000"/>
                        </a:lnSpc>
                      </a:pP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  <a:sym typeface="_⨹_1_d8b46"/>
                        </a:rPr>
                        <a:t>斜</a:t>
                      </a:r>
                      <a:b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</a:b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率</a:t>
                      </a:r>
                    </a:p>
                  </a:txBody>
                  <a:tcPr anchor="ctr">
                    <a:lnL w="9522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522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522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522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 eaLnBrk="1" fontAlgn="ctr" latinLnBrk="0" hangingPunct="0">
                        <a:lnSpc>
                          <a:spcPct val="100000"/>
                        </a:lnSpc>
                      </a:pP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描述速度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  <a:sym typeface="_⨹_1_b2673"/>
                        </a:rPr>
                        <a:t>斜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  <a:sym typeface="_⨹_6_b5d44"/>
                        </a:rPr>
                        <a:t>率的大小表示</a:t>
                      </a:r>
                      <a:b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</a:b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速度的大小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  <a:sym typeface="_⨹_1_44e9d"/>
                        </a:rPr>
                        <a:t>，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  <a:sym typeface="_⨹_6_89ef5"/>
                        </a:rPr>
                        <a:t>斜率的正负表</a:t>
                      </a:r>
                      <a:b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</a:b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示速度的方向</a:t>
                      </a:r>
                    </a:p>
                  </a:txBody>
                  <a:tcPr anchor="ctr">
                    <a:lnL w="9522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522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522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522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 eaLnBrk="1" fontAlgn="ctr" latinLnBrk="0" hangingPunct="0">
                        <a:lnSpc>
                          <a:spcPct val="100000"/>
                        </a:lnSpc>
                      </a:pP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描述加速度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斜率的大小表示加速度的大小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  <a:sym typeface="_⨹_3_8a64a"/>
                        </a:rPr>
                        <a:t>斜率的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正负表示加速度的方向</a:t>
                      </a:r>
                    </a:p>
                  </a:txBody>
                  <a:tcPr anchor="ctr">
                    <a:lnL w="9522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522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522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522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8638405"/>
                  </a:ext>
                </a:extLst>
              </a:tr>
              <a:tr h="2029919">
                <a:tc>
                  <a:txBody>
                    <a:bodyPr/>
                    <a:lstStyle/>
                    <a:p>
                      <a:pPr algn="ctr" eaLnBrk="1" fontAlgn="ctr" latinLnBrk="0" hangingPunct="0">
                        <a:lnSpc>
                          <a:spcPct val="100000"/>
                        </a:lnSpc>
                      </a:pP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  <a:sym typeface="_⨹_1_1ed01"/>
                        </a:rPr>
                        <a:t>面</a:t>
                      </a:r>
                      <a:b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</a:b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积</a:t>
                      </a:r>
                    </a:p>
                  </a:txBody>
                  <a:tcPr anchor="ctr">
                    <a:lnL w="9522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522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522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522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ctr" eaLnBrk="1" fontAlgn="ctr" latinLnBrk="0" hangingPunct="0">
                        <a:lnSpc>
                          <a:spcPct val="100000"/>
                        </a:lnSpc>
                      </a:pP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无实际意义</a:t>
                      </a:r>
                    </a:p>
                  </a:txBody>
                  <a:tcPr anchor="ctr">
                    <a:lnL w="9522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522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522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522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/>
                    <a:lstStyle/>
                    <a:p>
                      <a:pPr algn="l" eaLnBrk="1" fontAlgn="ctr" latinLnBrk="0" hangingPunct="0">
                        <a:lnSpc>
                          <a:spcPct val="100000"/>
                        </a:lnSpc>
                      </a:pP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表示对应时间内的位移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。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  <a:sym typeface="_⨹_12_e16f6"/>
                        </a:rPr>
                        <a:t>图线在时间轴上方表示位移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为正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图线在时间轴下方表示位移为负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。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  <a:sym typeface="_⨹_5_71f14"/>
                        </a:rPr>
                        <a:t>若图线与时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间轴有交叉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总位移为上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、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下面积的代数和</a:t>
                      </a:r>
                    </a:p>
                  </a:txBody>
                  <a:tcPr anchor="ctr">
                    <a:lnL w="9522" cap="flat" cmpd="sng" algn="ctr">
                      <a:solidFill>
                        <a:srgbClr val="000000"/>
                      </a:solidFill>
                      <a:prstDash val="solid"/>
                      <a:round/>
                    </a:lnL>
                    <a:lnR w="9522" cap="flat" cmpd="sng" algn="ctr">
                      <a:solidFill>
                        <a:srgbClr val="000000"/>
                      </a:solidFill>
                      <a:prstDash val="solid"/>
                      <a:round/>
                    </a:lnR>
                    <a:lnT w="9522" cap="flat" cmpd="sng" algn="ctr">
                      <a:solidFill>
                        <a:srgbClr val="000000"/>
                      </a:solidFill>
                      <a:prstDash val="solid"/>
                      <a:round/>
                    </a:lnT>
                    <a:lnB w="9522" cap="flat" cmpd="sng" algn="ctr">
                      <a:solidFill>
                        <a:srgbClr val="000000"/>
                      </a:solidFill>
                      <a:prstDash val="solid"/>
                      <a:round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67352665"/>
                  </a:ext>
                </a:extLst>
              </a:tr>
            </a:tbl>
          </a:graphicData>
        </a:graphic>
      </p:graphicFrame>
      <p:sp>
        <p:nvSpPr>
          <p:cNvPr id="3" name="矩形 2"/>
          <p:cNvSpPr/>
          <p:nvPr/>
        </p:nvSpPr>
        <p:spPr>
          <a:xfrm>
            <a:off x="10849073" y="362799"/>
            <a:ext cx="851515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600"/>
              <a:t>续表</a:t>
            </a:r>
            <a:endParaRPr lang="zh-CN" altLang="en-US" sz="2600" dirty="0"/>
          </a:p>
        </p:txBody>
      </p:sp>
    </p:spTree>
    <p:extLst>
      <p:ext uri="{BB962C8B-B14F-4D97-AF65-F5344CB8AC3E}">
        <p14:creationId xmlns:p14="http://schemas.microsoft.com/office/powerpoint/2010/main" val="312335410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:p14="http://schemas.microsoft.com/office/powerpoint/2010/main" xmlns:a16="http://schemas.microsoft.com/office/drawing/2014/main"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78" name="yt_shape_12778"/>
          <p:cNvSpPr txBox="1"/>
          <p:nvPr/>
        </p:nvSpPr>
        <p:spPr>
          <a:xfrm>
            <a:off x="324071" y="467999"/>
            <a:ext cx="11924914" cy="113543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黑体" pitchFamily="28"/>
              </a:rPr>
              <a:t>【例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黑体" pitchFamily="28"/>
              </a:rPr>
              <a:t>】</a:t>
            </a:r>
            <a:r>
              <a:rPr lang="zh-CN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x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-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t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图像的应用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）（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2026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·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浙江宁波期中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甲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、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7_9faf3"/>
              </a:rPr>
              <a:t>乙两物体做直线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运动的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x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-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t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图像如图所示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下列说法正确的是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</a:t>
            </a:r>
            <a:r>
              <a:rPr lang="en-US" altLang="zh-CN" sz="2800" b="0" i="0" u="none">
                <a:solidFill>
                  <a:srgbClr val="C00000">
                    <a:alpha val="0"/>
                  </a:srgbClr>
                </a:solidFill>
                <a:effectLst/>
                <a:latin typeface="Times New Roman" pitchFamily="28"/>
                <a:ea typeface="宋体" pitchFamily="28"/>
              </a:rPr>
              <a:t>C</a:t>
            </a:r>
            <a:r>
              <a:rPr lang="zh-CN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</a:p>
        </p:txBody>
      </p:sp>
      <p:pic>
        <p:nvPicPr>
          <p:cNvPr id="12779" name="yt_image_12779">
            <a:extLst>
              <a:ext uri="">
                <a16:creationId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a16="http://schemas.microsoft.com/office/drawing/2014/main" xmlns="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32109" y="1806590"/>
            <a:ext cx="2927781" cy="24063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2781" name="yt_table_12781" title="H_188.16">
            <a:extLst>
              <a:ext uri="{FF2B5EF4-FFF2-40B4-BE49-F238E27FC236}">
                <a16:creationId xmlns:a16="http://schemas.microsoft.com/office/drawing/2014/main" id="{85F9CD91-DE56-4981-AD6D-3D4292DC4A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4023021"/>
              </p:ext>
            </p:extLst>
          </p:nvPr>
        </p:nvGraphicFramePr>
        <p:xfrm>
          <a:off x="324066" y="4263243"/>
          <a:ext cx="9655175" cy="2389632"/>
        </p:xfrm>
        <a:graphic>
          <a:graphicData uri="http://schemas.openxmlformats.org/drawingml/2006/table">
            <a:tbl>
              <a:tblPr/>
              <a:tblGrid>
                <a:gridCol w="9655175">
                  <a:extLst>
                    <a:ext uri="{9D8B030D-6E8A-4147-A177-3AD203B41FA5}">
                      <a16:colId xmlns:a16="http://schemas.microsoft.com/office/drawing/2014/main" val="102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A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t</a:t>
                      </a:r>
                      <a:r>
                        <a:rPr lang="en-US" altLang="zh-CN" sz="2800" b="0" i="0" u="none" baseline="-2500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1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时刻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甲从后面追上乙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03492" indent="-503492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B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t</a:t>
                      </a:r>
                      <a:r>
                        <a:rPr lang="en-US" altLang="zh-CN" sz="2800" b="0" i="0" u="none" baseline="-2500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1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时刻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甲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、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乙的瞬时速度相等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03492" indent="-503492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C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0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～</a:t>
                      </a:r>
                      <a:r>
                        <a:rPr lang="en-US" altLang="zh-CN" sz="2800" b="0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t</a:t>
                      </a:r>
                      <a:r>
                        <a:rPr lang="en-US" altLang="zh-CN" sz="2800" b="0" i="0" u="none" baseline="-2500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1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时间内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甲的平均速度等于乙的平均速度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D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甲做匀加速直线运动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乙做加速度逐渐增大的加速运动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80"/>
                  </a:ext>
                </a:extLst>
              </a:tr>
            </a:tbl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id="{D8AFB920-9FA1-4E95-AE2D-F19F0BDE6791}"/>
              </a:ext>
            </a:extLst>
          </p:cNvPr>
          <p:cNvSpPr/>
          <p:nvPr/>
        </p:nvSpPr>
        <p:spPr>
          <a:xfrm>
            <a:off x="112238" y="5532423"/>
            <a:ext cx="761669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500" b="1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√</a:t>
            </a:r>
            <a:endParaRPr lang="zh-CN" altLang="en-US" sz="4500" b="1" dirty="0">
              <a:solidFill>
                <a:srgbClr val="C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med">
        <p15:prstTrans prst="pageCurlDouble"/>
      </p:transition>
    </mc:Choice>
    <mc:Fallback xmlns:a16="http://schemas.microsoft.com/office/drawing/2014/main" xmlns:a14="http://schemas.microsoft.com/office/drawing/2010/main" xmlns:p14="http://schemas.microsoft.com/office/powerpoint/2010/main"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2783" name="yt_shape_12783"/>
              <p:cNvSpPr txBox="1"/>
              <p:nvPr/>
            </p:nvSpPr>
            <p:spPr>
              <a:xfrm>
                <a:off x="324071" y="468000"/>
                <a:ext cx="11924914" cy="3149004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>
                    <a:solidFill>
                      <a:srgbClr val="0000FF">
                        <a:alpha val="0"/>
                      </a:srgbClr>
                    </a:solidFill>
                    <a:effectLst/>
                    <a:latin typeface="Times New Roman" pitchFamily="28"/>
                    <a:ea typeface="黑体" pitchFamily="28"/>
                  </a:rPr>
                  <a:t>解析：</a:t>
                </a:r>
                <a:r>
                  <a:rPr lang="zh-CN" altLang="zh-CN" sz="2800" b="0" i="0" u="none">
                    <a:solidFill>
                      <a:srgbClr val="C00000">
                        <a:alpha val="0"/>
                      </a:srgbClr>
                    </a:solidFill>
                    <a:effectLst/>
                    <a:latin typeface="Times New Roman" pitchFamily="28"/>
                    <a:ea typeface="仿宋" pitchFamily="28"/>
                  </a:rPr>
                  <a:t>由图像可知</a:t>
                </a:r>
                <a:r>
                  <a:rPr lang="zh-CN" altLang="zh-CN" sz="2800" b="0" i="0" u="none">
                    <a:solidFill>
                      <a:srgbClr val="C00000">
                        <a:alpha val="0"/>
                      </a:srgbClr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0" i="1" u="none">
                    <a:solidFill>
                      <a:srgbClr val="C00000">
                        <a:alpha val="0"/>
                      </a:srgbClr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en-US" altLang="zh-CN" sz="1867" b="0" i="0" u="none">
                    <a:solidFill>
                      <a:srgbClr val="C00000">
                        <a:alpha val="0"/>
                      </a:srgbClr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0" i="0" u="none">
                    <a:solidFill>
                      <a:srgbClr val="C00000">
                        <a:alpha val="0"/>
                      </a:srgbClr>
                    </a:solidFill>
                    <a:effectLst/>
                    <a:latin typeface="Times New Roman" pitchFamily="28"/>
                    <a:ea typeface="仿宋" pitchFamily="28"/>
                  </a:rPr>
                  <a:t>时刻</a:t>
                </a:r>
                <a:r>
                  <a:rPr lang="zh-CN" altLang="zh-CN" sz="2800" b="0" i="0" u="none">
                    <a:solidFill>
                      <a:srgbClr val="C00000">
                        <a:alpha val="0"/>
                      </a:srgbClr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>
                        <a:alpha val="0"/>
                      </a:srgbClr>
                    </a:solidFill>
                    <a:effectLst/>
                    <a:latin typeface="Times New Roman" pitchFamily="28"/>
                    <a:ea typeface="仿宋" pitchFamily="28"/>
                  </a:rPr>
                  <a:t>乙从后面追上甲</a:t>
                </a:r>
                <a:r>
                  <a:rPr lang="zh-CN" altLang="zh-CN" sz="2800" b="0" i="0" u="none">
                    <a:solidFill>
                      <a:srgbClr val="C00000">
                        <a:alpha val="0"/>
                      </a:srgbClr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>
                        <a:alpha val="0"/>
                      </a:srgbClr>
                    </a:solidFill>
                    <a:effectLst/>
                    <a:latin typeface="Times New Roman" pitchFamily="28"/>
                    <a:ea typeface="仿宋" pitchFamily="28"/>
                  </a:rPr>
                  <a:t>选项</a:t>
                </a:r>
                <a:r>
                  <a:rPr lang="en-US" altLang="zh-CN" sz="2800" b="0" i="0" u="none">
                    <a:solidFill>
                      <a:srgbClr val="C00000">
                        <a:alpha val="0"/>
                      </a:srgbClr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>
                    <a:solidFill>
                      <a:srgbClr val="C00000">
                        <a:alpha val="0"/>
                      </a:srgbClr>
                    </a:solidFill>
                    <a:effectLst/>
                    <a:latin typeface="Times New Roman" pitchFamily="28"/>
                    <a:ea typeface="仿宋" pitchFamily="28"/>
                  </a:rPr>
                  <a:t>错误</a:t>
                </a:r>
                <a:r>
                  <a:rPr lang="zh-CN" altLang="zh-CN" sz="2800" b="0" i="0" u="none">
                    <a:solidFill>
                      <a:srgbClr val="C00000">
                        <a:alpha val="0"/>
                      </a:srgbClr>
                    </a:solidFill>
                    <a:effectLst/>
                    <a:latin typeface="宋体" pitchFamily="28"/>
                    <a:ea typeface="宋体" pitchFamily="28"/>
                  </a:rPr>
                  <a:t>；</a:t>
                </a:r>
                <a:r>
                  <a:rPr lang="zh-CN" altLang="zh-CN" sz="2800" b="0" i="0" u="none">
                    <a:solidFill>
                      <a:srgbClr val="C00000">
                        <a:alpha val="0"/>
                      </a:srgbClr>
                    </a:solidFill>
                    <a:effectLst/>
                    <a:latin typeface="Times New Roman" pitchFamily="28"/>
                    <a:ea typeface="仿宋" pitchFamily="28"/>
                    <a:sym typeface="_⨹_6_e6279"/>
                  </a:rPr>
                  <a:t>因图像的斜率</a:t>
                </a:r>
                <a:br>
                  <a:rPr lang="zh-CN" altLang="zh-CN" sz="2800" b="0" i="0" u="none">
                    <a:solidFill>
                      <a:srgbClr val="C00000">
                        <a:alpha val="0"/>
                      </a:srgbClr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>
                    <a:solidFill>
                      <a:srgbClr val="C00000">
                        <a:alpha val="0"/>
                      </a:srgbClr>
                    </a:solidFill>
                    <a:effectLst/>
                    <a:latin typeface="Times New Roman" pitchFamily="28"/>
                    <a:ea typeface="仿宋" pitchFamily="28"/>
                  </a:rPr>
                  <a:t>等于速度</a:t>
                </a:r>
                <a:r>
                  <a:rPr lang="zh-CN" altLang="zh-CN" sz="2800" b="0" i="0" u="none">
                    <a:solidFill>
                      <a:srgbClr val="C00000">
                        <a:alpha val="0"/>
                      </a:srgbClr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>
                        <a:alpha val="0"/>
                      </a:srgbClr>
                    </a:solidFill>
                    <a:effectLst/>
                    <a:latin typeface="Times New Roman" pitchFamily="28"/>
                    <a:ea typeface="仿宋" pitchFamily="28"/>
                  </a:rPr>
                  <a:t>可知</a:t>
                </a:r>
                <a:r>
                  <a:rPr lang="en-US" altLang="zh-CN" sz="2800" b="0" i="1" u="none">
                    <a:solidFill>
                      <a:srgbClr val="C00000">
                        <a:alpha val="0"/>
                      </a:srgbClr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en-US" altLang="zh-CN" sz="1867" b="0" i="0" u="none">
                    <a:solidFill>
                      <a:srgbClr val="C00000">
                        <a:alpha val="0"/>
                      </a:srgbClr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0" i="0" u="none">
                    <a:solidFill>
                      <a:srgbClr val="C00000">
                        <a:alpha val="0"/>
                      </a:srgbClr>
                    </a:solidFill>
                    <a:effectLst/>
                    <a:latin typeface="Times New Roman" pitchFamily="28"/>
                    <a:ea typeface="仿宋" pitchFamily="28"/>
                  </a:rPr>
                  <a:t>时刻</a:t>
                </a:r>
                <a:r>
                  <a:rPr lang="zh-CN" altLang="zh-CN" sz="2800" b="0" i="0" u="none">
                    <a:solidFill>
                      <a:srgbClr val="C00000">
                        <a:alpha val="0"/>
                      </a:srgbClr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>
                        <a:alpha val="0"/>
                      </a:srgbClr>
                    </a:solidFill>
                    <a:effectLst/>
                    <a:latin typeface="Times New Roman" pitchFamily="28"/>
                    <a:ea typeface="仿宋" pitchFamily="28"/>
                  </a:rPr>
                  <a:t>甲的瞬时速度小于乙的瞬时速度</a:t>
                </a:r>
                <a:r>
                  <a:rPr lang="zh-CN" altLang="zh-CN" sz="2800" b="0" i="0" u="none">
                    <a:solidFill>
                      <a:srgbClr val="C00000">
                        <a:alpha val="0"/>
                      </a:srgbClr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>
                        <a:alpha val="0"/>
                      </a:srgbClr>
                    </a:solidFill>
                    <a:effectLst/>
                    <a:latin typeface="Times New Roman" pitchFamily="28"/>
                    <a:ea typeface="仿宋" pitchFamily="28"/>
                  </a:rPr>
                  <a:t>选项</a:t>
                </a:r>
                <a:r>
                  <a:rPr lang="en-US" altLang="zh-CN" sz="2800" b="0" i="0" u="none">
                    <a:solidFill>
                      <a:srgbClr val="C00000">
                        <a:alpha val="0"/>
                      </a:srgbClr>
                    </a:solidFill>
                    <a:effectLst/>
                    <a:latin typeface="Times New Roman" pitchFamily="28"/>
                    <a:ea typeface="宋体" pitchFamily="28"/>
                  </a:rPr>
                  <a:t>B</a:t>
                </a:r>
                <a:r>
                  <a:rPr lang="zh-CN" altLang="zh-CN" sz="2800" b="0" i="0" u="none">
                    <a:solidFill>
                      <a:srgbClr val="C00000">
                        <a:alpha val="0"/>
                      </a:srgbClr>
                    </a:solidFill>
                    <a:effectLst/>
                    <a:latin typeface="Times New Roman" pitchFamily="28"/>
                    <a:ea typeface="仿宋" pitchFamily="28"/>
                  </a:rPr>
                  <a:t>错误</a:t>
                </a:r>
                <a:r>
                  <a:rPr lang="zh-CN" altLang="zh-CN" sz="2800" b="0" i="0" u="none">
                    <a:solidFill>
                      <a:srgbClr val="C00000">
                        <a:alpha val="0"/>
                      </a:srgbClr>
                    </a:solidFill>
                    <a:effectLst/>
                    <a:latin typeface="宋体" pitchFamily="28"/>
                    <a:ea typeface="宋体" pitchFamily="28"/>
                    <a:sym typeface="_⨹_1_72caf"/>
                  </a:rPr>
                  <a:t>；</a:t>
                </a:r>
                <a:br>
                  <a:rPr lang="zh-CN" altLang="zh-CN" sz="2800" b="0" i="0" u="none">
                    <a:solidFill>
                      <a:srgbClr val="C00000">
                        <a:alpha val="0"/>
                      </a:srgbClr>
                    </a:solidFill>
                    <a:effectLst/>
                    <a:latin typeface="宋体" pitchFamily="28"/>
                    <a:ea typeface="宋体" pitchFamily="28"/>
                  </a:rPr>
                </a:br>
                <a:r>
                  <a:rPr lang="en-US" altLang="zh-CN" sz="2800" b="0" i="0" u="none">
                    <a:solidFill>
                      <a:srgbClr val="C00000">
                        <a:alpha val="0"/>
                      </a:srgbClr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zh-CN" altLang="zh-CN" sz="2800" b="0" i="0" u="none">
                    <a:solidFill>
                      <a:srgbClr val="C00000">
                        <a:alpha val="0"/>
                      </a:srgbClr>
                    </a:solidFill>
                    <a:effectLst/>
                    <a:latin typeface="宋体" pitchFamily="28"/>
                    <a:ea typeface="宋体" pitchFamily="28"/>
                  </a:rPr>
                  <a:t>～</a:t>
                </a:r>
                <a:r>
                  <a:rPr lang="en-US" altLang="zh-CN" sz="2800" b="0" i="1" u="none">
                    <a:solidFill>
                      <a:srgbClr val="C00000">
                        <a:alpha val="0"/>
                      </a:srgbClr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en-US" altLang="zh-CN" sz="1867" b="0" i="0" u="none">
                    <a:solidFill>
                      <a:srgbClr val="C00000">
                        <a:alpha val="0"/>
                      </a:srgbClr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0" i="0" u="none">
                    <a:solidFill>
                      <a:srgbClr val="C00000">
                        <a:alpha val="0"/>
                      </a:srgbClr>
                    </a:solidFill>
                    <a:effectLst/>
                    <a:latin typeface="Times New Roman" pitchFamily="28"/>
                    <a:ea typeface="仿宋" pitchFamily="28"/>
                  </a:rPr>
                  <a:t>时间内</a:t>
                </a:r>
                <a:r>
                  <a:rPr lang="zh-CN" altLang="zh-CN" sz="2800" b="0" i="0" u="none">
                    <a:solidFill>
                      <a:srgbClr val="C00000">
                        <a:alpha val="0"/>
                      </a:srgbClr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>
                        <a:alpha val="0"/>
                      </a:srgbClr>
                    </a:solidFill>
                    <a:effectLst/>
                    <a:latin typeface="Times New Roman" pitchFamily="28"/>
                    <a:ea typeface="仿宋" pitchFamily="28"/>
                  </a:rPr>
                  <a:t>甲、乙的位移相等</a:t>
                </a:r>
                <a:r>
                  <a:rPr lang="zh-CN" altLang="zh-CN" sz="2800" b="0" i="0" u="none">
                    <a:solidFill>
                      <a:srgbClr val="C00000">
                        <a:alpha val="0"/>
                      </a:srgbClr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>
                        <a:alpha val="0"/>
                      </a:srgbClr>
                    </a:solidFill>
                    <a:effectLst/>
                    <a:latin typeface="Times New Roman" pitchFamily="28"/>
                    <a:ea typeface="仿宋" pitchFamily="28"/>
                  </a:rPr>
                  <a:t>则根据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zh-CN" sz="2800" b="0" i="1" smtClean="0">
                            <a:solidFill>
                              <a:srgbClr val="C00000">
                                <a:alpha val="0"/>
                              </a:srgbClr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barPr>
                      <m:e>
                        <m:r>
                          <a:rPr lang="en-US" altLang="zh-CN" sz="2800" b="0" i="1" smtClean="0">
                            <a:solidFill>
                              <a:srgbClr val="C00000">
                                <a:alpha val="0"/>
                              </a:srgbClr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𝑣</m:t>
                        </m:r>
                      </m:e>
                    </m:bar>
                  </m:oMath>
                </a14:m>
                <a:r>
                  <a:rPr lang="zh-CN" altLang="zh-CN" sz="2800" b="0" i="0" u="none">
                    <a:solidFill>
                      <a:srgbClr val="C00000">
                        <a:alpha val="0"/>
                      </a:srgbClr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FE0000">
                                <a:alpha val="0"/>
                              </a:srgbClr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1" smtClean="0">
                            <a:solidFill>
                              <a:srgbClr val="FE0000">
                                <a:alpha val="0"/>
                              </a:srgbClr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𝑥</m:t>
                        </m:r>
                      </m:num>
                      <m:den>
                        <m:r>
                          <a:rPr lang="en-US" altLang="zh-CN" sz="2800" b="0" i="1" smtClean="0">
                            <a:solidFill>
                              <a:srgbClr val="FE0000">
                                <a:alpha val="0"/>
                              </a:srgbClr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lang="zh-CN" altLang="zh-CN" sz="2800" b="0" i="0" u="none">
                    <a:solidFill>
                      <a:srgbClr val="C00000">
                        <a:alpha val="0"/>
                      </a:srgbClr>
                    </a:solidFill>
                    <a:effectLst/>
                    <a:latin typeface="Times New Roman" pitchFamily="28"/>
                    <a:ea typeface="仿宋" pitchFamily="28"/>
                  </a:rPr>
                  <a:t>可知</a:t>
                </a:r>
                <a:r>
                  <a:rPr lang="zh-CN" altLang="zh-CN" sz="2800" b="0" i="0" u="none">
                    <a:solidFill>
                      <a:srgbClr val="C00000">
                        <a:alpha val="0"/>
                      </a:srgbClr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>
                        <a:alpha val="0"/>
                      </a:srgbClr>
                    </a:solidFill>
                    <a:effectLst/>
                    <a:latin typeface="Times New Roman" pitchFamily="28"/>
                    <a:ea typeface="仿宋" pitchFamily="28"/>
                    <a:sym typeface="_⨹_9_5cbd2"/>
                  </a:rPr>
                  <a:t>甲的平均速度等于乙</a:t>
                </a:r>
                <a:br>
                  <a:rPr lang="zh-CN" altLang="zh-CN" sz="2800" b="0" i="0" u="none">
                    <a:solidFill>
                      <a:srgbClr val="C00000">
                        <a:alpha val="0"/>
                      </a:srgbClr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>
                    <a:solidFill>
                      <a:srgbClr val="C00000">
                        <a:alpha val="0"/>
                      </a:srgbClr>
                    </a:solidFill>
                    <a:effectLst/>
                    <a:latin typeface="Times New Roman" pitchFamily="28"/>
                    <a:ea typeface="仿宋" pitchFamily="28"/>
                  </a:rPr>
                  <a:t>的平均速度</a:t>
                </a:r>
                <a:r>
                  <a:rPr lang="zh-CN" altLang="zh-CN" sz="2800" b="0" i="0" u="none">
                    <a:solidFill>
                      <a:srgbClr val="C00000">
                        <a:alpha val="0"/>
                      </a:srgbClr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>
                        <a:alpha val="0"/>
                      </a:srgbClr>
                    </a:solidFill>
                    <a:effectLst/>
                    <a:latin typeface="Times New Roman" pitchFamily="28"/>
                    <a:ea typeface="仿宋" pitchFamily="28"/>
                  </a:rPr>
                  <a:t>选项</a:t>
                </a:r>
                <a:r>
                  <a:rPr lang="en-US" altLang="zh-CN" sz="2800" b="0" i="0" u="none">
                    <a:solidFill>
                      <a:srgbClr val="C00000">
                        <a:alpha val="0"/>
                      </a:srgbClr>
                    </a:solidFill>
                    <a:effectLst/>
                    <a:latin typeface="Times New Roman" pitchFamily="28"/>
                    <a:ea typeface="宋体" pitchFamily="28"/>
                  </a:rPr>
                  <a:t>C</a:t>
                </a:r>
                <a:r>
                  <a:rPr lang="zh-CN" altLang="zh-CN" sz="2800" b="0" i="0" u="none">
                    <a:solidFill>
                      <a:srgbClr val="C00000">
                        <a:alpha val="0"/>
                      </a:srgbClr>
                    </a:solidFill>
                    <a:effectLst/>
                    <a:latin typeface="Times New Roman" pitchFamily="28"/>
                    <a:ea typeface="仿宋" pitchFamily="28"/>
                  </a:rPr>
                  <a:t>正确</a:t>
                </a:r>
                <a:r>
                  <a:rPr lang="zh-CN" altLang="zh-CN" sz="2800" b="0" i="0" u="none">
                    <a:solidFill>
                      <a:srgbClr val="C00000">
                        <a:alpha val="0"/>
                      </a:srgbClr>
                    </a:solidFill>
                    <a:effectLst/>
                    <a:latin typeface="宋体" pitchFamily="28"/>
                    <a:ea typeface="宋体" pitchFamily="28"/>
                  </a:rPr>
                  <a:t>；</a:t>
                </a:r>
                <a:r>
                  <a:rPr lang="zh-CN" altLang="zh-CN" sz="2800" b="0" i="0" u="none">
                    <a:solidFill>
                      <a:srgbClr val="C00000">
                        <a:alpha val="0"/>
                      </a:srgbClr>
                    </a:solidFill>
                    <a:effectLst/>
                    <a:latin typeface="Times New Roman" pitchFamily="28"/>
                    <a:ea typeface="仿宋" pitchFamily="28"/>
                  </a:rPr>
                  <a:t>因</a:t>
                </a:r>
                <a:r>
                  <a:rPr lang="en-US" altLang="zh-CN" sz="2800" b="0" i="1" u="none">
                    <a:solidFill>
                      <a:srgbClr val="C00000">
                        <a:alpha val="0"/>
                      </a:srgbClr>
                    </a:solidFill>
                    <a:effectLst/>
                    <a:latin typeface="Times New Roman" pitchFamily="28"/>
                    <a:ea typeface="宋体" pitchFamily="28"/>
                  </a:rPr>
                  <a:t>x</a:t>
                </a:r>
                <a:r>
                  <a:rPr lang="zh-CN" altLang="zh-CN" sz="2800" b="0" i="0" u="none">
                    <a:solidFill>
                      <a:srgbClr val="C00000">
                        <a:alpha val="0"/>
                      </a:srgbClr>
                    </a:solidFill>
                    <a:effectLst/>
                    <a:latin typeface="Times New Roman" pitchFamily="28"/>
                    <a:ea typeface="仿宋" pitchFamily="28"/>
                  </a:rPr>
                  <a:t>-</a:t>
                </a:r>
                <a:r>
                  <a:rPr lang="en-US" altLang="zh-CN" sz="2800" b="0" i="1" u="none">
                    <a:solidFill>
                      <a:srgbClr val="C00000">
                        <a:alpha val="0"/>
                      </a:srgbClr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zh-CN" altLang="zh-CN" sz="2800" b="0" i="0" u="none">
                    <a:solidFill>
                      <a:srgbClr val="C00000">
                        <a:alpha val="0"/>
                      </a:srgbClr>
                    </a:solidFill>
                    <a:effectLst/>
                    <a:latin typeface="Times New Roman" pitchFamily="28"/>
                    <a:ea typeface="仿宋" pitchFamily="28"/>
                  </a:rPr>
                  <a:t>图像的斜率代表速度</a:t>
                </a:r>
                <a:r>
                  <a:rPr lang="zh-CN" altLang="zh-CN" sz="2800" b="0" i="0" u="none">
                    <a:solidFill>
                      <a:srgbClr val="C00000">
                        <a:alpha val="0"/>
                      </a:srgbClr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>
                        <a:alpha val="0"/>
                      </a:srgbClr>
                    </a:solidFill>
                    <a:effectLst/>
                    <a:latin typeface="Times New Roman" pitchFamily="28"/>
                    <a:ea typeface="仿宋" pitchFamily="28"/>
                    <a:sym typeface="_⨹_8_47ec0"/>
                  </a:rPr>
                  <a:t>可知甲做匀速直线</a:t>
                </a:r>
                <a:br>
                  <a:rPr lang="zh-CN" altLang="zh-CN" sz="2800" b="0" i="0" u="none">
                    <a:solidFill>
                      <a:srgbClr val="C00000">
                        <a:alpha val="0"/>
                      </a:srgbClr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>
                    <a:solidFill>
                      <a:srgbClr val="C00000">
                        <a:alpha val="0"/>
                      </a:srgbClr>
                    </a:solidFill>
                    <a:effectLst/>
                    <a:latin typeface="Times New Roman" pitchFamily="28"/>
                    <a:ea typeface="仿宋" pitchFamily="28"/>
                  </a:rPr>
                  <a:t>运动</a:t>
                </a:r>
                <a:r>
                  <a:rPr lang="zh-CN" altLang="zh-CN" sz="2800" b="0" i="0" u="none">
                    <a:solidFill>
                      <a:srgbClr val="C00000">
                        <a:alpha val="0"/>
                      </a:srgbClr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>
                        <a:alpha val="0"/>
                      </a:srgbClr>
                    </a:solidFill>
                    <a:effectLst/>
                    <a:latin typeface="Times New Roman" pitchFamily="28"/>
                    <a:ea typeface="仿宋" pitchFamily="28"/>
                  </a:rPr>
                  <a:t>乙做加速运动</a:t>
                </a:r>
                <a:r>
                  <a:rPr lang="zh-CN" altLang="zh-CN" sz="2800" b="0" i="0" u="none">
                    <a:solidFill>
                      <a:srgbClr val="C00000">
                        <a:alpha val="0"/>
                      </a:srgbClr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>
                        <a:alpha val="0"/>
                      </a:srgbClr>
                    </a:solidFill>
                    <a:effectLst/>
                    <a:latin typeface="Times New Roman" pitchFamily="28"/>
                    <a:ea typeface="仿宋" pitchFamily="28"/>
                  </a:rPr>
                  <a:t>选项</a:t>
                </a:r>
                <a:r>
                  <a:rPr lang="en-US" altLang="zh-CN" sz="2800" b="0" i="0" u="none">
                    <a:solidFill>
                      <a:srgbClr val="C00000">
                        <a:alpha val="0"/>
                      </a:srgbClr>
                    </a:solidFill>
                    <a:effectLst/>
                    <a:latin typeface="Times New Roman" pitchFamily="28"/>
                    <a:ea typeface="宋体" pitchFamily="28"/>
                  </a:rPr>
                  <a:t>D</a:t>
                </a:r>
                <a:r>
                  <a:rPr lang="zh-CN" altLang="zh-CN" sz="2800" b="0" i="0" u="none">
                    <a:solidFill>
                      <a:srgbClr val="C00000">
                        <a:alpha val="0"/>
                      </a:srgbClr>
                    </a:solidFill>
                    <a:effectLst/>
                    <a:latin typeface="Times New Roman" pitchFamily="28"/>
                    <a:ea typeface="仿宋" pitchFamily="28"/>
                  </a:rPr>
                  <a:t>错误。</a:t>
                </a:r>
                <a:endParaRPr lang="zh-CN" altLang="zh-CN" sz="2800" b="0" i="0" u="none">
                  <a:solidFill>
                    <a:srgbClr val="C00000">
                      <a:alpha val="0"/>
                    </a:srgbClr>
                  </a:solidFill>
                  <a:effectLst/>
                  <a:latin typeface="宋体" pitchFamily="28"/>
                  <a:ea typeface="宋体" pitchFamily="28"/>
                </a:endParaRPr>
              </a:p>
            </p:txBody>
          </p:sp>
        </mc:Choice>
        <mc:Fallback xmlns:a16="http://schemas.microsoft.com/office/drawing/2014/main" xmlns="">
          <p:sp>
            <p:nvSpPr>
              <p:cNvPr id="12783" name="yt_shape_1278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71" y="468000"/>
                <a:ext cx="11924914" cy="3149004"/>
              </a:xfrm>
              <a:prstGeom prst="rect">
                <a:avLst/>
              </a:prstGeom>
              <a:blipFill>
                <a:blip r:embed="rId2"/>
                <a:stretch>
                  <a:fillRect l="-1789" t="-775" b="-620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文本框 1">
            <a:extLst>
              <a:ext uri="{FF2B5EF4-FFF2-40B4-BE49-F238E27FC236}">
                <a16:creationId xmlns:a16="http://schemas.microsoft.com/office/drawing/2014/main" id="{79D5AE1A-7C7A-A2E9-3202-360D590599A7}"/>
              </a:ext>
            </a:extLst>
          </p:cNvPr>
          <p:cNvSpPr txBox="1"/>
          <p:nvPr/>
        </p:nvSpPr>
        <p:spPr>
          <a:xfrm>
            <a:off x="234060" y="421194"/>
            <a:ext cx="11767186" cy="691020"/>
          </a:xfrm>
          <a:prstGeom prst="rect">
            <a:avLst/>
          </a:prstGeom>
          <a:noFill/>
        </p:spPr>
        <p:txBody>
          <a:bodyPr vert="horz" wrap="none" rtlCol="0">
            <a:noAutofit/>
          </a:bodyPr>
          <a:lstStyle/>
          <a:p>
            <a:pPr>
              <a:lnSpc>
                <a:spcPct val="140000"/>
              </a:lnSpc>
            </a:pPr>
            <a:r>
              <a:rPr kumimoji="0" lang="zh-CN" altLang="zh-CN" sz="2800" b="0" i="0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28"/>
                <a:ea typeface="黑体" pitchFamily="28"/>
                <a:cs typeface="+mn-cs"/>
              </a:rPr>
              <a:t>解析：</a:t>
            </a:r>
            <a:r>
              <a:rPr kumimoji="0" lang="zh-CN" altLang="zh-CN" sz="2800" b="0" i="0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itchFamily="28"/>
                <a:ea typeface="仿宋" pitchFamily="28"/>
                <a:cs typeface="+mn-cs"/>
              </a:rPr>
              <a:t>由图像可知</a:t>
            </a:r>
            <a:r>
              <a:rPr kumimoji="0" lang="zh-CN" altLang="zh-CN" sz="2800" b="0" i="0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宋体" pitchFamily="28"/>
                <a:ea typeface="宋体" pitchFamily="28"/>
                <a:cs typeface="+mn-cs"/>
              </a:rPr>
              <a:t>，</a:t>
            </a:r>
            <a:r>
              <a:rPr kumimoji="0" lang="en-US" altLang="zh-CN" sz="2800" b="0" i="1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itchFamily="28"/>
                <a:ea typeface="宋体" pitchFamily="28"/>
                <a:cs typeface="+mn-cs"/>
              </a:rPr>
              <a:t>t</a:t>
            </a:r>
            <a:r>
              <a:rPr kumimoji="0" lang="en-US" altLang="zh-CN" sz="2800" b="0" i="0" strike="noStrike" kern="1200" cap="none" spc="0" normalizeH="0" baseline="-2500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itchFamily="28"/>
                <a:ea typeface="宋体" pitchFamily="28"/>
                <a:cs typeface="+mn-cs"/>
              </a:rPr>
              <a:t>1</a:t>
            </a:r>
            <a:r>
              <a:rPr kumimoji="0" lang="zh-CN" altLang="zh-CN" sz="2800" b="0" i="0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itchFamily="28"/>
                <a:ea typeface="仿宋" pitchFamily="28"/>
                <a:cs typeface="+mn-cs"/>
              </a:rPr>
              <a:t>时刻</a:t>
            </a:r>
            <a:r>
              <a:rPr kumimoji="0" lang="zh-CN" altLang="zh-CN" sz="2800" b="0" i="0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宋体" pitchFamily="28"/>
                <a:ea typeface="宋体" pitchFamily="28"/>
                <a:cs typeface="+mn-cs"/>
              </a:rPr>
              <a:t>，</a:t>
            </a:r>
            <a:r>
              <a:rPr kumimoji="0" lang="zh-CN" altLang="zh-CN" sz="2800" b="0" i="0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itchFamily="28"/>
                <a:ea typeface="仿宋" pitchFamily="28"/>
                <a:cs typeface="+mn-cs"/>
              </a:rPr>
              <a:t>乙从后面追上甲</a:t>
            </a:r>
            <a:r>
              <a:rPr kumimoji="0" lang="zh-CN" altLang="zh-CN" sz="2800" b="0" i="0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宋体" pitchFamily="28"/>
                <a:ea typeface="宋体" pitchFamily="28"/>
                <a:cs typeface="+mn-cs"/>
              </a:rPr>
              <a:t>，</a:t>
            </a:r>
            <a:r>
              <a:rPr kumimoji="0" lang="zh-CN" altLang="zh-CN" sz="2800" b="0" i="0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itchFamily="28"/>
                <a:ea typeface="仿宋" pitchFamily="28"/>
                <a:cs typeface="+mn-cs"/>
              </a:rPr>
              <a:t>选项</a:t>
            </a:r>
            <a:r>
              <a:rPr kumimoji="0" lang="en-US" altLang="zh-CN" sz="2800" b="0" i="0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itchFamily="28"/>
                <a:ea typeface="宋体" pitchFamily="28"/>
                <a:cs typeface="+mn-cs"/>
              </a:rPr>
              <a:t>A</a:t>
            </a:r>
            <a:r>
              <a:rPr kumimoji="0" lang="zh-CN" altLang="zh-CN" sz="2800" b="0" i="0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itchFamily="28"/>
                <a:ea typeface="仿宋" pitchFamily="28"/>
                <a:cs typeface="+mn-cs"/>
              </a:rPr>
              <a:t>错误</a:t>
            </a:r>
            <a:r>
              <a:rPr kumimoji="0" lang="zh-CN" altLang="zh-CN" sz="2800" b="0" i="0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宋体" pitchFamily="28"/>
                <a:ea typeface="宋体" pitchFamily="28"/>
                <a:cs typeface="+mn-cs"/>
              </a:rPr>
              <a:t>；</a:t>
            </a:r>
            <a:r>
              <a:rPr kumimoji="0" lang="zh-CN" altLang="zh-CN" sz="2800" b="0" i="0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itchFamily="28"/>
                <a:ea typeface="仿宋" pitchFamily="28"/>
                <a:cs typeface="+mn-cs"/>
                <a:sym typeface="_⨹_6_e6279"/>
              </a:rPr>
              <a:t>因图像的斜率</a:t>
            </a:r>
            <a:br>
              <a:rPr kumimoji="0" lang="zh-CN" altLang="zh-CN" sz="2800" b="0" i="0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itchFamily="28"/>
                <a:ea typeface="仿宋" pitchFamily="28"/>
              </a:rPr>
            </a:br>
            <a:endParaRPr lang="zh-CN" altLang="en-US">
              <a:solidFill>
                <a:srgbClr val="C00000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2F4F6C8-201C-AE03-974F-4B8CD168BC78}"/>
              </a:ext>
            </a:extLst>
          </p:cNvPr>
          <p:cNvSpPr txBox="1"/>
          <p:nvPr/>
        </p:nvSpPr>
        <p:spPr>
          <a:xfrm>
            <a:off x="234060" y="1018602"/>
            <a:ext cx="11479847" cy="691020"/>
          </a:xfrm>
          <a:prstGeom prst="rect">
            <a:avLst/>
          </a:prstGeom>
          <a:noFill/>
        </p:spPr>
        <p:txBody>
          <a:bodyPr vert="horz" wrap="none" rtlCol="0">
            <a:noAutofit/>
          </a:bodyPr>
          <a:lstStyle/>
          <a:p>
            <a:pPr>
              <a:lnSpc>
                <a:spcPct val="140000"/>
              </a:lnSpc>
            </a:pPr>
            <a:r>
              <a:rPr kumimoji="0" lang="zh-CN" altLang="zh-CN" sz="2800" b="0" i="0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itchFamily="28"/>
                <a:ea typeface="仿宋" pitchFamily="28"/>
                <a:cs typeface="+mn-cs"/>
              </a:rPr>
              <a:t>等于速度</a:t>
            </a:r>
            <a:r>
              <a:rPr kumimoji="0" lang="zh-CN" altLang="zh-CN" sz="2800" b="0" i="0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宋体" pitchFamily="28"/>
                <a:ea typeface="宋体" pitchFamily="28"/>
                <a:cs typeface="+mn-cs"/>
              </a:rPr>
              <a:t>，</a:t>
            </a:r>
            <a:r>
              <a:rPr kumimoji="0" lang="zh-CN" altLang="zh-CN" sz="2800" b="0" i="0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itchFamily="28"/>
                <a:ea typeface="仿宋" pitchFamily="28"/>
                <a:cs typeface="+mn-cs"/>
              </a:rPr>
              <a:t>可知</a:t>
            </a:r>
            <a:r>
              <a:rPr kumimoji="0" lang="en-US" altLang="zh-CN" sz="2800" b="0" i="1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itchFamily="28"/>
                <a:ea typeface="宋体" pitchFamily="28"/>
                <a:cs typeface="+mn-cs"/>
              </a:rPr>
              <a:t>t</a:t>
            </a:r>
            <a:r>
              <a:rPr kumimoji="0" lang="en-US" altLang="zh-CN" sz="2800" b="0" i="0" strike="noStrike" kern="1200" cap="none" spc="0" normalizeH="0" baseline="-2500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itchFamily="28"/>
                <a:ea typeface="宋体" pitchFamily="28"/>
                <a:cs typeface="+mn-cs"/>
              </a:rPr>
              <a:t>1</a:t>
            </a:r>
            <a:r>
              <a:rPr kumimoji="0" lang="zh-CN" altLang="zh-CN" sz="2800" b="0" i="0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itchFamily="28"/>
                <a:ea typeface="仿宋" pitchFamily="28"/>
                <a:cs typeface="+mn-cs"/>
              </a:rPr>
              <a:t>时刻</a:t>
            </a:r>
            <a:r>
              <a:rPr kumimoji="0" lang="zh-CN" altLang="zh-CN" sz="2800" b="0" i="0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宋体" pitchFamily="28"/>
                <a:ea typeface="宋体" pitchFamily="28"/>
                <a:cs typeface="+mn-cs"/>
              </a:rPr>
              <a:t>，</a:t>
            </a:r>
            <a:r>
              <a:rPr kumimoji="0" lang="zh-CN" altLang="zh-CN" sz="2800" b="0" i="0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itchFamily="28"/>
                <a:ea typeface="仿宋" pitchFamily="28"/>
                <a:cs typeface="+mn-cs"/>
              </a:rPr>
              <a:t>甲的瞬时速度小于乙的瞬时速度</a:t>
            </a:r>
            <a:r>
              <a:rPr kumimoji="0" lang="zh-CN" altLang="zh-CN" sz="2800" b="0" i="0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宋体" pitchFamily="28"/>
                <a:ea typeface="宋体" pitchFamily="28"/>
                <a:cs typeface="+mn-cs"/>
              </a:rPr>
              <a:t>，</a:t>
            </a:r>
            <a:r>
              <a:rPr kumimoji="0" lang="zh-CN" altLang="zh-CN" sz="2800" b="0" i="0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itchFamily="28"/>
                <a:ea typeface="仿宋" pitchFamily="28"/>
                <a:cs typeface="+mn-cs"/>
              </a:rPr>
              <a:t>选项</a:t>
            </a:r>
            <a:r>
              <a:rPr kumimoji="0" lang="en-US" altLang="zh-CN" sz="2800" b="0" i="0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itchFamily="28"/>
                <a:ea typeface="宋体" pitchFamily="28"/>
                <a:cs typeface="+mn-cs"/>
              </a:rPr>
              <a:t>B</a:t>
            </a:r>
            <a:r>
              <a:rPr kumimoji="0" lang="zh-CN" altLang="zh-CN" sz="2800" b="0" i="0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itchFamily="28"/>
                <a:ea typeface="仿宋" pitchFamily="28"/>
                <a:cs typeface="+mn-cs"/>
              </a:rPr>
              <a:t>错误</a:t>
            </a:r>
            <a:r>
              <a:rPr kumimoji="0" lang="zh-CN" altLang="zh-CN" sz="2800" b="0" i="0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宋体" pitchFamily="28"/>
                <a:ea typeface="宋体" pitchFamily="28"/>
                <a:cs typeface="+mn-cs"/>
                <a:sym typeface="_⨹_1_72caf"/>
              </a:rPr>
              <a:t>；</a:t>
            </a:r>
            <a:br>
              <a:rPr kumimoji="0" lang="zh-CN" altLang="zh-CN" sz="2800" b="0" i="0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宋体" pitchFamily="28"/>
                <a:ea typeface="宋体" pitchFamily="28"/>
              </a:rPr>
            </a:br>
            <a:endParaRPr lang="zh-CN" altLang="en-US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877521CD-D160-780D-BC80-A9955570334C}"/>
                  </a:ext>
                </a:extLst>
              </p:cNvPr>
              <p:cNvSpPr txBox="1"/>
              <p:nvPr/>
            </p:nvSpPr>
            <p:spPr>
              <a:xfrm>
                <a:off x="234060" y="1616010"/>
                <a:ext cx="11697271" cy="892887"/>
              </a:xfrm>
              <a:prstGeom prst="rect">
                <a:avLst/>
              </a:prstGeom>
              <a:noFill/>
            </p:spPr>
            <p:txBody>
              <a:bodyPr vert="horz" wrap="none" rtlCol="0" anchor="ctr">
                <a:noAutofit/>
              </a:bodyPr>
              <a:lstStyle/>
              <a:p>
                <a:pPr>
                  <a:lnSpc>
                    <a:spcPct val="140000"/>
                  </a:lnSpc>
                </a:pPr>
                <a:r>
                  <a:rPr kumimoji="0" lang="en-US" altLang="zh-CN" sz="2800" b="0" i="0" strike="noStrike" kern="1200" cap="none" spc="0" normalizeH="0" baseline="0" noProof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Times New Roman" pitchFamily="28"/>
                    <a:ea typeface="宋体" pitchFamily="28"/>
                  </a:rPr>
                  <a:t>0</a:t>
                </a:r>
                <a:r>
                  <a:rPr kumimoji="0" lang="zh-CN" altLang="zh-CN" sz="2800" b="0" i="0" strike="noStrike" kern="1200" cap="none" spc="0" normalizeH="0" baseline="0" noProof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宋体" pitchFamily="28"/>
                    <a:ea typeface="宋体" pitchFamily="28"/>
                  </a:rPr>
                  <a:t>～</a:t>
                </a:r>
                <a:r>
                  <a:rPr kumimoji="0" lang="en-US" altLang="zh-CN" sz="2800" b="0" i="1" strike="noStrike" kern="1200" cap="none" spc="0" normalizeH="0" baseline="0" noProof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Times New Roman" pitchFamily="28"/>
                    <a:ea typeface="宋体" pitchFamily="28"/>
                  </a:rPr>
                  <a:t>t</a:t>
                </a:r>
                <a:r>
                  <a:rPr kumimoji="0" lang="en-US" altLang="zh-CN" sz="2800" b="0" i="0" strike="noStrike" kern="1200" cap="none" spc="0" normalizeH="0" baseline="-25000" noProof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Times New Roman" pitchFamily="28"/>
                    <a:ea typeface="宋体" pitchFamily="28"/>
                  </a:rPr>
                  <a:t>1</a:t>
                </a:r>
                <a:r>
                  <a:rPr kumimoji="0" lang="zh-CN" altLang="zh-CN" sz="2800" b="0" i="0" strike="noStrike" kern="1200" cap="none" spc="0" normalizeH="0" baseline="0" noProof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Times New Roman" pitchFamily="28"/>
                    <a:ea typeface="仿宋" pitchFamily="28"/>
                  </a:rPr>
                  <a:t>时间内</a:t>
                </a:r>
                <a:r>
                  <a:rPr kumimoji="0" lang="zh-CN" altLang="zh-CN" sz="2800" b="0" i="0" strike="noStrike" kern="1200" cap="none" spc="0" normalizeH="0" baseline="0" noProof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宋体" pitchFamily="28"/>
                    <a:ea typeface="宋体" pitchFamily="28"/>
                  </a:rPr>
                  <a:t>，</a:t>
                </a:r>
                <a:r>
                  <a:rPr kumimoji="0" lang="zh-CN" altLang="zh-CN" sz="2800" b="0" i="0" strike="noStrike" kern="1200" cap="none" spc="0" normalizeH="0" baseline="0" noProof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Times New Roman" pitchFamily="28"/>
                    <a:ea typeface="仿宋" pitchFamily="28"/>
                  </a:rPr>
                  <a:t>甲、乙的位移相等</a:t>
                </a:r>
                <a:r>
                  <a:rPr kumimoji="0" lang="zh-CN" altLang="zh-CN" sz="2800" b="0" i="0" strike="noStrike" kern="1200" cap="none" spc="0" normalizeH="0" baseline="0" noProof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宋体" pitchFamily="28"/>
                    <a:ea typeface="宋体" pitchFamily="28"/>
                  </a:rPr>
                  <a:t>，</a:t>
                </a:r>
                <a:r>
                  <a:rPr kumimoji="0" lang="zh-CN" altLang="zh-CN" sz="2800" b="0" i="0" strike="noStrike" kern="1200" cap="none" spc="0" normalizeH="0" baseline="0" noProof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Times New Roman" pitchFamily="28"/>
                    <a:ea typeface="仿宋" pitchFamily="28"/>
                  </a:rPr>
                  <a:t>则根据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kumimoji="0" lang="en-US" altLang="zh-CN" sz="2800" b="0" i="1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barPr>
                      <m:e>
                        <m:r>
                          <a:rPr kumimoji="0" lang="en-US" altLang="zh-CN" sz="2800" b="0" i="1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𝑣</m:t>
                        </m:r>
                      </m:e>
                    </m:bar>
                  </m:oMath>
                </a14:m>
                <a:r>
                  <a:rPr kumimoji="0" lang="zh-CN" altLang="zh-CN" sz="2800" b="0" i="0" strike="noStrike" kern="1200" cap="none" spc="0" normalizeH="0" baseline="0" noProof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en-US" altLang="zh-CN" sz="2800" b="0" i="1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kumimoji="0" lang="en-US" altLang="zh-CN" sz="2800" b="0" i="1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𝑥</m:t>
                        </m:r>
                      </m:num>
                      <m:den>
                        <m:r>
                          <a:rPr kumimoji="0" lang="en-US" altLang="zh-CN" sz="2800" b="0" i="1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kumimoji="0" lang="zh-CN" altLang="zh-CN" sz="2800" b="0" i="0" strike="noStrike" kern="1200" cap="none" spc="0" normalizeH="0" baseline="0" noProof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Times New Roman" pitchFamily="28"/>
                    <a:ea typeface="仿宋" pitchFamily="28"/>
                  </a:rPr>
                  <a:t>可知</a:t>
                </a:r>
                <a:r>
                  <a:rPr kumimoji="0" lang="zh-CN" altLang="zh-CN" sz="2800" b="0" i="0" strike="noStrike" kern="1200" cap="none" spc="0" normalizeH="0" baseline="0" noProof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宋体" pitchFamily="28"/>
                    <a:ea typeface="宋体" pitchFamily="28"/>
                  </a:rPr>
                  <a:t>，</a:t>
                </a:r>
                <a:r>
                  <a:rPr kumimoji="0" lang="zh-CN" altLang="zh-CN" sz="2800" b="0" i="0" strike="noStrike" kern="1200" cap="none" spc="0" normalizeH="0" baseline="0" noProof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Times New Roman" pitchFamily="28"/>
                    <a:ea typeface="仿宋" pitchFamily="28"/>
                    <a:sym typeface="_⨹_9_5cbd2"/>
                  </a:rPr>
                  <a:t>甲的平均速度等于乙</a:t>
                </a:r>
                <a:br>
                  <a:rPr kumimoji="0" lang="zh-CN" altLang="zh-CN" sz="2800" b="0" i="0" strike="noStrike" kern="1200" cap="none" spc="0" normalizeH="0" baseline="0" noProof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Times New Roman" pitchFamily="28"/>
                    <a:ea typeface="仿宋" pitchFamily="28"/>
                  </a:rPr>
                </a:br>
                <a:endParaRPr lang="zh-CN" altLang="en-US">
                  <a:solidFill>
                    <a:srgbClr val="C00000"/>
                  </a:solidFill>
                </a:endParaRPr>
              </a:p>
            </p:txBody>
          </p:sp>
        </mc:Choice>
        <mc:Fallback xmlns:a16="http://schemas.microsoft.com/office/drawing/2014/main"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877521CD-D160-780D-BC80-A995557033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060" y="1616010"/>
                <a:ext cx="11697271" cy="892887"/>
              </a:xfrm>
              <a:prstGeom prst="rect">
                <a:avLst/>
              </a:prstGeom>
              <a:blipFill>
                <a:blip r:embed="rId3"/>
                <a:stretch>
                  <a:fillRect l="-1042" t="-6803" r="-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本框 4">
            <a:extLst>
              <a:ext uri="{FF2B5EF4-FFF2-40B4-BE49-F238E27FC236}">
                <a16:creationId xmlns:a16="http://schemas.microsoft.com/office/drawing/2014/main" id="{4319F3F1-7284-D74D-5205-F98714582686}"/>
              </a:ext>
            </a:extLst>
          </p:cNvPr>
          <p:cNvSpPr txBox="1"/>
          <p:nvPr/>
        </p:nvSpPr>
        <p:spPr>
          <a:xfrm>
            <a:off x="234060" y="2415285"/>
            <a:ext cx="11548111" cy="691020"/>
          </a:xfrm>
          <a:prstGeom prst="rect">
            <a:avLst/>
          </a:prstGeom>
          <a:noFill/>
        </p:spPr>
        <p:txBody>
          <a:bodyPr vert="horz" wrap="none" rtlCol="0">
            <a:noAutofit/>
          </a:bodyPr>
          <a:lstStyle/>
          <a:p>
            <a:pPr>
              <a:lnSpc>
                <a:spcPct val="140000"/>
              </a:lnSpc>
            </a:pPr>
            <a:r>
              <a:rPr kumimoji="0" lang="zh-CN" altLang="zh-CN" sz="2800" b="0" i="0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itchFamily="28"/>
                <a:ea typeface="仿宋" pitchFamily="28"/>
                <a:cs typeface="+mn-cs"/>
              </a:rPr>
              <a:t>的平均速度</a:t>
            </a:r>
            <a:r>
              <a:rPr kumimoji="0" lang="zh-CN" altLang="zh-CN" sz="2800" b="0" i="0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宋体" pitchFamily="28"/>
                <a:ea typeface="宋体" pitchFamily="28"/>
                <a:cs typeface="+mn-cs"/>
              </a:rPr>
              <a:t>，</a:t>
            </a:r>
            <a:r>
              <a:rPr kumimoji="0" lang="zh-CN" altLang="zh-CN" sz="2800" b="0" i="0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itchFamily="28"/>
                <a:ea typeface="仿宋" pitchFamily="28"/>
                <a:cs typeface="+mn-cs"/>
              </a:rPr>
              <a:t>选项</a:t>
            </a:r>
            <a:r>
              <a:rPr kumimoji="0" lang="en-US" altLang="zh-CN" sz="2800" b="0" i="0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itchFamily="28"/>
                <a:ea typeface="宋体" pitchFamily="28"/>
                <a:cs typeface="+mn-cs"/>
              </a:rPr>
              <a:t>C</a:t>
            </a:r>
            <a:r>
              <a:rPr kumimoji="0" lang="zh-CN" altLang="zh-CN" sz="2800" b="0" i="0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itchFamily="28"/>
                <a:ea typeface="仿宋" pitchFamily="28"/>
                <a:cs typeface="+mn-cs"/>
              </a:rPr>
              <a:t>正确</a:t>
            </a:r>
            <a:r>
              <a:rPr kumimoji="0" lang="zh-CN" altLang="zh-CN" sz="2800" b="0" i="0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宋体" pitchFamily="28"/>
                <a:ea typeface="宋体" pitchFamily="28"/>
                <a:cs typeface="+mn-cs"/>
              </a:rPr>
              <a:t>；</a:t>
            </a:r>
            <a:r>
              <a:rPr kumimoji="0" lang="zh-CN" altLang="zh-CN" sz="2800" b="0" i="0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itchFamily="28"/>
                <a:ea typeface="仿宋" pitchFamily="28"/>
                <a:cs typeface="+mn-cs"/>
              </a:rPr>
              <a:t>因</a:t>
            </a:r>
            <a:r>
              <a:rPr kumimoji="0" lang="en-US" altLang="zh-CN" sz="2800" b="0" i="1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itchFamily="28"/>
                <a:ea typeface="宋体" pitchFamily="28"/>
                <a:cs typeface="+mn-cs"/>
              </a:rPr>
              <a:t>x</a:t>
            </a:r>
            <a:r>
              <a:rPr kumimoji="0" lang="zh-CN" altLang="zh-CN" sz="2800" b="0" i="0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itchFamily="28"/>
                <a:ea typeface="仿宋" pitchFamily="28"/>
                <a:cs typeface="+mn-cs"/>
              </a:rPr>
              <a:t>-</a:t>
            </a:r>
            <a:r>
              <a:rPr kumimoji="0" lang="en-US" altLang="zh-CN" sz="2800" b="0" i="1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itchFamily="28"/>
                <a:ea typeface="宋体" pitchFamily="28"/>
                <a:cs typeface="+mn-cs"/>
              </a:rPr>
              <a:t>t</a:t>
            </a:r>
            <a:r>
              <a:rPr kumimoji="0" lang="zh-CN" altLang="zh-CN" sz="2800" b="0" i="0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itchFamily="28"/>
                <a:ea typeface="仿宋" pitchFamily="28"/>
                <a:cs typeface="+mn-cs"/>
              </a:rPr>
              <a:t>图像的斜率代表速度</a:t>
            </a:r>
            <a:r>
              <a:rPr kumimoji="0" lang="zh-CN" altLang="zh-CN" sz="2800" b="0" i="0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宋体" pitchFamily="28"/>
                <a:ea typeface="宋体" pitchFamily="28"/>
                <a:cs typeface="+mn-cs"/>
              </a:rPr>
              <a:t>，</a:t>
            </a:r>
            <a:r>
              <a:rPr kumimoji="0" lang="zh-CN" altLang="zh-CN" sz="2800" b="0" i="0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itchFamily="28"/>
                <a:ea typeface="仿宋" pitchFamily="28"/>
                <a:cs typeface="+mn-cs"/>
                <a:sym typeface="_⨹_8_47ec0"/>
              </a:rPr>
              <a:t>可知甲做匀速直线</a:t>
            </a:r>
            <a:br>
              <a:rPr kumimoji="0" lang="zh-CN" altLang="zh-CN" sz="2800" b="0" i="0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itchFamily="28"/>
                <a:ea typeface="仿宋" pitchFamily="28"/>
              </a:rPr>
            </a:br>
            <a:endParaRPr lang="zh-CN" altLang="en-US">
              <a:solidFill>
                <a:srgbClr val="C00000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6F94EE6-F37C-0989-5C58-65BDC49C5298}"/>
              </a:ext>
            </a:extLst>
          </p:cNvPr>
          <p:cNvSpPr txBox="1"/>
          <p:nvPr/>
        </p:nvSpPr>
        <p:spPr>
          <a:xfrm>
            <a:off x="234060" y="3012693"/>
            <a:ext cx="5771261" cy="620662"/>
          </a:xfrm>
          <a:prstGeom prst="rect">
            <a:avLst/>
          </a:prstGeom>
          <a:noFill/>
        </p:spPr>
        <p:txBody>
          <a:bodyPr vert="horz" wrap="none" rtlCol="0">
            <a:noAutofit/>
          </a:bodyPr>
          <a:lstStyle/>
          <a:p>
            <a:pPr>
              <a:lnSpc>
                <a:spcPct val="140000"/>
              </a:lnSpc>
            </a:pPr>
            <a:r>
              <a:rPr kumimoji="0" lang="zh-CN" altLang="zh-CN" sz="2800" b="0" i="0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itchFamily="28"/>
                <a:ea typeface="仿宋" pitchFamily="28"/>
                <a:cs typeface="+mn-cs"/>
              </a:rPr>
              <a:t>运动</a:t>
            </a:r>
            <a:r>
              <a:rPr kumimoji="0" lang="zh-CN" altLang="zh-CN" sz="2800" b="0" i="0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宋体" pitchFamily="28"/>
                <a:ea typeface="宋体" pitchFamily="28"/>
                <a:cs typeface="+mn-cs"/>
              </a:rPr>
              <a:t>，</a:t>
            </a:r>
            <a:r>
              <a:rPr kumimoji="0" lang="zh-CN" altLang="zh-CN" sz="2800" b="0" i="0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itchFamily="28"/>
                <a:ea typeface="仿宋" pitchFamily="28"/>
                <a:cs typeface="+mn-cs"/>
              </a:rPr>
              <a:t>乙做加速运动</a:t>
            </a:r>
            <a:r>
              <a:rPr kumimoji="0" lang="zh-CN" altLang="zh-CN" sz="2800" b="0" i="0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宋体" pitchFamily="28"/>
                <a:ea typeface="宋体" pitchFamily="28"/>
                <a:cs typeface="+mn-cs"/>
              </a:rPr>
              <a:t>，</a:t>
            </a:r>
            <a:r>
              <a:rPr kumimoji="0" lang="zh-CN" altLang="zh-CN" sz="2800" b="0" i="0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itchFamily="28"/>
                <a:ea typeface="仿宋" pitchFamily="28"/>
                <a:cs typeface="+mn-cs"/>
              </a:rPr>
              <a:t>选项</a:t>
            </a:r>
            <a:r>
              <a:rPr kumimoji="0" lang="en-US" altLang="zh-CN" sz="2800" b="0" i="0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itchFamily="28"/>
                <a:ea typeface="宋体" pitchFamily="28"/>
                <a:cs typeface="+mn-cs"/>
              </a:rPr>
              <a:t>D</a:t>
            </a:r>
            <a:r>
              <a:rPr kumimoji="0" lang="zh-CN" altLang="zh-CN" sz="2800" b="0" i="0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itchFamily="28"/>
                <a:ea typeface="仿宋" pitchFamily="28"/>
                <a:cs typeface="+mn-cs"/>
              </a:rPr>
              <a:t>错误</a:t>
            </a:r>
            <a:r>
              <a:rPr kumimoji="0" lang="zh-CN" altLang="zh-CN" sz="2800" b="0" i="0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itchFamily="28"/>
                <a:ea typeface="仿宋" pitchFamily="28"/>
              </a:rPr>
              <a:t>。</a:t>
            </a:r>
            <a:endParaRPr lang="zh-CN" altLang="en-US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92" name="yt_shape_12792"/>
          <p:cNvSpPr txBox="1"/>
          <p:nvPr/>
        </p:nvSpPr>
        <p:spPr>
          <a:xfrm>
            <a:off x="380054" y="1177126"/>
            <a:ext cx="5386090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ctr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黑体" pitchFamily="28"/>
              </a:rPr>
              <a:t>通过图像分析物体运动规律的思路</a:t>
            </a:r>
          </a:p>
        </p:txBody>
      </p:sp>
      <p:pic>
        <p:nvPicPr>
          <p:cNvPr id="12793" name="yt_image_12793" title="H_282.24">
            <a:extLst>
              <a:ext uri="">
                <a16:creationId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a16="http://schemas.microsoft.com/office/drawing/2014/main" xmlns="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76651" y="1912475"/>
            <a:ext cx="7150663" cy="35844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yt_shape_12791"/>
          <p:cNvSpPr txBox="1"/>
          <p:nvPr/>
        </p:nvSpPr>
        <p:spPr>
          <a:xfrm>
            <a:off x="380054" y="508439"/>
            <a:ext cx="1436291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黑体" pitchFamily="28"/>
              </a:rPr>
              <a:t>方法归纳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34860" y="1224757"/>
            <a:ext cx="5988843" cy="5988843"/>
          </a:xfrm>
          <a:prstGeom prst="rect">
            <a:avLst/>
          </a:prstGeom>
        </p:spPr>
      </p:pic>
      <p:sp>
        <p:nvSpPr>
          <p:cNvPr id="23" name="矩形 22"/>
          <p:cNvSpPr/>
          <p:nvPr/>
        </p:nvSpPr>
        <p:spPr>
          <a:xfrm>
            <a:off x="0" y="2386170"/>
            <a:ext cx="12192000" cy="156931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79400" sx="99000" sy="99000" rotWithShape="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904240" y="2112168"/>
            <a:ext cx="10383520" cy="21336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317500" dist="38100" dir="5400000" sx="101000" sy="101000" algn="t" rotWithShape="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2" name="TextBox 14"/>
          <p:cNvSpPr txBox="1"/>
          <p:nvPr/>
        </p:nvSpPr>
        <p:spPr>
          <a:xfrm>
            <a:off x="927100" y="2808613"/>
            <a:ext cx="103250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5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强化点二　非常规图像的理解及应用</a:t>
            </a:r>
            <a:endParaRPr lang="zh-CN" altLang="en-US" sz="35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076364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:a14="http://schemas.microsoft.com/office/drawing/2010/main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250"/>
                            </p:stCondLst>
                            <p:childTnLst>
                              <p:par>
                                <p:cTn id="13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0.31667 L 0 4.07407E-6 " pathEditMode="relative" rAng="0" ptsTypes="AA">
                                      <p:cBhvr>
                                        <p:cTn id="14" dur="1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583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500"/>
                            </p:stCondLst>
                            <p:childTnLst>
                              <p:par>
                                <p:cTn id="16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1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6" grpId="0" animBg="1"/>
      <p:bldP spid="6" grpId="1" animBg="1"/>
      <p:bldP spid="2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96" name="yt_shape_12796"/>
          <p:cNvSpPr txBox="1"/>
          <p:nvPr/>
        </p:nvSpPr>
        <p:spPr>
          <a:xfrm>
            <a:off x="5679942" y="0"/>
            <a:ext cx="718145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ctr" eaLnBrk="1" latinLnBrk="0" hangingPunct="0">
              <a:lnSpc>
                <a:spcPct val="140000"/>
              </a:lnSpc>
            </a:pPr>
            <a:r>
              <a:rPr lang="zh-CN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　</a:t>
            </a:r>
          </a:p>
        </p:txBody>
      </p:sp>
      <p:sp>
        <p:nvSpPr>
          <p:cNvPr id="12797" name="yt_shape_12797"/>
          <p:cNvSpPr txBox="1"/>
          <p:nvPr/>
        </p:nvSpPr>
        <p:spPr>
          <a:xfrm>
            <a:off x="267015" y="582985"/>
            <a:ext cx="2553584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黑体" pitchFamily="28"/>
              </a:rPr>
              <a:t>类型一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｜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黑体" pitchFamily="28"/>
              </a:rPr>
              <a:t>-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t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黑体" pitchFamily="28"/>
              </a:rPr>
              <a:t>图像</a:t>
            </a:r>
          </a:p>
        </p:txBody>
      </p:sp>
      <p:sp>
        <p:nvSpPr>
          <p:cNvPr id="12798" name="yt_shape_12798"/>
          <p:cNvSpPr txBox="1"/>
          <p:nvPr/>
        </p:nvSpPr>
        <p:spPr>
          <a:xfrm>
            <a:off x="267086" y="1165970"/>
            <a:ext cx="11543998" cy="1116268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 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黑体" pitchFamily="28"/>
              </a:rPr>
              <a:t>特殊点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：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t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轴截距代表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的时刻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；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轴截距代表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t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8_d00ac"/>
              </a:rPr>
              <a:t>时刻物体的初始加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速度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</a:p>
        </p:txBody>
      </p:sp>
      <p:sp>
        <p:nvSpPr>
          <p:cNvPr id="12799" name="yt_shape_12799"/>
          <p:cNvSpPr txBox="1"/>
          <p:nvPr/>
        </p:nvSpPr>
        <p:spPr>
          <a:xfrm>
            <a:off x="267086" y="2333026"/>
            <a:ext cx="11924914" cy="1116268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 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黑体" pitchFamily="28"/>
              </a:rPr>
              <a:t>面积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：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图线与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t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轴所围图形面积代表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t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时间内物体速度的变化量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  <a:sym typeface="_⨹_3_18bf9"/>
              </a:rPr>
              <a:t>如图甲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所示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）。</a:t>
            </a:r>
          </a:p>
        </p:txBody>
      </p:sp>
      <p:pic>
        <p:nvPicPr>
          <p:cNvPr id="7" name="yt_image_12800" title="H_169.68">
            <a:extLst>
              <a:ext uri="">
                <a16:creationId xmlns:a14="http://schemas.microsoft.com/office/drawing/2010/main" xmlns:mc="http://schemas.openxmlformats.org/markup-compatibility/2006" xmlns:p15="http://schemas.microsoft.com/office/powerpoint/2012/main" xmlns:a16="http://schemas.microsoft.com/office/drawing/2014/main" xmlns:p14="http://schemas.microsoft.com/office/powerpoint/2010/main" xmlns="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48743" y="3575093"/>
            <a:ext cx="1761600" cy="2154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med">
        <p15:prstTrans prst="pageCurlDouble"/>
      </p:transition>
    </mc:Choice>
    <mc:Fallback xmlns:a14="http://schemas.microsoft.com/office/drawing/2010/main" xmlns:a16="http://schemas.microsoft.com/office/drawing/2014/main" xmlns:p14="http://schemas.microsoft.com/office/powerpoint/2010/main"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2" name="yt_shape_12802"/>
          <p:cNvSpPr txBox="1"/>
          <p:nvPr/>
        </p:nvSpPr>
        <p:spPr>
          <a:xfrm>
            <a:off x="267086" y="387247"/>
            <a:ext cx="11924914" cy="113543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黑体" pitchFamily="28"/>
              </a:rPr>
              <a:t>【例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3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黑体" pitchFamily="28"/>
              </a:rPr>
              <a:t>】</a:t>
            </a:r>
            <a:r>
              <a:rPr lang="zh-CN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2026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·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浙江杭州期中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有人提出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“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加速度的变化率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”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的概念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  <a:sym typeface="_⨹_1_26afb"/>
              </a:rPr>
              <a:t>，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基于你的理解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下列说法正确的是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</a:t>
            </a:r>
            <a:r>
              <a:rPr lang="en-US" altLang="zh-CN" sz="2800" b="0" i="0" u="none">
                <a:solidFill>
                  <a:srgbClr val="C00000">
                    <a:alpha val="0"/>
                  </a:srgbClr>
                </a:solidFill>
                <a:effectLst/>
                <a:latin typeface="Times New Roman" pitchFamily="28"/>
                <a:ea typeface="宋体" pitchFamily="28"/>
              </a:rPr>
              <a:t>D</a:t>
            </a:r>
            <a:r>
              <a:rPr lang="zh-CN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</a:p>
        </p:txBody>
      </p:sp>
      <p:pic>
        <p:nvPicPr>
          <p:cNvPr id="12803" name="yt_image_12803" title="H_164.64">
            <a:extLst>
              <a:ext uri="">
                <a16:creationId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a16="http://schemas.microsoft.com/office/drawing/2014/main" xmlns="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76984" y="1725838"/>
            <a:ext cx="2324061" cy="20909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6" name="yt_table_12805" title="H_282.24">
            <a:extLst>
              <a:ext uri="{FF2B5EF4-FFF2-40B4-BE49-F238E27FC236}">
                <a16:creationId xmlns:a16="http://schemas.microsoft.com/office/drawing/2014/main" id="{85F9CD91-DE56-4981-AD6D-3D4292DC4A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341452"/>
              </p:ext>
            </p:extLst>
          </p:nvPr>
        </p:nvGraphicFramePr>
        <p:xfrm>
          <a:off x="267086" y="3816766"/>
          <a:ext cx="11543919" cy="2560320"/>
        </p:xfrm>
        <a:graphic>
          <a:graphicData uri="http://schemas.openxmlformats.org/drawingml/2006/table">
            <a:tbl>
              <a:tblPr/>
              <a:tblGrid>
                <a:gridCol w="11543919">
                  <a:extLst>
                    <a:ext uri="{9D8B030D-6E8A-4147-A177-3AD203B41FA5}">
                      <a16:colId xmlns:a16="http://schemas.microsoft.com/office/drawing/2014/main" val="102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0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A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“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加速度的变化率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”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的单位应是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m/s</a:t>
                      </a:r>
                      <a:r>
                        <a:rPr lang="en-US" altLang="zh-CN" sz="2800" b="0" i="0" u="none" baseline="3000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2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03492" indent="-503492" algn="l" eaLnBrk="1" fontAlgn="ctr" latinLnBrk="0" hangingPunct="0">
                        <a:lnSpc>
                          <a:spcPct val="10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B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加速度的变化率为零的运动是匀速直线运动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03492" indent="-503492" algn="l" eaLnBrk="1" fontAlgn="ctr" latinLnBrk="0" hangingPunct="0">
                        <a:lnSpc>
                          <a:spcPct val="10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C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若加速度与速度同方向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如图所示的</a:t>
                      </a:r>
                      <a:r>
                        <a:rPr lang="en-US" altLang="zh-CN" sz="2800" b="0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a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-</a:t>
                      </a:r>
                      <a:r>
                        <a:rPr lang="en-US" altLang="zh-CN" sz="2800" b="0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t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图像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  <a:sym typeface="_⨹_10_b9bbc"/>
                        </a:rPr>
                        <a:t>表示的是物体的速度在</a:t>
                      </a:r>
                      <a:b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</a:b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减小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0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D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如图所示的</a:t>
                      </a:r>
                      <a:r>
                        <a:rPr lang="en-US" altLang="zh-CN" sz="2800" b="0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a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-</a:t>
                      </a:r>
                      <a:r>
                        <a:rPr lang="en-US" altLang="zh-CN" sz="2800" b="0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t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图像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已知物体在</a:t>
                      </a:r>
                      <a:r>
                        <a:rPr lang="en-US" altLang="zh-CN" sz="2800" b="0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t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＝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0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时速度为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5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m/s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  <a:sym typeface="_⨹_7_80e0a"/>
                        </a:rPr>
                        <a:t>若加速度与速度</a:t>
                      </a:r>
                      <a:b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</a:b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方向相反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则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2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s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末的速度大小为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2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m/s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88"/>
                  </a:ext>
                </a:extLst>
              </a:tr>
            </a:tbl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D8AFB920-9FA1-4E95-AE2D-F19F0BDE6791}"/>
              </a:ext>
            </a:extLst>
          </p:cNvPr>
          <p:cNvSpPr/>
          <p:nvPr/>
        </p:nvSpPr>
        <p:spPr>
          <a:xfrm>
            <a:off x="65585" y="5495101"/>
            <a:ext cx="761669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500" b="1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√</a:t>
            </a:r>
            <a:endParaRPr lang="zh-CN" altLang="en-US" sz="4500" b="1" dirty="0">
              <a:solidFill>
                <a:srgbClr val="C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med">
        <p15:prstTrans prst="pageCurlDouble"/>
      </p:transition>
    </mc:Choice>
    <mc:Fallback xmlns:a16="http://schemas.microsoft.com/office/drawing/2014/main" xmlns:a14="http://schemas.microsoft.com/office/drawing/2010/main" xmlns:p14="http://schemas.microsoft.com/office/powerpoint/2010/main"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2807" name="yt_shape_12807"/>
              <p:cNvSpPr txBox="1"/>
              <p:nvPr/>
            </p:nvSpPr>
            <p:spPr>
              <a:xfrm>
                <a:off x="324071" y="467999"/>
                <a:ext cx="11924914" cy="4787401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>
                    <a:solidFill>
                      <a:srgbClr val="0000FF"/>
                    </a:solidFill>
                    <a:effectLst/>
                    <a:latin typeface="Times New Roman" pitchFamily="28"/>
                    <a:ea typeface="黑体" pitchFamily="28"/>
                  </a:rPr>
                  <a:t>解析：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加速度的变化率定义为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Δ</m:t>
                        </m:r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𝑎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Δ</m:t>
                        </m:r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故其单位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m</m:t>
                        </m:r>
                        <m:r>
                          <m:rPr>
                            <m:nor/>
                          </m:rP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宋体" panose="02040503050406030204" pitchFamily="56" charset="0"/>
                          </a:rPr>
                          <m:t>/</m:t>
                        </m:r>
                        <m:sSup>
                          <m:sSup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s</m:t>
                            </m:r>
                          </m:e>
                          <m:sup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s</m:t>
                        </m:r>
                      </m:den>
                    </m:f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m/s</a:t>
                </a:r>
                <a:r>
                  <a:rPr lang="en-US" altLang="zh-CN" sz="2800" b="0" i="0" u="none" baseline="30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3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故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错误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；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3_38fed"/>
                  </a:rPr>
                  <a:t>加速度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的变化率为零的运动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说明物体的加速度不变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但不一定为零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4_3eb46"/>
                  </a:rPr>
                  <a:t>不一定是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匀速直线运动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故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B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错误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；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若加速度与速度同向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即使加速度减小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2_2b515"/>
                  </a:rPr>
                  <a:t>物体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的速度仍然增大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故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C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错误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；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若加速度与速度反向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则物体的速度减小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  <a:sym typeface="_⨹_1_862bc"/>
                  </a:rPr>
                  <a:t>，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</a:b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已知物体在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时速度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5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m/s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设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s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末速度大小为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由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-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图像可知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1_7775d"/>
                  </a:rPr>
                  <a:t>图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像与横轴围成的面积表示速度变化量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由图像可知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s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8_9fc11"/>
                  </a:rPr>
                  <a:t>内速度的变化量大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小为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Δ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Times New Roman" pitchFamily="28"/>
                  </a:rPr>
                  <a:t>（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3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×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Times New Roman" pitchFamily="28"/>
                  </a:rPr>
                  <a:t>）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m/s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3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m/s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－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解得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m/s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故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D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正确。</a:t>
                </a:r>
              </a:p>
            </p:txBody>
          </p:sp>
        </mc:Choice>
        <mc:Fallback xmlns="">
          <p:sp>
            <p:nvSpPr>
              <p:cNvPr id="12807" name="yt_shape_1280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71" y="467999"/>
                <a:ext cx="11924914" cy="4787401"/>
              </a:xfrm>
              <a:prstGeom prst="rect">
                <a:avLst/>
              </a:prstGeom>
              <a:blipFill>
                <a:blip r:embed="rId2"/>
                <a:stretch>
                  <a:fillRect l="-1789" b="-15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2811" name="yt_shape_12811"/>
              <p:cNvSpPr txBox="1"/>
              <p:nvPr/>
            </p:nvSpPr>
            <p:spPr>
              <a:xfrm>
                <a:off x="267086" y="1046497"/>
                <a:ext cx="11924914" cy="1642629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由</a:t>
                </a:r>
                <a:r>
                  <a:rPr lang="en-US" altLang="zh-CN" sz="2800" b="0" i="1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x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1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en-US" altLang="zh-CN" sz="2800" b="0" i="0" u="none" baseline="-2500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en-US" altLang="zh-CN" sz="2800" b="0" i="1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＋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2800" b="0" i="1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at</a:t>
                </a:r>
                <a:r>
                  <a:rPr lang="en-US" altLang="zh-CN" sz="2800" b="0" i="0" u="none" baseline="3000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可得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𝑥</m:t>
                        </m:r>
                      </m:num>
                      <m:den>
                        <m: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1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en-US" altLang="zh-CN" sz="2800" b="0" i="0" u="none" baseline="-2500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＋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2800" b="0" i="1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at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𝑥</m:t>
                        </m:r>
                      </m:num>
                      <m:den>
                        <m: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-</a:t>
                </a:r>
                <a:r>
                  <a:rPr lang="en-US" altLang="zh-CN" sz="2800" b="0" i="1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图像的纵截距表示初速度为</a:t>
                </a:r>
                <a:r>
                  <a:rPr lang="en-US" altLang="zh-CN" sz="2800" b="0" i="1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en-US" altLang="zh-CN" sz="2800" b="0" i="0" u="none" baseline="-2500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  <a:sym typeface="_⨹_3_d9e2b"/>
                  </a:rPr>
                  <a:t>斜率为</a:t>
                </a:r>
                <a:b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</a:b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2800" b="0" i="1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如图乙所示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。</a:t>
                </a:r>
              </a:p>
            </p:txBody>
          </p:sp>
        </mc:Choice>
        <mc:Fallback xmlns:p14="http://schemas.microsoft.com/office/powerpoint/2010/main" xmlns:p15="http://schemas.microsoft.com/office/powerpoint/2012/main" xmlns:a16="http://schemas.microsoft.com/office/drawing/2014/main" xmlns="">
          <p:sp>
            <p:nvSpPr>
              <p:cNvPr id="12811" name="yt_shape_128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086" y="1046497"/>
                <a:ext cx="11924914" cy="1642629"/>
              </a:xfrm>
              <a:prstGeom prst="rect">
                <a:avLst/>
              </a:prstGeom>
              <a:blipFill>
                <a:blip r:embed="rId2"/>
                <a:stretch>
                  <a:fillRect l="-1840" b="-66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813" name="yt_image_12813">
            <a:extLst>
              <a:ext uri="">
                <a16:creationId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a16="http://schemas.microsoft.com/office/drawing/2014/main" xmlns="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706773" y="2892278"/>
            <a:ext cx="2664482" cy="23332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yt_shape_12809"/>
              <p:cNvSpPr txBox="1"/>
              <p:nvPr/>
            </p:nvSpPr>
            <p:spPr>
              <a:xfrm>
                <a:off x="267086" y="370294"/>
                <a:ext cx="2536592" cy="749436"/>
              </a:xfrm>
              <a:prstGeom prst="rect">
                <a:avLst/>
              </a:prstGeom>
            </p:spPr>
            <p:txBody>
              <a:bodyPr vert="horz" wrap="non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黑体" pitchFamily="28"/>
                  </a:rPr>
                  <a:t>类型二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｜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𝑥</m:t>
                        </m:r>
                      </m:num>
                      <m:den>
                        <m: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黑体" pitchFamily="28"/>
                  </a:rPr>
                  <a:t>-</a:t>
                </a:r>
                <a:r>
                  <a:rPr lang="en-US" altLang="zh-CN" sz="2800" b="0" i="1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黑体" pitchFamily="28"/>
                  </a:rPr>
                  <a:t>图像</a:t>
                </a:r>
              </a:p>
            </p:txBody>
          </p:sp>
        </mc:Choice>
        <mc:Fallback xmlns:p14="http://schemas.microsoft.com/office/powerpoint/2010/main" xmlns:p15="http://schemas.microsoft.com/office/powerpoint/2012/main" xmlns:a16="http://schemas.microsoft.com/office/drawing/2014/main" xmlns="">
          <p:sp>
            <p:nvSpPr>
              <p:cNvPr id="4" name="yt_shape_1280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086" y="370294"/>
                <a:ext cx="2536592" cy="749436"/>
              </a:xfrm>
              <a:prstGeom prst="rect">
                <a:avLst/>
              </a:prstGeom>
              <a:blipFill>
                <a:blip r:embed="rId4"/>
                <a:stretch>
                  <a:fillRect l="-8654" r="-6731" b="-1463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2815" name="yt_shape_12815"/>
              <p:cNvSpPr txBox="1"/>
              <p:nvPr/>
            </p:nvSpPr>
            <p:spPr>
              <a:xfrm>
                <a:off x="324071" y="467999"/>
                <a:ext cx="11924914" cy="1339277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黑体" pitchFamily="28"/>
                  </a:rPr>
                  <a:t>【例</a:t>
                </a:r>
                <a:r>
                  <a:rPr lang="en-US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4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黑体" pitchFamily="28"/>
                  </a:rPr>
                  <a:t>】</a:t>
                </a:r>
                <a:r>
                  <a:rPr lang="zh-CN" altLang="zh-CN" sz="2800" b="0" i="1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　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一质点沿直线运动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从</a:t>
                </a:r>
                <a:r>
                  <a:rPr lang="en-US" altLang="zh-CN" sz="2800" b="0" i="1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时刻开始的质点的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𝑥</m:t>
                        </m:r>
                      </m:num>
                      <m:den>
                        <m: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-</a:t>
                </a:r>
                <a:r>
                  <a:rPr lang="en-US" altLang="zh-CN" sz="2800" b="0" i="1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图像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（</a:t>
                </a:r>
                <a:r>
                  <a:rPr lang="en-US" altLang="zh-CN" sz="2800" b="0" i="1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x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  <a:sym typeface="_⨹_2_55fc1"/>
                  </a:rPr>
                  <a:t>为位</a:t>
                </a:r>
                <a:b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</a:b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移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）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如图所示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可以推知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（</a:t>
                </a:r>
                <a:r>
                  <a:rPr lang="zh-CN" altLang="zh-CN" sz="2800" b="0" i="1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　</a:t>
                </a:r>
                <a:r>
                  <a:rPr lang="en-US" altLang="zh-CN" sz="2800" b="0" i="0" u="none">
                    <a:solidFill>
                      <a:srgbClr val="C00000">
                        <a:alpha val="0"/>
                      </a:srgbClr>
                    </a:solidFill>
                    <a:effectLst/>
                    <a:latin typeface="Times New Roman" pitchFamily="28"/>
                    <a:ea typeface="宋体" pitchFamily="28"/>
                  </a:rPr>
                  <a:t>B</a:t>
                </a:r>
                <a:r>
                  <a:rPr lang="zh-CN" altLang="zh-CN" sz="2800" b="0" i="1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　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）</a:t>
                </a:r>
              </a:p>
            </p:txBody>
          </p:sp>
        </mc:Choice>
        <mc:Fallback xmlns:p14="http://schemas.microsoft.com/office/powerpoint/2010/main" xmlns:p15="http://schemas.microsoft.com/office/powerpoint/2012/main" xmlns:a16="http://schemas.microsoft.com/office/drawing/2014/main" xmlns="">
          <p:sp>
            <p:nvSpPr>
              <p:cNvPr id="12815" name="yt_shape_128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71" y="467999"/>
                <a:ext cx="11924914" cy="1339277"/>
              </a:xfrm>
              <a:prstGeom prst="rect">
                <a:avLst/>
              </a:prstGeom>
              <a:blipFill>
                <a:blip r:embed="rId2"/>
                <a:stretch>
                  <a:fillRect l="-1789" b="-159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817" name="yt_image_12817" title="H_149.16">
            <a:extLst>
              <a:ext uri="">
                <a16:creationId xmlns:mc="http://schemas.openxmlformats.org/markup-compatibility/2006" xmlns:a14="http://schemas.microsoft.com/office/drawing/2010/main" xmlns:p14="http://schemas.microsoft.com/office/powerpoint/2010/main" xmlns:p15="http://schemas.microsoft.com/office/powerpoint/2012/main" xmlns:a16="http://schemas.microsoft.com/office/drawing/2014/main" xmlns="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25257" y="2010428"/>
            <a:ext cx="2941485" cy="1894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2819" name="yt_table_12819" title="H_188.16">
            <a:extLst>
              <a:ext uri="{FF2B5EF4-FFF2-40B4-BE49-F238E27FC236}">
                <a16:creationId xmlns:a16="http://schemas.microsoft.com/office/drawing/2014/main" id="{85F9CD91-DE56-4981-AD6D-3D4292DC4A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3839465"/>
              </p:ext>
            </p:extLst>
          </p:nvPr>
        </p:nvGraphicFramePr>
        <p:xfrm>
          <a:off x="324066" y="3955130"/>
          <a:ext cx="5227638" cy="2389632"/>
        </p:xfrm>
        <a:graphic>
          <a:graphicData uri="http://schemas.openxmlformats.org/drawingml/2006/table">
            <a:tbl>
              <a:tblPr/>
              <a:tblGrid>
                <a:gridCol w="5227638">
                  <a:extLst>
                    <a:ext uri="{9D8B030D-6E8A-4147-A177-3AD203B41FA5}">
                      <a16:colId xmlns:a16="http://schemas.microsoft.com/office/drawing/2014/main" val="102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A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质点做匀减速运动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03492" indent="-503492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B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加速度的大小是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1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m/s</a:t>
                      </a:r>
                      <a:r>
                        <a:rPr lang="en-US" altLang="zh-CN" sz="2800" b="0" i="0" u="none" baseline="3000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2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03492" indent="-503492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C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t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＝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2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s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时质点的速度是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1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m/s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D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t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＝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2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s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时质点的位移是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3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m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92"/>
                  </a:ext>
                </a:extLst>
              </a:tr>
            </a:tbl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id="{D8AFB920-9FA1-4E95-AE2D-F19F0BDE6791}"/>
              </a:ext>
            </a:extLst>
          </p:cNvPr>
          <p:cNvSpPr/>
          <p:nvPr/>
        </p:nvSpPr>
        <p:spPr>
          <a:xfrm>
            <a:off x="102908" y="4646016"/>
            <a:ext cx="761669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500" b="1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√</a:t>
            </a:r>
            <a:endParaRPr lang="zh-CN" altLang="en-US" sz="4500" b="1" dirty="0">
              <a:solidFill>
                <a:srgbClr val="C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med">
        <p15:prstTrans prst="pageCurlDouble"/>
      </p:transition>
    </mc:Choice>
    <mc:Fallback xmlns:a14="http://schemas.microsoft.com/office/drawing/2010/main" xmlns:a16="http://schemas.microsoft.com/office/drawing/2014/main" xmlns:p14="http://schemas.microsoft.com/office/powerpoint/2010/main"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2821" name="yt_shape_12821"/>
              <p:cNvSpPr txBox="1"/>
              <p:nvPr/>
            </p:nvSpPr>
            <p:spPr>
              <a:xfrm>
                <a:off x="324071" y="467999"/>
                <a:ext cx="11543998" cy="3700821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>
                    <a:solidFill>
                      <a:srgbClr val="0000FF"/>
                    </a:solidFill>
                    <a:effectLst/>
                    <a:latin typeface="Times New Roman" pitchFamily="28"/>
                    <a:ea typeface="黑体" pitchFamily="28"/>
                  </a:rPr>
                  <a:t>解析：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由题意可得图线的函数表达式为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𝑥</m:t>
                        </m:r>
                      </m:num>
                      <m:den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＋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即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x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＋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en-US" altLang="zh-CN" sz="2800" b="0" i="0" u="none" baseline="30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5_ec034"/>
                  </a:rPr>
                  <a:t>又因为匀变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速直线运动的位移公式为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x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＋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at</a:t>
                </a:r>
                <a:r>
                  <a:rPr lang="en-US" altLang="zh-CN" sz="2800" b="0" i="0" u="none" baseline="30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根据对应关系得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m/s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1_50ad8"/>
                  </a:rPr>
                  <a:t> 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m/s</a:t>
                </a:r>
                <a:r>
                  <a:rPr lang="en-US" altLang="zh-CN" sz="2800" b="0" i="0" u="none" baseline="30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＞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因此质点做匀加速运动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故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项错误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B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项正确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；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当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s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时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1_81d9a"/>
                  </a:rPr>
                  <a:t>根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据公式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＋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at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代入数据得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3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m/s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故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C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项错误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；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当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s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时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3_407db"/>
                  </a:rPr>
                  <a:t>代入表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达式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x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＋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en-US" altLang="zh-CN" sz="2800" b="0" i="0" u="none" baseline="30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可得位移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x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4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故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D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项错误。</a:t>
                </a:r>
              </a:p>
            </p:txBody>
          </p:sp>
        </mc:Choice>
        <mc:Fallback xmlns="">
          <p:sp>
            <p:nvSpPr>
              <p:cNvPr id="12821" name="yt_shape_128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71" y="467999"/>
                <a:ext cx="11543998" cy="3700821"/>
              </a:xfrm>
              <a:prstGeom prst="rect">
                <a:avLst/>
              </a:prstGeom>
              <a:blipFill>
                <a:blip r:embed="rId2"/>
                <a:stretch>
                  <a:fillRect l="-1848" r="-1478" b="-23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26" name="yt_image_12826">
            <a:extLst>
              <a:ext uri="">
                <a16:creationId xmlns:mc="http://schemas.openxmlformats.org/markup-compatibility/2006" xmlns:a14="http://schemas.microsoft.com/office/drawing/2010/main" xmlns:p14="http://schemas.microsoft.com/office/powerpoint/2010/main" xmlns:p15="http://schemas.microsoft.com/office/powerpoint/2012/main" xmlns:a16="http://schemas.microsoft.com/office/drawing/2014/main" xmlns="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54277" y="2688685"/>
            <a:ext cx="2566202" cy="23332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yt_shape_12824"/>
              <p:cNvSpPr txBox="1"/>
              <p:nvPr/>
            </p:nvSpPr>
            <p:spPr>
              <a:xfrm>
                <a:off x="267086" y="608661"/>
                <a:ext cx="11924914" cy="1719510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黑体" pitchFamily="28"/>
                  </a:rPr>
                  <a:t>类型三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｜</a:t>
                </a:r>
                <a:r>
                  <a:rPr lang="en-US" altLang="zh-CN" sz="2800" b="0" i="1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en-US" altLang="zh-CN" sz="2800" b="0" i="0" u="none" baseline="3000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黑体" pitchFamily="28"/>
                  </a:rPr>
                  <a:t>-</a:t>
                </a:r>
                <a:r>
                  <a:rPr lang="en-US" altLang="zh-CN" sz="2800" b="0" i="1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x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黑体" pitchFamily="28"/>
                  </a:rPr>
                  <a:t>图像</a:t>
                </a:r>
              </a:p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由</a:t>
                </a:r>
                <a:r>
                  <a:rPr lang="en-US" altLang="zh-CN" sz="2800" b="0" i="1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en-US" altLang="zh-CN" sz="2800" b="0" i="0" u="none" baseline="3000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－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b="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800" b="0" i="0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0</m:t>
                            </m:r>
                          </m:sub>
                        </m:sSub>
                      </m:e>
                      <m:sup>
                        <m:r>
                          <a:rPr lang="en-US" altLang="zh-CN" sz="2800" b="0" i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en-US" altLang="zh-CN" sz="2800" b="0" i="1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ax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可知</a:t>
                </a:r>
                <a:r>
                  <a:rPr lang="en-US" altLang="zh-CN" sz="2800" b="0" i="1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en-US" altLang="zh-CN" sz="2800" b="0" i="0" u="none" baseline="3000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b="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800" b="0" i="0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0</m:t>
                            </m:r>
                          </m:sub>
                        </m:sSub>
                      </m:e>
                      <m:sup>
                        <m:r>
                          <a:rPr lang="en-US" altLang="zh-CN" sz="2800" b="0" i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＋</a:t>
                </a:r>
                <a:r>
                  <a:rPr lang="en-US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en-US" altLang="zh-CN" sz="2800" b="0" i="1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ax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0" i="1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en-US" altLang="zh-CN" sz="2800" b="0" i="0" u="none" baseline="3000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-</a:t>
                </a:r>
                <a:r>
                  <a:rPr lang="en-US" altLang="zh-CN" sz="2800" b="0" i="1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x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图像的纵截距为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b="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800" b="0" i="0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0</m:t>
                            </m:r>
                          </m:sub>
                        </m:sSub>
                      </m:e>
                      <m:sup>
                        <m:r>
                          <a:rPr lang="en-US" altLang="zh-CN" sz="2800" b="0" i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斜率为</a:t>
                </a:r>
                <a:r>
                  <a:rPr lang="en-US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en-US" altLang="zh-CN" sz="2800" b="0" i="1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  <a:sym typeface="_⨹_1_a9eb6"/>
                  </a:rPr>
                  <a:t>，</a:t>
                </a:r>
                <a:b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</a:b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如图丙所示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。</a:t>
                </a:r>
              </a:p>
            </p:txBody>
          </p:sp>
        </mc:Choice>
        <mc:Fallback xmlns:p14="http://schemas.microsoft.com/office/powerpoint/2010/main" xmlns:p15="http://schemas.microsoft.com/office/powerpoint/2012/main" xmlns:a16="http://schemas.microsoft.com/office/drawing/2014/main" xmlns="">
          <p:sp>
            <p:nvSpPr>
              <p:cNvPr id="3" name="yt_shape_128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086" y="608661"/>
                <a:ext cx="11924914" cy="1719510"/>
              </a:xfrm>
              <a:prstGeom prst="rect">
                <a:avLst/>
              </a:prstGeom>
              <a:blipFill>
                <a:blip r:embed="rId3"/>
                <a:stretch>
                  <a:fillRect l="-1840" t="-1418" b="-1170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28" name="yt_shape_12828"/>
          <p:cNvSpPr txBox="1"/>
          <p:nvPr/>
        </p:nvSpPr>
        <p:spPr>
          <a:xfrm>
            <a:off x="324071" y="467999"/>
            <a:ext cx="11924914" cy="173868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黑体" pitchFamily="28"/>
              </a:rPr>
              <a:t>【例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5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黑体" pitchFamily="28"/>
              </a:rPr>
              <a:t>】</a:t>
            </a:r>
            <a:r>
              <a:rPr lang="zh-CN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如图甲是港珠澳大桥中的一段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一辆小汽车在长度为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L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21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m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1_dc7c3"/>
              </a:rPr>
              <a:t>的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平直桥面上提速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图乙是该车在该段的车速的平方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en-US" altLang="zh-CN" sz="2800" b="0" i="0" u="none" baseline="30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与位移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x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2_d5531"/>
              </a:rPr>
              <a:t>的关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系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则该小汽车通过该段平直桥面的加速度和平均速度分别为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</a:t>
            </a:r>
            <a:r>
              <a:rPr lang="en-US" altLang="zh-CN" sz="2800" b="0" i="0" u="none">
                <a:solidFill>
                  <a:srgbClr val="C00000">
                    <a:alpha val="0"/>
                  </a:srgbClr>
                </a:solidFill>
                <a:effectLst/>
                <a:latin typeface="Times New Roman" pitchFamily="28"/>
                <a:ea typeface="宋体" pitchFamily="28"/>
              </a:rPr>
              <a:t>D</a:t>
            </a:r>
            <a:r>
              <a:rPr lang="zh-CN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</a:p>
        </p:txBody>
      </p:sp>
      <p:pic>
        <p:nvPicPr>
          <p:cNvPr id="12829" name="yt_image_12829" title="H_190.56">
            <a:extLst>
              <a:ext uri="">
                <a16:creationId xmlns:a14="http://schemas.microsoft.com/office/drawing/2010/main" xmlns:p14="http://schemas.microsoft.com/office/powerpoint/2010/main" xmlns:mc="http://schemas.openxmlformats.org/markup-compatibility/2006" xmlns:p15="http://schemas.microsoft.com/office/powerpoint/2012/main" xmlns:a16="http://schemas.microsoft.com/office/drawing/2014/main" xmlns="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13696" y="2409832"/>
            <a:ext cx="5164606" cy="2420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831" name="yt_table_12831" title="H_86.71504">
                <a:extLst>
                  <a:ext uri="{FF2B5EF4-FFF2-40B4-BE49-F238E27FC236}">
                    <a16:creationId xmlns:a16="http://schemas.microsoft.com/office/drawing/2014/main" id="{85F9CD91-DE56-4981-AD6D-3D4292DC4A2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09842145"/>
                  </p:ext>
                </p:extLst>
              </p:nvPr>
            </p:nvGraphicFramePr>
            <p:xfrm>
              <a:off x="324066" y="4880198"/>
              <a:ext cx="7669721" cy="1101281"/>
            </p:xfrm>
            <a:graphic>
              <a:graphicData uri="http://schemas.openxmlformats.org/drawingml/2006/table">
                <a:tbl>
                  <a:tblPr/>
                  <a:tblGrid>
                    <a:gridCol w="4515358">
                      <a:extLst>
                        <a:ext uri="{9D8B030D-6E8A-4147-A177-3AD203B41FA5}">
                          <a16:colId xmlns:a16="http://schemas.microsoft.com/office/drawing/2014/main" val="10253"/>
                        </a:ext>
                      </a:extLst>
                    </a:gridCol>
                    <a:gridCol w="3154363">
                      <a:extLst>
                        <a:ext uri="{9D8B030D-6E8A-4147-A177-3AD203B41FA5}">
                          <a16:colId xmlns:a16="http://schemas.microsoft.com/office/drawing/2014/main" val="1025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523174" indent="-523174"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A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.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4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m/s</a:t>
                          </a:r>
                          <a:r>
                            <a:rPr lang="en-US" altLang="zh-CN" sz="2800" b="0" i="0" u="none" baseline="3000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2</a:t>
                          </a:r>
                          <a:r>
                            <a:rPr lang="zh-CN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　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6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m/s</a:t>
                          </a:r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523174" indent="-523174"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B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.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2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m/s</a:t>
                          </a:r>
                          <a:r>
                            <a:rPr lang="en-US" altLang="zh-CN" sz="2800" b="0" i="0" u="none" baseline="3000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2</a:t>
                          </a:r>
                          <a:r>
                            <a:rPr lang="zh-CN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　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3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m/s</a:t>
                          </a:r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69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503492" indent="-503492"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C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.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2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m/s</a:t>
                          </a:r>
                          <a:r>
                            <a:rPr lang="en-US" altLang="zh-CN" sz="2800" b="0" i="0" u="none" baseline="3000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2</a:t>
                          </a:r>
                          <a:r>
                            <a:rPr lang="zh-CN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　</a:t>
                          </a:r>
                          <a14:m>
                            <m:oMath xmlns:m="http://schemas.openxmlformats.org/officeDocument/2006/math">
                              <m:rad>
                                <m:radPr>
                                  <m:degHide m:val="on"/>
                                  <m:ctrlP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56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zh-CN" sz="2800" b="0" i="0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21</m:t>
                                  </m:r>
                                </m:e>
                              </m:rad>
                            </m:oMath>
                          </a14:m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m/s</a:t>
                          </a:r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503492" indent="-503492"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D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.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2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m/s</a:t>
                          </a:r>
                          <a:r>
                            <a:rPr lang="en-US" altLang="zh-CN" sz="2800" b="0" i="0" u="none" baseline="3000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2</a:t>
                          </a:r>
                          <a:r>
                            <a:rPr lang="zh-CN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　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7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m/s</a:t>
                          </a:r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694"/>
                      </a:ext>
                    </a:extLst>
                  </a:tr>
                </a:tbl>
              </a:graphicData>
            </a:graphic>
          </p:graphicFrame>
        </mc:Choice>
        <mc:Fallback xmlns:p14="http://schemas.microsoft.com/office/powerpoint/2010/main" xmlns:p15="http://schemas.microsoft.com/office/powerpoint/2012/main" xmlns:a16="http://schemas.microsoft.com/office/drawing/2014/main" xmlns="">
          <p:graphicFrame>
            <p:nvGraphicFramePr>
              <p:cNvPr id="12831" name="yt_table_12831" descr="{&quot;rangeId&quot;:33,&quot;type&quot;:&quot;Option&quot;}" title="H_86.71504">
                <a:extLst>
                  <a:ext uri="{FF2B5EF4-FFF2-40B4-BE49-F238E27FC236}">
                    <a16:creationId xmlns:a16="http://schemas.microsoft.com/office/drawing/2014/main" id="{85F9CD91-DE56-4981-AD6D-3D4292DC4A2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09842145"/>
                  </p:ext>
                </p:extLst>
              </p:nvPr>
            </p:nvGraphicFramePr>
            <p:xfrm>
              <a:off x="324066" y="4880198"/>
              <a:ext cx="7669721" cy="1101281"/>
            </p:xfrm>
            <a:graphic>
              <a:graphicData uri="http://schemas.openxmlformats.org/drawingml/2006/table">
                <a:tbl>
                  <a:tblPr/>
                  <a:tblGrid>
                    <a:gridCol w="4515358">
                      <a:extLst>
                        <a:ext uri="{9D8B030D-6E8A-4147-A177-3AD203B41FA5}">
                          <a16:colId xmlns:a16="http://schemas.microsoft.com/office/drawing/2014/main" val="10253"/>
                        </a:ext>
                      </a:extLst>
                    </a:gridCol>
                    <a:gridCol w="3154363">
                      <a:extLst>
                        <a:ext uri="{9D8B030D-6E8A-4147-A177-3AD203B41FA5}">
                          <a16:colId xmlns:a16="http://schemas.microsoft.com/office/drawing/2014/main" val="10254"/>
                        </a:ext>
                      </a:extLst>
                    </a:gridCol>
                  </a:tblGrid>
                  <a:tr h="527050">
                    <a:tc>
                      <a:txBody>
                        <a:bodyPr/>
                        <a:lstStyle/>
                        <a:p>
                          <a:pPr marL="523174" indent="-523174"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A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.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4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m/s</a:t>
                          </a:r>
                          <a:r>
                            <a:rPr lang="en-US" altLang="zh-CN" sz="2800" b="0" i="0" u="none" baseline="3000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2</a:t>
                          </a:r>
                          <a:r>
                            <a:rPr lang="zh-CN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　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6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m/s</a:t>
                          </a:r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523174" indent="-523174"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B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.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2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m/s</a:t>
                          </a:r>
                          <a:r>
                            <a:rPr lang="en-US" altLang="zh-CN" sz="2800" b="0" i="0" u="none" baseline="3000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2</a:t>
                          </a:r>
                          <a:r>
                            <a:rPr lang="zh-CN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　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3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m/s</a:t>
                          </a:r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693"/>
                      </a:ext>
                    </a:extLst>
                  </a:tr>
                  <a:tr h="574231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  <a:blipFill>
                          <a:blip r:embed="rId3"/>
                          <a:stretch>
                            <a:fillRect t="-94737" r="-69906" b="-378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503492" indent="-503492"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D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.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2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m/s</a:t>
                          </a:r>
                          <a:r>
                            <a:rPr lang="en-US" altLang="zh-CN" sz="2800" b="0" i="0" u="none" baseline="3000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2</a:t>
                          </a:r>
                          <a:r>
                            <a:rPr lang="zh-CN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　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7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m/s</a:t>
                          </a:r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6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矩形 5">
            <a:extLst>
              <a:ext uri="{FF2B5EF4-FFF2-40B4-BE49-F238E27FC236}">
                <a16:creationId xmlns:a16="http://schemas.microsoft.com/office/drawing/2014/main" id="{D8AFB920-9FA1-4E95-AE2D-F19F0BDE6791}"/>
              </a:ext>
            </a:extLst>
          </p:cNvPr>
          <p:cNvSpPr/>
          <p:nvPr/>
        </p:nvSpPr>
        <p:spPr>
          <a:xfrm>
            <a:off x="4581602" y="5506689"/>
            <a:ext cx="761669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500" b="1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√</a:t>
            </a:r>
            <a:endParaRPr lang="zh-CN" altLang="en-US" sz="4500" b="1" dirty="0">
              <a:solidFill>
                <a:srgbClr val="C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med">
        <p15:prstTrans prst="pageCurlDouble"/>
      </p:transition>
    </mc:Choice>
    <mc:Fallback xmlns:a16="http://schemas.microsoft.com/office/drawing/2014/main" xmlns:a14="http://schemas.microsoft.com/office/drawing/2010/main" xmlns:p14="http://schemas.microsoft.com/office/powerpoint/2010/main"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2832" name="yt_shape_12832"/>
              <p:cNvSpPr txBox="1"/>
              <p:nvPr/>
            </p:nvSpPr>
            <p:spPr>
              <a:xfrm>
                <a:off x="324071" y="467999"/>
                <a:ext cx="11924914" cy="2001382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>
                    <a:solidFill>
                      <a:srgbClr val="0000FF"/>
                    </a:solidFill>
                    <a:effectLst/>
                    <a:latin typeface="Times New Roman" pitchFamily="28"/>
                    <a:ea typeface="黑体" pitchFamily="28"/>
                  </a:rPr>
                  <a:t>解析：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由匀变速直线运动位移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仿宋" pitchFamily="28"/>
                    <a:ea typeface="仿宋" pitchFamily="28"/>
                  </a:rPr>
                  <a:t>—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速度公式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en-US" altLang="zh-CN" sz="2800" b="0" i="0" u="none" baseline="30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－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0</m:t>
                            </m:r>
                          </m:sub>
                        </m:sSub>
                      </m:e>
                      <m:sup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ax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得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en-US" altLang="zh-CN" sz="2800" b="0" i="0" u="none" baseline="30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0</m:t>
                            </m:r>
                          </m:sub>
                        </m:sSub>
                      </m:e>
                      <m:sup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＋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ax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  <a:sym typeface="_⨹_1_d92cb"/>
                  </a:rPr>
                  <a:t>，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</a:b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结合图像可知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m/s</a:t>
                </a:r>
                <a:r>
                  <a:rPr lang="en-US" altLang="zh-CN" sz="2800" b="0" i="0" u="none" baseline="30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4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m/s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10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m/s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由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＋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at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得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所用时间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  <a:sym typeface="_⨹_1_87a74"/>
                  </a:rPr>
                  <a:t>t</a:t>
                </a:r>
                <a:b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</a:b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3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s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平均速度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barPr>
                      <m:e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𝑣</m:t>
                        </m:r>
                      </m:e>
                    </m:bar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𝑥</m:t>
                        </m:r>
                      </m:num>
                      <m:den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21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m/s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7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m/s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故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D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正确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、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B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、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C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错误。</a:t>
                </a:r>
              </a:p>
            </p:txBody>
          </p:sp>
        </mc:Choice>
        <mc:Fallback xmlns="">
          <p:sp>
            <p:nvSpPr>
              <p:cNvPr id="12832" name="yt_shape_128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71" y="467999"/>
                <a:ext cx="11924914" cy="2001382"/>
              </a:xfrm>
              <a:prstGeom prst="rect">
                <a:avLst/>
              </a:prstGeom>
              <a:blipFill>
                <a:blip r:embed="rId2"/>
                <a:stretch>
                  <a:fillRect l="-1789" t="-1220" b="-48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36" name="yt_shape_12836"/>
          <p:cNvSpPr txBox="1"/>
          <p:nvPr/>
        </p:nvSpPr>
        <p:spPr>
          <a:xfrm>
            <a:off x="323995" y="1141923"/>
            <a:ext cx="11563129" cy="1718787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/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 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隶书" pitchFamily="28"/>
              </a:rPr>
              <a:t>〔多选〕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2026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·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浙江杭州期中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16_54451"/>
              </a:rPr>
              <a:t>利用图像法研究物理量之间的关系是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常用的一种数学物理方法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20_c71e2"/>
              </a:rPr>
              <a:t>下面四幅图为物体做直线运动时各物理量之间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的关系图像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x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、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、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、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t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分别表示物体的位移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、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速度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、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加速度和时间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  <a:sym typeface="_⨹_2_598d4"/>
              </a:rPr>
              <a:t>），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则下列说法中正确的是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</a:t>
            </a:r>
            <a:r>
              <a:rPr lang="en-US" altLang="zh-CN" sz="2800" b="0" i="0" u="none">
                <a:solidFill>
                  <a:srgbClr val="C00000">
                    <a:alpha val="0"/>
                  </a:srgbClr>
                </a:solidFill>
                <a:effectLst/>
                <a:latin typeface="Times New Roman" pitchFamily="28"/>
                <a:ea typeface="宋体" pitchFamily="28"/>
              </a:rPr>
              <a:t>AD</a:t>
            </a:r>
            <a:r>
              <a:rPr lang="zh-CN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</a:p>
        </p:txBody>
      </p:sp>
      <p:graphicFrame>
        <p:nvGraphicFramePr>
          <p:cNvPr id="12839" name="yt_table_12839_skip" title="H_188.16">
            <a:extLst>
              <a:ext uri="{FF2B5EF4-FFF2-40B4-BE49-F238E27FC236}">
                <a16:creationId xmlns:a16="http://schemas.microsoft.com/office/drawing/2014/main" id="{85F9CD91-DE56-4981-AD6D-3D4292DC4A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0364312"/>
              </p:ext>
            </p:extLst>
          </p:nvPr>
        </p:nvGraphicFramePr>
        <p:xfrm>
          <a:off x="323995" y="4902067"/>
          <a:ext cx="7323139" cy="1706880"/>
        </p:xfrm>
        <a:graphic>
          <a:graphicData uri="http://schemas.openxmlformats.org/drawingml/2006/table">
            <a:tbl>
              <a:tblPr/>
              <a:tblGrid>
                <a:gridCol w="7323139">
                  <a:extLst>
                    <a:ext uri="{9D8B030D-6E8A-4147-A177-3AD203B41FA5}">
                      <a16:colId xmlns:a16="http://schemas.microsoft.com/office/drawing/2014/main" val="102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0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A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甲图中可求出物体的加速度大小为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2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m/s</a:t>
                      </a:r>
                      <a:r>
                        <a:rPr lang="en-US" altLang="zh-CN" sz="2800" b="0" i="0" u="none" baseline="3000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2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03492" indent="-503492" algn="l" eaLnBrk="1" fontAlgn="ctr" latinLnBrk="0" hangingPunct="0">
                        <a:lnSpc>
                          <a:spcPct val="10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B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乙图中可求出物体的加速度大小为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1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m/s</a:t>
                      </a:r>
                      <a:r>
                        <a:rPr lang="en-US" altLang="zh-CN" sz="2800" b="0" i="0" u="none" baseline="3000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2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03492" indent="-503492" algn="l" eaLnBrk="1" fontAlgn="ctr" latinLnBrk="0" hangingPunct="0">
                        <a:lnSpc>
                          <a:spcPct val="10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C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丙图中可求出物体的加速度大小为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1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m/s</a:t>
                      </a:r>
                      <a:r>
                        <a:rPr lang="en-US" altLang="zh-CN" sz="2800" b="0" i="0" u="none" baseline="3000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2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0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D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丁图中可求出物体的加速度大小为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4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m/s</a:t>
                      </a:r>
                      <a:r>
                        <a:rPr lang="en-US" altLang="zh-CN" sz="2800" b="0" i="0" u="none" baseline="3000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2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98"/>
                  </a:ext>
                </a:extLst>
              </a:tr>
            </a:tbl>
          </a:graphicData>
        </a:graphic>
      </p:graphicFrame>
      <p:pic>
        <p:nvPicPr>
          <p:cNvPr id="12837" name="yt_image_12837_skip" title="H_213.6">
            <a:extLst>
              <a:ext uri="">
                <a16:creationId xmlns:mc="http://schemas.openxmlformats.org/markup-compatibility/2006" xmlns:a14="http://schemas.microsoft.com/office/drawing/2010/main" xmlns:p14="http://schemas.microsoft.com/office/powerpoint/2010/main" xmlns:p15="http://schemas.microsoft.com/office/powerpoint/2012/main" xmlns:a16="http://schemas.microsoft.com/office/drawing/2014/main" xmlns="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995" y="2860710"/>
            <a:ext cx="4798512" cy="20147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838" name="yt_image_12838_skip" title="H_212.52">
            <a:extLst>
              <a:ext uri="">
                <a16:creationId xmlns:mc="http://schemas.openxmlformats.org/markup-compatibility/2006" xmlns:a14="http://schemas.microsoft.com/office/drawing/2010/main" xmlns:p14="http://schemas.microsoft.com/office/powerpoint/2010/main" xmlns:p15="http://schemas.microsoft.com/office/powerpoint/2012/main" xmlns:a16="http://schemas.microsoft.com/office/drawing/2014/main" xmlns="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99642" y="2961162"/>
            <a:ext cx="4583909" cy="19142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0C321326-13EE-4346-8BA3-83BDF1BA09C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95" y="423601"/>
            <a:ext cx="2348629" cy="617870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D8AFB920-9FA1-4E95-AE2D-F19F0BDE6791}"/>
              </a:ext>
            </a:extLst>
          </p:cNvPr>
          <p:cNvSpPr/>
          <p:nvPr/>
        </p:nvSpPr>
        <p:spPr>
          <a:xfrm>
            <a:off x="140231" y="4769571"/>
            <a:ext cx="761669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500" b="1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√</a:t>
            </a:r>
            <a:endParaRPr lang="zh-CN" altLang="en-US" sz="4500" b="1" dirty="0">
              <a:solidFill>
                <a:srgbClr val="C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8AFB920-9FA1-4E95-AE2D-F19F0BDE6791}"/>
              </a:ext>
            </a:extLst>
          </p:cNvPr>
          <p:cNvSpPr/>
          <p:nvPr/>
        </p:nvSpPr>
        <p:spPr>
          <a:xfrm>
            <a:off x="74918" y="5999467"/>
            <a:ext cx="761669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500" b="1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√</a:t>
            </a:r>
            <a:endParaRPr lang="zh-CN" altLang="en-US" sz="4500" b="1" dirty="0">
              <a:solidFill>
                <a:srgbClr val="C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med">
        <p15:prstTrans prst="pageCurlDouble"/>
      </p:transition>
    </mc:Choice>
    <mc:Fallback xmlns:a14="http://schemas.microsoft.com/office/drawing/2010/main" xmlns:a16="http://schemas.microsoft.com/office/drawing/2014/main" xmlns:p14="http://schemas.microsoft.com/office/powerpoint/2010/main"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2841" name="yt_shape_12841"/>
              <p:cNvSpPr txBox="1"/>
              <p:nvPr/>
            </p:nvSpPr>
            <p:spPr>
              <a:xfrm>
                <a:off x="324071" y="467999"/>
                <a:ext cx="11924914" cy="6252161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>
                    <a:solidFill>
                      <a:srgbClr val="0000FF"/>
                    </a:solidFill>
                    <a:effectLst/>
                    <a:latin typeface="Times New Roman" pitchFamily="28"/>
                    <a:ea typeface="黑体" pitchFamily="28"/>
                  </a:rPr>
                  <a:t>解析：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根据匀变速直线运动位移与时间的关系有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x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at</a:t>
                </a:r>
                <a:r>
                  <a:rPr lang="en-US" altLang="zh-CN" sz="2800" b="0" i="0" u="none" baseline="30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7_e48ad"/>
                  </a:rPr>
                  <a:t>结合图像斜率可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得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k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m/s</a:t>
                </a:r>
                <a:r>
                  <a:rPr lang="en-US" altLang="zh-CN" sz="2800" b="0" i="0" u="none" baseline="30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解得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m/s</a:t>
                </a:r>
                <a:r>
                  <a:rPr lang="en-US" altLang="zh-CN" sz="2800" b="0" i="0" u="none" baseline="30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正确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；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13_d4934"/>
                  </a:rPr>
                  <a:t>根据匀变速直线运动速度与位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移的关系有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en-US" altLang="zh-CN" sz="2800" b="0" i="0" u="none" baseline="30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ax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结合图像斜率可得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k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m/s</a:t>
                </a:r>
                <a:r>
                  <a:rPr lang="en-US" altLang="zh-CN" sz="2800" b="0" i="0" u="none" baseline="30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解得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.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5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m/s</a:t>
                </a:r>
                <a:r>
                  <a:rPr lang="en-US" altLang="zh-CN" sz="2800" b="0" i="0" u="none" baseline="30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  <a:sym typeface="_⨹_1_dcc04"/>
                  </a:rPr>
                  <a:t>，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</a:b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B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错误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；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根据图像可求得图像的解析式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𝑥</m:t>
                        </m:r>
                      </m:num>
                      <m:den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（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:r>
                  <a:rPr lang="zh-CN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Times New Roman" pitchFamily="28"/>
                  </a:rPr>
                  <a:t>·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s</a:t>
                </a:r>
                <a:r>
                  <a:rPr lang="zh-CN" altLang="zh-CN" sz="2800" b="0" i="0" u="none" baseline="3000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－</a:t>
                </a:r>
                <a:r>
                  <a:rPr lang="en-US" altLang="zh-CN" sz="2800" b="0" i="0" u="none" baseline="30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），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变形可得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x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en-US" altLang="zh-CN" sz="2800" b="0" i="0" u="none" baseline="30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  <a:sym typeface="_⨹_1_fc26d"/>
                  </a:rPr>
                  <a:t>2</a:t>
                </a:r>
                <a:br>
                  <a:rPr lang="en-US" altLang="zh-CN" sz="2800" b="0" i="0" u="none" baseline="30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</a:b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（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），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结合匀变速直线运动位移时间关系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x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at</a:t>
                </a:r>
                <a:r>
                  <a:rPr lang="en-US" altLang="zh-CN" sz="2800" b="0" i="0" u="none" baseline="30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可得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m/s</a:t>
                </a:r>
                <a:r>
                  <a:rPr lang="en-US" altLang="zh-CN" sz="2800" b="0" i="0" u="none" baseline="30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C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1_c832c"/>
                  </a:rPr>
                  <a:t>错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误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；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根据图像可求得图像的解析式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𝑥</m:t>
                        </m:r>
                      </m:num>
                      <m:den>
                        <m:sSup>
                          <m:sSup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p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fPr>
                          <m:num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𝑡</m:t>
                            </m:r>
                          </m:den>
                        </m:f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−</m:t>
                        </m:r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e>
                    </m:d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（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:r>
                  <a:rPr lang="zh-CN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Times New Roman" pitchFamily="28"/>
                  </a:rPr>
                  <a:t>·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s</a:t>
                </a:r>
                <a:r>
                  <a:rPr lang="zh-CN" altLang="zh-CN" sz="2800" b="0" i="0" u="none" baseline="3000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－</a:t>
                </a:r>
                <a:r>
                  <a:rPr lang="en-US" altLang="zh-CN" sz="2800" b="0" i="0" u="none" baseline="30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），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变形可得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x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  <a:sym typeface="_⨹_1_fac58"/>
                  </a:rPr>
                  <a:t>－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</a:b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en-US" altLang="zh-CN" sz="2800" b="0" i="0" u="none" baseline="30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（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），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结合匀变速直线运动位移与时间的关系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x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＋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at</a:t>
                </a:r>
                <a:r>
                  <a:rPr lang="en-US" altLang="zh-CN" sz="2800" b="0" i="0" u="none" baseline="30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可得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  <a:sym typeface="_⨹_2_4022d"/>
                  </a:rPr>
                  <a:t>＝－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</a:b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4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m/s</a:t>
                </a:r>
                <a:r>
                  <a:rPr lang="en-US" altLang="zh-CN" sz="2800" b="0" i="0" u="none" baseline="30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m/s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物体的加速度大小为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4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m/s</a:t>
                </a:r>
                <a:r>
                  <a:rPr lang="en-US" altLang="zh-CN" sz="2800" b="0" i="0" u="none" baseline="30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D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正确。</a:t>
                </a:r>
              </a:p>
            </p:txBody>
          </p:sp>
        </mc:Choice>
        <mc:Fallback xmlns="">
          <p:sp>
            <p:nvSpPr>
              <p:cNvPr id="12841" name="yt_shape_128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71" y="467999"/>
                <a:ext cx="11924914" cy="6252161"/>
              </a:xfrm>
              <a:prstGeom prst="rect">
                <a:avLst/>
              </a:prstGeom>
              <a:blipFill>
                <a:blip r:embed="rId2"/>
                <a:stretch>
                  <a:fillRect l="-1789" b="-263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43" name="yt_shape_12843"/>
          <p:cNvSpPr txBox="1"/>
          <p:nvPr/>
        </p:nvSpPr>
        <p:spPr>
          <a:xfrm>
            <a:off x="324071" y="467999"/>
            <a:ext cx="11924914" cy="173868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 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如图所示是某物体做直线运动的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en-US" altLang="zh-CN" sz="2800" b="0" i="0" u="none" baseline="30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-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x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图像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其中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为速度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x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4_4229d"/>
              </a:rPr>
              <a:t>为位置坐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标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下列关于物体从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x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处运动至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x</a:t>
            </a:r>
            <a:r>
              <a:rPr lang="en-US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处的过程分析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6_c50d4"/>
              </a:rPr>
              <a:t>其中正确的是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</a:t>
            </a:r>
            <a:r>
              <a:rPr lang="en-US" altLang="zh-CN" sz="2800" b="0" i="0" u="none">
                <a:solidFill>
                  <a:srgbClr val="C00000">
                    <a:alpha val="0"/>
                  </a:srgbClr>
                </a:solidFill>
                <a:effectLst/>
                <a:latin typeface="Times New Roman" pitchFamily="28"/>
                <a:ea typeface="宋体" pitchFamily="28"/>
              </a:rPr>
              <a:t>B</a:t>
            </a:r>
            <a:r>
              <a:rPr lang="zh-CN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845" name="yt_table_12845_skip" title="H_238.38512">
                <a:extLst>
                  <a:ext uri="{FF2B5EF4-FFF2-40B4-BE49-F238E27FC236}">
                    <a16:creationId xmlns:a16="http://schemas.microsoft.com/office/drawing/2014/main" id="{85F9CD91-DE56-4981-AD6D-3D4292DC4A2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5166157"/>
                  </p:ext>
                </p:extLst>
              </p:nvPr>
            </p:nvGraphicFramePr>
            <p:xfrm>
              <a:off x="324066" y="2257468"/>
              <a:ext cx="6851650" cy="3027491"/>
            </p:xfrm>
            <a:graphic>
              <a:graphicData uri="http://schemas.openxmlformats.org/drawingml/2006/table">
                <a:tbl>
                  <a:tblPr/>
                  <a:tblGrid>
                    <a:gridCol w="6851650">
                      <a:extLst>
                        <a:ext uri="{9D8B030D-6E8A-4147-A177-3AD203B41FA5}">
                          <a16:colId xmlns:a16="http://schemas.microsoft.com/office/drawing/2014/main" val="1025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523174" indent="-523174"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A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.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该物体做加速度逐渐减小的直线运动</a:t>
                          </a:r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69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503492" indent="-503492"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B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.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该物体的加速度大小为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56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altLang="zh-CN" sz="2800" b="0" i="1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56" charset="0"/>
                                        </a:rPr>
                                      </m:ctrlPr>
                                    </m:sSup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2800" b="0" i="1">
                                              <a:solidFill>
                                                <a:srgbClr val="01000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Cambria Math" panose="02040503050406030204" pitchFamily="56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800" b="0" i="1">
                                              <a:solidFill>
                                                <a:srgbClr val="010000"/>
                                              </a:solidFill>
                                              <a:effectLst/>
                                              <a:latin typeface="Cambria Math" panose="02040503050406030204" pitchFamily="56" charset="0"/>
                                              <a:ea typeface="Cambria Math" panose="02040503050406030204" pitchFamily="56" charset="0"/>
                                            </a:rPr>
                                            <m:t>𝑣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800" b="0" i="0">
                                              <a:solidFill>
                                                <a:srgbClr val="010000"/>
                                              </a:solidFill>
                                              <a:effectLst/>
                                              <a:latin typeface="Cambria Math" panose="02040503050406030204" pitchFamily="56" charset="0"/>
                                              <a:ea typeface="Cambria Math" panose="02040503050406030204" pitchFamily="56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</m:e>
                                    <m:sup>
                                      <m:r>
                                        <a:rPr lang="en-US" altLang="zh-CN" sz="2800" b="0" i="0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56" charset="0"/>
                                          <a:ea typeface="Cambria Math" panose="02040503050406030204" pitchFamily="56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altLang="zh-CN" sz="2800" b="0" i="0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2</m:t>
                                  </m:r>
                                  <m:sSub>
                                    <m:sSubPr>
                                      <m:ctrlPr>
                                        <a:rPr lang="en-US" altLang="zh-CN" sz="2800" b="0" i="1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56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800" b="0" i="1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56" charset="0"/>
                                          <a:ea typeface="Cambria Math" panose="02040503050406030204" pitchFamily="56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sz="2800" b="0" i="0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56" charset="0"/>
                                          <a:ea typeface="Cambria Math" panose="02040503050406030204" pitchFamily="56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den>
                              </m:f>
                            </m:oMath>
                          </a14:m>
                          <a:endParaRPr lang="zh-CN" altLang="zh-CN" sz="2800" b="0" i="0" u="none">
                            <a:solidFill>
                              <a:srgbClr val="000000"/>
                            </a:solidFill>
                            <a:effectLst/>
                            <a:latin typeface="Times New Roman" pitchFamily="28"/>
                            <a:ea typeface="宋体" pitchFamily="28"/>
                          </a:endParaRPr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7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503492" indent="-503492"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C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.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该物体在位移中点的速度等于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56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800" b="0" i="0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CN" sz="2800" b="0" i="0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2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v</a:t>
                          </a:r>
                          <a:r>
                            <a:rPr lang="en-US" altLang="zh-CN" sz="2800" b="0" i="0" u="none" baseline="-2500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0</a:t>
                          </a:r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7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523174" indent="-523174"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D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.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该物体在运动中间时刻的速度大于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56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800" b="0" i="0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CN" sz="2800" b="0" i="0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2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v</a:t>
                          </a:r>
                          <a:r>
                            <a:rPr lang="en-US" altLang="zh-CN" sz="2800" b="0" i="0" u="none" baseline="-2500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0</a:t>
                          </a:r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702"/>
                      </a:ext>
                    </a:extLst>
                  </a:tr>
                </a:tbl>
              </a:graphicData>
            </a:graphic>
          </p:graphicFrame>
        </mc:Choice>
        <mc:Fallback xmlns:a16="http://schemas.microsoft.com/office/drawing/2014/main" xmlns:p14="http://schemas.microsoft.com/office/powerpoint/2010/main" xmlns:p15="http://schemas.microsoft.com/office/powerpoint/2012/main" xmlns="">
          <p:graphicFrame>
            <p:nvGraphicFramePr>
              <p:cNvPr id="12845" name="yt_table_12845_skip" descr="{&quot;rangeId&quot;:55,&quot;type&quot;:&quot;Option&quot;,&quot;drawing&quot;:[&quot;yt_image_12844&quot;]}" title="H_238.38512">
                <a:extLst>
                  <a:ext uri="{FF2B5EF4-FFF2-40B4-BE49-F238E27FC236}">
                    <a16:creationId xmlns:a16="http://schemas.microsoft.com/office/drawing/2014/main" id="{85F9CD91-DE56-4981-AD6D-3D4292DC4A2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5166157"/>
                  </p:ext>
                </p:extLst>
              </p:nvPr>
            </p:nvGraphicFramePr>
            <p:xfrm>
              <a:off x="324066" y="2257468"/>
              <a:ext cx="6851650" cy="3027491"/>
            </p:xfrm>
            <a:graphic>
              <a:graphicData uri="http://schemas.openxmlformats.org/drawingml/2006/table">
                <a:tbl>
                  <a:tblPr/>
                  <a:tblGrid>
                    <a:gridCol w="6851650">
                      <a:extLst>
                        <a:ext uri="{9D8B030D-6E8A-4147-A177-3AD203B41FA5}">
                          <a16:colId xmlns:a16="http://schemas.microsoft.com/office/drawing/2014/main" val="10256"/>
                        </a:ext>
                      </a:extLst>
                    </a:gridCol>
                  </a:tblGrid>
                  <a:tr h="527050">
                    <a:tc>
                      <a:txBody>
                        <a:bodyPr/>
                        <a:lstStyle/>
                        <a:p>
                          <a:pPr marL="523174" indent="-523174"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A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.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该物体做加速度逐渐减小的直线运动</a:t>
                          </a:r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699"/>
                      </a:ext>
                    </a:extLst>
                  </a:tr>
                  <a:tr h="93389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  <a:blipFill>
                          <a:blip r:embed="rId2"/>
                          <a:stretch>
                            <a:fillRect t="-59477" b="-18104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700"/>
                      </a:ext>
                    </a:extLst>
                  </a:tr>
                  <a:tr h="783273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  <a:blipFill>
                          <a:blip r:embed="rId2"/>
                          <a:stretch>
                            <a:fillRect t="-190625" b="-11640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701"/>
                      </a:ext>
                    </a:extLst>
                  </a:tr>
                  <a:tr h="783273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  <a:blipFill>
                          <a:blip r:embed="rId2"/>
                          <a:stretch>
                            <a:fillRect t="-288372" b="-1550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702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2844" name="yt_image_12844_skip" title="H_144.48">
            <a:extLst>
              <a:ext uri="">
                <a16:creationId xmlns:p14="http://schemas.microsoft.com/office/powerpoint/2010/main" xmlns:a14="http://schemas.microsoft.com/office/drawing/2010/main" xmlns:mc="http://schemas.openxmlformats.org/markup-compatibility/2006" xmlns:p15="http://schemas.microsoft.com/office/powerpoint/2012/main" xmlns:a16="http://schemas.microsoft.com/office/drawing/2014/main" xmlns="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467863" y="2257468"/>
            <a:ext cx="2398080" cy="18348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D8AFB920-9FA1-4E95-AE2D-F19F0BDE6791}"/>
              </a:ext>
            </a:extLst>
          </p:cNvPr>
          <p:cNvSpPr/>
          <p:nvPr/>
        </p:nvSpPr>
        <p:spPr>
          <a:xfrm>
            <a:off x="74916" y="3226716"/>
            <a:ext cx="761669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500" b="1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√</a:t>
            </a:r>
            <a:endParaRPr lang="zh-CN" altLang="en-US" sz="4500" b="1" dirty="0">
              <a:solidFill>
                <a:srgbClr val="C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med">
        <p15:prstTrans prst="pageCurlDouble"/>
      </p:transition>
    </mc:Choice>
    <mc:Fallback xmlns:a16="http://schemas.microsoft.com/office/drawing/2014/main" xmlns:p14="http://schemas.microsoft.com/office/powerpoint/2010/main" xmlns:a14="http://schemas.microsoft.com/office/drawing/2010/main"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2846" name="yt_shape_12846"/>
              <p:cNvSpPr txBox="1"/>
              <p:nvPr/>
            </p:nvSpPr>
            <p:spPr>
              <a:xfrm>
                <a:off x="324071" y="467999"/>
                <a:ext cx="11924914" cy="5586209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>
                    <a:solidFill>
                      <a:srgbClr val="0000FF"/>
                    </a:solidFill>
                    <a:effectLst/>
                    <a:latin typeface="Times New Roman" pitchFamily="28"/>
                    <a:ea typeface="黑体" pitchFamily="28"/>
                  </a:rPr>
                  <a:t>解析：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由匀变速直线运动的速度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仿宋" pitchFamily="28"/>
                    <a:ea typeface="仿宋" pitchFamily="28"/>
                  </a:rPr>
                  <a:t>—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位移关系公式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en-US" altLang="zh-CN" sz="2800" b="0" i="0" u="none" baseline="30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－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0</m:t>
                            </m:r>
                          </m:sub>
                        </m:sSub>
                      </m:e>
                      <m:sup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ax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可得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en-US" altLang="zh-CN" sz="2800" b="0" i="0" u="none" baseline="30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  <a:sym typeface="_⨹_1_109f6"/>
                  </a:rPr>
                  <a:t>＝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</a:b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ax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＋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0</m:t>
                            </m:r>
                          </m:sub>
                        </m:sSub>
                      </m:e>
                      <m:sup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en-US" altLang="zh-CN" sz="2800" b="0" i="0" u="none" baseline="30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-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x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图像的斜率等于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由图可知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物体的加速度恒定不变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  <a:sym typeface="_⨹_1_1ac04"/>
                  </a:rPr>
                  <a:t>，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</a:b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速度均匀减小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故物体做匀减速直线运动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故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错误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；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en-US" altLang="zh-CN" sz="2800" b="0" i="0" u="none" baseline="30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-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x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7_6859f"/>
                  </a:rPr>
                  <a:t>图像的斜率等于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由图可得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＝－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US" altLang="zh-CN" sz="2800" b="0" i="1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56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b="0" i="1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56" charset="0"/>
                                    <a:ea typeface="Cambria Math" panose="02040503050406030204" pitchFamily="56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altLang="zh-CN" sz="2800" b="0" i="0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56" charset="0"/>
                                    <a:ea typeface="Cambria Math" panose="02040503050406030204" pitchFamily="56" charset="0"/>
                                  </a:rPr>
                                  <m:t>0</m:t>
                                </m:r>
                              </m:sub>
                            </m:sSub>
                          </m:e>
                          <m:sup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0</m:t>
                            </m:r>
                          </m:sub>
                        </m:sSub>
                      </m:den>
                    </m:f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则物体的加速度为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＝－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US" altLang="zh-CN" sz="2800" b="0" i="1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56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b="0" i="1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56" charset="0"/>
                                    <a:ea typeface="Cambria Math" panose="02040503050406030204" pitchFamily="56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altLang="zh-CN" sz="2800" b="0" i="0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56" charset="0"/>
                                    <a:ea typeface="Cambria Math" panose="02040503050406030204" pitchFamily="56" charset="0"/>
                                  </a:rPr>
                                  <m:t>0</m:t>
                                </m:r>
                              </m:sub>
                            </m:sSub>
                          </m:e>
                          <m:sup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0</m:t>
                            </m:r>
                          </m:sub>
                        </m:sSub>
                      </m:den>
                    </m:f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8_e88d0"/>
                  </a:rPr>
                  <a:t>物体的加速度大小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为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US" altLang="zh-CN" sz="2800" b="0" i="1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56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b="0" i="1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56" charset="0"/>
                                    <a:ea typeface="Cambria Math" panose="02040503050406030204" pitchFamily="56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altLang="zh-CN" sz="2800" b="0" i="0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56" charset="0"/>
                                    <a:ea typeface="Cambria Math" panose="02040503050406030204" pitchFamily="56" charset="0"/>
                                  </a:rPr>
                                  <m:t>0</m:t>
                                </m:r>
                              </m:sub>
                            </m:sSub>
                          </m:e>
                          <m:sup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0</m:t>
                            </m:r>
                          </m:sub>
                        </m:sSub>
                      </m:den>
                    </m:f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故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B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正确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；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该物体的初速度为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末速度为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9_a583f"/>
                  </a:rPr>
                  <a:t>中间时刻的瞬时速度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等于这段时间内的平均速度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为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barPr>
                      <m:e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𝑣</m:t>
                        </m:r>
                      </m:e>
                    </m:bar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+0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12_309bb"/>
                  </a:rPr>
                  <a:t>设该物体在位移中点的速度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为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由图可知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x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时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有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en-US" altLang="zh-CN" sz="2800" b="0" i="0" u="none" baseline="30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US" altLang="zh-CN" sz="2800" b="0" i="1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56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b="0" i="1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56" charset="0"/>
                                    <a:ea typeface="Cambria Math" panose="02040503050406030204" pitchFamily="56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altLang="zh-CN" sz="2800" b="0" i="0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 panose="02040503050406030204" pitchFamily="56" charset="0"/>
                                    <a:ea typeface="Cambria Math" panose="02040503050406030204" pitchFamily="56" charset="0"/>
                                  </a:rPr>
                                  <m:t>0</m:t>
                                </m:r>
                              </m:sub>
                            </m:sSub>
                          </m:e>
                          <m:sup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则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故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C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、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D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错误。</a:t>
                </a:r>
              </a:p>
            </p:txBody>
          </p:sp>
        </mc:Choice>
        <mc:Fallback xmlns="">
          <p:sp>
            <p:nvSpPr>
              <p:cNvPr id="12846" name="yt_shape_128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71" y="467999"/>
                <a:ext cx="11924914" cy="5586209"/>
              </a:xfrm>
              <a:prstGeom prst="rect">
                <a:avLst/>
              </a:prstGeom>
              <a:blipFill>
                <a:blip r:embed="rId2"/>
                <a:stretch>
                  <a:fillRect l="-1789" t="-437" b="-120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34860" y="1224757"/>
            <a:ext cx="5988843" cy="5988843"/>
          </a:xfrm>
          <a:prstGeom prst="rect">
            <a:avLst/>
          </a:prstGeom>
        </p:spPr>
      </p:pic>
      <p:sp>
        <p:nvSpPr>
          <p:cNvPr id="23" name="矩形 22"/>
          <p:cNvSpPr/>
          <p:nvPr/>
        </p:nvSpPr>
        <p:spPr>
          <a:xfrm>
            <a:off x="0" y="2386170"/>
            <a:ext cx="12192000" cy="156931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79400" sx="99000" sy="99000" rotWithShape="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904240" y="2112168"/>
            <a:ext cx="10383520" cy="21336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317500" dist="38100" dir="5400000" sx="101000" sy="101000" algn="t" rotWithShape="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0" name="TextBox 14"/>
          <p:cNvSpPr txBox="1"/>
          <p:nvPr/>
        </p:nvSpPr>
        <p:spPr>
          <a:xfrm>
            <a:off x="4064001" y="2719713"/>
            <a:ext cx="37338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5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课时作业</a:t>
            </a:r>
          </a:p>
        </p:txBody>
      </p:sp>
    </p:spTree>
    <p:extLst>
      <p:ext uri="{BB962C8B-B14F-4D97-AF65-F5344CB8AC3E}">
        <p14:creationId xmlns:p14="http://schemas.microsoft.com/office/powerpoint/2010/main" val="41051979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:a14="http://schemas.microsoft.com/office/drawing/2010/main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10" presetClass="entr" presetSubtype="0" fill="hold" grpId="1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42" presetClass="path" presetSubtype="0" accel="50000" decel="5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0 -0.31667 L 0 4.07407E-6 " pathEditMode="relative" rAng="0" ptsTypes="AA">
                                      <p:cBhvr>
                                        <p:cTn id="14" dur="1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583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3000"/>
                            </p:stCondLst>
                            <p:childTnLst>
                              <p:par>
                                <p:cTn id="16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6" grpId="0" animBg="1"/>
      <p:bldP spid="6" grpId="1" animBg="1"/>
      <p:bldP spid="10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53" name="yt_shape_12853"/>
          <p:cNvSpPr txBox="1"/>
          <p:nvPr/>
        </p:nvSpPr>
        <p:spPr>
          <a:xfrm>
            <a:off x="342732" y="1139803"/>
            <a:ext cx="11543998" cy="113543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 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隶书" pitchFamily="28"/>
              </a:rPr>
              <a:t>〔多选〕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2026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·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浙江丽水质检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如图为某质点位移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x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随时间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t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变化的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x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-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t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1_700e4"/>
              </a:rPr>
              <a:t>图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像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下列说法正确的是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</a:t>
            </a:r>
            <a:r>
              <a:rPr lang="en-US" altLang="zh-CN" sz="2800" b="0" i="0" u="none">
                <a:solidFill>
                  <a:srgbClr val="C00000">
                    <a:alpha val="0"/>
                  </a:srgbClr>
                </a:solidFill>
                <a:effectLst/>
                <a:latin typeface="Times New Roman" pitchFamily="28"/>
                <a:ea typeface="宋体" pitchFamily="28"/>
              </a:rPr>
              <a:t>AC</a:t>
            </a:r>
            <a:r>
              <a:rPr lang="zh-CN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</a:p>
        </p:txBody>
      </p:sp>
      <p:graphicFrame>
        <p:nvGraphicFramePr>
          <p:cNvPr id="12855" name="yt_table_12855_skip" title="H_376.32">
            <a:extLst>
              <a:ext uri="{FF2B5EF4-FFF2-40B4-BE49-F238E27FC236}">
                <a16:creationId xmlns:a16="http://schemas.microsoft.com/office/drawing/2014/main" id="{85F9CD91-DE56-4981-AD6D-3D4292DC4A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6454011"/>
              </p:ext>
            </p:extLst>
          </p:nvPr>
        </p:nvGraphicFramePr>
        <p:xfrm>
          <a:off x="342727" y="2326030"/>
          <a:ext cx="8443584" cy="3413760"/>
        </p:xfrm>
        <a:graphic>
          <a:graphicData uri="http://schemas.openxmlformats.org/drawingml/2006/table">
            <a:tbl>
              <a:tblPr/>
              <a:tblGrid>
                <a:gridCol w="8443584">
                  <a:extLst>
                    <a:ext uri="{9D8B030D-6E8A-4147-A177-3AD203B41FA5}">
                      <a16:colId xmlns:a16="http://schemas.microsoft.com/office/drawing/2014/main" val="102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0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A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0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～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2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s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内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质点位移大小等于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20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m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方向沿</a:t>
                      </a:r>
                      <a:r>
                        <a:rPr lang="en-US" altLang="zh-CN" sz="2800" b="0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x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  <a:sym typeface="_⨹_3_c1a4c"/>
                        </a:rPr>
                        <a:t>轴正方</a:t>
                      </a:r>
                      <a:b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</a:b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向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03492" indent="-503492" algn="l" eaLnBrk="1" fontAlgn="ctr" latinLnBrk="0" hangingPunct="0">
                        <a:lnSpc>
                          <a:spcPct val="10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B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0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～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2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s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内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质点位移大小等于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30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m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方向沿</a:t>
                      </a:r>
                      <a:r>
                        <a:rPr lang="en-US" altLang="zh-CN" sz="2800" b="0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x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  <a:sym typeface="_⨹_3_5b92e"/>
                        </a:rPr>
                        <a:t>轴正方</a:t>
                      </a:r>
                      <a:b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</a:b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向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03492" indent="-503492" algn="l" eaLnBrk="1" fontAlgn="ctr" latinLnBrk="0" hangingPunct="0">
                        <a:lnSpc>
                          <a:spcPct val="10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C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在</a:t>
                      </a:r>
                      <a:r>
                        <a:rPr lang="en-US" altLang="zh-CN" sz="2800" b="0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t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＝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4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s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时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质点速度大小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15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m/s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方向沿</a:t>
                      </a:r>
                      <a:r>
                        <a:rPr lang="en-US" altLang="zh-CN" sz="2800" b="0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x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  <a:sym typeface="_⨹_3_2b070"/>
                        </a:rPr>
                        <a:t>轴负方</a:t>
                      </a:r>
                      <a:b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</a:b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向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0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D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0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～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5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s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内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质点运动的平均速度大小为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2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m/s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  <a:sym typeface="_⨹_2_0ab6f"/>
                        </a:rPr>
                        <a:t>平均</a:t>
                      </a:r>
                      <a:b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</a:b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速率为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2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m/s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06"/>
                  </a:ext>
                </a:extLst>
              </a:tr>
            </a:tbl>
          </a:graphicData>
        </a:graphic>
      </p:graphicFrame>
      <p:pic>
        <p:nvPicPr>
          <p:cNvPr id="12854" name="yt_image_12854_skip" title="H_160.16402">
            <a:extLst>
              <a:ext uri="">
                <a16:creationId xmlns:mc="http://schemas.openxmlformats.org/markup-compatibility/2006" xmlns:a14="http://schemas.microsoft.com/office/drawing/2010/main" xmlns:p14="http://schemas.microsoft.com/office/powerpoint/2010/main" xmlns:p15="http://schemas.microsoft.com/office/powerpoint/2012/main" xmlns:a16="http://schemas.microsoft.com/office/drawing/2014/main" xmlns="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784425" y="2326030"/>
            <a:ext cx="3100334" cy="2034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yt_image_10628" title="H_47.87496">
            <a:extLst>
              <a:ext uri="">
                <a16:creationId xmlns:a16="http://schemas.microsoft.com/office/drawing/2014/main" xmlns:p14="http://schemas.microsoft.com/office/powerpoint/2010/main" xmlns:p15="http://schemas.microsoft.com/office/powerpoint/2012/main" xmlns:mc="http://schemas.openxmlformats.org/markup-compatibility/2006" xmlns:a14="http://schemas.microsoft.com/office/drawing/2010/main" xmlns="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duotone>
              <a:srgbClr val="4BACC6">
                <a:shade val="45000"/>
                <a:satMod val="135000"/>
              </a:srgbClr>
              <a:prstClr val="white"/>
            </a:duotone>
          </a:blip>
          <a:srcRect/>
          <a:stretch>
            <a:fillRect/>
          </a:stretch>
        </p:blipFill>
        <p:spPr bwMode="auto">
          <a:xfrm>
            <a:off x="4960633" y="481003"/>
            <a:ext cx="2308195" cy="608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6" name="组合 15"/>
          <p:cNvGrpSpPr/>
          <p:nvPr/>
        </p:nvGrpSpPr>
        <p:grpSpPr>
          <a:xfrm>
            <a:off x="3816040" y="6445607"/>
            <a:ext cx="4565782" cy="288000"/>
            <a:chOff x="1325563" y="6444186"/>
            <a:chExt cx="4565782" cy="288000"/>
          </a:xfrm>
        </p:grpSpPr>
        <p:sp>
          <p:nvSpPr>
            <p:cNvPr id="8" name="9a5703b1-29ef-4396-b702-443afee3ea61" descr="{&quot;SlideID&quot;:&quot;326&quot;,&quot;SlideNumber&quot;:&quot;29&quot;}">
              <a:hlinkClick r:id="rId4" action="ppaction://hlinksldjump"/>
              <a:extLst>
                <a:ext uri="{FF2B5EF4-FFF2-40B4-BE49-F238E27FC236}">
                  <a16:creationId xmlns:a16="http://schemas.microsoft.com/office/drawing/2014/main" id="{CC279918-B4EB-4A69-8269-F7D85FE44387}"/>
                </a:ext>
              </a:extLst>
            </p:cNvPr>
            <p:cNvSpPr/>
            <p:nvPr/>
          </p:nvSpPr>
          <p:spPr>
            <a:xfrm>
              <a:off x="1325563" y="6444186"/>
              <a:ext cx="288000" cy="2880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3def8015-b0c3-4380-a433-4d6878bc3e9e" descr="{&quot;SlideID&quot;:&quot;327&quot;,&quot;SlideNumber&quot;:&quot;31&quot;}">
              <a:hlinkClick r:id="rId5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171554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" name="a139f763-7faf-42ee-b63e-70fe3bf123e4" descr="{&quot;SlideID&quot;:&quot;328&quot;,&quot;SlideNumber&quot;:&quot;32&quot;}">
              <a:hlinkClick r:id="rId6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2105531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ce4c6511-3779-4a08-8dc4-45f6e3364ac0" descr="{&quot;SlideID&quot;:&quot;329&quot;,&quot;SlideNumber&quot;:&quot;34&quot;}">
              <a:hlinkClick r:id="rId7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249551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d4f2e336-4127-4c28-9b54-da5524fbe692" descr="{&quot;SlideID&quot;:&quot;330&quot;,&quot;SlideNumber&quot;:&quot;36&quot;}">
              <a:hlinkClick r:id="rId8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2885499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d8307517-9fb5-45bd-8b99-6726095e711c" descr="{&quot;SlideID&quot;:&quot;331&quot;,&quot;SlideNumber&quot;:&quot;38&quot;}">
              <a:hlinkClick r:id="rId9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3275481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bc4941e6-416a-4b9e-ac4a-8ccbd227deaa" descr="{&quot;SlideID&quot;:&quot;332&quot;,&quot;SlideNumber&quot;:&quot;40&quot;}">
              <a:hlinkClick r:id="rId10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3665463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2c0c12cb-59eb-41da-a3c7-ccb83b1c9e4e" descr="{&quot;SlideID&quot;:&quot;333&quot;,&quot;SlideNumber&quot;:&quot;42&quot;}">
              <a:hlinkClick r:id="rId11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405544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ab1d3521-a7b7-4619-9b96-4521a47844c2" descr="{&quot;SlideID&quot;:&quot;334&quot;,&quot;SlideNumber&quot;:&quot;44&quot;}">
              <a:hlinkClick r:id="rId12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444542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c566f2bd-4d55-4d07-8360-8120915d681f" descr="{&quot;SlideID&quot;:&quot;335&quot;,&quot;SlideNumber&quot;:&quot;46&quot;}">
              <a:hlinkClick r:id="rId13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4835409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df73f2a3-c904-46ce-be6a-01a7aad3f279" descr="{&quot;SlideID&quot;:&quot;336&quot;,&quot;SlideNumber&quot;:&quot;48&quot;}">
              <a:hlinkClick r:id="rId14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521937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a1b85c95-a6ed-4640-a378-836bd8070473" descr="{&quot;SlideID&quot;:&quot;337&quot;,&quot;SlideNumber&quot;:&quot;50&quot;}">
              <a:hlinkClick r:id="rId15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560334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3" name="矩形 32">
            <a:extLst>
              <a:ext uri="{FF2B5EF4-FFF2-40B4-BE49-F238E27FC236}">
                <a16:creationId xmlns:a16="http://schemas.microsoft.com/office/drawing/2014/main" id="{D8AFB920-9FA1-4E95-AE2D-F19F0BDE6791}"/>
              </a:ext>
            </a:extLst>
          </p:cNvPr>
          <p:cNvSpPr/>
          <p:nvPr/>
        </p:nvSpPr>
        <p:spPr>
          <a:xfrm>
            <a:off x="102908" y="2326030"/>
            <a:ext cx="761669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500" b="1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√</a:t>
            </a:r>
            <a:endParaRPr lang="zh-CN" altLang="en-US" sz="4500" b="1" dirty="0">
              <a:solidFill>
                <a:srgbClr val="C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D8AFB920-9FA1-4E95-AE2D-F19F0BDE6791}"/>
              </a:ext>
            </a:extLst>
          </p:cNvPr>
          <p:cNvSpPr/>
          <p:nvPr/>
        </p:nvSpPr>
        <p:spPr>
          <a:xfrm>
            <a:off x="127730" y="3967698"/>
            <a:ext cx="761669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500" b="1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√</a:t>
            </a:r>
            <a:endParaRPr lang="zh-CN" altLang="en-US" sz="4500" b="1" dirty="0">
              <a:solidFill>
                <a:srgbClr val="C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med">
        <p15:prstTrans prst="pageCurlDouble"/>
      </p:transition>
    </mc:Choice>
    <mc:Fallback xmlns:a14="http://schemas.microsoft.com/office/drawing/2010/main" xmlns:a16="http://schemas.microsoft.com/office/drawing/2014/main" xmlns:p14="http://schemas.microsoft.com/office/powerpoint/2010/main"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34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2857" name="yt_shape_12857"/>
              <p:cNvSpPr txBox="1"/>
              <p:nvPr/>
            </p:nvSpPr>
            <p:spPr>
              <a:xfrm>
                <a:off x="324071" y="467999"/>
                <a:ext cx="11924914" cy="4981364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>
                    <a:solidFill>
                      <a:srgbClr val="0000FF"/>
                    </a:solidFill>
                    <a:effectLst/>
                    <a:latin typeface="Times New Roman" pitchFamily="28"/>
                    <a:ea typeface="黑体" pitchFamily="28"/>
                  </a:rPr>
                  <a:t>解析：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由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x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-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图像可知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～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s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内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质点位移大小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Δ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x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30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－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10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20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  <a:sym typeface="_⨹_1_08096"/>
                  </a:rPr>
                  <a:t>，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</a:b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方向沿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x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轴正方向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故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正确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B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错误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；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根据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x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-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图像的斜率表示速度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2_3c600"/>
                  </a:rPr>
                  <a:t>可知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3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～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5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s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内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质点的速度为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Δ</m:t>
                        </m:r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Δ</m:t>
                        </m:r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−</m:t>
                        </m:r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30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m/s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＝－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15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m/s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可知在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4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s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时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2_b4b79"/>
                  </a:rPr>
                  <a:t>质点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速度大小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15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m/s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方向沿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x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轴负方向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故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C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正确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；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由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x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-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图像可知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～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5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  <a:sym typeface="_⨹_1_fe02c"/>
                  </a:rPr>
                  <a:t>s</a:t>
                </a:r>
                <a:b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</a:b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内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质点运动的位移大小为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Δ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x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10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则平均速度大小为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barPr>
                      <m:e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𝑣</m:t>
                        </m:r>
                      </m:e>
                    </m:bar>
                  </m:oMath>
                </a14:m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'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Δ</m:t>
                        </m:r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𝑥</m:t>
                        </m:r>
                      </m:num>
                      <m:den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10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m/s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  <a:sym typeface="_⨹_1_1c9c0"/>
                  </a:rPr>
                  <a:t>＝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</a:b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m/s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～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5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s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内质点运动的路程为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Δ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x'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20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＋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30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50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6_6e757"/>
                  </a:rPr>
                  <a:t>则平均速率为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barPr>
                      <m:e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𝑣</m:t>
                        </m:r>
                      </m:e>
                    </m:bar>
                  </m:oMath>
                </a14:m>
                <a:r>
                  <a:rPr lang="zh-CN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″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Δ</m:t>
                        </m:r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𝑥</m:t>
                        </m:r>
                        <m:r>
                          <m:rPr>
                            <m:nor/>
                          </m:rP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宋体" panose="02040503050406030204" pitchFamily="56" charset="0"/>
                          </a:rPr>
                          <m:t>′</m:t>
                        </m:r>
                      </m:num>
                      <m:den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50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m/s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10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m/s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故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D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错误。</a:t>
                </a:r>
              </a:p>
            </p:txBody>
          </p:sp>
        </mc:Choice>
        <mc:Fallback xmlns:a16="http://schemas.microsoft.com/office/drawing/2014/main" xmlns="">
          <p:sp>
            <p:nvSpPr>
              <p:cNvPr id="12857" name="yt_shape_1285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71" y="467999"/>
                <a:ext cx="11924914" cy="4981364"/>
              </a:xfrm>
              <a:prstGeom prst="rect">
                <a:avLst/>
              </a:prstGeom>
              <a:blipFill>
                <a:blip r:embed="rId2"/>
                <a:stretch>
                  <a:fillRect l="-1789" t="-490" b="-14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" name="组合 14"/>
          <p:cNvGrpSpPr/>
          <p:nvPr/>
        </p:nvGrpSpPr>
        <p:grpSpPr>
          <a:xfrm>
            <a:off x="3816040" y="6445607"/>
            <a:ext cx="4565782" cy="288000"/>
            <a:chOff x="1325563" y="6444186"/>
            <a:chExt cx="4565782" cy="288000"/>
          </a:xfrm>
        </p:grpSpPr>
        <p:sp>
          <p:nvSpPr>
            <p:cNvPr id="8" name="1c1cc25d-f5c4-4a90-899e-74a802d0c6b8" descr="{&quot;SlideID&quot;:&quot;326&quot;,&quot;SlideNumber&quot;:&quot;29&quot;}">
              <a:hlinkClick r:id="rId3" action="ppaction://hlinksldjump"/>
              <a:extLst>
                <a:ext uri="{FF2B5EF4-FFF2-40B4-BE49-F238E27FC236}">
                  <a16:creationId xmlns:a16="http://schemas.microsoft.com/office/drawing/2014/main" id="{CC279918-B4EB-4A69-8269-F7D85FE44387}"/>
                </a:ext>
              </a:extLst>
            </p:cNvPr>
            <p:cNvSpPr/>
            <p:nvPr/>
          </p:nvSpPr>
          <p:spPr>
            <a:xfrm>
              <a:off x="1325563" y="6444186"/>
              <a:ext cx="288000" cy="2880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dce3c48a-0c48-4776-9412-f5d80ebac029" descr="{&quot;SlideID&quot;:&quot;327&quot;,&quot;SlideNumber&quot;:&quot;31&quot;}">
              <a:hlinkClick r:id="rId4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171554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" name="e60867cb-d8d2-450a-ad9d-9cd5cda5fbb0" descr="{&quot;SlideID&quot;:&quot;328&quot;,&quot;SlideNumber&quot;:&quot;32&quot;}">
              <a:hlinkClick r:id="rId5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2105531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25d673ed-0036-45da-81cf-e6efa4141b8c" descr="{&quot;SlideID&quot;:&quot;329&quot;,&quot;SlideNumber&quot;:&quot;34&quot;}">
              <a:hlinkClick r:id="rId6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249551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b9b79fdf-1650-47f0-8f4c-6b9f5ff59df1" descr="{&quot;SlideID&quot;:&quot;330&quot;,&quot;SlideNumber&quot;:&quot;36&quot;}">
              <a:hlinkClick r:id="rId7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2885499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f133d725-88ec-401a-a9bf-001aee4fa68a" descr="{&quot;SlideID&quot;:&quot;331&quot;,&quot;SlideNumber&quot;:&quot;38&quot;}">
              <a:hlinkClick r:id="rId8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3275481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b3134cbd-a989-4d7f-9435-ed859fb00a7e" descr="{&quot;SlideID&quot;:&quot;332&quot;,&quot;SlideNumber&quot;:&quot;40&quot;}">
              <a:hlinkClick r:id="rId9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3665463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ab721b9d-50ff-4cc9-a75d-c1bed0a5cddd" descr="{&quot;SlideID&quot;:&quot;333&quot;,&quot;SlideNumber&quot;:&quot;42&quot;}">
              <a:hlinkClick r:id="rId10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405544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49efe399-6daa-4679-974d-f0cbcacd0888" descr="{&quot;SlideID&quot;:&quot;334&quot;,&quot;SlideNumber&quot;:&quot;44&quot;}">
              <a:hlinkClick r:id="rId11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444542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c5a1eb27-1696-46b4-b2d1-34f581de41a8" descr="{&quot;SlideID&quot;:&quot;335&quot;,&quot;SlideNumber&quot;:&quot;46&quot;}">
              <a:hlinkClick r:id="rId12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4835409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11739798-58e5-4a70-8f19-709d9876f001" descr="{&quot;SlideID&quot;:&quot;336&quot;,&quot;SlideNumber&quot;:&quot;48&quot;}">
              <a:hlinkClick r:id="rId13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521937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12e6c8b0-adf6-401e-9877-5e73dc453bab" descr="{&quot;SlideID&quot;:&quot;337&quot;,&quot;SlideNumber&quot;:&quot;50&quot;}">
              <a:hlinkClick r:id="rId14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560334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59" name="yt_shape_12859"/>
          <p:cNvSpPr txBox="1"/>
          <p:nvPr/>
        </p:nvSpPr>
        <p:spPr>
          <a:xfrm>
            <a:off x="324071" y="467999"/>
            <a:ext cx="11543998" cy="173868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 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水平路面上匀速行驶的汽车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因紧急情况而刹车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9_26501"/>
              </a:rPr>
              <a:t>刹车过程中汽车做匀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减速直线运动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-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t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图像如图所示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已知汽车开始刹车后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第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s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5_048d7"/>
              </a:rPr>
              <a:t>内的位移为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4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m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s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后的位移为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5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m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汽车刹车过程的加速度大小为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</a:t>
            </a:r>
            <a:r>
              <a:rPr lang="en-US" altLang="zh-CN" sz="2800" b="0" i="0" u="none">
                <a:solidFill>
                  <a:srgbClr val="C00000">
                    <a:alpha val="0"/>
                  </a:srgbClr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</a:p>
        </p:txBody>
      </p:sp>
      <p:graphicFrame>
        <p:nvGraphicFramePr>
          <p:cNvPr id="12861" name="yt_table_12861_skip" title="H_94.08">
            <a:extLst>
              <a:ext uri="{FF2B5EF4-FFF2-40B4-BE49-F238E27FC236}">
                <a16:creationId xmlns:a16="http://schemas.microsoft.com/office/drawing/2014/main" id="{85F9CD91-DE56-4981-AD6D-3D4292DC4A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0628110"/>
              </p:ext>
            </p:extLst>
          </p:nvPr>
        </p:nvGraphicFramePr>
        <p:xfrm>
          <a:off x="324066" y="2257468"/>
          <a:ext cx="5266056" cy="1194816"/>
        </p:xfrm>
        <a:graphic>
          <a:graphicData uri="http://schemas.openxmlformats.org/drawingml/2006/table">
            <a:tbl>
              <a:tblPr/>
              <a:tblGrid>
                <a:gridCol w="2921318">
                  <a:extLst>
                    <a:ext uri="{9D8B030D-6E8A-4147-A177-3AD203B41FA5}">
                      <a16:colId xmlns:a16="http://schemas.microsoft.com/office/drawing/2014/main" val="10258"/>
                    </a:ext>
                  </a:extLst>
                </a:gridCol>
                <a:gridCol w="2344738">
                  <a:extLst>
                    <a:ext uri="{9D8B030D-6E8A-4147-A177-3AD203B41FA5}">
                      <a16:colId xmlns:a16="http://schemas.microsoft.com/office/drawing/2014/main" val="102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A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4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m/s</a:t>
                      </a:r>
                      <a:r>
                        <a:rPr lang="en-US" altLang="zh-CN" sz="2800" b="0" i="0" u="none" baseline="3000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2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B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3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5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m/s</a:t>
                      </a:r>
                      <a:r>
                        <a:rPr lang="en-US" altLang="zh-CN" sz="2800" b="0" i="0" u="none" baseline="3000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2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03492" indent="-503492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C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3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m/s</a:t>
                      </a:r>
                      <a:r>
                        <a:rPr lang="en-US" altLang="zh-CN" sz="2800" b="0" i="0" u="none" baseline="3000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2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503492" indent="-503492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D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2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5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m/s</a:t>
                      </a:r>
                      <a:r>
                        <a:rPr lang="en-US" altLang="zh-CN" sz="2800" b="0" i="0" u="none" baseline="3000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2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08"/>
                  </a:ext>
                </a:extLst>
              </a:tr>
            </a:tbl>
          </a:graphicData>
        </a:graphic>
      </p:graphicFrame>
      <p:pic>
        <p:nvPicPr>
          <p:cNvPr id="12860" name="yt_image_12860_skip" title="H_186">
            <a:extLst>
              <a:ext uri="">
                <a16:creationId xmlns:mc="http://schemas.openxmlformats.org/markup-compatibility/2006" xmlns:a14="http://schemas.microsoft.com/office/drawing/2010/main" xmlns:p14="http://schemas.microsoft.com/office/powerpoint/2010/main" xmlns:p15="http://schemas.microsoft.com/office/powerpoint/2012/main" xmlns:a16="http://schemas.microsoft.com/office/drawing/2014/main" xmlns="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066389" y="2257468"/>
            <a:ext cx="2799643" cy="2362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863" name="yt_shape_12863"/>
              <p:cNvSpPr txBox="1"/>
              <p:nvPr/>
            </p:nvSpPr>
            <p:spPr>
              <a:xfrm>
                <a:off x="324071" y="4670456"/>
                <a:ext cx="11924914" cy="1642629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>
                    <a:solidFill>
                      <a:srgbClr val="0000FF"/>
                    </a:solidFill>
                    <a:effectLst/>
                    <a:latin typeface="Times New Roman" pitchFamily="28"/>
                    <a:ea typeface="黑体" pitchFamily="28"/>
                  </a:rPr>
                  <a:t>解析：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设经过时间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后汽车停止运动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则逆向思维有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（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－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）</a:t>
                </a:r>
                <a:r>
                  <a:rPr lang="en-US" altLang="zh-CN" sz="2800" b="0" i="0" u="none" baseline="30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.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5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  <a:sym typeface="_⨹_1_f133f"/>
                  </a:rPr>
                  <a:t>，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</a:b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（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－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）</a:t>
                </a:r>
                <a:r>
                  <a:rPr lang="en-US" altLang="zh-CN" sz="2800" b="0" i="0" u="none" baseline="30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4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.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5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联立解得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4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m/s</a:t>
                </a:r>
                <a:r>
                  <a:rPr lang="en-US" altLang="zh-CN" sz="2800" b="0" i="0" u="none" baseline="30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项正确。</a:t>
                </a:r>
              </a:p>
            </p:txBody>
          </p:sp>
        </mc:Choice>
        <mc:Fallback xmlns:p15="http://schemas.microsoft.com/office/powerpoint/2012/main" xmlns:p14="http://schemas.microsoft.com/office/powerpoint/2010/main" xmlns:a16="http://schemas.microsoft.com/office/drawing/2014/main" xmlns="">
          <p:sp>
            <p:nvSpPr>
              <p:cNvPr id="12863" name="yt_shape_1286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71" y="4670456"/>
                <a:ext cx="11924914" cy="1642629"/>
              </a:xfrm>
              <a:prstGeom prst="rect">
                <a:avLst/>
              </a:prstGeom>
              <a:blipFill>
                <a:blip r:embed="rId3"/>
                <a:stretch>
                  <a:fillRect l="-1789" b="-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矩形 6">
            <a:extLst>
              <a:ext uri="{FF2B5EF4-FFF2-40B4-BE49-F238E27FC236}">
                <a16:creationId xmlns:a16="http://schemas.microsoft.com/office/drawing/2014/main" id="{D8AFB920-9FA1-4E95-AE2D-F19F0BDE6791}"/>
              </a:ext>
            </a:extLst>
          </p:cNvPr>
          <p:cNvSpPr/>
          <p:nvPr/>
        </p:nvSpPr>
        <p:spPr>
          <a:xfrm>
            <a:off x="130900" y="2350685"/>
            <a:ext cx="761669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500" b="1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√</a:t>
            </a:r>
            <a:endParaRPr lang="zh-CN" altLang="en-US" sz="4500" b="1" dirty="0">
              <a:solidFill>
                <a:srgbClr val="C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3816040" y="6445607"/>
            <a:ext cx="4565782" cy="288000"/>
            <a:chOff x="1325563" y="6444186"/>
            <a:chExt cx="4565782" cy="288000"/>
          </a:xfrm>
        </p:grpSpPr>
        <p:sp>
          <p:nvSpPr>
            <p:cNvPr id="9" name="9c6f90f8-2af0-4e52-985c-25c96f3f4f8a" descr="{&quot;SlideID&quot;:&quot;326&quot;,&quot;SlideNumber&quot;:&quot;29&quot;}">
              <a:hlinkClick r:id="rId4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1325563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1ade07fa-ce3a-4714-9ab9-96807e82830c" descr="{&quot;SlideID&quot;:&quot;327&quot;,&quot;SlideNumber&quot;:&quot;31&quot;}">
              <a:hlinkClick r:id="rId5" action="ppaction://hlinksldjump"/>
              <a:extLst>
                <a:ext uri="{FF2B5EF4-FFF2-40B4-BE49-F238E27FC236}">
                  <a16:creationId xmlns:a16="http://schemas.microsoft.com/office/drawing/2014/main" id="{CC279918-B4EB-4A69-8269-F7D85FE44387}"/>
                </a:ext>
              </a:extLst>
            </p:cNvPr>
            <p:cNvSpPr/>
            <p:nvPr/>
          </p:nvSpPr>
          <p:spPr>
            <a:xfrm>
              <a:off x="1715547" y="6444186"/>
              <a:ext cx="288000" cy="2880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ca1b0bb8-b319-47d0-9c27-d99ee961c83e" descr="{&quot;SlideID&quot;:&quot;328&quot;,&quot;SlideNumber&quot;:&quot;32&quot;}">
              <a:hlinkClick r:id="rId6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2105531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752fcc60-b171-43c0-abc3-5906e4c1735e" descr="{&quot;SlideID&quot;:&quot;329&quot;,&quot;SlideNumber&quot;:&quot;34&quot;}">
              <a:hlinkClick r:id="rId7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249551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b6428ad3-9a0f-4570-9baa-9127683b1965" descr="{&quot;SlideID&quot;:&quot;330&quot;,&quot;SlideNumber&quot;:&quot;36&quot;}">
              <a:hlinkClick r:id="rId8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2885499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b2b42cec-5944-423e-a6db-20c47af8cc49" descr="{&quot;SlideID&quot;:&quot;331&quot;,&quot;SlideNumber&quot;:&quot;38&quot;}">
              <a:hlinkClick r:id="rId9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3275481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67d33564-a33b-4ca4-82a4-801b7c4d00ad" descr="{&quot;SlideID&quot;:&quot;332&quot;,&quot;SlideNumber&quot;:&quot;40&quot;}">
              <a:hlinkClick r:id="rId10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3665463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a7ccd293-6fa2-400b-8283-eb1faccf14d3" descr="{&quot;SlideID&quot;:&quot;333&quot;,&quot;SlideNumber&quot;:&quot;42&quot;}">
              <a:hlinkClick r:id="rId11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405544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a34e241a-418e-4e75-a636-da2e2972f697" descr="{&quot;SlideID&quot;:&quot;334&quot;,&quot;SlideNumber&quot;:&quot;44&quot;}">
              <a:hlinkClick r:id="rId12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444542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67b60dce-cff3-47b7-97dd-79e146e7d526" descr="{&quot;SlideID&quot;:&quot;335&quot;,&quot;SlideNumber&quot;:&quot;46&quot;}">
              <a:hlinkClick r:id="rId13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4835409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70968cab-9be8-4efa-938a-35ac4e21db6b" descr="{&quot;SlideID&quot;:&quot;336&quot;,&quot;SlideNumber&quot;:&quot;48&quot;}">
              <a:hlinkClick r:id="rId14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521937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2f58b3ed-c4b0-4c9d-a99b-a0c92bba397a" descr="{&quot;SlideID&quot;:&quot;337&quot;,&quot;SlideNumber&quot;:&quot;50&quot;}">
              <a:hlinkClick r:id="rId15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560334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med">
        <p15:prstTrans prst="pageCurlDouble"/>
      </p:transition>
    </mc:Choice>
    <mc:Fallback xmlns:a14="http://schemas.microsoft.com/office/drawing/2010/main" xmlns:a16="http://schemas.microsoft.com/office/drawing/2014/main" xmlns:p14="http://schemas.microsoft.com/office/powerpoint/2010/main"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28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863" grpId="0" build="allAtOnce"/>
      <p:bldP spid="7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65" name="yt_shape_12865"/>
          <p:cNvSpPr txBox="1"/>
          <p:nvPr/>
        </p:nvSpPr>
        <p:spPr>
          <a:xfrm>
            <a:off x="324071" y="467999"/>
            <a:ext cx="11924914" cy="113543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3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 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2026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·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浙江衢州期中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如图所示为物体做直线运动的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4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幅图像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3_fc214"/>
              </a:rPr>
              <a:t>则下列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说法正确的是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</a:t>
            </a:r>
            <a:r>
              <a:rPr lang="en-US" altLang="zh-CN" sz="2800" b="0" i="0" u="none">
                <a:solidFill>
                  <a:srgbClr val="C00000">
                    <a:alpha val="0"/>
                  </a:srgbClr>
                </a:solidFill>
                <a:effectLst/>
                <a:latin typeface="Times New Roman" pitchFamily="28"/>
                <a:ea typeface="宋体" pitchFamily="28"/>
              </a:rPr>
              <a:t>C</a:t>
            </a:r>
            <a:r>
              <a:rPr lang="zh-CN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</a:p>
        </p:txBody>
      </p:sp>
      <p:graphicFrame>
        <p:nvGraphicFramePr>
          <p:cNvPr id="12868" name="yt_table_12868_skip" title="H_188.16">
            <a:extLst>
              <a:ext uri="{FF2B5EF4-FFF2-40B4-BE49-F238E27FC236}">
                <a16:creationId xmlns:a16="http://schemas.microsoft.com/office/drawing/2014/main" id="{85F9CD91-DE56-4981-AD6D-3D4292DC4A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6932297"/>
              </p:ext>
            </p:extLst>
          </p:nvPr>
        </p:nvGraphicFramePr>
        <p:xfrm>
          <a:off x="323994" y="3758914"/>
          <a:ext cx="8151814" cy="2389632"/>
        </p:xfrm>
        <a:graphic>
          <a:graphicData uri="http://schemas.openxmlformats.org/drawingml/2006/table">
            <a:tbl>
              <a:tblPr/>
              <a:tblGrid>
                <a:gridCol w="8151814">
                  <a:extLst>
                    <a:ext uri="{9D8B030D-6E8A-4147-A177-3AD203B41FA5}">
                      <a16:colId xmlns:a16="http://schemas.microsoft.com/office/drawing/2014/main" val="102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A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甲图中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物体在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0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～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5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s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内的位移小于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40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m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03492" indent="-503492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B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乙图中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物体在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2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～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3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s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内的速度变化量为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1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m/s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03492" indent="-503492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C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丙图中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物体在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0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～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6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m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内所用时间为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4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s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D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丁图中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物体的加速度大小为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5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m/s</a:t>
                      </a:r>
                      <a:r>
                        <a:rPr lang="en-US" altLang="zh-CN" sz="2800" b="0" i="0" u="none" baseline="3000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2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12"/>
                  </a:ext>
                </a:extLst>
              </a:tr>
            </a:tbl>
          </a:graphicData>
        </a:graphic>
      </p:graphicFrame>
      <p:pic>
        <p:nvPicPr>
          <p:cNvPr id="12866" name="yt_image_12866_skip" title="H_157.8">
            <a:extLst>
              <a:ext uri="">
                <a16:creationId xmlns:mc="http://schemas.openxmlformats.org/markup-compatibility/2006" xmlns:a14="http://schemas.microsoft.com/office/drawing/2010/main" xmlns:p14="http://schemas.microsoft.com/office/powerpoint/2010/main" xmlns:p15="http://schemas.microsoft.com/office/powerpoint/2012/main" xmlns:a16="http://schemas.microsoft.com/office/drawing/2014/main" xmlns="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994" y="1654226"/>
            <a:ext cx="5582998" cy="20040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867" name="yt_image_12867_skip" title="H_161.76">
            <a:extLst>
              <a:ext uri="">
                <a16:creationId xmlns:mc="http://schemas.openxmlformats.org/markup-compatibility/2006" xmlns:a14="http://schemas.microsoft.com/office/drawing/2010/main" xmlns:p14="http://schemas.microsoft.com/office/powerpoint/2010/main" xmlns:p15="http://schemas.microsoft.com/office/powerpoint/2012/main" xmlns:a16="http://schemas.microsoft.com/office/drawing/2014/main" xmlns="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956551" y="1654226"/>
            <a:ext cx="5591186" cy="2054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D8AFB920-9FA1-4E95-AE2D-F19F0BDE6791}"/>
              </a:ext>
            </a:extLst>
          </p:cNvPr>
          <p:cNvSpPr/>
          <p:nvPr/>
        </p:nvSpPr>
        <p:spPr>
          <a:xfrm>
            <a:off x="84246" y="5028932"/>
            <a:ext cx="761669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500" b="1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√</a:t>
            </a:r>
            <a:endParaRPr lang="zh-CN" altLang="en-US" sz="4500" b="1" dirty="0">
              <a:solidFill>
                <a:srgbClr val="C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3816040" y="6445607"/>
            <a:ext cx="4565782" cy="288000"/>
            <a:chOff x="1325563" y="6444186"/>
            <a:chExt cx="4565782" cy="288000"/>
          </a:xfrm>
        </p:grpSpPr>
        <p:sp>
          <p:nvSpPr>
            <p:cNvPr id="9" name="9ccfe823-4fe6-49f5-9f42-7479949d0a10" descr="{&quot;SlideID&quot;:&quot;326&quot;,&quot;SlideNumber&quot;:&quot;29&quot;}">
              <a:hlinkClick r:id="rId4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1325563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3dc95057-a5c9-4e8d-8cb7-93bac8732d62" descr="{&quot;SlideID&quot;:&quot;327&quot;,&quot;SlideNumber&quot;:&quot;31&quot;}">
              <a:hlinkClick r:id="rId5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171554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6a969530-ef7a-40e9-a95d-bf6dd5b6ff65" descr="{&quot;SlideID&quot;:&quot;328&quot;,&quot;SlideNumber&quot;:&quot;32&quot;}">
              <a:hlinkClick r:id="rId6" action="ppaction://hlinksldjump"/>
              <a:extLst>
                <a:ext uri="{FF2B5EF4-FFF2-40B4-BE49-F238E27FC236}">
                  <a16:creationId xmlns:a16="http://schemas.microsoft.com/office/drawing/2014/main" id="{CC279918-B4EB-4A69-8269-F7D85FE44387}"/>
                </a:ext>
              </a:extLst>
            </p:cNvPr>
            <p:cNvSpPr/>
            <p:nvPr/>
          </p:nvSpPr>
          <p:spPr>
            <a:xfrm>
              <a:off x="2105531" y="6444186"/>
              <a:ext cx="288000" cy="2880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49ef1e43-6860-4a77-b0be-88b355849a22" descr="{&quot;SlideID&quot;:&quot;329&quot;,&quot;SlideNumber&quot;:&quot;34&quot;}">
              <a:hlinkClick r:id="rId7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249551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afc1a495-0b02-4286-b1e4-8ae961d9f67b" descr="{&quot;SlideID&quot;:&quot;330&quot;,&quot;SlideNumber&quot;:&quot;36&quot;}">
              <a:hlinkClick r:id="rId8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2885499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61b38864-8ed9-4215-b14e-3a3bdbe90ff2" descr="{&quot;SlideID&quot;:&quot;331&quot;,&quot;SlideNumber&quot;:&quot;38&quot;}">
              <a:hlinkClick r:id="rId9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3275481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204d14fd-2e52-43c1-8b30-f7683725e86c" descr="{&quot;SlideID&quot;:&quot;332&quot;,&quot;SlideNumber&quot;:&quot;40&quot;}">
              <a:hlinkClick r:id="rId10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3665463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8ef1b922-bf66-44f4-b565-1ea1ec668357" descr="{&quot;SlideID&quot;:&quot;333&quot;,&quot;SlideNumber&quot;:&quot;42&quot;}">
              <a:hlinkClick r:id="rId11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405544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1eaf9e78-4bca-4d7c-b65b-144fb30723fc" descr="{&quot;SlideID&quot;:&quot;334&quot;,&quot;SlideNumber&quot;:&quot;44&quot;}">
              <a:hlinkClick r:id="rId12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444542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263c7fff-55b8-410a-a5da-da9861f89405" descr="{&quot;SlideID&quot;:&quot;335&quot;,&quot;SlideNumber&quot;:&quot;46&quot;}">
              <a:hlinkClick r:id="rId13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4835409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ff3b6c7a-3569-481b-a36e-d61f4b4a67c2" descr="{&quot;SlideID&quot;:&quot;336&quot;,&quot;SlideNumber&quot;:&quot;48&quot;}">
              <a:hlinkClick r:id="rId14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521937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ef1cf95a-e70e-458a-98e2-c03490564647" descr="{&quot;SlideID&quot;:&quot;337&quot;,&quot;SlideNumber&quot;:&quot;50&quot;}">
              <a:hlinkClick r:id="rId15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560334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med">
        <p15:prstTrans prst="pageCurlDouble"/>
      </p:transition>
    </mc:Choice>
    <mc:Fallback xmlns:a14="http://schemas.microsoft.com/office/drawing/2010/main" xmlns:a16="http://schemas.microsoft.com/office/drawing/2014/main" xmlns:p14="http://schemas.microsoft.com/office/powerpoint/2010/main"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2870" name="yt_shape_12870"/>
              <p:cNvSpPr txBox="1"/>
              <p:nvPr/>
            </p:nvSpPr>
            <p:spPr>
              <a:xfrm>
                <a:off x="324071" y="467999"/>
                <a:ext cx="11591121" cy="4645177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Autofit/>
              </a:bodyPr>
              <a:lstStyle/>
              <a:p>
                <a:pPr algn="l" eaLnBrk="1" latinLnBrk="0" hangingPunct="0"/>
                <a:r>
                  <a:rPr lang="zh-CN" altLang="zh-CN" sz="2800" b="0" i="0" u="none">
                    <a:solidFill>
                      <a:srgbClr val="0000FF"/>
                    </a:solidFill>
                    <a:effectLst/>
                    <a:latin typeface="Times New Roman" pitchFamily="28"/>
                    <a:ea typeface="黑体" pitchFamily="28"/>
                  </a:rPr>
                  <a:t>解析：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甲图中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图线与时间轴围成的面积表示位移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甲图中物体在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～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5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  <a:sym typeface="_⨹_1_249b2"/>
                  </a:rPr>
                  <a:t>s</a:t>
                </a:r>
                <a:b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</a:b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内图线与时间轴围成的面积大于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16×5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40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所以位移大于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40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1_c97bb"/>
                  </a:rPr>
                  <a:t>错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误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；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乙图中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图线与时间轴围成的面积表示速度变化量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所以物体在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～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3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1_7ce31"/>
                  </a:rPr>
                  <a:t> 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s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内的速度变化量为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Δ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×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（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＋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3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）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×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m/s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.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5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m/s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B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错误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；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4_5a546"/>
                  </a:rPr>
                  <a:t>根据匀变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速直线运动规律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en-US" altLang="zh-CN" sz="2800" b="0" i="0" u="none" baseline="30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ax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＋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0</m:t>
                            </m:r>
                          </m:sub>
                        </m:sSub>
                      </m:e>
                      <m:sup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可知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0</m:t>
                            </m:r>
                          </m:sub>
                        </m:sSub>
                      </m:e>
                      <m:sup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:r>
                  <a:rPr lang="en-US" altLang="zh-CN" sz="2800" b="0" i="0" u="none" baseline="30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Times New Roman" pitchFamily="28"/>
                  </a:rPr>
                  <a:t>·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s</a:t>
                </a:r>
                <a:r>
                  <a:rPr lang="zh-CN" altLang="zh-CN" sz="2800" b="0" i="0" u="none" baseline="3000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－</a:t>
                </a:r>
                <a:r>
                  <a:rPr lang="en-US" altLang="zh-CN" sz="2800" b="0" i="0" u="none" baseline="30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k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.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5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m/s</a:t>
                </a:r>
                <a:r>
                  <a:rPr lang="en-US" altLang="zh-CN" sz="2800" b="0" i="0" u="none" baseline="30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则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  <a:sym typeface="_⨹_1_c1df9"/>
                  </a:rPr>
                  <a:t>0</a:t>
                </a:r>
                <a:b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</a:b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m/s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.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25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m/s</a:t>
                </a:r>
                <a:r>
                  <a:rPr lang="en-US" altLang="zh-CN" sz="2800" b="0" i="0" u="none" baseline="30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6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s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时速度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m/s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由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＋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at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可得物体在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  <a:sym typeface="_⨹_1_b6c7a"/>
                  </a:rPr>
                  <a:t>～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</a:b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6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内所用时间为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4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s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C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正确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；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根据匀变速直线运动规律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x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＋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at</a:t>
                </a:r>
                <a:r>
                  <a:rPr lang="en-US" altLang="zh-CN" sz="2800" b="0" i="0" u="none" baseline="30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  <a:sym typeface="_⨹_1_76e72"/>
                  </a:rPr>
                  <a:t>，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</a:b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可得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𝑥</m:t>
                        </m:r>
                      </m:num>
                      <m:den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at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＋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所以丁图中图线的斜率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k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20</m:t>
                        </m:r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−</m:t>
                        </m:r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0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6</m:t>
                        </m:r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−</m:t>
                        </m:r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m/s</a:t>
                </a:r>
                <a:r>
                  <a:rPr lang="en-US" altLang="zh-CN" sz="2800" b="0" i="0" u="none" baseline="30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7_b9eb4"/>
                  </a:rPr>
                  <a:t>解得物体的加速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度大小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10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m/s</a:t>
                </a:r>
                <a:r>
                  <a:rPr lang="en-US" altLang="zh-CN" sz="2800" b="0" i="0" u="none" baseline="30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D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错误。</a:t>
                </a:r>
              </a:p>
            </p:txBody>
          </p:sp>
        </mc:Choice>
        <mc:Fallback xmlns:a16="http://schemas.microsoft.com/office/drawing/2014/main" xmlns="">
          <p:sp>
            <p:nvSpPr>
              <p:cNvPr id="12870" name="yt_shape_1287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71" y="467999"/>
                <a:ext cx="11591121" cy="4645177"/>
              </a:xfrm>
              <a:prstGeom prst="rect">
                <a:avLst/>
              </a:prstGeom>
              <a:blipFill>
                <a:blip r:embed="rId2"/>
                <a:stretch>
                  <a:fillRect l="-1840" t="-2756" r="-946" b="-27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" name="组合 14"/>
          <p:cNvGrpSpPr/>
          <p:nvPr/>
        </p:nvGrpSpPr>
        <p:grpSpPr>
          <a:xfrm>
            <a:off x="3816040" y="6445607"/>
            <a:ext cx="4565782" cy="288000"/>
            <a:chOff x="1325563" y="6444186"/>
            <a:chExt cx="4565782" cy="288000"/>
          </a:xfrm>
        </p:grpSpPr>
        <p:sp>
          <p:nvSpPr>
            <p:cNvPr id="9" name="c66a2dec-bb1e-4153-b592-708b82656cd2" descr="{&quot;SlideID&quot;:&quot;326&quot;,&quot;SlideNumber&quot;:&quot;29&quot;}">
              <a:hlinkClick r:id="rId3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1325563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" name="b5bfcaf1-2695-419f-aa4d-92c592a795ce" descr="{&quot;SlideID&quot;:&quot;327&quot;,&quot;SlideNumber&quot;:&quot;31&quot;}">
              <a:hlinkClick r:id="rId4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171554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7e16ca65-9e21-40db-a230-fb77942a7baa" descr="{&quot;SlideID&quot;:&quot;328&quot;,&quot;SlideNumber&quot;:&quot;32&quot;}">
              <a:hlinkClick r:id="rId5" action="ppaction://hlinksldjump"/>
              <a:extLst>
                <a:ext uri="{FF2B5EF4-FFF2-40B4-BE49-F238E27FC236}">
                  <a16:creationId xmlns:a16="http://schemas.microsoft.com/office/drawing/2014/main" id="{CC279918-B4EB-4A69-8269-F7D85FE44387}"/>
                </a:ext>
              </a:extLst>
            </p:cNvPr>
            <p:cNvSpPr/>
            <p:nvPr/>
          </p:nvSpPr>
          <p:spPr>
            <a:xfrm>
              <a:off x="2105531" y="6444186"/>
              <a:ext cx="288000" cy="2880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10894be3-6fa8-4500-92d6-c6f76b189707" descr="{&quot;SlideID&quot;:&quot;329&quot;,&quot;SlideNumber&quot;:&quot;34&quot;}">
              <a:hlinkClick r:id="rId6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249551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862ce92e-3a9f-4b73-bb35-3d53a633820e" descr="{&quot;SlideID&quot;:&quot;330&quot;,&quot;SlideNumber&quot;:&quot;36&quot;}">
              <a:hlinkClick r:id="rId7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2885499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f4b60562-f3ae-4d6c-9f09-0eb75807d929" descr="{&quot;SlideID&quot;:&quot;331&quot;,&quot;SlideNumber&quot;:&quot;38&quot;}">
              <a:hlinkClick r:id="rId8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3275481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49b7dd67-4043-4290-a223-e11f7d12c42d" descr="{&quot;SlideID&quot;:&quot;332&quot;,&quot;SlideNumber&quot;:&quot;40&quot;}">
              <a:hlinkClick r:id="rId9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3665463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d4b663bf-1855-43e3-873f-1c1b0f67a4a6" descr="{&quot;SlideID&quot;:&quot;333&quot;,&quot;SlideNumber&quot;:&quot;42&quot;}">
              <a:hlinkClick r:id="rId10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405544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9b5aba12-de31-4583-91da-679aadf26ed2" descr="{&quot;SlideID&quot;:&quot;334&quot;,&quot;SlideNumber&quot;:&quot;44&quot;}">
              <a:hlinkClick r:id="rId11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444542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8d73ef67-0387-4860-8685-e3f9841240c2" descr="{&quot;SlideID&quot;:&quot;335&quot;,&quot;SlideNumber&quot;:&quot;46&quot;}">
              <a:hlinkClick r:id="rId12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4835409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bc3fa009-6f9f-48d3-b6f3-676293965f45" descr="{&quot;SlideID&quot;:&quot;336&quot;,&quot;SlideNumber&quot;:&quot;48&quot;}">
              <a:hlinkClick r:id="rId13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521937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7e45aef9-e5b5-4c2f-b758-edd27ede167e" descr="{&quot;SlideID&quot;:&quot;337&quot;,&quot;SlideNumber&quot;:&quot;50&quot;}">
              <a:hlinkClick r:id="rId14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560334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72" name="yt_shape_12872"/>
          <p:cNvSpPr txBox="1"/>
          <p:nvPr/>
        </p:nvSpPr>
        <p:spPr>
          <a:xfrm>
            <a:off x="324071" y="467999"/>
            <a:ext cx="11924914" cy="173868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4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 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2026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·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浙江杭州期末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物体甲的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-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t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图像和物体乙的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x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-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t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6_05e8d"/>
              </a:rPr>
              <a:t>图像分别如图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甲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、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乙所示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则关于这两个物体在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～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4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s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12_42681"/>
              </a:rPr>
              <a:t>内运动情况的说法正确的是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</a:t>
            </a:r>
            <a:r>
              <a:rPr lang="en-US" altLang="zh-CN" sz="2800" b="0" i="0" u="none">
                <a:solidFill>
                  <a:srgbClr val="C00000">
                    <a:alpha val="0"/>
                  </a:srgbClr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</a:p>
        </p:txBody>
      </p:sp>
      <p:graphicFrame>
        <p:nvGraphicFramePr>
          <p:cNvPr id="12874" name="yt_table_12874_skip" title="H_188.16">
            <a:extLst>
              <a:ext uri="{FF2B5EF4-FFF2-40B4-BE49-F238E27FC236}">
                <a16:creationId xmlns:a16="http://schemas.microsoft.com/office/drawing/2014/main" id="{85F9CD91-DE56-4981-AD6D-3D4292DC4A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6378288"/>
              </p:ext>
            </p:extLst>
          </p:nvPr>
        </p:nvGraphicFramePr>
        <p:xfrm>
          <a:off x="324071" y="3879546"/>
          <a:ext cx="7975600" cy="2389632"/>
        </p:xfrm>
        <a:graphic>
          <a:graphicData uri="http://schemas.openxmlformats.org/drawingml/2006/table">
            <a:tbl>
              <a:tblPr/>
              <a:tblGrid>
                <a:gridCol w="7975600">
                  <a:extLst>
                    <a:ext uri="{9D8B030D-6E8A-4147-A177-3AD203B41FA5}">
                      <a16:colId xmlns:a16="http://schemas.microsoft.com/office/drawing/2014/main" val="102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A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甲在前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2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s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内的加速度与后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2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s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内的加速度相同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03492" indent="-503492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B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甲在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4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s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末离出发点最远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03492" indent="-503492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C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乙在前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2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s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内的位移与后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2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s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内的位移方向相反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D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乙在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4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s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末回到出发点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16"/>
                  </a:ext>
                </a:extLst>
              </a:tr>
            </a:tbl>
          </a:graphicData>
        </a:graphic>
      </p:graphicFrame>
      <p:pic>
        <p:nvPicPr>
          <p:cNvPr id="12873" name="yt_image_12873_skip" title="H_186">
            <a:extLst>
              <a:ext uri="">
                <a16:creationId xmlns:mc="http://schemas.openxmlformats.org/markup-compatibility/2006" xmlns:a14="http://schemas.microsoft.com/office/drawing/2010/main" xmlns:p14="http://schemas.microsoft.com/office/powerpoint/2010/main" xmlns:p15="http://schemas.microsoft.com/office/powerpoint/2012/main" xmlns:a16="http://schemas.microsoft.com/office/drawing/2014/main" xmlns="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46932" y="2206680"/>
            <a:ext cx="4879192" cy="16728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D8AFB920-9FA1-4E95-AE2D-F19F0BDE6791}"/>
              </a:ext>
            </a:extLst>
          </p:cNvPr>
          <p:cNvSpPr/>
          <p:nvPr/>
        </p:nvSpPr>
        <p:spPr>
          <a:xfrm>
            <a:off x="102907" y="3965242"/>
            <a:ext cx="761669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500" b="1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√</a:t>
            </a:r>
            <a:endParaRPr lang="zh-CN" altLang="en-US" sz="4500" b="1" dirty="0">
              <a:solidFill>
                <a:srgbClr val="C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3816040" y="6445607"/>
            <a:ext cx="4565782" cy="288000"/>
            <a:chOff x="1325563" y="6444186"/>
            <a:chExt cx="4565782" cy="288000"/>
          </a:xfrm>
        </p:grpSpPr>
        <p:sp>
          <p:nvSpPr>
            <p:cNvPr id="9" name="b408ee17-e595-43bf-bf8a-e4b1422c08f7" descr="{&quot;SlideID&quot;:&quot;326&quot;,&quot;SlideNumber&quot;:&quot;29&quot;}">
              <a:hlinkClick r:id="rId3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1325563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" name="6cdc2ffe-8498-4827-904e-f967352741de" descr="{&quot;SlideID&quot;:&quot;327&quot;,&quot;SlideNumber&quot;:&quot;31&quot;}">
              <a:hlinkClick r:id="rId4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171554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8b74965e-8d79-4df7-b0d1-fa8fcb8ed754" descr="{&quot;SlideID&quot;:&quot;328&quot;,&quot;SlideNumber&quot;:&quot;32&quot;}">
              <a:hlinkClick r:id="rId5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2105531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b92ac362-3acf-4829-aaa0-d71a4f0a76ad" descr="{&quot;SlideID&quot;:&quot;329&quot;,&quot;SlideNumber&quot;:&quot;34&quot;}">
              <a:hlinkClick r:id="rId6" action="ppaction://hlinksldjump"/>
              <a:extLst>
                <a:ext uri="{FF2B5EF4-FFF2-40B4-BE49-F238E27FC236}">
                  <a16:creationId xmlns:a16="http://schemas.microsoft.com/office/drawing/2014/main" id="{CC279918-B4EB-4A69-8269-F7D85FE44387}"/>
                </a:ext>
              </a:extLst>
            </p:cNvPr>
            <p:cNvSpPr/>
            <p:nvPr/>
          </p:nvSpPr>
          <p:spPr>
            <a:xfrm>
              <a:off x="2495515" y="6444186"/>
              <a:ext cx="288000" cy="2880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40b857c1-72e8-419c-a8c7-82a4b8f3bf7f" descr="{&quot;SlideID&quot;:&quot;330&quot;,&quot;SlideNumber&quot;:&quot;36&quot;}">
              <a:hlinkClick r:id="rId7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2885499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80e68997-69f1-4508-b021-91277a11aa00" descr="{&quot;SlideID&quot;:&quot;331&quot;,&quot;SlideNumber&quot;:&quot;38&quot;}">
              <a:hlinkClick r:id="rId8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3275481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59927f1f-cb38-41b2-9150-f5dfe1159dad" descr="{&quot;SlideID&quot;:&quot;332&quot;,&quot;SlideNumber&quot;:&quot;40&quot;}">
              <a:hlinkClick r:id="rId9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3665463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ca993a71-6c84-477b-bd68-27130499317b" descr="{&quot;SlideID&quot;:&quot;333&quot;,&quot;SlideNumber&quot;:&quot;42&quot;}">
              <a:hlinkClick r:id="rId10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405544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6cb35dea-15e2-43d6-94ef-6b821e83e913" descr="{&quot;SlideID&quot;:&quot;334&quot;,&quot;SlideNumber&quot;:&quot;44&quot;}">
              <a:hlinkClick r:id="rId11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444542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0d511a6a-8021-463a-aab6-4c99acd55552" descr="{&quot;SlideID&quot;:&quot;335&quot;,&quot;SlideNumber&quot;:&quot;46&quot;}">
              <a:hlinkClick r:id="rId12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4835409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59f42434-2f30-40ed-b950-c312cbda3851" descr="{&quot;SlideID&quot;:&quot;336&quot;,&quot;SlideNumber&quot;:&quot;48&quot;}">
              <a:hlinkClick r:id="rId13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521937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a324fd34-5a3b-4f47-8db4-8a1498e6e1f8" descr="{&quot;SlideID&quot;:&quot;337&quot;,&quot;SlideNumber&quot;:&quot;50&quot;}">
              <a:hlinkClick r:id="rId14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560334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med">
        <p15:prstTrans prst="pageCurlDouble"/>
      </p:transition>
    </mc:Choice>
    <mc:Fallback xmlns:a14="http://schemas.microsoft.com/office/drawing/2010/main" xmlns:a16="http://schemas.microsoft.com/office/drawing/2014/main" xmlns:p14="http://schemas.microsoft.com/office/powerpoint/2010/main"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76" name="yt_shape_12876"/>
          <p:cNvSpPr txBox="1"/>
          <p:nvPr/>
        </p:nvSpPr>
        <p:spPr>
          <a:xfrm>
            <a:off x="324071" y="467999"/>
            <a:ext cx="11924914" cy="2341923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FF"/>
                </a:solidFill>
                <a:effectLst/>
                <a:latin typeface="Times New Roman" pitchFamily="28"/>
                <a:ea typeface="黑体" pitchFamily="28"/>
              </a:rPr>
              <a:t>解析：</a:t>
            </a:r>
            <a:r>
              <a:rPr lang="en-US" altLang="zh-CN" sz="2800" b="0" i="1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-</a:t>
            </a:r>
            <a:r>
              <a:rPr lang="en-US" altLang="zh-CN" sz="2800" b="0" i="1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t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图像的斜率表示加速度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甲的加速度不变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故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正确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；</a:t>
            </a:r>
            <a:r>
              <a:rPr lang="en-US" altLang="zh-CN" sz="2800" b="0" i="1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-</a:t>
            </a:r>
            <a:r>
              <a:rPr lang="en-US" altLang="zh-CN" sz="2800" b="0" i="1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t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  <a:sym typeface="_⨹_3_33b0a"/>
              </a:rPr>
              <a:t>图像与</a:t>
            </a:r>
            <a:b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</a:b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横轴围成图形的面积表示位移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甲在前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 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s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内位移为负向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在后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 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s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  <a:sym typeface="_⨹_4_24b96"/>
              </a:rPr>
              <a:t>内位移为</a:t>
            </a:r>
            <a:b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</a:b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正向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二者等大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则甲在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4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 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s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末回到出发点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故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B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错误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；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在</a:t>
            </a:r>
            <a:r>
              <a:rPr lang="en-US" altLang="zh-CN" sz="2800" b="0" i="1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x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-</a:t>
            </a:r>
            <a:r>
              <a:rPr lang="en-US" altLang="zh-CN" sz="2800" b="0" i="1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t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图像中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  <a:sym typeface="_⨹_2_0a2e5"/>
              </a:rPr>
              <a:t>乙从</a:t>
            </a:r>
            <a:b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</a:b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－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3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 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m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处沿正向运动到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3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 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m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处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位移一直为正向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故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C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、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D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错误。</a:t>
            </a:r>
          </a:p>
        </p:txBody>
      </p:sp>
      <p:grpSp>
        <p:nvGrpSpPr>
          <p:cNvPr id="15" name="组合 14"/>
          <p:cNvGrpSpPr/>
          <p:nvPr/>
        </p:nvGrpSpPr>
        <p:grpSpPr>
          <a:xfrm>
            <a:off x="3816040" y="6445607"/>
            <a:ext cx="4565782" cy="288000"/>
            <a:chOff x="1325563" y="6444186"/>
            <a:chExt cx="4565782" cy="288000"/>
          </a:xfrm>
        </p:grpSpPr>
        <p:sp>
          <p:nvSpPr>
            <p:cNvPr id="9" name="074770f6-74ea-4af5-9935-324c33d8423b" descr="{&quot;SlideID&quot;:&quot;326&quot;,&quot;SlideNumber&quot;:&quot;29&quot;}">
              <a:hlinkClick r:id="rId2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1325563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" name="0a0843c0-efad-412e-b3c3-541d09b60ac5" descr="{&quot;SlideID&quot;:&quot;327&quot;,&quot;SlideNumber&quot;:&quot;31&quot;}">
              <a:hlinkClick r:id="rId3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171554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7464eb4b-f11b-48c5-83a1-01d5e9d29ee3" descr="{&quot;SlideID&quot;:&quot;328&quot;,&quot;SlideNumber&quot;:&quot;32&quot;}">
              <a:hlinkClick r:id="rId4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2105531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989ccf45-b05f-4ed1-95ee-43086f7846a9" descr="{&quot;SlideID&quot;:&quot;329&quot;,&quot;SlideNumber&quot;:&quot;34&quot;}">
              <a:hlinkClick r:id="rId5" action="ppaction://hlinksldjump"/>
              <a:extLst>
                <a:ext uri="{FF2B5EF4-FFF2-40B4-BE49-F238E27FC236}">
                  <a16:creationId xmlns:a16="http://schemas.microsoft.com/office/drawing/2014/main" id="{CC279918-B4EB-4A69-8269-F7D85FE44387}"/>
                </a:ext>
              </a:extLst>
            </p:cNvPr>
            <p:cNvSpPr/>
            <p:nvPr/>
          </p:nvSpPr>
          <p:spPr>
            <a:xfrm>
              <a:off x="2495515" y="6444186"/>
              <a:ext cx="288000" cy="2880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e341b12d-95ee-49e6-b0cb-5abdd8ea241f" descr="{&quot;SlideID&quot;:&quot;330&quot;,&quot;SlideNumber&quot;:&quot;36&quot;}">
              <a:hlinkClick r:id="rId6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2885499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2d1082cb-2d69-4854-b621-b388f638bfa3" descr="{&quot;SlideID&quot;:&quot;331&quot;,&quot;SlideNumber&quot;:&quot;38&quot;}">
              <a:hlinkClick r:id="rId7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3275481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bcc12adf-9c44-46ca-aebe-8a0d15e99736" descr="{&quot;SlideID&quot;:&quot;332&quot;,&quot;SlideNumber&quot;:&quot;40&quot;}">
              <a:hlinkClick r:id="rId8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3665463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669b15c6-52e3-4c89-a3f9-17306c91164d" descr="{&quot;SlideID&quot;:&quot;333&quot;,&quot;SlideNumber&quot;:&quot;42&quot;}">
              <a:hlinkClick r:id="rId9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405544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c5e9c7db-0e5d-4452-b6a7-382a57303d3b" descr="{&quot;SlideID&quot;:&quot;334&quot;,&quot;SlideNumber&quot;:&quot;44&quot;}">
              <a:hlinkClick r:id="rId10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444542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b31c5bdf-adcd-4212-859e-415388aa1c07" descr="{&quot;SlideID&quot;:&quot;335&quot;,&quot;SlideNumber&quot;:&quot;46&quot;}">
              <a:hlinkClick r:id="rId11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4835409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997c1fd7-7e08-46cc-aa49-bb55fe2875c0" descr="{&quot;SlideID&quot;:&quot;336&quot;,&quot;SlideNumber&quot;:&quot;48&quot;}">
              <a:hlinkClick r:id="rId12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521937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bb0a61d4-13f8-4208-b9c7-e9247f33be99" descr="{&quot;SlideID&quot;:&quot;337&quot;,&quot;SlideNumber&quot;:&quot;50&quot;}">
              <a:hlinkClick r:id="rId13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560334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77" name="yt_shape_12877"/>
          <p:cNvSpPr txBox="1"/>
          <p:nvPr/>
        </p:nvSpPr>
        <p:spPr>
          <a:xfrm>
            <a:off x="324071" y="467999"/>
            <a:ext cx="11924914" cy="173868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5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 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做匀变速直线运动的物体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其位移大小可以用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-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t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10_d70db"/>
              </a:rPr>
              <a:t>图像中着色部分的梯形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面积来表示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对于做直线运动的物体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-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t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14_67ba3"/>
              </a:rPr>
              <a:t>图像中着色部分的梯形面积可表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示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</a:t>
            </a:r>
            <a:r>
              <a:rPr lang="en-US" altLang="zh-CN" sz="2800" b="0" i="0" u="none">
                <a:solidFill>
                  <a:srgbClr val="C00000">
                    <a:alpha val="0"/>
                  </a:srgbClr>
                </a:solidFill>
                <a:effectLst/>
                <a:latin typeface="Times New Roman" pitchFamily="28"/>
                <a:ea typeface="宋体" pitchFamily="28"/>
              </a:rPr>
              <a:t>C</a:t>
            </a:r>
            <a:r>
              <a:rPr lang="zh-CN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</a:p>
        </p:txBody>
      </p:sp>
      <p:graphicFrame>
        <p:nvGraphicFramePr>
          <p:cNvPr id="12879" name="yt_table_12879_skip" title="H_94.08">
            <a:extLst>
              <a:ext uri="{FF2B5EF4-FFF2-40B4-BE49-F238E27FC236}">
                <a16:creationId xmlns:a16="http://schemas.microsoft.com/office/drawing/2014/main" id="{85F9CD91-DE56-4981-AD6D-3D4292DC4A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6277301"/>
              </p:ext>
            </p:extLst>
          </p:nvPr>
        </p:nvGraphicFramePr>
        <p:xfrm>
          <a:off x="324066" y="4728851"/>
          <a:ext cx="8842693" cy="1194816"/>
        </p:xfrm>
        <a:graphic>
          <a:graphicData uri="http://schemas.openxmlformats.org/drawingml/2006/table">
            <a:tbl>
              <a:tblPr/>
              <a:tblGrid>
                <a:gridCol w="4877118">
                  <a:extLst>
                    <a:ext uri="{9D8B030D-6E8A-4147-A177-3AD203B41FA5}">
                      <a16:colId xmlns:a16="http://schemas.microsoft.com/office/drawing/2014/main" val="10262"/>
                    </a:ext>
                  </a:extLst>
                </a:gridCol>
                <a:gridCol w="3965575">
                  <a:extLst>
                    <a:ext uri="{9D8B030D-6E8A-4147-A177-3AD203B41FA5}">
                      <a16:colId xmlns:a16="http://schemas.microsoft.com/office/drawing/2014/main" val="1026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A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初速度的大小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B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末速度的大小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03492" indent="-503492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C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速度变化量的大小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503492" indent="-503492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D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位置变化量的大小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18"/>
                  </a:ext>
                </a:extLst>
              </a:tr>
            </a:tbl>
          </a:graphicData>
        </a:graphic>
      </p:graphicFrame>
      <p:pic>
        <p:nvPicPr>
          <p:cNvPr id="12878" name="yt_image_12878_skip" title="H_194.64">
            <a:extLst>
              <a:ext uri="">
                <a16:creationId xmlns:mc="http://schemas.openxmlformats.org/markup-compatibility/2006" xmlns:a14="http://schemas.microsoft.com/office/drawing/2010/main" xmlns:p14="http://schemas.microsoft.com/office/powerpoint/2010/main" xmlns:p15="http://schemas.microsoft.com/office/powerpoint/2012/main" xmlns:a16="http://schemas.microsoft.com/office/drawing/2014/main" xmlns="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69918" y="2257468"/>
            <a:ext cx="6451039" cy="24719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D8AFB920-9FA1-4E95-AE2D-F19F0BDE6791}"/>
              </a:ext>
            </a:extLst>
          </p:cNvPr>
          <p:cNvSpPr/>
          <p:nvPr/>
        </p:nvSpPr>
        <p:spPr>
          <a:xfrm>
            <a:off x="93577" y="5392825"/>
            <a:ext cx="761669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500" b="1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√</a:t>
            </a:r>
            <a:endParaRPr lang="zh-CN" altLang="en-US" sz="4500" b="1" dirty="0">
              <a:solidFill>
                <a:srgbClr val="C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3816040" y="6445607"/>
            <a:ext cx="4565782" cy="288000"/>
            <a:chOff x="1325563" y="6444186"/>
            <a:chExt cx="4565782" cy="288000"/>
          </a:xfrm>
        </p:grpSpPr>
        <p:sp>
          <p:nvSpPr>
            <p:cNvPr id="9" name="e0b136c5-57dc-4ddc-b4ae-b4e36522d86a" descr="{&quot;SlideID&quot;:&quot;326&quot;,&quot;SlideNumber&quot;:&quot;29&quot;}">
              <a:hlinkClick r:id="rId3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1325563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" name="8661c46b-314f-4392-9569-59fb7081dd29" descr="{&quot;SlideID&quot;:&quot;327&quot;,&quot;SlideNumber&quot;:&quot;31&quot;}">
              <a:hlinkClick r:id="rId4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171554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f135444f-1e7d-498e-aed9-8b796b69133d" descr="{&quot;SlideID&quot;:&quot;328&quot;,&quot;SlideNumber&quot;:&quot;32&quot;}">
              <a:hlinkClick r:id="rId5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2105531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0da69904-6be0-4c47-8282-c2fac4f3a213" descr="{&quot;SlideID&quot;:&quot;329&quot;,&quot;SlideNumber&quot;:&quot;34&quot;}">
              <a:hlinkClick r:id="rId6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249551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d19374b1-d047-42f7-9600-f45ea11118d3" descr="{&quot;SlideID&quot;:&quot;330&quot;,&quot;SlideNumber&quot;:&quot;36&quot;}">
              <a:hlinkClick r:id="rId7" action="ppaction://hlinksldjump"/>
              <a:extLst>
                <a:ext uri="{FF2B5EF4-FFF2-40B4-BE49-F238E27FC236}">
                  <a16:creationId xmlns:a16="http://schemas.microsoft.com/office/drawing/2014/main" id="{CC279918-B4EB-4A69-8269-F7D85FE44387}"/>
                </a:ext>
              </a:extLst>
            </p:cNvPr>
            <p:cNvSpPr/>
            <p:nvPr/>
          </p:nvSpPr>
          <p:spPr>
            <a:xfrm>
              <a:off x="2885499" y="6444186"/>
              <a:ext cx="288000" cy="2880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50d63f2c-d570-4ed6-9301-9a606dd4fb3a" descr="{&quot;SlideID&quot;:&quot;331&quot;,&quot;SlideNumber&quot;:&quot;38&quot;}">
              <a:hlinkClick r:id="rId8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3275481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cce9e1ac-9e94-4ac6-8d0b-bb077246e917" descr="{&quot;SlideID&quot;:&quot;332&quot;,&quot;SlideNumber&quot;:&quot;40&quot;}">
              <a:hlinkClick r:id="rId9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3665463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09888218-9f22-45a1-b7b2-eae11f393718" descr="{&quot;SlideID&quot;:&quot;333&quot;,&quot;SlideNumber&quot;:&quot;42&quot;}">
              <a:hlinkClick r:id="rId10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405544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6674beb6-a9dc-4e99-8d6d-a1d76fb2dec8" descr="{&quot;SlideID&quot;:&quot;334&quot;,&quot;SlideNumber&quot;:&quot;44&quot;}">
              <a:hlinkClick r:id="rId11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444542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474dbca1-3d3d-4eb5-8df0-13d2459b5dfe" descr="{&quot;SlideID&quot;:&quot;335&quot;,&quot;SlideNumber&quot;:&quot;46&quot;}">
              <a:hlinkClick r:id="rId12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4835409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e4bd2c0c-c8fd-45dc-ab57-91cf2750419f" descr="{&quot;SlideID&quot;:&quot;336&quot;,&quot;SlideNumber&quot;:&quot;48&quot;}">
              <a:hlinkClick r:id="rId13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521937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68fdd74a-9f40-4b71-8952-e8bbb471ccdd" descr="{&quot;SlideID&quot;:&quot;337&quot;,&quot;SlideNumber&quot;:&quot;50&quot;}">
              <a:hlinkClick r:id="rId14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560334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med">
        <p15:prstTrans prst="pageCurlDouble"/>
      </p:transition>
    </mc:Choice>
    <mc:Fallback xmlns:a14="http://schemas.microsoft.com/office/drawing/2010/main" xmlns:a16="http://schemas.microsoft.com/office/drawing/2014/main" xmlns:p14="http://schemas.microsoft.com/office/powerpoint/2010/main"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81" name="yt_shape_12881"/>
          <p:cNvSpPr txBox="1"/>
          <p:nvPr/>
        </p:nvSpPr>
        <p:spPr>
          <a:xfrm>
            <a:off x="324071" y="467999"/>
            <a:ext cx="11924914" cy="113543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FF"/>
                </a:solidFill>
                <a:effectLst/>
                <a:latin typeface="Times New Roman" pitchFamily="28"/>
                <a:ea typeface="黑体" pitchFamily="28"/>
              </a:rPr>
              <a:t>解析：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根据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Δ</a:t>
            </a:r>
            <a:r>
              <a:rPr lang="en-US" altLang="zh-CN" sz="2800" b="0" i="1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1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at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可知对于做直线运动的物体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en-US" altLang="zh-CN" sz="2800" b="0" i="1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-</a:t>
            </a:r>
            <a:r>
              <a:rPr lang="en-US" altLang="zh-CN" sz="2800" b="0" i="1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t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  <a:sym typeface="_⨹_9_bbf0b"/>
              </a:rPr>
              <a:t>图像中着色部分的梯</a:t>
            </a:r>
            <a:b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</a:b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形面积可表示速度变化量的大小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故选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C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。</a:t>
            </a:r>
          </a:p>
        </p:txBody>
      </p:sp>
      <p:grpSp>
        <p:nvGrpSpPr>
          <p:cNvPr id="15" name="组合 14"/>
          <p:cNvGrpSpPr/>
          <p:nvPr/>
        </p:nvGrpSpPr>
        <p:grpSpPr>
          <a:xfrm>
            <a:off x="3816040" y="6445607"/>
            <a:ext cx="4565782" cy="288000"/>
            <a:chOff x="1325563" y="6444186"/>
            <a:chExt cx="4565782" cy="288000"/>
          </a:xfrm>
        </p:grpSpPr>
        <p:sp>
          <p:nvSpPr>
            <p:cNvPr id="9" name="125c5750-79d3-41e0-ba32-55b3caea1d4b" descr="{&quot;SlideID&quot;:&quot;326&quot;,&quot;SlideNumber&quot;:&quot;29&quot;}">
              <a:hlinkClick r:id="rId2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1325563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" name="0e3dbce9-10c5-4efb-bfe4-e32e2b1ef527" descr="{&quot;SlideID&quot;:&quot;327&quot;,&quot;SlideNumber&quot;:&quot;31&quot;}">
              <a:hlinkClick r:id="rId3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171554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1d7388dd-a4c6-433f-8795-1b6fe2884975" descr="{&quot;SlideID&quot;:&quot;328&quot;,&quot;SlideNumber&quot;:&quot;32&quot;}">
              <a:hlinkClick r:id="rId4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2105531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a6ea882a-3d7f-4a58-9c05-0d1c411524f8" descr="{&quot;SlideID&quot;:&quot;329&quot;,&quot;SlideNumber&quot;:&quot;34&quot;}">
              <a:hlinkClick r:id="rId5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249551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ca602f42-b44a-4adb-8af8-8083622d7359" descr="{&quot;SlideID&quot;:&quot;330&quot;,&quot;SlideNumber&quot;:&quot;36&quot;}">
              <a:hlinkClick r:id="rId6" action="ppaction://hlinksldjump"/>
              <a:extLst>
                <a:ext uri="{FF2B5EF4-FFF2-40B4-BE49-F238E27FC236}">
                  <a16:creationId xmlns:a16="http://schemas.microsoft.com/office/drawing/2014/main" id="{CC279918-B4EB-4A69-8269-F7D85FE44387}"/>
                </a:ext>
              </a:extLst>
            </p:cNvPr>
            <p:cNvSpPr/>
            <p:nvPr/>
          </p:nvSpPr>
          <p:spPr>
            <a:xfrm>
              <a:off x="2885499" y="6444186"/>
              <a:ext cx="288000" cy="2880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642e1252-f73f-4f5b-8dea-ca6a9c92cc12" descr="{&quot;SlideID&quot;:&quot;331&quot;,&quot;SlideNumber&quot;:&quot;38&quot;}">
              <a:hlinkClick r:id="rId7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3275481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7f5fee03-d49f-47b3-b0ec-ab8c9665510f" descr="{&quot;SlideID&quot;:&quot;332&quot;,&quot;SlideNumber&quot;:&quot;40&quot;}">
              <a:hlinkClick r:id="rId8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3665463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49d0b906-bdc9-4fc1-9b40-462de439075e" descr="{&quot;SlideID&quot;:&quot;333&quot;,&quot;SlideNumber&quot;:&quot;42&quot;}">
              <a:hlinkClick r:id="rId9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405544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417e629b-35b5-4404-a06b-5d951f3b09b1" descr="{&quot;SlideID&quot;:&quot;334&quot;,&quot;SlideNumber&quot;:&quot;44&quot;}">
              <a:hlinkClick r:id="rId10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444542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d8798ac8-52e7-4c1f-93bf-4327b8cf7347" descr="{&quot;SlideID&quot;:&quot;335&quot;,&quot;SlideNumber&quot;:&quot;46&quot;}">
              <a:hlinkClick r:id="rId11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4835409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5ebb3712-7406-49b9-9281-2a6ad0327590" descr="{&quot;SlideID&quot;:&quot;336&quot;,&quot;SlideNumber&quot;:&quot;48&quot;}">
              <a:hlinkClick r:id="rId12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521937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0e532c1d-c6a7-4b44-a977-d0a794a99ce3" descr="{&quot;SlideID&quot;:&quot;337&quot;,&quot;SlideNumber&quot;:&quot;50&quot;}">
              <a:hlinkClick r:id="rId13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560334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82" name="yt_shape_12882"/>
          <p:cNvSpPr txBox="1"/>
          <p:nvPr/>
        </p:nvSpPr>
        <p:spPr>
          <a:xfrm>
            <a:off x="324071" y="467999"/>
            <a:ext cx="11924914" cy="2341923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6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 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ETC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又称自动道路缴费系统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该系统的推行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11_d51b5"/>
              </a:rPr>
              <a:t>有效地缓解了高速公路收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费站的拥堵现象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若某汽车在高速上正常行驶速度为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30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m/s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5_8febc"/>
              </a:rPr>
              <a:t>沿该平直公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路通过收费站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ETC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通道时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其速度随时间变化的关系如图所示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则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ETC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1_4adfa"/>
              </a:rPr>
              <a:t>通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道对该车行驶产生的时间延误为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</a:t>
            </a:r>
            <a:r>
              <a:rPr lang="en-US" altLang="zh-CN" sz="2800" b="0" i="0" u="none">
                <a:solidFill>
                  <a:srgbClr val="C00000">
                    <a:alpha val="0"/>
                  </a:srgbClr>
                </a:solidFill>
                <a:effectLst/>
                <a:latin typeface="Times New Roman" pitchFamily="28"/>
                <a:ea typeface="宋体" pitchFamily="28"/>
              </a:rPr>
              <a:t>C</a:t>
            </a:r>
            <a:r>
              <a:rPr lang="zh-CN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</a:p>
        </p:txBody>
      </p:sp>
      <p:graphicFrame>
        <p:nvGraphicFramePr>
          <p:cNvPr id="12884" name="yt_table_12884_skip" title="H_94.08">
            <a:extLst>
              <a:ext uri="{FF2B5EF4-FFF2-40B4-BE49-F238E27FC236}">
                <a16:creationId xmlns:a16="http://schemas.microsoft.com/office/drawing/2014/main" id="{85F9CD91-DE56-4981-AD6D-3D4292DC4A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1811688"/>
              </p:ext>
            </p:extLst>
          </p:nvPr>
        </p:nvGraphicFramePr>
        <p:xfrm>
          <a:off x="324066" y="2860710"/>
          <a:ext cx="4318318" cy="1194816"/>
        </p:xfrm>
        <a:graphic>
          <a:graphicData uri="http://schemas.openxmlformats.org/drawingml/2006/table">
            <a:tbl>
              <a:tblPr/>
              <a:tblGrid>
                <a:gridCol w="2614930">
                  <a:extLst>
                    <a:ext uri="{9D8B030D-6E8A-4147-A177-3AD203B41FA5}">
                      <a16:colId xmlns:a16="http://schemas.microsoft.com/office/drawing/2014/main" val="10264"/>
                    </a:ext>
                  </a:extLst>
                </a:gridCol>
                <a:gridCol w="1703388">
                  <a:extLst>
                    <a:ext uri="{9D8B030D-6E8A-4147-A177-3AD203B41FA5}">
                      <a16:colId xmlns:a16="http://schemas.microsoft.com/office/drawing/2014/main" val="102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A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8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s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B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16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s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03492" indent="-503492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C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20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s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503492" indent="-503492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D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40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s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20"/>
                  </a:ext>
                </a:extLst>
              </a:tr>
            </a:tbl>
          </a:graphicData>
        </a:graphic>
      </p:graphicFrame>
      <p:pic>
        <p:nvPicPr>
          <p:cNvPr id="12883" name="yt_image_12883_skip" title="H_166.92">
            <a:extLst>
              <a:ext uri="">
                <a16:creationId xmlns:mc="http://schemas.openxmlformats.org/markup-compatibility/2006" xmlns:a14="http://schemas.microsoft.com/office/drawing/2010/main" xmlns:p14="http://schemas.microsoft.com/office/powerpoint/2010/main" xmlns:p15="http://schemas.microsoft.com/office/powerpoint/2012/main" xmlns:a16="http://schemas.microsoft.com/office/drawing/2014/main" xmlns="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941203" y="2860710"/>
            <a:ext cx="2924856" cy="21198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D8AFB920-9FA1-4E95-AE2D-F19F0BDE6791}"/>
              </a:ext>
            </a:extLst>
          </p:cNvPr>
          <p:cNvSpPr/>
          <p:nvPr/>
        </p:nvSpPr>
        <p:spPr>
          <a:xfrm>
            <a:off x="112238" y="3528237"/>
            <a:ext cx="761669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500" b="1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√</a:t>
            </a:r>
            <a:endParaRPr lang="zh-CN" altLang="en-US" sz="4500" b="1" dirty="0">
              <a:solidFill>
                <a:srgbClr val="C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3816040" y="6445607"/>
            <a:ext cx="4565782" cy="288000"/>
            <a:chOff x="1325563" y="6444186"/>
            <a:chExt cx="4565782" cy="288000"/>
          </a:xfrm>
        </p:grpSpPr>
        <p:sp>
          <p:nvSpPr>
            <p:cNvPr id="9" name="78de8715-6208-42c3-9aa4-b5a5e623f345" descr="{&quot;SlideID&quot;:&quot;326&quot;,&quot;SlideNumber&quot;:&quot;29&quot;}">
              <a:hlinkClick r:id="rId3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1325563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" name="37241c17-999d-4e7a-91f0-fa6a124efd8e" descr="{&quot;SlideID&quot;:&quot;327&quot;,&quot;SlideNumber&quot;:&quot;31&quot;}">
              <a:hlinkClick r:id="rId4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171554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bd647b46-5a1a-4e1c-a9b9-ec10ebaf606d" descr="{&quot;SlideID&quot;:&quot;328&quot;,&quot;SlideNumber&quot;:&quot;32&quot;}">
              <a:hlinkClick r:id="rId5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2105531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93e8bf18-70c4-4a3d-b1a0-72274c267e8c" descr="{&quot;SlideID&quot;:&quot;329&quot;,&quot;SlideNumber&quot;:&quot;34&quot;}">
              <a:hlinkClick r:id="rId6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249551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f0396825-4a24-4e28-ab78-e4057742e934" descr="{&quot;SlideID&quot;:&quot;330&quot;,&quot;SlideNumber&quot;:&quot;36&quot;}">
              <a:hlinkClick r:id="rId7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2885499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91858ec1-50ad-43f6-9223-a5b7a44070a0" descr="{&quot;SlideID&quot;:&quot;331&quot;,&quot;SlideNumber&quot;:&quot;38&quot;}">
              <a:hlinkClick r:id="rId8" action="ppaction://hlinksldjump"/>
              <a:extLst>
                <a:ext uri="{FF2B5EF4-FFF2-40B4-BE49-F238E27FC236}">
                  <a16:creationId xmlns:a16="http://schemas.microsoft.com/office/drawing/2014/main" id="{CC279918-B4EB-4A69-8269-F7D85FE44387}"/>
                </a:ext>
              </a:extLst>
            </p:cNvPr>
            <p:cNvSpPr/>
            <p:nvPr/>
          </p:nvSpPr>
          <p:spPr>
            <a:xfrm>
              <a:off x="3275481" y="6444186"/>
              <a:ext cx="288000" cy="2880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bc9b8568-0800-4a4f-a5e8-bae0fdc8d290" descr="{&quot;SlideID&quot;:&quot;332&quot;,&quot;SlideNumber&quot;:&quot;40&quot;}">
              <a:hlinkClick r:id="rId9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3665463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c3c40467-3263-413d-870e-8f72934bc962" descr="{&quot;SlideID&quot;:&quot;333&quot;,&quot;SlideNumber&quot;:&quot;42&quot;}">
              <a:hlinkClick r:id="rId10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405544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e4bd4adc-9e6d-4027-a07c-1956db555203" descr="{&quot;SlideID&quot;:&quot;334&quot;,&quot;SlideNumber&quot;:&quot;44&quot;}">
              <a:hlinkClick r:id="rId11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444542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75be685a-81e5-4cf0-8bbf-3b98cd45d1ed" descr="{&quot;SlideID&quot;:&quot;335&quot;,&quot;SlideNumber&quot;:&quot;46&quot;}">
              <a:hlinkClick r:id="rId12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4835409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9140cd53-9b25-4119-8959-2ae804e59887" descr="{&quot;SlideID&quot;:&quot;336&quot;,&quot;SlideNumber&quot;:&quot;48&quot;}">
              <a:hlinkClick r:id="rId13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521937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e755f573-d515-401c-9d94-44ae24606189" descr="{&quot;SlideID&quot;:&quot;337&quot;,&quot;SlideNumber&quot;:&quot;50&quot;}">
              <a:hlinkClick r:id="rId14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560334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med">
        <p15:prstTrans prst="pageCurlDouble"/>
      </p:transition>
    </mc:Choice>
    <mc:Fallback xmlns:a14="http://schemas.microsoft.com/office/drawing/2010/main" xmlns:a16="http://schemas.microsoft.com/office/drawing/2014/main" xmlns:p14="http://schemas.microsoft.com/office/powerpoint/2010/main"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2886" name="yt_shape_12886"/>
              <p:cNvSpPr txBox="1"/>
              <p:nvPr/>
            </p:nvSpPr>
            <p:spPr>
              <a:xfrm>
                <a:off x="324071" y="467999"/>
                <a:ext cx="11924914" cy="2442015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>
                    <a:solidFill>
                      <a:srgbClr val="0000FF"/>
                    </a:solidFill>
                    <a:effectLst/>
                    <a:latin typeface="Times New Roman" pitchFamily="28"/>
                    <a:ea typeface="黑体" pitchFamily="28"/>
                  </a:rPr>
                  <a:t>解析：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由图可知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汽车通过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ETC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通道时所用时间为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41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s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若正常行驶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则</a:t>
                </a:r>
              </a:p>
              <a:p>
                <a:pPr algn="l" eaLnBrk="1" latinLnBrk="0" hangingPunct="0">
                  <a:lnSpc>
                    <a:spcPct val="140000"/>
                  </a:lnSpc>
                </a:pP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30×41</m:t>
                        </m:r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−</m:t>
                        </m:r>
                        <m:f>
                          <m:f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fPr>
                          <m:num>
                            <m:r>
                              <a:rPr lang="zh-CN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（</m:t>
                            </m:r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14</m:t>
                            </m:r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−</m:t>
                            </m:r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6</m:t>
                            </m:r>
                            <m:r>
                              <a:rPr lang="zh-CN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）</m:t>
                            </m:r>
                            <m:r>
                              <a:rPr lang="zh-CN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＋</m:t>
                            </m:r>
                            <m:r>
                              <a:rPr lang="zh-CN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（</m:t>
                            </m:r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41</m:t>
                            </m:r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−</m:t>
                            </m:r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1</m:t>
                            </m:r>
                            <m:r>
                              <a:rPr lang="zh-CN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）</m:t>
                            </m:r>
                          </m:num>
                          <m:den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2</m:t>
                            </m:r>
                          </m:den>
                        </m:f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×</m:t>
                        </m:r>
                        <m:r>
                          <a:rPr lang="zh-CN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（</m:t>
                        </m:r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30</m:t>
                        </m:r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−</m:t>
                        </m:r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5</m:t>
                        </m:r>
                        <m:r>
                          <a:rPr lang="zh-CN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）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30</m:t>
                        </m:r>
                      </m:den>
                    </m:f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s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21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s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所以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ETC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7_1ef49"/>
                  </a:rPr>
                  <a:t>通道对该车行驶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产生的时间延误为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Δ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41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s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－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20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s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故选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C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。</a:t>
                </a:r>
              </a:p>
            </p:txBody>
          </p:sp>
        </mc:Choice>
        <mc:Fallback xmlns:a16="http://schemas.microsoft.com/office/drawing/2014/main" xmlns="">
          <p:sp>
            <p:nvSpPr>
              <p:cNvPr id="12886" name="yt_shape_1288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71" y="467999"/>
                <a:ext cx="11924914" cy="2442015"/>
              </a:xfrm>
              <a:prstGeom prst="rect">
                <a:avLst/>
              </a:prstGeom>
              <a:blipFill>
                <a:blip r:embed="rId2"/>
                <a:stretch>
                  <a:fillRect l="-1789" t="-1000" b="-82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" name="组合 14"/>
          <p:cNvGrpSpPr/>
          <p:nvPr/>
        </p:nvGrpSpPr>
        <p:grpSpPr>
          <a:xfrm>
            <a:off x="3816040" y="6445607"/>
            <a:ext cx="4565782" cy="288000"/>
            <a:chOff x="1325563" y="6444186"/>
            <a:chExt cx="4565782" cy="288000"/>
          </a:xfrm>
        </p:grpSpPr>
        <p:sp>
          <p:nvSpPr>
            <p:cNvPr id="9" name="a5e00bd2-c6ba-466a-86e6-dbe4069071ae" descr="{&quot;SlideID&quot;:&quot;326&quot;,&quot;SlideNumber&quot;:&quot;29&quot;}">
              <a:hlinkClick r:id="rId3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1325563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" name="8ab641aa-c667-4647-900c-c222e4870ec1" descr="{&quot;SlideID&quot;:&quot;327&quot;,&quot;SlideNumber&quot;:&quot;31&quot;}">
              <a:hlinkClick r:id="rId4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171554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d70ae854-a22a-4129-84f7-aab69009e7f7" descr="{&quot;SlideID&quot;:&quot;328&quot;,&quot;SlideNumber&quot;:&quot;32&quot;}">
              <a:hlinkClick r:id="rId5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2105531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ff9b4bcc-f02c-4625-babd-68dba39284fe" descr="{&quot;SlideID&quot;:&quot;329&quot;,&quot;SlideNumber&quot;:&quot;34&quot;}">
              <a:hlinkClick r:id="rId6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249551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2b744753-bcf3-46a2-9c37-c24b6a507fa2" descr="{&quot;SlideID&quot;:&quot;330&quot;,&quot;SlideNumber&quot;:&quot;36&quot;}">
              <a:hlinkClick r:id="rId7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2885499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f73ff7da-07d4-41c5-963e-c83e3270accf" descr="{&quot;SlideID&quot;:&quot;331&quot;,&quot;SlideNumber&quot;:&quot;38&quot;}">
              <a:hlinkClick r:id="rId8" action="ppaction://hlinksldjump"/>
              <a:extLst>
                <a:ext uri="{FF2B5EF4-FFF2-40B4-BE49-F238E27FC236}">
                  <a16:creationId xmlns:a16="http://schemas.microsoft.com/office/drawing/2014/main" id="{CC279918-B4EB-4A69-8269-F7D85FE44387}"/>
                </a:ext>
              </a:extLst>
            </p:cNvPr>
            <p:cNvSpPr/>
            <p:nvPr/>
          </p:nvSpPr>
          <p:spPr>
            <a:xfrm>
              <a:off x="3275481" y="6444186"/>
              <a:ext cx="288000" cy="2880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8edfc54e-b63d-4a89-918b-4c3d2762485b" descr="{&quot;SlideID&quot;:&quot;332&quot;,&quot;SlideNumber&quot;:&quot;40&quot;}">
              <a:hlinkClick r:id="rId9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3665463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aae55480-6dc6-484b-aee4-513ec66c5941" descr="{&quot;SlideID&quot;:&quot;333&quot;,&quot;SlideNumber&quot;:&quot;42&quot;}">
              <a:hlinkClick r:id="rId10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405544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c3e3198e-4f94-465c-a3d2-44a4bbb2f05b" descr="{&quot;SlideID&quot;:&quot;334&quot;,&quot;SlideNumber&quot;:&quot;44&quot;}">
              <a:hlinkClick r:id="rId11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444542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9964e89f-d6ac-4f0c-9e7b-81fca4d1e6a4" descr="{&quot;SlideID&quot;:&quot;335&quot;,&quot;SlideNumber&quot;:&quot;46&quot;}">
              <a:hlinkClick r:id="rId12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4835409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acd00544-406b-49ab-ae9b-49cb2127ab19" descr="{&quot;SlideID&quot;:&quot;336&quot;,&quot;SlideNumber&quot;:&quot;48&quot;}">
              <a:hlinkClick r:id="rId13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521937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de855d4e-d8ff-4dfb-b8d4-8352fbdd13d0" descr="{&quot;SlideID&quot;:&quot;337&quot;,&quot;SlideNumber&quot;:&quot;50&quot;}">
              <a:hlinkClick r:id="rId14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560334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2888" name="yt_shape_12888"/>
              <p:cNvSpPr txBox="1"/>
              <p:nvPr/>
            </p:nvSpPr>
            <p:spPr>
              <a:xfrm>
                <a:off x="324071" y="467999"/>
                <a:ext cx="11924914" cy="1942519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40000"/>
                  </a:lnSpc>
                </a:pPr>
                <a:r>
                  <a:rPr lang="en-US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7</a:t>
                </a:r>
                <a:r>
                  <a:rPr lang="en-US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.</a:t>
                </a:r>
                <a:r>
                  <a:rPr lang="en-US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Times New Roman" pitchFamily="28"/>
                  </a:rPr>
                  <a:t> 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一可视为质点的物体从</a:t>
                </a:r>
                <a:r>
                  <a:rPr lang="en-US" altLang="zh-CN" sz="2800" b="0" i="1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时刻开始沿直线运动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运动时间为</a:t>
                </a:r>
                <a:r>
                  <a:rPr lang="en-US" altLang="zh-CN" sz="2800" b="0" i="1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时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  <a:sym typeface="_⨹_2_d7b15"/>
                  </a:rPr>
                  <a:t>对应</a:t>
                </a:r>
                <a:b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</a:b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的位移为</a:t>
                </a:r>
                <a:r>
                  <a:rPr lang="en-US" altLang="zh-CN" sz="2800" b="0" i="1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x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规定向右为正方向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其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𝑥</m:t>
                        </m:r>
                      </m:num>
                      <m:den>
                        <m: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-</a:t>
                </a:r>
                <a:r>
                  <a:rPr lang="en-US" altLang="zh-CN" sz="2800" b="0" i="1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图像如图所示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  <a:sym typeface="_⨹_8_2e65c"/>
                  </a:rPr>
                  <a:t>则下列说法正确的</a:t>
                </a:r>
                <a:b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</a:b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是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（</a:t>
                </a:r>
                <a:r>
                  <a:rPr lang="zh-CN" altLang="zh-CN" sz="2800" b="0" i="1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　</a:t>
                </a:r>
                <a:r>
                  <a:rPr lang="en-US" altLang="zh-CN" sz="2800" b="0" i="0" u="none">
                    <a:solidFill>
                      <a:srgbClr val="C00000">
                        <a:alpha val="0"/>
                      </a:srgbClr>
                    </a:solidFill>
                    <a:effectLst/>
                    <a:latin typeface="Times New Roman" pitchFamily="28"/>
                    <a:ea typeface="宋体" pitchFamily="28"/>
                  </a:rPr>
                  <a:t>D</a:t>
                </a:r>
                <a:r>
                  <a:rPr lang="zh-CN" altLang="zh-CN" sz="2800" b="0" i="1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　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）</a:t>
                </a:r>
              </a:p>
            </p:txBody>
          </p:sp>
        </mc:Choice>
        <mc:Fallback xmlns:p15="http://schemas.microsoft.com/office/powerpoint/2012/main" xmlns:p14="http://schemas.microsoft.com/office/powerpoint/2010/main" xmlns:a16="http://schemas.microsoft.com/office/drawing/2014/main" xmlns="">
          <p:sp>
            <p:nvSpPr>
              <p:cNvPr id="12888" name="yt_shape_1288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71" y="467999"/>
                <a:ext cx="11924914" cy="1942519"/>
              </a:xfrm>
              <a:prstGeom prst="rect">
                <a:avLst/>
              </a:prstGeom>
              <a:blipFill>
                <a:blip r:embed="rId2"/>
                <a:stretch>
                  <a:fillRect l="-1789" t="-1258" b="-106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2891" name="yt_table_12891_skip" title="H_188.16">
            <a:extLst>
              <a:ext uri="{FF2B5EF4-FFF2-40B4-BE49-F238E27FC236}">
                <a16:creationId xmlns:a16="http://schemas.microsoft.com/office/drawing/2014/main" id="{85F9CD91-DE56-4981-AD6D-3D4292DC4A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2599968"/>
              </p:ext>
            </p:extLst>
          </p:nvPr>
        </p:nvGraphicFramePr>
        <p:xfrm>
          <a:off x="324066" y="2461306"/>
          <a:ext cx="6335713" cy="2389632"/>
        </p:xfrm>
        <a:graphic>
          <a:graphicData uri="http://schemas.openxmlformats.org/drawingml/2006/table">
            <a:tbl>
              <a:tblPr/>
              <a:tblGrid>
                <a:gridCol w="6335713">
                  <a:extLst>
                    <a:ext uri="{9D8B030D-6E8A-4147-A177-3AD203B41FA5}">
                      <a16:colId xmlns:a16="http://schemas.microsoft.com/office/drawing/2014/main" val="102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A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物体的初速度大小为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3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m/s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03492" indent="-503492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B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物体的加速度大小为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3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m/s</a:t>
                      </a:r>
                      <a:r>
                        <a:rPr lang="en-US" altLang="zh-CN" sz="2800" b="0" i="0" u="none" baseline="3000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2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03492" indent="-503492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C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0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～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2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s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内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物体的位移为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6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m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D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3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s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末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物体位于出发点左侧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9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m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处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24"/>
                  </a:ext>
                </a:extLst>
              </a:tr>
            </a:tbl>
          </a:graphicData>
        </a:graphic>
      </p:graphicFrame>
      <p:pic>
        <p:nvPicPr>
          <p:cNvPr id="12890" name="yt_image_12890_skip" title="H_154.32">
            <a:extLst>
              <a:ext uri="">
                <a16:creationId xmlns:mc="http://schemas.openxmlformats.org/markup-compatibility/2006" xmlns:a14="http://schemas.microsoft.com/office/drawing/2010/main" xmlns:p14="http://schemas.microsoft.com/office/powerpoint/2010/main" xmlns:p15="http://schemas.microsoft.com/office/powerpoint/2012/main" xmlns:a16="http://schemas.microsoft.com/office/drawing/2014/main" xmlns="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940836" y="2461306"/>
            <a:ext cx="2925223" cy="19598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D8AFB920-9FA1-4E95-AE2D-F19F0BDE6791}"/>
              </a:ext>
            </a:extLst>
          </p:cNvPr>
          <p:cNvSpPr/>
          <p:nvPr/>
        </p:nvSpPr>
        <p:spPr>
          <a:xfrm>
            <a:off x="93576" y="4301144"/>
            <a:ext cx="761669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500" b="1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√</a:t>
            </a:r>
            <a:endParaRPr lang="zh-CN" altLang="en-US" sz="4500" b="1" dirty="0">
              <a:solidFill>
                <a:srgbClr val="C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3816040" y="6445607"/>
            <a:ext cx="4565782" cy="288000"/>
            <a:chOff x="1325563" y="6444186"/>
            <a:chExt cx="4565782" cy="288000"/>
          </a:xfrm>
        </p:grpSpPr>
        <p:sp>
          <p:nvSpPr>
            <p:cNvPr id="9" name="364ef96a-34ff-4fd3-968f-d43e2d6ce3a2" descr="{&quot;SlideID&quot;:&quot;326&quot;,&quot;SlideNumber&quot;:&quot;29&quot;}">
              <a:hlinkClick r:id="rId4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1325563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" name="db211b1e-c6e0-4c48-8dcc-a9034ac95f5d" descr="{&quot;SlideID&quot;:&quot;327&quot;,&quot;SlideNumber&quot;:&quot;31&quot;}">
              <a:hlinkClick r:id="rId5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171554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ec31016e-06c1-4b7a-9e3e-4ad48826e3f0" descr="{&quot;SlideID&quot;:&quot;328&quot;,&quot;SlideNumber&quot;:&quot;32&quot;}">
              <a:hlinkClick r:id="rId6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2105531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cdca7018-c9c7-43a3-81a7-0f2be3020a2c" descr="{&quot;SlideID&quot;:&quot;329&quot;,&quot;SlideNumber&quot;:&quot;34&quot;}">
              <a:hlinkClick r:id="rId7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249551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642c22fb-f1ef-4d7d-ad58-87c54c5a2d4a" descr="{&quot;SlideID&quot;:&quot;330&quot;,&quot;SlideNumber&quot;:&quot;36&quot;}">
              <a:hlinkClick r:id="rId8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2885499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c831fe78-7926-42d3-a5b5-bdf54918d5d9" descr="{&quot;SlideID&quot;:&quot;331&quot;,&quot;SlideNumber&quot;:&quot;38&quot;}">
              <a:hlinkClick r:id="rId9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3275481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fbbb7216-9399-4fa9-89d3-dc79700dd60f" descr="{&quot;SlideID&quot;:&quot;332&quot;,&quot;SlideNumber&quot;:&quot;40&quot;}">
              <a:hlinkClick r:id="rId10" action="ppaction://hlinksldjump"/>
              <a:extLst>
                <a:ext uri="{FF2B5EF4-FFF2-40B4-BE49-F238E27FC236}">
                  <a16:creationId xmlns:a16="http://schemas.microsoft.com/office/drawing/2014/main" id="{CC279918-B4EB-4A69-8269-F7D85FE44387}"/>
                </a:ext>
              </a:extLst>
            </p:cNvPr>
            <p:cNvSpPr/>
            <p:nvPr/>
          </p:nvSpPr>
          <p:spPr>
            <a:xfrm>
              <a:off x="3665463" y="6444186"/>
              <a:ext cx="288000" cy="2880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2ef28bed-38db-4f5d-9eee-49f0c9485044" descr="{&quot;SlideID&quot;:&quot;333&quot;,&quot;SlideNumber&quot;:&quot;42&quot;}">
              <a:hlinkClick r:id="rId11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405544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57a2f149-d531-4a8f-83cc-8abe6035c1c9" descr="{&quot;SlideID&quot;:&quot;334&quot;,&quot;SlideNumber&quot;:&quot;44&quot;}">
              <a:hlinkClick r:id="rId12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444542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4d69a0f2-0e1c-4d0b-8c1d-902fc3044226" descr="{&quot;SlideID&quot;:&quot;335&quot;,&quot;SlideNumber&quot;:&quot;46&quot;}">
              <a:hlinkClick r:id="rId13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4835409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a9c587d4-b0b4-4881-81e8-11b826289ff7" descr="{&quot;SlideID&quot;:&quot;336&quot;,&quot;SlideNumber&quot;:&quot;48&quot;}">
              <a:hlinkClick r:id="rId14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521937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f71d08bc-08ce-41a4-b7d7-f43cc17c3dc4" descr="{&quot;SlideID&quot;:&quot;337&quot;,&quot;SlideNumber&quot;:&quot;50&quot;}">
              <a:hlinkClick r:id="rId15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560334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med">
        <p15:prstTrans prst="pageCurlDouble"/>
      </p:transition>
    </mc:Choice>
    <mc:Fallback xmlns:a14="http://schemas.microsoft.com/office/drawing/2010/main" xmlns:a16="http://schemas.microsoft.com/office/drawing/2014/main" xmlns:p14="http://schemas.microsoft.com/office/powerpoint/2010/main"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2893" name="yt_shape_12893"/>
              <p:cNvSpPr txBox="1"/>
              <p:nvPr/>
            </p:nvSpPr>
            <p:spPr>
              <a:xfrm>
                <a:off x="324071" y="467999"/>
                <a:ext cx="11924914" cy="4542269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>
                    <a:solidFill>
                      <a:srgbClr val="0000FF"/>
                    </a:solidFill>
                    <a:effectLst/>
                    <a:latin typeface="Times New Roman" pitchFamily="28"/>
                    <a:ea typeface="黑体" pitchFamily="28"/>
                  </a:rPr>
                  <a:t>解析：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根据匀变速直线运动的位移公式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x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＋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at</a:t>
                </a:r>
                <a:r>
                  <a:rPr lang="en-US" altLang="zh-CN" sz="2800" b="0" i="0" u="none" baseline="30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变形得到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𝑥</m:t>
                        </m:r>
                      </m:num>
                      <m:den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at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  <a:sym typeface="_⨹_1_0e5f4"/>
                  </a:rPr>
                  <a:t>＋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</a:b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结合图像可知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6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m/s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＝－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6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m/s</a:t>
                </a:r>
                <a:r>
                  <a:rPr lang="en-US" altLang="zh-CN" sz="2800" b="0" i="0" u="none" baseline="30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故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、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B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错误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；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根据位移公式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  <a:sym typeface="_⨹_1_8fdf4"/>
                  </a:rPr>
                  <a:t>x</a:t>
                </a:r>
                <a:b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</a:b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＋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at</a:t>
                </a:r>
                <a:r>
                  <a:rPr lang="en-US" altLang="zh-CN" sz="2800" b="0" i="0" u="none" baseline="30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可知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～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s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内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物体的位移为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x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6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×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＋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×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（－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6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）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×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en-US" altLang="zh-CN" sz="2800" b="0" i="0" u="none" baseline="30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  <a:sym typeface="_⨹_1_ba748"/>
                  </a:rPr>
                  <a:t>m</a:t>
                </a:r>
                <a:b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</a:b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故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C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错误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；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根据位移公式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x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＋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at</a:t>
                </a:r>
                <a:r>
                  <a:rPr lang="en-US" altLang="zh-CN" sz="2800" b="0" i="0" u="none" baseline="30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可知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～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3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s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内物体的位移为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x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  <a:sym typeface="_⨹_1_4b8e3"/>
                  </a:rPr>
                  <a:t>＝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</a:b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6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×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3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＋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×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（－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6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）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×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3</a:t>
                </a:r>
                <a:r>
                  <a:rPr lang="en-US" altLang="zh-CN" sz="2800" b="0" i="0" u="none" baseline="30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＝－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9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即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3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s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末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物体位于出发点左侧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9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  <a:sym typeface="_⨹_1_ec416"/>
                  </a:rPr>
                  <a:t>m</a:t>
                </a:r>
                <a:b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</a:b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处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故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D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正确。</a:t>
                </a:r>
              </a:p>
            </p:txBody>
          </p:sp>
        </mc:Choice>
        <mc:Fallback xmlns:a16="http://schemas.microsoft.com/office/drawing/2014/main" xmlns="">
          <p:sp>
            <p:nvSpPr>
              <p:cNvPr id="12893" name="yt_shape_1289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71" y="467999"/>
                <a:ext cx="11924914" cy="4542269"/>
              </a:xfrm>
              <a:prstGeom prst="rect">
                <a:avLst/>
              </a:prstGeom>
              <a:blipFill>
                <a:blip r:embed="rId2"/>
                <a:stretch>
                  <a:fillRect l="-1789" b="-389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" name="组合 14"/>
          <p:cNvGrpSpPr/>
          <p:nvPr/>
        </p:nvGrpSpPr>
        <p:grpSpPr>
          <a:xfrm>
            <a:off x="3816040" y="6445607"/>
            <a:ext cx="4565782" cy="288000"/>
            <a:chOff x="1325563" y="6444186"/>
            <a:chExt cx="4565782" cy="288000"/>
          </a:xfrm>
        </p:grpSpPr>
        <p:sp>
          <p:nvSpPr>
            <p:cNvPr id="9" name="c56df53c-6bdc-4ca8-a655-924e18ffec83" descr="{&quot;SlideID&quot;:&quot;326&quot;,&quot;SlideNumber&quot;:&quot;29&quot;}">
              <a:hlinkClick r:id="rId3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1325563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" name="de07afa7-4ed9-4817-9587-880927d81e0d" descr="{&quot;SlideID&quot;:&quot;327&quot;,&quot;SlideNumber&quot;:&quot;31&quot;}">
              <a:hlinkClick r:id="rId4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171554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1486b4f7-6029-4f1b-baff-8df04f38805d" descr="{&quot;SlideID&quot;:&quot;328&quot;,&quot;SlideNumber&quot;:&quot;32&quot;}">
              <a:hlinkClick r:id="rId5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2105531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a1ada193-de8f-40ad-a10e-a5e113181efb" descr="{&quot;SlideID&quot;:&quot;329&quot;,&quot;SlideNumber&quot;:&quot;34&quot;}">
              <a:hlinkClick r:id="rId6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249551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11920fd6-efc2-4161-aaf2-b94b19d4df11" descr="{&quot;SlideID&quot;:&quot;330&quot;,&quot;SlideNumber&quot;:&quot;36&quot;}">
              <a:hlinkClick r:id="rId7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2885499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e62626cc-9f2a-4682-ac4e-d2dac38bacc2" descr="{&quot;SlideID&quot;:&quot;331&quot;,&quot;SlideNumber&quot;:&quot;38&quot;}">
              <a:hlinkClick r:id="rId8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3275481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d8cf7b6c-3914-46da-a6ba-1d805f7339ab" descr="{&quot;SlideID&quot;:&quot;332&quot;,&quot;SlideNumber&quot;:&quot;40&quot;}">
              <a:hlinkClick r:id="rId9" action="ppaction://hlinksldjump"/>
              <a:extLst>
                <a:ext uri="{FF2B5EF4-FFF2-40B4-BE49-F238E27FC236}">
                  <a16:creationId xmlns:a16="http://schemas.microsoft.com/office/drawing/2014/main" id="{CC279918-B4EB-4A69-8269-F7D85FE44387}"/>
                </a:ext>
              </a:extLst>
            </p:cNvPr>
            <p:cNvSpPr/>
            <p:nvPr/>
          </p:nvSpPr>
          <p:spPr>
            <a:xfrm>
              <a:off x="3665463" y="6444186"/>
              <a:ext cx="288000" cy="2880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4afbade4-04ed-47ee-a99b-e43e30c5931b" descr="{&quot;SlideID&quot;:&quot;333&quot;,&quot;SlideNumber&quot;:&quot;42&quot;}">
              <a:hlinkClick r:id="rId10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405544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5547c899-1ce1-4e3c-bb5a-6eda34063c6d" descr="{&quot;SlideID&quot;:&quot;334&quot;,&quot;SlideNumber&quot;:&quot;44&quot;}">
              <a:hlinkClick r:id="rId11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444542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b98a6fc2-1067-4bda-9b28-118373892d51" descr="{&quot;SlideID&quot;:&quot;335&quot;,&quot;SlideNumber&quot;:&quot;46&quot;}">
              <a:hlinkClick r:id="rId12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4835409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79bd1d42-6943-4992-8964-60e509aa4390" descr="{&quot;SlideID&quot;:&quot;336&quot;,&quot;SlideNumber&quot;:&quot;48&quot;}">
              <a:hlinkClick r:id="rId13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521937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d38de972-9055-4a6a-8b98-88ae2bbf3214" descr="{&quot;SlideID&quot;:&quot;337&quot;,&quot;SlideNumber&quot;:&quot;50&quot;}">
              <a:hlinkClick r:id="rId14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560334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97" name="yt_shape_12897"/>
          <p:cNvSpPr txBox="1"/>
          <p:nvPr/>
        </p:nvSpPr>
        <p:spPr>
          <a:xfrm>
            <a:off x="342732" y="925199"/>
            <a:ext cx="11924914" cy="2341923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8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 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隶书" pitchFamily="28"/>
              </a:rPr>
              <a:t>〔多选〕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2026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·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浙江嘉兴月考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如图所示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图线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OP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8_7308a"/>
              </a:rPr>
              <a:t>是某质点做直线运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动的位移—时间图像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OP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为开口向下抛物线的一部分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P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为图像上一点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  <a:sym typeface="_⨹_1_887cf"/>
              </a:rPr>
              <a:t>。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已知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PQ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为过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P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点的切线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与纵轴交于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x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6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m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的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Q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点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8_929dc"/>
              </a:rPr>
              <a:t>下列说法正确的是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</a:t>
            </a:r>
            <a:r>
              <a:rPr lang="en-US" altLang="zh-CN" sz="2800" b="0" i="0" u="none">
                <a:solidFill>
                  <a:srgbClr val="C00000">
                    <a:alpha val="0"/>
                  </a:srgbClr>
                </a:solidFill>
                <a:effectLst/>
                <a:latin typeface="Times New Roman" pitchFamily="28"/>
                <a:ea typeface="宋体" pitchFamily="28"/>
              </a:rPr>
              <a:t>ABD</a:t>
            </a:r>
            <a:r>
              <a:rPr lang="zh-CN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</a:p>
        </p:txBody>
      </p:sp>
      <p:graphicFrame>
        <p:nvGraphicFramePr>
          <p:cNvPr id="12899" name="yt_table_12899_skip" title="H_188.16">
            <a:extLst>
              <a:ext uri="{FF2B5EF4-FFF2-40B4-BE49-F238E27FC236}">
                <a16:creationId xmlns:a16="http://schemas.microsoft.com/office/drawing/2014/main" id="{85F9CD91-DE56-4981-AD6D-3D4292DC4A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563871"/>
              </p:ext>
            </p:extLst>
          </p:nvPr>
        </p:nvGraphicFramePr>
        <p:xfrm>
          <a:off x="342727" y="3317910"/>
          <a:ext cx="6326188" cy="2389632"/>
        </p:xfrm>
        <a:graphic>
          <a:graphicData uri="http://schemas.openxmlformats.org/drawingml/2006/table">
            <a:tbl>
              <a:tblPr/>
              <a:tblGrid>
                <a:gridCol w="6326188">
                  <a:extLst>
                    <a:ext uri="{9D8B030D-6E8A-4147-A177-3AD203B41FA5}">
                      <a16:colId xmlns:a16="http://schemas.microsoft.com/office/drawing/2014/main" val="102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A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质点的初速度为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4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m/s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03492" indent="-503492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B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4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s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末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质点的速度大小为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1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m/s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03492" indent="-503492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C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质点的加速度大小为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1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m/s</a:t>
                      </a:r>
                      <a:r>
                        <a:rPr lang="en-US" altLang="zh-CN" sz="2800" b="0" i="0" u="none" baseline="3000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2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D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0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～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4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s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内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质点做匀减速直线运动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28"/>
                  </a:ext>
                </a:extLst>
              </a:tr>
            </a:tbl>
          </a:graphicData>
        </a:graphic>
      </p:graphicFrame>
      <p:pic>
        <p:nvPicPr>
          <p:cNvPr id="12898" name="yt_image_12898_skip" title="H_157.2">
            <a:extLst>
              <a:ext uri="">
                <a16:creationId xmlns:mc="http://schemas.openxmlformats.org/markup-compatibility/2006" xmlns:a14="http://schemas.microsoft.com/office/drawing/2010/main" xmlns:p14="http://schemas.microsoft.com/office/powerpoint/2010/main" xmlns:p15="http://schemas.microsoft.com/office/powerpoint/2012/main" xmlns:a16="http://schemas.microsoft.com/office/drawing/2014/main" xmlns="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63253" y="3317910"/>
            <a:ext cx="2721422" cy="1996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yt_image_13240" title="H_45.96">
            <a:extLst>
              <a:ext uri="">
                <a16:creationId xmlns:a16="http://schemas.microsoft.com/office/drawing/2014/main" xmlns:p14="http://schemas.microsoft.com/office/powerpoint/2010/main" xmlns:p15="http://schemas.microsoft.com/office/powerpoint/2012/main" xmlns:mc="http://schemas.openxmlformats.org/markup-compatibility/2006" xmlns:a14="http://schemas.microsoft.com/office/drawing/2010/main" xmlns="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duotone>
              <a:srgbClr val="4BACC6">
                <a:shade val="45000"/>
                <a:satMod val="135000"/>
              </a:srgbClr>
              <a:prstClr val="white"/>
            </a:duotone>
          </a:blip>
          <a:srcRect/>
          <a:stretch>
            <a:fillRect/>
          </a:stretch>
        </p:blipFill>
        <p:spPr bwMode="auto">
          <a:xfrm>
            <a:off x="5197255" y="432421"/>
            <a:ext cx="2215867" cy="5836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D8AFB920-9FA1-4E95-AE2D-F19F0BDE6791}"/>
              </a:ext>
            </a:extLst>
          </p:cNvPr>
          <p:cNvSpPr/>
          <p:nvPr/>
        </p:nvSpPr>
        <p:spPr>
          <a:xfrm>
            <a:off x="102907" y="3367485"/>
            <a:ext cx="761669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500" b="1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√</a:t>
            </a:r>
            <a:endParaRPr lang="zh-CN" altLang="en-US" sz="4500" b="1" dirty="0">
              <a:solidFill>
                <a:srgbClr val="C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8AFB920-9FA1-4E95-AE2D-F19F0BDE6791}"/>
              </a:ext>
            </a:extLst>
          </p:cNvPr>
          <p:cNvSpPr/>
          <p:nvPr/>
        </p:nvSpPr>
        <p:spPr>
          <a:xfrm>
            <a:off x="102907" y="4005927"/>
            <a:ext cx="761669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500" b="1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√</a:t>
            </a:r>
            <a:endParaRPr lang="zh-CN" altLang="en-US" sz="4500" b="1" dirty="0">
              <a:solidFill>
                <a:srgbClr val="C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8AFB920-9FA1-4E95-AE2D-F19F0BDE6791}"/>
              </a:ext>
            </a:extLst>
          </p:cNvPr>
          <p:cNvSpPr/>
          <p:nvPr/>
        </p:nvSpPr>
        <p:spPr>
          <a:xfrm>
            <a:off x="102906" y="5172169"/>
            <a:ext cx="761669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500" b="1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√</a:t>
            </a:r>
            <a:endParaRPr lang="zh-CN" altLang="en-US" sz="4500" b="1" dirty="0">
              <a:solidFill>
                <a:srgbClr val="C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3816040" y="6445607"/>
            <a:ext cx="4565782" cy="288000"/>
            <a:chOff x="1325563" y="6444186"/>
            <a:chExt cx="4565782" cy="288000"/>
          </a:xfrm>
        </p:grpSpPr>
        <p:sp>
          <p:nvSpPr>
            <p:cNvPr id="3" name="5689c5a0-0070-4dde-84ee-26891daf9eb6" descr="{&quot;SlideID&quot;:&quot;326&quot;,&quot;SlideNumber&quot;:&quot;29&quot;}">
              <a:hlinkClick r:id="rId4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1325563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ff2b16b3-5b0d-47e5-9f72-ac0d52b67d9a" descr="{&quot;SlideID&quot;:&quot;327&quot;,&quot;SlideNumber&quot;:&quot;31&quot;}">
              <a:hlinkClick r:id="rId5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171554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bdb8418e-9fcc-4af3-92b0-98d112ede7d1" descr="{&quot;SlideID&quot;:&quot;328&quot;,&quot;SlideNumber&quot;:&quot;32&quot;}">
              <a:hlinkClick r:id="rId6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2105531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db982dcc-82dc-406a-8233-9ff91a70d5e4" descr="{&quot;SlideID&quot;:&quot;329&quot;,&quot;SlideNumber&quot;:&quot;34&quot;}">
              <a:hlinkClick r:id="rId7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249551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10942d3f-408c-4cd7-899e-50a19534b30d" descr="{&quot;SlideID&quot;:&quot;330&quot;,&quot;SlideNumber&quot;:&quot;36&quot;}">
              <a:hlinkClick r:id="rId8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2885499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05754929-43f5-4552-89ba-b1b36dfe45c5" descr="{&quot;SlideID&quot;:&quot;331&quot;,&quot;SlideNumber&quot;:&quot;38&quot;}">
              <a:hlinkClick r:id="rId9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3275481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d921fd4d-b4ef-48bd-9b22-a39e029503b2" descr="{&quot;SlideID&quot;:&quot;332&quot;,&quot;SlideNumber&quot;:&quot;40&quot;}">
              <a:hlinkClick r:id="rId10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3665463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38fadc04-b7a6-4210-a981-e7ae48e69e8b" descr="{&quot;SlideID&quot;:&quot;333&quot;,&quot;SlideNumber&quot;:&quot;42&quot;}">
              <a:hlinkClick r:id="rId11" action="ppaction://hlinksldjump"/>
              <a:extLst>
                <a:ext uri="{FF2B5EF4-FFF2-40B4-BE49-F238E27FC236}">
                  <a16:creationId xmlns:a16="http://schemas.microsoft.com/office/drawing/2014/main" id="{CC279918-B4EB-4A69-8269-F7D85FE44387}"/>
                </a:ext>
              </a:extLst>
            </p:cNvPr>
            <p:cNvSpPr/>
            <p:nvPr/>
          </p:nvSpPr>
          <p:spPr>
            <a:xfrm>
              <a:off x="4055445" y="6444186"/>
              <a:ext cx="288000" cy="2880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b12ce90d-b75a-4424-956c-30f6dadb07d9" descr="{&quot;SlideID&quot;:&quot;334&quot;,&quot;SlideNumber&quot;:&quot;44&quot;}">
              <a:hlinkClick r:id="rId12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444542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2669c246-9d73-4acf-9513-e239a9110618" descr="{&quot;SlideID&quot;:&quot;335&quot;,&quot;SlideNumber&quot;:&quot;46&quot;}">
              <a:hlinkClick r:id="rId13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4835409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71e9138f-e7a9-46ca-88c7-d0e973797bb0" descr="{&quot;SlideID&quot;:&quot;336&quot;,&quot;SlideNumber&quot;:&quot;48&quot;}">
              <a:hlinkClick r:id="rId14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521937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ee7021b9-dc52-41c8-a8f8-bba32de5678e" descr="{&quot;SlideID&quot;:&quot;337&quot;,&quot;SlideNumber&quot;:&quot;50&quot;}">
              <a:hlinkClick r:id="rId15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560334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med">
        <p15:prstTrans prst="pageCurlDouble"/>
      </p:transition>
    </mc:Choice>
    <mc:Fallback xmlns:a14="http://schemas.microsoft.com/office/drawing/2010/main" xmlns:a16="http://schemas.microsoft.com/office/drawing/2014/main" xmlns:p14="http://schemas.microsoft.com/office/powerpoint/2010/main"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2901" name="yt_shape_12901"/>
              <p:cNvSpPr txBox="1"/>
              <p:nvPr/>
            </p:nvSpPr>
            <p:spPr>
              <a:xfrm>
                <a:off x="324071" y="467999"/>
                <a:ext cx="11924914" cy="3693127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>
                    <a:solidFill>
                      <a:srgbClr val="0000FF"/>
                    </a:solidFill>
                    <a:effectLst/>
                    <a:latin typeface="Times New Roman" pitchFamily="28"/>
                    <a:ea typeface="黑体" pitchFamily="28"/>
                  </a:rPr>
                  <a:t>解析：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根据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x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-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图像的切线斜率表示速度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结合图像可得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4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s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末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4_ff331"/>
                  </a:rPr>
                  <a:t>质点的速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度大小为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4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10</m:t>
                        </m:r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−</m:t>
                        </m:r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6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m/s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m/s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故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B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正确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；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根据题意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OP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8_860cd"/>
                  </a:rPr>
                  <a:t>为开口向下抛物线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的一部分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质点做匀变速直线运动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由位移公式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x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＋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at</a:t>
                </a:r>
                <a:r>
                  <a:rPr lang="en-US" altLang="zh-CN" sz="2800" b="0" i="0" u="none" baseline="30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结合图像有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  <a:sym typeface="_⨹_2_8b7f0"/>
                  </a:rPr>
                  <a:t>10</a:t>
                </a:r>
                <a:b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</a:b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4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＋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8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由公式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＋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at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有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＋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4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联立解得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4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m/s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＝－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3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1_47bd7"/>
                  </a:rPr>
                  <a:t> 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m/s</a:t>
                </a:r>
                <a:r>
                  <a:rPr lang="en-US" altLang="zh-CN" sz="2800" b="0" i="0" u="none" baseline="30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即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～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4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s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内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质点做匀减速直线运动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故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、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D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正确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C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错误。</a:t>
                </a:r>
              </a:p>
            </p:txBody>
          </p:sp>
        </mc:Choice>
        <mc:Fallback xmlns:a16="http://schemas.microsoft.com/office/drawing/2014/main" xmlns="">
          <p:sp>
            <p:nvSpPr>
              <p:cNvPr id="12901" name="yt_shape_1290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71" y="467999"/>
                <a:ext cx="11924914" cy="3693127"/>
              </a:xfrm>
              <a:prstGeom prst="rect">
                <a:avLst/>
              </a:prstGeom>
              <a:blipFill>
                <a:blip r:embed="rId2"/>
                <a:stretch>
                  <a:fillRect l="-1789" t="-660" b="-49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" name="组合 14"/>
          <p:cNvGrpSpPr/>
          <p:nvPr/>
        </p:nvGrpSpPr>
        <p:grpSpPr>
          <a:xfrm>
            <a:off x="3816040" y="6445607"/>
            <a:ext cx="4565782" cy="288000"/>
            <a:chOff x="1325563" y="6444186"/>
            <a:chExt cx="4565782" cy="288000"/>
          </a:xfrm>
        </p:grpSpPr>
        <p:sp>
          <p:nvSpPr>
            <p:cNvPr id="9" name="a6de1969-ceb2-4da6-b40f-d6aacd655840" descr="{&quot;SlideID&quot;:&quot;326&quot;,&quot;SlideNumber&quot;:&quot;29&quot;}">
              <a:hlinkClick r:id="rId3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1325563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" name="b6305bf2-4693-4715-87f3-07a85ebc073d" descr="{&quot;SlideID&quot;:&quot;327&quot;,&quot;SlideNumber&quot;:&quot;31&quot;}">
              <a:hlinkClick r:id="rId4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171554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77909941-7a81-4445-a850-e119144e057d" descr="{&quot;SlideID&quot;:&quot;328&quot;,&quot;SlideNumber&quot;:&quot;32&quot;}">
              <a:hlinkClick r:id="rId5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2105531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566f44f4-ed9f-426f-a477-c0179a03d80b" descr="{&quot;SlideID&quot;:&quot;329&quot;,&quot;SlideNumber&quot;:&quot;34&quot;}">
              <a:hlinkClick r:id="rId6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249551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8291badd-851c-41c8-a322-3fe4ab11e267" descr="{&quot;SlideID&quot;:&quot;330&quot;,&quot;SlideNumber&quot;:&quot;36&quot;}">
              <a:hlinkClick r:id="rId7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2885499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33e94617-3c54-4f4c-822c-9f0512ca6bb0" descr="{&quot;SlideID&quot;:&quot;331&quot;,&quot;SlideNumber&quot;:&quot;38&quot;}">
              <a:hlinkClick r:id="rId8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3275481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ac4b6235-1e6b-47a1-901e-80f905b733ce" descr="{&quot;SlideID&quot;:&quot;332&quot;,&quot;SlideNumber&quot;:&quot;40&quot;}">
              <a:hlinkClick r:id="rId9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3665463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cc78d6ce-0afd-4394-b68e-252833ccf088" descr="{&quot;SlideID&quot;:&quot;333&quot;,&quot;SlideNumber&quot;:&quot;42&quot;}">
              <a:hlinkClick r:id="rId10" action="ppaction://hlinksldjump"/>
              <a:extLst>
                <a:ext uri="{FF2B5EF4-FFF2-40B4-BE49-F238E27FC236}">
                  <a16:creationId xmlns:a16="http://schemas.microsoft.com/office/drawing/2014/main" id="{CC279918-B4EB-4A69-8269-F7D85FE44387}"/>
                </a:ext>
              </a:extLst>
            </p:cNvPr>
            <p:cNvSpPr/>
            <p:nvPr/>
          </p:nvSpPr>
          <p:spPr>
            <a:xfrm>
              <a:off x="4055445" y="6444186"/>
              <a:ext cx="288000" cy="2880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f1c2ae39-7269-41fa-9340-9115f83a999e" descr="{&quot;SlideID&quot;:&quot;334&quot;,&quot;SlideNumber&quot;:&quot;44&quot;}">
              <a:hlinkClick r:id="rId11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444542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a1b2b2f0-93d6-4a88-ae38-c3e83b656db5" descr="{&quot;SlideID&quot;:&quot;335&quot;,&quot;SlideNumber&quot;:&quot;46&quot;}">
              <a:hlinkClick r:id="rId12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4835409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11c283e3-b860-4b11-8e44-ab3e4606841e" descr="{&quot;SlideID&quot;:&quot;336&quot;,&quot;SlideNumber&quot;:&quot;48&quot;}">
              <a:hlinkClick r:id="rId13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521937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25caaa7b-4271-4c64-b6ce-e7d5590fa8d9" descr="{&quot;SlideID&quot;:&quot;337&quot;,&quot;SlideNumber&quot;:&quot;50&quot;}">
              <a:hlinkClick r:id="rId14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560334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3" name="yt_shape_12903"/>
          <p:cNvSpPr txBox="1"/>
          <p:nvPr/>
        </p:nvSpPr>
        <p:spPr>
          <a:xfrm>
            <a:off x="324071" y="467999"/>
            <a:ext cx="11924914" cy="2341923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9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 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2026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·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浙江温州期中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近年来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15_04a30"/>
              </a:rPr>
              <a:t>我国的高速铁路网建设取得巨大成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就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高铁技术正走出国门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在一次高铁技术测试中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9_fa9f7"/>
              </a:rPr>
              <a:t>机车由静止开始做直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线运动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测试段内机车速度的二次方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en-US" altLang="zh-CN" sz="2800" b="0" i="0" u="none" baseline="30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与对应位移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x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的关系图像如图所示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  <a:sym typeface="_⨹_1_b677e"/>
              </a:rPr>
              <a:t>。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在该测试段内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下列说法正确的是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</a:t>
            </a:r>
            <a:r>
              <a:rPr lang="en-US" altLang="zh-CN" sz="2800" b="0" i="0" u="none">
                <a:solidFill>
                  <a:srgbClr val="C00000">
                    <a:alpha val="0"/>
                  </a:srgbClr>
                </a:solidFill>
                <a:effectLst/>
                <a:latin typeface="Times New Roman" pitchFamily="28"/>
                <a:ea typeface="宋体" pitchFamily="28"/>
              </a:rPr>
              <a:t>C</a:t>
            </a:r>
            <a:r>
              <a:rPr lang="zh-CN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905" name="yt_table_12905_skip" title="H_199.42">
                <a:extLst>
                  <a:ext uri="{FF2B5EF4-FFF2-40B4-BE49-F238E27FC236}">
                    <a16:creationId xmlns:a16="http://schemas.microsoft.com/office/drawing/2014/main" id="{85F9CD91-DE56-4981-AD6D-3D4292DC4A2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26256584"/>
                  </p:ext>
                </p:extLst>
              </p:nvPr>
            </p:nvGraphicFramePr>
            <p:xfrm>
              <a:off x="324066" y="2860710"/>
              <a:ext cx="4676775" cy="2532634"/>
            </p:xfrm>
            <a:graphic>
              <a:graphicData uri="http://schemas.openxmlformats.org/drawingml/2006/table">
                <a:tbl>
                  <a:tblPr/>
                  <a:tblGrid>
                    <a:gridCol w="4676775">
                      <a:extLst>
                        <a:ext uri="{9D8B030D-6E8A-4147-A177-3AD203B41FA5}">
                          <a16:colId xmlns:a16="http://schemas.microsoft.com/office/drawing/2014/main" val="1026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523174" indent="-523174"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A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.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机车的加速度恒定不变</a:t>
                          </a:r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7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503492" indent="-503492"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B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.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机车的加速度越来越大</a:t>
                          </a:r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73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503492" indent="-503492"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C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.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机车的平均速度大于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56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zh-CN" sz="2800" b="0" i="1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56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800" b="0" i="1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56" charset="0"/>
                                          <a:ea typeface="Cambria Math" panose="02040503050406030204" pitchFamily="56" charset="0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a:rPr lang="en-US" altLang="zh-CN" sz="2800" b="0" i="0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56" charset="0"/>
                                          <a:ea typeface="Cambria Math" panose="02040503050406030204" pitchFamily="56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altLang="zh-CN" sz="2800" b="0" i="0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2</m:t>
                                  </m:r>
                                </m:den>
                              </m:f>
                            </m:oMath>
                          </a14:m>
                          <a:endParaRPr lang="zh-CN" altLang="zh-CN" sz="2800" b="0" i="0" u="none">
                            <a:solidFill>
                              <a:srgbClr val="000000"/>
                            </a:solidFill>
                            <a:effectLst/>
                            <a:latin typeface="Times New Roman" pitchFamily="28"/>
                            <a:ea typeface="宋体" pitchFamily="28"/>
                          </a:endParaRPr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7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523174" indent="-523174"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D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.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机车的平均速度小于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56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zh-CN" sz="2800" b="0" i="1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56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800" b="0" i="1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56" charset="0"/>
                                          <a:ea typeface="Cambria Math" panose="02040503050406030204" pitchFamily="56" charset="0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a:rPr lang="en-US" altLang="zh-CN" sz="2800" b="0" i="0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56" charset="0"/>
                                          <a:ea typeface="Cambria Math" panose="02040503050406030204" pitchFamily="56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altLang="zh-CN" sz="2800" b="0" i="0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2</m:t>
                                  </m:r>
                                </m:den>
                              </m:f>
                            </m:oMath>
                          </a14:m>
                          <a:endParaRPr lang="zh-CN" altLang="zh-CN" sz="2800" b="0" i="0" u="none">
                            <a:solidFill>
                              <a:srgbClr val="000000"/>
                            </a:solidFill>
                            <a:effectLst/>
                            <a:latin typeface="Times New Roman" pitchFamily="28"/>
                            <a:ea typeface="宋体" pitchFamily="28"/>
                          </a:endParaRPr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732"/>
                      </a:ext>
                    </a:extLst>
                  </a:tr>
                </a:tbl>
              </a:graphicData>
            </a:graphic>
          </p:graphicFrame>
        </mc:Choice>
        <mc:Fallback xmlns:a16="http://schemas.microsoft.com/office/drawing/2014/main" xmlns:p14="http://schemas.microsoft.com/office/powerpoint/2010/main" xmlns:p15="http://schemas.microsoft.com/office/powerpoint/2012/main" xmlns="">
          <p:graphicFrame>
            <p:nvGraphicFramePr>
              <p:cNvPr id="12905" name="yt_table_12905_skip" descr="{&quot;rangeId&quot;:49,&quot;type&quot;:&quot;Option&quot;,&quot;drawing&quot;:[&quot;yt_image_12904&quot;]}" title="H_199.42">
                <a:extLst>
                  <a:ext uri="{FF2B5EF4-FFF2-40B4-BE49-F238E27FC236}">
                    <a16:creationId xmlns:a16="http://schemas.microsoft.com/office/drawing/2014/main" id="{85F9CD91-DE56-4981-AD6D-3D4292DC4A2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26256584"/>
                  </p:ext>
                </p:extLst>
              </p:nvPr>
            </p:nvGraphicFramePr>
            <p:xfrm>
              <a:off x="324066" y="2860710"/>
              <a:ext cx="4676775" cy="2532634"/>
            </p:xfrm>
            <a:graphic>
              <a:graphicData uri="http://schemas.openxmlformats.org/drawingml/2006/table">
                <a:tbl>
                  <a:tblPr/>
                  <a:tblGrid>
                    <a:gridCol w="4676775">
                      <a:extLst>
                        <a:ext uri="{9D8B030D-6E8A-4147-A177-3AD203B41FA5}">
                          <a16:colId xmlns:a16="http://schemas.microsoft.com/office/drawing/2014/main" val="10268"/>
                        </a:ext>
                      </a:extLst>
                    </a:gridCol>
                  </a:tblGrid>
                  <a:tr h="527050">
                    <a:tc>
                      <a:txBody>
                        <a:bodyPr/>
                        <a:lstStyle/>
                        <a:p>
                          <a:pPr marL="523174" indent="-523174"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A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.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机车的加速度恒定不变</a:t>
                          </a:r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729"/>
                      </a:ext>
                    </a:extLst>
                  </a:tr>
                  <a:tr h="527050">
                    <a:tc>
                      <a:txBody>
                        <a:bodyPr/>
                        <a:lstStyle/>
                        <a:p>
                          <a:pPr marL="503492" indent="-503492"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B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.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机车的加速度越来越大</a:t>
                          </a:r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730"/>
                      </a:ext>
                    </a:extLst>
                  </a:tr>
                  <a:tr h="739267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  <a:blipFill>
                          <a:blip r:embed="rId2"/>
                          <a:stretch>
                            <a:fillRect t="-145082" b="-11557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731"/>
                      </a:ext>
                    </a:extLst>
                  </a:tr>
                  <a:tr h="739267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  <a:blipFill>
                          <a:blip r:embed="rId2"/>
                          <a:stretch>
                            <a:fillRect t="-247107" b="-165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732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2904" name="yt_image_12904_skip" title="H_144">
            <a:extLst>
              <a:ext uri="">
                <a16:creationId xmlns:p14="http://schemas.microsoft.com/office/powerpoint/2010/main" xmlns:a14="http://schemas.microsoft.com/office/drawing/2010/main" xmlns:mc="http://schemas.openxmlformats.org/markup-compatibility/2006" xmlns:p15="http://schemas.microsoft.com/office/powerpoint/2012/main" xmlns:a16="http://schemas.microsoft.com/office/drawing/2014/main" xmlns="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375452" y="2860710"/>
            <a:ext cx="2490511" cy="182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D8AFB920-9FA1-4E95-AE2D-F19F0BDE6791}"/>
              </a:ext>
            </a:extLst>
          </p:cNvPr>
          <p:cNvSpPr/>
          <p:nvPr/>
        </p:nvSpPr>
        <p:spPr>
          <a:xfrm>
            <a:off x="93577" y="4254218"/>
            <a:ext cx="761669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500" b="1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√</a:t>
            </a:r>
            <a:endParaRPr lang="zh-CN" altLang="en-US" sz="4500" b="1" dirty="0">
              <a:solidFill>
                <a:srgbClr val="C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3816040" y="6445607"/>
            <a:ext cx="4565782" cy="288000"/>
            <a:chOff x="1325563" y="6444186"/>
            <a:chExt cx="4565782" cy="288000"/>
          </a:xfrm>
        </p:grpSpPr>
        <p:sp>
          <p:nvSpPr>
            <p:cNvPr id="9" name="4ce00acc-b6e9-4ca6-bfd1-4873d9bc8858" descr="{&quot;SlideID&quot;:&quot;326&quot;,&quot;SlideNumber&quot;:&quot;29&quot;}">
              <a:hlinkClick r:id="rId4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1325563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" name="2896a2c8-7554-409f-a1ed-fae910a0e7f4" descr="{&quot;SlideID&quot;:&quot;327&quot;,&quot;SlideNumber&quot;:&quot;31&quot;}">
              <a:hlinkClick r:id="rId5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171554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546f7568-709f-4a63-884c-d9e23c11be6d" descr="{&quot;SlideID&quot;:&quot;328&quot;,&quot;SlideNumber&quot;:&quot;32&quot;}">
              <a:hlinkClick r:id="rId6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2105531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9f80bf68-2211-42a0-9a8e-cb7cc377cfb4" descr="{&quot;SlideID&quot;:&quot;329&quot;,&quot;SlideNumber&quot;:&quot;34&quot;}">
              <a:hlinkClick r:id="rId7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249551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f828a078-9fc2-4552-896d-be422deea65c" descr="{&quot;SlideID&quot;:&quot;330&quot;,&quot;SlideNumber&quot;:&quot;36&quot;}">
              <a:hlinkClick r:id="rId8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2885499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d3079bb1-cd40-4fe6-98f0-f6fad3d3dd0e" descr="{&quot;SlideID&quot;:&quot;331&quot;,&quot;SlideNumber&quot;:&quot;38&quot;}">
              <a:hlinkClick r:id="rId9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3275481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72842733-1cda-4b44-a5b6-74255bb9fd8f" descr="{&quot;SlideID&quot;:&quot;332&quot;,&quot;SlideNumber&quot;:&quot;40&quot;}">
              <a:hlinkClick r:id="rId10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3665463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522f9e17-6d04-45ba-8921-56200773ea8e" descr="{&quot;SlideID&quot;:&quot;333&quot;,&quot;SlideNumber&quot;:&quot;42&quot;}">
              <a:hlinkClick r:id="rId11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405544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2cccdabb-c6ae-43c0-9e39-8046e28e9e9e" descr="{&quot;SlideID&quot;:&quot;334&quot;,&quot;SlideNumber&quot;:&quot;44&quot;}">
              <a:hlinkClick r:id="rId12" action="ppaction://hlinksldjump"/>
              <a:extLst>
                <a:ext uri="{FF2B5EF4-FFF2-40B4-BE49-F238E27FC236}">
                  <a16:creationId xmlns:a16="http://schemas.microsoft.com/office/drawing/2014/main" id="{CC279918-B4EB-4A69-8269-F7D85FE44387}"/>
                </a:ext>
              </a:extLst>
            </p:cNvPr>
            <p:cNvSpPr/>
            <p:nvPr/>
          </p:nvSpPr>
          <p:spPr>
            <a:xfrm>
              <a:off x="4445427" y="6444186"/>
              <a:ext cx="288000" cy="2880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289f2e8e-de6b-460e-8795-4c314e604371" descr="{&quot;SlideID&quot;:&quot;335&quot;,&quot;SlideNumber&quot;:&quot;46&quot;}">
              <a:hlinkClick r:id="rId13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4835409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b5e1e857-d717-4f2e-b89e-1ae3ce23a76f" descr="{&quot;SlideID&quot;:&quot;336&quot;,&quot;SlideNumber&quot;:&quot;48&quot;}">
              <a:hlinkClick r:id="rId14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521937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6328e332-0490-4f33-b0d3-3850bbb09f11" descr="{&quot;SlideID&quot;:&quot;337&quot;,&quot;SlideNumber&quot;:&quot;50&quot;}">
              <a:hlinkClick r:id="rId15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560334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med">
        <p15:prstTrans prst="pageCurlDouble"/>
      </p:transition>
    </mc:Choice>
    <mc:Fallback xmlns:a16="http://schemas.microsoft.com/office/drawing/2014/main" xmlns:p14="http://schemas.microsoft.com/office/powerpoint/2010/main" xmlns:a14="http://schemas.microsoft.com/office/drawing/2010/main"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2906" name="yt_shape_12906"/>
              <p:cNvSpPr txBox="1"/>
              <p:nvPr/>
            </p:nvSpPr>
            <p:spPr>
              <a:xfrm>
                <a:off x="324071" y="467999"/>
                <a:ext cx="9485574" cy="3762697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>
                    <a:solidFill>
                      <a:srgbClr val="0000FF"/>
                    </a:solidFill>
                    <a:effectLst/>
                    <a:latin typeface="Times New Roman" pitchFamily="28"/>
                    <a:ea typeface="黑体" pitchFamily="28"/>
                  </a:rPr>
                  <a:t>解析：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根据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en-US" altLang="zh-CN" sz="2800" b="0" i="0" u="none" baseline="30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ax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可知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en-US" altLang="zh-CN" sz="2800" b="0" i="0" u="none" baseline="30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-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x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图像的斜率等于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4_d4855"/>
                  </a:rPr>
                  <a:t>由题图可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知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图像的斜率逐渐减小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可知加速度逐渐减小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故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、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  <a:sym typeface="_⨹_1_bb657"/>
                  </a:rPr>
                  <a:t>B</a:t>
                </a:r>
                <a:b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</a:b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错误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；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由于机车做加速度减小的变加速直线运动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故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-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1_39fb8"/>
                  </a:rPr>
                  <a:t>曲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线向上凸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（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如图所示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），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14_8d699"/>
                  </a:rPr>
                  <a:t>较相同时间匀加速直线运动的位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移大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22_32adf"/>
                  </a:rPr>
                  <a:t>则机车的平均速度大于匀加速直线运动的平均速度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故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C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正确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D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错误。</a:t>
                </a:r>
              </a:p>
            </p:txBody>
          </p:sp>
        </mc:Choice>
        <mc:Fallback xmlns:a16="http://schemas.microsoft.com/office/drawing/2014/main" xmlns="">
          <p:sp>
            <p:nvSpPr>
              <p:cNvPr id="12906" name="yt_shape_1290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71" y="467999"/>
                <a:ext cx="9485574" cy="3762697"/>
              </a:xfrm>
              <a:prstGeom prst="rect">
                <a:avLst/>
              </a:prstGeom>
              <a:blipFill>
                <a:blip r:embed="rId2"/>
                <a:stretch>
                  <a:fillRect l="-2249" t="-648" b="-22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图片 2">
            <a:extLst>
              <a:ext uri="{FF2B5EF4-FFF2-40B4-BE49-F238E27FC236}">
                <a16:creationId xmlns:a16="http://schemas.microsoft.com/office/drawing/2014/main" id="{6197A6B7-15CD-DA19-985D-AA5D138FDC1C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0745" y="467999"/>
            <a:ext cx="2367183" cy="1740792"/>
          </a:xfrm>
          <a:prstGeom prst="rect">
            <a:avLst/>
          </a:prstGeom>
        </p:spPr>
      </p:pic>
      <p:grpSp>
        <p:nvGrpSpPr>
          <p:cNvPr id="16" name="组合 15"/>
          <p:cNvGrpSpPr/>
          <p:nvPr/>
        </p:nvGrpSpPr>
        <p:grpSpPr>
          <a:xfrm>
            <a:off x="3816040" y="6445607"/>
            <a:ext cx="4565782" cy="288000"/>
            <a:chOff x="1325563" y="6444186"/>
            <a:chExt cx="4565782" cy="288000"/>
          </a:xfrm>
        </p:grpSpPr>
        <p:sp>
          <p:nvSpPr>
            <p:cNvPr id="9" name="269b894e-b7f2-490e-afe2-781cbcaf6db1" descr="{&quot;SlideID&quot;:&quot;326&quot;,&quot;SlideNumber&quot;:&quot;29&quot;}">
              <a:hlinkClick r:id="rId4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1325563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" name="e53330d2-0172-4d96-82c0-e6b005348f7c" descr="{&quot;SlideID&quot;:&quot;327&quot;,&quot;SlideNumber&quot;:&quot;31&quot;}">
              <a:hlinkClick r:id="rId5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171554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431d84d6-94c0-4ebd-b1b5-ca783ebc4158" descr="{&quot;SlideID&quot;:&quot;328&quot;,&quot;SlideNumber&quot;:&quot;32&quot;}">
              <a:hlinkClick r:id="rId6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2105531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9c16d725-dfee-4e94-b050-2395258abaf6" descr="{&quot;SlideID&quot;:&quot;329&quot;,&quot;SlideNumber&quot;:&quot;34&quot;}">
              <a:hlinkClick r:id="rId7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249551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174f7e89-a0b9-415e-89a1-4ec6ca4a08b7" descr="{&quot;SlideID&quot;:&quot;330&quot;,&quot;SlideNumber&quot;:&quot;36&quot;}">
              <a:hlinkClick r:id="rId8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2885499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bc67554a-8798-43ff-a086-0bdc5bf573f9" descr="{&quot;SlideID&quot;:&quot;331&quot;,&quot;SlideNumber&quot;:&quot;38&quot;}">
              <a:hlinkClick r:id="rId9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3275481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7af25b46-19d4-4092-83b6-947175a4f504" descr="{&quot;SlideID&quot;:&quot;332&quot;,&quot;SlideNumber&quot;:&quot;40&quot;}">
              <a:hlinkClick r:id="rId10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3665463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d66a2894-fc51-406f-b214-9603c361ea2c" descr="{&quot;SlideID&quot;:&quot;333&quot;,&quot;SlideNumber&quot;:&quot;42&quot;}">
              <a:hlinkClick r:id="rId11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405544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aa410bc2-33f9-461a-9705-b5a6c9fa6c49" descr="{&quot;SlideID&quot;:&quot;334&quot;,&quot;SlideNumber&quot;:&quot;44&quot;}">
              <a:hlinkClick r:id="rId12" action="ppaction://hlinksldjump"/>
              <a:extLst>
                <a:ext uri="{FF2B5EF4-FFF2-40B4-BE49-F238E27FC236}">
                  <a16:creationId xmlns:a16="http://schemas.microsoft.com/office/drawing/2014/main" id="{CC279918-B4EB-4A69-8269-F7D85FE44387}"/>
                </a:ext>
              </a:extLst>
            </p:cNvPr>
            <p:cNvSpPr/>
            <p:nvPr/>
          </p:nvSpPr>
          <p:spPr>
            <a:xfrm>
              <a:off x="4445427" y="6444186"/>
              <a:ext cx="288000" cy="2880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055aa9b3-c20e-44ec-b172-c19d9acb979c" descr="{&quot;SlideID&quot;:&quot;335&quot;,&quot;SlideNumber&quot;:&quot;46&quot;}">
              <a:hlinkClick r:id="rId13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4835409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660d5336-2253-40f4-a8d9-aa467a22faf7" descr="{&quot;SlideID&quot;:&quot;336&quot;,&quot;SlideNumber&quot;:&quot;48&quot;}">
              <a:hlinkClick r:id="rId14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521937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a9aecf66-be82-4a47-bc34-88bed8c5458d" descr="{&quot;SlideID&quot;:&quot;337&quot;,&quot;SlideNumber&quot;:&quot;50&quot;}">
              <a:hlinkClick r:id="rId15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560334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2908" name="yt_shape_12908"/>
              <p:cNvSpPr txBox="1"/>
              <p:nvPr/>
            </p:nvSpPr>
            <p:spPr>
              <a:xfrm>
                <a:off x="324071" y="467999"/>
                <a:ext cx="11924914" cy="1990417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40000"/>
                  </a:lnSpc>
                </a:pPr>
                <a:r>
                  <a:rPr lang="en-US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10</a:t>
                </a:r>
                <a:r>
                  <a:rPr lang="en-US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.</a:t>
                </a:r>
                <a:r>
                  <a:rPr lang="en-US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Times New Roman" pitchFamily="28"/>
                  </a:rPr>
                  <a:t> 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隶书" pitchFamily="28"/>
                  </a:rPr>
                  <a:t>〔多选〕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（</a:t>
                </a:r>
                <a:r>
                  <a:rPr lang="en-US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2026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Times New Roman" pitchFamily="28"/>
                  </a:rPr>
                  <a:t>·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楷体" pitchFamily="28"/>
                  </a:rPr>
                  <a:t>浙江宁波期中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）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根据机动车的运动情况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  <a:sym typeface="_⨹_5_42f22"/>
                  </a:rPr>
                  <a:t>绘制如图所</a:t>
                </a:r>
                <a:b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</a:b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示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𝑥</m:t>
                        </m:r>
                      </m:num>
                      <m:den>
                        <m:sSup>
                          <m:sSupPr>
                            <m:ctrlPr>
                              <a:rPr lang="en-US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pPr>
                          <m:e>
                            <m:r>
                              <a:rPr lang="en-US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US" altLang="zh-CN" sz="2800" b="0" i="0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-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图像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已知其在水平路面沿直线行驶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规定初速度</a:t>
                </a:r>
                <a:r>
                  <a:rPr lang="en-US" altLang="zh-CN" sz="2800" b="0" i="1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en-US" altLang="zh-CN" sz="2800" b="0" i="0" u="none" baseline="-2500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  <a:sym typeface="_⨹_6_a8a5a"/>
                  </a:rPr>
                  <a:t>的方向为正方</a:t>
                </a:r>
                <a:b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</a:b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向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。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下列说法正确的是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（</a:t>
                </a:r>
                <a:r>
                  <a:rPr lang="zh-CN" altLang="zh-CN" sz="2800" b="0" i="1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　</a:t>
                </a:r>
                <a:r>
                  <a:rPr lang="en-US" altLang="zh-CN" sz="2800" b="0" i="0" u="none">
                    <a:solidFill>
                      <a:srgbClr val="C00000">
                        <a:alpha val="0"/>
                      </a:srgbClr>
                    </a:solidFill>
                    <a:effectLst/>
                    <a:latin typeface="Times New Roman" pitchFamily="28"/>
                    <a:ea typeface="宋体" pitchFamily="28"/>
                  </a:rPr>
                  <a:t>AC</a:t>
                </a:r>
                <a:r>
                  <a:rPr lang="zh-CN" altLang="zh-CN" sz="2800" b="0" i="1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　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）</a:t>
                </a:r>
              </a:p>
            </p:txBody>
          </p:sp>
        </mc:Choice>
        <mc:Fallback xmlns:p15="http://schemas.microsoft.com/office/powerpoint/2012/main" xmlns:p14="http://schemas.microsoft.com/office/powerpoint/2010/main" xmlns:a16="http://schemas.microsoft.com/office/drawing/2014/main" xmlns="">
          <p:sp>
            <p:nvSpPr>
              <p:cNvPr id="12908" name="yt_shape_1290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71" y="467999"/>
                <a:ext cx="11924914" cy="1990417"/>
              </a:xfrm>
              <a:prstGeom prst="rect">
                <a:avLst/>
              </a:prstGeom>
              <a:blipFill>
                <a:blip r:embed="rId2"/>
                <a:stretch>
                  <a:fillRect l="-1789" t="-1227" b="-1012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2911" name="yt_table_12911_skip" title="H_188.16">
            <a:extLst>
              <a:ext uri="{FF2B5EF4-FFF2-40B4-BE49-F238E27FC236}">
                <a16:creationId xmlns:a16="http://schemas.microsoft.com/office/drawing/2014/main" id="{85F9CD91-DE56-4981-AD6D-3D4292DC4A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5437489"/>
              </p:ext>
            </p:extLst>
          </p:nvPr>
        </p:nvGraphicFramePr>
        <p:xfrm>
          <a:off x="324066" y="2509204"/>
          <a:ext cx="6503988" cy="2389632"/>
        </p:xfrm>
        <a:graphic>
          <a:graphicData uri="http://schemas.openxmlformats.org/drawingml/2006/table">
            <a:tbl>
              <a:tblPr/>
              <a:tblGrid>
                <a:gridCol w="6503988">
                  <a:extLst>
                    <a:ext uri="{9D8B030D-6E8A-4147-A177-3AD203B41FA5}">
                      <a16:colId xmlns:a16="http://schemas.microsoft.com/office/drawing/2014/main" val="102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A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机动车停止运动所需的时间为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2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5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s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03492" indent="-503492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B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机动车的初速度大小为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10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m/s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03492" indent="-503492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C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机动车的加速度大小为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8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m/s</a:t>
                      </a:r>
                      <a:r>
                        <a:rPr lang="en-US" altLang="zh-CN" sz="2800" b="0" i="0" u="none" baseline="3000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2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D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机动车在前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3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s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的位移大小是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24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m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36"/>
                  </a:ext>
                </a:extLst>
              </a:tr>
            </a:tbl>
          </a:graphicData>
        </a:graphic>
      </p:graphicFrame>
      <p:pic>
        <p:nvPicPr>
          <p:cNvPr id="12910" name="yt_image_12910_skip" title="H_175.08">
            <a:extLst>
              <a:ext uri="">
                <a16:creationId xmlns:mc="http://schemas.openxmlformats.org/markup-compatibility/2006" xmlns:a14="http://schemas.microsoft.com/office/drawing/2010/main" xmlns:p14="http://schemas.microsoft.com/office/powerpoint/2010/main" xmlns:p15="http://schemas.microsoft.com/office/powerpoint/2012/main" xmlns:a16="http://schemas.microsoft.com/office/drawing/2014/main" xmlns="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880729" y="2509204"/>
            <a:ext cx="2985343" cy="22235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D8AFB920-9FA1-4E95-AE2D-F19F0BDE6791}"/>
              </a:ext>
            </a:extLst>
          </p:cNvPr>
          <p:cNvSpPr/>
          <p:nvPr/>
        </p:nvSpPr>
        <p:spPr>
          <a:xfrm>
            <a:off x="115348" y="2620775"/>
            <a:ext cx="761669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500" b="1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√</a:t>
            </a:r>
            <a:endParaRPr lang="zh-CN" altLang="en-US" sz="4500" b="1" dirty="0">
              <a:solidFill>
                <a:srgbClr val="C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8AFB920-9FA1-4E95-AE2D-F19F0BDE6791}"/>
              </a:ext>
            </a:extLst>
          </p:cNvPr>
          <p:cNvSpPr/>
          <p:nvPr/>
        </p:nvSpPr>
        <p:spPr>
          <a:xfrm>
            <a:off x="115349" y="3809371"/>
            <a:ext cx="761669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500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√</a:t>
            </a:r>
            <a:endParaRPr lang="zh-CN" altLang="en-US" sz="4500" dirty="0">
              <a:solidFill>
                <a:srgbClr val="C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3816040" y="6445607"/>
            <a:ext cx="4565782" cy="288000"/>
            <a:chOff x="1325563" y="6444186"/>
            <a:chExt cx="4565782" cy="288000"/>
          </a:xfrm>
        </p:grpSpPr>
        <p:sp>
          <p:nvSpPr>
            <p:cNvPr id="9" name="29cb8116-877e-446c-8e74-32ff271572ca" descr="{&quot;SlideID&quot;:&quot;326&quot;,&quot;SlideNumber&quot;:&quot;29&quot;}">
              <a:hlinkClick r:id="rId4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1325563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35bb2a89-af21-4a7f-ae49-832fd1f7e8e9" descr="{&quot;SlideID&quot;:&quot;327&quot;,&quot;SlideNumber&quot;:&quot;31&quot;}">
              <a:hlinkClick r:id="rId5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171554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2f725f52-f1ab-4fc9-a0de-df6b0238edb5" descr="{&quot;SlideID&quot;:&quot;328&quot;,&quot;SlideNumber&quot;:&quot;32&quot;}">
              <a:hlinkClick r:id="rId6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2105531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79b4da07-1621-48ab-9814-a69e26ed30fa" descr="{&quot;SlideID&quot;:&quot;329&quot;,&quot;SlideNumber&quot;:&quot;34&quot;}">
              <a:hlinkClick r:id="rId7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249551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1a2de79f-61f6-48f6-9ec9-84f072331065" descr="{&quot;SlideID&quot;:&quot;330&quot;,&quot;SlideNumber&quot;:&quot;36&quot;}">
              <a:hlinkClick r:id="rId8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2885499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56e7f7c7-c9d8-430e-a11d-23676a29b914" descr="{&quot;SlideID&quot;:&quot;331&quot;,&quot;SlideNumber&quot;:&quot;38&quot;}">
              <a:hlinkClick r:id="rId9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3275481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21428303-083e-4fa1-8bb0-0c3b8243cb24" descr="{&quot;SlideID&quot;:&quot;332&quot;,&quot;SlideNumber&quot;:&quot;40&quot;}">
              <a:hlinkClick r:id="rId10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3665463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d7c42dc8-1464-4fac-831a-7b428d94854d" descr="{&quot;SlideID&quot;:&quot;333&quot;,&quot;SlideNumber&quot;:&quot;42&quot;}">
              <a:hlinkClick r:id="rId11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405544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1fb0b2ae-85d1-4eed-b8b7-be735c98593a" descr="{&quot;SlideID&quot;:&quot;334&quot;,&quot;SlideNumber&quot;:&quot;44&quot;}">
              <a:hlinkClick r:id="rId12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444542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7a804f09-fc30-47bb-9d09-392484a69a18" descr="{&quot;SlideID&quot;:&quot;335&quot;,&quot;SlideNumber&quot;:&quot;46&quot;}">
              <a:hlinkClick r:id="rId13" action="ppaction://hlinksldjump"/>
              <a:extLst>
                <a:ext uri="{FF2B5EF4-FFF2-40B4-BE49-F238E27FC236}">
                  <a16:creationId xmlns:a16="http://schemas.microsoft.com/office/drawing/2014/main" id="{CC279918-B4EB-4A69-8269-F7D85FE44387}"/>
                </a:ext>
              </a:extLst>
            </p:cNvPr>
            <p:cNvSpPr/>
            <p:nvPr/>
          </p:nvSpPr>
          <p:spPr>
            <a:xfrm>
              <a:off x="4835409" y="6444186"/>
              <a:ext cx="288000" cy="2880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0a803f7d-c9ec-48f7-bb2b-5de7a9a2a1c9" descr="{&quot;SlideID&quot;:&quot;336&quot;,&quot;SlideNumber&quot;:&quot;48&quot;}">
              <a:hlinkClick r:id="rId14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521937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64d66af4-adc4-4b92-a224-7257600d2220" descr="{&quot;SlideID&quot;:&quot;337&quot;,&quot;SlideNumber&quot;:&quot;50&quot;}">
              <a:hlinkClick r:id="rId15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560334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med">
        <p15:prstTrans prst="pageCurlDouble"/>
      </p:transition>
    </mc:Choice>
    <mc:Fallback xmlns:a14="http://schemas.microsoft.com/office/drawing/2010/main" xmlns:a16="http://schemas.microsoft.com/office/drawing/2014/main" xmlns:p14="http://schemas.microsoft.com/office/powerpoint/2010/main"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2913" name="yt_shape_12913"/>
              <p:cNvSpPr txBox="1"/>
              <p:nvPr/>
            </p:nvSpPr>
            <p:spPr>
              <a:xfrm>
                <a:off x="324071" y="467999"/>
                <a:ext cx="11924914" cy="4815293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40000"/>
                  </a:lnSpc>
                </a:pPr>
                <a:r>
                  <a:rPr lang="zh-CN" altLang="zh-CN" sz="2800" b="0" i="0" u="none">
                    <a:solidFill>
                      <a:srgbClr val="0000FF"/>
                    </a:solidFill>
                    <a:effectLst/>
                    <a:latin typeface="Times New Roman" pitchFamily="28"/>
                    <a:ea typeface="黑体" pitchFamily="28"/>
                  </a:rPr>
                  <a:t>解析：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由题图可知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𝑥</m:t>
                        </m:r>
                      </m:num>
                      <m:den>
                        <m:sSup>
                          <m:sSup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p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与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的关系为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𝑥</m:t>
                        </m:r>
                      </m:num>
                      <m:den>
                        <m:sSup>
                          <m:sSup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p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＝（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20</a:t>
                </a:r>
                <a:r>
                  <a:rPr lang="zh-CN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Times New Roman" pitchFamily="28"/>
                  </a:rPr>
                  <a:t>·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－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4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）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m/s</a:t>
                </a:r>
                <a:r>
                  <a:rPr lang="en-US" altLang="zh-CN" sz="2800" b="0" i="0" u="none" baseline="30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变形得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x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＝（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20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  <a:sym typeface="_⨹_1_8046f"/>
                  </a:rPr>
                  <a:t>t</a:t>
                </a:r>
                <a:b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</a:b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－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4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en-US" altLang="zh-CN" sz="2800" b="0" i="0" u="none" baseline="30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）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x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是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的二次函数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故机动车做匀变速直线运动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由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x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  <a:sym typeface="_⨹_1_65305"/>
                  </a:rPr>
                  <a:t>＋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</a:b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at</a:t>
                </a:r>
                <a:r>
                  <a:rPr lang="en-US" altLang="zh-CN" sz="2800" b="0" i="0" u="none" baseline="30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得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20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m/s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＝－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8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m/s</a:t>
                </a:r>
                <a:r>
                  <a:rPr lang="en-US" altLang="zh-CN" sz="2800" b="0" i="0" u="none" baseline="30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。故机动车的初速度大小为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20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m/s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2_98337"/>
                  </a:rPr>
                  <a:t>加速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度大小为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8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m/s</a:t>
                </a:r>
                <a:r>
                  <a:rPr lang="en-US" altLang="zh-CN" sz="2800" b="0" i="0" u="none" baseline="30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故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B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错误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C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正确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；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机动车停止运动所需时间为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0</m:t>
                        </m:r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  <a:sym typeface="_⨹_1_c98e9"/>
                  </a:rPr>
                  <a:t>＝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</a:b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0</m:t>
                        </m:r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−</m:t>
                        </m:r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20</m:t>
                        </m:r>
                      </m:num>
                      <m:den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−</m:t>
                        </m:r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s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.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5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s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因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3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s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＞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.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5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s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故机动车在前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3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s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的位移大小是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x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  <a:sym typeface="_⨹_1_10587"/>
                  </a:rPr>
                  <a:t>0</a:t>
                </a:r>
                <a:b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</a:b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20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×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.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5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25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故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正确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D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错误。</a:t>
                </a:r>
              </a:p>
            </p:txBody>
          </p:sp>
        </mc:Choice>
        <mc:Fallback xmlns:a16="http://schemas.microsoft.com/office/drawing/2014/main" xmlns="">
          <p:sp>
            <p:nvSpPr>
              <p:cNvPr id="12913" name="yt_shape_129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71" y="467999"/>
                <a:ext cx="11924914" cy="4815293"/>
              </a:xfrm>
              <a:prstGeom prst="rect">
                <a:avLst/>
              </a:prstGeom>
              <a:blipFill>
                <a:blip r:embed="rId2"/>
                <a:stretch>
                  <a:fillRect l="-1789" b="-15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" name="组合 14"/>
          <p:cNvGrpSpPr/>
          <p:nvPr/>
        </p:nvGrpSpPr>
        <p:grpSpPr>
          <a:xfrm>
            <a:off x="3816040" y="6445607"/>
            <a:ext cx="4565782" cy="288000"/>
            <a:chOff x="1325563" y="6444186"/>
            <a:chExt cx="4565782" cy="288000"/>
          </a:xfrm>
        </p:grpSpPr>
        <p:sp>
          <p:nvSpPr>
            <p:cNvPr id="9" name="46b34c3f-9076-4fd1-8ace-37f29089168a" descr="{&quot;SlideID&quot;:&quot;326&quot;,&quot;SlideNumber&quot;:&quot;29&quot;}">
              <a:hlinkClick r:id="rId3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1325563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" name="6dc4f1f0-24c3-4458-b321-91b1a5636415" descr="{&quot;SlideID&quot;:&quot;327&quot;,&quot;SlideNumber&quot;:&quot;31&quot;}">
              <a:hlinkClick r:id="rId4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171554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629c4934-4ed1-4967-ada1-6d53ebb4585a" descr="{&quot;SlideID&quot;:&quot;328&quot;,&quot;SlideNumber&quot;:&quot;32&quot;}">
              <a:hlinkClick r:id="rId5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2105531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3a8e2bf3-0080-4e60-85fd-53cd24f5fcc3" descr="{&quot;SlideID&quot;:&quot;329&quot;,&quot;SlideNumber&quot;:&quot;34&quot;}">
              <a:hlinkClick r:id="rId6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249551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5918ffb6-dd6f-4982-a187-579c9db1e71c" descr="{&quot;SlideID&quot;:&quot;330&quot;,&quot;SlideNumber&quot;:&quot;36&quot;}">
              <a:hlinkClick r:id="rId7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2885499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46150dba-60d3-42bb-843f-43c4cf9b72e3" descr="{&quot;SlideID&quot;:&quot;331&quot;,&quot;SlideNumber&quot;:&quot;38&quot;}">
              <a:hlinkClick r:id="rId8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3275481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6dda5aa6-c32d-4eaf-9f06-465922a953d6" descr="{&quot;SlideID&quot;:&quot;332&quot;,&quot;SlideNumber&quot;:&quot;40&quot;}">
              <a:hlinkClick r:id="rId9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3665463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f18856b4-3c64-4113-95ef-726ac9ea799a" descr="{&quot;SlideID&quot;:&quot;333&quot;,&quot;SlideNumber&quot;:&quot;42&quot;}">
              <a:hlinkClick r:id="rId10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405544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8f6877f9-7c6a-4938-84cf-0fd586309c5f" descr="{&quot;SlideID&quot;:&quot;334&quot;,&quot;SlideNumber&quot;:&quot;44&quot;}">
              <a:hlinkClick r:id="rId11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444542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081d4092-cfd2-474c-8f59-03156da208fc" descr="{&quot;SlideID&quot;:&quot;335&quot;,&quot;SlideNumber&quot;:&quot;46&quot;}">
              <a:hlinkClick r:id="rId12" action="ppaction://hlinksldjump"/>
              <a:extLst>
                <a:ext uri="{FF2B5EF4-FFF2-40B4-BE49-F238E27FC236}">
                  <a16:creationId xmlns:a16="http://schemas.microsoft.com/office/drawing/2014/main" id="{CC279918-B4EB-4A69-8269-F7D85FE44387}"/>
                </a:ext>
              </a:extLst>
            </p:cNvPr>
            <p:cNvSpPr/>
            <p:nvPr/>
          </p:nvSpPr>
          <p:spPr>
            <a:xfrm>
              <a:off x="4835409" y="6444186"/>
              <a:ext cx="288000" cy="2880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cd9fabb7-cd2b-463b-a24f-e97904dd04d0" descr="{&quot;SlideID&quot;:&quot;336&quot;,&quot;SlideNumber&quot;:&quot;48&quot;}">
              <a:hlinkClick r:id="rId13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521937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43d394a7-f6b0-4880-974e-d9f64ec11199" descr="{&quot;SlideID&quot;:&quot;337&quot;,&quot;SlideNumber&quot;:&quot;50&quot;}">
              <a:hlinkClick r:id="rId14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560334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15" name="yt_shape_12915"/>
          <p:cNvSpPr txBox="1"/>
          <p:nvPr/>
        </p:nvSpPr>
        <p:spPr>
          <a:xfrm>
            <a:off x="324071" y="467999"/>
            <a:ext cx="11924914" cy="173868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11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 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2026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·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浙江温州期中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一辆警车沿平直街道巡逻的速度为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10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m/s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1_4992a"/>
              </a:rPr>
              <a:t>发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现前方某处发生警情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立即前往处理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警车的加速度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随时间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t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5_4479b"/>
              </a:rPr>
              <a:t>变化的关系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图像如图所示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下列说法正确的是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</a:t>
            </a:r>
            <a:r>
              <a:rPr lang="en-US" altLang="zh-CN" sz="2800" b="0" i="0" u="none">
                <a:solidFill>
                  <a:srgbClr val="C00000">
                    <a:alpha val="0"/>
                  </a:srgbClr>
                </a:solidFill>
                <a:effectLst/>
                <a:latin typeface="Times New Roman" pitchFamily="28"/>
                <a:ea typeface="宋体" pitchFamily="28"/>
              </a:rPr>
              <a:t>D</a:t>
            </a:r>
            <a:r>
              <a:rPr lang="zh-CN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</a:p>
        </p:txBody>
      </p:sp>
      <p:graphicFrame>
        <p:nvGraphicFramePr>
          <p:cNvPr id="12917" name="yt_table_12917_skip" title="H_188.16">
            <a:extLst>
              <a:ext uri="{FF2B5EF4-FFF2-40B4-BE49-F238E27FC236}">
                <a16:creationId xmlns:a16="http://schemas.microsoft.com/office/drawing/2014/main" id="{85F9CD91-DE56-4981-AD6D-3D4292DC4A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6815000"/>
              </p:ext>
            </p:extLst>
          </p:nvPr>
        </p:nvGraphicFramePr>
        <p:xfrm>
          <a:off x="324066" y="2257468"/>
          <a:ext cx="5227638" cy="2389632"/>
        </p:xfrm>
        <a:graphic>
          <a:graphicData uri="http://schemas.openxmlformats.org/drawingml/2006/table">
            <a:tbl>
              <a:tblPr/>
              <a:tblGrid>
                <a:gridCol w="5227638">
                  <a:extLst>
                    <a:ext uri="{9D8B030D-6E8A-4147-A177-3AD203B41FA5}">
                      <a16:colId xmlns:a16="http://schemas.microsoft.com/office/drawing/2014/main" val="102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A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警车做匀减速直线运动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03492" indent="-503492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B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t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＝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2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s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时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警车速度为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5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m/s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03492" indent="-503492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C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t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＝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4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s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时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警车速度为零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D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警车的最大速度为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15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m/s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40"/>
                  </a:ext>
                </a:extLst>
              </a:tr>
            </a:tbl>
          </a:graphicData>
        </a:graphic>
      </p:graphicFrame>
      <p:pic>
        <p:nvPicPr>
          <p:cNvPr id="12916" name="yt_image_12916_skip" title="H_158.88">
            <a:extLst>
              <a:ext uri="">
                <a16:creationId xmlns:mc="http://schemas.openxmlformats.org/markup-compatibility/2006" xmlns:a14="http://schemas.microsoft.com/office/drawing/2010/main" xmlns:p14="http://schemas.microsoft.com/office/powerpoint/2010/main" xmlns:p15="http://schemas.microsoft.com/office/powerpoint/2012/main" xmlns:a16="http://schemas.microsoft.com/office/drawing/2014/main" xmlns="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941378" y="2257468"/>
            <a:ext cx="2924681" cy="2017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D8AFB920-9FA1-4E95-AE2D-F19F0BDE6791}"/>
              </a:ext>
            </a:extLst>
          </p:cNvPr>
          <p:cNvSpPr/>
          <p:nvPr/>
        </p:nvSpPr>
        <p:spPr>
          <a:xfrm>
            <a:off x="140230" y="4151492"/>
            <a:ext cx="761669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500" b="1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√</a:t>
            </a:r>
            <a:endParaRPr lang="zh-CN" altLang="en-US" sz="4500" b="1" dirty="0">
              <a:solidFill>
                <a:srgbClr val="C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3816040" y="6445607"/>
            <a:ext cx="4565782" cy="288000"/>
            <a:chOff x="1325563" y="6444186"/>
            <a:chExt cx="4565782" cy="288000"/>
          </a:xfrm>
        </p:grpSpPr>
        <p:sp>
          <p:nvSpPr>
            <p:cNvPr id="9" name="4d6094ea-fff9-4879-b4b3-80303b0c761a" descr="{&quot;SlideID&quot;:&quot;326&quot;,&quot;SlideNumber&quot;:&quot;29&quot;}">
              <a:hlinkClick r:id="rId3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1325563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" name="395209ba-c2de-4438-bb4e-9f187e036f9d" descr="{&quot;SlideID&quot;:&quot;327&quot;,&quot;SlideNumber&quot;:&quot;31&quot;}">
              <a:hlinkClick r:id="rId4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171554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c4b66374-c0eb-4ce5-a105-74e080c2e8ee" descr="{&quot;SlideID&quot;:&quot;328&quot;,&quot;SlideNumber&quot;:&quot;32&quot;}">
              <a:hlinkClick r:id="rId5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2105531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bfd1c8c8-6655-454e-aeeb-ebe631824ea5" descr="{&quot;SlideID&quot;:&quot;329&quot;,&quot;SlideNumber&quot;:&quot;34&quot;}">
              <a:hlinkClick r:id="rId6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249551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f7079e2e-81e1-48a2-a124-1f78360f7b85" descr="{&quot;SlideID&quot;:&quot;330&quot;,&quot;SlideNumber&quot;:&quot;36&quot;}">
              <a:hlinkClick r:id="rId7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2885499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d2269226-6e64-461d-8403-51cd9e13931d" descr="{&quot;SlideID&quot;:&quot;331&quot;,&quot;SlideNumber&quot;:&quot;38&quot;}">
              <a:hlinkClick r:id="rId8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3275481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7d4e6fc1-2f4f-4b74-b78f-146f883b4bb0" descr="{&quot;SlideID&quot;:&quot;332&quot;,&quot;SlideNumber&quot;:&quot;40&quot;}">
              <a:hlinkClick r:id="rId9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3665463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852e6c08-0843-4f3a-961f-b9e2b1a9b8c4" descr="{&quot;SlideID&quot;:&quot;333&quot;,&quot;SlideNumber&quot;:&quot;42&quot;}">
              <a:hlinkClick r:id="rId10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405544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46da0770-507e-4285-bebb-b5bc72813180" descr="{&quot;SlideID&quot;:&quot;334&quot;,&quot;SlideNumber&quot;:&quot;44&quot;}">
              <a:hlinkClick r:id="rId11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444542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c963e162-2beb-4206-bb85-c8127df9a35a" descr="{&quot;SlideID&quot;:&quot;335&quot;,&quot;SlideNumber&quot;:&quot;46&quot;}">
              <a:hlinkClick r:id="rId12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4835409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14f5251f-ec97-403a-b455-c2d48101d39d" descr="{&quot;SlideID&quot;:&quot;336&quot;,&quot;SlideNumber&quot;:&quot;48&quot;}">
              <a:hlinkClick r:id="rId13" action="ppaction://hlinksldjump"/>
              <a:extLst>
                <a:ext uri="{FF2B5EF4-FFF2-40B4-BE49-F238E27FC236}">
                  <a16:creationId xmlns:a16="http://schemas.microsoft.com/office/drawing/2014/main" id="{CC279918-B4EB-4A69-8269-F7D85FE44387}"/>
                </a:ext>
              </a:extLst>
            </p:cNvPr>
            <p:cNvSpPr/>
            <p:nvPr/>
          </p:nvSpPr>
          <p:spPr>
            <a:xfrm>
              <a:off x="5219377" y="6444186"/>
              <a:ext cx="288000" cy="2880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9d97aa86-4a14-468c-a647-9e0206ae6811" descr="{&quot;SlideID&quot;:&quot;337&quot;,&quot;SlideNumber&quot;:&quot;50&quot;}">
              <a:hlinkClick r:id="rId14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560334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med">
        <p15:prstTrans prst="pageCurlDouble"/>
      </p:transition>
    </mc:Choice>
    <mc:Fallback xmlns:a14="http://schemas.microsoft.com/office/drawing/2010/main" xmlns:a16="http://schemas.microsoft.com/office/drawing/2014/main" xmlns:p14="http://schemas.microsoft.com/office/powerpoint/2010/main"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19" name="yt_shape_12919"/>
          <p:cNvSpPr txBox="1"/>
          <p:nvPr/>
        </p:nvSpPr>
        <p:spPr>
          <a:xfrm>
            <a:off x="324071" y="467999"/>
            <a:ext cx="11924914" cy="294516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FF"/>
                </a:solidFill>
                <a:effectLst/>
                <a:latin typeface="Times New Roman" pitchFamily="28"/>
                <a:ea typeface="黑体" pitchFamily="28"/>
              </a:rPr>
              <a:t>解析：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由</a:t>
            </a:r>
            <a:r>
              <a:rPr lang="en-US" altLang="zh-CN" sz="2800" b="0" i="1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-</a:t>
            </a:r>
            <a:r>
              <a:rPr lang="en-US" altLang="zh-CN" sz="2800" b="0" i="1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t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图像可知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～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 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s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内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警车做加速运动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～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4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 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s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内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  <a:sym typeface="_⨹_5_25bf8"/>
              </a:rPr>
              <a:t>警车做减速</a:t>
            </a:r>
            <a:b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</a:b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运动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故警车做变加速直线运动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错误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；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由</a:t>
            </a:r>
            <a:r>
              <a:rPr lang="en-US" altLang="zh-CN" sz="2800" b="0" i="1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-</a:t>
            </a:r>
            <a:r>
              <a:rPr lang="en-US" altLang="zh-CN" sz="2800" b="0" i="1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t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图线所围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仿宋" pitchFamily="28"/>
                <a:ea typeface="仿宋" pitchFamily="28"/>
              </a:rPr>
              <a:t>“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面积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仿宋" pitchFamily="28"/>
                <a:ea typeface="仿宋" pitchFamily="28"/>
              </a:rPr>
              <a:t>”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  <a:sym typeface="_⨹_3_85126"/>
              </a:rPr>
              <a:t>表示速</a:t>
            </a:r>
            <a:b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</a:b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度变化量可知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en-US" altLang="zh-CN" sz="2800" b="0" i="1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t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 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s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时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警车的速度最大为</a:t>
            </a:r>
            <a:r>
              <a:rPr lang="en-US" altLang="zh-CN" sz="2800" b="0" i="1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en-US" altLang="zh-CN" sz="2800" b="0" i="0" u="none" baseline="-2500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m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1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en-US" altLang="zh-CN" sz="2800" b="0" i="0" u="none" baseline="-2500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＋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Δ</a:t>
            </a:r>
            <a:r>
              <a:rPr lang="en-US" altLang="zh-CN" sz="2800" b="0" i="1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15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 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m/s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B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  <a:sym typeface="_⨹_1_ddffb"/>
              </a:rPr>
              <a:t>错</a:t>
            </a:r>
            <a:b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</a:b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误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D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正确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；</a:t>
            </a:r>
            <a:r>
              <a:rPr lang="en-US" altLang="zh-CN" sz="2800" b="0" i="1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t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4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 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s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时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速度变化量为零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警车的速度大小</a:t>
            </a:r>
            <a:r>
              <a:rPr lang="en-US" altLang="zh-CN" sz="2800" b="0" i="1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1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en-US" altLang="zh-CN" sz="2800" b="0" i="0" u="none" baseline="-25000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10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 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m/s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  <a:sym typeface="_⨹_1_b645e"/>
              </a:rPr>
              <a:t>，</a:t>
            </a:r>
            <a:b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</a:b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C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错误。</a:t>
            </a:r>
          </a:p>
        </p:txBody>
      </p:sp>
      <p:grpSp>
        <p:nvGrpSpPr>
          <p:cNvPr id="15" name="组合 14"/>
          <p:cNvGrpSpPr/>
          <p:nvPr/>
        </p:nvGrpSpPr>
        <p:grpSpPr>
          <a:xfrm>
            <a:off x="3816040" y="6445607"/>
            <a:ext cx="4565782" cy="288000"/>
            <a:chOff x="1325563" y="6444186"/>
            <a:chExt cx="4565782" cy="288000"/>
          </a:xfrm>
        </p:grpSpPr>
        <p:sp>
          <p:nvSpPr>
            <p:cNvPr id="9" name="9b23dab3-8039-42e6-81d6-cb0ae0473e26" descr="{&quot;SlideID&quot;:&quot;326&quot;,&quot;SlideNumber&quot;:&quot;29&quot;}">
              <a:hlinkClick r:id="rId2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1325563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" name="08928a08-c7b6-4411-9444-4a8559ec58a5" descr="{&quot;SlideID&quot;:&quot;327&quot;,&quot;SlideNumber&quot;:&quot;31&quot;}">
              <a:hlinkClick r:id="rId3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171554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f6353ce2-5786-4baa-9751-38d8a185ab1c" descr="{&quot;SlideID&quot;:&quot;328&quot;,&quot;SlideNumber&quot;:&quot;32&quot;}">
              <a:hlinkClick r:id="rId4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2105531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3c14bc2c-5ae2-4a87-ad75-da39dfcd3ab8" descr="{&quot;SlideID&quot;:&quot;329&quot;,&quot;SlideNumber&quot;:&quot;34&quot;}">
              <a:hlinkClick r:id="rId5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249551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7053c86a-456a-4087-9ccb-5fe9fd2d9792" descr="{&quot;SlideID&quot;:&quot;330&quot;,&quot;SlideNumber&quot;:&quot;36&quot;}">
              <a:hlinkClick r:id="rId6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2885499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b2abe599-0400-47fb-8cb0-54d7d34eee92" descr="{&quot;SlideID&quot;:&quot;331&quot;,&quot;SlideNumber&quot;:&quot;38&quot;}">
              <a:hlinkClick r:id="rId7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3275481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d01dc3ce-987a-40dd-b813-a98dfbfee717" descr="{&quot;SlideID&quot;:&quot;332&quot;,&quot;SlideNumber&quot;:&quot;40&quot;}">
              <a:hlinkClick r:id="rId8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3665463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c0a47669-cca2-4f19-ab24-3be62ccdd988" descr="{&quot;SlideID&quot;:&quot;333&quot;,&quot;SlideNumber&quot;:&quot;42&quot;}">
              <a:hlinkClick r:id="rId9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405544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4ca83b28-633a-4fe8-bea1-89122d864685" descr="{&quot;SlideID&quot;:&quot;334&quot;,&quot;SlideNumber&quot;:&quot;44&quot;}">
              <a:hlinkClick r:id="rId10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444542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0d874595-847c-4879-aef9-c4a291ed9a4f" descr="{&quot;SlideID&quot;:&quot;335&quot;,&quot;SlideNumber&quot;:&quot;46&quot;}">
              <a:hlinkClick r:id="rId11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4835409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bb1e3171-b121-4115-818a-3d6698d0edca" descr="{&quot;SlideID&quot;:&quot;336&quot;,&quot;SlideNumber&quot;:&quot;48&quot;}">
              <a:hlinkClick r:id="rId12" action="ppaction://hlinksldjump"/>
              <a:extLst>
                <a:ext uri="{FF2B5EF4-FFF2-40B4-BE49-F238E27FC236}">
                  <a16:creationId xmlns:a16="http://schemas.microsoft.com/office/drawing/2014/main" id="{CC279918-B4EB-4A69-8269-F7D85FE44387}"/>
                </a:ext>
              </a:extLst>
            </p:cNvPr>
            <p:cNvSpPr/>
            <p:nvPr/>
          </p:nvSpPr>
          <p:spPr>
            <a:xfrm>
              <a:off x="5219377" y="6444186"/>
              <a:ext cx="288000" cy="2880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cf9c8958-0ad0-4ef2-bde8-e290ee4b708c" descr="{&quot;SlideID&quot;:&quot;337&quot;,&quot;SlideNumber&quot;:&quot;50&quot;}">
              <a:hlinkClick r:id="rId13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560334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20" name="yt_shape_12920"/>
          <p:cNvSpPr txBox="1"/>
          <p:nvPr/>
        </p:nvSpPr>
        <p:spPr>
          <a:xfrm>
            <a:off x="324071" y="467999"/>
            <a:ext cx="11924914" cy="2341923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12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 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2026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·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浙江温州期末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19_75276"/>
              </a:rPr>
              <a:t>图像在解决物理问题中扮演着至关重要的角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色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它们不仅能够直观地展示物理现象和规律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11_4549a"/>
              </a:rPr>
              <a:t>还能帮助学生更好地理解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和分析物理问题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如图所示的四幅图分别为四个物体做直线运动的图像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  <a:sym typeface="_⨹_1_49b3c"/>
              </a:rPr>
              <a:t>，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下列说法正确的是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</a:t>
            </a:r>
            <a:r>
              <a:rPr lang="en-US" altLang="zh-CN" sz="2800" b="0" i="0" u="none">
                <a:solidFill>
                  <a:srgbClr val="C00000">
                    <a:alpha val="0"/>
                  </a:srgbClr>
                </a:solidFill>
                <a:effectLst/>
                <a:latin typeface="Times New Roman" pitchFamily="28"/>
                <a:ea typeface="宋体" pitchFamily="28"/>
              </a:rPr>
              <a:t>B</a:t>
            </a:r>
            <a:r>
              <a:rPr lang="zh-CN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923" name="yt_table_12923_skip" title="H_182.71">
                <a:extLst>
                  <a:ext uri="{FF2B5EF4-FFF2-40B4-BE49-F238E27FC236}">
                    <a16:creationId xmlns:a16="http://schemas.microsoft.com/office/drawing/2014/main" id="{85F9CD91-DE56-4981-AD6D-3D4292DC4A2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24095592"/>
                  </p:ext>
                </p:extLst>
              </p:nvPr>
            </p:nvGraphicFramePr>
            <p:xfrm>
              <a:off x="323994" y="4577537"/>
              <a:ext cx="11543919" cy="1848803"/>
            </p:xfrm>
            <a:graphic>
              <a:graphicData uri="http://schemas.openxmlformats.org/drawingml/2006/table">
                <a:tbl>
                  <a:tblPr/>
                  <a:tblGrid>
                    <a:gridCol w="11543919">
                      <a:extLst>
                        <a:ext uri="{9D8B030D-6E8A-4147-A177-3AD203B41FA5}">
                          <a16:colId xmlns:a16="http://schemas.microsoft.com/office/drawing/2014/main" val="1027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523174" indent="-523174" algn="l" eaLnBrk="1" latinLnBrk="0" hangingPunct="0">
                            <a:lnSpc>
                              <a:spcPct val="100000"/>
                            </a:lnSpc>
                          </a:pP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A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.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甲图中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，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物体在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0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～</a:t>
                          </a:r>
                          <a:r>
                            <a:rPr lang="en-US" altLang="zh-CN" sz="2800" b="0" i="1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t</a:t>
                          </a:r>
                          <a:r>
                            <a:rPr lang="en-US" altLang="zh-CN" sz="2800" b="0" i="0" u="none" baseline="-2500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0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这段时间内的平均速度等于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altLang="zh-CN" sz="28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56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zh-CN" sz="2800" b="0" i="1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56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800" b="0" i="1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56" charset="0"/>
                                          <a:ea typeface="Cambria Math" panose="02040503050406030204" pitchFamily="56" charset="0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a:rPr lang="en-US" altLang="zh-CN" sz="2800" b="0" i="0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56" charset="0"/>
                                          <a:ea typeface="Cambria Math" panose="02040503050406030204" pitchFamily="56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altLang="zh-CN" sz="2800" b="0" i="0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56" charset="0"/>
                                      <a:ea typeface="Cambria Math" panose="02040503050406030204" pitchFamily="56" charset="0"/>
                                    </a:rPr>
                                    <m:t>2</m:t>
                                  </m:r>
                                </m:den>
                              </m:f>
                            </m:oMath>
                          </a14:m>
                          <a:endParaRPr lang="zh-CN" altLang="zh-CN" sz="2800" b="0" i="0" u="none">
                            <a:solidFill>
                              <a:srgbClr val="000000"/>
                            </a:solidFill>
                            <a:effectLst/>
                            <a:latin typeface="Times New Roman" pitchFamily="28"/>
                            <a:ea typeface="宋体" pitchFamily="28"/>
                          </a:endParaRPr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74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503492" indent="-503492" algn="l" eaLnBrk="1" latinLnBrk="0" hangingPunct="0">
                            <a:lnSpc>
                              <a:spcPct val="100000"/>
                            </a:lnSpc>
                          </a:pP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B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.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乙图中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，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物体做匀减速直线运动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，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其加速度大小为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5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m/s</a:t>
                          </a:r>
                          <a:r>
                            <a:rPr lang="en-US" altLang="zh-CN" sz="2800" b="0" i="0" u="none" baseline="3000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2</a:t>
                          </a:r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74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503492" indent="-503492" algn="l" eaLnBrk="1" latinLnBrk="0" hangingPunct="0">
                            <a:lnSpc>
                              <a:spcPct val="100000"/>
                            </a:lnSpc>
                          </a:pP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C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.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丙图中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，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若物体从静止开始运动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，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则在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0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～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6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s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内物体的位移等于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18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m</a:t>
                          </a:r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74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523174" indent="-523174" algn="l" eaLnBrk="1" latinLnBrk="0" hangingPunct="0">
                            <a:lnSpc>
                              <a:spcPct val="100000"/>
                            </a:lnSpc>
                          </a:pP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D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.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丁图中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，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物体做匀加速直线运动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，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其加速度大小为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2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m/s</a:t>
                          </a:r>
                          <a:r>
                            <a:rPr lang="en-US" altLang="zh-CN" sz="2800" b="0" i="0" u="none" baseline="3000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2</a:t>
                          </a:r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744"/>
                      </a:ext>
                    </a:extLst>
                  </a:tr>
                </a:tbl>
              </a:graphicData>
            </a:graphic>
          </p:graphicFrame>
        </mc:Choice>
        <mc:Fallback xmlns:p15="http://schemas.microsoft.com/office/powerpoint/2012/main" xmlns:p14="http://schemas.microsoft.com/office/powerpoint/2010/main" xmlns:a16="http://schemas.microsoft.com/office/drawing/2014/main" xmlns="">
          <p:graphicFrame>
            <p:nvGraphicFramePr>
              <p:cNvPr id="12923" name="yt_table_12923_skip" title="H_182.71">
                <a:extLst>
                  <a:ext uri="{FF2B5EF4-FFF2-40B4-BE49-F238E27FC236}">
                    <a16:creationId xmlns:a16="http://schemas.microsoft.com/office/drawing/2014/main" id="{85F9CD91-DE56-4981-AD6D-3D4292DC4A2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24095592"/>
                  </p:ext>
                </p:extLst>
              </p:nvPr>
            </p:nvGraphicFramePr>
            <p:xfrm>
              <a:off x="323994" y="4577537"/>
              <a:ext cx="11543919" cy="1848803"/>
            </p:xfrm>
            <a:graphic>
              <a:graphicData uri="http://schemas.openxmlformats.org/drawingml/2006/table">
                <a:tbl>
                  <a:tblPr/>
                  <a:tblGrid>
                    <a:gridCol w="11543919">
                      <a:extLst>
                        <a:ext uri="{9D8B030D-6E8A-4147-A177-3AD203B41FA5}">
                          <a16:colId xmlns:a16="http://schemas.microsoft.com/office/drawing/2014/main" val="10271"/>
                        </a:ext>
                      </a:extLst>
                    </a:gridCol>
                  </a:tblGrid>
                  <a:tr h="568643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  <a:blipFill>
                          <a:blip r:embed="rId2"/>
                          <a:stretch>
                            <a:fillRect t="-13830" b="-26276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741"/>
                      </a:ext>
                    </a:extLst>
                  </a:tr>
                  <a:tr h="426720">
                    <a:tc>
                      <a:txBody>
                        <a:bodyPr/>
                        <a:lstStyle/>
                        <a:p>
                          <a:pPr marL="503492" indent="-503492" algn="l" eaLnBrk="1" latinLnBrk="0" hangingPunct="0">
                            <a:lnSpc>
                              <a:spcPct val="100000"/>
                            </a:lnSpc>
                          </a:pP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B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.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乙图中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，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物体做匀减速直线运动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，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其加速度大小为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5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m/s</a:t>
                          </a:r>
                          <a:r>
                            <a:rPr lang="en-US" altLang="zh-CN" sz="2800" b="0" i="0" u="none" baseline="3000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2</a:t>
                          </a:r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742"/>
                      </a:ext>
                    </a:extLst>
                  </a:tr>
                  <a:tr h="426720">
                    <a:tc>
                      <a:txBody>
                        <a:bodyPr/>
                        <a:lstStyle/>
                        <a:p>
                          <a:pPr marL="503492" indent="-503492" algn="l" eaLnBrk="1" latinLnBrk="0" hangingPunct="0">
                            <a:lnSpc>
                              <a:spcPct val="100000"/>
                            </a:lnSpc>
                          </a:pP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C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.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丙图中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，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若物体从静止开始运动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，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则在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0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～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6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s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内物体的位移等于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18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m</a:t>
                          </a:r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743"/>
                      </a:ext>
                    </a:extLst>
                  </a:tr>
                  <a:tr h="426720">
                    <a:tc>
                      <a:txBody>
                        <a:bodyPr/>
                        <a:lstStyle/>
                        <a:p>
                          <a:pPr marL="523174" indent="-523174" algn="l" eaLnBrk="1" latinLnBrk="0" hangingPunct="0">
                            <a:lnSpc>
                              <a:spcPct val="100000"/>
                            </a:lnSpc>
                          </a:pP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D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.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丁图中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，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物体做匀加速直线运动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宋体" pitchFamily="28"/>
                              <a:ea typeface="宋体" pitchFamily="28"/>
                            </a:rPr>
                            <a:t>，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其加速度大小为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2</a:t>
                          </a:r>
                          <a:r>
                            <a:rPr lang="zh-CN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 </a:t>
                          </a:r>
                          <a:r>
                            <a:rPr lang="en-US" altLang="zh-CN" sz="28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m/s</a:t>
                          </a:r>
                          <a:r>
                            <a:rPr lang="en-US" altLang="zh-CN" sz="2800" b="0" i="0" u="none" baseline="30000">
                              <a:solidFill>
                                <a:srgbClr val="000000"/>
                              </a:solidFill>
                              <a:effectLst/>
                              <a:latin typeface="Times New Roman" pitchFamily="28"/>
                              <a:ea typeface="宋体" pitchFamily="28"/>
                            </a:rPr>
                            <a:t>2</a:t>
                          </a:r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744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2921" name="yt_image_12921_skip" title="H_161.76">
            <a:extLst>
              <a:ext uri="">
                <a16:creationId xmlns:p14="http://schemas.microsoft.com/office/powerpoint/2010/main" xmlns:a14="http://schemas.microsoft.com/office/drawing/2010/main" xmlns:mc="http://schemas.openxmlformats.org/markup-compatibility/2006" xmlns:p15="http://schemas.microsoft.com/office/powerpoint/2012/main" xmlns:a16="http://schemas.microsoft.com/office/drawing/2014/main" xmlns="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3994" y="2807495"/>
            <a:ext cx="5669758" cy="18045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922" name="yt_image_12922_skip" title="H_160.08">
            <a:extLst>
              <a:ext uri="">
                <a16:creationId xmlns:p14="http://schemas.microsoft.com/office/powerpoint/2010/main" xmlns:a14="http://schemas.microsoft.com/office/drawing/2010/main" xmlns:mc="http://schemas.openxmlformats.org/markup-compatibility/2006" xmlns:p15="http://schemas.microsoft.com/office/powerpoint/2012/main" xmlns:a16="http://schemas.microsoft.com/office/drawing/2014/main" xmlns="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650151" y="2898312"/>
            <a:ext cx="5442324" cy="17137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D8AFB920-9FA1-4E95-AE2D-F19F0BDE6791}"/>
              </a:ext>
            </a:extLst>
          </p:cNvPr>
          <p:cNvSpPr/>
          <p:nvPr/>
        </p:nvSpPr>
        <p:spPr>
          <a:xfrm>
            <a:off x="99432" y="5028570"/>
            <a:ext cx="761669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500" b="1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√</a:t>
            </a:r>
            <a:endParaRPr lang="zh-CN" altLang="en-US" sz="4500" b="1" dirty="0">
              <a:solidFill>
                <a:srgbClr val="C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3816040" y="6445607"/>
            <a:ext cx="4565782" cy="288000"/>
            <a:chOff x="1325563" y="6444186"/>
            <a:chExt cx="4565782" cy="288000"/>
          </a:xfrm>
        </p:grpSpPr>
        <p:sp>
          <p:nvSpPr>
            <p:cNvPr id="9" name="3c2cd3e9-93b0-4e32-830d-a438a8af50e5" descr="{&quot;SlideID&quot;:&quot;326&quot;,&quot;SlideNumber&quot;:&quot;29&quot;}">
              <a:hlinkClick r:id="rId5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1325563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e7c24f9a-7f5f-4ff8-a782-355b6223dcd6" descr="{&quot;SlideID&quot;:&quot;327&quot;,&quot;SlideNumber&quot;:&quot;31&quot;}">
              <a:hlinkClick r:id="rId6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171554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dd3beb07-e967-4dd2-badb-119fd93be275" descr="{&quot;SlideID&quot;:&quot;328&quot;,&quot;SlideNumber&quot;:&quot;32&quot;}">
              <a:hlinkClick r:id="rId7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2105531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bf426325-1810-4cdb-96ab-d67562f42f90" descr="{&quot;SlideID&quot;:&quot;329&quot;,&quot;SlideNumber&quot;:&quot;34&quot;}">
              <a:hlinkClick r:id="rId8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249551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da81a91c-8720-4198-9980-1ff3d8e1da97" descr="{&quot;SlideID&quot;:&quot;330&quot;,&quot;SlideNumber&quot;:&quot;36&quot;}">
              <a:hlinkClick r:id="rId9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2885499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c280c7a4-f32d-409d-abc1-2882e1197a2f" descr="{&quot;SlideID&quot;:&quot;331&quot;,&quot;SlideNumber&quot;:&quot;38&quot;}">
              <a:hlinkClick r:id="rId10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3275481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f8d55bf8-7693-418b-ac40-ade39196f10f" descr="{&quot;SlideID&quot;:&quot;332&quot;,&quot;SlideNumber&quot;:&quot;40&quot;}">
              <a:hlinkClick r:id="rId11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3665463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580208f0-0a97-4303-aa99-ead6938cca8f" descr="{&quot;SlideID&quot;:&quot;333&quot;,&quot;SlideNumber&quot;:&quot;42&quot;}">
              <a:hlinkClick r:id="rId12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405544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1d44e2f8-4d59-450c-8f7d-3cf02bb812eb" descr="{&quot;SlideID&quot;:&quot;334&quot;,&quot;SlideNumber&quot;:&quot;44&quot;}">
              <a:hlinkClick r:id="rId13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444542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5d8ba57b-e24b-4225-9bf8-ad5d9d21f16c" descr="{&quot;SlideID&quot;:&quot;335&quot;,&quot;SlideNumber&quot;:&quot;46&quot;}">
              <a:hlinkClick r:id="rId14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4835409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a9ec0b06-e34a-4b91-b78b-582fbe86d174" descr="{&quot;SlideID&quot;:&quot;336&quot;,&quot;SlideNumber&quot;:&quot;48&quot;}">
              <a:hlinkClick r:id="rId15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521937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7bff512b-09af-4bbf-b5c2-f785bd51e63d" descr="{&quot;SlideID&quot;:&quot;337&quot;,&quot;SlideNumber&quot;:&quot;50&quot;}">
              <a:hlinkClick r:id="rId16" action="ppaction://hlinksldjump"/>
              <a:extLst>
                <a:ext uri="{FF2B5EF4-FFF2-40B4-BE49-F238E27FC236}">
                  <a16:creationId xmlns:a16="http://schemas.microsoft.com/office/drawing/2014/main" id="{CC279918-B4EB-4A69-8269-F7D85FE44387}"/>
                </a:ext>
              </a:extLst>
            </p:cNvPr>
            <p:cNvSpPr/>
            <p:nvPr/>
          </p:nvSpPr>
          <p:spPr>
            <a:xfrm>
              <a:off x="5603345" y="6444186"/>
              <a:ext cx="288000" cy="2880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med">
        <p15:prstTrans prst="pageCurlDouble"/>
      </p:transition>
    </mc:Choice>
    <mc:Fallback xmlns:a16="http://schemas.microsoft.com/office/drawing/2014/main" xmlns:p14="http://schemas.microsoft.com/office/powerpoint/2010/main" xmlns:a14="http://schemas.microsoft.com/office/drawing/2010/main"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2924" name="yt_shape_12924"/>
              <p:cNvSpPr txBox="1"/>
              <p:nvPr/>
            </p:nvSpPr>
            <p:spPr>
              <a:xfrm>
                <a:off x="324071" y="468103"/>
                <a:ext cx="11543998" cy="4756302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20000"/>
                  </a:lnSpc>
                </a:pPr>
                <a:r>
                  <a:rPr lang="zh-CN" altLang="zh-CN" sz="2800" b="0" i="0" u="none">
                    <a:solidFill>
                      <a:srgbClr val="0000FF"/>
                    </a:solidFill>
                    <a:effectLst/>
                    <a:latin typeface="Times New Roman" pitchFamily="28"/>
                    <a:ea typeface="黑体" pitchFamily="28"/>
                  </a:rPr>
                  <a:t>解析：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根据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-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图像与横轴围成的面积表示位移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由题图甲可知物体在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～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  <a:sym typeface="_⨹_1_3871f"/>
                  </a:rPr>
                  <a:t>0</a:t>
                </a:r>
                <a:b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</a:b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这段时间内的位移满足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x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＞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t</a:t>
                </a:r>
                <a:r>
                  <a:rPr lang="en-US" altLang="zh-CN" sz="2800" b="0" i="0" u="none" baseline="-25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则平均速度满足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barPr>
                      <m:e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𝑣</m:t>
                        </m:r>
                      </m:e>
                    </m:bar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𝑥</m:t>
                        </m:r>
                      </m:num>
                      <m:den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0</m:t>
                            </m:r>
                          </m:sub>
                        </m:sSub>
                      </m:den>
                    </m:f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＞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故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错误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；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1_9897f"/>
                  </a:rPr>
                  <a:t>根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据速度与位移之间的关系式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en-US" altLang="zh-CN" sz="2800" b="0" i="0" u="none" baseline="30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－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0</m:t>
                            </m:r>
                          </m:sub>
                        </m:sSub>
                      </m:e>
                      <m:sup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ax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整理可得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v</a:t>
                </a:r>
                <a:r>
                  <a:rPr lang="en-US" altLang="zh-CN" sz="2800" b="0" i="0" u="none" baseline="30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ax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＋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0</m:t>
                            </m:r>
                          </m:sub>
                        </m:sSub>
                      </m:e>
                      <m:sup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3_dd5a8"/>
                  </a:rPr>
                  <a:t>可知题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图乙中图像的斜率为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＝－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400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40</m:t>
                        </m:r>
                      </m:den>
                    </m:f>
                  </m:oMath>
                </a14:m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m/s</a:t>
                </a:r>
                <a:r>
                  <a:rPr lang="en-US" altLang="zh-CN" sz="2800" b="0" i="0" u="none" baseline="30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＝－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10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m/s</a:t>
                </a:r>
                <a:r>
                  <a:rPr lang="en-US" altLang="zh-CN" sz="2800" b="0" i="0" u="none" baseline="30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解得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＝－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5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m/s</a:t>
                </a:r>
                <a:r>
                  <a:rPr lang="en-US" altLang="zh-CN" sz="2800" b="0" i="0" u="none" baseline="30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3_2a727"/>
                  </a:rPr>
                  <a:t>由此可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知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题图乙中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物体做匀减速直线运动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其加速度大小为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5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m/s</a:t>
                </a:r>
                <a:r>
                  <a:rPr lang="en-US" altLang="zh-CN" sz="2800" b="0" i="0" u="none" baseline="30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故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B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1_15f82"/>
                  </a:rPr>
                  <a:t>正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确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；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如果物体做加速度为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m/s</a:t>
                </a:r>
                <a:r>
                  <a:rPr lang="en-US" altLang="zh-CN" sz="2800" b="0" i="0" u="none" baseline="30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的匀加速直线运动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则在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～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6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s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5_a045c"/>
                  </a:rPr>
                  <a:t>内物体的位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移为</a:t>
                </a:r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x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2800" b="0" i="1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at</a:t>
                </a:r>
                <a:r>
                  <a:rPr lang="en-US" altLang="zh-CN" sz="2800" b="0" i="0" u="none" baseline="30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b="0" i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×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×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6</a:t>
                </a:r>
                <a:r>
                  <a:rPr lang="en-US" altLang="zh-CN" sz="2800" b="0" i="0" u="none" baseline="3000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36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但根据题图丙可知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8_80874"/>
                  </a:rPr>
                  <a:t>物体做加速度增大</a:t>
                </a:r>
                <a:b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的变加速运动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因此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其在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0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～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6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s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内的位移一定大于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36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m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故</a:t>
                </a:r>
                <a:r>
                  <a:rPr lang="en-US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C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错误</a:t>
                </a:r>
                <a:r>
                  <a:rPr lang="zh-CN" altLang="zh-CN" sz="2800" b="0" i="0" u="none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；</a:t>
                </a:r>
                <a:endParaRPr lang="zh-CN" altLang="zh-CN" sz="2800" b="0" i="0" u="none">
                  <a:solidFill>
                    <a:srgbClr val="C00000"/>
                  </a:solidFill>
                  <a:effectLst/>
                  <a:latin typeface="Times New Roman" pitchFamily="28"/>
                  <a:ea typeface="仿宋" pitchFamily="28"/>
                </a:endParaRPr>
              </a:p>
            </p:txBody>
          </p:sp>
        </mc:Choice>
        <mc:Fallback xmlns:a16="http://schemas.microsoft.com/office/drawing/2014/main" xmlns="">
          <p:sp>
            <p:nvSpPr>
              <p:cNvPr id="12924" name="yt_shape_129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71" y="468103"/>
                <a:ext cx="11543998" cy="4756302"/>
              </a:xfrm>
              <a:prstGeom prst="rect">
                <a:avLst/>
              </a:prstGeom>
              <a:blipFill>
                <a:blip r:embed="rId2"/>
                <a:stretch>
                  <a:fillRect l="-1848" t="-1923" r="-1373" b="-37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yt_shape_2">
                <a:extLst>
                  <a:ext uri="{FF2B5EF4-FFF2-40B4-BE49-F238E27FC236}">
                    <a16:creationId xmlns:a16="http://schemas.microsoft.com/office/drawing/2014/main" id="{BD222A11-1154-CD49-53E6-85CF059857B9}"/>
                  </a:ext>
                </a:extLst>
              </p:cNvPr>
              <p:cNvSpPr txBox="1"/>
              <p:nvPr/>
            </p:nvSpPr>
            <p:spPr>
              <a:xfrm>
                <a:off x="324071" y="5275205"/>
                <a:ext cx="11927459" cy="1206549"/>
              </a:xfrm>
              <a:prstGeom prst="rect">
                <a:avLst/>
              </a:prstGeom>
              <a:noFill/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0" tIns="0" rIns="0" bIns="0" rtlCol="0">
                <a:no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zh-CN" sz="2800">
                    <a:solidFill>
                      <a:srgbClr val="C00000"/>
                    </a:solidFill>
                    <a:latin typeface="Times New Roman" pitchFamily="28"/>
                    <a:ea typeface="仿宋" pitchFamily="28"/>
                  </a:rPr>
                  <a:t>根据</a:t>
                </a:r>
                <a:r>
                  <a:rPr lang="en-US" altLang="zh-CN" sz="2800" i="1">
                    <a:solidFill>
                      <a:srgbClr val="C00000"/>
                    </a:solidFill>
                    <a:latin typeface="Times New Roman" pitchFamily="28"/>
                    <a:ea typeface="宋体" pitchFamily="28"/>
                  </a:rPr>
                  <a:t>x</a:t>
                </a:r>
                <a:r>
                  <a:rPr lang="zh-CN" altLang="zh-CN" sz="2800">
                    <a:solidFill>
                      <a:srgbClr val="C00000"/>
                    </a:solidFill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>
                            <a:solidFill>
                              <a:srgbClr val="C00000"/>
                            </a:solidFill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>
                            <a:solidFill>
                              <a:srgbClr val="C00000"/>
                            </a:solidFill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2800" i="1">
                    <a:solidFill>
                      <a:srgbClr val="C00000"/>
                    </a:solidFill>
                    <a:latin typeface="Times New Roman" pitchFamily="28"/>
                    <a:ea typeface="宋体" pitchFamily="28"/>
                  </a:rPr>
                  <a:t>at</a:t>
                </a:r>
                <a:r>
                  <a:rPr lang="en-US" altLang="zh-CN" sz="2800" baseline="30000">
                    <a:solidFill>
                      <a:srgbClr val="C00000"/>
                    </a:solidFill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>
                    <a:solidFill>
                      <a:srgbClr val="C00000"/>
                    </a:solidFill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>
                    <a:solidFill>
                      <a:srgbClr val="C00000"/>
                    </a:solidFill>
                    <a:latin typeface="Times New Roman" pitchFamily="28"/>
                    <a:ea typeface="仿宋" pitchFamily="28"/>
                  </a:rPr>
                  <a:t>可知图线斜率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>
                            <a:solidFill>
                              <a:srgbClr val="C00000"/>
                            </a:solidFill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>
                            <a:solidFill>
                              <a:srgbClr val="C00000"/>
                            </a:solidFill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2800" i="1">
                    <a:solidFill>
                      <a:srgbClr val="C00000"/>
                    </a:solidFill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>
                    <a:solidFill>
                      <a:srgbClr val="C00000"/>
                    </a:solidFill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>
                            <a:solidFill>
                              <a:srgbClr val="C00000"/>
                            </a:solidFill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4</m:t>
                        </m:r>
                      </m:num>
                      <m:den>
                        <m:r>
                          <a:rPr lang="en-US" altLang="zh-CN" sz="2800">
                            <a:solidFill>
                              <a:srgbClr val="C00000"/>
                            </a:solidFill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zh-CN" altLang="zh-CN" sz="2800">
                    <a:solidFill>
                      <a:srgbClr val="C00000"/>
                    </a:solidFill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>
                    <a:solidFill>
                      <a:srgbClr val="C00000"/>
                    </a:solidFill>
                    <a:latin typeface="Times New Roman" pitchFamily="28"/>
                    <a:ea typeface="宋体" pitchFamily="28"/>
                  </a:rPr>
                  <a:t>m/s</a:t>
                </a:r>
                <a:r>
                  <a:rPr lang="en-US" altLang="zh-CN" sz="2800" baseline="30000">
                    <a:solidFill>
                      <a:srgbClr val="C00000"/>
                    </a:solidFill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>
                    <a:solidFill>
                      <a:srgbClr val="C00000"/>
                    </a:solidFill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>
                    <a:solidFill>
                      <a:srgbClr val="C00000"/>
                    </a:solidFill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>
                    <a:solidFill>
                      <a:srgbClr val="C00000"/>
                    </a:solidFill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>
                    <a:solidFill>
                      <a:srgbClr val="C00000"/>
                    </a:solidFill>
                    <a:latin typeface="Times New Roman" pitchFamily="28"/>
                    <a:ea typeface="宋体" pitchFamily="28"/>
                  </a:rPr>
                  <a:t>m/s</a:t>
                </a:r>
                <a:r>
                  <a:rPr lang="en-US" altLang="zh-CN" sz="2800" baseline="30000">
                    <a:solidFill>
                      <a:srgbClr val="C00000"/>
                    </a:solidFill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>
                    <a:solidFill>
                      <a:srgbClr val="C00000"/>
                    </a:solidFill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>
                    <a:solidFill>
                      <a:srgbClr val="C00000"/>
                    </a:solidFill>
                    <a:latin typeface="Times New Roman" pitchFamily="28"/>
                    <a:ea typeface="仿宋" pitchFamily="28"/>
                  </a:rPr>
                  <a:t>则加速度大小为</a:t>
                </a:r>
                <a:r>
                  <a:rPr lang="en-US" altLang="zh-CN" sz="2800" i="1">
                    <a:solidFill>
                      <a:srgbClr val="C00000"/>
                    </a:solidFill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>
                    <a:solidFill>
                      <a:srgbClr val="C00000"/>
                    </a:solidFill>
                    <a:latin typeface="宋体" pitchFamily="28"/>
                    <a:ea typeface="宋体" pitchFamily="28"/>
                  </a:rPr>
                  <a:t>＝</a:t>
                </a:r>
                <a:r>
                  <a:rPr lang="en-US" altLang="zh-CN" sz="2800">
                    <a:solidFill>
                      <a:srgbClr val="C00000"/>
                    </a:solidFill>
                    <a:latin typeface="Times New Roman" pitchFamily="28"/>
                    <a:ea typeface="宋体" pitchFamily="28"/>
                  </a:rPr>
                  <a:t>4</a:t>
                </a:r>
                <a:r>
                  <a:rPr lang="zh-CN" altLang="zh-CN" sz="2800">
                    <a:solidFill>
                      <a:srgbClr val="C00000"/>
                    </a:solidFill>
                    <a:latin typeface="Times New Roman" pitchFamily="28"/>
                    <a:ea typeface="仿宋" pitchFamily="28"/>
                  </a:rPr>
                  <a:t> </a:t>
                </a:r>
                <a:r>
                  <a:rPr lang="en-US" altLang="zh-CN" sz="2800">
                    <a:solidFill>
                      <a:srgbClr val="C00000"/>
                    </a:solidFill>
                    <a:latin typeface="Times New Roman" pitchFamily="28"/>
                    <a:ea typeface="宋体" pitchFamily="28"/>
                  </a:rPr>
                  <a:t>m/s</a:t>
                </a:r>
                <a:r>
                  <a:rPr lang="en-US" altLang="zh-CN" sz="2800" baseline="30000">
                    <a:solidFill>
                      <a:srgbClr val="C00000"/>
                    </a:solidFill>
                    <a:latin typeface="Times New Roman" pitchFamily="28"/>
                    <a:ea typeface="宋体" pitchFamily="28"/>
                    <a:sym typeface="_⨹_1_3779c"/>
                  </a:rPr>
                  <a:t>2</a:t>
                </a:r>
                <a:br>
                  <a:rPr lang="en-US" altLang="zh-CN" sz="2800" baseline="30000">
                    <a:solidFill>
                      <a:srgbClr val="C00000"/>
                    </a:solidFill>
                    <a:latin typeface="Times New Roman" pitchFamily="28"/>
                    <a:ea typeface="宋体" pitchFamily="28"/>
                  </a:rPr>
                </a:br>
                <a:r>
                  <a:rPr lang="zh-CN" altLang="zh-CN" sz="2800">
                    <a:solidFill>
                      <a:srgbClr val="C00000"/>
                    </a:solidFill>
                    <a:latin typeface="Times New Roman" pitchFamily="28"/>
                    <a:ea typeface="仿宋" pitchFamily="28"/>
                  </a:rPr>
                  <a:t>故</a:t>
                </a:r>
                <a:r>
                  <a:rPr lang="en-US" altLang="zh-CN" sz="2800">
                    <a:solidFill>
                      <a:srgbClr val="C00000"/>
                    </a:solidFill>
                    <a:latin typeface="Times New Roman" pitchFamily="28"/>
                    <a:ea typeface="宋体" pitchFamily="28"/>
                  </a:rPr>
                  <a:t>D</a:t>
                </a:r>
                <a:r>
                  <a:rPr lang="zh-CN" altLang="zh-CN" sz="2800">
                    <a:solidFill>
                      <a:srgbClr val="C00000"/>
                    </a:solidFill>
                    <a:latin typeface="Times New Roman" pitchFamily="28"/>
                    <a:ea typeface="仿宋" pitchFamily="28"/>
                  </a:rPr>
                  <a:t>错误。</a:t>
                </a:r>
                <a:endParaRPr lang="zh-CN" altLang="en-US">
                  <a:solidFill>
                    <a:srgbClr val="C00000"/>
                  </a:solidFill>
                </a:endParaRPr>
              </a:p>
            </p:txBody>
          </p:sp>
        </mc:Choice>
        <mc:Fallback xmlns:a16="http://schemas.microsoft.com/office/drawing/2014/main" xmlns="">
          <p:sp>
            <p:nvSpPr>
              <p:cNvPr id="3" name="yt_shape_2">
                <a:extLst>
                  <a:ext uri="{FF2B5EF4-FFF2-40B4-BE49-F238E27FC236}">
                    <a16:creationId xmlns:a16="http://schemas.microsoft.com/office/drawing/2014/main" id="{BD222A11-1154-CD49-53E6-85CF059857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71" y="5275205"/>
                <a:ext cx="11927459" cy="1206549"/>
              </a:xfrm>
              <a:prstGeom prst="rect">
                <a:avLst/>
              </a:prstGeom>
              <a:blipFill>
                <a:blip r:embed="rId3"/>
                <a:stretch>
                  <a:fillRect l="-1788" b="-17172"/>
                </a:stretch>
              </a:blipFill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" name="组合 15"/>
          <p:cNvGrpSpPr/>
          <p:nvPr/>
        </p:nvGrpSpPr>
        <p:grpSpPr>
          <a:xfrm>
            <a:off x="3816040" y="6445607"/>
            <a:ext cx="4565782" cy="288000"/>
            <a:chOff x="1325563" y="6444186"/>
            <a:chExt cx="4565782" cy="288000"/>
          </a:xfrm>
        </p:grpSpPr>
        <p:sp>
          <p:nvSpPr>
            <p:cNvPr id="9" name="867c2fba-5ed3-4c8b-98b0-ff7a902111af" descr="{&quot;SlideID&quot;:&quot;326&quot;,&quot;SlideNumber&quot;:&quot;29&quot;}">
              <a:hlinkClick r:id="rId4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1325563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" name="9e30d18c-a724-4b2a-8786-94da8ac775ab" descr="{&quot;SlideID&quot;:&quot;327&quot;,&quot;SlideNumber&quot;:&quot;31&quot;}">
              <a:hlinkClick r:id="rId5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171554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1c9cf690-49e3-49f6-a528-f0f359d57e6a" descr="{&quot;SlideID&quot;:&quot;328&quot;,&quot;SlideNumber&quot;:&quot;32&quot;}">
              <a:hlinkClick r:id="rId6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2105531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ce4d859c-648b-4daa-b636-c28bdee85de6" descr="{&quot;SlideID&quot;:&quot;329&quot;,&quot;SlideNumber&quot;:&quot;34&quot;}">
              <a:hlinkClick r:id="rId7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249551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264be5fa-d934-42ba-bed9-247ba85d445b" descr="{&quot;SlideID&quot;:&quot;330&quot;,&quot;SlideNumber&quot;:&quot;36&quot;}">
              <a:hlinkClick r:id="rId8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2885499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6a92cc03-804d-4fcb-82b2-678af728775c" descr="{&quot;SlideID&quot;:&quot;331&quot;,&quot;SlideNumber&quot;:&quot;38&quot;}">
              <a:hlinkClick r:id="rId9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3275481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f87dca80-de5c-407e-87ef-ca2c44ef8b25" descr="{&quot;SlideID&quot;:&quot;332&quot;,&quot;SlideNumber&quot;:&quot;40&quot;}">
              <a:hlinkClick r:id="rId10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3665463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ea9e943b-afe1-467e-8c42-0fda736a5151" descr="{&quot;SlideID&quot;:&quot;333&quot;,&quot;SlideNumber&quot;:&quot;42&quot;}">
              <a:hlinkClick r:id="rId11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405544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358c15c1-392b-48e6-aeb6-0438ef4088f0" descr="{&quot;SlideID&quot;:&quot;334&quot;,&quot;SlideNumber&quot;:&quot;44&quot;}">
              <a:hlinkClick r:id="rId12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444542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b01d20fa-a176-4680-9f6c-05a811216d69" descr="{&quot;SlideID&quot;:&quot;335&quot;,&quot;SlideNumber&quot;:&quot;46&quot;}">
              <a:hlinkClick r:id="rId13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4835409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aea72134-37cc-49f2-9c0e-9bc07b7d9efa" descr="{&quot;SlideID&quot;:&quot;336&quot;,&quot;SlideNumber&quot;:&quot;48&quot;}">
              <a:hlinkClick r:id="rId14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521937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0cbd6b57-bc44-45b0-8ed8-8ff150ae4dee" descr="{&quot;SlideID&quot;:&quot;337&quot;,&quot;SlideNumber&quot;:&quot;50&quot;}">
              <a:hlinkClick r:id="rId15" action="ppaction://hlinksldjump"/>
              <a:extLst>
                <a:ext uri="{FF2B5EF4-FFF2-40B4-BE49-F238E27FC236}">
                  <a16:creationId xmlns:a16="http://schemas.microsoft.com/office/drawing/2014/main" id="{CC279918-B4EB-4A69-8269-F7D85FE44387}"/>
                </a:ext>
              </a:extLst>
            </p:cNvPr>
            <p:cNvSpPr/>
            <p:nvPr/>
          </p:nvSpPr>
          <p:spPr>
            <a:xfrm>
              <a:off x="5603345" y="6444186"/>
              <a:ext cx="288000" cy="2880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/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4068" y="-223206"/>
            <a:ext cx="7614606" cy="7614606"/>
          </a:xfrm>
          <a:prstGeom prst="rect">
            <a:avLst/>
          </a:prstGeom>
        </p:spPr>
      </p:pic>
      <p:sp>
        <p:nvSpPr>
          <p:cNvPr id="14" name="矩形 13"/>
          <p:cNvSpPr/>
          <p:nvPr/>
        </p:nvSpPr>
        <p:spPr>
          <a:xfrm>
            <a:off x="0" y="1917700"/>
            <a:ext cx="12192000" cy="2667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79400" sx="99000" sy="99000" rotWithShape="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795"/>
          <a:stretch/>
        </p:blipFill>
        <p:spPr>
          <a:xfrm>
            <a:off x="6005768" y="1917700"/>
            <a:ext cx="6563872" cy="3514274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7C2CE74F-02DD-4AC0-A86F-3C8DF00FACEC}"/>
              </a:ext>
            </a:extLst>
          </p:cNvPr>
          <p:cNvSpPr txBox="1"/>
          <p:nvPr/>
        </p:nvSpPr>
        <p:spPr>
          <a:xfrm>
            <a:off x="181430" y="2383972"/>
            <a:ext cx="6313714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zh-CN" sz="11000" b="1" i="0" u="none" strike="noStrike" kern="1200" normalizeH="0" baseline="0" noProof="0" dirty="0">
                <a:ln w="10160">
                  <a:solidFill>
                    <a:schemeClr val="bg2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Impact" panose="020B0806030902050204" pitchFamily="34" charset="0"/>
                <a:ea typeface="宋体" pitchFamily="2" charset="-122"/>
                <a:cs typeface="+mn-cs"/>
              </a:rPr>
              <a:t>THANKS</a:t>
            </a:r>
            <a:endParaRPr kumimoji="0" lang="zh-CN" altLang="en-US" sz="11000" b="1" i="0" u="none" strike="noStrike" kern="1200" normalizeH="0" baseline="0" noProof="0" dirty="0">
              <a:ln w="10160">
                <a:solidFill>
                  <a:schemeClr val="bg2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Impact" panose="020B080603090205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7" name="TextBox 32"/>
          <p:cNvSpPr txBox="1"/>
          <p:nvPr/>
        </p:nvSpPr>
        <p:spPr>
          <a:xfrm>
            <a:off x="6119586" y="1884101"/>
            <a:ext cx="6313715" cy="20474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4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50" endPos="85000" dir="5400000" sy="-100000" algn="bl" rotWithShape="0"/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演示完毕 </a:t>
            </a:r>
            <a:endParaRPr lang="en-US" altLang="zh-CN" sz="45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  <a:reflection blurRad="6350" stA="55000" endA="50" endPos="85000" dir="5400000" sy="-100000" algn="bl" rotWithShape="0"/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4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50" endPos="85000" dir="5400000" sy="-100000" algn="bl" rotWithShape="0"/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感谢观看</a:t>
            </a:r>
          </a:p>
        </p:txBody>
      </p:sp>
      <p:grpSp>
        <p:nvGrpSpPr>
          <p:cNvPr id="20" name="组合 19"/>
          <p:cNvGrpSpPr/>
          <p:nvPr/>
        </p:nvGrpSpPr>
        <p:grpSpPr>
          <a:xfrm>
            <a:off x="3816040" y="6445607"/>
            <a:ext cx="4565782" cy="288000"/>
            <a:chOff x="1325563" y="6444186"/>
            <a:chExt cx="4565782" cy="288000"/>
          </a:xfrm>
        </p:grpSpPr>
        <p:sp>
          <p:nvSpPr>
            <p:cNvPr id="9" name="e7b9ecb1-5ba8-4318-9101-0bf3d5a307ea" descr="{&quot;SlideID&quot;:&quot;326&quot;,&quot;SlideNumber&quot;:&quot;29&quot;}">
              <a:hlinkClick r:id="rId4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1325563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" name="26ba8350-6580-4f17-a67e-110cb6f8b268" descr="{&quot;SlideID&quot;:&quot;327&quot;,&quot;SlideNumber&quot;:&quot;31&quot;}">
              <a:hlinkClick r:id="rId5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171554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4056ff61-c318-4bc1-af11-21441b3f2531" descr="{&quot;SlideID&quot;:&quot;328&quot;,&quot;SlideNumber&quot;:&quot;32&quot;}">
              <a:hlinkClick r:id="rId6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2105531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9dcff6ab-ea14-48f1-9160-4461abe93d45" descr="{&quot;SlideID&quot;:&quot;329&quot;,&quot;SlideNumber&quot;:&quot;34&quot;}">
              <a:hlinkClick r:id="rId7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249551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1fa21c20-bd93-4830-928f-0f0f58a5d997" descr="{&quot;SlideID&quot;:&quot;330&quot;,&quot;SlideNumber&quot;:&quot;36&quot;}">
              <a:hlinkClick r:id="rId8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2885499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ac5e40be-b6d8-4a29-a6b2-0a192909fa39" descr="{&quot;SlideID&quot;:&quot;331&quot;,&quot;SlideNumber&quot;:&quot;38&quot;}">
              <a:hlinkClick r:id="rId9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3275481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d7349ee1-3fee-49ee-aa05-81355ed1daf7" descr="{&quot;SlideID&quot;:&quot;332&quot;,&quot;SlideNumber&quot;:&quot;40&quot;}">
              <a:hlinkClick r:id="rId10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3665463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46fb891a-7dd3-4968-a74c-f850831ea91d" descr="{&quot;SlideID&quot;:&quot;333&quot;,&quot;SlideNumber&quot;:&quot;42&quot;}">
              <a:hlinkClick r:id="rId11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4055445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715d11e7-a9a1-47a7-8e90-f1928de735b1" descr="{&quot;SlideID&quot;:&quot;334&quot;,&quot;SlideNumber&quot;:&quot;44&quot;}">
              <a:hlinkClick r:id="rId12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444542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0202514a-f895-468e-b097-1479a770257a" descr="{&quot;SlideID&quot;:&quot;335&quot;,&quot;SlideNumber&quot;:&quot;46&quot;}">
              <a:hlinkClick r:id="rId13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4835409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8e4e694d-74b6-469c-a2d9-2fd679976447" descr="{&quot;SlideID&quot;:&quot;336&quot;,&quot;SlideNumber&quot;:&quot;48&quot;}">
              <a:hlinkClick r:id="rId14" action="ppaction://hlinksldjump"/>
              <a:extLst>
                <a:ext uri="{FF2B5EF4-FFF2-40B4-BE49-F238E27FC236}">
                  <a16:creationId xmlns:a16="http://schemas.microsoft.com/office/drawing/2014/main" id="{FCFB3071-9808-4A43-8B7A-C563593F0CAB}"/>
                </a:ext>
              </a:extLst>
            </p:cNvPr>
            <p:cNvSpPr/>
            <p:nvPr/>
          </p:nvSpPr>
          <p:spPr>
            <a:xfrm>
              <a:off x="5219377" y="6444186"/>
              <a:ext cx="288000" cy="288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186a7d4c-3051-41b3-968a-80d47e50e2ae" descr="{&quot;SlideID&quot;:&quot;337&quot;,&quot;SlideNumber&quot;:&quot;50&quot;}">
              <a:hlinkClick r:id="rId15" action="ppaction://hlinksldjump"/>
              <a:extLst>
                <a:ext uri="{FF2B5EF4-FFF2-40B4-BE49-F238E27FC236}">
                  <a16:creationId xmlns:a16="http://schemas.microsoft.com/office/drawing/2014/main" id="{CC279918-B4EB-4A69-8269-F7D85FE44387}"/>
                </a:ext>
              </a:extLst>
            </p:cNvPr>
            <p:cNvSpPr/>
            <p:nvPr/>
          </p:nvSpPr>
          <p:spPr>
            <a:xfrm>
              <a:off x="5603345" y="6444186"/>
              <a:ext cx="288000" cy="2880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12</a:t>
              </a:r>
              <a:endParaRPr kumimoji="1"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1922916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med">
        <p15:prstTrans prst="airplane"/>
      </p:transition>
    </mc:Choice>
    <mc:Fallback xmlns:a14="http://schemas.microsoft.com/office/drawing/2010/main" xmlns:a16="http://schemas.microsoft.com/office/drawing/2014/main" xmlns:p14="http://schemas.microsoft.com/office/powerpoint/2010/main"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6" grpId="0"/>
      <p:bldP spid="17" grpId="0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517</TotalTime>
  <Words>5565</Words>
  <Application>Microsoft Macintosh PowerPoint</Application>
  <PresentationFormat>Widescreen</PresentationFormat>
  <Paragraphs>474</Paragraphs>
  <Slides>47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60" baseType="lpstr">
      <vt:lpstr>方正新报宋_GBK</vt:lpstr>
      <vt:lpstr>等线</vt:lpstr>
      <vt:lpstr>仿宋</vt:lpstr>
      <vt:lpstr>Microsoft YaHei</vt:lpstr>
      <vt:lpstr>Microsoft YaHei</vt:lpstr>
      <vt:lpstr>宋体</vt:lpstr>
      <vt:lpstr>华文细黑</vt:lpstr>
      <vt:lpstr>Arial</vt:lpstr>
      <vt:lpstr>Calibri</vt:lpstr>
      <vt:lpstr>Cambria Math</vt:lpstr>
      <vt:lpstr>Impact</vt:lpstr>
      <vt:lpstr>Times New Roman</vt:lpstr>
      <vt:lpstr>Office 主题​​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cp:lastModifiedBy>Xingyu Shu</cp:lastModifiedBy>
  <cp:revision>120</cp:revision>
  <dcterms:created xsi:type="dcterms:W3CDTF">2025-12-05T00:48:51Z</dcterms:created>
  <dcterms:modified xsi:type="dcterms:W3CDTF">2026-09-28T01:23:23Z</dcterms:modified>
</cp:coreProperties>
</file>