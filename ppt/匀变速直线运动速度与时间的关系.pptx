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91" r:id="rId5"/>
    <p:sldId id="338" r:id="rId6"/>
    <p:sldId id="292" r:id="rId7"/>
    <p:sldId id="305" r:id="rId8"/>
    <p:sldId id="306" r:id="rId9"/>
    <p:sldId id="2007578123" r:id="rId10"/>
    <p:sldId id="342" r:id="rId11"/>
    <p:sldId id="314" r:id="rId12"/>
    <p:sldId id="344" r:id="rId13"/>
    <p:sldId id="315" r:id="rId14"/>
    <p:sldId id="341" r:id="rId15"/>
    <p:sldId id="352" r:id="rId16"/>
    <p:sldId id="2007578119" r:id="rId17"/>
    <p:sldId id="2007578120" r:id="rId18"/>
    <p:sldId id="2007578121" r:id="rId19"/>
    <p:sldId id="2007578122" r:id="rId20"/>
    <p:sldId id="366" r:id="rId21"/>
    <p:sldId id="200757811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2"/>
    <p:restoredTop sz="94618"/>
  </p:normalViewPr>
  <p:slideViewPr>
    <p:cSldViewPr snapToGrid="0">
      <p:cViewPr varScale="1">
        <p:scale>
          <a:sx n="132" d="100"/>
          <a:sy n="132" d="100"/>
        </p:scale>
        <p:origin x="16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20D54-C7A4-F62C-CC22-B293E070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0589F1-7D74-4430-FB9E-40E1F442B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2771C-A8D5-5948-1E5C-1736747C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DC015-CD30-C731-1C93-A1325969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0D019-59E6-17D0-F066-F6DA9B4E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4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0B8863-BAC7-B36D-C13B-DA7B7689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1886FE-AD99-9024-2807-F5F02650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3AE4A-99B5-3215-CD93-6E770BD7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36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1" r:id="rId5"/>
    <p:sldLayoutId id="2147483652" r:id="rId6"/>
    <p:sldLayoutId id="2147483653" r:id="rId7"/>
    <p:sldLayoutId id="2147483655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image" Target="../media/image5.wmf"/><Relationship Id="rId68" Type="http://schemas.openxmlformats.org/officeDocument/2006/relationships/image" Target="../media/image7.wmf"/><Relationship Id="rId84" Type="http://schemas.openxmlformats.org/officeDocument/2006/relationships/image" Target="../media/image15.wmf"/><Relationship Id="rId89" Type="http://schemas.openxmlformats.org/officeDocument/2006/relationships/oleObject" Target="../embeddings/oleObject19.bin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slideLayout" Target="../slideLayouts/slideLayout2.xml"/><Relationship Id="rId58" Type="http://schemas.openxmlformats.org/officeDocument/2006/relationships/oleObject" Target="../embeddings/oleObject3.bin"/><Relationship Id="rId74" Type="http://schemas.openxmlformats.org/officeDocument/2006/relationships/image" Target="../media/image10.wmf"/><Relationship Id="rId79" Type="http://schemas.openxmlformats.org/officeDocument/2006/relationships/oleObject" Target="../embeddings/oleObject14.bin"/><Relationship Id="rId5" Type="http://schemas.openxmlformats.org/officeDocument/2006/relationships/tags" Target="../tags/tag5.xml"/><Relationship Id="rId90" Type="http://schemas.openxmlformats.org/officeDocument/2006/relationships/oleObject" Target="../embeddings/oleObject20.bin"/><Relationship Id="rId95" Type="http://schemas.openxmlformats.org/officeDocument/2006/relationships/image" Target="../media/image19.wmf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oleObject" Target="../embeddings/oleObject6.bin"/><Relationship Id="rId69" Type="http://schemas.openxmlformats.org/officeDocument/2006/relationships/oleObject" Target="../embeddings/oleObject9.bin"/><Relationship Id="rId80" Type="http://schemas.openxmlformats.org/officeDocument/2006/relationships/image" Target="../media/image13.wmf"/><Relationship Id="rId85" Type="http://schemas.openxmlformats.org/officeDocument/2006/relationships/oleObject" Target="../embeddings/oleObject17.bin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image" Target="../media/image3.wmf"/><Relationship Id="rId67" Type="http://schemas.openxmlformats.org/officeDocument/2006/relationships/oleObject" Target="../embeddings/oleObject8.bin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oleObject" Target="../embeddings/oleObject1.bin"/><Relationship Id="rId62" Type="http://schemas.openxmlformats.org/officeDocument/2006/relationships/oleObject" Target="../embeddings/oleObject5.bin"/><Relationship Id="rId70" Type="http://schemas.openxmlformats.org/officeDocument/2006/relationships/image" Target="../media/image8.wmf"/><Relationship Id="rId75" Type="http://schemas.openxmlformats.org/officeDocument/2006/relationships/oleObject" Target="../embeddings/oleObject12.bin"/><Relationship Id="rId83" Type="http://schemas.openxmlformats.org/officeDocument/2006/relationships/oleObject" Target="../embeddings/oleObject16.bin"/><Relationship Id="rId88" Type="http://schemas.openxmlformats.org/officeDocument/2006/relationships/image" Target="../media/image17.wmf"/><Relationship Id="rId91" Type="http://schemas.openxmlformats.org/officeDocument/2006/relationships/oleObject" Target="../embeddings/oleObject21.bin"/><Relationship Id="rId96" Type="http://schemas.openxmlformats.org/officeDocument/2006/relationships/oleObject" Target="../embeddings/oleObject24.bin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image" Target="../media/image2.wmf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oleObject" Target="../embeddings/oleObject4.bin"/><Relationship Id="rId65" Type="http://schemas.openxmlformats.org/officeDocument/2006/relationships/image" Target="../media/image6.wmf"/><Relationship Id="rId73" Type="http://schemas.openxmlformats.org/officeDocument/2006/relationships/oleObject" Target="../embeddings/oleObject11.bin"/><Relationship Id="rId78" Type="http://schemas.openxmlformats.org/officeDocument/2006/relationships/image" Target="../media/image12.wmf"/><Relationship Id="rId81" Type="http://schemas.openxmlformats.org/officeDocument/2006/relationships/oleObject" Target="../embeddings/oleObject15.bin"/><Relationship Id="rId86" Type="http://schemas.openxmlformats.org/officeDocument/2006/relationships/image" Target="../media/image16.wmf"/><Relationship Id="rId94" Type="http://schemas.openxmlformats.org/officeDocument/2006/relationships/oleObject" Target="../embeddings/oleObject23.bin"/><Relationship Id="rId99" Type="http://schemas.openxmlformats.org/officeDocument/2006/relationships/image" Target="../media/image21.wmf"/><Relationship Id="rId101" Type="http://schemas.openxmlformats.org/officeDocument/2006/relationships/image" Target="../media/image22.emf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image" Target="../media/image1.wmf"/><Relationship Id="rId76" Type="http://schemas.openxmlformats.org/officeDocument/2006/relationships/image" Target="../media/image11.wmf"/><Relationship Id="rId97" Type="http://schemas.openxmlformats.org/officeDocument/2006/relationships/image" Target="../media/image20.wmf"/><Relationship Id="rId7" Type="http://schemas.openxmlformats.org/officeDocument/2006/relationships/tags" Target="../tags/tag7.xml"/><Relationship Id="rId71" Type="http://schemas.openxmlformats.org/officeDocument/2006/relationships/oleObject" Target="../embeddings/oleObject10.bin"/><Relationship Id="rId92" Type="http://schemas.openxmlformats.org/officeDocument/2006/relationships/oleObject" Target="../embeddings/oleObject22.bin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oleObject" Target="../embeddings/oleObject7.bin"/><Relationship Id="rId87" Type="http://schemas.openxmlformats.org/officeDocument/2006/relationships/oleObject" Target="../embeddings/oleObject18.bin"/><Relationship Id="rId61" Type="http://schemas.openxmlformats.org/officeDocument/2006/relationships/image" Target="../media/image4.wmf"/><Relationship Id="rId82" Type="http://schemas.openxmlformats.org/officeDocument/2006/relationships/image" Target="../media/image14.wmf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oleObject" Target="../embeddings/oleObject2.bin"/><Relationship Id="rId77" Type="http://schemas.openxmlformats.org/officeDocument/2006/relationships/oleObject" Target="../embeddings/oleObject13.bin"/><Relationship Id="rId100" Type="http://schemas.openxmlformats.org/officeDocument/2006/relationships/oleObject" Target="../embeddings/oleObject26.bin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image" Target="../media/image9.wmf"/><Relationship Id="rId93" Type="http://schemas.openxmlformats.org/officeDocument/2006/relationships/image" Target="../media/image18.wmf"/><Relationship Id="rId98" Type="http://schemas.openxmlformats.org/officeDocument/2006/relationships/oleObject" Target="../embeddings/oleObject25.bin"/><Relationship Id="rId3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472B8-8E94-E786-49B1-FC5718758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匀变速直线运动速度与时间的关系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8B86E0-15A8-1812-F169-312545138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3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CBFD984-69E8-DD18-E162-08A775CAE43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/>
                  <a:t>图像是一条倾斜的直线</a:t>
                </a:r>
                <a:endParaRPr lang="en-US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CBFD984-69E8-DD18-E162-08A775CAE4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0A241CD-063F-F1DD-2703-CB5D3E97B3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加速度如何表示？</a:t>
            </a:r>
            <a:endParaRPr lang="en-US" altLang="zh-CN"/>
          </a:p>
          <a:p>
            <a:r>
              <a:rPr lang="zh-CN" altLang="en-US"/>
              <a:t>加速度始终不变吗？</a:t>
            </a:r>
            <a:endParaRPr 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ED5CB26-CF99-ED46-DF6F-5EB725187FE9}"/>
              </a:ext>
            </a:extLst>
          </p:cNvPr>
          <p:cNvGrpSpPr/>
          <p:nvPr/>
        </p:nvGrpSpPr>
        <p:grpSpPr>
          <a:xfrm>
            <a:off x="1645219" y="2376582"/>
            <a:ext cx="3567562" cy="3249423"/>
            <a:chOff x="1210400" y="2398673"/>
            <a:chExt cx="3567562" cy="3249423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C87DB1E-9CFD-16F2-049E-7B83DA9897AA}"/>
                </a:ext>
              </a:extLst>
            </p:cNvPr>
            <p:cNvCxnSpPr/>
            <p:nvPr/>
          </p:nvCxnSpPr>
          <p:spPr>
            <a:xfrm flipV="1">
              <a:off x="1545224" y="2921079"/>
              <a:ext cx="2682830" cy="154893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82B48310-C9B7-381E-0EB1-E1729061B4F2}"/>
                </a:ext>
              </a:extLst>
            </p:cNvPr>
            <p:cNvCxnSpPr/>
            <p:nvPr/>
          </p:nvCxnSpPr>
          <p:spPr>
            <a:xfrm flipH="1" flipV="1">
              <a:off x="1546040" y="2529800"/>
              <a:ext cx="1" cy="2808990"/>
            </a:xfrm>
            <a:prstGeom prst="straightConnector1">
              <a:avLst/>
            </a:prstGeom>
            <a:ln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6E545931-5397-493A-312B-4D1CF8E14827}"/>
                </a:ext>
              </a:extLst>
            </p:cNvPr>
            <p:cNvCxnSpPr/>
            <p:nvPr/>
          </p:nvCxnSpPr>
          <p:spPr>
            <a:xfrm>
              <a:off x="1545224" y="5338790"/>
              <a:ext cx="2802752" cy="0"/>
            </a:xfrm>
            <a:prstGeom prst="straightConnector1">
              <a:avLst/>
            </a:prstGeom>
            <a:ln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1DB4C89-AD79-E6EE-BCF0-C29C9CAA4007}"/>
                </a:ext>
              </a:extLst>
            </p:cNvPr>
            <p:cNvSpPr txBox="1"/>
            <p:nvPr/>
          </p:nvSpPr>
          <p:spPr>
            <a:xfrm>
              <a:off x="1212340" y="429091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1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FC9CBD3-58C4-603F-5D32-B338D882C1B2}"/>
                </a:ext>
              </a:extLst>
            </p:cNvPr>
            <p:cNvSpPr txBox="1"/>
            <p:nvPr/>
          </p:nvSpPr>
          <p:spPr>
            <a:xfrm>
              <a:off x="1244474" y="2398673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46F0688-9148-5A50-BA0B-93684A79844A}"/>
                </a:ext>
              </a:extLst>
            </p:cNvPr>
            <p:cNvGrpSpPr/>
            <p:nvPr/>
          </p:nvGrpSpPr>
          <p:grpSpPr>
            <a:xfrm>
              <a:off x="1211103" y="4061392"/>
              <a:ext cx="825329" cy="1586704"/>
              <a:chOff x="1475918" y="4020166"/>
              <a:chExt cx="779872" cy="1499312"/>
            </a:xfrm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D6787E44-978F-4AA3-FF1F-1B43FB5B5683}"/>
                  </a:ext>
                </a:extLst>
              </p:cNvPr>
              <p:cNvGrpSpPr/>
              <p:nvPr/>
            </p:nvGrpSpPr>
            <p:grpSpPr>
              <a:xfrm>
                <a:off x="1791634" y="4222501"/>
                <a:ext cx="317248" cy="1004706"/>
                <a:chOff x="1791634" y="4222501"/>
                <a:chExt cx="317248" cy="1004706"/>
              </a:xfrm>
            </p:grpSpPr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147F9B8B-0216-442D-0BAB-0E0A1514767B}"/>
                    </a:ext>
                  </a:extLst>
                </p:cNvPr>
                <p:cNvCxnSpPr/>
                <p:nvPr/>
              </p:nvCxnSpPr>
              <p:spPr>
                <a:xfrm>
                  <a:off x="1791634" y="4222501"/>
                  <a:ext cx="317248" cy="0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4865961A-068A-4442-B3D5-D94508A0B5F0}"/>
                    </a:ext>
                  </a:extLst>
                </p:cNvPr>
                <p:cNvCxnSpPr/>
                <p:nvPr/>
              </p:nvCxnSpPr>
              <p:spPr>
                <a:xfrm flipH="1">
                  <a:off x="2108882" y="4222501"/>
                  <a:ext cx="0" cy="1004706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0A5131BD-DE21-CCCB-FEFA-6EB741B2FAD8}"/>
                  </a:ext>
                </a:extLst>
              </p:cNvPr>
              <p:cNvSpPr txBox="1"/>
              <p:nvPr/>
            </p:nvSpPr>
            <p:spPr>
              <a:xfrm>
                <a:off x="1475918" y="4020166"/>
                <a:ext cx="344143" cy="348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E0E13071-F964-FA6E-E7FB-A4027725795D}"/>
                  </a:ext>
                </a:extLst>
              </p:cNvPr>
              <p:cNvSpPr txBox="1"/>
              <p:nvPr/>
            </p:nvSpPr>
            <p:spPr>
              <a:xfrm>
                <a:off x="1948000" y="5170488"/>
                <a:ext cx="307790" cy="348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08DE331-8124-B229-FA65-6FCBADEB96EE}"/>
                </a:ext>
              </a:extLst>
            </p:cNvPr>
            <p:cNvGrpSpPr/>
            <p:nvPr/>
          </p:nvGrpSpPr>
          <p:grpSpPr>
            <a:xfrm>
              <a:off x="1215184" y="3777568"/>
              <a:ext cx="1359444" cy="1870527"/>
              <a:chOff x="1479773" y="3751975"/>
              <a:chExt cx="1284569" cy="1767502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E1B46750-F808-B12E-17B8-B02558B360C4}"/>
                  </a:ext>
                </a:extLst>
              </p:cNvPr>
              <p:cNvGrpSpPr/>
              <p:nvPr/>
            </p:nvGrpSpPr>
            <p:grpSpPr>
              <a:xfrm>
                <a:off x="1791634" y="3933090"/>
                <a:ext cx="811754" cy="1290920"/>
                <a:chOff x="1791634" y="3933090"/>
                <a:chExt cx="811754" cy="1290920"/>
              </a:xfrm>
            </p:grpSpPr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8C86B291-8249-71CE-76A4-C2471D8CA3B2}"/>
                    </a:ext>
                  </a:extLst>
                </p:cNvPr>
                <p:cNvCxnSpPr/>
                <p:nvPr/>
              </p:nvCxnSpPr>
              <p:spPr>
                <a:xfrm flipH="1">
                  <a:off x="2603388" y="3939248"/>
                  <a:ext cx="0" cy="1284762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38463C51-CBC3-FD31-F66E-F968C25261B5}"/>
                    </a:ext>
                  </a:extLst>
                </p:cNvPr>
                <p:cNvCxnSpPr/>
                <p:nvPr/>
              </p:nvCxnSpPr>
              <p:spPr>
                <a:xfrm>
                  <a:off x="1791634" y="3933090"/>
                  <a:ext cx="811754" cy="0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1C09B9EC-9E29-B9D8-0423-1A63AA92C23E}"/>
                  </a:ext>
                </a:extLst>
              </p:cNvPr>
              <p:cNvSpPr txBox="1"/>
              <p:nvPr/>
            </p:nvSpPr>
            <p:spPr>
              <a:xfrm>
                <a:off x="1479773" y="3751975"/>
                <a:ext cx="344143" cy="348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9E250DD7-A3C1-2D6A-F9A5-D6B88BCF852C}"/>
                  </a:ext>
                </a:extLst>
              </p:cNvPr>
              <p:cNvSpPr txBox="1"/>
              <p:nvPr/>
            </p:nvSpPr>
            <p:spPr>
              <a:xfrm>
                <a:off x="2456553" y="5170487"/>
                <a:ext cx="307789" cy="348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B9804B1-453B-226E-D303-F7A2CC046071}"/>
                </a:ext>
              </a:extLst>
            </p:cNvPr>
            <p:cNvGrpSpPr/>
            <p:nvPr/>
          </p:nvGrpSpPr>
          <p:grpSpPr>
            <a:xfrm>
              <a:off x="1215184" y="3526480"/>
              <a:ext cx="1766397" cy="2117902"/>
              <a:chOff x="1479773" y="3514716"/>
              <a:chExt cx="1669107" cy="2001252"/>
            </a:xfrm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26E299B-E373-02E5-B501-38D8A9B84375}"/>
                  </a:ext>
                </a:extLst>
              </p:cNvPr>
              <p:cNvGrpSpPr/>
              <p:nvPr/>
            </p:nvGrpSpPr>
            <p:grpSpPr>
              <a:xfrm>
                <a:off x="1791634" y="3721009"/>
                <a:ext cx="1199677" cy="1503001"/>
                <a:chOff x="1791634" y="3721009"/>
                <a:chExt cx="1199677" cy="1503001"/>
              </a:xfrm>
            </p:grpSpPr>
            <p:cxnSp>
              <p:nvCxnSpPr>
                <p:cNvPr id="40" name="直接连接符 39">
                  <a:extLst>
                    <a:ext uri="{FF2B5EF4-FFF2-40B4-BE49-F238E27FC236}">
                      <a16:creationId xmlns:a16="http://schemas.microsoft.com/office/drawing/2014/main" id="{81E24C88-001D-61BF-89E2-3637913CB2D6}"/>
                    </a:ext>
                  </a:extLst>
                </p:cNvPr>
                <p:cNvCxnSpPr/>
                <p:nvPr/>
              </p:nvCxnSpPr>
              <p:spPr>
                <a:xfrm flipH="1">
                  <a:off x="2989181" y="3721009"/>
                  <a:ext cx="0" cy="150300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>
                  <a:extLst>
                    <a:ext uri="{FF2B5EF4-FFF2-40B4-BE49-F238E27FC236}">
                      <a16:creationId xmlns:a16="http://schemas.microsoft.com/office/drawing/2014/main" id="{487A493E-EE3F-B6D4-BEE2-67EB64EF7187}"/>
                    </a:ext>
                  </a:extLst>
                </p:cNvPr>
                <p:cNvCxnSpPr/>
                <p:nvPr/>
              </p:nvCxnSpPr>
              <p:spPr>
                <a:xfrm>
                  <a:off x="1791634" y="3721009"/>
                  <a:ext cx="1199677" cy="0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5FD38FD-5A77-91EC-FA78-A907D75FF88A}"/>
                  </a:ext>
                </a:extLst>
              </p:cNvPr>
              <p:cNvSpPr txBox="1"/>
              <p:nvPr/>
            </p:nvSpPr>
            <p:spPr>
              <a:xfrm>
                <a:off x="1479773" y="3514716"/>
                <a:ext cx="344142" cy="348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C0EC5B6B-783B-B3F1-7EE7-3245B01409A0}"/>
                  </a:ext>
                </a:extLst>
              </p:cNvPr>
              <p:cNvSpPr txBox="1"/>
              <p:nvPr/>
            </p:nvSpPr>
            <p:spPr>
              <a:xfrm>
                <a:off x="2841091" y="5166978"/>
                <a:ext cx="307789" cy="348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B7D3AC8A-FE70-6384-EEA5-BEB1992ED171}"/>
                </a:ext>
              </a:extLst>
            </p:cNvPr>
            <p:cNvGrpSpPr/>
            <p:nvPr/>
          </p:nvGrpSpPr>
          <p:grpSpPr>
            <a:xfrm>
              <a:off x="1210400" y="2903609"/>
              <a:ext cx="2885936" cy="2740772"/>
              <a:chOff x="1475252" y="2926151"/>
              <a:chExt cx="2726984" cy="2589816"/>
            </a:xfrm>
          </p:grpSpPr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FE1441B7-6D63-E087-3044-DD9526E3D33A}"/>
                  </a:ext>
                </a:extLst>
              </p:cNvPr>
              <p:cNvGrpSpPr/>
              <p:nvPr/>
            </p:nvGrpSpPr>
            <p:grpSpPr>
              <a:xfrm>
                <a:off x="1792705" y="3109275"/>
                <a:ext cx="2255636" cy="2057702"/>
                <a:chOff x="1792705" y="3109275"/>
                <a:chExt cx="2255636" cy="2057702"/>
              </a:xfrm>
            </p:grpSpPr>
            <p:cxnSp>
              <p:nvCxnSpPr>
                <p:cNvPr id="35" name="直接连接符 34">
                  <a:extLst>
                    <a:ext uri="{FF2B5EF4-FFF2-40B4-BE49-F238E27FC236}">
                      <a16:creationId xmlns:a16="http://schemas.microsoft.com/office/drawing/2014/main" id="{9C9BD444-01E4-77C6-FC61-84DAF77F1D46}"/>
                    </a:ext>
                  </a:extLst>
                </p:cNvPr>
                <p:cNvCxnSpPr>
                  <a:endCxn id="34" idx="0"/>
                </p:cNvCxnSpPr>
                <p:nvPr/>
              </p:nvCxnSpPr>
              <p:spPr>
                <a:xfrm>
                  <a:off x="4039995" y="3109875"/>
                  <a:ext cx="8346" cy="2057102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>
                  <a:extLst>
                    <a:ext uri="{FF2B5EF4-FFF2-40B4-BE49-F238E27FC236}">
                      <a16:creationId xmlns:a16="http://schemas.microsoft.com/office/drawing/2014/main" id="{63BA5800-3BB8-C51C-3FBD-76B30A53449C}"/>
                    </a:ext>
                  </a:extLst>
                </p:cNvPr>
                <p:cNvCxnSpPr/>
                <p:nvPr/>
              </p:nvCxnSpPr>
              <p:spPr>
                <a:xfrm>
                  <a:off x="1792705" y="3109275"/>
                  <a:ext cx="2247290" cy="0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4373D36-8AF5-09EC-99AA-15E4BED0FC84}"/>
                  </a:ext>
                </a:extLst>
              </p:cNvPr>
              <p:cNvSpPr txBox="1"/>
              <p:nvPr/>
            </p:nvSpPr>
            <p:spPr>
              <a:xfrm>
                <a:off x="1475252" y="2926151"/>
                <a:ext cx="344142" cy="348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46A1797-C14F-EFA7-C472-C92B7AF97286}"/>
                  </a:ext>
                </a:extLst>
              </p:cNvPr>
              <p:cNvSpPr txBox="1"/>
              <p:nvPr/>
            </p:nvSpPr>
            <p:spPr>
              <a:xfrm>
                <a:off x="3894447" y="5166977"/>
                <a:ext cx="307789" cy="348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A5D04E4-E92B-D58B-2C67-7C71F8A9F60F}"/>
                </a:ext>
              </a:extLst>
            </p:cNvPr>
            <p:cNvSpPr txBox="1"/>
            <p:nvPr/>
          </p:nvSpPr>
          <p:spPr>
            <a:xfrm>
              <a:off x="4213824" y="5268981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03428D2-D862-0D04-0003-91776A91C9B7}"/>
                </a:ext>
              </a:extLst>
            </p:cNvPr>
            <p:cNvSpPr txBox="1"/>
            <p:nvPr/>
          </p:nvSpPr>
          <p:spPr>
            <a:xfrm>
              <a:off x="1213065" y="525711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</a:t>
              </a: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71C6278-6FD2-DB02-73F3-899729411023}"/>
                </a:ext>
              </a:extLst>
            </p:cNvPr>
            <p:cNvGrpSpPr/>
            <p:nvPr/>
          </p:nvGrpSpPr>
          <p:grpSpPr>
            <a:xfrm>
              <a:off x="1880963" y="3934294"/>
              <a:ext cx="1137589" cy="798212"/>
              <a:chOff x="2108882" y="3900069"/>
              <a:chExt cx="1074933" cy="754248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12DDC86C-E0B9-C45A-C637-3506D0A9AD6E}"/>
                  </a:ext>
                </a:extLst>
              </p:cNvPr>
              <p:cNvCxnSpPr/>
              <p:nvPr/>
            </p:nvCxnSpPr>
            <p:spPr>
              <a:xfrm>
                <a:off x="2108882" y="4222501"/>
                <a:ext cx="494506" cy="0"/>
              </a:xfrm>
              <a:prstGeom prst="line">
                <a:avLst/>
              </a:prstGeom>
              <a:ln w="19050">
                <a:solidFill>
                  <a:srgbClr val="00CC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D76113B5-6DED-3F5D-3E99-B8EF567A95E8}"/>
                  </a:ext>
                </a:extLst>
              </p:cNvPr>
              <p:cNvCxnSpPr/>
              <p:nvPr/>
            </p:nvCxnSpPr>
            <p:spPr>
              <a:xfrm flipH="1">
                <a:off x="2603388" y="3933090"/>
                <a:ext cx="0" cy="289411"/>
              </a:xfrm>
              <a:prstGeom prst="line">
                <a:avLst/>
              </a:prstGeom>
              <a:ln w="19050">
                <a:solidFill>
                  <a:srgbClr val="00CC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左大括号 27">
                <a:extLst>
                  <a:ext uri="{FF2B5EF4-FFF2-40B4-BE49-F238E27FC236}">
                    <a16:creationId xmlns:a16="http://schemas.microsoft.com/office/drawing/2014/main" id="{A8D39686-F5D3-30ED-77B3-0B34AA8AB414}"/>
                  </a:ext>
                </a:extLst>
              </p:cNvPr>
              <p:cNvSpPr/>
              <p:nvPr/>
            </p:nvSpPr>
            <p:spPr>
              <a:xfrm rot="16200000">
                <a:off x="2307409" y="4045976"/>
                <a:ext cx="97453" cy="494506"/>
              </a:xfrm>
              <a:prstGeom prst="leftBrace">
                <a:avLst>
                  <a:gd name="adj1" fmla="val 97458"/>
                  <a:gd name="adj2" fmla="val 50000"/>
                </a:avLst>
              </a:prstGeom>
              <a:ln w="19050">
                <a:solidFill>
                  <a:srgbClr val="00CC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82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29" name="左大括号 28">
                <a:extLst>
                  <a:ext uri="{FF2B5EF4-FFF2-40B4-BE49-F238E27FC236}">
                    <a16:creationId xmlns:a16="http://schemas.microsoft.com/office/drawing/2014/main" id="{C1840E82-5616-4C52-F6C1-17AB2DC2A8DB}"/>
                  </a:ext>
                </a:extLst>
              </p:cNvPr>
              <p:cNvSpPr/>
              <p:nvPr/>
            </p:nvSpPr>
            <p:spPr>
              <a:xfrm rot="10800000">
                <a:off x="2636423" y="3939247"/>
                <a:ext cx="72978" cy="283253"/>
              </a:xfrm>
              <a:prstGeom prst="leftBrace">
                <a:avLst>
                  <a:gd name="adj1" fmla="val 36575"/>
                  <a:gd name="adj2" fmla="val 50000"/>
                </a:avLst>
              </a:prstGeom>
              <a:ln w="19050">
                <a:solidFill>
                  <a:srgbClr val="00CC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82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E1833F2-2CA4-97CC-26A1-CD73AAF6F77A}"/>
                  </a:ext>
                </a:extLst>
              </p:cNvPr>
              <p:cNvSpPr txBox="1"/>
              <p:nvPr/>
            </p:nvSpPr>
            <p:spPr>
              <a:xfrm>
                <a:off x="2155881" y="4305327"/>
                <a:ext cx="537190" cy="348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l-GR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Δ</a:t>
                </a:r>
                <a:r>
                  <a:rPr kumimoji="0" lang="en-US" altLang="zh-CN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</a:t>
                </a: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5FF62D3-9213-0EF8-F152-C51252D7AE0F}"/>
                  </a:ext>
                </a:extLst>
              </p:cNvPr>
              <p:cNvSpPr txBox="1"/>
              <p:nvPr/>
            </p:nvSpPr>
            <p:spPr>
              <a:xfrm>
                <a:off x="2684789" y="3900069"/>
                <a:ext cx="499026" cy="348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l-GR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Δ</a:t>
                </a:r>
                <a:r>
                  <a:rPr kumimoji="0" lang="en-US" altLang="zh-CN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7FF7C5E4-9E71-F4CD-D8F4-995BF6ADF893}"/>
                </a:ext>
              </a:extLst>
            </p:cNvPr>
            <p:cNvGrpSpPr/>
            <p:nvPr/>
          </p:nvGrpSpPr>
          <p:grpSpPr>
            <a:xfrm>
              <a:off x="2812573" y="3097406"/>
              <a:ext cx="1965389" cy="1111547"/>
              <a:chOff x="2989181" y="3109275"/>
              <a:chExt cx="1857139" cy="1050325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C9E7643-819B-0CC6-A7AC-39CD3D064BDB}"/>
                  </a:ext>
                </a:extLst>
              </p:cNvPr>
              <p:cNvCxnSpPr/>
              <p:nvPr/>
            </p:nvCxnSpPr>
            <p:spPr>
              <a:xfrm>
                <a:off x="2989181" y="3721009"/>
                <a:ext cx="1050814" cy="0"/>
              </a:xfrm>
              <a:prstGeom prst="line">
                <a:avLst/>
              </a:prstGeom>
              <a:ln w="19050">
                <a:solidFill>
                  <a:srgbClr val="00CC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7E636BFB-46F0-D356-AAE0-B319BF8B1B7F}"/>
                  </a:ext>
                </a:extLst>
              </p:cNvPr>
              <p:cNvCxnSpPr/>
              <p:nvPr/>
            </p:nvCxnSpPr>
            <p:spPr>
              <a:xfrm flipH="1">
                <a:off x="4039995" y="3109275"/>
                <a:ext cx="0" cy="611734"/>
              </a:xfrm>
              <a:prstGeom prst="line">
                <a:avLst/>
              </a:prstGeom>
              <a:ln w="19050">
                <a:solidFill>
                  <a:srgbClr val="00CC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左大括号 21">
                <a:extLst>
                  <a:ext uri="{FF2B5EF4-FFF2-40B4-BE49-F238E27FC236}">
                    <a16:creationId xmlns:a16="http://schemas.microsoft.com/office/drawing/2014/main" id="{A387B2A2-E137-0577-4E8F-294160944E25}"/>
                  </a:ext>
                </a:extLst>
              </p:cNvPr>
              <p:cNvSpPr/>
              <p:nvPr/>
            </p:nvSpPr>
            <p:spPr>
              <a:xfrm rot="16200000">
                <a:off x="3457177" y="3274927"/>
                <a:ext cx="114825" cy="1050814"/>
              </a:xfrm>
              <a:prstGeom prst="leftBrace">
                <a:avLst>
                  <a:gd name="adj1" fmla="val 68513"/>
                  <a:gd name="adj2" fmla="val 50000"/>
                </a:avLst>
              </a:prstGeom>
              <a:ln w="19050">
                <a:solidFill>
                  <a:srgbClr val="00CC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82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23" name="左大括号 22">
                <a:extLst>
                  <a:ext uri="{FF2B5EF4-FFF2-40B4-BE49-F238E27FC236}">
                    <a16:creationId xmlns:a16="http://schemas.microsoft.com/office/drawing/2014/main" id="{B7021CF5-DDC2-6F15-3990-30C0CD2ED275}"/>
                  </a:ext>
                </a:extLst>
              </p:cNvPr>
              <p:cNvSpPr/>
              <p:nvPr/>
            </p:nvSpPr>
            <p:spPr>
              <a:xfrm rot="10800000">
                <a:off x="4066214" y="3109275"/>
                <a:ext cx="114825" cy="611734"/>
              </a:xfrm>
              <a:prstGeom prst="leftBrace">
                <a:avLst>
                  <a:gd name="adj1" fmla="val 68513"/>
                  <a:gd name="adj2" fmla="val 50000"/>
                </a:avLst>
              </a:prstGeom>
              <a:ln w="19050">
                <a:solidFill>
                  <a:srgbClr val="00CC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82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3C31D28-E526-B199-78D1-FAA644223BF6}"/>
                  </a:ext>
                </a:extLst>
              </p:cNvPr>
              <p:cNvSpPr txBox="1"/>
              <p:nvPr/>
            </p:nvSpPr>
            <p:spPr>
              <a:xfrm>
                <a:off x="3301269" y="3810610"/>
                <a:ext cx="621272" cy="348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l-GR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Δ</a:t>
                </a:r>
                <a:r>
                  <a:rPr kumimoji="0" lang="en-US" altLang="zh-CN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Times New Roman" panose="02020603050405020304" pitchFamily="18" charset="0"/>
                  </a:rPr>
                  <a:t>’</a:t>
                </a: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C7FF7CE-8116-B3E4-9BE6-63BE2D7B49E2}"/>
                  </a:ext>
                </a:extLst>
              </p:cNvPr>
              <p:cNvSpPr txBox="1"/>
              <p:nvPr/>
            </p:nvSpPr>
            <p:spPr>
              <a:xfrm>
                <a:off x="4148862" y="3259492"/>
                <a:ext cx="697458" cy="348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l-GR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Δ</a:t>
                </a:r>
                <a:r>
                  <a:rPr kumimoji="0" lang="en-US" altLang="zh-CN" sz="1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’</a:t>
                </a: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0439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017BDC-7D57-E65E-2991-DE388DE7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从数学角度求瞬时速度与时间的函数关系</a:t>
            </a:r>
            <a:endParaRPr 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EB25E3A-A0A5-5A3E-74AE-D2B5F01B2E2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52644" y="2573751"/>
            <a:ext cx="3263759" cy="2661999"/>
            <a:chOff x="637" y="1616"/>
            <a:chExt cx="2061" cy="1681"/>
          </a:xfrm>
        </p:grpSpPr>
        <p:sp>
          <p:nvSpPr>
            <p:cNvPr id="5" name="直接连接符 274443">
              <a:extLst>
                <a:ext uri="{FF2B5EF4-FFF2-40B4-BE49-F238E27FC236}">
                  <a16:creationId xmlns:a16="http://schemas.microsoft.com/office/drawing/2014/main" id="{D835D8EF-E6CC-21A1-CA10-D56EB2013482}"/>
                </a:ext>
              </a:extLst>
            </p:cNvPr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 flipH="1" flipV="1">
              <a:off x="883" y="1727"/>
              <a:ext cx="0" cy="144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Arial"/>
              </a:endParaRPr>
            </a:p>
          </p:txBody>
        </p:sp>
        <p:graphicFrame>
          <p:nvGraphicFramePr>
            <p:cNvPr id="6" name="对象 274444">
              <a:extLst>
                <a:ext uri="{FF2B5EF4-FFF2-40B4-BE49-F238E27FC236}">
                  <a16:creationId xmlns:a16="http://schemas.microsoft.com/office/drawing/2014/main" id="{CC7DA8F0-5CA3-F8AC-042F-EE5DE6573902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44"/>
              </p:custDataLst>
            </p:nvPr>
          </p:nvGraphicFramePr>
          <p:xfrm>
            <a:off x="929" y="1616"/>
            <a:ext cx="18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4" imgW="139700" imgH="165100" progId="Equation.3">
                    <p:embed/>
                  </p:oleObj>
                </mc:Choice>
                <mc:Fallback>
                  <p:oleObj r:id="rId54" imgW="139700" imgH="165100" progId="Equation.3">
                    <p:embed/>
                    <p:pic>
                      <p:nvPicPr>
                        <p:cNvPr id="6" name="对象 274444">
                          <a:extLst>
                            <a:ext uri="{FF2B5EF4-FFF2-40B4-BE49-F238E27FC236}">
                              <a16:creationId xmlns:a16="http://schemas.microsoft.com/office/drawing/2014/main" id="{CC7DA8F0-5CA3-F8AC-042F-EE5DE657390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29" y="1616"/>
                          <a:ext cx="18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直接连接符 274445">
              <a:extLst>
                <a:ext uri="{FF2B5EF4-FFF2-40B4-BE49-F238E27FC236}">
                  <a16:creationId xmlns:a16="http://schemas.microsoft.com/office/drawing/2014/main" id="{E13432FF-55CB-75DA-7AAD-CA46A5D9E54E}"/>
                </a:ext>
              </a:extLst>
            </p:cNvPr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>
              <a:off x="884" y="3085"/>
              <a:ext cx="181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8" name="直接连接符 274453">
              <a:extLst>
                <a:ext uri="{FF2B5EF4-FFF2-40B4-BE49-F238E27FC236}">
                  <a16:creationId xmlns:a16="http://schemas.microsoft.com/office/drawing/2014/main" id="{91330AE6-7532-0564-EFB9-8775A025E9B2}"/>
                </a:ext>
              </a:extLst>
            </p:cNvPr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 flipH="1">
              <a:off x="883" y="2989"/>
              <a:ext cx="24" cy="1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Arial"/>
              </a:endParaRPr>
            </a:p>
          </p:txBody>
        </p:sp>
        <p:graphicFrame>
          <p:nvGraphicFramePr>
            <p:cNvPr id="9" name="对象 274458">
              <a:extLst>
                <a:ext uri="{FF2B5EF4-FFF2-40B4-BE49-F238E27FC236}">
                  <a16:creationId xmlns:a16="http://schemas.microsoft.com/office/drawing/2014/main" id="{B0B5B57E-0CB0-4260-8F1D-67247B110011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47"/>
              </p:custDataLst>
            </p:nvPr>
          </p:nvGraphicFramePr>
          <p:xfrm>
            <a:off x="702" y="3088"/>
            <a:ext cx="165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6" imgW="152400" imgH="177800" progId="Equation.3">
                    <p:embed/>
                  </p:oleObj>
                </mc:Choice>
                <mc:Fallback>
                  <p:oleObj r:id="rId56" imgW="152400" imgH="177800" progId="Equation.3">
                    <p:embed/>
                    <p:pic>
                      <p:nvPicPr>
                        <p:cNvPr id="9" name="对象 274458">
                          <a:extLst>
                            <a:ext uri="{FF2B5EF4-FFF2-40B4-BE49-F238E27FC236}">
                              <a16:creationId xmlns:a16="http://schemas.microsoft.com/office/drawing/2014/main" id="{B0B5B57E-0CB0-4260-8F1D-67247B11001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02" y="3088"/>
                          <a:ext cx="165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274463">
              <a:extLst>
                <a:ext uri="{FF2B5EF4-FFF2-40B4-BE49-F238E27FC236}">
                  <a16:creationId xmlns:a16="http://schemas.microsoft.com/office/drawing/2014/main" id="{0F386408-E12E-75B0-DDBC-54C325F3FDAE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48"/>
              </p:custDataLst>
            </p:nvPr>
          </p:nvGraphicFramePr>
          <p:xfrm>
            <a:off x="637" y="2802"/>
            <a:ext cx="138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8" imgW="127000" imgH="177165" progId="Equation.3">
                    <p:embed/>
                  </p:oleObj>
                </mc:Choice>
                <mc:Fallback>
                  <p:oleObj r:id="rId58" imgW="127000" imgH="177165" progId="Equation.3">
                    <p:embed/>
                    <p:pic>
                      <p:nvPicPr>
                        <p:cNvPr id="10" name="对象 274463">
                          <a:extLst>
                            <a:ext uri="{FF2B5EF4-FFF2-40B4-BE49-F238E27FC236}">
                              <a16:creationId xmlns:a16="http://schemas.microsoft.com/office/drawing/2014/main" id="{0F386408-E12E-75B0-DDBC-54C325F3FDA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37" y="2802"/>
                          <a:ext cx="138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274497">
              <a:extLst>
                <a:ext uri="{FF2B5EF4-FFF2-40B4-BE49-F238E27FC236}">
                  <a16:creationId xmlns:a16="http://schemas.microsoft.com/office/drawing/2014/main" id="{2F56D059-B235-556A-DF8F-C7D6797E0EF7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49"/>
              </p:custDataLst>
            </p:nvPr>
          </p:nvGraphicFramePr>
          <p:xfrm>
            <a:off x="2463" y="3113"/>
            <a:ext cx="166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0" imgW="127000" imgH="139700" progId="Equation.3">
                    <p:embed/>
                  </p:oleObj>
                </mc:Choice>
                <mc:Fallback>
                  <p:oleObj r:id="rId60" imgW="127000" imgH="139700" progId="Equation.3">
                    <p:embed/>
                    <p:pic>
                      <p:nvPicPr>
                        <p:cNvPr id="11" name="对象 274497">
                          <a:extLst>
                            <a:ext uri="{FF2B5EF4-FFF2-40B4-BE49-F238E27FC236}">
                              <a16:creationId xmlns:a16="http://schemas.microsoft.com/office/drawing/2014/main" id="{2F56D059-B235-556A-DF8F-C7D6797E0E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63" y="3113"/>
                          <a:ext cx="166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直接连接符 274498">
              <a:extLst>
                <a:ext uri="{FF2B5EF4-FFF2-40B4-BE49-F238E27FC236}">
                  <a16:creationId xmlns:a16="http://schemas.microsoft.com/office/drawing/2014/main" id="{A2541970-858D-3672-F6BE-2F82C98B8041}"/>
                </a:ext>
              </a:extLst>
            </p:cNvPr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 flipV="1">
              <a:off x="883" y="2044"/>
              <a:ext cx="1407" cy="72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3" name="左大括号 274499">
              <a:extLst>
                <a:ext uri="{FF2B5EF4-FFF2-40B4-BE49-F238E27FC236}">
                  <a16:creationId xmlns:a16="http://schemas.microsoft.com/office/drawing/2014/main" id="{9B8F0F81-102B-6392-1B9F-C44245AC7CD2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auto">
            <a:xfrm>
              <a:off x="790" y="2770"/>
              <a:ext cx="45" cy="318"/>
            </a:xfrm>
            <a:prstGeom prst="leftBrace">
              <a:avLst>
                <a:gd name="adj1" fmla="val 58758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/>
              </a:endParaRPr>
            </a:p>
          </p:txBody>
        </p:sp>
        <p:graphicFrame>
          <p:nvGraphicFramePr>
            <p:cNvPr id="14" name="对象 274500">
              <a:extLst>
                <a:ext uri="{FF2B5EF4-FFF2-40B4-BE49-F238E27FC236}">
                  <a16:creationId xmlns:a16="http://schemas.microsoft.com/office/drawing/2014/main" id="{19E90370-8240-F0B4-1F73-3538433C6814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52"/>
              </p:custDataLst>
            </p:nvPr>
          </p:nvGraphicFramePr>
          <p:xfrm>
            <a:off x="2244" y="2044"/>
            <a:ext cx="138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2" imgW="127000" imgH="177165" progId="Equation.3">
                    <p:embed/>
                  </p:oleObj>
                </mc:Choice>
                <mc:Fallback>
                  <p:oleObj r:id="rId62" imgW="127000" imgH="177165" progId="Equation.3">
                    <p:embed/>
                    <p:pic>
                      <p:nvPicPr>
                        <p:cNvPr id="14" name="对象 274500">
                          <a:extLst>
                            <a:ext uri="{FF2B5EF4-FFF2-40B4-BE49-F238E27FC236}">
                              <a16:creationId xmlns:a16="http://schemas.microsoft.com/office/drawing/2014/main" id="{19E90370-8240-F0B4-1F73-3538433C681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44" y="2044"/>
                          <a:ext cx="138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直接连接符 274501">
            <a:extLst>
              <a:ext uri="{FF2B5EF4-FFF2-40B4-BE49-F238E27FC236}">
                <a16:creationId xmlns:a16="http://schemas.microsoft.com/office/drawing/2014/main" id="{277695F4-303E-54E6-090D-B9939E81AE1C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H="1" flipV="1">
            <a:off x="4717319" y="2559875"/>
            <a:ext cx="0" cy="2286689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Arial"/>
            </a:endParaRPr>
          </a:p>
        </p:txBody>
      </p:sp>
      <p:graphicFrame>
        <p:nvGraphicFramePr>
          <p:cNvPr id="16" name="对象 274502">
            <a:extLst>
              <a:ext uri="{FF2B5EF4-FFF2-40B4-BE49-F238E27FC236}">
                <a16:creationId xmlns:a16="http://schemas.microsoft.com/office/drawing/2014/main" id="{70C644DE-474F-D801-C819-CD10DF24A299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4817084" y="2411019"/>
          <a:ext cx="235953" cy="289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4" imgW="114300" imgH="139700" progId="Equation.3">
                  <p:embed/>
                </p:oleObj>
              </mc:Choice>
              <mc:Fallback>
                <p:oleObj r:id="rId64" imgW="114300" imgH="139700" progId="Equation.3">
                  <p:embed/>
                  <p:pic>
                    <p:nvPicPr>
                      <p:cNvPr id="16" name="对象 274502">
                        <a:extLst>
                          <a:ext uri="{FF2B5EF4-FFF2-40B4-BE49-F238E27FC236}">
                            <a16:creationId xmlns:a16="http://schemas.microsoft.com/office/drawing/2014/main" id="{70C644DE-474F-D801-C819-CD10DF24A2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817084" y="2411019"/>
                        <a:ext cx="235953" cy="289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直接连接符 274503">
            <a:extLst>
              <a:ext uri="{FF2B5EF4-FFF2-40B4-BE49-F238E27FC236}">
                <a16:creationId xmlns:a16="http://schemas.microsoft.com/office/drawing/2014/main" id="{7FD97720-BC2A-CA98-107C-8D699F8037E5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18901" y="4710377"/>
            <a:ext cx="287261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Arial"/>
            </a:endParaRPr>
          </a:p>
        </p:txBody>
      </p:sp>
      <p:sp>
        <p:nvSpPr>
          <p:cNvPr id="18" name="直接连接符 274504">
            <a:extLst>
              <a:ext uri="{FF2B5EF4-FFF2-40B4-BE49-F238E27FC236}">
                <a16:creationId xmlns:a16="http://schemas.microsoft.com/office/drawing/2014/main" id="{87D1FC9B-5C7C-1170-D084-5F5A373023D5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4717319" y="4558353"/>
            <a:ext cx="38005" cy="15835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Arial"/>
            </a:endParaRPr>
          </a:p>
        </p:txBody>
      </p:sp>
      <p:graphicFrame>
        <p:nvGraphicFramePr>
          <p:cNvPr id="19" name="对象 274505">
            <a:extLst>
              <a:ext uri="{FF2B5EF4-FFF2-40B4-BE49-F238E27FC236}">
                <a16:creationId xmlns:a16="http://schemas.microsoft.com/office/drawing/2014/main" id="{E6971B28-4E32-6FF6-B51A-01ABD9C4D712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4430691" y="4715128"/>
          <a:ext cx="261291" cy="307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6" imgW="152400" imgH="177800" progId="Equation.3">
                  <p:embed/>
                </p:oleObj>
              </mc:Choice>
              <mc:Fallback>
                <p:oleObj r:id="rId66" imgW="152400" imgH="177800" progId="Equation.3">
                  <p:embed/>
                  <p:pic>
                    <p:nvPicPr>
                      <p:cNvPr id="19" name="对象 274505">
                        <a:extLst>
                          <a:ext uri="{FF2B5EF4-FFF2-40B4-BE49-F238E27FC236}">
                            <a16:creationId xmlns:a16="http://schemas.microsoft.com/office/drawing/2014/main" id="{E6971B28-4E32-6FF6-B51A-01ABD9C4D7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430691" y="4715128"/>
                        <a:ext cx="261291" cy="307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274507">
            <a:extLst>
              <a:ext uri="{FF2B5EF4-FFF2-40B4-BE49-F238E27FC236}">
                <a16:creationId xmlns:a16="http://schemas.microsoft.com/office/drawing/2014/main" id="{BF1D1CC6-A64D-1FDE-B5C9-D9E5C3693EBC}"/>
              </a:ext>
            </a:extLst>
          </p:cNvPr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7257381" y="4742049"/>
          <a:ext cx="185280" cy="318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7" imgW="88265" imgH="151765" progId="Equation.3">
                  <p:embed/>
                </p:oleObj>
              </mc:Choice>
              <mc:Fallback>
                <p:oleObj r:id="rId67" imgW="88265" imgH="151765" progId="Equation.3">
                  <p:embed/>
                  <p:pic>
                    <p:nvPicPr>
                      <p:cNvPr id="20" name="对象 274507">
                        <a:extLst>
                          <a:ext uri="{FF2B5EF4-FFF2-40B4-BE49-F238E27FC236}">
                            <a16:creationId xmlns:a16="http://schemas.microsoft.com/office/drawing/2014/main" id="{BF1D1CC6-A64D-1FDE-B5C9-D9E5C3693E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7257381" y="4742049"/>
                        <a:ext cx="185280" cy="3182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直接连接符 274508">
            <a:extLst>
              <a:ext uri="{FF2B5EF4-FFF2-40B4-BE49-F238E27FC236}">
                <a16:creationId xmlns:a16="http://schemas.microsoft.com/office/drawing/2014/main" id="{DB9A199A-A7C3-53D0-C5F3-C4975130DAC8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V="1">
            <a:off x="4717319" y="3061869"/>
            <a:ext cx="2228097" cy="1149679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Arial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D183A4D-FF79-28C1-1BA1-789A4D272E32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3904941" y="3034949"/>
            <a:ext cx="3597895" cy="1648507"/>
            <a:chOff x="3899518" y="3033974"/>
            <a:chExt cx="3606801" cy="1652587"/>
          </a:xfrm>
        </p:grpSpPr>
        <p:graphicFrame>
          <p:nvGraphicFramePr>
            <p:cNvPr id="23" name="对象 274506">
              <a:extLst>
                <a:ext uri="{FF2B5EF4-FFF2-40B4-BE49-F238E27FC236}">
                  <a16:creationId xmlns:a16="http://schemas.microsoft.com/office/drawing/2014/main" id="{53336664-4761-D23A-DEE5-FD890B9557D1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40"/>
              </p:custDataLst>
            </p:nvPr>
          </p:nvGraphicFramePr>
          <p:xfrm>
            <a:off x="3899518" y="4272224"/>
            <a:ext cx="657225" cy="398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9" imgW="381000" imgH="228600" progId="Equation.3">
                    <p:embed/>
                  </p:oleObj>
                </mc:Choice>
                <mc:Fallback>
                  <p:oleObj r:id="rId69" imgW="381000" imgH="228600" progId="Equation.3">
                    <p:embed/>
                    <p:pic>
                      <p:nvPicPr>
                        <p:cNvPr id="23" name="对象 274506">
                          <a:extLst>
                            <a:ext uri="{FF2B5EF4-FFF2-40B4-BE49-F238E27FC236}">
                              <a16:creationId xmlns:a16="http://schemas.microsoft.com/office/drawing/2014/main" id="{53336664-4761-D23A-DEE5-FD890B9557D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99518" y="4272224"/>
                          <a:ext cx="657225" cy="398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左大括号 274509">
              <a:extLst>
                <a:ext uri="{FF2B5EF4-FFF2-40B4-BE49-F238E27FC236}">
                  <a16:creationId xmlns:a16="http://schemas.microsoft.com/office/drawing/2014/main" id="{6F6BA534-5377-3F8B-52F7-4FF4C25A5296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auto">
            <a:xfrm>
              <a:off x="4571031" y="4181736"/>
              <a:ext cx="71438" cy="504825"/>
            </a:xfrm>
            <a:prstGeom prst="leftBrace">
              <a:avLst>
                <a:gd name="adj1" fmla="val 58758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/>
              </a:endParaRPr>
            </a:p>
          </p:txBody>
        </p:sp>
        <p:graphicFrame>
          <p:nvGraphicFramePr>
            <p:cNvPr id="25" name="对象 274510">
              <a:extLst>
                <a:ext uri="{FF2B5EF4-FFF2-40B4-BE49-F238E27FC236}">
                  <a16:creationId xmlns:a16="http://schemas.microsoft.com/office/drawing/2014/main" id="{8D1870C7-4D02-990B-DBE7-8A3DA3E8B8B3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42"/>
              </p:custDataLst>
            </p:nvPr>
          </p:nvGraphicFramePr>
          <p:xfrm>
            <a:off x="6891956" y="3033974"/>
            <a:ext cx="614363" cy="309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1" imgW="354965" imgH="177800" progId="Equation.3">
                    <p:embed/>
                  </p:oleObj>
                </mc:Choice>
                <mc:Fallback>
                  <p:oleObj r:id="rId71" imgW="354965" imgH="177800" progId="Equation.3">
                    <p:embed/>
                    <p:pic>
                      <p:nvPicPr>
                        <p:cNvPr id="25" name="对象 274510">
                          <a:extLst>
                            <a:ext uri="{FF2B5EF4-FFF2-40B4-BE49-F238E27FC236}">
                              <a16:creationId xmlns:a16="http://schemas.microsoft.com/office/drawing/2014/main" id="{8D1870C7-4D02-990B-DBE7-8A3DA3E8B8B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891956" y="3033974"/>
                          <a:ext cx="614363" cy="309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7299B095-F13B-D9C7-1E2F-4992C913856D}"/>
              </a:ext>
            </a:extLst>
          </p:cNvPr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1693333" y="5387340"/>
          <a:ext cx="1604433" cy="514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3" imgW="634365" imgH="203200" progId="Equation.3">
                  <p:embed/>
                </p:oleObj>
              </mc:Choice>
              <mc:Fallback>
                <p:oleObj r:id="rId73" imgW="634365" imgH="203200" progId="Equation.3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7299B095-F13B-D9C7-1E2F-4992C91385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693333" y="5387340"/>
                        <a:ext cx="1604433" cy="5147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4FC85700-A608-A7C7-750A-951379363362}"/>
              </a:ext>
            </a:extLst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5515239" y="4964135"/>
          <a:ext cx="1318260" cy="423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5" imgW="634365" imgH="203200" progId="Equation.3">
                  <p:embed/>
                </p:oleObj>
              </mc:Choice>
              <mc:Fallback>
                <p:oleObj r:id="rId75" imgW="634365" imgH="203200" progId="Equation.3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4FC85700-A608-A7C7-750A-9513793633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5515239" y="4964135"/>
                        <a:ext cx="1318260" cy="423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3EE2B8DE-96BD-3198-782A-55B43B80FE1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5536185" y="5322281"/>
            <a:ext cx="237537" cy="788623"/>
            <a:chOff x="3477" y="3339"/>
            <a:chExt cx="150" cy="498"/>
          </a:xfrm>
        </p:grpSpPr>
        <p:graphicFrame>
          <p:nvGraphicFramePr>
            <p:cNvPr id="29" name="对象 274513">
              <a:extLst>
                <a:ext uri="{FF2B5EF4-FFF2-40B4-BE49-F238E27FC236}">
                  <a16:creationId xmlns:a16="http://schemas.microsoft.com/office/drawing/2014/main" id="{5157050C-901E-28EB-7699-D195228904DB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38"/>
              </p:custDataLst>
            </p:nvPr>
          </p:nvGraphicFramePr>
          <p:xfrm>
            <a:off x="3477" y="3654"/>
            <a:ext cx="150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7" imgW="114300" imgH="139700" progId="Equation.3">
                    <p:embed/>
                  </p:oleObj>
                </mc:Choice>
                <mc:Fallback>
                  <p:oleObj r:id="rId77" imgW="114300" imgH="139700" progId="Equation.3">
                    <p:embed/>
                    <p:pic>
                      <p:nvPicPr>
                        <p:cNvPr id="29" name="对象 274513">
                          <a:extLst>
                            <a:ext uri="{FF2B5EF4-FFF2-40B4-BE49-F238E27FC236}">
                              <a16:creationId xmlns:a16="http://schemas.microsoft.com/office/drawing/2014/main" id="{5157050C-901E-28EB-7699-D195228904D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77" y="3654"/>
                          <a:ext cx="150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直接连接符 274514">
              <a:extLst>
                <a:ext uri="{FF2B5EF4-FFF2-40B4-BE49-F238E27FC236}">
                  <a16:creationId xmlns:a16="http://schemas.microsoft.com/office/drawing/2014/main" id="{14888097-6839-4C07-85FF-A925C2B6C9A6}"/>
                </a:ext>
              </a:extLst>
            </p:cNvPr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 flipH="1">
              <a:off x="3560" y="3339"/>
              <a:ext cx="0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Arial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DAFC58C-2398-BF4E-F4D4-7E698F155509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5943165" y="5322281"/>
            <a:ext cx="262875" cy="793375"/>
            <a:chOff x="3734" y="3339"/>
            <a:chExt cx="166" cy="501"/>
          </a:xfrm>
        </p:grpSpPr>
        <p:sp>
          <p:nvSpPr>
            <p:cNvPr id="32" name="直接连接符 274517">
              <a:extLst>
                <a:ext uri="{FF2B5EF4-FFF2-40B4-BE49-F238E27FC236}">
                  <a16:creationId xmlns:a16="http://schemas.microsoft.com/office/drawing/2014/main" id="{45FD3936-68C4-D102-B45C-B39574128AEE}"/>
                </a:ext>
              </a:extLst>
            </p:cNvPr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flipH="1">
              <a:off x="3833" y="3339"/>
              <a:ext cx="0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Arial"/>
              </a:endParaRPr>
            </a:p>
          </p:txBody>
        </p:sp>
        <p:graphicFrame>
          <p:nvGraphicFramePr>
            <p:cNvPr id="33" name="对象 274518">
              <a:extLst>
                <a:ext uri="{FF2B5EF4-FFF2-40B4-BE49-F238E27FC236}">
                  <a16:creationId xmlns:a16="http://schemas.microsoft.com/office/drawing/2014/main" id="{0CAA7C0A-7EDD-FA2C-F725-8065CE1D240B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37"/>
              </p:custDataLst>
            </p:nvPr>
          </p:nvGraphicFramePr>
          <p:xfrm>
            <a:off x="3734" y="3657"/>
            <a:ext cx="166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9" imgW="127000" imgH="139700" progId="Equation.3">
                    <p:embed/>
                  </p:oleObj>
                </mc:Choice>
                <mc:Fallback>
                  <p:oleObj r:id="rId79" imgW="127000" imgH="139700" progId="Equation.3">
                    <p:embed/>
                    <p:pic>
                      <p:nvPicPr>
                        <p:cNvPr id="33" name="对象 274518">
                          <a:extLst>
                            <a:ext uri="{FF2B5EF4-FFF2-40B4-BE49-F238E27FC236}">
                              <a16:creationId xmlns:a16="http://schemas.microsoft.com/office/drawing/2014/main" id="{0CAA7C0A-7EDD-FA2C-F725-8065CE1D240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34" y="3657"/>
                          <a:ext cx="166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6132FC3-17AE-1CF9-E43F-B5B887A49826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6175952" y="5322281"/>
            <a:ext cx="185279" cy="807625"/>
            <a:chOff x="3881" y="3339"/>
            <a:chExt cx="117" cy="510"/>
          </a:xfrm>
        </p:grpSpPr>
        <p:sp>
          <p:nvSpPr>
            <p:cNvPr id="35" name="直接连接符 274515">
              <a:extLst>
                <a:ext uri="{FF2B5EF4-FFF2-40B4-BE49-F238E27FC236}">
                  <a16:creationId xmlns:a16="http://schemas.microsoft.com/office/drawing/2014/main" id="{60227BAE-301A-B341-99E6-D6ADD9D7F1A9}"/>
                </a:ext>
              </a:extLst>
            </p:cNvPr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flipH="1">
              <a:off x="3931" y="3339"/>
              <a:ext cx="0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Arial"/>
              </a:endParaRPr>
            </a:p>
          </p:txBody>
        </p:sp>
        <p:graphicFrame>
          <p:nvGraphicFramePr>
            <p:cNvPr id="36" name="对象 274519">
              <a:extLst>
                <a:ext uri="{FF2B5EF4-FFF2-40B4-BE49-F238E27FC236}">
                  <a16:creationId xmlns:a16="http://schemas.microsoft.com/office/drawing/2014/main" id="{BE2CE39E-DACF-8C19-76B8-5130414821A6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35"/>
              </p:custDataLst>
            </p:nvPr>
          </p:nvGraphicFramePr>
          <p:xfrm>
            <a:off x="3881" y="3649"/>
            <a:ext cx="11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1" imgW="88265" imgH="151765" progId="Equation.3">
                    <p:embed/>
                  </p:oleObj>
                </mc:Choice>
                <mc:Fallback>
                  <p:oleObj r:id="rId81" imgW="88265" imgH="151765" progId="Equation.3">
                    <p:embed/>
                    <p:pic>
                      <p:nvPicPr>
                        <p:cNvPr id="36" name="对象 274519">
                          <a:extLst>
                            <a:ext uri="{FF2B5EF4-FFF2-40B4-BE49-F238E27FC236}">
                              <a16:creationId xmlns:a16="http://schemas.microsoft.com/office/drawing/2014/main" id="{BE2CE39E-DACF-8C19-76B8-5130414821A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81" y="3649"/>
                          <a:ext cx="117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D59A553-8C48-198A-0D09-28C09A265009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6546511" y="5322281"/>
            <a:ext cx="343636" cy="886805"/>
            <a:chOff x="4115" y="3339"/>
            <a:chExt cx="217" cy="560"/>
          </a:xfrm>
        </p:grpSpPr>
        <p:sp>
          <p:nvSpPr>
            <p:cNvPr id="38" name="直接连接符 274516">
              <a:extLst>
                <a:ext uri="{FF2B5EF4-FFF2-40B4-BE49-F238E27FC236}">
                  <a16:creationId xmlns:a16="http://schemas.microsoft.com/office/drawing/2014/main" id="{AE30AB88-1122-88C9-2C8B-433BC6A36D8E}"/>
                </a:ext>
              </a:extLst>
            </p:cNvPr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4195" y="3339"/>
              <a:ext cx="0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Arial"/>
              </a:endParaRPr>
            </a:p>
          </p:txBody>
        </p:sp>
        <p:graphicFrame>
          <p:nvGraphicFramePr>
            <p:cNvPr id="39" name="对象 274520">
              <a:extLst>
                <a:ext uri="{FF2B5EF4-FFF2-40B4-BE49-F238E27FC236}">
                  <a16:creationId xmlns:a16="http://schemas.microsoft.com/office/drawing/2014/main" id="{7B2EBC05-F6CB-D89E-B0C0-48C7C6B1BBF3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33"/>
              </p:custDataLst>
            </p:nvPr>
          </p:nvGraphicFramePr>
          <p:xfrm>
            <a:off x="4115" y="3599"/>
            <a:ext cx="21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3" imgW="165100" imgH="228600" progId="Equation.3">
                    <p:embed/>
                  </p:oleObj>
                </mc:Choice>
                <mc:Fallback>
                  <p:oleObj r:id="rId83" imgW="165100" imgH="228600" progId="Equation.3">
                    <p:embed/>
                    <p:pic>
                      <p:nvPicPr>
                        <p:cNvPr id="39" name="对象 274520">
                          <a:extLst>
                            <a:ext uri="{FF2B5EF4-FFF2-40B4-BE49-F238E27FC236}">
                              <a16:creationId xmlns:a16="http://schemas.microsoft.com/office/drawing/2014/main" id="{7B2EBC05-F6CB-D89E-B0C0-48C7C6B1BBF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15" y="3599"/>
                          <a:ext cx="217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2931E74B-3C62-2B1C-60AE-AF0ACCA1F171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5727799" y="5865451"/>
          <a:ext cx="262875" cy="210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5" imgW="127000" imgH="101600" progId="Equation.3">
                  <p:embed/>
                </p:oleObj>
              </mc:Choice>
              <mc:Fallback>
                <p:oleObj r:id="rId85" imgW="127000" imgH="101600" progId="Equation.3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2931E74B-3C62-2B1C-60AE-AF0ACCA1F1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727799" y="5865451"/>
                        <a:ext cx="262875" cy="210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C3C512D4-87E3-6339-F248-AF12ABDCDBFA}"/>
              </a:ext>
            </a:extLst>
          </p:cNvPr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6327976" y="5806857"/>
          <a:ext cx="289795" cy="289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7" imgW="139700" imgH="139700" progId="Equation.3">
                  <p:embed/>
                </p:oleObj>
              </mc:Choice>
              <mc:Fallback>
                <p:oleObj r:id="rId87" imgW="139700" imgH="139700" progId="Equation.3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C3C512D4-87E3-6339-F248-AF12ABDCDB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327976" y="5806857"/>
                        <a:ext cx="289795" cy="289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直接连接符 277526">
            <a:extLst>
              <a:ext uri="{FF2B5EF4-FFF2-40B4-BE49-F238E27FC236}">
                <a16:creationId xmlns:a16="http://schemas.microsoft.com/office/drawing/2014/main" id="{5596B6AE-AE08-6415-E527-CF7687CD08BE}"/>
              </a:ext>
            </a:extLst>
          </p:cNvPr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 flipH="1" flipV="1">
            <a:off x="8435579" y="2607751"/>
            <a:ext cx="0" cy="2286689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Arial"/>
            </a:endParaRPr>
          </a:p>
        </p:txBody>
      </p:sp>
      <p:graphicFrame>
        <p:nvGraphicFramePr>
          <p:cNvPr id="43" name="对象 277527">
            <a:extLst>
              <a:ext uri="{FF2B5EF4-FFF2-40B4-BE49-F238E27FC236}">
                <a16:creationId xmlns:a16="http://schemas.microsoft.com/office/drawing/2014/main" id="{85118902-03A7-6262-1621-0D305E888780}"/>
              </a:ext>
            </a:extLst>
          </p:cNvPr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8535345" y="2458893"/>
          <a:ext cx="235953" cy="289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9" imgW="114300" imgH="139700" progId="Equation.3">
                  <p:embed/>
                </p:oleObj>
              </mc:Choice>
              <mc:Fallback>
                <p:oleObj r:id="rId89" imgW="114300" imgH="139700" progId="Equation.3">
                  <p:embed/>
                  <p:pic>
                    <p:nvPicPr>
                      <p:cNvPr id="43" name="对象 277527">
                        <a:extLst>
                          <a:ext uri="{FF2B5EF4-FFF2-40B4-BE49-F238E27FC236}">
                            <a16:creationId xmlns:a16="http://schemas.microsoft.com/office/drawing/2014/main" id="{85118902-03A7-6262-1621-0D305E8887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535345" y="2458893"/>
                        <a:ext cx="235953" cy="289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直接连接符 277528">
            <a:extLst>
              <a:ext uri="{FF2B5EF4-FFF2-40B4-BE49-F238E27FC236}">
                <a16:creationId xmlns:a16="http://schemas.microsoft.com/office/drawing/2014/main" id="{9D5E250A-B1FA-909A-2C2C-1A21BA950FBB}"/>
              </a:ext>
            </a:extLst>
          </p:cNvPr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8437163" y="4758252"/>
            <a:ext cx="287261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Arial"/>
            </a:endParaRPr>
          </a:p>
        </p:txBody>
      </p:sp>
      <p:sp>
        <p:nvSpPr>
          <p:cNvPr id="45" name="直接连接符 277529">
            <a:extLst>
              <a:ext uri="{FF2B5EF4-FFF2-40B4-BE49-F238E27FC236}">
                <a16:creationId xmlns:a16="http://schemas.microsoft.com/office/drawing/2014/main" id="{847ED502-DA19-90C6-E192-166FB5431E03}"/>
              </a:ext>
            </a:extLst>
          </p:cNvPr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 flipH="1">
            <a:off x="8435579" y="4606228"/>
            <a:ext cx="38005" cy="15835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Arial"/>
            </a:endParaRPr>
          </a:p>
        </p:txBody>
      </p:sp>
      <p:graphicFrame>
        <p:nvGraphicFramePr>
          <p:cNvPr id="46" name="对象 277530">
            <a:extLst>
              <a:ext uri="{FF2B5EF4-FFF2-40B4-BE49-F238E27FC236}">
                <a16:creationId xmlns:a16="http://schemas.microsoft.com/office/drawing/2014/main" id="{F0E5057F-B009-9D49-9211-534B9677BE00}"/>
              </a:ext>
            </a:extLst>
          </p:cNvPr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8148952" y="4763003"/>
          <a:ext cx="261291" cy="307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0" imgW="152400" imgH="177800" progId="Equation.3">
                  <p:embed/>
                </p:oleObj>
              </mc:Choice>
              <mc:Fallback>
                <p:oleObj r:id="rId90" imgW="152400" imgH="177800" progId="Equation.3">
                  <p:embed/>
                  <p:pic>
                    <p:nvPicPr>
                      <p:cNvPr id="46" name="对象 277530">
                        <a:extLst>
                          <a:ext uri="{FF2B5EF4-FFF2-40B4-BE49-F238E27FC236}">
                            <a16:creationId xmlns:a16="http://schemas.microsoft.com/office/drawing/2014/main" id="{F0E5057F-B009-9D49-9211-534B9677B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148952" y="4763003"/>
                        <a:ext cx="261291" cy="307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277532">
            <a:extLst>
              <a:ext uri="{FF2B5EF4-FFF2-40B4-BE49-F238E27FC236}">
                <a16:creationId xmlns:a16="http://schemas.microsoft.com/office/drawing/2014/main" id="{B08936D9-0667-D4E6-F779-444E63063FA7}"/>
              </a:ext>
            </a:extLst>
          </p:cNvPr>
          <p:cNvGraphicFramePr>
            <a:graphicFrameLocks noChangeAspect="1"/>
          </p:cNvGraphicFramePr>
          <p:nvPr>
            <p:custDataLst>
              <p:tags r:id="rId23"/>
            </p:custDataLst>
          </p:nvPr>
        </p:nvGraphicFramePr>
        <p:xfrm>
          <a:off x="10975641" y="4789924"/>
          <a:ext cx="185280" cy="318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1" imgW="88265" imgH="151765" progId="Equation.3">
                  <p:embed/>
                </p:oleObj>
              </mc:Choice>
              <mc:Fallback>
                <p:oleObj r:id="rId91" imgW="88265" imgH="151765" progId="Equation.3">
                  <p:embed/>
                  <p:pic>
                    <p:nvPicPr>
                      <p:cNvPr id="47" name="对象 277532">
                        <a:extLst>
                          <a:ext uri="{FF2B5EF4-FFF2-40B4-BE49-F238E27FC236}">
                            <a16:creationId xmlns:a16="http://schemas.microsoft.com/office/drawing/2014/main" id="{B08936D9-0667-D4E6-F779-444E63063F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0975641" y="4789924"/>
                        <a:ext cx="185280" cy="3182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直接连接符 277533">
            <a:extLst>
              <a:ext uri="{FF2B5EF4-FFF2-40B4-BE49-F238E27FC236}">
                <a16:creationId xmlns:a16="http://schemas.microsoft.com/office/drawing/2014/main" id="{C789FC1D-05F6-D8A1-47D0-C151A2947F40}"/>
              </a:ext>
            </a:extLst>
          </p:cNvPr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 flipV="1">
            <a:off x="8435579" y="3109745"/>
            <a:ext cx="2228097" cy="1149679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Arial"/>
            </a:endParaRPr>
          </a:p>
        </p:txBody>
      </p:sp>
      <p:graphicFrame>
        <p:nvGraphicFramePr>
          <p:cNvPr id="49" name="对象 277535">
            <a:extLst>
              <a:ext uri="{FF2B5EF4-FFF2-40B4-BE49-F238E27FC236}">
                <a16:creationId xmlns:a16="http://schemas.microsoft.com/office/drawing/2014/main" id="{CBDC2D90-5713-3524-AB4C-9E4615DCC682}"/>
              </a:ext>
            </a:extLst>
          </p:cNvPr>
          <p:cNvGraphicFramePr>
            <a:graphicFrameLocks noChangeAspect="1"/>
          </p:cNvGraphicFramePr>
          <p:nvPr>
            <p:custDataLst>
              <p:tags r:id="rId25"/>
            </p:custDataLst>
          </p:nvPr>
        </p:nvGraphicFramePr>
        <p:xfrm>
          <a:off x="10804615" y="3116079"/>
          <a:ext cx="220119" cy="24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2" imgW="127000" imgH="139700" progId="Equation.3">
                  <p:embed/>
                </p:oleObj>
              </mc:Choice>
              <mc:Fallback>
                <p:oleObj r:id="rId92" imgW="127000" imgH="139700" progId="Equation.3">
                  <p:embed/>
                  <p:pic>
                    <p:nvPicPr>
                      <p:cNvPr id="49" name="对象 277535">
                        <a:extLst>
                          <a:ext uri="{FF2B5EF4-FFF2-40B4-BE49-F238E27FC236}">
                            <a16:creationId xmlns:a16="http://schemas.microsoft.com/office/drawing/2014/main" id="{CBDC2D90-5713-3524-AB4C-9E4615DCC6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0804615" y="3116079"/>
                        <a:ext cx="220119" cy="24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277548">
            <a:extLst>
              <a:ext uri="{FF2B5EF4-FFF2-40B4-BE49-F238E27FC236}">
                <a16:creationId xmlns:a16="http://schemas.microsoft.com/office/drawing/2014/main" id="{72D96BC3-28BD-C16E-F0EB-B000D1B5C6F2}"/>
              </a:ext>
            </a:extLst>
          </p:cNvPr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8150535" y="4012385"/>
          <a:ext cx="285044" cy="397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4" imgW="165100" imgH="228600" progId="Equation.3">
                  <p:embed/>
                </p:oleObj>
              </mc:Choice>
              <mc:Fallback>
                <p:oleObj r:id="rId94" imgW="165100" imgH="228600" progId="Equation.3">
                  <p:embed/>
                  <p:pic>
                    <p:nvPicPr>
                      <p:cNvPr id="50" name="对象 277548">
                        <a:extLst>
                          <a:ext uri="{FF2B5EF4-FFF2-40B4-BE49-F238E27FC236}">
                            <a16:creationId xmlns:a16="http://schemas.microsoft.com/office/drawing/2014/main" id="{72D96BC3-28BD-C16E-F0EB-B000D1B5C6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150535" y="4012385"/>
                        <a:ext cx="285044" cy="3974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直接连接符 277549">
            <a:extLst>
              <a:ext uri="{FF2B5EF4-FFF2-40B4-BE49-F238E27FC236}">
                <a16:creationId xmlns:a16="http://schemas.microsoft.com/office/drawing/2014/main" id="{D2CF14B4-CE48-BA32-7B86-7A759A8FD6E6}"/>
              </a:ext>
            </a:extLst>
          </p:cNvPr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8449832" y="3280772"/>
            <a:ext cx="18670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Arial"/>
            </a:endParaRPr>
          </a:p>
        </p:txBody>
      </p:sp>
      <p:sp>
        <p:nvSpPr>
          <p:cNvPr id="52" name="直接连接符 277550">
            <a:extLst>
              <a:ext uri="{FF2B5EF4-FFF2-40B4-BE49-F238E27FC236}">
                <a16:creationId xmlns:a16="http://schemas.microsoft.com/office/drawing/2014/main" id="{8EDECEF5-1698-1DB5-FDF8-73D880777FA8}"/>
              </a:ext>
            </a:extLst>
          </p:cNvPr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 flipH="1">
            <a:off x="10304204" y="3306109"/>
            <a:ext cx="0" cy="1436308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Arial"/>
            </a:endParaRPr>
          </a:p>
        </p:txBody>
      </p:sp>
      <p:graphicFrame>
        <p:nvGraphicFramePr>
          <p:cNvPr id="53" name="对象 277551">
            <a:extLst>
              <a:ext uri="{FF2B5EF4-FFF2-40B4-BE49-F238E27FC236}">
                <a16:creationId xmlns:a16="http://schemas.microsoft.com/office/drawing/2014/main" id="{5957840B-ACF5-8848-89B2-841CBD1DA7CF}"/>
              </a:ext>
            </a:extLst>
          </p:cNvPr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8172705" y="3073323"/>
          <a:ext cx="240704" cy="397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6" imgW="139700" imgH="228600" progId="Equation.3">
                  <p:embed/>
                </p:oleObj>
              </mc:Choice>
              <mc:Fallback>
                <p:oleObj r:id="rId96" imgW="139700" imgH="228600" progId="Equation.3">
                  <p:embed/>
                  <p:pic>
                    <p:nvPicPr>
                      <p:cNvPr id="53" name="对象 277551">
                        <a:extLst>
                          <a:ext uri="{FF2B5EF4-FFF2-40B4-BE49-F238E27FC236}">
                            <a16:creationId xmlns:a16="http://schemas.microsoft.com/office/drawing/2014/main" id="{5957840B-ACF5-8848-89B2-841CBD1DA7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172705" y="3073323"/>
                        <a:ext cx="240704" cy="3974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277552">
            <a:extLst>
              <a:ext uri="{FF2B5EF4-FFF2-40B4-BE49-F238E27FC236}">
                <a16:creationId xmlns:a16="http://schemas.microsoft.com/office/drawing/2014/main" id="{29510304-1B9B-F775-4867-D5814C5EFC95}"/>
              </a:ext>
            </a:extLst>
          </p:cNvPr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10220275" y="4739249"/>
          <a:ext cx="185279" cy="318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8" imgW="88265" imgH="151765" progId="Equation.3">
                  <p:embed/>
                </p:oleObj>
              </mc:Choice>
              <mc:Fallback>
                <p:oleObj r:id="rId98" imgW="88265" imgH="151765" progId="Equation.3">
                  <p:embed/>
                  <p:pic>
                    <p:nvPicPr>
                      <p:cNvPr id="54" name="对象 277552">
                        <a:extLst>
                          <a:ext uri="{FF2B5EF4-FFF2-40B4-BE49-F238E27FC236}">
                            <a16:creationId xmlns:a16="http://schemas.microsoft.com/office/drawing/2014/main" id="{29510304-1B9B-F775-4867-D5814C5EFC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0220275" y="4739249"/>
                        <a:ext cx="185279" cy="3182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hlinkClick r:id="" action="ppaction://ole?verb=1"/>
            <a:extLst>
              <a:ext uri="{FF2B5EF4-FFF2-40B4-BE49-F238E27FC236}">
                <a16:creationId xmlns:a16="http://schemas.microsoft.com/office/drawing/2014/main" id="{AB77AD96-C01C-C17C-092F-E65514D08B60}"/>
              </a:ext>
            </a:extLst>
          </p:cNvPr>
          <p:cNvGraphicFramePr>
            <a:graphicFrameLocks noChangeAspect="1"/>
          </p:cNvGraphicFramePr>
          <p:nvPr>
            <p:custDataLst>
              <p:tags r:id="rId31"/>
            </p:custDataLst>
          </p:nvPr>
        </p:nvGraphicFramePr>
        <p:xfrm>
          <a:off x="8647253" y="5209784"/>
          <a:ext cx="20288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0" imgW="685800" imgH="215900" progId="Equation.3">
                  <p:embed/>
                </p:oleObj>
              </mc:Choice>
              <mc:Fallback>
                <p:oleObj name="公式" r:id="rId100" imgW="685800" imgH="215900" progId="Equation.3">
                  <p:embed/>
                  <p:pic>
                    <p:nvPicPr>
                      <p:cNvPr id="55" name="对象 54">
                        <a:hlinkClick r:id="" action="ppaction://ole?verb=1"/>
                        <a:extLst>
                          <a:ext uri="{FF2B5EF4-FFF2-40B4-BE49-F238E27FC236}">
                            <a16:creationId xmlns:a16="http://schemas.microsoft.com/office/drawing/2014/main" id="{AB77AD96-C01C-C17C-092F-E65514D08B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1"/>
                      <a:stretch>
                        <a:fillRect/>
                      </a:stretch>
                    </p:blipFill>
                    <p:spPr>
                      <a:xfrm>
                        <a:off x="8647253" y="5209784"/>
                        <a:ext cx="20288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287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4" grpId="0" animBg="1"/>
      <p:bldP spid="45" grpId="0"/>
      <p:bldP spid="48" grpId="0" animBg="1"/>
      <p:bldP spid="51" grpId="0" animBg="1"/>
      <p:bldP spid="5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8" name="yt_shape_11808"/>
          <p:cNvSpPr txBox="1"/>
          <p:nvPr/>
        </p:nvSpPr>
        <p:spPr>
          <a:xfrm>
            <a:off x="324071" y="671199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匀变速直线运动的理解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浙江台州高一期中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1bf72"/>
              </a:rPr>
              <a:t>匀变速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直线运动是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1809" name="yt_table_11809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1838255"/>
          <a:ext cx="7877175" cy="2389632"/>
        </p:xfrm>
        <a:graphic>
          <a:graphicData uri="http://schemas.openxmlformats.org/drawingml/2006/table">
            <a:tbl>
              <a:tblPr/>
              <a:tblGrid>
                <a:gridCol w="7877175">
                  <a:extLst>
                    <a:ext uri="{9D8B030D-6E8A-4147-A177-3AD203B41FA5}">
                      <a16:colId xmlns:a16="http://schemas.microsoft.com/office/drawing/2014/main" val="10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位移随时间均匀变化的运动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加速度随时间均匀变化的运动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速度随时间均匀变化的运动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加速度的大小不变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方向可变化的直线运动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3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2700" y="3020371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2" name="yt_shape_11812"/>
          <p:cNvSpPr txBox="1"/>
          <p:nvPr/>
        </p:nvSpPr>
        <p:spPr>
          <a:xfrm>
            <a:off x="324071" y="51879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spc="15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位移随时间均匀变化的运动为匀速直线运动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e4743"/>
              </a:rPr>
              <a:t>物体沿</a:t>
            </a:r>
            <a:b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着一条直线且加速度不变的运动叫做匀变速直线运动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6_a2c79"/>
              </a:rPr>
              <a:t>匀变速直线运</a:t>
            </a:r>
            <a:b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动是加速度保持不变的运动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7_52e2a"/>
              </a:rPr>
              <a:t>加速度不变也就是物体在单位时间里速</a:t>
            </a:r>
            <a:b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度的变化是相同的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也就是物体的速度随时间是均匀变化的运动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1_627fe"/>
              </a:rPr>
              <a:t>C</a:t>
            </a:r>
            <a:br>
              <a:rPr lang="en-US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3" name="yt_shape_11813"/>
          <p:cNvSpPr txBox="1"/>
          <p:nvPr/>
        </p:nvSpPr>
        <p:spPr>
          <a:xfrm>
            <a:off x="324071" y="467999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从图像认识匀变速直线运动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2_35e5e"/>
              </a:rPr>
              <a:t>几个质点的运动图像如图所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其中都能表示匀变速直线运动的选项是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1814" name="yt_image_11814" title="H_157.8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3308" y="1787419"/>
            <a:ext cx="7145383" cy="2004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816" name="yt_table_11816" title="H_94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3841825"/>
          <a:ext cx="6729730" cy="1194816"/>
        </p:xfrm>
        <a:graphic>
          <a:graphicData uri="http://schemas.openxmlformats.org/drawingml/2006/table">
            <a:tbl>
              <a:tblPr/>
              <a:tblGrid>
                <a:gridCol w="3830955">
                  <a:extLst>
                    <a:ext uri="{9D8B030D-6E8A-4147-A177-3AD203B41FA5}">
                      <a16:colId xmlns:a16="http://schemas.microsoft.com/office/drawing/2014/main" val="10142"/>
                    </a:ext>
                  </a:extLst>
                </a:gridCol>
                <a:gridCol w="2898775">
                  <a:extLst>
                    <a:ext uri="{9D8B030D-6E8A-4147-A177-3AD203B41FA5}">
                      <a16:colId xmlns:a16="http://schemas.microsoft.com/office/drawing/2014/main" val="10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丙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丁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丙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丁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丙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丁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5"/>
                  </a:ext>
                </a:extLst>
              </a:tr>
            </a:tbl>
          </a:graphicData>
        </a:graphic>
      </p:graphicFrame>
      <p:sp>
        <p:nvSpPr>
          <p:cNvPr id="11819" name="yt_shape_11819"/>
          <p:cNvSpPr txBox="1"/>
          <p:nvPr/>
        </p:nvSpPr>
        <p:spPr>
          <a:xfrm>
            <a:off x="324071" y="5091401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甲、乙、丙均表示匀变速直线运动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2_4290e"/>
              </a:rPr>
              <a:t>丁表示加速度均匀变化的运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动。故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正确。</a:t>
            </a:r>
          </a:p>
        </p:txBody>
      </p:sp>
      <p:sp>
        <p:nvSpPr>
          <p:cNvPr id="7" name="矩形 6"/>
          <p:cNvSpPr/>
          <p:nvPr/>
        </p:nvSpPr>
        <p:spPr>
          <a:xfrm>
            <a:off x="95548" y="3905911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19" grpId="0" build="allAtOnce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7" name="yt_shape_11857"/>
          <p:cNvSpPr txBox="1"/>
          <p:nvPr/>
        </p:nvSpPr>
        <p:spPr>
          <a:xfrm>
            <a:off x="324071" y="468103"/>
            <a:ext cx="11543998" cy="1601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速度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楷体" pitchFamily="28"/>
                <a:ea typeface="楷体" pitchFamily="28"/>
              </a:rPr>
              <a:t>—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时间公式的理解和应用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四川内江高一期中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4e9ed"/>
              </a:rPr>
              <a:t>）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若火箭发射过程中某段时间内火箭速度的变化规律为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48ee3"/>
              </a:rPr>
              <a:t>这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段时间内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1858" name="yt_table_11858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2119919"/>
          <a:ext cx="6373813" cy="2218944"/>
        </p:xfrm>
        <a:graphic>
          <a:graphicData uri="http://schemas.openxmlformats.org/drawingml/2006/table">
            <a:tbl>
              <a:tblPr/>
              <a:tblGrid>
                <a:gridCol w="6373813">
                  <a:extLst>
                    <a:ext uri="{9D8B030D-6E8A-4147-A177-3AD203B41FA5}">
                      <a16:colId xmlns:a16="http://schemas.microsoft.com/office/drawing/2014/main" val="10144"/>
                    </a:ext>
                  </a:extLst>
                </a:gridCol>
              </a:tblGrid>
              <a:tr h="554736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火箭的初速度为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6"/>
                  </a:ext>
                </a:extLst>
              </a:tr>
              <a:tr h="554736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火箭的加速度为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7"/>
                  </a:ext>
                </a:extLst>
              </a:tr>
              <a:tr h="554736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末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火箭的瞬时速度为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8"/>
                  </a:ext>
                </a:extLst>
              </a:tr>
              <a:tr h="554736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火箭做匀减速直线运动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9"/>
                  </a:ext>
                </a:extLst>
              </a:tr>
            </a:tbl>
          </a:graphicData>
        </a:graphic>
      </p:graphicFrame>
      <p:sp>
        <p:nvSpPr>
          <p:cNvPr id="2" name="yt_shape_11861">
            <a:extLst>
              <a:ext uri="{FF2B5EF4-FFF2-40B4-BE49-F238E27FC236}">
                <a16:creationId xmlns:a16="http://schemas.microsoft.com/office/drawing/2014/main" id="{82906888-8B6B-17C5-B826-40C71AD2CA60}"/>
              </a:ext>
            </a:extLst>
          </p:cNvPr>
          <p:cNvSpPr txBox="1"/>
          <p:nvPr/>
        </p:nvSpPr>
        <p:spPr>
          <a:xfrm>
            <a:off x="324071" y="4552094"/>
            <a:ext cx="11924914" cy="162018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可知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火箭的初速度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加速度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1bf26"/>
              </a:rPr>
              <a:t> 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则火箭做匀加速直线运动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选项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错误。在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末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0867b"/>
              </a:rPr>
              <a:t>火箭的瞬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时速度为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选项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正确。</a:t>
            </a:r>
          </a:p>
        </p:txBody>
      </p:sp>
      <p:sp>
        <p:nvSpPr>
          <p:cNvPr id="6" name="矩形 5"/>
          <p:cNvSpPr/>
          <p:nvPr/>
        </p:nvSpPr>
        <p:spPr>
          <a:xfrm>
            <a:off x="57531" y="3165891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2" name="yt_shape_11862"/>
          <p:cNvSpPr txBox="1"/>
          <p:nvPr/>
        </p:nvSpPr>
        <p:spPr>
          <a:xfrm>
            <a:off x="324071" y="46799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刹车问题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一辆汽车从静止开始启动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做匀加速直线运动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26f78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用了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的时间达到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72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km/h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6_ca8f8"/>
              </a:rPr>
              <a:t>然后以这个速度在平直公路上匀速行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突然司机发现前方公路上有一只小鹿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于是立即刹车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f19b2"/>
              </a:rPr>
              <a:t>刹车过程中做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匀减速直线运动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加速度大小为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汽车在启动加速时的加速度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1864" name="yt_shape_11864"/>
          <p:cNvSpPr txBox="1"/>
          <p:nvPr/>
        </p:nvSpPr>
        <p:spPr>
          <a:xfrm>
            <a:off x="324000" y="3443695"/>
            <a:ext cx="6293390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方向与汽车运动方向相同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64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865" name="yt_shape_11865"/>
              <p:cNvSpPr txBox="1"/>
              <p:nvPr/>
            </p:nvSpPr>
            <p:spPr>
              <a:xfrm>
                <a:off x="603400" y="899799"/>
                <a:ext cx="9884116" cy="3823804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汽车在启动加速时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加速后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km/h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所用时间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由速度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—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时间公式可得加速度为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20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启动加速时的加速度大小为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方向与汽车运动方向相同。</a:t>
                </a:r>
              </a:p>
            </p:txBody>
          </p:sp>
        </mc:Choice>
        <mc:Fallback xmlns="">
          <p:sp>
            <p:nvSpPr>
              <p:cNvPr id="11865" name="yt_shape_118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00" y="899799"/>
                <a:ext cx="9884116" cy="3823804"/>
              </a:xfrm>
              <a:prstGeom prst="rect">
                <a:avLst/>
              </a:prstGeom>
              <a:blipFill>
                <a:blip r:embed="rId2"/>
                <a:stretch>
                  <a:fillRect l="-2221" t="-638" r="-925" b="-4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869" name="yt_shape_11869"/>
              <p:cNvSpPr txBox="1"/>
              <p:nvPr/>
            </p:nvSpPr>
            <p:spPr>
              <a:xfrm>
                <a:off x="267086" y="1788799"/>
                <a:ext cx="11924914" cy="379815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汽车刹车过程中做匀减速直线运动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到停下所用时间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20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刹车后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末的速度大小为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－（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汽车做匀减速直线运动到停下所用时间是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因此汽车在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13f6d"/>
                  </a:rPr>
                  <a:t>末的速度大小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是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1869" name="yt_shape_118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1788799"/>
                <a:ext cx="11924914" cy="3798156"/>
              </a:xfrm>
              <a:prstGeom prst="rect">
                <a:avLst/>
              </a:prstGeom>
              <a:blipFill>
                <a:blip r:embed="rId2"/>
                <a:stretch>
                  <a:fillRect l="-1840" t="-642" b="-4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yt_shape_11867"/>
          <p:cNvSpPr txBox="1"/>
          <p:nvPr/>
        </p:nvSpPr>
        <p:spPr>
          <a:xfrm>
            <a:off x="267086" y="570691"/>
            <a:ext cx="853759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开始刹车后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末的速度大小和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末的速度大小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4" name="yt_shape_11868"/>
          <p:cNvSpPr txBox="1"/>
          <p:nvPr/>
        </p:nvSpPr>
        <p:spPr>
          <a:xfrm>
            <a:off x="267086" y="1153676"/>
            <a:ext cx="2582438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69" grpId="0"/>
      <p:bldP spid="4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6" name="yt_shape_11886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【典例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匀变速直线运动的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图像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87afd"/>
              </a:rPr>
              <a:t>乙两物体沿同一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条直线做匀变速直线运动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0_3f6e2"/>
              </a:rPr>
              <a:t>它们的速度随时间变化的规律分别如图中的直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线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1887" name="yt_image_11887" title="H_162.96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56735" y="2453673"/>
            <a:ext cx="3012728" cy="22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1889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71" y="2409832"/>
          <a:ext cx="7727950" cy="2389632"/>
        </p:xfrm>
        <a:graphic>
          <a:graphicData uri="http://schemas.openxmlformats.org/drawingml/2006/table">
            <a:tbl>
              <a:tblPr/>
              <a:tblGrid>
                <a:gridCol w="7727950">
                  <a:extLst>
                    <a:ext uri="{9D8B030D-6E8A-4147-A177-3AD203B41FA5}">
                      <a16:colId xmlns:a16="http://schemas.microsoft.com/office/drawing/2014/main" val="101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乙均做匀减速直线运动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甲的速度大小为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9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乙的加速度大小之比为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乙的速度大小为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3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2700" y="3084616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700" y="4114529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892" name="yt_shape_11892"/>
              <p:cNvSpPr txBox="1"/>
              <p:nvPr/>
            </p:nvSpPr>
            <p:spPr>
              <a:xfrm>
                <a:off x="324071" y="493399"/>
                <a:ext cx="11924914" cy="421032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由图线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甲做匀减速直线运动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由图线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8b635"/>
                  </a:rPr>
                  <a:t>乙做匀加速直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线运动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24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甲的速度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1f702"/>
                  </a:rPr>
                  <a:t>v</a:t>
                </a:r>
                <a:b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9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6894b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｜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甲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｜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乙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15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乙的速度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5+</m:t>
                        </m:r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5</m:t>
                            </m:r>
                          </m:den>
                        </m:f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×8</m:t>
                        </m:r>
                      </m:e>
                    </m:d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3545f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>
          <p:sp>
            <p:nvSpPr>
              <p:cNvPr id="11892" name="yt_shape_118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93399"/>
                <a:ext cx="11924914" cy="4210320"/>
              </a:xfrm>
              <a:prstGeom prst="rect">
                <a:avLst/>
              </a:prstGeom>
              <a:blipFill>
                <a:blip r:embed="rId2"/>
                <a:stretch>
                  <a:fillRect l="-1789" t="-579" b="-4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4" name="yt_shape_11894"/>
          <p:cNvSpPr txBox="1"/>
          <p:nvPr/>
        </p:nvSpPr>
        <p:spPr>
          <a:xfrm>
            <a:off x="324071" y="46799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【典例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非匀变速直线运动的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图像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山西太原高一期中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f98b6"/>
              </a:rPr>
              <a:t>）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如图所示是一个物体运动的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1895" name="yt_image_11895" title="H_202.68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9613" y="1633187"/>
            <a:ext cx="2584973" cy="257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1897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137" y="1797080"/>
          <a:ext cx="8232775" cy="2389632"/>
        </p:xfrm>
        <a:graphic>
          <a:graphicData uri="http://schemas.openxmlformats.org/drawingml/2006/table">
            <a:tbl>
              <a:tblPr/>
              <a:tblGrid>
                <a:gridCol w="8232775">
                  <a:extLst>
                    <a:ext uri="{9D8B030D-6E8A-4147-A177-3AD203B41FA5}">
                      <a16:colId xmlns:a16="http://schemas.microsoft.com/office/drawing/2014/main" val="10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物体的加速度越来越小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物体的速度先增加后减小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物体可能做匀变速直线运动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在相等的时间间隔内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速度的变化量越来越大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4836" y="1797080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yt_shape_11900"/>
          <p:cNvSpPr txBox="1"/>
          <p:nvPr/>
        </p:nvSpPr>
        <p:spPr>
          <a:xfrm>
            <a:off x="267086" y="4563128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-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图像的切线斜率表示加速度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3_ce4f9"/>
              </a:rPr>
              <a:t>可知物体做加速度逐渐减小的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加速运动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可知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由于加速度越来越小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9_61256"/>
              </a:rPr>
              <a:t>则在相等的时间间隔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速度的变化量越来越小。故选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1" name="yt_shape_11891"/>
          <p:cNvSpPr txBox="1"/>
          <p:nvPr/>
        </p:nvSpPr>
        <p:spPr>
          <a:xfrm>
            <a:off x="324071" y="1108070"/>
            <a:ext cx="11579999" cy="25092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3000" b="1" i="0" u="none">
                <a:solidFill>
                  <a:srgbClr val="000000"/>
                </a:solidFill>
                <a:effectLst/>
                <a:latin typeface="微软雅黑" pitchFamily="30"/>
                <a:ea typeface="微软雅黑" pitchFamily="30"/>
              </a:rPr>
              <a:t>【典例】</a:t>
            </a:r>
            <a:r>
              <a:rPr lang="zh-CN" altLang="zh-CN" sz="3000" b="0" i="1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　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航空母舰上的飞机弹射系统可以缩短战斗机起跑的位移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  <a:sym typeface="_⨹_1_7679c"/>
              </a:rPr>
              <a:t>。</a:t>
            </a:r>
            <a:b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</a:b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假设某型号战斗机初速度为零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弹射系统对该型号战斗机作用了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1_4d1c3"/>
              </a:rPr>
              <a:t>时</a:t>
            </a:r>
            <a:b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间后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可以使飞机达到一定的初速度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然后飞机在甲板上起跑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2_8856c"/>
              </a:rPr>
              <a:t>加速</a:t>
            </a:r>
            <a:b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度为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m/s</a:t>
            </a:r>
            <a:r>
              <a:rPr lang="en-US" altLang="zh-CN" sz="3000" b="0" i="0" u="none" baseline="3000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经过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10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达到起飞速度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50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m/s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的要求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问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：</a:t>
            </a:r>
          </a:p>
        </p:txBody>
      </p:sp>
      <p:sp>
        <p:nvSpPr>
          <p:cNvPr id="11892" name="yt_shape_11892"/>
          <p:cNvSpPr txBox="1"/>
          <p:nvPr/>
        </p:nvSpPr>
        <p:spPr>
          <a:xfrm>
            <a:off x="324000" y="3668071"/>
            <a:ext cx="7502054" cy="57022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951865" indent="-951746" algn="l" eaLnBrk="1" latinLnBrk="0" hangingPunct="0">
              <a:lnSpc>
                <a:spcPct val="140000"/>
              </a:lnSpc>
            </a:pP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（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）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飞机离开弹射系统瞬间的速度是多少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？</a:t>
            </a:r>
          </a:p>
        </p:txBody>
      </p:sp>
      <p:sp>
        <p:nvSpPr>
          <p:cNvPr id="2" name="yt_shape_11895">
            <a:extLst>
              <a:ext uri="{FF2B5EF4-FFF2-40B4-BE49-F238E27FC236}">
                <a16:creationId xmlns:a16="http://schemas.microsoft.com/office/drawing/2014/main" id="{E6C3D244-8250-979C-7DA5-A87B7647240A}"/>
              </a:ext>
            </a:extLst>
          </p:cNvPr>
          <p:cNvSpPr txBox="1"/>
          <p:nvPr/>
        </p:nvSpPr>
        <p:spPr>
          <a:xfrm>
            <a:off x="324000" y="4289080"/>
            <a:ext cx="7502054" cy="57022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951865" indent="-951746" algn="l" eaLnBrk="1" latinLnBrk="0" hangingPunct="0">
              <a:lnSpc>
                <a:spcPct val="140000"/>
              </a:lnSpc>
            </a:pP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（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）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弹射系统对飞机提供的加速度是多少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0" name="yt_shape_11940"/>
          <p:cNvSpPr txBox="1"/>
          <p:nvPr/>
        </p:nvSpPr>
        <p:spPr>
          <a:xfrm>
            <a:off x="324000" y="432000"/>
            <a:ext cx="2225353" cy="5365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 spc="16653">
                <a:solidFill>
                  <a:srgbClr val="1EE3CF"/>
                </a:solidFill>
                <a:effectLst/>
                <a:latin typeface="Times New Roman" pitchFamily="28"/>
                <a:ea typeface="宋体" pitchFamily="28"/>
              </a:rPr>
              <a:t> </a:t>
            </a:r>
          </a:p>
        </p:txBody>
      </p:sp>
      <p:pic>
        <p:nvPicPr>
          <p:cNvPr id="11939" name="yt_image_11939">
            <a:extLst>
              <a:ext uri="">
                <a16:creationId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000" y="448773"/>
            <a:ext cx="2203302" cy="608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42" name="yt_shape_11942"/>
          <p:cNvSpPr txBox="1"/>
          <p:nvPr/>
        </p:nvSpPr>
        <p:spPr>
          <a:xfrm>
            <a:off x="324000" y="1108070"/>
            <a:ext cx="7428316" cy="57124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3000" b="1" i="0" u="none">
                <a:solidFill>
                  <a:srgbClr val="000000"/>
                </a:solidFill>
                <a:effectLst/>
                <a:latin typeface="微软雅黑" pitchFamily="30"/>
                <a:ea typeface="微软雅黑" pitchFamily="30"/>
              </a:rPr>
              <a:t>【典例】</a:t>
            </a:r>
            <a:r>
              <a:rPr lang="zh-CN" altLang="zh-CN" sz="3000" b="0" i="1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　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汽车以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45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km/h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的速度匀速行驶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。</a:t>
            </a:r>
          </a:p>
        </p:txBody>
      </p:sp>
      <p:sp>
        <p:nvSpPr>
          <p:cNvPr id="11943" name="yt_shape_11943"/>
          <p:cNvSpPr txBox="1"/>
          <p:nvPr/>
        </p:nvSpPr>
        <p:spPr>
          <a:xfrm>
            <a:off x="324000" y="1730105"/>
            <a:ext cx="11028660" cy="57022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951865" indent="-951746" algn="l" eaLnBrk="1" latinLnBrk="0" hangingPunct="0">
              <a:lnSpc>
                <a:spcPct val="140000"/>
              </a:lnSpc>
            </a:pP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（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）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若汽车以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0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.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6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m/s</a:t>
            </a:r>
            <a:r>
              <a:rPr lang="en-US" altLang="zh-CN" sz="3000" b="0" i="0" u="none" baseline="3000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的加速度加速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则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10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末速度能达到多少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？</a:t>
            </a:r>
          </a:p>
        </p:txBody>
      </p:sp>
      <p:sp>
        <p:nvSpPr>
          <p:cNvPr id="2" name="yt_shape_11945">
            <a:extLst>
              <a:ext uri="{FF2B5EF4-FFF2-40B4-BE49-F238E27FC236}">
                <a16:creationId xmlns:a16="http://schemas.microsoft.com/office/drawing/2014/main" id="{978C5BE3-5A41-B897-D26D-8AA360711CE1}"/>
              </a:ext>
            </a:extLst>
          </p:cNvPr>
          <p:cNvSpPr txBox="1"/>
          <p:nvPr/>
        </p:nvSpPr>
        <p:spPr>
          <a:xfrm>
            <a:off x="324000" y="2351114"/>
            <a:ext cx="11960915" cy="119603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1865" indent="-951746" algn="l" eaLnBrk="1" latinLnBrk="0" hangingPunct="0">
              <a:lnSpc>
                <a:spcPct val="140000"/>
              </a:lnSpc>
            </a:pPr>
            <a:r>
              <a:rPr lang="zh-CN" altLang="zh-CN" sz="3000" b="0" i="0" u="none" spc="15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（</a:t>
            </a:r>
            <a:r>
              <a:rPr lang="en-US" altLang="zh-CN" sz="3000" b="0" i="0" u="none" spc="15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spc="15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）</a:t>
            </a:r>
            <a:r>
              <a:rPr lang="zh-CN" altLang="zh-CN" sz="3000" b="0" i="0" u="none" spc="15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若汽车刹车以</a:t>
            </a:r>
            <a:r>
              <a:rPr lang="en-US" altLang="zh-CN" sz="3000" b="0" i="0" u="none" spc="15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0</a:t>
            </a:r>
            <a:r>
              <a:rPr lang="en-US" altLang="zh-CN" sz="3000" b="0" i="0" u="none" spc="15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.</a:t>
            </a:r>
            <a:r>
              <a:rPr lang="en-US" altLang="zh-CN" sz="3000" b="0" i="0" u="none" spc="15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6</a:t>
            </a:r>
            <a:r>
              <a:rPr lang="zh-CN" altLang="zh-CN" sz="3000" b="0" i="0" u="none" spc="15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spc="15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m/s</a:t>
            </a:r>
            <a:r>
              <a:rPr lang="en-US" altLang="zh-CN" sz="3000" b="0" i="0" u="none" spc="150" baseline="3000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spc="15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的加速度减速</a:t>
            </a:r>
            <a:r>
              <a:rPr lang="zh-CN" altLang="zh-CN" sz="3000" b="0" i="0" u="none" spc="15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spc="15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则</a:t>
            </a:r>
            <a:r>
              <a:rPr lang="en-US" altLang="zh-CN" sz="3000" b="0" i="0" u="none" spc="15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10</a:t>
            </a:r>
            <a:r>
              <a:rPr lang="zh-CN" altLang="zh-CN" sz="3000" b="0" i="0" u="none" spc="15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spc="15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zh-CN" altLang="zh-CN" sz="3000" b="0" i="0" u="none" spc="15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6_451ce"/>
              </a:rPr>
              <a:t>末速度能达到</a:t>
            </a:r>
            <a:br>
              <a:rPr lang="zh-CN" altLang="zh-CN" sz="3000" b="0" i="0" u="none" spc="15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 spc="15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多少</a:t>
            </a:r>
            <a:r>
              <a:rPr lang="zh-CN" altLang="zh-CN" sz="3000" b="0" i="0" u="none" spc="15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？</a:t>
            </a:r>
          </a:p>
        </p:txBody>
      </p:sp>
      <p:sp>
        <p:nvSpPr>
          <p:cNvPr id="3" name="yt_shape_11947">
            <a:extLst>
              <a:ext uri="{FF2B5EF4-FFF2-40B4-BE49-F238E27FC236}">
                <a16:creationId xmlns:a16="http://schemas.microsoft.com/office/drawing/2014/main" id="{4C9B0907-704C-62BB-7B65-17F7FE6A92CD}"/>
              </a:ext>
            </a:extLst>
          </p:cNvPr>
          <p:cNvSpPr txBox="1"/>
          <p:nvPr/>
        </p:nvSpPr>
        <p:spPr>
          <a:xfrm>
            <a:off x="324000" y="3597935"/>
            <a:ext cx="10643939" cy="57022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951865" indent="-951746" algn="l" eaLnBrk="1" latinLnBrk="0" hangingPunct="0">
              <a:lnSpc>
                <a:spcPct val="140000"/>
              </a:lnSpc>
            </a:pP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（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3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）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若汽车刹车以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3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m/s</a:t>
            </a:r>
            <a:r>
              <a:rPr lang="en-US" altLang="zh-CN" sz="3000" b="0" i="0" u="none" baseline="3000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的加速度减速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则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10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末速度为多少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ABFE47EC-0C1D-C0F5-894E-75D33C53D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</a:t>
            </a:r>
            <a:r>
              <a:rPr lang="en-US" altLang="zh-CN" dirty="0"/>
              <a:t>A – B</a:t>
            </a:r>
            <a:r>
              <a:rPr lang="zh-CN" altLang="en-US" dirty="0"/>
              <a:t>的平均速度，平均速率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031D98E1-05F2-A954-1AF7-856A1D907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9100" y="2128044"/>
            <a:ext cx="37338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54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6A1EF-57C7-11A0-5C96-DCA42628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求</a:t>
            </a:r>
            <a:r>
              <a:rPr kumimoji="1" lang="en-US" altLang="zh-CN" dirty="0"/>
              <a:t>A</a:t>
            </a:r>
            <a:r>
              <a:rPr kumimoji="1" lang="zh-CN" altLang="en-US" dirty="0"/>
              <a:t>点的瞬时速度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B79CAC3-2783-8F56-08B9-EF3765679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1550" y="2909094"/>
            <a:ext cx="77089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05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256DB-FC91-39C5-A614-28AECB3D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绘制该物体的</a:t>
            </a:r>
            <a:r>
              <a:rPr kumimoji="1" lang="en-US" altLang="zh-CN" dirty="0"/>
              <a:t>x – t, a – t </a:t>
            </a:r>
            <a:r>
              <a:rPr kumimoji="1" lang="zh-CN" altLang="en-US" dirty="0"/>
              <a:t>图像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066D0B9-FDFC-FC6F-C72B-874CD5378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8050" y="3086894"/>
            <a:ext cx="27559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85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0E4A7-811B-5010-5FF0-F6575D403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6A6E5-91D7-6744-B189-A1FDCB0D8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绘制该物体的</a:t>
            </a:r>
            <a:r>
              <a:rPr kumimoji="1" lang="en-US" altLang="zh-CN" dirty="0"/>
              <a:t>x – t, a – t </a:t>
            </a:r>
            <a:r>
              <a:rPr kumimoji="1" lang="zh-CN" altLang="en-US" dirty="0"/>
              <a:t>图像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967EA98-4542-860C-A995-C3EC8974CC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43100" y="2083594"/>
            <a:ext cx="2971800" cy="3835400"/>
          </a:xfrm>
          <a:prstGeom prst="rect">
            <a:avLst/>
          </a:prstGeom>
        </p:spPr>
      </p:pic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A0E3D674-1F24-0EA0-78DA-3EDB81A2F9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118350" y="2978944"/>
            <a:ext cx="3289300" cy="2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33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4" name="yt_shape_11994"/>
          <p:cNvSpPr txBox="1"/>
          <p:nvPr/>
        </p:nvSpPr>
        <p:spPr>
          <a:xfrm>
            <a:off x="324071" y="1108070"/>
            <a:ext cx="11960915" cy="119603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3000" b="1" i="0" u="none">
                <a:solidFill>
                  <a:srgbClr val="000000"/>
                </a:solidFill>
                <a:effectLst/>
                <a:latin typeface="微软雅黑" pitchFamily="30"/>
                <a:ea typeface="微软雅黑" pitchFamily="30"/>
              </a:rPr>
              <a:t>【典例】</a:t>
            </a:r>
            <a:r>
              <a:rPr lang="zh-CN" altLang="zh-CN" sz="3000" b="1" i="1" u="none">
                <a:solidFill>
                  <a:srgbClr val="000000"/>
                </a:solidFill>
                <a:effectLst/>
                <a:latin typeface="微软雅黑" pitchFamily="30"/>
                <a:ea typeface="微软雅黑" pitchFamily="30"/>
              </a:rPr>
              <a:t>　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如图所示是某质点运动的</a:t>
            </a:r>
            <a:r>
              <a:rPr lang="en-US" altLang="zh-CN" sz="3000" b="0" i="1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v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-</a:t>
            </a:r>
            <a:r>
              <a:rPr lang="en-US" altLang="zh-CN" sz="3000" b="0" i="1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t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图像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endParaRPr lang="en-US" altLang="zh-CN" sz="3000" b="0" i="0" u="none">
              <a:solidFill>
                <a:srgbClr val="000000"/>
              </a:solidFill>
              <a:effectLst/>
              <a:latin typeface="宋体" pitchFamily="30"/>
              <a:ea typeface="宋体" pitchFamily="30"/>
            </a:endParaRPr>
          </a:p>
          <a:p>
            <a:pPr algn="l" eaLnBrk="1" latinLnBrk="0" hangingPunct="0">
              <a:lnSpc>
                <a:spcPct val="140000"/>
              </a:lnSpc>
            </a:pPr>
            <a:r>
              <a:rPr lang="en-US" altLang="zh-CN" sz="3000">
                <a:solidFill>
                  <a:srgbClr val="000000"/>
                </a:solidFill>
                <a:latin typeface="宋体" pitchFamily="30"/>
                <a:ea typeface="宋体" pitchFamily="30"/>
                <a:sym typeface="_⨹_8_0ca69"/>
              </a:rPr>
              <a:t> 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8_0ca69"/>
              </a:rPr>
              <a:t>下列判断正确的是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（</a:t>
            </a:r>
            <a:r>
              <a:rPr lang="zh-CN" altLang="zh-CN" sz="3000" b="0" i="1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　　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）</a:t>
            </a:r>
          </a:p>
        </p:txBody>
      </p:sp>
      <p:pic>
        <p:nvPicPr>
          <p:cNvPr id="11995" name="yt_image_11995" title="H_167.13">
            <a:extLst>
              <a:ext uri="">
                <a16:creationId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6200" y="1162433"/>
            <a:ext cx="3382176" cy="212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yt_table_11997" title="H_201.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407368" y="2492896"/>
          <a:ext cx="11153775" cy="2560320"/>
        </p:xfrm>
        <a:graphic>
          <a:graphicData uri="http://schemas.openxmlformats.org/drawingml/2006/table">
            <a:tbl>
              <a:tblPr/>
              <a:tblGrid>
                <a:gridCol w="11153775">
                  <a:extLst>
                    <a:ext uri="{9D8B030D-6E8A-4147-A177-3AD203B41FA5}">
                      <a16:colId xmlns:a16="http://schemas.microsoft.com/office/drawing/2014/main" val="10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60634" indent="-56063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A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在第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s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末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，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质点的速度方向发生改变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39682" indent="-53968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B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在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0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～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s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内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，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质点做直线运动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，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在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～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4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s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内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，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质点做曲线运动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44444" indent="-44444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C.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在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0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～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s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内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，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质点的加速度大小和方向均不变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60634" indent="-56063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D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在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～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4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s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内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，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质点的加速度不断减小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，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方向发生了改变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42"/>
                  </a:ext>
                </a:extLst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4016" y="3946494"/>
            <a:ext cx="722784" cy="579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63AF979-0172-7E75-7351-59F043314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652" y="643467"/>
            <a:ext cx="9542695" cy="5571065"/>
          </a:xfrm>
          <a:prstGeom prst="rect">
            <a:avLst/>
          </a:prstGeom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1DA9370-233B-D9B8-0B1B-0B4192DCD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403" y="1611545"/>
            <a:ext cx="5084255" cy="233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0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8B9FEED-8146-4839-8053-D9880E4F147B}" vid="{01A7EF7B-974A-4C72-8CCA-666A79B3FF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 Chinese</Template>
  <TotalTime>1015</TotalTime>
  <Words>1565</Words>
  <Application>Microsoft Macintosh PowerPoint</Application>
  <PresentationFormat>Widescreen</PresentationFormat>
  <Paragraphs>91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仿宋</vt:lpstr>
      <vt:lpstr>楷体</vt:lpstr>
      <vt:lpstr>微软雅黑</vt:lpstr>
      <vt:lpstr>宋体</vt:lpstr>
      <vt:lpstr>华文细黑</vt:lpstr>
      <vt:lpstr>Arial</vt:lpstr>
      <vt:lpstr>Cambria Math</vt:lpstr>
      <vt:lpstr>Times New Roman</vt:lpstr>
      <vt:lpstr>Office 主题​​</vt:lpstr>
      <vt:lpstr>Equation.3</vt:lpstr>
      <vt:lpstr>公式</vt:lpstr>
      <vt:lpstr>匀变速直线运动速度与时间的关系</vt:lpstr>
      <vt:lpstr>v-t 图像是一条倾斜的直线</vt:lpstr>
      <vt:lpstr>从数学角度求瞬时速度与时间的函数关系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求A – B的平均速度，平均速率</vt:lpstr>
      <vt:lpstr>求A点的瞬时速度</vt:lpstr>
      <vt:lpstr>绘制该物体的x – t, a – t 图像</vt:lpstr>
      <vt:lpstr>绘制该物体的x – t, a – t 图像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</dc:creator>
  <cp:lastModifiedBy>Xingyu Shu</cp:lastModifiedBy>
  <cp:revision>3</cp:revision>
  <dcterms:created xsi:type="dcterms:W3CDTF">2024-09-05T08:36:52Z</dcterms:created>
  <dcterms:modified xsi:type="dcterms:W3CDTF">2026-09-10T23:31:07Z</dcterms:modified>
</cp:coreProperties>
</file>