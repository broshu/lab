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98" r:id="rId2"/>
    <p:sldId id="311" r:id="rId3"/>
    <p:sldId id="313" r:id="rId4"/>
    <p:sldId id="387" r:id="rId5"/>
    <p:sldId id="315" r:id="rId6"/>
    <p:sldId id="337" r:id="rId7"/>
    <p:sldId id="316" r:id="rId8"/>
    <p:sldId id="317" r:id="rId9"/>
    <p:sldId id="352" r:id="rId10"/>
    <p:sldId id="388" r:id="rId11"/>
    <p:sldId id="318" r:id="rId12"/>
    <p:sldId id="338" r:id="rId13"/>
    <p:sldId id="389" r:id="rId14"/>
    <p:sldId id="354" r:id="rId15"/>
    <p:sldId id="355" r:id="rId16"/>
    <p:sldId id="356" r:id="rId17"/>
    <p:sldId id="357" r:id="rId18"/>
    <p:sldId id="358" r:id="rId19"/>
    <p:sldId id="359" r:id="rId20"/>
    <p:sldId id="390" r:id="rId21"/>
    <p:sldId id="361" r:id="rId22"/>
    <p:sldId id="391" r:id="rId23"/>
    <p:sldId id="320" r:id="rId24"/>
    <p:sldId id="392" r:id="rId25"/>
    <p:sldId id="321" r:id="rId26"/>
    <p:sldId id="364" r:id="rId27"/>
    <p:sldId id="322" r:id="rId28"/>
    <p:sldId id="340" r:id="rId29"/>
    <p:sldId id="393" r:id="rId30"/>
    <p:sldId id="323" r:id="rId31"/>
    <p:sldId id="367" r:id="rId32"/>
    <p:sldId id="368" r:id="rId33"/>
    <p:sldId id="324" r:id="rId34"/>
    <p:sldId id="369" r:id="rId35"/>
    <p:sldId id="378" r:id="rId36"/>
    <p:sldId id="394" r:id="rId37"/>
    <p:sldId id="325" r:id="rId38"/>
    <p:sldId id="341" r:id="rId39"/>
    <p:sldId id="326" r:id="rId40"/>
    <p:sldId id="342" r:id="rId41"/>
    <p:sldId id="327" r:id="rId42"/>
    <p:sldId id="343" r:id="rId43"/>
    <p:sldId id="328" r:id="rId44"/>
    <p:sldId id="344" r:id="rId45"/>
    <p:sldId id="329" r:id="rId46"/>
    <p:sldId id="345" r:id="rId47"/>
    <p:sldId id="330" r:id="rId48"/>
    <p:sldId id="346" r:id="rId49"/>
    <p:sldId id="331" r:id="rId50"/>
    <p:sldId id="372" r:id="rId51"/>
    <p:sldId id="332" r:id="rId52"/>
    <p:sldId id="374" r:id="rId53"/>
    <p:sldId id="333" r:id="rId54"/>
    <p:sldId id="375" r:id="rId55"/>
    <p:sldId id="379" r:id="rId56"/>
    <p:sldId id="334" r:id="rId57"/>
    <p:sldId id="347" r:id="rId58"/>
    <p:sldId id="335" r:id="rId59"/>
    <p:sldId id="348" r:id="rId60"/>
    <p:sldId id="349" r:id="rId61"/>
    <p:sldId id="336" r:id="rId62"/>
    <p:sldId id="350" r:id="rId63"/>
    <p:sldId id="351" r:id="rId64"/>
    <p:sldId id="265" r:id="rId6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D63C"/>
    <a:srgbClr val="B7E3E5"/>
    <a:srgbClr val="2595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1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D7E41-FDAA-4148-A422-C3913B176212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EB803-5943-4B22-B194-77DCF3659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638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96E7A9-759E-4F37-A7A3-84E99B66B5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3307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252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431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377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789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209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19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26">
            <a:hlinkClick r:id="rId3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81889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33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695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26">
            <a:hlinkClick r:id="rId3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  <p:sp>
        <p:nvSpPr>
          <p:cNvPr id="6" name="TextBox 26"/>
          <p:cNvSpPr txBox="1"/>
          <p:nvPr userDrawn="1"/>
        </p:nvSpPr>
        <p:spPr>
          <a:xfrm>
            <a:off x="706381" y="28047"/>
            <a:ext cx="3217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理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必修第一册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方正新报宋_GBK" panose="03000509000000000000" pitchFamily="65" charset="-122"/>
              <a:ea typeface="方正新报宋_GBK" panose="03000509000000000000" pitchFamily="65" charset="-122"/>
              <a:cs typeface="+mn-cs"/>
            </a:endParaRPr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0" y="-972"/>
            <a:ext cx="508986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80369" y="-4354"/>
            <a:ext cx="90025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342177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566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12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73" r:id="rId3"/>
    <p:sldLayoutId id="2147483653" r:id="rId4"/>
    <p:sldLayoutId id="2147483651" r:id="rId5"/>
    <p:sldLayoutId id="214748367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image" Target="../media/image13.bin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43.xml"/><Relationship Id="rId13" Type="http://schemas.openxmlformats.org/officeDocument/2006/relationships/slide" Target="slide53.xml"/><Relationship Id="rId3" Type="http://schemas.openxmlformats.org/officeDocument/2006/relationships/image" Target="../media/image33.png"/><Relationship Id="rId7" Type="http://schemas.openxmlformats.org/officeDocument/2006/relationships/slide" Target="slide41.xml"/><Relationship Id="rId12" Type="http://schemas.openxmlformats.org/officeDocument/2006/relationships/slide" Target="slide51.xml"/><Relationship Id="rId2" Type="http://schemas.openxmlformats.org/officeDocument/2006/relationships/image" Target="../media/image36.png"/><Relationship Id="rId16" Type="http://schemas.openxmlformats.org/officeDocument/2006/relationships/slide" Target="slide6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9.xml"/><Relationship Id="rId11" Type="http://schemas.openxmlformats.org/officeDocument/2006/relationships/slide" Target="slide49.xml"/><Relationship Id="rId5" Type="http://schemas.openxmlformats.org/officeDocument/2006/relationships/slide" Target="slide37.xml"/><Relationship Id="rId15" Type="http://schemas.openxmlformats.org/officeDocument/2006/relationships/slide" Target="slide58.xml"/><Relationship Id="rId10" Type="http://schemas.openxmlformats.org/officeDocument/2006/relationships/slide" Target="slide47.xml"/><Relationship Id="rId4" Type="http://schemas.openxmlformats.org/officeDocument/2006/relationships/image" Target="../media/image37.png"/><Relationship Id="rId9" Type="http://schemas.openxmlformats.org/officeDocument/2006/relationships/slide" Target="slide45.xml"/><Relationship Id="rId14" Type="http://schemas.openxmlformats.org/officeDocument/2006/relationships/slide" Target="slide5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49.xml"/><Relationship Id="rId13" Type="http://schemas.openxmlformats.org/officeDocument/2006/relationships/slide" Target="slide61.xml"/><Relationship Id="rId3" Type="http://schemas.openxmlformats.org/officeDocument/2006/relationships/slide" Target="slide39.xml"/><Relationship Id="rId7" Type="http://schemas.openxmlformats.org/officeDocument/2006/relationships/slide" Target="slide47.xml"/><Relationship Id="rId12" Type="http://schemas.openxmlformats.org/officeDocument/2006/relationships/slide" Target="slide58.xml"/><Relationship Id="rId2" Type="http://schemas.openxmlformats.org/officeDocument/2006/relationships/slide" Target="slide3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5.xml"/><Relationship Id="rId11" Type="http://schemas.openxmlformats.org/officeDocument/2006/relationships/slide" Target="slide56.xml"/><Relationship Id="rId5" Type="http://schemas.openxmlformats.org/officeDocument/2006/relationships/slide" Target="slide43.xml"/><Relationship Id="rId10" Type="http://schemas.openxmlformats.org/officeDocument/2006/relationships/slide" Target="slide53.xml"/><Relationship Id="rId4" Type="http://schemas.openxmlformats.org/officeDocument/2006/relationships/slide" Target="slide41.xml"/><Relationship Id="rId9" Type="http://schemas.openxmlformats.org/officeDocument/2006/relationships/slide" Target="slide5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45.xml"/><Relationship Id="rId13" Type="http://schemas.openxmlformats.org/officeDocument/2006/relationships/slide" Target="slide56.xml"/><Relationship Id="rId3" Type="http://schemas.openxmlformats.org/officeDocument/2006/relationships/image" Target="../media/image41.png"/><Relationship Id="rId7" Type="http://schemas.openxmlformats.org/officeDocument/2006/relationships/slide" Target="slide43.xml"/><Relationship Id="rId12" Type="http://schemas.openxmlformats.org/officeDocument/2006/relationships/slide" Target="slide53.xml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1.xml"/><Relationship Id="rId11" Type="http://schemas.openxmlformats.org/officeDocument/2006/relationships/slide" Target="slide51.xml"/><Relationship Id="rId5" Type="http://schemas.openxmlformats.org/officeDocument/2006/relationships/slide" Target="slide39.xml"/><Relationship Id="rId15" Type="http://schemas.openxmlformats.org/officeDocument/2006/relationships/slide" Target="slide61.xml"/><Relationship Id="rId10" Type="http://schemas.openxmlformats.org/officeDocument/2006/relationships/slide" Target="slide49.xml"/><Relationship Id="rId4" Type="http://schemas.openxmlformats.org/officeDocument/2006/relationships/slide" Target="slide37.xml"/><Relationship Id="rId9" Type="http://schemas.openxmlformats.org/officeDocument/2006/relationships/slide" Target="slide47.xml"/><Relationship Id="rId14" Type="http://schemas.openxmlformats.org/officeDocument/2006/relationships/slide" Target="slide58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" Target="slide49.xml"/><Relationship Id="rId13" Type="http://schemas.openxmlformats.org/officeDocument/2006/relationships/slide" Target="slide61.xml"/><Relationship Id="rId3" Type="http://schemas.openxmlformats.org/officeDocument/2006/relationships/slide" Target="slide39.xml"/><Relationship Id="rId7" Type="http://schemas.openxmlformats.org/officeDocument/2006/relationships/slide" Target="slide47.xml"/><Relationship Id="rId12" Type="http://schemas.openxmlformats.org/officeDocument/2006/relationships/slide" Target="slide58.xml"/><Relationship Id="rId2" Type="http://schemas.openxmlformats.org/officeDocument/2006/relationships/slide" Target="slide3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5.xml"/><Relationship Id="rId11" Type="http://schemas.openxmlformats.org/officeDocument/2006/relationships/slide" Target="slide56.xml"/><Relationship Id="rId5" Type="http://schemas.openxmlformats.org/officeDocument/2006/relationships/slide" Target="slide43.xml"/><Relationship Id="rId10" Type="http://schemas.openxmlformats.org/officeDocument/2006/relationships/slide" Target="slide53.xml"/><Relationship Id="rId4" Type="http://schemas.openxmlformats.org/officeDocument/2006/relationships/slide" Target="slide41.xml"/><Relationship Id="rId9" Type="http://schemas.openxmlformats.org/officeDocument/2006/relationships/slide" Target="slide5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" Target="slide49.xml"/><Relationship Id="rId13" Type="http://schemas.openxmlformats.org/officeDocument/2006/relationships/slide" Target="slide61.xml"/><Relationship Id="rId3" Type="http://schemas.openxmlformats.org/officeDocument/2006/relationships/slide" Target="slide39.xml"/><Relationship Id="rId7" Type="http://schemas.openxmlformats.org/officeDocument/2006/relationships/slide" Target="slide47.xml"/><Relationship Id="rId12" Type="http://schemas.openxmlformats.org/officeDocument/2006/relationships/slide" Target="slide58.xml"/><Relationship Id="rId2" Type="http://schemas.openxmlformats.org/officeDocument/2006/relationships/slide" Target="slide3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5.xml"/><Relationship Id="rId11" Type="http://schemas.openxmlformats.org/officeDocument/2006/relationships/slide" Target="slide56.xml"/><Relationship Id="rId5" Type="http://schemas.openxmlformats.org/officeDocument/2006/relationships/slide" Target="slide43.xml"/><Relationship Id="rId10" Type="http://schemas.openxmlformats.org/officeDocument/2006/relationships/slide" Target="slide53.xml"/><Relationship Id="rId4" Type="http://schemas.openxmlformats.org/officeDocument/2006/relationships/slide" Target="slide41.xml"/><Relationship Id="rId9" Type="http://schemas.openxmlformats.org/officeDocument/2006/relationships/slide" Target="slide5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" Target="slide45.xml"/><Relationship Id="rId13" Type="http://schemas.openxmlformats.org/officeDocument/2006/relationships/slide" Target="slide56.xml"/><Relationship Id="rId3" Type="http://schemas.openxmlformats.org/officeDocument/2006/relationships/image" Target="../media/image46.png"/><Relationship Id="rId7" Type="http://schemas.openxmlformats.org/officeDocument/2006/relationships/slide" Target="slide43.xml"/><Relationship Id="rId12" Type="http://schemas.openxmlformats.org/officeDocument/2006/relationships/slide" Target="slide53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1.xml"/><Relationship Id="rId11" Type="http://schemas.openxmlformats.org/officeDocument/2006/relationships/slide" Target="slide51.xml"/><Relationship Id="rId5" Type="http://schemas.openxmlformats.org/officeDocument/2006/relationships/slide" Target="slide39.xml"/><Relationship Id="rId15" Type="http://schemas.openxmlformats.org/officeDocument/2006/relationships/slide" Target="slide61.xml"/><Relationship Id="rId10" Type="http://schemas.openxmlformats.org/officeDocument/2006/relationships/slide" Target="slide49.xml"/><Relationship Id="rId4" Type="http://schemas.openxmlformats.org/officeDocument/2006/relationships/slide" Target="slide37.xml"/><Relationship Id="rId9" Type="http://schemas.openxmlformats.org/officeDocument/2006/relationships/slide" Target="slide47.xml"/><Relationship Id="rId14" Type="http://schemas.openxmlformats.org/officeDocument/2006/relationships/slide" Target="slide58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slide" Target="slide45.xml"/><Relationship Id="rId13" Type="http://schemas.openxmlformats.org/officeDocument/2006/relationships/slide" Target="slide56.xml"/><Relationship Id="rId3" Type="http://schemas.openxmlformats.org/officeDocument/2006/relationships/image" Target="../media/image50.png"/><Relationship Id="rId7" Type="http://schemas.openxmlformats.org/officeDocument/2006/relationships/slide" Target="slide43.xml"/><Relationship Id="rId12" Type="http://schemas.openxmlformats.org/officeDocument/2006/relationships/slide" Target="slide53.xml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1.xml"/><Relationship Id="rId11" Type="http://schemas.openxmlformats.org/officeDocument/2006/relationships/slide" Target="slide51.xml"/><Relationship Id="rId5" Type="http://schemas.openxmlformats.org/officeDocument/2006/relationships/slide" Target="slide39.xml"/><Relationship Id="rId15" Type="http://schemas.openxmlformats.org/officeDocument/2006/relationships/slide" Target="slide61.xml"/><Relationship Id="rId10" Type="http://schemas.openxmlformats.org/officeDocument/2006/relationships/slide" Target="slide49.xml"/><Relationship Id="rId4" Type="http://schemas.openxmlformats.org/officeDocument/2006/relationships/slide" Target="slide37.xml"/><Relationship Id="rId9" Type="http://schemas.openxmlformats.org/officeDocument/2006/relationships/slide" Target="slide47.xml"/><Relationship Id="rId14" Type="http://schemas.openxmlformats.org/officeDocument/2006/relationships/slide" Target="slide58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slide" Target="slide45.xml"/><Relationship Id="rId13" Type="http://schemas.openxmlformats.org/officeDocument/2006/relationships/slide" Target="slide56.xml"/><Relationship Id="rId3" Type="http://schemas.openxmlformats.org/officeDocument/2006/relationships/image" Target="../media/image60.png"/><Relationship Id="rId7" Type="http://schemas.openxmlformats.org/officeDocument/2006/relationships/slide" Target="slide43.xml"/><Relationship Id="rId12" Type="http://schemas.openxmlformats.org/officeDocument/2006/relationships/slide" Target="slide53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1.xml"/><Relationship Id="rId11" Type="http://schemas.openxmlformats.org/officeDocument/2006/relationships/slide" Target="slide51.xml"/><Relationship Id="rId5" Type="http://schemas.openxmlformats.org/officeDocument/2006/relationships/slide" Target="slide39.xml"/><Relationship Id="rId15" Type="http://schemas.openxmlformats.org/officeDocument/2006/relationships/slide" Target="slide61.xml"/><Relationship Id="rId10" Type="http://schemas.openxmlformats.org/officeDocument/2006/relationships/slide" Target="slide49.xml"/><Relationship Id="rId4" Type="http://schemas.openxmlformats.org/officeDocument/2006/relationships/slide" Target="slide37.xml"/><Relationship Id="rId9" Type="http://schemas.openxmlformats.org/officeDocument/2006/relationships/slide" Target="slide47.xml"/><Relationship Id="rId14" Type="http://schemas.openxmlformats.org/officeDocument/2006/relationships/slide" Target="slide58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slide" Target="slide49.xml"/><Relationship Id="rId13" Type="http://schemas.openxmlformats.org/officeDocument/2006/relationships/slide" Target="slide61.xml"/><Relationship Id="rId3" Type="http://schemas.openxmlformats.org/officeDocument/2006/relationships/slide" Target="slide39.xml"/><Relationship Id="rId7" Type="http://schemas.openxmlformats.org/officeDocument/2006/relationships/slide" Target="slide47.xml"/><Relationship Id="rId12" Type="http://schemas.openxmlformats.org/officeDocument/2006/relationships/slide" Target="slide58.xml"/><Relationship Id="rId2" Type="http://schemas.openxmlformats.org/officeDocument/2006/relationships/slide" Target="slide3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5.xml"/><Relationship Id="rId11" Type="http://schemas.openxmlformats.org/officeDocument/2006/relationships/slide" Target="slide56.xml"/><Relationship Id="rId5" Type="http://schemas.openxmlformats.org/officeDocument/2006/relationships/slide" Target="slide43.xml"/><Relationship Id="rId10" Type="http://schemas.openxmlformats.org/officeDocument/2006/relationships/slide" Target="slide53.xml"/><Relationship Id="rId4" Type="http://schemas.openxmlformats.org/officeDocument/2006/relationships/slide" Target="slide41.xml"/><Relationship Id="rId9" Type="http://schemas.openxmlformats.org/officeDocument/2006/relationships/slide" Target="slide51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8.xml"/><Relationship Id="rId3" Type="http://schemas.openxmlformats.org/officeDocument/2006/relationships/slide" Target="slide37.xml"/><Relationship Id="rId7" Type="http://schemas.openxmlformats.org/officeDocument/2006/relationships/slide" Target="slide45.xml"/><Relationship Id="rId12" Type="http://schemas.openxmlformats.org/officeDocument/2006/relationships/slide" Target="slide56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11" Type="http://schemas.openxmlformats.org/officeDocument/2006/relationships/slide" Target="slide53.xml"/><Relationship Id="rId5" Type="http://schemas.openxmlformats.org/officeDocument/2006/relationships/slide" Target="slide41.xml"/><Relationship Id="rId10" Type="http://schemas.openxmlformats.org/officeDocument/2006/relationships/slide" Target="slide51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61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slide" Target="slide45.xml"/><Relationship Id="rId13" Type="http://schemas.openxmlformats.org/officeDocument/2006/relationships/slide" Target="slide56.xml"/><Relationship Id="rId3" Type="http://schemas.openxmlformats.org/officeDocument/2006/relationships/image" Target="../media/image57.png"/><Relationship Id="rId7" Type="http://schemas.openxmlformats.org/officeDocument/2006/relationships/slide" Target="slide43.xml"/><Relationship Id="rId12" Type="http://schemas.openxmlformats.org/officeDocument/2006/relationships/slide" Target="slide5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1.xml"/><Relationship Id="rId11" Type="http://schemas.openxmlformats.org/officeDocument/2006/relationships/slide" Target="slide51.xml"/><Relationship Id="rId5" Type="http://schemas.openxmlformats.org/officeDocument/2006/relationships/slide" Target="slide39.xml"/><Relationship Id="rId15" Type="http://schemas.openxmlformats.org/officeDocument/2006/relationships/slide" Target="slide61.xml"/><Relationship Id="rId10" Type="http://schemas.openxmlformats.org/officeDocument/2006/relationships/slide" Target="slide49.xml"/><Relationship Id="rId4" Type="http://schemas.openxmlformats.org/officeDocument/2006/relationships/slide" Target="slide37.xml"/><Relationship Id="rId9" Type="http://schemas.openxmlformats.org/officeDocument/2006/relationships/slide" Target="slide47.xml"/><Relationship Id="rId14" Type="http://schemas.openxmlformats.org/officeDocument/2006/relationships/slide" Target="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YTSlide_13_1_0.9_1.3_0.9_1.1__1_1_0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368" y="-434907"/>
            <a:ext cx="7614606" cy="7614606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7163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7119" y="1745951"/>
            <a:ext cx="9970638" cy="343751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0" y="3026107"/>
            <a:ext cx="12192000" cy="7848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专题强化5　追及相遇问题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1306288" y="1901250"/>
            <a:ext cx="469329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hangingPunct="0">
              <a:defRPr/>
            </a:pPr>
            <a:r>
              <a:rPr lang="zh-CN" alt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第二章    匀变速直线运动的研究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407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doors dir="vert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0.31666 L 1.45833E-6 -2.59259E-6 " pathEditMode="relative" rAng="0" ptsTypes="AA">
                                      <p:cBhvr>
                                        <p:cTn id="1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9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6" name="yt_shape_12926"/>
          <p:cNvSpPr txBox="1"/>
          <p:nvPr/>
        </p:nvSpPr>
        <p:spPr>
          <a:xfrm>
            <a:off x="324000" y="467999"/>
            <a:ext cx="143629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学习目标</a:t>
            </a:r>
          </a:p>
        </p:txBody>
      </p:sp>
      <p:graphicFrame>
        <p:nvGraphicFramePr>
          <p:cNvPr id="12927" name="yt_table_12927" title="H_148.3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62475"/>
              </p:ext>
            </p:extLst>
          </p:nvPr>
        </p:nvGraphicFramePr>
        <p:xfrm>
          <a:off x="324000" y="1203349"/>
          <a:ext cx="11543998" cy="18836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543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99616"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理解追及相遇问题的临界条件和时间关系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位移关系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。</a:t>
                      </a:r>
                    </a:p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会建立正确的运动情境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画好运动示意图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1_f9a76"/>
                        </a:rPr>
                        <a:t>会根据位移关系及速度关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系列方程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。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p14="http://schemas.microsoft.com/office/powerpoint/2010/main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1" name="yt_shape_12931"/>
          <p:cNvSpPr txBox="1"/>
          <p:nvPr/>
        </p:nvSpPr>
        <p:spPr>
          <a:xfrm>
            <a:off x="324000" y="467999"/>
            <a:ext cx="870751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endParaRPr lang="en-US" altLang="zh-CN" sz="2800" b="0" i="0" u="none">
              <a:solidFill>
                <a:srgbClr val="000000"/>
              </a:solidFill>
              <a:effectLst/>
              <a:latin typeface="黑体" pitchFamily="28"/>
              <a:ea typeface="黑体" pitchFamily="28"/>
            </a:endParaRPr>
          </a:p>
        </p:txBody>
      </p:sp>
      <p:sp>
        <p:nvSpPr>
          <p:cNvPr id="4" name="yt_shape_12929"/>
          <p:cNvSpPr txBox="1"/>
          <p:nvPr/>
        </p:nvSpPr>
        <p:spPr>
          <a:xfrm>
            <a:off x="324000" y="2027041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追及相遇问题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两物体在同一直线上一前一后运动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它们之间可能出现距离最大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71dae"/>
              </a:rPr>
              <a:t>距离最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小或者碰撞的情况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这类问题称为追及相遇问题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p14="http://schemas.microsoft.com/office/powerpoint/2010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TextBox 14"/>
          <p:cNvSpPr txBox="1"/>
          <p:nvPr/>
        </p:nvSpPr>
        <p:spPr>
          <a:xfrm>
            <a:off x="927100" y="2808613"/>
            <a:ext cx="10325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强化点一</a:t>
            </a:r>
            <a:r>
              <a:rPr lang="zh-CN" altLang="en-US" sz="3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　初速度小者追初速度大者</a:t>
            </a:r>
          </a:p>
        </p:txBody>
      </p:sp>
    </p:spTree>
    <p:extLst>
      <p:ext uri="{BB962C8B-B14F-4D97-AF65-F5344CB8AC3E}">
        <p14:creationId xmlns:p14="http://schemas.microsoft.com/office/powerpoint/2010/main" val="403970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8" name="yt_shape_12938"/>
          <p:cNvSpPr txBox="1"/>
          <p:nvPr/>
        </p:nvSpPr>
        <p:spPr>
          <a:xfrm>
            <a:off x="5736927" y="1050984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  <p:sp>
        <p:nvSpPr>
          <p:cNvPr id="12939" name="yt_shape_12939"/>
          <p:cNvSpPr txBox="1"/>
          <p:nvPr/>
        </p:nvSpPr>
        <p:spPr>
          <a:xfrm>
            <a:off x="324071" y="1633969"/>
            <a:ext cx="11543998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一辆汽车在十字路口等待绿灯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当绿灯亮时汽车以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b01a1"/>
              </a:rPr>
              <a:t>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加速度开始行驶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恰在这时一人骑自行车以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的速度匀速驶来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26dd4"/>
              </a:rPr>
              <a:t>从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后边超过汽车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试问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sp>
        <p:nvSpPr>
          <p:cNvPr id="12940" name="yt_shape_12940"/>
          <p:cNvSpPr txBox="1"/>
          <p:nvPr/>
        </p:nvSpPr>
        <p:spPr>
          <a:xfrm>
            <a:off x="324071" y="3404267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汽车从路口启动后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9_18309"/>
              </a:rPr>
              <a:t>在追上自行车之前经过多长时间两车相距最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最远距离是多大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sp>
        <p:nvSpPr>
          <p:cNvPr id="12941" name="yt_shape_12941"/>
          <p:cNvSpPr txBox="1"/>
          <p:nvPr/>
        </p:nvSpPr>
        <p:spPr>
          <a:xfrm>
            <a:off x="324000" y="4571323"/>
            <a:ext cx="365003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</a:p>
        </p:txBody>
      </p:sp>
      <p:sp>
        <p:nvSpPr>
          <p:cNvPr id="12942" name="yt_shape_12942"/>
          <p:cNvSpPr txBox="1"/>
          <p:nvPr/>
        </p:nvSpPr>
        <p:spPr>
          <a:xfrm>
            <a:off x="324000" y="5154308"/>
            <a:ext cx="879728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当汽车与自行车再次相遇时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汽车的速度是多大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sp>
        <p:nvSpPr>
          <p:cNvPr id="12943" name="yt_shape_12943"/>
          <p:cNvSpPr txBox="1"/>
          <p:nvPr/>
        </p:nvSpPr>
        <p:spPr>
          <a:xfrm>
            <a:off x="324000" y="5737293"/>
            <a:ext cx="294151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41" grpId="0" build="allAtOnce"/>
      <p:bldP spid="1294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4" name="yt_shape_12944"/>
          <p:cNvSpPr txBox="1"/>
          <p:nvPr/>
        </p:nvSpPr>
        <p:spPr>
          <a:xfrm>
            <a:off x="324000" y="467999"/>
            <a:ext cx="430887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方法一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物理分析法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45" name="yt_shape_12945"/>
              <p:cNvSpPr txBox="1"/>
              <p:nvPr/>
            </p:nvSpPr>
            <p:spPr>
              <a:xfrm>
                <a:off x="324071" y="1050984"/>
                <a:ext cx="11543998" cy="159800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当汽车的速度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两车相距最远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所用时间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4a027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最远距离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2945" name="yt_shape_129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1050984"/>
                <a:ext cx="11543998" cy="1598002"/>
              </a:xfrm>
              <a:prstGeom prst="rect">
                <a:avLst/>
              </a:prstGeom>
              <a:blipFill>
                <a:blip r:embed="rId2"/>
                <a:stretch>
                  <a:fillRect l="-1848" b="-6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47" name="yt_shape_12947"/>
              <p:cNvSpPr txBox="1"/>
              <p:nvPr/>
            </p:nvSpPr>
            <p:spPr>
              <a:xfrm>
                <a:off x="324071" y="2699774"/>
                <a:ext cx="11924914" cy="138390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两车再次相遇时有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汽车的速度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5b8f9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2947" name="yt_shape_129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2699774"/>
                <a:ext cx="11924914" cy="1383905"/>
              </a:xfrm>
              <a:prstGeom prst="rect">
                <a:avLst/>
              </a:prstGeom>
              <a:blipFill>
                <a:blip r:embed="rId3"/>
                <a:stretch>
                  <a:fillRect l="-1789" b="-14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9" name="yt_shape_12949"/>
          <p:cNvSpPr txBox="1"/>
          <p:nvPr/>
        </p:nvSpPr>
        <p:spPr>
          <a:xfrm>
            <a:off x="324000" y="467999"/>
            <a:ext cx="251350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方法二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图像法</a:t>
            </a:r>
          </a:p>
        </p:txBody>
      </p:sp>
      <p:sp>
        <p:nvSpPr>
          <p:cNvPr id="12950" name="yt_shape_12950"/>
          <p:cNvSpPr txBox="1"/>
          <p:nvPr/>
        </p:nvSpPr>
        <p:spPr>
          <a:xfrm>
            <a:off x="324071" y="1050984"/>
            <a:ext cx="8769500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汽车和自行车的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-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图像如图所示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由图可得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a55bc"/>
              </a:rPr>
              <a:t>s</a:t>
            </a:r>
            <a:b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51" name="yt_shape_12951"/>
              <p:cNvSpPr txBox="1"/>
              <p:nvPr/>
            </p:nvSpPr>
            <p:spPr>
              <a:xfrm>
                <a:off x="324071" y="3610829"/>
                <a:ext cx="11543998" cy="138390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两车相距最远。最远距离等于图中阴影部分的面积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1c07f"/>
                  </a:rPr>
                  <a:t>m</a:t>
                </a:r>
                <a:b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5="http://schemas.microsoft.com/office/powerpoint/2012/main">
          <p:sp>
            <p:nvSpPr>
              <p:cNvPr id="12951" name="yt_shape_129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3610829"/>
                <a:ext cx="11543998" cy="1383905"/>
              </a:xfrm>
              <a:prstGeom prst="rect">
                <a:avLst/>
              </a:prstGeom>
              <a:blipFill>
                <a:blip r:embed="rId2"/>
                <a:stretch>
                  <a:fillRect l="-1848" r="-1373" b="-15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53" name="yt_shape_12953"/>
          <p:cNvSpPr txBox="1"/>
          <p:nvPr/>
        </p:nvSpPr>
        <p:spPr>
          <a:xfrm>
            <a:off x="324071" y="5045522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两车再次相遇时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两车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-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图线与横轴包围的面积相等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fade9"/>
              </a:rPr>
              <a:t>由图可得此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时汽车的速度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2242D0-E706-8089-B66C-F4B9C0244C5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587" y="1050984"/>
            <a:ext cx="2702341" cy="2509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4" name="yt_shape_12954"/>
          <p:cNvSpPr txBox="1"/>
          <p:nvPr/>
        </p:nvSpPr>
        <p:spPr>
          <a:xfrm>
            <a:off x="324000" y="467999"/>
            <a:ext cx="323165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方法三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数学分析法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55" name="yt_shape_12955"/>
              <p:cNvSpPr txBox="1"/>
              <p:nvPr/>
            </p:nvSpPr>
            <p:spPr>
              <a:xfrm>
                <a:off x="324000" y="1050984"/>
                <a:ext cx="6884898" cy="790922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自行车与汽车的位移之差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</a:p>
            </p:txBody>
          </p:sp>
        </mc:Choice>
        <mc:Fallback xmlns="" xmlns:p15="http://schemas.microsoft.com/office/powerpoint/2012/main" xmlns:a16="http://schemas.microsoft.com/office/drawing/2014/main" xmlns:p14="http://schemas.microsoft.com/office/powerpoint/2010/main">
          <p:sp>
            <p:nvSpPr>
              <p:cNvPr id="12955" name="yt_shape_129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1050984"/>
                <a:ext cx="6884898" cy="790922"/>
              </a:xfrm>
              <a:prstGeom prst="rect">
                <a:avLst/>
              </a:prstGeom>
              <a:blipFill>
                <a:blip r:embed="rId2"/>
                <a:stretch>
                  <a:fillRect l="-3097" r="-708" b="-1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57" name="yt_shape_12957"/>
              <p:cNvSpPr txBox="1"/>
              <p:nvPr/>
            </p:nvSpPr>
            <p:spPr>
              <a:xfrm>
                <a:off x="324071" y="1892694"/>
                <a:ext cx="11543998" cy="182723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由数学知识可知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</m:t>
                        </m:r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有最大值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最大值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4d496"/>
                  </a:rPr>
                  <a:t>2</a:t>
                </a:r>
                <a:b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p15="http://schemas.microsoft.com/office/powerpoint/2012/main" xmlns:a16="http://schemas.microsoft.com/office/drawing/2014/main" xmlns:p14="http://schemas.microsoft.com/office/powerpoint/2010/main">
          <p:sp>
            <p:nvSpPr>
              <p:cNvPr id="12957" name="yt_shape_129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1892694"/>
                <a:ext cx="11543998" cy="1827231"/>
              </a:xfrm>
              <a:prstGeom prst="rect">
                <a:avLst/>
              </a:prstGeom>
              <a:blipFill>
                <a:blip r:embed="rId3"/>
                <a:stretch>
                  <a:fillRect l="-1848"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59" name="yt_shape_12959"/>
              <p:cNvSpPr txBox="1"/>
              <p:nvPr/>
            </p:nvSpPr>
            <p:spPr>
              <a:xfrm>
                <a:off x="324071" y="3770713"/>
                <a:ext cx="11924914" cy="138390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时两车相遇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舍去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db02d"/>
                  </a:rPr>
                  <a:t>汽车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的速度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。</a:t>
                </a:r>
              </a:p>
            </p:txBody>
          </p:sp>
        </mc:Choice>
        <mc:Fallback xmlns="" xmlns:p15="http://schemas.microsoft.com/office/powerpoint/2012/main" xmlns:a16="http://schemas.microsoft.com/office/drawing/2014/main" xmlns:p14="http://schemas.microsoft.com/office/powerpoint/2010/main">
          <p:sp>
            <p:nvSpPr>
              <p:cNvPr id="12959" name="yt_shape_129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3770713"/>
                <a:ext cx="11924914" cy="1383905"/>
              </a:xfrm>
              <a:prstGeom prst="rect">
                <a:avLst/>
              </a:prstGeom>
              <a:blipFill>
                <a:blip r:embed="rId4"/>
                <a:stretch>
                  <a:fillRect l="-1789" b="-14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63" name="yt_table_12963" title="H_611.04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675886"/>
              </p:ext>
            </p:extLst>
          </p:nvPr>
        </p:nvGraphicFramePr>
        <p:xfrm>
          <a:off x="268017" y="1718301"/>
          <a:ext cx="11543998" cy="45705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49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4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0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初始条件</a:t>
                      </a:r>
                    </a:p>
                    <a:p>
                      <a:pPr algn="ctr" eaLnBrk="1" fontAlgn="ctr" latinLnBrk="0" hangingPunct="0">
                        <a:lnSpc>
                          <a:spcPct val="10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＜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5450" b="0" i="0" u="none">
                          <a:solidFill>
                            <a:srgbClr val="1EE3CF"/>
                          </a:solidFill>
                          <a:effectLst/>
                          <a:latin typeface="Times New Roman" pitchFamily="54"/>
                          <a:ea typeface="Times New Roman" pitchFamily="54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        </a:t>
                      </a:r>
                      <a:r>
                        <a:rPr lang="en-US" altLang="zh-CN" sz="2700" b="0" i="0" u="none">
                          <a:solidFill>
                            <a:srgbClr val="1EE3CF"/>
                          </a:solidFill>
                          <a:effectLst/>
                          <a:latin typeface="Times New Roman" pitchFamily="27"/>
                          <a:ea typeface="宋体" pitchFamily="27"/>
                          <a:sym typeface="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noFill/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157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-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图像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noFill/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8300" b="0" i="0" u="none">
                          <a:solidFill>
                            <a:srgbClr val="1EE3CF"/>
                          </a:solidFill>
                          <a:effectLst/>
                          <a:latin typeface="Times New Roman" pitchFamily="83"/>
                          <a:ea typeface="Times New Roman" pitchFamily="83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                             </a:t>
                      </a:r>
                      <a:r>
                        <a:rPr lang="en-US" altLang="zh-CN" sz="1600" b="0" i="0" u="none">
                          <a:solidFill>
                            <a:srgbClr val="1EE3CF"/>
                          </a:solidFill>
                          <a:effectLst/>
                          <a:latin typeface="Times New Roman" pitchFamily="16"/>
                          <a:ea typeface="宋体" pitchFamily="16"/>
                          <a:sym typeface=""/>
                        </a:rPr>
                        <a:t> </a:t>
                      </a:r>
                    </a:p>
                    <a:p>
                      <a:pPr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8700" b="0" i="0" u="none">
                          <a:solidFill>
                            <a:srgbClr val="1EE3CF"/>
                          </a:solidFill>
                          <a:effectLst/>
                          <a:latin typeface="Times New Roman" pitchFamily="87"/>
                          <a:ea typeface="Times New Roman" pitchFamily="87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    </a:t>
                      </a:r>
                      <a:r>
                        <a:rPr lang="en-US" altLang="zh-CN" sz="1300" b="0" i="0" u="none">
                          <a:solidFill>
                            <a:srgbClr val="1EE3CF"/>
                          </a:solidFill>
                          <a:effectLst/>
                          <a:latin typeface="Times New Roman" pitchFamily="13"/>
                          <a:ea typeface="宋体" pitchFamily="13"/>
                          <a:sym typeface="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noFill/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412"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以前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＜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0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两物体距离增大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yt_shape_1787190956895">
            <a:extLst>
              <a:ext uri="{FF2B5EF4-FFF2-40B4-BE49-F238E27FC236}">
                <a16:creationId xmlns:a16="http://schemas.microsoft.com/office/drawing/2014/main" id="{A963443A-04B7-E589-43DF-0ED12D8681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493" y="1846655"/>
            <a:ext cx="2006792" cy="834943"/>
          </a:xfrm>
          <a:prstGeom prst="rect">
            <a:avLst/>
          </a:prstGeom>
        </p:spPr>
      </p:pic>
      <p:pic>
        <p:nvPicPr>
          <p:cNvPr id="5" name="yt_shape_1787190956983">
            <a:extLst>
              <a:ext uri="{FF2B5EF4-FFF2-40B4-BE49-F238E27FC236}">
                <a16:creationId xmlns:a16="http://schemas.microsoft.com/office/drawing/2014/main" id="{70F3B300-91CE-0354-350C-B4B4F34968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882" y="2942065"/>
            <a:ext cx="3593403" cy="1318018"/>
          </a:xfrm>
          <a:prstGeom prst="rect">
            <a:avLst/>
          </a:prstGeom>
        </p:spPr>
      </p:pic>
      <p:pic>
        <p:nvPicPr>
          <p:cNvPr id="7" name="yt_shape_1787190957028">
            <a:extLst>
              <a:ext uri="{FF2B5EF4-FFF2-40B4-BE49-F238E27FC236}">
                <a16:creationId xmlns:a16="http://schemas.microsoft.com/office/drawing/2014/main" id="{9D10C6DB-2872-579E-FA84-DA57CA645F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493" y="4260083"/>
            <a:ext cx="1229738" cy="933340"/>
          </a:xfrm>
          <a:prstGeom prst="rect">
            <a:avLst/>
          </a:prstGeom>
        </p:spPr>
      </p:pic>
      <p:sp>
        <p:nvSpPr>
          <p:cNvPr id="6" name="yt_shape_12962"/>
          <p:cNvSpPr txBox="1"/>
          <p:nvPr/>
        </p:nvSpPr>
        <p:spPr>
          <a:xfrm>
            <a:off x="3167434" y="984183"/>
            <a:ext cx="574516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初速度小者追初速度大者的常见情形</a:t>
            </a:r>
          </a:p>
        </p:txBody>
      </p:sp>
      <p:sp>
        <p:nvSpPr>
          <p:cNvPr id="8" name="yt_shape_12961"/>
          <p:cNvSpPr txBox="1"/>
          <p:nvPr/>
        </p:nvSpPr>
        <p:spPr>
          <a:xfrm>
            <a:off x="268017" y="451986"/>
            <a:ext cx="143629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方法总结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290991"/>
              </p:ext>
            </p:extLst>
          </p:nvPr>
        </p:nvGraphicFramePr>
        <p:xfrm>
          <a:off x="390331" y="1750980"/>
          <a:ext cx="11543998" cy="20665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49442">
                  <a:extLst>
                    <a:ext uri="{9D8B030D-6E8A-4147-A177-3AD203B41FA5}">
                      <a16:colId xmlns:a16="http://schemas.microsoft.com/office/drawing/2014/main" val="2942930537"/>
                    </a:ext>
                  </a:extLst>
                </a:gridCol>
                <a:gridCol w="7494556">
                  <a:extLst>
                    <a:ext uri="{9D8B030D-6E8A-4147-A177-3AD203B41FA5}">
                      <a16:colId xmlns:a16="http://schemas.microsoft.com/office/drawing/2014/main" val="774681789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两物体相距最远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157463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以后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＞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两物体距离减小到零再逐渐增大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2524974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相遇情况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只能相遇一次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noFill/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685760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10914387" y="1146570"/>
            <a:ext cx="85151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/>
              <a:t>续表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5881213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p14="http://schemas.microsoft.com/office/powerpoint/2010/main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7" name="yt_shape_12967"/>
          <p:cNvSpPr txBox="1"/>
          <p:nvPr/>
        </p:nvSpPr>
        <p:spPr>
          <a:xfrm>
            <a:off x="370724" y="953191"/>
            <a:ext cx="11924914" cy="41516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重庆沙坪坝高一期中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年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4823a"/>
              </a:rPr>
              <a:t>年国际中体联足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球世界杯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在大连梭鱼湾体育场胜利落幕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中国男子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队和中国女子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542f9"/>
              </a:rPr>
              <a:t>队分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别获得男子组和女子组的冠军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在某次球员带球过程中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fd1ed"/>
              </a:rPr>
              <a:t>足球被踢出后在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草坪上做匀减速直线运动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其初速度大小为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加速度大小为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89be5"/>
              </a:rPr>
              <a:t>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与此同时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另一运动员从同一位置由静止开始以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da879"/>
              </a:rPr>
              <a:t>的加速度做匀加速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直线运动追赶足球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运动员和足球均可视为质点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08524"/>
              </a:rPr>
              <a:t>则该运动员从开始运动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到追上足球经过的时间为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968" name="yt_table_12968" title="H_94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629348"/>
              </p:ext>
            </p:extLst>
          </p:nvPr>
        </p:nvGraphicFramePr>
        <p:xfrm>
          <a:off x="370719" y="5155628"/>
          <a:ext cx="3983356" cy="1194816"/>
        </p:xfrm>
        <a:graphic>
          <a:graphicData uri="http://schemas.openxmlformats.org/drawingml/2006/table">
            <a:tbl>
              <a:tblPr/>
              <a:tblGrid>
                <a:gridCol w="2457768">
                  <a:extLst>
                    <a:ext uri="{9D8B030D-6E8A-4147-A177-3AD203B41FA5}">
                      <a16:colId xmlns:a16="http://schemas.microsoft.com/office/drawing/2014/main" val="10273"/>
                    </a:ext>
                  </a:extLst>
                </a:gridCol>
                <a:gridCol w="1525588">
                  <a:extLst>
                    <a:ext uri="{9D8B030D-6E8A-4147-A177-3AD203B41FA5}">
                      <a16:colId xmlns:a16="http://schemas.microsoft.com/office/drawing/2014/main" val="10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0C321326-13EE-4346-8BA3-83BDF1BA09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" y="442675"/>
            <a:ext cx="2348629" cy="61787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49561" y="587765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970" name="yt_shape_12970"/>
              <p:cNvSpPr txBox="1"/>
              <p:nvPr/>
            </p:nvSpPr>
            <p:spPr>
              <a:xfrm>
                <a:off x="324071" y="467999"/>
                <a:ext cx="11924914" cy="346902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设足球的初速度大小为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加速度大小为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2a4e5"/>
                  </a:rPr>
                  <a:t>足球停止运动的时间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运动员的加速度大小为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由题意可知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2_13bd0"/>
                  </a:rPr>
                  <a:t>当运动员和足球的位移相等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运动员追上足球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假设足球停止前运动员追上足球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45d2f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或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舍去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因为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d0c87"/>
                  </a:rPr>
                  <a:t>所以假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设成立。故选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2970" name="yt_shape_129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469027"/>
              </a:xfrm>
              <a:prstGeom prst="rect">
                <a:avLst/>
              </a:prstGeom>
              <a:blipFill>
                <a:blip r:embed="rId2"/>
                <a:stretch>
                  <a:fillRect l="-1789" t="-703" b="-5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TextBox 14"/>
          <p:cNvSpPr txBox="1"/>
          <p:nvPr/>
        </p:nvSpPr>
        <p:spPr>
          <a:xfrm>
            <a:off x="927100" y="2808613"/>
            <a:ext cx="10325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强化点二　初速度大者追初速度小者</a:t>
            </a:r>
          </a:p>
        </p:txBody>
      </p:sp>
    </p:spTree>
    <p:extLst>
      <p:ext uri="{BB962C8B-B14F-4D97-AF65-F5344CB8AC3E}">
        <p14:creationId xmlns:p14="http://schemas.microsoft.com/office/powerpoint/2010/main" val="172160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4" name="yt_shape_12974"/>
          <p:cNvSpPr txBox="1"/>
          <p:nvPr/>
        </p:nvSpPr>
        <p:spPr>
          <a:xfrm>
            <a:off x="324071" y="467999"/>
            <a:ext cx="11924914" cy="5338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浙江丽水质检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如图甲所示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在沟谷深壑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90b51"/>
              </a:rPr>
              <a:t>地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形险峻的山区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由于暴雨极易引发山体滑坡形成泥石流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e5b67"/>
              </a:rPr>
              <a:t>泥石流常常会冲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毁公路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铁路甚至村镇等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给人民造成巨大损失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a30ea"/>
              </a:rPr>
              <a:t>现将泥石流下滑简化如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图乙所示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假设一段泥石流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视为滑块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从</a:t>
            </a:r>
            <a:r>
              <a:rPr lang="en-US" altLang="zh-CN" sz="2800" b="0" i="1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sym typeface="_⨹_12_cd6c5"/>
              </a:rPr>
              <a:t>点由静止开始沿坡体匀加速</a:t>
            </a:r>
            <a:b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</a:b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直线下滑</a:t>
            </a:r>
            <a:r>
              <a:rPr lang="en-US" altLang="zh-CN" sz="2800" b="0" i="0" u="wavy" baseline="3000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</a:rPr>
              <a:t>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加速度大小为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点距离坡体底端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点的长度为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144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deb48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泥石流</a:t>
            </a: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经过</a:t>
            </a:r>
            <a:r>
              <a:rPr lang="en-US" altLang="zh-CN" sz="2800" b="0" i="1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点时速度的大小不变</a:t>
            </a:r>
            <a:r>
              <a:rPr lang="en-US" altLang="zh-CN" sz="2800" b="0" i="0" u="wavy" baseline="3000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</a:rPr>
              <a:t>②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然后在</a:t>
            </a: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sym typeface="_⨹_12_59904"/>
              </a:rPr>
              <a:t>水平面上做匀减速直线运动</a:t>
            </a:r>
            <a:b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</a:br>
            <a:r>
              <a:rPr lang="en-US" altLang="zh-CN" sz="2800" b="0" i="0" u="wavy" baseline="3000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</a:rPr>
              <a:t>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加速度大小为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一辆汽车停在距离</a:t>
            </a:r>
            <a:r>
              <a:rPr lang="en-US" altLang="zh-CN" sz="2800" b="0" i="1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点右侧</a:t>
            </a:r>
            <a:r>
              <a:rPr lang="en-US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110</a:t>
            </a: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的</a:t>
            </a:r>
            <a:r>
              <a:rPr lang="en-US" altLang="zh-CN" sz="2800" b="0" i="1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处</a:t>
            </a:r>
            <a:r>
              <a:rPr lang="en-US" altLang="zh-CN" sz="2800" b="0" i="0" u="wavy" baseline="3000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</a:rPr>
              <a:t>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d9170"/>
              </a:rPr>
              <a:t>当泥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石流到达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司机发现险情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立即启动车辆并以</a:t>
            </a:r>
            <a:r>
              <a:rPr lang="en-US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wavy" baseline="3000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sym typeface="_⨹_7_14d8e"/>
              </a:rPr>
              <a:t>加速度向右做匀</a:t>
            </a:r>
            <a:b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</a:br>
            <a:r>
              <a:rPr lang="zh-CN" altLang="zh-CN" sz="2800" b="0" i="0" u="wavy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加速直线运动逃生</a:t>
            </a:r>
            <a:r>
              <a:rPr lang="en-US" altLang="zh-CN" sz="2800" b="0" i="0" u="wavy" baseline="3000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</a:rPr>
              <a:t>⑤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75" name="yt_image_12975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26282" y="467999"/>
            <a:ext cx="4686077" cy="360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yt_image_12977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06460" y="4330872"/>
            <a:ext cx="2925720" cy="196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9" name="yt_shape_12979"/>
          <p:cNvSpPr txBox="1"/>
          <p:nvPr/>
        </p:nvSpPr>
        <p:spPr>
          <a:xfrm>
            <a:off x="267015" y="1356832"/>
            <a:ext cx="672299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泥石流由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点运动到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点所用的时间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2980" name="yt_shape_12980"/>
          <p:cNvSpPr txBox="1"/>
          <p:nvPr/>
        </p:nvSpPr>
        <p:spPr>
          <a:xfrm>
            <a:off x="267015" y="1939817"/>
            <a:ext cx="157575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6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81" name="yt_shape_12981"/>
              <p:cNvSpPr txBox="1"/>
              <p:nvPr/>
            </p:nvSpPr>
            <p:spPr>
              <a:xfrm>
                <a:off x="267086" y="2522802"/>
                <a:ext cx="11924914" cy="139416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规范解答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根据匀变速直线运动位移与时间的关系可知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1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6246a"/>
                  </a:rPr>
                  <a:t>＝</a:t>
                </a:r>
                <a:b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1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𝐴𝐵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="">
          <p:sp>
            <p:nvSpPr>
              <p:cNvPr id="12981" name="yt_shape_129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2522802"/>
                <a:ext cx="11924914" cy="1394164"/>
              </a:xfrm>
              <a:prstGeom prst="rect">
                <a:avLst/>
              </a:prstGeom>
              <a:blipFill>
                <a:blip r:embed="rId2"/>
                <a:stretch>
                  <a:fillRect l="-1840" t="-1747" b="-7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83" name="yt_shape_12983"/>
              <p:cNvSpPr txBox="1"/>
              <p:nvPr/>
            </p:nvSpPr>
            <p:spPr>
              <a:xfrm>
                <a:off x="267015" y="3967754"/>
                <a:ext cx="4762329" cy="1139927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𝐴𝐵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𝐴𝐵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="">
          <p:sp>
            <p:nvSpPr>
              <p:cNvPr id="12983" name="yt_shape_129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15" y="3967754"/>
                <a:ext cx="4762329" cy="1139927"/>
              </a:xfrm>
              <a:prstGeom prst="rect">
                <a:avLst/>
              </a:prstGeom>
              <a:blipFill>
                <a:blip r:embed="rId3"/>
                <a:stretch>
                  <a:fillRect l="-4609" r="-3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9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80" grpId="0" build="allAtOnce"/>
      <p:bldP spid="12981" grpId="0" build="allAtOnce"/>
      <p:bldP spid="12983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5" name="yt_shape_12985"/>
          <p:cNvSpPr txBox="1"/>
          <p:nvPr/>
        </p:nvSpPr>
        <p:spPr>
          <a:xfrm>
            <a:off x="324000" y="467999"/>
            <a:ext cx="578523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泥石流经过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点时的速度大小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2986" name="yt_shape_12986"/>
          <p:cNvSpPr txBox="1"/>
          <p:nvPr/>
        </p:nvSpPr>
        <p:spPr>
          <a:xfrm>
            <a:off x="324000" y="1050984"/>
            <a:ext cx="213359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48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  <p:sp>
        <p:nvSpPr>
          <p:cNvPr id="12987" name="yt_shape_12987"/>
          <p:cNvSpPr txBox="1"/>
          <p:nvPr/>
        </p:nvSpPr>
        <p:spPr>
          <a:xfrm>
            <a:off x="324071" y="1633969"/>
            <a:ext cx="11543998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规范解答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根据匀变速直线运动速度与时间的关系可知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泥石流到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570a4"/>
              </a:rPr>
              <a:t>点的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速度大小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1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1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AB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1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48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分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2988" name="yt_shape_12988"/>
          <p:cNvSpPr txBox="1"/>
          <p:nvPr/>
        </p:nvSpPr>
        <p:spPr>
          <a:xfrm>
            <a:off x="324071" y="3423438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试判断泥石流能否追上汽车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若追不上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1_f5ada"/>
              </a:rPr>
              <a:t>则泥石流与汽车间的最小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距离为多少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若能追上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则从汽车启动到被追上需要多长时间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sp>
        <p:nvSpPr>
          <p:cNvPr id="12989" name="yt_shape_12989"/>
          <p:cNvSpPr txBox="1"/>
          <p:nvPr/>
        </p:nvSpPr>
        <p:spPr>
          <a:xfrm>
            <a:off x="324000" y="4609665"/>
            <a:ext cx="333104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追不上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86" grpId="0" build="allAtOnce"/>
      <p:bldP spid="12987" grpId="0" build="allAtOnce"/>
      <p:bldP spid="12989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991" name="yt_shape_12991"/>
              <p:cNvSpPr txBox="1"/>
              <p:nvPr/>
            </p:nvSpPr>
            <p:spPr>
              <a:xfrm>
                <a:off x="267086" y="1606178"/>
                <a:ext cx="11924914" cy="525182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此时泥石流在水平面上的位移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BC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144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汽车的位移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此时二者相距最近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最近距离为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此后汽车的速度大于泥石流的速度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故泥石流追不上汽车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9a5ef"/>
                  </a:rPr>
                  <a:t>二者的最小距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离为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="">
          <p:sp>
            <p:nvSpPr>
              <p:cNvPr id="12991" name="yt_shape_129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1606178"/>
                <a:ext cx="11924914" cy="5251822"/>
              </a:xfrm>
              <a:prstGeom prst="rect">
                <a:avLst/>
              </a:prstGeom>
              <a:blipFill>
                <a:blip r:embed="rId2"/>
                <a:stretch>
                  <a:fillRect l="-1840" t="-464" b="-32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yt_shape_12990"/>
          <p:cNvSpPr txBox="1"/>
          <p:nvPr/>
        </p:nvSpPr>
        <p:spPr>
          <a:xfrm>
            <a:off x="267086" y="331401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规范解答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设经过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时间汽车的速度大小等于泥石流速度的大小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则有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1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ed1de"/>
              </a:rPr>
              <a:t>－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1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BC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车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分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994" name="yt_table_12994" title="H_646.2001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00186"/>
                  </p:ext>
                </p:extLst>
              </p:nvPr>
            </p:nvGraphicFramePr>
            <p:xfrm>
              <a:off x="296009" y="2063533"/>
              <a:ext cx="11543998" cy="4131056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83242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7115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信息读取</a:t>
                          </a:r>
                        </a:p>
                      </a:txBody>
                      <a:tcPr anchor="ctr">
                        <a:lnL w="9522" cap="flat" cmpd="sng" algn="ctr">
                          <a:noFill/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noFill/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信息加工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noFill/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noFill/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从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11_f365b"/>
                            </a:rPr>
                            <a:t>点由静止开始沿坡体匀加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速直线下滑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①</a:t>
                          </a:r>
                        </a:p>
                      </a:txBody>
                      <a:tcPr anchor="ctr">
                        <a:lnL w="9522" cap="flat" cmpd="sng" algn="ctr">
                          <a:noFill/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noFill/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泥石流由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点运动到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点的过程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：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  <a:sym typeface="_⨹_1_2a116"/>
                            </a:rPr>
                            <a:t>＝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</a:b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AB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t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AB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800" b="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Cambria Math" panose="02040503050406030204" pitchFamily="56" charset="0"/>
                          </a:endParaRPr>
                        </a:p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泥石流经过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点的速度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：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AB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AB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noFill/>
                          <a:prstDash val="solid"/>
                          <a:round/>
                        </a:lnR>
                        <a:lnT w="9522" cap="flat" cmpd="sng" algn="ctr">
                          <a:noFill/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经过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点时速度的大小不变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②</a:t>
                          </a:r>
                        </a:p>
                      </a:txBody>
                      <a:tcPr anchor="ctr">
                        <a:lnL w="9522" cap="flat" cmpd="sng" algn="ctr">
                          <a:noFill/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泥石流由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点向右运动的初速度等于由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1_7fef6"/>
                            </a:rPr>
                            <a:t>点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到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点的末速度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noFill/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水平面上做匀减速直线运动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③</a:t>
                          </a:r>
                        </a:p>
                      </a:txBody>
                      <a:tcPr anchor="ctr">
                        <a:lnL w="9522" cap="flat" cmpd="sng" algn="ctr">
                          <a:noFill/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泥石流由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点开始向右的过程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：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  <a:sym typeface="_⨹_1_f8cf3"/>
                            </a:rPr>
                            <a:t>－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</a:b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BC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noFill/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>
          <p:graphicFrame>
            <p:nvGraphicFramePr>
              <p:cNvPr id="12994" name="yt_table_12994" title="H_646.2001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00186"/>
                  </p:ext>
                </p:extLst>
              </p:nvPr>
            </p:nvGraphicFramePr>
            <p:xfrm>
              <a:off x="296009" y="2063533"/>
              <a:ext cx="11543998" cy="4131056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83242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7115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信息读取</a:t>
                          </a:r>
                        </a:p>
                      </a:txBody>
                      <a:tcPr anchor="ctr">
                        <a:lnL w="9522" cap="flat" cmpd="sng" algn="ctr">
                          <a:noFill/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noFill/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信息加工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noFill/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noFill/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547368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从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11_f365b"/>
                            </a:rPr>
                            <a:t>点由静止开始沿坡体匀加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/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速直线下滑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①</a:t>
                          </a:r>
                        </a:p>
                      </a:txBody>
                      <a:tcPr anchor="ctr">
                        <a:lnL w="9522" cap="flat" cmpd="sng" algn="ctr">
                          <a:noFill/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noFill/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noFill/>
                          <a:prstDash val="solid"/>
                          <a:round/>
                        </a:lnR>
                        <a:lnT w="9522" cap="flat" cmpd="sng" algn="ctr">
                          <a:noFill/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71960" t="-38431" r="-91" b="-13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经过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点时速度的大小不变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②</a:t>
                          </a:r>
                        </a:p>
                      </a:txBody>
                      <a:tcPr anchor="ctr">
                        <a:lnL w="9522" cap="flat" cmpd="sng" algn="ctr">
                          <a:noFill/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泥石流由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点向右运动的初速度等于由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1_7fef6"/>
                            </a:rPr>
                            <a:t>点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/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到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点的末速度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noFill/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20648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水平面上做匀减速直线运动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③</a:t>
                          </a:r>
                        </a:p>
                      </a:txBody>
                      <a:tcPr anchor="ctr">
                        <a:lnL w="9522" cap="flat" cmpd="sng" algn="ctr">
                          <a:noFill/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noFill/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71960" t="-276087" r="-91" b="-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yt_shape_12993"/>
          <p:cNvSpPr txBox="1"/>
          <p:nvPr/>
        </p:nvSpPr>
        <p:spPr>
          <a:xfrm>
            <a:off x="296009" y="890698"/>
            <a:ext cx="143629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教您审题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5718676"/>
                  </p:ext>
                </p:extLst>
              </p:nvPr>
            </p:nvGraphicFramePr>
            <p:xfrm>
              <a:off x="502298" y="1639013"/>
              <a:ext cx="11543998" cy="284080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832422">
                      <a:extLst>
                        <a:ext uri="{9D8B030D-6E8A-4147-A177-3AD203B41FA5}">
                          <a16:colId xmlns:a16="http://schemas.microsoft.com/office/drawing/2014/main" val="1835969016"/>
                        </a:ext>
                      </a:extLst>
                    </a:gridCol>
                    <a:gridCol w="6711576">
                      <a:extLst>
                        <a:ext uri="{9D8B030D-6E8A-4147-A177-3AD203B41FA5}">
                          <a16:colId xmlns:a16="http://schemas.microsoft.com/office/drawing/2014/main" val="2424610067"/>
                        </a:ext>
                      </a:extLst>
                    </a:gridCol>
                  </a:tblGrid>
                  <a:tr h="467999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一辆汽车停在距离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24b94"/>
                            </a:rPr>
                            <a:t>点右侧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110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的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处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④</a:t>
                          </a:r>
                        </a:p>
                      </a:txBody>
                      <a:tcPr anchor="ctr">
                        <a:lnL w="9522" cap="flat" cmpd="sng" algn="ctr">
                          <a:noFill/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汽车启动时离泥石流的距离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110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noFill/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9194160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立即启动车辆并以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6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2_45c59"/>
                            </a:rPr>
                            <a:t>加速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13_78dce"/>
                            </a:rPr>
                            <a:t>度向右做匀加速直线运动逃生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⑤</a:t>
                          </a:r>
                        </a:p>
                      </a:txBody>
                      <a:tcPr anchor="ctr">
                        <a:lnL w="9522" cap="flat" cmpd="sng" algn="ctr">
                          <a:noFill/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noFill/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汽车由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14_a9934"/>
                            </a:rPr>
                            <a:t>点开始向右做初速度为零的匀加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速直线运动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：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车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noFill/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noFill/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42478568"/>
                      </a:ext>
                    </a:extLst>
                  </a:tr>
                </a:tbl>
              </a:graphicData>
            </a:graphic>
          </p:graphicFrame>
        </mc:Choice>
        <mc:Fallback xmlns="" xmlns:p14="http://schemas.microsoft.com/office/powerpoint/2010/main" xmlns:a16="http://schemas.microsoft.com/office/drawing/2014/main" xmlns:p15="http://schemas.microsoft.com/office/powerpoint/2012/main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5718676"/>
                  </p:ext>
                </p:extLst>
              </p:nvPr>
            </p:nvGraphicFramePr>
            <p:xfrm>
              <a:off x="502298" y="1639013"/>
              <a:ext cx="11543998" cy="297078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832422">
                      <a:extLst>
                        <a:ext uri="{9D8B030D-6E8A-4147-A177-3AD203B41FA5}">
                          <a16:colId xmlns:a16="http://schemas.microsoft.com/office/drawing/2014/main" val="1835969016"/>
                        </a:ext>
                      </a:extLst>
                    </a:gridCol>
                    <a:gridCol w="6711576">
                      <a:extLst>
                        <a:ext uri="{9D8B030D-6E8A-4147-A177-3AD203B41FA5}">
                          <a16:colId xmlns:a16="http://schemas.microsoft.com/office/drawing/2014/main" val="2424610067"/>
                        </a:ext>
                      </a:extLst>
                    </a:gridCol>
                  </a:tblGrid>
                  <a:tr h="1286256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一辆汽车停在距离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24b94"/>
                            </a:rPr>
                            <a:t>点右侧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/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110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的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处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④</a:t>
                          </a:r>
                        </a:p>
                      </a:txBody>
                      <a:tcPr anchor="ctr">
                        <a:lnL w="9522" cap="flat" cmpd="sng" algn="ctr">
                          <a:noFill/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汽车启动时离泥石流的距离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110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noFill/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9194160"/>
                      </a:ext>
                    </a:extLst>
                  </a:tr>
                  <a:tr h="1684528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立即启动车辆并以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6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2_45c59"/>
                            </a:rPr>
                            <a:t>加速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/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13_78dce"/>
                            </a:rPr>
                            <a:t>度向右做匀加速直线运动逃生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/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⑤</a:t>
                          </a:r>
                        </a:p>
                      </a:txBody>
                      <a:tcPr anchor="ctr">
                        <a:lnL w="9522" cap="flat" cmpd="sng" algn="ctr">
                          <a:noFill/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noFill/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noFill/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noFill/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71960" t="-765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24785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矩形 2"/>
          <p:cNvSpPr/>
          <p:nvPr/>
        </p:nvSpPr>
        <p:spPr>
          <a:xfrm>
            <a:off x="10905057" y="1062594"/>
            <a:ext cx="85151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/>
              <a:t>续表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63601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98" name="yt_table_12998" title="H_667.3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179258"/>
              </p:ext>
            </p:extLst>
          </p:nvPr>
        </p:nvGraphicFramePr>
        <p:xfrm>
          <a:off x="268017" y="1541019"/>
          <a:ext cx="11543998" cy="51221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4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7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初始条件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＞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900" b="0" i="0" u="none">
                          <a:solidFill>
                            <a:srgbClr val="1EE3CF"/>
                          </a:solidFill>
                          <a:effectLst/>
                          <a:latin typeface="Times New Roman" pitchFamily="39"/>
                          <a:ea typeface="Times New Roman" pitchFamily="39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          </a:t>
                      </a:r>
                      <a:r>
                        <a:rPr lang="en-US" altLang="zh-CN" sz="200" b="0" i="0" u="none">
                          <a:solidFill>
                            <a:srgbClr val="1EE3CF"/>
                          </a:solidFill>
                          <a:effectLst/>
                          <a:latin typeface="Times New Roman" pitchFamily="2"/>
                          <a:ea typeface="宋体" pitchFamily="2"/>
                          <a:sym typeface="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noFill/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847"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-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图像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noFill/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8050" b="0" i="0" u="none">
                          <a:solidFill>
                            <a:srgbClr val="1EE3CF"/>
                          </a:solidFill>
                          <a:effectLst/>
                          <a:latin typeface="Times New Roman" pitchFamily="80"/>
                          <a:ea typeface="Times New Roman" pitchFamily="80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                             </a:t>
                      </a:r>
                      <a:r>
                        <a:rPr lang="en-US" altLang="zh-CN" sz="2200" b="0" i="0" u="none">
                          <a:solidFill>
                            <a:srgbClr val="1EE3CF"/>
                          </a:solidFill>
                          <a:effectLst/>
                          <a:latin typeface="Times New Roman" pitchFamily="22"/>
                          <a:ea typeface="宋体" pitchFamily="22"/>
                          <a:sym typeface=""/>
                        </a:rPr>
                        <a:t> </a:t>
                      </a:r>
                    </a:p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9500" b="0" i="0" u="none">
                          <a:solidFill>
                            <a:srgbClr val="1EE3CF"/>
                          </a:solidFill>
                          <a:effectLst/>
                          <a:latin typeface="Times New Roman" pitchFamily="95"/>
                          <a:ea typeface="Times New Roman" pitchFamily="95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      </a:t>
                      </a:r>
                      <a:r>
                        <a:rPr lang="en-US" altLang="zh-CN" sz="500" b="0" i="0" u="none">
                          <a:solidFill>
                            <a:srgbClr val="1EE3CF"/>
                          </a:solidFill>
                          <a:effectLst/>
                          <a:latin typeface="Times New Roman" pitchFamily="5"/>
                          <a:ea typeface="宋体" pitchFamily="5"/>
                          <a:sym typeface="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noFill/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yt_shape_1787190957553">
            <a:extLst>
              <a:ext uri="{FF2B5EF4-FFF2-40B4-BE49-F238E27FC236}">
                <a16:creationId xmlns:a16="http://schemas.microsoft.com/office/drawing/2014/main" id="{732725A5-9052-50E5-AC35-1258A3D273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797" y="1850967"/>
            <a:ext cx="2352867" cy="666359"/>
          </a:xfrm>
          <a:prstGeom prst="rect">
            <a:avLst/>
          </a:prstGeom>
        </p:spPr>
      </p:pic>
      <p:pic>
        <p:nvPicPr>
          <p:cNvPr id="5" name="yt_shape_1787190957640">
            <a:extLst>
              <a:ext uri="{FF2B5EF4-FFF2-40B4-BE49-F238E27FC236}">
                <a16:creationId xmlns:a16="http://schemas.microsoft.com/office/drawing/2014/main" id="{480FEEE6-FC2C-A124-EA23-913A0F3FAD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797" y="2982567"/>
            <a:ext cx="4237227" cy="1498404"/>
          </a:xfrm>
          <a:prstGeom prst="rect">
            <a:avLst/>
          </a:prstGeom>
        </p:spPr>
      </p:pic>
      <p:pic>
        <p:nvPicPr>
          <p:cNvPr id="7" name="yt_shape_1787190957685">
            <a:extLst>
              <a:ext uri="{FF2B5EF4-FFF2-40B4-BE49-F238E27FC236}">
                <a16:creationId xmlns:a16="http://schemas.microsoft.com/office/drawing/2014/main" id="{933583E0-2D03-87CD-3DDF-DE38518D88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797" y="4766388"/>
            <a:ext cx="2184592" cy="1675231"/>
          </a:xfrm>
          <a:prstGeom prst="rect">
            <a:avLst/>
          </a:prstGeom>
        </p:spPr>
      </p:pic>
      <p:sp>
        <p:nvSpPr>
          <p:cNvPr id="6" name="yt_shape_12997"/>
          <p:cNvSpPr txBox="1"/>
          <p:nvPr/>
        </p:nvSpPr>
        <p:spPr>
          <a:xfrm>
            <a:off x="3167434" y="909963"/>
            <a:ext cx="574516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初速度大者追初速度小者的常见情形</a:t>
            </a:r>
          </a:p>
        </p:txBody>
      </p:sp>
      <p:sp>
        <p:nvSpPr>
          <p:cNvPr id="8" name="yt_shape_12996"/>
          <p:cNvSpPr txBox="1"/>
          <p:nvPr/>
        </p:nvSpPr>
        <p:spPr>
          <a:xfrm>
            <a:off x="324000" y="467999"/>
            <a:ext cx="143629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方法总结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960992"/>
              </p:ext>
            </p:extLst>
          </p:nvPr>
        </p:nvGraphicFramePr>
        <p:xfrm>
          <a:off x="297025" y="1788303"/>
          <a:ext cx="11543998" cy="3352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46340">
                  <a:extLst>
                    <a:ext uri="{9D8B030D-6E8A-4147-A177-3AD203B41FA5}">
                      <a16:colId xmlns:a16="http://schemas.microsoft.com/office/drawing/2014/main" val="1474528217"/>
                    </a:ext>
                  </a:extLst>
                </a:gridCol>
                <a:gridCol w="8997658">
                  <a:extLst>
                    <a:ext uri="{9D8B030D-6E8A-4147-A177-3AD203B41FA5}">
                      <a16:colId xmlns:a16="http://schemas.microsoft.com/office/drawing/2014/main" val="935074386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时刻以前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＞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两物体距离减小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359261"/>
                  </a:ext>
                </a:extLst>
              </a:tr>
              <a:tr h="467999">
                <a:tc rowSpan="3"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时刻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若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恰好追上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788005"/>
                  </a:ext>
                </a:extLst>
              </a:tr>
              <a:tr h="467999">
                <a:tc vMerge="1"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endParaRPr/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若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＜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追不上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有最小距离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040361"/>
                  </a:ext>
                </a:extLst>
              </a:tr>
              <a:tr h="467999">
                <a:tc vMerge="1"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endParaRPr/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若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＞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相遇两次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noFill/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08888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10905057" y="1062594"/>
            <a:ext cx="85151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/>
              <a:t>续表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20768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p14="http://schemas.microsoft.com/office/powerpoint/2010/main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3" name="yt_shape_13003"/>
          <p:cNvSpPr txBox="1"/>
          <p:nvPr/>
        </p:nvSpPr>
        <p:spPr>
          <a:xfrm>
            <a:off x="324071" y="971853"/>
            <a:ext cx="11516476" cy="21445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/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浙江台州期中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8_561bd"/>
              </a:rPr>
              <a:t>乙两辆汽车在一条平直的单行道上同向行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乙车在前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速度大小为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甲车在后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速度大小为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且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＞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171d5"/>
              </a:rPr>
              <a:t>当两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车相距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甲车感觉到危险以加速度大小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开始刹车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b5956"/>
              </a:rPr>
              <a:t>同时鸣笛示意乙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乙车同时也以加速度大小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开始加速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为了避免相撞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3db66"/>
              </a:rPr>
              <a:t>最小应为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004" name="yt_table_13004" title="H_140.71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8470945"/>
                  </p:ext>
                </p:extLst>
              </p:nvPr>
            </p:nvGraphicFramePr>
            <p:xfrm>
              <a:off x="324071" y="3116425"/>
              <a:ext cx="6331649" cy="1787018"/>
            </p:xfrm>
            <a:graphic>
              <a:graphicData uri="http://schemas.openxmlformats.org/drawingml/2006/table">
                <a:tbl>
                  <a:tblPr/>
                  <a:tblGrid>
                    <a:gridCol w="3621596">
                      <a:extLst>
                        <a:ext uri="{9D8B030D-6E8A-4147-A177-3AD203B41FA5}">
                          <a16:colId xmlns:a16="http://schemas.microsoft.com/office/drawing/2014/main" val="10275"/>
                        </a:ext>
                      </a:extLst>
                    </a:gridCol>
                    <a:gridCol w="2710053">
                      <a:extLst>
                        <a:ext uri="{9D8B030D-6E8A-4147-A177-3AD203B41FA5}">
                          <a16:colId xmlns:a16="http://schemas.microsoft.com/office/drawing/2014/main" val="102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𝐿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4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𝐿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（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）</m:t>
                                      </m:r>
                                    </m:e>
                                    <m:sup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𝐿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（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）</m:t>
                                      </m:r>
                                    </m:e>
                                    <m:sup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4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𝐿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52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 xmlns:p15="http://schemas.microsoft.com/office/powerpoint/2012/main">
          <p:graphicFrame>
            <p:nvGraphicFramePr>
              <p:cNvPr id="13004" name="yt_table_13004" title="H_140.71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8470945"/>
                  </p:ext>
                </p:extLst>
              </p:nvPr>
            </p:nvGraphicFramePr>
            <p:xfrm>
              <a:off x="324071" y="3116425"/>
              <a:ext cx="6331649" cy="1924432"/>
            </p:xfrm>
            <a:graphic>
              <a:graphicData uri="http://schemas.openxmlformats.org/drawingml/2006/table">
                <a:tbl>
                  <a:tblPr/>
                  <a:tblGrid>
                    <a:gridCol w="3621596">
                      <a:extLst>
                        <a:ext uri="{9D8B030D-6E8A-4147-A177-3AD203B41FA5}">
                          <a16:colId xmlns:a16="http://schemas.microsoft.com/office/drawing/2014/main" val="10275"/>
                        </a:ext>
                      </a:extLst>
                    </a:gridCol>
                    <a:gridCol w="2710053">
                      <a:extLst>
                        <a:ext uri="{9D8B030D-6E8A-4147-A177-3AD203B41FA5}">
                          <a16:colId xmlns:a16="http://schemas.microsoft.com/office/drawing/2014/main" val="10276"/>
                        </a:ext>
                      </a:extLst>
                    </a:gridCol>
                  </a:tblGrid>
                  <a:tr h="92830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r="-74916" b="-11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33483" b="-11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51"/>
                      </a:ext>
                    </a:extLst>
                  </a:tr>
                  <a:tr h="9961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92683" r="-74916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33483" t="-92683" b="-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3723185" y="437542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C321326-13EE-4346-8BA3-83BDF1BA09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71" y="424014"/>
            <a:ext cx="2348629" cy="6178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yt_shape_13005"/>
              <p:cNvSpPr txBox="1"/>
              <p:nvPr/>
            </p:nvSpPr>
            <p:spPr>
              <a:xfrm>
                <a:off x="324071" y="4965354"/>
                <a:ext cx="11924914" cy="17857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两车恰好不相撞时位移满足关系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L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6611e"/>
                  </a:rPr>
                  <a:t>且此时两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车速度大小相等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zh-CN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）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7" name="yt_shape_130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965354"/>
                <a:ext cx="11924914" cy="1785745"/>
              </a:xfrm>
              <a:prstGeom prst="rect">
                <a:avLst/>
              </a:prstGeom>
              <a:blipFill>
                <a:blip r:embed="rId4"/>
                <a:stretch>
                  <a:fillRect l="-1789" b="-6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p14="http://schemas.microsoft.com/office/powerpoint/2010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TextBox 14"/>
          <p:cNvSpPr txBox="1"/>
          <p:nvPr/>
        </p:nvSpPr>
        <p:spPr>
          <a:xfrm>
            <a:off x="927100" y="2808613"/>
            <a:ext cx="10325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强化点三　</a:t>
            </a:r>
            <a:r>
              <a:rPr lang="zh-CN" altLang="en-US" sz="3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运动学图像中的追及问题</a:t>
            </a:r>
            <a:endParaRPr lang="zh-CN" altLang="en-US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392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8" name="yt_shape_13008"/>
          <p:cNvSpPr txBox="1"/>
          <p:nvPr/>
        </p:nvSpPr>
        <p:spPr>
          <a:xfrm>
            <a:off x="5596968" y="-152665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  <p:sp>
        <p:nvSpPr>
          <p:cNvPr id="13009" name="yt_shape_13009"/>
          <p:cNvSpPr txBox="1"/>
          <p:nvPr/>
        </p:nvSpPr>
        <p:spPr>
          <a:xfrm>
            <a:off x="184112" y="430320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浙江温州期中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faf9f"/>
              </a:rPr>
              <a:t>两物体从同一位置沿同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一方向做直线运动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它们的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38488"/>
              </a:rPr>
              <a:t>则下列说法正确的是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BC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3010" name="yt_image_13010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72419" y="2169001"/>
            <a:ext cx="1822612" cy="144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yt_table_13012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802268"/>
              </p:ext>
            </p:extLst>
          </p:nvPr>
        </p:nvGraphicFramePr>
        <p:xfrm>
          <a:off x="184112" y="3752374"/>
          <a:ext cx="10641013" cy="2389632"/>
        </p:xfrm>
        <a:graphic>
          <a:graphicData uri="http://schemas.openxmlformats.org/drawingml/2006/table">
            <a:tbl>
              <a:tblPr/>
              <a:tblGrid>
                <a:gridCol w="10641013">
                  <a:extLst>
                    <a:ext uri="{9D8B030D-6E8A-4147-A177-3AD203B41FA5}">
                      <a16:colId xmlns:a16="http://schemas.microsoft.com/office/drawing/2014/main" val="102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物体出发时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物体在其前方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处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在相遇之前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两物体之间最远距离为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物体恰追上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至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的时间内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物体平均速度大于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物体的平均速度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6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0" y="440342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-1" y="505446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14" name="yt_shape_13014"/>
              <p:cNvSpPr txBox="1"/>
              <p:nvPr/>
            </p:nvSpPr>
            <p:spPr>
              <a:xfrm>
                <a:off x="324071" y="468001"/>
                <a:ext cx="11609782" cy="544760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hangingPunct="0"/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图像中图线与坐标轴所围面积表示位移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a7d17"/>
                  </a:rPr>
                  <a:t>物体出发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物体的位移为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物体前方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处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1066c"/>
                  </a:rPr>
                  <a:t>错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依题意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在相遇之前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两物体共速时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它们之间有最远距离为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55504"/>
                  </a:rPr>
                  <a:t>x</a:t>
                </a:r>
                <a:b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1+3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32699"/>
                  </a:rPr>
                  <a:t>a</a:t>
                </a:r>
                <a:b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2+4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×2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说明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末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1021b"/>
                  </a:rPr>
                  <a:t>物体并未追上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设经时间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物体恰追上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2+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dc10d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4+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×2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至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的时间内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物体平均速度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</m:ba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物体的平均速度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</m:ba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  <a:sym typeface="_⨹_1_98aae"/>
                  </a:rPr>
                  <a:t>＝</a:t>
                </a:r>
                <a:b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0+2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</m:ba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</m:ba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错误。</a:t>
                </a:r>
                <a:endParaRPr lang="zh-CN" altLang="en-US" sz="2800">
                  <a:solidFill>
                    <a:srgbClr val="C00000"/>
                  </a:solidFill>
                </a:endParaRPr>
              </a:p>
              <a:p>
                <a:pPr algn="l" eaLnBrk="1" latinLnBrk="0" hangingPunct="0"/>
                <a:endParaRPr lang="zh-CN" altLang="zh-CN" sz="2800" b="0" i="0" u="none">
                  <a:solidFill>
                    <a:srgbClr val="FF0000"/>
                  </a:solidFill>
                  <a:effectLst/>
                  <a:latin typeface="Times New Roman" pitchFamily="28"/>
                  <a:ea typeface="仿宋" pitchFamily="28"/>
                </a:endParaRPr>
              </a:p>
            </p:txBody>
          </p:sp>
        </mc:Choice>
        <mc:Fallback xmlns="">
          <p:sp>
            <p:nvSpPr>
              <p:cNvPr id="13014" name="yt_shape_130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8001"/>
                <a:ext cx="11609782" cy="5447608"/>
              </a:xfrm>
              <a:prstGeom prst="rect">
                <a:avLst/>
              </a:prstGeom>
              <a:blipFill>
                <a:blip r:embed="rId2"/>
                <a:stretch>
                  <a:fillRect l="-1837" t="-2352" r="-1050" b="-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8" name="yt_shape_13018"/>
          <p:cNvSpPr txBox="1"/>
          <p:nvPr/>
        </p:nvSpPr>
        <p:spPr>
          <a:xfrm>
            <a:off x="342732" y="906538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浙江绍兴期中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4_dc668"/>
              </a:rPr>
              <a:t>乙两车在同一平直公路的两条平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行车道上同时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并排出发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甲车做匀速直线运动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dfc4e"/>
              </a:rPr>
              <a:t>乙车从静止开始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做匀加速运动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它们的位移—时间图像如图所示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比较两车在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62da3"/>
              </a:rPr>
              <a:t>内的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以下说法正确的是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AB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3020" name="yt_table_13020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874396"/>
              </p:ext>
            </p:extLst>
          </p:nvPr>
        </p:nvGraphicFramePr>
        <p:xfrm>
          <a:off x="342727" y="3299249"/>
          <a:ext cx="6581775" cy="2389632"/>
        </p:xfrm>
        <a:graphic>
          <a:graphicData uri="http://schemas.openxmlformats.org/drawingml/2006/table">
            <a:tbl>
              <a:tblPr/>
              <a:tblGrid>
                <a:gridCol w="6581775">
                  <a:extLst>
                    <a:ext uri="{9D8B030D-6E8A-4147-A177-3AD203B41FA5}">
                      <a16:colId xmlns:a16="http://schemas.microsoft.com/office/drawing/2014/main" val="1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乙两车的速度相同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乙车的速度是甲车的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倍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乙两车相距最远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甲车在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后还可以追上乙车一次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0"/>
                  </a:ext>
                </a:extLst>
              </a:tr>
            </a:tbl>
          </a:graphicData>
        </a:graphic>
      </p:graphicFrame>
      <p:pic>
        <p:nvPicPr>
          <p:cNvPr id="13019" name="yt_image_13019_skip" title="H_170.4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64121" y="3299249"/>
            <a:ext cx="2920598" cy="216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321326-13EE-4346-8BA3-83BDF1BA09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27" y="386692"/>
            <a:ext cx="2348629" cy="61787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93577" y="337589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93577" y="398887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22" name="yt_shape_13022"/>
              <p:cNvSpPr txBox="1"/>
              <p:nvPr/>
            </p:nvSpPr>
            <p:spPr>
              <a:xfrm>
                <a:off x="324071" y="467999"/>
                <a:ext cx="11924914" cy="581043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设乙做匀加速直线运动的方程为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代入数据解得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6824b"/>
                  </a:rPr>
                  <a:t>乙做匀加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速直线运动的加速度大小为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故乙在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末的速度大小为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9eb9d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图像的斜率表示速度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由题图可知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2_3a660"/>
                  </a:rPr>
                  <a:t>甲做匀速直线运动的速度大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甲、乙两车的速度相同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fd72d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末的速度大小为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此时乙的速度是甲的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倍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4b439"/>
                  </a:rPr>
                  <a:t>甲做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匀速直线运动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乙做初速度为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30c4f"/>
                  </a:rPr>
                  <a:t>的匀加速直线运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当乙车的速度等于甲车的速度时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两车相距最远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2d1ce"/>
                  </a:rPr>
                  <a:t>末甲、乙相距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最远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末乙车追上甲车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f5c54"/>
                  </a:rPr>
                  <a:t>且此时乙的速度大于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甲的速度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故甲车在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后不可能追上乙车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3022" name="yt_shape_130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810437"/>
              </a:xfrm>
              <a:prstGeom prst="rect">
                <a:avLst/>
              </a:prstGeom>
              <a:blipFill>
                <a:blip r:embed="rId2"/>
                <a:stretch>
                  <a:fillRect l="-1789" b="-2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TextBox 14"/>
          <p:cNvSpPr txBox="1"/>
          <p:nvPr/>
        </p:nvSpPr>
        <p:spPr>
          <a:xfrm>
            <a:off x="927100" y="2808613"/>
            <a:ext cx="10325099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强化点四　自由落体运动和竖直上抛运动的相遇问题</a:t>
            </a:r>
          </a:p>
          <a:p>
            <a:endParaRPr lang="zh-CN" altLang="en-US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456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5" name="yt_shape_13025"/>
          <p:cNvSpPr txBox="1"/>
          <p:nvPr/>
        </p:nvSpPr>
        <p:spPr>
          <a:xfrm>
            <a:off x="5587637" y="-171326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  <p:sp>
        <p:nvSpPr>
          <p:cNvPr id="13026" name="yt_shape_13026"/>
          <p:cNvSpPr txBox="1"/>
          <p:nvPr/>
        </p:nvSpPr>
        <p:spPr>
          <a:xfrm>
            <a:off x="174781" y="41165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浙江宁波质检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自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471b3"/>
              </a:rPr>
              <a:t>的高度释放做自由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落体运动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球由静止释放的同时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其正下方地面上有另一小球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d2d26"/>
              </a:rPr>
              <a:t>的初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速度竖直上抛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BD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yt_table_13027" title="H_358.6451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1055996"/>
                  </p:ext>
                </p:extLst>
              </p:nvPr>
            </p:nvGraphicFramePr>
            <p:xfrm>
              <a:off x="174781" y="2278138"/>
              <a:ext cx="11543919" cy="3452178"/>
            </p:xfrm>
            <a:graphic>
              <a:graphicData uri="http://schemas.openxmlformats.org/drawingml/2006/table">
                <a:tbl>
                  <a:tblPr/>
                  <a:tblGrid>
                    <a:gridCol w="11543919">
                      <a:extLst>
                        <a:ext uri="{9D8B030D-6E8A-4147-A177-3AD203B41FA5}">
                          <a16:colId xmlns:a16="http://schemas.microsoft.com/office/drawing/2014/main" val="102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若小球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以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宋体" panose="02040503050406030204" pitchFamily="56" charset="0"/>
                                    </a:rPr>
                                    <m:t>.</m:t>
                                  </m:r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5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𝑔𝐻</m:t>
                                  </m:r>
                                </m:e>
                              </m:rad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的初速度竖直上抛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两球在空中相遇时间为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  <a:sym typeface="_⨹_1_ae6b9"/>
                            </a:rPr>
                            <a:t>＝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</a:b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𝐻</m:t>
                                      </m:r>
                                    </m:num>
                                    <m:den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3</m:t>
                                      </m:r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𝑔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要使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球在下落阶段与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球相遇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球上抛的初速度必须满足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𝑔𝐻</m:t>
                                  </m:r>
                                </m:e>
                              </m:rad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＜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  <a:sym typeface="_⨹_1_e6877"/>
                            </a:rPr>
                            <a:t>＜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altLang="zh-CN" sz="2800" b="0" i="1">
                                        <a:solidFill>
                                          <a:srgbClr val="01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2800" b="0" i="0">
                                        <a:solidFill>
                                          <a:srgbClr val="01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2</m:t>
                                    </m:r>
                                    <m:r>
                                      <a:rPr lang="en-US" altLang="zh-CN" sz="2800" b="0" i="1">
                                        <a:solidFill>
                                          <a:srgbClr val="01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𝑔𝐻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要使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球在上升阶段与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球相遇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球上抛的初速度必须满足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＜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𝑔𝐻</m:t>
                                  </m:r>
                                </m:e>
                              </m:rad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要使两球在空中相遇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球上抛的初速度必须满足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＞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𝑔𝐻</m:t>
                                  </m:r>
                                </m:e>
                              </m:rad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64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 xmlns:p15="http://schemas.microsoft.com/office/powerpoint/2012/main">
          <p:graphicFrame>
            <p:nvGraphicFramePr>
              <p:cNvPr id="6" name="yt_table_13027" title="H_358.6451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1055996"/>
                  </p:ext>
                </p:extLst>
              </p:nvPr>
            </p:nvGraphicFramePr>
            <p:xfrm>
              <a:off x="174781" y="2278138"/>
              <a:ext cx="11543919" cy="3452178"/>
            </p:xfrm>
            <a:graphic>
              <a:graphicData uri="http://schemas.openxmlformats.org/drawingml/2006/table">
                <a:tbl>
                  <a:tblPr/>
                  <a:tblGrid>
                    <a:gridCol w="11543919">
                      <a:extLst>
                        <a:ext uri="{9D8B030D-6E8A-4147-A177-3AD203B41FA5}">
                          <a16:colId xmlns:a16="http://schemas.microsoft.com/office/drawing/2014/main" val="10279"/>
                        </a:ext>
                      </a:extLst>
                    </a:gridCol>
                  </a:tblGrid>
                  <a:tr h="138512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4825" b="-1618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61"/>
                      </a:ext>
                    </a:extLst>
                  </a:tr>
                  <a:tr h="103352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40588" b="-11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62"/>
                      </a:ext>
                    </a:extLst>
                  </a:tr>
                  <a:tr h="51676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481176" b="-13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63"/>
                      </a:ext>
                    </a:extLst>
                  </a:tr>
                  <a:tr h="51676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581176" b="-3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-74374" y="369429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-74374" y="523824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p14="http://schemas.microsoft.com/office/powerpoint/2010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28" name="yt_shape_13028"/>
              <p:cNvSpPr txBox="1"/>
              <p:nvPr/>
            </p:nvSpPr>
            <p:spPr>
              <a:xfrm>
                <a:off x="324071" y="468103"/>
                <a:ext cx="11543998" cy="45997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1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由于竖直上抛相对于自由落体为匀速运动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故两球相遇时满足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ae6ae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若小球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𝑔𝐻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的初速度竖直上抛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两球在空中相遇时间为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9f5db"/>
                  </a:rPr>
                  <a:t>0</a:t>
                </a:r>
                <a:b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要使两球在空中相遇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8_16fca"/>
                  </a:rPr>
                  <a:t>则相遇时间一定小于竖直上抛全过程的时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间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设竖直上抛全过程时间为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相遇条件为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𝐻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a0217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𝑔𝐻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要使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球在下落阶段与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球相遇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427bc"/>
                  </a:rPr>
                  <a:t>则相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遇时间大于竖直上抛上升时间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小于全过程时间为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𝐻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a778b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𝑔𝐻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𝑔𝐻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endParaRPr lang="zh-CN" altLang="zh-CN" sz="2800" b="0" i="0" u="none">
                  <a:solidFill>
                    <a:srgbClr val="C00000"/>
                  </a:solidFill>
                  <a:effectLst/>
                  <a:latin typeface="Times New Roman" pitchFamily="28"/>
                  <a:ea typeface="仿宋" pitchFamily="28"/>
                </a:endParaRPr>
              </a:p>
            </p:txBody>
          </p:sp>
        </mc:Choice>
        <mc:Fallback xmlns="" xmlns:a16="http://schemas.microsoft.com/office/drawing/2014/main">
          <p:sp>
            <p:nvSpPr>
              <p:cNvPr id="13028" name="yt_shape_130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8103"/>
                <a:ext cx="11543998" cy="4599721"/>
              </a:xfrm>
              <a:prstGeom prst="rect">
                <a:avLst/>
              </a:prstGeom>
              <a:blipFill>
                <a:blip r:embed="rId2"/>
                <a:stretch>
                  <a:fillRect l="-1848" t="-2653" r="-950" b="-30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yt_shape_2">
                <a:extLst>
                  <a:ext uri="{FF2B5EF4-FFF2-40B4-BE49-F238E27FC236}">
                    <a16:creationId xmlns:a16="http://schemas.microsoft.com/office/drawing/2014/main" id="{D4231E17-1927-A1BD-9B96-3C1C1216F002}"/>
                  </a:ext>
                </a:extLst>
              </p:cNvPr>
              <p:cNvSpPr txBox="1"/>
              <p:nvPr/>
            </p:nvSpPr>
            <p:spPr>
              <a:xfrm>
                <a:off x="324071" y="5118624"/>
                <a:ext cx="11927459" cy="1205908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要使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球在上升阶段与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球相遇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则有相遇时间小于竖直上抛上升时间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  <a:sym typeface="_⨹_1_b5ba9"/>
                  </a:rPr>
                  <a:t>，</a:t>
                </a:r>
                <a:b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</a:b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可得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𝐻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𝑔𝐻</m:t>
                        </m:r>
                      </m:e>
                    </m:rad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错误。</a:t>
                </a:r>
                <a:endParaRPr lang="zh-CN" altLang="en-US">
                  <a:solidFill>
                    <a:srgbClr val="C00000"/>
                  </a:solidFill>
                </a:endParaRPr>
              </a:p>
            </p:txBody>
          </p:sp>
        </mc:Choice>
        <mc:Fallback xmlns="" xmlns:a16="http://schemas.microsoft.com/office/drawing/2014/main">
          <p:sp>
            <p:nvSpPr>
              <p:cNvPr id="3" name="yt_shape_2">
                <a:extLst>
                  <a:ext uri="{FF2B5EF4-FFF2-40B4-BE49-F238E27FC236}">
                    <a16:creationId xmlns:a16="http://schemas.microsoft.com/office/drawing/2014/main" id="{D4231E17-1927-A1BD-9B96-3C1C1216F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5118624"/>
                <a:ext cx="11927459" cy="1205908"/>
              </a:xfrm>
              <a:prstGeom prst="rect">
                <a:avLst/>
              </a:prstGeom>
              <a:blipFill>
                <a:blip r:embed="rId3"/>
                <a:stretch>
                  <a:fillRect l="-1788" t="-10152" b="-5076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0" name="yt_shape_13030"/>
          <p:cNvSpPr txBox="1"/>
          <p:nvPr/>
        </p:nvSpPr>
        <p:spPr>
          <a:xfrm>
            <a:off x="324000" y="467999"/>
            <a:ext cx="143629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方法归纳</a:t>
            </a:r>
          </a:p>
        </p:txBody>
      </p:sp>
      <p:sp>
        <p:nvSpPr>
          <p:cNvPr id="13031" name="yt_shape_13031"/>
          <p:cNvSpPr txBox="1"/>
          <p:nvPr/>
        </p:nvSpPr>
        <p:spPr>
          <a:xfrm>
            <a:off x="324000" y="1050984"/>
            <a:ext cx="789959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自由落体运动与竖直上抛运动相遇问题的分析技巧</a:t>
            </a:r>
          </a:p>
        </p:txBody>
      </p:sp>
      <p:sp>
        <p:nvSpPr>
          <p:cNvPr id="13032" name="yt_shape_13032"/>
          <p:cNvSpPr txBox="1"/>
          <p:nvPr/>
        </p:nvSpPr>
        <p:spPr>
          <a:xfrm>
            <a:off x="324071" y="1633969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两物体运动的加速度相同。对于做竖直上抛运动的物体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4_c1e8b"/>
              </a:rPr>
              <a:t>注意其运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动过程所具有的往返性和对称性等特点。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33" name="yt_shape_13033"/>
              <p:cNvSpPr txBox="1"/>
              <p:nvPr/>
            </p:nvSpPr>
            <p:spPr>
              <a:xfrm>
                <a:off x="324071" y="2820196"/>
                <a:ext cx="11924914" cy="207915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若两物体同时开始运动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  <a:sym typeface="_⨹_18_e82ed"/>
                  </a:rPr>
                  <a:t>则做竖直上抛运动的物体相对于做自由落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体运动的物体做速度为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的匀速直线运动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相遇时间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h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其中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  <a:sym typeface="_⨹_3_5f625"/>
                  </a:rPr>
                  <a:t>为做竖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直上抛运动的物体的初速度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为开始运动时两物体间的距离。</a:t>
                </a:r>
              </a:p>
            </p:txBody>
          </p:sp>
        </mc:Choice>
        <mc:Fallback xmlns="" xmlns:p14="http://schemas.microsoft.com/office/powerpoint/2010/main" xmlns:p15="http://schemas.microsoft.com/office/powerpoint/2012/main" xmlns:a16="http://schemas.microsoft.com/office/drawing/2014/main">
          <p:sp>
            <p:nvSpPr>
              <p:cNvPr id="13033" name="yt_shape_13033" descr="{&quot;rangeId&quot;:38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2820196"/>
                <a:ext cx="11543998" cy="2079159"/>
              </a:xfrm>
              <a:prstGeom prst="rect">
                <a:avLst/>
              </a:prstGeom>
              <a:blipFill>
                <a:blip r:embed="rId2"/>
                <a:stretch>
                  <a:fillRect l="-1848" t="-1173"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7" name="yt_shape_13037"/>
          <p:cNvSpPr txBox="1"/>
          <p:nvPr/>
        </p:nvSpPr>
        <p:spPr>
          <a:xfrm>
            <a:off x="267086" y="999844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浙江丽水期中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乙两相同小球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dbb42"/>
              </a:rPr>
              <a:t>甲小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球从距地面高度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处静止释放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8_8aa79"/>
              </a:rPr>
              <a:t>同时乙小球在它的正下方的水平面上以某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一初速度做竖直上抛运动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如果两小球碰撞时恰好速度大小相等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00d33"/>
              </a:rPr>
              <a:t>方向相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反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且碰后以原速率反向运动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3bac9"/>
              </a:rPr>
              <a:t>下列说法正确的是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BD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3039" name="yt_table_13039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883583"/>
              </p:ext>
            </p:extLst>
          </p:nvPr>
        </p:nvGraphicFramePr>
        <p:xfrm>
          <a:off x="267081" y="3995797"/>
          <a:ext cx="8766175" cy="2389632"/>
        </p:xfrm>
        <a:graphic>
          <a:graphicData uri="http://schemas.openxmlformats.org/drawingml/2006/table">
            <a:tbl>
              <a:tblPr/>
              <a:tblGrid>
                <a:gridCol w="8766175">
                  <a:extLst>
                    <a:ext uri="{9D8B030D-6E8A-4147-A177-3AD203B41FA5}">
                      <a16:colId xmlns:a16="http://schemas.microsoft.com/office/drawing/2014/main" val="10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碰后乙小球将先回到出发点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相碰时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乙两小球位移大小之比为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相碰前甲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乙两小球平均速度大小之比为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乙小球落地时的速度大小为相碰时速度大小的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倍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8"/>
                  </a:ext>
                </a:extLst>
              </a:tr>
            </a:tbl>
          </a:graphicData>
        </a:graphic>
      </p:graphicFrame>
      <p:pic>
        <p:nvPicPr>
          <p:cNvPr id="13038" name="yt_image_13038_skip" title="H_153.12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01811" y="3995797"/>
            <a:ext cx="1006840" cy="194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321326-13EE-4346-8BA3-83BDF1BA09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81" y="374954"/>
            <a:ext cx="2348629" cy="61787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-1" y="473778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0" y="594042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41" name="yt_shape_13041"/>
              <p:cNvSpPr txBox="1"/>
              <p:nvPr/>
            </p:nvSpPr>
            <p:spPr>
              <a:xfrm>
                <a:off x="324071" y="467999"/>
                <a:ext cx="11924914" cy="629494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两球碰撞速度大小相等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方向相反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且全程两球的受力情况不变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017c7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则各自碰撞后的运动规律与碰撞前的运动规律对称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ac3af"/>
                  </a:rPr>
                  <a:t>则碰撞后回到出发点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的运动时间也相等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即同时回到出发点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1_d9373"/>
                  </a:rPr>
                  <a:t>错误。设竖直向上为正方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乙球的初速度为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两球从开始到相碰用时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57615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且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则相碰时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甲、乙两小球位移大小分别为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4cc5a"/>
                  </a:rPr>
                  <a:t>甲</a:t>
                </a:r>
                <a:b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故相碰时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2_26c97"/>
                  </a:rPr>
                  <a:t>甲、乙两小球位移大小之比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∶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因为相碰前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甲、乙两小球运动时间相等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3ea5e"/>
                  </a:rPr>
                  <a:t>所以根据平均速度的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定义可知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相碰前甲、乙两小球平均速度大小之比也为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∶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151ce"/>
                  </a:rPr>
                  <a:t>C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3041" name="yt_shape_130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6294946"/>
              </a:xfrm>
              <a:prstGeom prst="rect">
                <a:avLst/>
              </a:prstGeom>
              <a:blipFill>
                <a:blip r:embed="rId2"/>
                <a:stretch>
                  <a:fillRect l="-1789" t="-388" b="-2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yt_shape_2">
                <a:extLst>
                  <a:ext uri="{FF2B5EF4-FFF2-40B4-BE49-F238E27FC236}">
                    <a16:creationId xmlns:a16="http://schemas.microsoft.com/office/drawing/2014/main" id="{0620F286-F143-2E8D-68AC-FDF6BB200098}"/>
                  </a:ext>
                </a:extLst>
              </p:cNvPr>
              <p:cNvSpPr txBox="1"/>
              <p:nvPr/>
            </p:nvSpPr>
            <p:spPr>
              <a:xfrm>
                <a:off x="324072" y="467999"/>
                <a:ext cx="11927459" cy="2970172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>
                <a:noAutofit/>
              </a:bodyPr>
              <a:lstStyle/>
              <a:p>
                <a:pPr>
                  <a:lnSpc>
                    <a:spcPct val="140000"/>
                  </a:lnSpc>
                </a:pP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设乙小球落地时的速度大小为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由以上分析可知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10_8b468"/>
                  </a:rPr>
                  <a:t>乙球与甲球相碰时的速</a:t>
                </a:r>
                <a:b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</a:b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度大小为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gt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因为两球碰后以原速率反向运动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8_ba4f7"/>
                  </a:rPr>
                  <a:t>则乙球碰后的速度</a:t>
                </a:r>
                <a:b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</a:b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大小也为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方向竖直向下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结合上面分析可得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aseline="30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8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28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g</a:t>
                </a:r>
                <a:r>
                  <a:rPr lang="en-US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2_92965"/>
                  </a:rPr>
                  <a:t>联立</a:t>
                </a:r>
                <a:b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</a:b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可得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正确。</a:t>
                </a:r>
                <a:endParaRPr lang="zh-CN" altLang="en-US">
                  <a:solidFill>
                    <a:srgbClr val="C00000"/>
                  </a:solidFill>
                </a:endParaRPr>
              </a:p>
            </p:txBody>
          </p:sp>
        </mc:Choice>
        <mc:Fallback xmlns="" xmlns:a16="http://schemas.microsoft.com/office/drawing/2014/main">
          <p:sp>
            <p:nvSpPr>
              <p:cNvPr id="2" name="yt_shape_2">
                <a:extLst>
                  <a:ext uri="{FF2B5EF4-FFF2-40B4-BE49-F238E27FC236}">
                    <a16:creationId xmlns:a16="http://schemas.microsoft.com/office/drawing/2014/main" id="{0620F286-F143-2E8D-68AC-FDF6BB200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2" y="467999"/>
                <a:ext cx="11927459" cy="2970172"/>
              </a:xfrm>
              <a:prstGeom prst="rect">
                <a:avLst/>
              </a:prstGeom>
              <a:blipFill>
                <a:blip r:embed="rId2"/>
                <a:stretch>
                  <a:fillRect l="-1788" t="-821" b="-6160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45" name="yt_shape_13045"/>
          <p:cNvSpPr txBox="1"/>
          <p:nvPr/>
        </p:nvSpPr>
        <p:spPr>
          <a:xfrm>
            <a:off x="5736927" y="3981642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14"/>
          <p:cNvSpPr txBox="1"/>
          <p:nvPr/>
        </p:nvSpPr>
        <p:spPr>
          <a:xfrm>
            <a:off x="4064001" y="2719713"/>
            <a:ext cx="3733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课时作业</a:t>
            </a:r>
          </a:p>
        </p:txBody>
      </p:sp>
    </p:spTree>
    <p:extLst>
      <p:ext uri="{BB962C8B-B14F-4D97-AF65-F5344CB8AC3E}">
        <p14:creationId xmlns:p14="http://schemas.microsoft.com/office/powerpoint/2010/main" val="93796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8" name="yt_shape_13048"/>
          <p:cNvSpPr txBox="1"/>
          <p:nvPr/>
        </p:nvSpPr>
        <p:spPr>
          <a:xfrm>
            <a:off x="267086" y="1055827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甲车在平直公路上以速率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匀速行驶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dfc5b"/>
              </a:rPr>
              <a:t>当它经过停在路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旁的乙车时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乙车立即从静止开始启动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做匀加速直线运动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经过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40d40"/>
              </a:rPr>
              <a:t>时间追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上甲车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050" name="yt_table_13050_skip" title="H_210.39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8074836"/>
                  </p:ext>
                </p:extLst>
              </p:nvPr>
            </p:nvGraphicFramePr>
            <p:xfrm>
              <a:off x="267081" y="2845296"/>
              <a:ext cx="8745538" cy="2671954"/>
            </p:xfrm>
            <a:graphic>
              <a:graphicData uri="http://schemas.openxmlformats.org/drawingml/2006/table">
                <a:tbl>
                  <a:tblPr/>
                  <a:tblGrid>
                    <a:gridCol w="8745538">
                      <a:extLst>
                        <a:ext uri="{9D8B030D-6E8A-4147-A177-3AD203B41FA5}">
                          <a16:colId xmlns:a16="http://schemas.microsoft.com/office/drawing/2014/main" val="1028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乙车加速运动的加速度大小为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乙车追上甲车时的速度大小为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乙车追上甲车前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两车的最大距离为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vt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从启动到追上甲车的过程中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乙车的平均速率为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72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 xmlns:p15="http://schemas.microsoft.com/office/powerpoint/2012/main">
          <p:graphicFrame>
            <p:nvGraphicFramePr>
              <p:cNvPr id="13050" name="yt_table_13050_skip" title="H_210.39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8074836"/>
                  </p:ext>
                </p:extLst>
              </p:nvPr>
            </p:nvGraphicFramePr>
            <p:xfrm>
              <a:off x="267081" y="2845296"/>
              <a:ext cx="8745538" cy="2944369"/>
            </p:xfrm>
            <a:graphic>
              <a:graphicData uri="http://schemas.openxmlformats.org/drawingml/2006/table">
                <a:tbl>
                  <a:tblPr/>
                  <a:tblGrid>
                    <a:gridCol w="8745538">
                      <a:extLst>
                        <a:ext uri="{9D8B030D-6E8A-4147-A177-3AD203B41FA5}">
                          <a16:colId xmlns:a16="http://schemas.microsoft.com/office/drawing/2014/main" val="10281"/>
                        </a:ext>
                      </a:extLst>
                    </a:gridCol>
                  </a:tblGrid>
                  <a:tr h="84791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b="-2661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69"/>
                      </a:ext>
                    </a:extLst>
                  </a:tr>
                  <a:tr h="65557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28704" b="-2425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0"/>
                      </a:ext>
                    </a:extLst>
                  </a:tr>
                  <a:tr h="84347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77698" b="-884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1"/>
                      </a:ext>
                    </a:extLst>
                  </a:tr>
                  <a:tr h="597408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从启动到追上甲车的过程中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乙车的平均速率为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7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049" name="yt_image_13049_skip" title="H_139.3963">
            <a:extLst>
              <a:ext uri="">
                <a16:creationId xmlns="" xmlns:p14="http://schemas.microsoft.com/office/powerpoint/2010/main" xmlns:a14="http://schemas.microsoft.com/office/drawing/2010/main" xmlns:mc="http://schemas.openxmlformats.org/markup-compatibility/2006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10667" y="2845296"/>
            <a:ext cx="2798380" cy="177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yt_image_10628" title="H_47.87496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905487" y="447815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8" name="e759f3e6-f8b8-4eae-a8c8-dcc46b39fba2" descr="{&quot;SlideID&quot;:&quot;325&quot;,&quot;SlideNumber&quot;:&quot;40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382aa4ce-70c9-46d4-9cf2-bcd8e62fa42c" descr="{&quot;SlideID&quot;:&quot;326&quot;,&quot;SlideNumber&quot;:&quot;4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3a324811-2b72-4aba-8b2f-1b29c65d6e4c" descr="{&quot;SlideID&quot;:&quot;327&quot;,&quot;SlideNumber&quot;:&quot;4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1197c49-68a6-4205-bc74-adee779fcce8" descr="{&quot;SlideID&quot;:&quot;328&quot;,&quot;SlideNumber&quot;:&quot;4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ed86c1d-7b94-4651-8613-6af4ebf8deb7" descr="{&quot;SlideID&quot;:&quot;329&quot;,&quot;SlideNumber&quot;:&quot;4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c504fb38-989a-4417-b19a-f866ecb8aaec" descr="{&quot;SlideID&quot;:&quot;330&quot;,&quot;SlideNumber&quot;:&quot;50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4ae0ce6b-d70f-4b21-b340-600be412593b" descr="{&quot;SlideID&quot;:&quot;331&quot;,&quot;SlideNumber&quot;:&quot;52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e855d43-cc70-4d3a-9066-09cd2f1af4f4" descr="{&quot;SlideID&quot;:&quot;332&quot;,&quot;SlideNumber&quot;:&quot;5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f83c75c-2388-4a3d-8775-5baba2b24469" descr="{&quot;SlideID&quot;:&quot;333&quot;,&quot;SlideNumber&quot;:&quot;56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254d810-20aa-487a-ae8e-65d11bcf5d4b" descr="{&quot;SlideID&quot;:&quot;334&quot;,&quot;SlideNumber&quot;:&quot;59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a921692-3454-43ac-8fe3-a99aed96262e" descr="{&quot;SlideID&quot;:&quot;335&quot;,&quot;SlideNumber&quot;:&quot;61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7888931c-dc18-4cd0-abd9-ec8277e030d4" descr="{&quot;SlideID&quot;:&quot;336&quot;,&quot;SlideNumber&quot;:&quot;64&quot;}">
              <a:hlinkClick r:id="rId1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0416" y="310646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0416" y="518097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p14="http://schemas.microsoft.com/office/powerpoint/2010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51" name="yt_shape_13051"/>
              <p:cNvSpPr txBox="1"/>
              <p:nvPr/>
            </p:nvSpPr>
            <p:spPr>
              <a:xfrm>
                <a:off x="324071" y="467999"/>
                <a:ext cx="11924914" cy="318067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假设乙车追上甲车时速度大小为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f6bfe"/>
                  </a:rPr>
                  <a:t>项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乙车加速运动的加速度大小为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项正确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3387a"/>
                  </a:rPr>
                  <a:t>乙车追上甲车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前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两车的最大距离为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项错误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从启动到追上甲车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ab7f4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乙车的平均速度大小等于甲车的速度大小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项正确。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3051" name="yt_shape_130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180679"/>
              </a:xfrm>
              <a:prstGeom prst="rect">
                <a:avLst/>
              </a:prstGeom>
              <a:blipFill>
                <a:blip r:embed="rId2"/>
                <a:stretch>
                  <a:fillRect l="-1789" b="-59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8" name="fc970077-a717-4252-81bf-f177a8d8db84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b9729c55-05c7-4295-a97f-7bc9074c5fcd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176f9afa-345f-4312-861c-64b976df47c7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42bd9962-767b-4c44-879d-5b518d4a9ac5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38007b8e-17b0-4704-ac26-25b8d5564234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d85bbc9-989c-4cfb-8973-37ccd8c9bf55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ad5ef3fd-5b68-49aa-bc20-2be435e7f3be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a977d33-4b3b-4a25-91af-5381b931bed2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7fd6519-2262-46d3-b76f-5f2f21e37786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6129b12-bede-4a33-b3a1-48600e309e9d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b938929c-8ef4-46c0-b078-f5e1e21a08b3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d4b38782-5575-4c09-8361-05f20d458e13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3" name="yt_shape_13053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浙江金华期中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均可视为质点的甲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1_740a4"/>
              </a:rPr>
              <a:t>乙两辆赛车沿平直公路同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向行驶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如图是两车在某段时间内的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1_fd6d1"/>
              </a:rPr>
              <a:t>则关于两车运动情况的描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下列判断正确的是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3055" name="yt_table_13055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4790"/>
              </p:ext>
            </p:extLst>
          </p:nvPr>
        </p:nvGraphicFramePr>
        <p:xfrm>
          <a:off x="324066" y="2257468"/>
          <a:ext cx="7521575" cy="2389632"/>
        </p:xfrm>
        <a:graphic>
          <a:graphicData uri="http://schemas.openxmlformats.org/drawingml/2006/table">
            <a:tbl>
              <a:tblPr/>
              <a:tblGrid>
                <a:gridCol w="7521575">
                  <a:extLst>
                    <a:ext uri="{9D8B030D-6E8A-4147-A177-3AD203B41FA5}">
                      <a16:colId xmlns:a16="http://schemas.microsoft.com/office/drawing/2014/main" val="10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乙车在第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末改变运动方向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乙两车在第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末相距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90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乙两车在第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末相遇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若开始时乙车在前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则两车可能相遇两次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6"/>
                  </a:ext>
                </a:extLst>
              </a:tr>
            </a:tbl>
          </a:graphicData>
        </a:graphic>
      </p:graphicFrame>
      <p:pic>
        <p:nvPicPr>
          <p:cNvPr id="13054" name="yt_image_13054_skip" title="H_168.72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8476" y="2257468"/>
            <a:ext cx="2717537" cy="214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40230" y="411417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dca133a7-96dd-4516-8c94-ef079187c669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64254c66-519d-46f1-a6e1-ff540780c181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5ee8ff50-5bde-45ae-84a5-6057b3977a95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4fb939f-1400-4f48-bc79-0f2e6a973009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0eab626-e06a-40a4-bc76-8b7633d28102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77f640f6-648e-4f8a-bd14-1a124124ac57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7848813d-42e2-4f8a-96c3-5907391807f7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b7a11c90-6033-4375-8c8b-f5219a84fee2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ebef80b-ec66-45a3-920c-16ac9b676b37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aa92f23-82af-4efc-a9d4-52d573200439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84e5b759-f805-4204-ac66-69a9726636c3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22f232a8-6b02-4c35-8048-3fb1b0736212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7" name="yt_shape_13057"/>
          <p:cNvSpPr txBox="1"/>
          <p:nvPr/>
        </p:nvSpPr>
        <p:spPr>
          <a:xfrm>
            <a:off x="324071" y="4679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由题图可知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在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乙车一直沿正方向运动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78bc0"/>
              </a:rPr>
              <a:t>速度方向没有改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变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由于不知道初始位置甲、乙相距多远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所以无法判断在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b1717"/>
              </a:rPr>
              <a:t>s</a:t>
            </a:r>
            <a:b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末两车相距多远以及在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末能否相遇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b69a1"/>
              </a:rPr>
              <a:t>若开始时乙车在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前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甲车速度大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在某个时刻追上乙车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两车相遇之后甲在乙的前面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d4315"/>
              </a:rPr>
              <a:t>乙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的速度增大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在某个时刻与甲再次相遇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02e51116-73b3-448d-bd85-4247d68c86a1" descr="{&quot;SlideID&quot;:&quot;325&quot;,&quot;SlideNumber&quot;:&quot;40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d84105df-c6e5-409b-ac3f-08a9d8c3c143" descr="{&quot;SlideID&quot;:&quot;326&quot;,&quot;SlideNumber&quot;:&quot;4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53101453-c242-4ac1-94c2-224cd3dafb97" descr="{&quot;SlideID&quot;:&quot;327&quot;,&quot;SlideNumber&quot;:&quot;4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af03de72-6d09-432b-a25f-05a738a55099" descr="{&quot;SlideID&quot;:&quot;328&quot;,&quot;SlideNumber&quot;:&quot;4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664d4bbf-1a66-4548-80c3-fa0d913d11b8" descr="{&quot;SlideID&quot;:&quot;329&quot;,&quot;SlideNumber&quot;:&quot;4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c7c52181-075b-425e-b9aa-7717d67a0bbd" descr="{&quot;SlideID&quot;:&quot;330&quot;,&quot;SlideNumber&quot;:&quot;5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af3b20e6-3955-4886-bab0-5752e818183e" descr="{&quot;SlideID&quot;:&quot;331&quot;,&quot;SlideNumber&quot;:&quot;5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b12512c4-b8ea-4ba6-823c-0d04cd485969" descr="{&quot;SlideID&quot;:&quot;332&quot;,&quot;SlideNumber&quot;:&quot;5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409bbf67-0aaa-4c2f-84fc-dc0c315f5d04" descr="{&quot;SlideID&quot;:&quot;333&quot;,&quot;SlideNumber&quot;:&quot;5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c50af27-b0e9-49bf-a90a-8980eb1d8bb6" descr="{&quot;SlideID&quot;:&quot;334&quot;,&quot;SlideNumber&quot;:&quot;5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d66f7493-bef6-411b-a1cc-7096b07d937e" descr="{&quot;SlideID&quot;:&quot;335&quot;,&quot;SlideNumber&quot;:&quot;6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cb17678a-bf37-4004-b497-10d08f615883" descr="{&quot;SlideID&quot;:&quot;336&quot;,&quot;SlideNumber&quot;:&quot;6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8" name="yt_shape_13058"/>
          <p:cNvSpPr txBox="1"/>
          <p:nvPr/>
        </p:nvSpPr>
        <p:spPr>
          <a:xfrm>
            <a:off x="324071" y="46799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乙两物体由同一地点沿同一条直线运动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它们的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1a07e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3060" name="yt_table_13060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649855"/>
              </p:ext>
            </p:extLst>
          </p:nvPr>
        </p:nvGraphicFramePr>
        <p:xfrm>
          <a:off x="324066" y="1654226"/>
          <a:ext cx="4705350" cy="2389632"/>
        </p:xfrm>
        <a:graphic>
          <a:graphicData uri="http://schemas.openxmlformats.org/drawingml/2006/table">
            <a:tbl>
              <a:tblPr/>
              <a:tblGrid>
                <a:gridCol w="4705350">
                  <a:extLst>
                    <a:ext uri="{9D8B030D-6E8A-4147-A177-3AD203B41FA5}">
                      <a16:colId xmlns:a16="http://schemas.microsoft.com/office/drawing/2014/main" val="10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两物体始终同向运动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末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两物体相距最远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两物体的平均速度相等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末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两物体相遇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0"/>
                  </a:ext>
                </a:extLst>
              </a:tr>
            </a:tbl>
          </a:graphicData>
        </a:graphic>
      </p:graphicFrame>
      <p:pic>
        <p:nvPicPr>
          <p:cNvPr id="13059" name="yt_image_13059_skip" title="H_190.08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6899" y="1654226"/>
            <a:ext cx="2869147" cy="241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30900" y="177218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0958691d-ae1b-40be-af27-e4bba404d830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fa1fbc03-f633-4b50-b193-b273098eadea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d501af0b-159d-48ea-ae6c-080977e47c5b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246e9b6-fd57-4f42-b1ab-bb42a29dd376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4060d97d-6c30-4142-a156-25781c23e12c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7b15e034-e0d1-4cf8-b6d1-0614921cf825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bd20298-6ee8-439f-8f44-b5630e6e615b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0c8197b9-5555-4dc8-82d4-f18908c57fe1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5c217a00-d220-45dc-b650-c5e0023cfe11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3b341b2e-fc58-4f5f-a296-f486b72594da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cba2b5d2-cd7b-4879-801c-29e5b7ad5437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c546eaa4-ba60-4dcd-b32b-94e046889d6c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62" name="yt_shape_13062"/>
              <p:cNvSpPr txBox="1"/>
              <p:nvPr/>
            </p:nvSpPr>
            <p:spPr>
              <a:xfrm>
                <a:off x="324071" y="467999"/>
                <a:ext cx="11924914" cy="376474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甲、乙两物体的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图像均在横轴的上方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速度均为正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8f64b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故两物体始终同向运动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由题意可知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1_d1ef0"/>
                  </a:rPr>
                  <a:t>甲、乙两物体同时同地沿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同一方向开始运动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甲在前、乙在后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3861e"/>
                  </a:rPr>
                  <a:t>且甲的速度大于乙的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两物体相距越来越远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时速度相同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此时两物体相距最远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2c5f9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甲的位移大于乙的位移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bar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94b8a"/>
                  </a:rPr>
                  <a:t>可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知两物体的平均速度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bar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</m:bar>
                      </m:e>
                      <m:sub>
                        <m:r>
                          <m:rPr>
                            <m:nor/>
                          </m:rPr>
                          <a:rPr lang="zh-CN" altLang="zh-CN" sz="2800" b="0" i="0" baseline="-200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甲</m:t>
                        </m:r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bar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</m:bar>
                      </m:e>
                      <m:sub>
                        <m:r>
                          <m:rPr>
                            <m:nor/>
                          </m:rPr>
                          <a:rPr lang="zh-CN" altLang="zh-CN" sz="2800" b="0" i="0" baseline="-200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乙</m:t>
                        </m:r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3062" name="yt_shape_130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764749"/>
              </a:xfrm>
              <a:prstGeom prst="rect">
                <a:avLst/>
              </a:prstGeom>
              <a:blipFill>
                <a:blip r:embed="rId2"/>
                <a:stretch>
                  <a:fillRect l="-1789" t="-648" b="-4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7e248db8-51f5-4255-81fa-aaee6455e9ba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dbdeaad8-a788-4120-bb24-11c78288748e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fded7ba3-0d11-454b-804c-074b57219828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705835d-acdc-4b0b-943a-44ac198f46ae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35bd006-aa35-4bb4-81b3-94d8145f8123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0f3dfd51-9fa8-4d5b-a205-0bca8748816d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87f87af9-fb6d-4f3e-ac3e-146edbbdbb09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278362ee-e7a4-4a1b-9537-e99c19553e66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85496592-e244-4d2f-9587-99d49c778246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314468e-c14c-47d7-b491-0e23f7f2efdb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100f5fa-6ec8-4369-b1ef-957ad4569eb4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21a0e328-8b29-4644-85d4-bfd386a2b932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4" name="yt_shape_13064"/>
          <p:cNvSpPr txBox="1"/>
          <p:nvPr/>
        </p:nvSpPr>
        <p:spPr>
          <a:xfrm>
            <a:off x="324071" y="467999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浙江杭州联考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某同学用安装有蓝牙设备的玩具车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2fa9b"/>
              </a:rPr>
              <a:t>进行实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在距离为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的两条平直轨道上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c7ba3"/>
              </a:rPr>
              <a:t>的连线与轨道垂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车自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点从静止开始以加速度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向右做匀加速直线运动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8eebe"/>
              </a:rPr>
              <a:t>B</a:t>
            </a:r>
            <a:b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车自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点以速度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向右做匀速直线运动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1_84d80"/>
              </a:rPr>
              <a:t>已知当两车间的距离超过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两车无法实现通信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忽略信号传递的时间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若两车同时出发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0a8bd"/>
              </a:rPr>
              <a:t>则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两车能通信的时间为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066" name="yt_table_13066_skip" title="H_86.66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0447558"/>
                  </p:ext>
                </p:extLst>
              </p:nvPr>
            </p:nvGraphicFramePr>
            <p:xfrm>
              <a:off x="324066" y="4067194"/>
              <a:ext cx="7350824" cy="1100646"/>
            </p:xfrm>
            <a:graphic>
              <a:graphicData uri="http://schemas.openxmlformats.org/drawingml/2006/table">
                <a:tbl>
                  <a:tblPr/>
                  <a:tblGrid>
                    <a:gridCol w="4131183">
                      <a:extLst>
                        <a:ext uri="{9D8B030D-6E8A-4147-A177-3AD203B41FA5}">
                          <a16:colId xmlns:a16="http://schemas.microsoft.com/office/drawing/2014/main" val="10284"/>
                        </a:ext>
                      </a:extLst>
                    </a:gridCol>
                    <a:gridCol w="3219641">
                      <a:extLst>
                        <a:ext uri="{9D8B030D-6E8A-4147-A177-3AD203B41FA5}">
                          <a16:colId xmlns:a16="http://schemas.microsoft.com/office/drawing/2014/main" val="102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4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3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17</m:t>
                                  </m:r>
                                </m:e>
                              </m:rad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17</m:t>
                                  </m:r>
                                </m:e>
                              </m:rad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82"/>
                      </a:ext>
                    </a:extLst>
                  </a:tr>
                </a:tbl>
              </a:graphicData>
            </a:graphic>
          </p:graphicFrame>
        </mc:Choice>
        <mc:Fallback xmlns="" xmlns:p15="http://schemas.microsoft.com/office/powerpoint/2012/main" xmlns:p14="http://schemas.microsoft.com/office/powerpoint/2010/main" xmlns:a16="http://schemas.microsoft.com/office/drawing/2014/main">
          <p:graphicFrame>
            <p:nvGraphicFramePr>
              <p:cNvPr id="13066" name="yt_table_13066_skip" descr="{&quot;rangeId&quot;:74,&quot;type&quot;:&quot;Option&quot;,&quot;drawing&quot;:[&quot;yt_image_13065&quot;]}" title="H_86.66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0447558"/>
                  </p:ext>
                </p:extLst>
              </p:nvPr>
            </p:nvGraphicFramePr>
            <p:xfrm>
              <a:off x="324066" y="4067194"/>
              <a:ext cx="7350824" cy="1100646"/>
            </p:xfrm>
            <a:graphic>
              <a:graphicData uri="http://schemas.openxmlformats.org/drawingml/2006/table">
                <a:tbl>
                  <a:tblPr/>
                  <a:tblGrid>
                    <a:gridCol w="4131183">
                      <a:extLst>
                        <a:ext uri="{9D8B030D-6E8A-4147-A177-3AD203B41FA5}">
                          <a16:colId xmlns:a16="http://schemas.microsoft.com/office/drawing/2014/main" val="10284"/>
                        </a:ext>
                      </a:extLst>
                    </a:gridCol>
                    <a:gridCol w="3219641">
                      <a:extLst>
                        <a:ext uri="{9D8B030D-6E8A-4147-A177-3AD203B41FA5}">
                          <a16:colId xmlns:a16="http://schemas.microsoft.com/office/drawing/2014/main" val="10285"/>
                        </a:ext>
                      </a:extLst>
                    </a:gridCol>
                  </a:tblGrid>
                  <a:tr h="52705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4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81"/>
                      </a:ext>
                    </a:extLst>
                  </a:tr>
                  <a:tr h="57359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96809" r="-78024" b="-38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28166" t="-96809" b="-382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8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065" name="yt_image_13065_skip" title="H_129">
            <a:extLst>
              <a:ext uri="">
                <a16:creationId xmlns="" xmlns:p14="http://schemas.microsoft.com/office/powerpoint/2010/main" xmlns:a14="http://schemas.microsoft.com/office/drawing/2010/main" xmlns:mc="http://schemas.openxmlformats.org/markup-compatibility/2006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33372" y="4067194"/>
            <a:ext cx="3432799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4202086" y="480463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2ed1256d-8205-4d8d-b5ec-9e73ff83d6de" descr="{&quot;SlideID&quot;:&quot;325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877aff5f-dcf2-4d3c-aa4e-72c680b81908" descr="{&quot;SlideID&quot;:&quot;326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9b81cde1-e6ed-45d2-9b28-9e6fb82dbb4f" descr="{&quot;SlideID&quot;:&quot;327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9fdb0484-42b1-4c50-a011-440ae7c746fe" descr="{&quot;SlideID&quot;:&quot;328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f1423a7-b732-4ff9-b229-3cf038f8c13f" descr="{&quot;SlideID&quot;:&quot;329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746e5a2-e7a2-44c1-ba3d-4d79743ffbc8" descr="{&quot;SlideID&quot;:&quot;33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b677985d-1d25-4fcc-b03c-38e2c77942eb" descr="{&quot;SlideID&quot;:&quot;331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86639668-288f-4c87-88c9-e5fa87f2814c" descr="{&quot;SlideID&quot;:&quot;332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17c02d0-deaa-4f11-a048-c67fbfb6ebee" descr="{&quot;SlideID&quot;:&quot;333&quot;,&quot;SlideNumber&quot;:&quot;5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3fadb67-189c-4a3f-807e-e866462a8b13" descr="{&quot;SlideID&quot;:&quot;334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cdf47b73-b6cd-4c15-bace-852f77ac4895" descr="{&quot;SlideID&quot;:&quot;335&quot;,&quot;SlideNumber&quot;:&quot;61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c339ff6f-2ce2-4efc-928f-2a9f7c75f333" descr="{&quot;SlideID&quot;:&quot;336&quot;,&quot;SlideNumber&quot;:&quot;64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p14="http://schemas.microsoft.com/office/powerpoint/2010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67" name="yt_shape_13067"/>
              <p:cNvSpPr txBox="1"/>
              <p:nvPr/>
            </p:nvSpPr>
            <p:spPr>
              <a:xfrm>
                <a:off x="324071" y="467999"/>
                <a:ext cx="11924914" cy="324063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由运动学规律可知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初始时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车在前面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设经过时间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两车相距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57a4d"/>
                  </a:rPr>
                  <a:t>0</a:t>
                </a:r>
                <a:b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车的位移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车的位移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由几何关系有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922b4"/>
                  </a:rPr>
                  <a:t>）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后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车在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车前面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c8c63"/>
                  </a:rPr>
                  <a:t>设从初始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经过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两车相距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由运动学规律可知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e77a7"/>
                  </a:rPr>
                  <a:t>3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则两车通信的时间为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3067" name="yt_shape_130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240631"/>
              </a:xfrm>
              <a:prstGeom prst="rect">
                <a:avLst/>
              </a:prstGeom>
              <a:blipFill>
                <a:blip r:embed="rId2"/>
                <a:stretch>
                  <a:fillRect l="-1789" t="-753" b="-58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0d655f6f-8fbc-4bab-8cf4-3a8ce4ec0f7d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09c105f-48b2-456a-bc99-bb6d1a8befad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9149787-75ad-4e19-b97c-34adf7c08bc6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fe75ce6d-942e-4cc4-b490-8543f623b38a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2eccca2f-9e42-46ca-96c2-131712deae84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e914e06a-1383-43d0-ac00-7b7e45c1661a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5d055a4-eaef-4fa1-b722-b216d04f9eb3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839a6518-e630-45bf-bd07-25615f61a3a2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e3d0f3ac-46e2-4fd8-b5dc-7bdc2b6f5aff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3342974-bf47-42d5-bb8e-a52bb249bb13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eb53ac38-7660-40e3-9d2f-fc43392ce51b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c44ccafe-1637-4b45-8d5a-794445c2f8dc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9" name="yt_shape_13069"/>
          <p:cNvSpPr txBox="1"/>
          <p:nvPr/>
        </p:nvSpPr>
        <p:spPr>
          <a:xfrm>
            <a:off x="324071" y="467999"/>
            <a:ext cx="11543998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一辆小汽车以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的速度行驶在平直的公路上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e6e4b"/>
              </a:rPr>
              <a:t>突然发现正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前方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处有一辆大卡车以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的速度同方向匀速行驶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1e747"/>
              </a:rPr>
              <a:t>汽车司机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立即刹车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忽略司机的反应时间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后卡车司机也开始刹车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8c3dd"/>
              </a:rPr>
              <a:t>从汽车司机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开始刹车时计时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二者的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图像如图所示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06363"/>
              </a:rPr>
              <a:t>下列说法正确的是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3071" name="yt_table_13071_skip" title="H_235.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210519"/>
              </p:ext>
            </p:extLst>
          </p:nvPr>
        </p:nvGraphicFramePr>
        <p:xfrm>
          <a:off x="324071" y="3413164"/>
          <a:ext cx="8443044" cy="2987040"/>
        </p:xfrm>
        <a:graphic>
          <a:graphicData uri="http://schemas.openxmlformats.org/drawingml/2006/table">
            <a:tbl>
              <a:tblPr/>
              <a:tblGrid>
                <a:gridCol w="8443044">
                  <a:extLst>
                    <a:ext uri="{9D8B030D-6E8A-4147-A177-3AD203B41FA5}">
                      <a16:colId xmlns:a16="http://schemas.microsoft.com/office/drawing/2014/main" val="10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小汽车与大卡车一定没有追尾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22_85180"/>
                        </a:rPr>
                        <a:t>由于在减速时大卡车的加速度大小小于小汽车的加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速度大小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两车在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时追尾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两车没有追尾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两车最近距离为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两车没有追尾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并且两车都停下时相距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6"/>
                  </a:ext>
                </a:extLst>
              </a:tr>
            </a:tbl>
          </a:graphicData>
        </a:graphic>
      </p:graphicFrame>
      <p:pic>
        <p:nvPicPr>
          <p:cNvPr id="13070" name="yt_image_13070_skip" title="H_202.68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65224" y="3463952"/>
            <a:ext cx="3100874" cy="231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15347" y="347692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15348" y="526236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cfe4fea1-d7f5-4579-9b15-3e84697865c2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e35f989-b910-4815-90d3-91c703d7b0df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5d17dbb2-1cec-4b4f-ae60-e0bffa8b35a4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2e20113a-2569-40cd-a062-4ba0f90329a5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43eeb936-d984-4712-ba26-8995f786b26e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482db89c-aef9-4b88-b9a2-f3fe2c1028dc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4605420b-50f1-4713-96da-994d0a5a17db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4d9f2c1-2709-41ee-8766-60434ff16476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99b62cec-4519-41c2-ad20-d63108c3dd01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b59bdfe3-d00f-41e3-bcb3-be9baaee6e20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3e7764de-86ca-4165-8254-f69e9763db80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3d43fc5-f8fc-4ade-92d6-4d0dee23a468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3" name="yt_shape_13073"/>
          <p:cNvSpPr txBox="1"/>
          <p:nvPr/>
        </p:nvSpPr>
        <p:spPr>
          <a:xfrm>
            <a:off x="324071" y="467999"/>
            <a:ext cx="11924914" cy="41516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小汽车和大卡车在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时若不相遇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以后就不会发生追尾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-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15787"/>
              </a:rPr>
              <a:t>t</a:t>
            </a:r>
            <a:b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图像与坐标轴所围成面积表示位移可知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小汽车在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内的位移 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76511"/>
              </a:rPr>
              <a:t> 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大卡车在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内的位移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由于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＜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8_d587f"/>
              </a:rPr>
              <a:t>所以小汽车和大卡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车一定没有追尾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选项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两车速度相等时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相距最近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4c0a8"/>
              </a:rPr>
              <a:t>为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选项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小汽车停下时所走位移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汽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8c27d"/>
              </a:rPr>
              <a:t>大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卡车停下时所走位移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卡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所以两车都停下时相距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x'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卡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汽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8f800"/>
              </a:rPr>
              <a:t>＝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选项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4addae40-538f-467d-86f7-47a9e6e7fea1" descr="{&quot;SlideID&quot;:&quot;325&quot;,&quot;SlideNumber&quot;:&quot;40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1f5fb1d7-9e83-428a-a122-2076d3c5366f" descr="{&quot;SlideID&quot;:&quot;326&quot;,&quot;SlideNumber&quot;:&quot;4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fb939ba-de61-41ce-8cb9-c137f14f7577" descr="{&quot;SlideID&quot;:&quot;327&quot;,&quot;SlideNumber&quot;:&quot;4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cd16bfed-7983-40b6-b8f7-605f101e0ceb" descr="{&quot;SlideID&quot;:&quot;328&quot;,&quot;SlideNumber&quot;:&quot;4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eab47d8b-3fea-4330-979e-404bd943e919" descr="{&quot;SlideID&quot;:&quot;329&quot;,&quot;SlideNumber&quot;:&quot;4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b8e8961d-a988-4d9b-a1a7-c2b5fdf24486" descr="{&quot;SlideID&quot;:&quot;330&quot;,&quot;SlideNumber&quot;:&quot;5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f87fc54a-71a8-4d6a-a47c-2bc435a157a2" descr="{&quot;SlideID&quot;:&quot;331&quot;,&quot;SlideNumber&quot;:&quot;5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bde9acfd-ead3-4a70-855a-fb80a41ff0c0" descr="{&quot;SlideID&quot;:&quot;332&quot;,&quot;SlideNumber&quot;:&quot;5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0c3856d-9332-4e49-a19a-aa97d856f825" descr="{&quot;SlideID&quot;:&quot;333&quot;,&quot;SlideNumber&quot;:&quot;5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7e335b38-7f89-47c8-82bf-cee49ebdb4f5" descr="{&quot;SlideID&quot;:&quot;334&quot;,&quot;SlideNumber&quot;:&quot;5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d4c95f7-8ca4-4e10-9b03-e04c69f19887" descr="{&quot;SlideID&quot;:&quot;335&quot;,&quot;SlideNumber&quot;:&quot;6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2edae351-5092-4b0c-99f1-99bc0d7ba39c" descr="{&quot;SlideID&quot;:&quot;336&quot;,&quot;SlideNumber&quot;:&quot;6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4" name="yt_shape_13074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浙江温州期中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4_8815d"/>
              </a:rPr>
              <a:t>乙两车在一平直公路上从同一地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点沿同一方向沿直线运动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它们的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74ada"/>
              </a:rPr>
              <a:t>下列判断正确的是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BD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3076" name="yt_table_13076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074567"/>
              </p:ext>
            </p:extLst>
          </p:nvPr>
        </p:nvGraphicFramePr>
        <p:xfrm>
          <a:off x="324066" y="2257468"/>
          <a:ext cx="8221664" cy="2389632"/>
        </p:xfrm>
        <a:graphic>
          <a:graphicData uri="http://schemas.openxmlformats.org/drawingml/2006/table">
            <a:tbl>
              <a:tblPr/>
              <a:tblGrid>
                <a:gridCol w="8221664">
                  <a:extLst>
                    <a:ext uri="{9D8B030D-6E8A-4147-A177-3AD203B41FA5}">
                      <a16:colId xmlns:a16="http://schemas.microsoft.com/office/drawing/2014/main" val="10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乙车启动时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甲车在其前方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处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运动过程中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乙车落后甲车的最大距离为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75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乙车启动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后正好追上甲车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乙车超过甲车后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两车不会再相遇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0"/>
                  </a:ext>
                </a:extLst>
              </a:tr>
            </a:tbl>
          </a:graphicData>
        </a:graphic>
      </p:graphicFrame>
      <p:pic>
        <p:nvPicPr>
          <p:cNvPr id="13075" name="yt_image_13075_skip" title="H_175.08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43828" y="2257468"/>
            <a:ext cx="2922230" cy="2223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26395" y="295196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26396" y="415460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de005de5-8881-4c1f-8129-5ab1c7a1dca9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47da1bb-2c19-494e-84f6-f6a0bf01bf1d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6f955262-54b9-463a-86f7-48d45dbdaaab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0e631995-e0db-415d-8d0d-236e4779659c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6569714-f663-4ba5-8029-c7b3bd586e3f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95e27c57-8823-4d13-a4db-d4d05ca23085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d24ffcc9-fc40-4cb4-ac73-34493f5fcbf0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bd7ce3b3-d1e2-4a75-9d7a-6ee3daa9a6e5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29db02bb-b49e-4779-b8c8-915430305b19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544e7c9e-97c0-4536-9201-d20d126dd54b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eb35273e-e88c-4b75-8f37-225a3562060c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eb5bc368-2651-45a8-865b-30fca8600cb1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78" name="yt_shape_13078"/>
              <p:cNvSpPr txBox="1"/>
              <p:nvPr/>
            </p:nvSpPr>
            <p:spPr>
              <a:xfrm>
                <a:off x="324071" y="467999"/>
                <a:ext cx="11924914" cy="525182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根据速度图线与时间轴包围的面积表示位移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可知乙在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a60a1"/>
                  </a:rPr>
                  <a:t>时启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此时甲的位移为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即甲车在乙前方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处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24f45"/>
                  </a:rPr>
                  <a:t>故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当两车的速度相等时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乙车落后甲车的距离最大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3bb01"/>
                  </a:rPr>
                  <a:t>图像可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最大距离为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max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372c4"/>
                  </a:rPr>
                  <a:t>正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由于两车从同一地点沿同一方向沿直线运动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04753"/>
                  </a:rPr>
                  <a:t>当位移相等时两车才相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遇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乙车启动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后位移小于甲的位移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还没有追上甲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f70d3"/>
                  </a:rPr>
                  <a:t>错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乙车超过甲车后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由于乙的速度一直大于甲的速度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3306d"/>
                  </a:rPr>
                  <a:t>所以两车不会再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相遇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3078" name="yt_shape_130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251822"/>
              </a:xfrm>
              <a:prstGeom prst="rect">
                <a:avLst/>
              </a:prstGeom>
              <a:blipFill>
                <a:blip r:embed="rId2"/>
                <a:stretch>
                  <a:fillRect l="-1789" t="-465" b="-32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75ccf9a3-c80c-4905-93cc-a6edff883559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e102a480-9bb5-446f-9e45-27640c2db365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259c0102-9228-4a65-bd06-d5b7dcd8c9e7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fa96917-c74f-4db0-9cbd-75b85c38eef7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662c877d-11cd-427b-bd22-b9c8093563a8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52eace8f-5490-4dc6-b0cc-0b1b9a446804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4be34525-fb11-404d-b496-9abd89c1649b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93509170-edcf-4c3e-85cb-f2939655d0af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38e6b5f2-ec11-4abc-b817-27b604e43e75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2a9faa3-dd56-49bd-bef5-2bf2564f9270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b0787adf-9258-4df9-a821-b640aba0085e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dae1412b-3fd7-4ee3-be33-9d28eccf24b3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0" name="yt_shape_13080"/>
          <p:cNvSpPr txBox="1"/>
          <p:nvPr/>
        </p:nvSpPr>
        <p:spPr>
          <a:xfrm>
            <a:off x="324071" y="467999"/>
            <a:ext cx="11600451" cy="30029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/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7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冬天雾霾天气频繁出现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6_783e8"/>
              </a:rPr>
              <a:t>某日早晨浓雾天气中道路能见度只有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且路面湿滑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一辆小汽车以一定的速度由南向北行驶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某时刻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4749c"/>
              </a:rPr>
              <a:t>突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然发现正前方浓雾中有一辆卡车正在同向匀速行驶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此时两车相距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4e5dc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于是司机鸣笛示警同时紧急刹车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以此时为计时起点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379e1"/>
              </a:rPr>
              <a:t>此后小汽车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的速度随时间的变化关系为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18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直至停止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卡车接到示警于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89e2d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后加速行驶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卡车加速后位移随时间的变化关系为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52f70"/>
              </a:rPr>
              <a:t>以下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65585" y="348855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43400" y="478470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aphicFrame>
        <p:nvGraphicFramePr>
          <p:cNvPr id="6" name="yt_table_13081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609533"/>
              </p:ext>
            </p:extLst>
          </p:nvPr>
        </p:nvGraphicFramePr>
        <p:xfrm>
          <a:off x="324071" y="3470988"/>
          <a:ext cx="11056938" cy="2389632"/>
        </p:xfrm>
        <a:graphic>
          <a:graphicData uri="http://schemas.openxmlformats.org/drawingml/2006/table">
            <a:tbl>
              <a:tblPr/>
              <a:tblGrid>
                <a:gridCol w="11056938">
                  <a:extLst>
                    <a:ext uri="{9D8B030D-6E8A-4147-A177-3AD203B41FA5}">
                      <a16:colId xmlns:a16="http://schemas.microsoft.com/office/drawing/2014/main" val="10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前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后车因都采取了必要的加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减速运动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所以不会追尾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前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后车虽采取了加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减速运动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但加速度过小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仍会发生追尾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两车距离最近时只有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在前车开始加速时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两车仅相距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9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4"/>
                  </a:ext>
                </a:extLst>
              </a:tr>
            </a:tbl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39560eac-cb2b-471e-beda-06dd37dadfe2" descr="{&quot;SlideID&quot;:&quot;325&quot;,&quot;SlideNumber&quot;:&quot;40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f72ac643-1002-40f3-b8e0-0f584c916b25" descr="{&quot;SlideID&quot;:&quot;326&quot;,&quot;SlideNumber&quot;:&quot;4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aab8fb98-97cb-4675-99de-b8de04f3f7ea" descr="{&quot;SlideID&quot;:&quot;327&quot;,&quot;SlideNumber&quot;:&quot;4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97a73651-411f-4bb8-bc5a-17a7e61993bd" descr="{&quot;SlideID&quot;:&quot;328&quot;,&quot;SlideNumber&quot;:&quot;4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88b6da09-717a-4931-a5b9-58ec5fc78d05" descr="{&quot;SlideID&quot;:&quot;329&quot;,&quot;SlideNumber&quot;:&quot;4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e3a97b3-98f3-4d3a-a0e8-a4f9b0944ebf" descr="{&quot;SlideID&quot;:&quot;330&quot;,&quot;SlideNumber&quot;:&quot;5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cdf2ec0a-2ed1-4cad-bfe5-5082b0b2be9e" descr="{&quot;SlideID&quot;:&quot;331&quot;,&quot;SlideNumber&quot;:&quot;5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68ca4800-e118-41cc-9e14-15d02e90d073" descr="{&quot;SlideID&quot;:&quot;332&quot;,&quot;SlideNumber&quot;:&quot;5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31412ef7-7321-4f7b-8c1d-7e3037b5fb1a" descr="{&quot;SlideID&quot;:&quot;333&quot;,&quot;SlideNumber&quot;:&quot;5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d6ea0e01-9b7b-43d0-b45f-5fe981810c0b" descr="{&quot;SlideID&quot;:&quot;334&quot;,&quot;SlideNumber&quot;:&quot;5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13f05d15-fe68-4914-a277-27befe64dc75" descr="{&quot;SlideID&quot;:&quot;335&quot;,&quot;SlideNumber&quot;:&quot;6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ef558e03-6cee-40a7-90f3-a3b061fbfb20" descr="{&quot;SlideID&quot;:&quot;336&quot;,&quot;SlideNumber&quot;:&quot;6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83" name="yt_shape_13083"/>
              <p:cNvSpPr txBox="1"/>
              <p:nvPr/>
            </p:nvSpPr>
            <p:spPr>
              <a:xfrm>
                <a:off x="267086" y="346701"/>
                <a:ext cx="11924914" cy="610481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由题可知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在计时起点的时刻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小汽车的速度为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35f11"/>
                  </a:rPr>
                  <a:t>加速度为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后小汽车的速度为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此时前方卡车开始加速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dea4a"/>
                  </a:rPr>
                  <a:t>初速度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加速度为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此时两车之间的距离为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l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［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e473e"/>
                  </a:rPr>
                  <a:t>－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18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）］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以该时刻为计时起点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e688c"/>
                  </a:rPr>
                  <a:t>则小汽车的位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—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时间关系为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14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其中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≤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14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。前方卡车的位移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—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257d5"/>
                  </a:rPr>
                  <a:t>时间关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所以两车之间的距离与时间的关系式为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L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l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2_3c6d8"/>
                  </a:rPr>
                  <a:t>10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其中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≤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。根据二次函数的特点可知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994ae"/>
                  </a:rPr>
                  <a:t>L</a:t>
                </a:r>
                <a:b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取最小值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L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min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54c15"/>
                  </a:rPr>
                  <a:t>所以两车不会相撞。故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3083" name="yt_shape_130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346701"/>
                <a:ext cx="11924914" cy="6104813"/>
              </a:xfrm>
              <a:prstGeom prst="rect">
                <a:avLst/>
              </a:prstGeom>
              <a:blipFill>
                <a:blip r:embed="rId2"/>
                <a:stretch>
                  <a:fillRect l="-1840" t="-400" b="-26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48e2e5f2-b4fe-484a-8f12-8f6e982d55c2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9736d4b6-afe9-46b3-98d4-44b1f82d61e3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e66ada0-20fd-4746-8bb6-70a226fb4244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ca9e3d52-5653-40e7-a0e0-55ed18b251bf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ece5cc0c-340e-4678-abd0-65fa214c14a8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878b4ff5-390f-42fa-9b9c-0e7c420bf49c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7107f228-09e0-42f5-8c4d-5a916aff7087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981f7993-5df3-49e4-8405-2248074838ab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ba22f242-9291-415a-8f9c-81ff24a327c5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93b8c84-f1d9-43a3-b75e-186c4c42792a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0da54ff-22d9-4de6-b3e5-fc62930e01b3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c4cfd1da-ef6e-42ea-b6f4-9f57374e0151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7" name="yt_shape_13087"/>
          <p:cNvSpPr txBox="1"/>
          <p:nvPr/>
        </p:nvSpPr>
        <p:spPr>
          <a:xfrm>
            <a:off x="324071" y="1143938"/>
            <a:ext cx="11543998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浙江嘉兴期中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4_7f357"/>
              </a:rPr>
              <a:t>乙两车在同一条平直车道中匀速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行驶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甲车在前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乙车在后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c942e"/>
              </a:rPr>
              <a:t>时刻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两车之间的距离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甲车因发现前方障碍开始采取制动措施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b2cbe"/>
              </a:rPr>
              <a:t>反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应时间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甲车制动后做匀减速直线运动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加速度大小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ec818"/>
              </a:rPr>
              <a:t>则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088" name="yt_table_13088" title="H_233.42503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971263"/>
                  </p:ext>
                </p:extLst>
              </p:nvPr>
            </p:nvGraphicFramePr>
            <p:xfrm>
              <a:off x="324071" y="4089103"/>
              <a:ext cx="11543919" cy="2318512"/>
            </p:xfrm>
            <a:graphic>
              <a:graphicData uri="http://schemas.openxmlformats.org/drawingml/2006/table">
                <a:tbl>
                  <a:tblPr/>
                  <a:tblGrid>
                    <a:gridCol w="11543919">
                      <a:extLst>
                        <a:ext uri="{9D8B030D-6E8A-4147-A177-3AD203B41FA5}">
                          <a16:colId xmlns:a16="http://schemas.microsoft.com/office/drawing/2014/main" val="102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时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两车之间的距离最远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当甲车速度减为零时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两车相距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当两车再次相距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32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5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时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甲车的速度小于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3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甲车停止后乙车立即减速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乙车减速的加速度只要大于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4_d3fb3"/>
                            </a:rPr>
                            <a:t>就能不撞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上甲车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98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 xmlns:p15="http://schemas.microsoft.com/office/powerpoint/2012/main">
          <p:graphicFrame>
            <p:nvGraphicFramePr>
              <p:cNvPr id="13088" name="yt_table_13088" title="H_233.42503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971263"/>
                  </p:ext>
                </p:extLst>
              </p:nvPr>
            </p:nvGraphicFramePr>
            <p:xfrm>
              <a:off x="324071" y="4089103"/>
              <a:ext cx="11543919" cy="2318512"/>
            </p:xfrm>
            <a:graphic>
              <a:graphicData uri="http://schemas.openxmlformats.org/drawingml/2006/table">
                <a:tbl>
                  <a:tblPr/>
                  <a:tblGrid>
                    <a:gridCol w="11543919">
                      <a:extLst>
                        <a:ext uri="{9D8B030D-6E8A-4147-A177-3AD203B41FA5}">
                          <a16:colId xmlns:a16="http://schemas.microsoft.com/office/drawing/2014/main" val="10289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时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两车之间的距离最远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95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当甲车速度减为零时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两车相距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9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当两车再次相距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32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5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时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甲车的速度小于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3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97"/>
                      </a:ext>
                    </a:extLst>
                  </a:tr>
                  <a:tr h="103835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35088" b="-181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9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yt_image_13240" title="H_45.96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659879" y="523284"/>
            <a:ext cx="2215867" cy="58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21569" y="397421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21568" y="537380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6ea8f9f3-41ea-4c62-a3db-055f87250f1f" descr="{&quot;SlideID&quot;:&quot;325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ab9c392-18da-4a92-8de0-407d0ef7046e" descr="{&quot;SlideID&quot;:&quot;326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0812dd1f-c2ef-4945-8c37-967841f56065" descr="{&quot;SlideID&quot;:&quot;327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37a324ee-d533-42ce-8631-fbbcc203e595" descr="{&quot;SlideID&quot;:&quot;328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e5c84a24-281e-4af4-a17c-106861fd4326" descr="{&quot;SlideID&quot;:&quot;329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bbeda08d-d503-4f64-8729-b5806d86d5a0" descr="{&quot;SlideID&quot;:&quot;33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6eee9386-24a3-48dc-9ca1-3b1430120961" descr="{&quot;SlideID&quot;:&quot;331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26dd8477-8778-4c80-bbc8-e8af931859c9" descr="{&quot;SlideID&quot;:&quot;332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51149371-0c51-4cb4-ac5e-ae8f5e061296" descr="{&quot;SlideID&quot;:&quot;333&quot;,&quot;SlideNumber&quot;:&quot;5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5fbc93a1-8e30-4ca0-bea0-82f524253db6" descr="{&quot;SlideID&quot;:&quot;334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db89e4a0-8a26-47be-9d6e-94a0283721bf" descr="{&quot;SlideID&quot;:&quot;335&quot;,&quot;SlideNumber&quot;:&quot;61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9550bb49-50bb-4306-b868-096f9a52ac9a" descr="{&quot;SlideID&quot;:&quot;336&quot;,&quot;SlideNumber&quot;:&quot;64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p14="http://schemas.microsoft.com/office/powerpoint/2010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89" name="yt_shape_13089"/>
              <p:cNvSpPr txBox="1"/>
              <p:nvPr/>
            </p:nvSpPr>
            <p:spPr>
              <a:xfrm>
                <a:off x="324071" y="467999"/>
                <a:ext cx="11637774" cy="46824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/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经分析可知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当两车速度相等时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两车之间的距离最大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582e4"/>
                  </a:rPr>
                  <a:t>1</a:t>
                </a:r>
                <a:b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又司机反应了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后两车距离最远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5f340"/>
                  </a:rPr>
                  <a:t>；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甲车速度减为零的时间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位移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𝑎</m:t>
                            </m:r>
                          </m:den>
                        </m:f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37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bc4aa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此段时间乙的位移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″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两车相距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″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cfe03"/>
                  </a:rPr>
                  <a:t>B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设从零时刻到两车再次相距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的时间为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由位移关系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c6e5d"/>
                  </a:rPr>
                  <a:t>t</a:t>
                </a:r>
                <a:b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17d4d"/>
                  </a:rPr>
                  <a:t>此刻甲的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甲车停止后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a8c81"/>
                  </a:rPr>
                  <a:t>乙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开始减速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假设恰好追上甲时速度减为零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a'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4b891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只要乙减速的加速度大于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就能不撞上甲车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3089" name="yt_shape_130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637774" cy="4682499"/>
              </a:xfrm>
              <a:prstGeom prst="rect">
                <a:avLst/>
              </a:prstGeom>
              <a:blipFill>
                <a:blip r:embed="rId2"/>
                <a:stretch>
                  <a:fillRect l="-1833" t="-2734" r="-8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0decd77d-4559-43c6-9c11-013adc8259ed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94f1d97-1504-4fd0-8166-a8361d135bb4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f5a0fce-1733-45e3-9959-7ded4f5cc39a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818a91c-affc-40b4-8a65-9326ae2177fe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333e193-5a9a-4fa1-afb0-f70e80d2297c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f541ada6-ef9a-4355-92bd-bf3edd94734a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27b5bcc6-4e2e-4005-975f-6755b419c72d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af7693f8-f506-4769-8b7e-17bee4353484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93b582b4-84b0-4983-90f1-b2b97afc622f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d8907f2-0238-4e37-b9c2-898da1274e83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65bbf395-2a85-45d3-9f65-19570e21bf3a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cc3db2f-c12f-4534-a9b2-352c9be4ad5e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1" name="yt_shape_13091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广东佛山高一期中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某同学将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篮球以速度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60c7a"/>
              </a:rPr>
              <a:t>竖直向上抛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出到达最高点时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将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篮球也以速度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从同一位置竖直向上抛出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a4fc7"/>
              </a:rPr>
              <a:t>不计空气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两球均可视为质点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重力加速度大小为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75791"/>
              </a:rPr>
              <a:t>下列说法正确的是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093" name="yt_table_13093_skip" title="H_261.86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6547129"/>
                  </p:ext>
                </p:extLst>
              </p:nvPr>
            </p:nvGraphicFramePr>
            <p:xfrm>
              <a:off x="324066" y="2860710"/>
              <a:ext cx="9709404" cy="3325622"/>
            </p:xfrm>
            <a:graphic>
              <a:graphicData uri="http://schemas.openxmlformats.org/drawingml/2006/table">
                <a:tbl>
                  <a:tblPr/>
                  <a:tblGrid>
                    <a:gridCol w="9709404">
                      <a:extLst>
                        <a:ext uri="{9D8B030D-6E8A-4147-A177-3AD203B41FA5}">
                          <a16:colId xmlns:a16="http://schemas.microsoft.com/office/drawing/2014/main" val="102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A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、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相遇时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速度大小为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自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抛出到与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相遇时间为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3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自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拋出到与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相遇上升高度为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8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两球各自抛出到相遇的过程中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的速度变化量大小为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02"/>
                      </a:ext>
                    </a:extLst>
                  </a:tr>
                </a:tbl>
              </a:graphicData>
            </a:graphic>
          </p:graphicFrame>
        </mc:Choice>
        <mc:Fallback xmlns="" xmlns:p15="http://schemas.microsoft.com/office/powerpoint/2012/main" xmlns:p14="http://schemas.microsoft.com/office/powerpoint/2010/main" xmlns:a16="http://schemas.microsoft.com/office/drawing/2014/main">
          <p:graphicFrame>
            <p:nvGraphicFramePr>
              <p:cNvPr id="13093" name="yt_table_13093_skip" descr="{&quot;rangeId&quot;:71,&quot;type&quot;:&quot;Option&quot;,&quot;drawing&quot;:[&quot;yt_image_13092&quot;]}" title="H_261.86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6547129"/>
                  </p:ext>
                </p:extLst>
              </p:nvPr>
            </p:nvGraphicFramePr>
            <p:xfrm>
              <a:off x="324066" y="2860710"/>
              <a:ext cx="9709404" cy="3325622"/>
            </p:xfrm>
            <a:graphic>
              <a:graphicData uri="http://schemas.openxmlformats.org/drawingml/2006/table">
                <a:tbl>
                  <a:tblPr/>
                  <a:tblGrid>
                    <a:gridCol w="9709404">
                      <a:extLst>
                        <a:ext uri="{9D8B030D-6E8A-4147-A177-3AD203B41FA5}">
                          <a16:colId xmlns:a16="http://schemas.microsoft.com/office/drawing/2014/main" val="10290"/>
                        </a:ext>
                      </a:extLst>
                    </a:gridCol>
                  </a:tblGrid>
                  <a:tr h="73926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b="-367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99"/>
                      </a:ext>
                    </a:extLst>
                  </a:tr>
                  <a:tr h="91605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80132" b="-1947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00"/>
                      </a:ext>
                    </a:extLst>
                  </a:tr>
                  <a:tr h="92824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78947" b="-93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01"/>
                      </a:ext>
                    </a:extLst>
                  </a:tr>
                  <a:tr h="74206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347541" b="-163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092" name="yt_image_13092_skip" title="H_199.8">
            <a:extLst>
              <a:ext uri="">
                <a16:creationId xmlns="" xmlns:p14="http://schemas.microsoft.com/office/powerpoint/2010/main" xmlns:a14="http://schemas.microsoft.com/office/drawing/2010/main" xmlns:mc="http://schemas.openxmlformats.org/markup-compatibility/2006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00138" y="2860710"/>
            <a:ext cx="1465600" cy="2537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4916" y="400220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22ce91be-4631-4623-9fa0-6d4a6a8cf0e0" descr="{&quot;SlideID&quot;:&quot;325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7b99ca2-aaf5-4fd0-a004-1f2c6bccc322" descr="{&quot;SlideID&quot;:&quot;326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be169908-bdec-429d-a3ce-77fa7adf8a32" descr="{&quot;SlideID&quot;:&quot;327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8c3eb53-bfc2-4dcf-826f-99c682056b7b" descr="{&quot;SlideID&quot;:&quot;328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67cc92b-60a2-46e5-889a-71edfded540d" descr="{&quot;SlideID&quot;:&quot;329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0f6c5562-3de1-43a3-903f-0f58eed5c125" descr="{&quot;SlideID&quot;:&quot;33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5bbc7d86-6e15-416b-855f-322b8268f45c" descr="{&quot;SlideID&quot;:&quot;331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9bd6424-75cd-467b-a655-3c2bd9ab61b6" descr="{&quot;SlideID&quot;:&quot;332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8945e332-ed9f-4900-8d6d-c010f85ae3ac" descr="{&quot;SlideID&quot;:&quot;333&quot;,&quot;SlideNumber&quot;:&quot;5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80cec55-f22f-4488-82fc-57f516ec9155" descr="{&quot;SlideID&quot;:&quot;334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d758ad3b-427b-4f8f-a663-9c279271554f" descr="{&quot;SlideID&quot;:&quot;335&quot;,&quot;SlideNumber&quot;:&quot;61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2eb7ccc2-2940-43aa-96ee-2c44ef4ff1a1" descr="{&quot;SlideID&quot;:&quot;336&quot;,&quot;SlideNumber&quot;:&quot;64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p14="http://schemas.microsoft.com/office/powerpoint/2010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94" name="yt_shape_13094"/>
              <p:cNvSpPr txBox="1"/>
              <p:nvPr/>
            </p:nvSpPr>
            <p:spPr>
              <a:xfrm>
                <a:off x="267086" y="374693"/>
                <a:ext cx="11924914" cy="60368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根据竖直上抛运动的性质可知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球运动到最高点的时间为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cb988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球运动到最高点后将向下做自由落体运动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56608"/>
                  </a:rPr>
                  <a:t>球此时做竖直上抛运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设其与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球在空中相遇所用的时间为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球上升的最大高度为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ecc1f"/>
                  </a:rPr>
                  <a:t>球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球相遇时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球的下落的高度为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球上升的高度为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9465a"/>
                  </a:rPr>
                  <a:t>则由运动学公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式有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88fab"/>
                  </a:rPr>
                  <a:t>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自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抛出到与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相遇时间为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cd3f2"/>
                  </a:rPr>
                  <a:t>相遇时的速度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分别为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则根据运动学公式可得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0071e"/>
                  </a:rPr>
                  <a:t>B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相遇时速度大小均为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endParaRPr lang="zh-CN" altLang="zh-CN" sz="2800" b="0" i="0" u="none">
                  <a:solidFill>
                    <a:srgbClr val="C00000"/>
                  </a:solidFill>
                  <a:effectLst/>
                  <a:latin typeface="Times New Roman" pitchFamily="28"/>
                  <a:ea typeface="仿宋" pitchFamily="28"/>
                </a:endParaRPr>
              </a:p>
            </p:txBody>
          </p:sp>
        </mc:Choice>
        <mc:Fallback xmlns="" xmlns:a16="http://schemas.microsoft.com/office/drawing/2014/main">
          <p:sp>
            <p:nvSpPr>
              <p:cNvPr id="13094" name="yt_shape_130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374693"/>
                <a:ext cx="11924914" cy="6036845"/>
              </a:xfrm>
              <a:prstGeom prst="rect">
                <a:avLst/>
              </a:prstGeom>
              <a:blipFill>
                <a:blip r:embed="rId2"/>
                <a:stretch>
                  <a:fillRect l="-1840" b="-1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4c887643-3ce3-4424-a927-881b8fc8895a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c8f33c64-549d-4f89-9b4d-8fb417f44196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92b1236-44e9-420f-af0f-1fb55538b942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c030f092-7a47-42df-b4bf-94ffa6632726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a3a884af-7895-4358-bc33-5e79cce6d02e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d5caa328-7037-43d6-838d-a4b18f808f98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8fb3adf6-aa33-407f-bdd6-6de35b8ff4b3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20f94e4d-3d6d-41ac-81d8-a37e4d91508c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68643c44-dc65-44c4-a6d4-e07cd76aa45e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65d856a-9be2-47fe-8c17-2f960720e2b1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38168e3-b985-4d0a-9aba-119362a26198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260500b7-455d-410c-b40b-0d2710d9abc8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yt_shape_2">
                <a:extLst>
                  <a:ext uri="{FF2B5EF4-FFF2-40B4-BE49-F238E27FC236}">
                    <a16:creationId xmlns:a16="http://schemas.microsoft.com/office/drawing/2014/main" id="{A8252248-D119-F96D-9EBD-AB97E12C1989}"/>
                  </a:ext>
                </a:extLst>
              </p:cNvPr>
              <p:cNvSpPr txBox="1"/>
              <p:nvPr/>
            </p:nvSpPr>
            <p:spPr>
              <a:xfrm>
                <a:off x="324071" y="467999"/>
                <a:ext cx="11927459" cy="2404697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>
                <a:noAutofit/>
              </a:bodyPr>
              <a:lstStyle/>
              <a:p>
                <a:pPr>
                  <a:lnSpc>
                    <a:spcPct val="140000"/>
                  </a:lnSpc>
                </a:pP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自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拋出到与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相遇上升高度为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vt</a:t>
                </a:r>
                <a:r>
                  <a:rPr lang="en-US" altLang="zh-CN" sz="2800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设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1_0f89c"/>
                  </a:rPr>
                  <a:t>两</a:t>
                </a:r>
                <a:b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</a:b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球各自抛出到相遇过程中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球速度的变化量为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取向上为正方向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1_a7068"/>
                  </a:rPr>
                  <a:t>可</a:t>
                </a:r>
                <a:b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</a:b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得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其中负号表示速度的方向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错误。</a:t>
                </a:r>
                <a:endParaRPr lang="zh-CN" altLang="en-US">
                  <a:solidFill>
                    <a:srgbClr val="C00000"/>
                  </a:solidFill>
                </a:endParaRPr>
              </a:p>
            </p:txBody>
          </p:sp>
        </mc:Choice>
        <mc:Fallback xmlns="" xmlns:a16="http://schemas.microsoft.com/office/drawing/2014/main">
          <p:sp>
            <p:nvSpPr>
              <p:cNvPr id="2" name="yt_shape_2">
                <a:extLst>
                  <a:ext uri="{FF2B5EF4-FFF2-40B4-BE49-F238E27FC236}">
                    <a16:creationId xmlns:a16="http://schemas.microsoft.com/office/drawing/2014/main" id="{A8252248-D119-F96D-9EBD-AB97E12C1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7459" cy="2404697"/>
              </a:xfrm>
              <a:prstGeom prst="rect">
                <a:avLst/>
              </a:prstGeom>
              <a:blipFill>
                <a:blip r:embed="rId2"/>
                <a:stretch>
                  <a:fillRect l="-1788" b="-4061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a7a8e8d8-983d-40c1-be18-bf7188ebaf90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79d180f-002e-4b93-8815-cba3babcd622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0bb42a41-f71c-4ac9-9a99-40915e627fd9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a55413df-7678-4d32-9e76-a288c598a808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472022f2-83c1-4016-b874-a035d19de14c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bbbc71fc-3f88-4878-9321-9e2f7d89852a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99c1767d-31d2-4f07-9b5b-3a51a207f670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39452c1f-839b-442a-8005-d404e2fcf825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4e218795-1abd-466e-b109-9918096f1d3d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89d0d15-0e72-4a26-8116-79fc8e645c8e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c9d5d3a9-6e5b-4094-ad48-15d73c8f8edb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c0c80676-f82b-449a-baf9-4a403c3ff1ed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6" name="yt_shape_13096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浙江台州期中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两车在平直公路上行驶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75d08"/>
              </a:rPr>
              <a:t>某时刻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两车车头平齐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如图甲所示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此后两车的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图像如图乙所示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d2608"/>
              </a:rPr>
              <a:t>下列说法正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3098" name="yt_table_13098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090439"/>
              </p:ext>
            </p:extLst>
          </p:nvPr>
        </p:nvGraphicFramePr>
        <p:xfrm>
          <a:off x="324071" y="3766292"/>
          <a:ext cx="7493000" cy="2389632"/>
        </p:xfrm>
        <a:graphic>
          <a:graphicData uri="http://schemas.openxmlformats.org/drawingml/2006/table">
            <a:tbl>
              <a:tblPr/>
              <a:tblGrid>
                <a:gridCol w="7493000">
                  <a:extLst>
                    <a:ext uri="{9D8B030D-6E8A-4147-A177-3AD203B41FA5}">
                      <a16:colId xmlns:a16="http://schemas.microsoft.com/office/drawing/2014/main" val="10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P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车的加速度大小为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Q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车在前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9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内的位移大小为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48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P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车追上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Q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车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P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车追上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Q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车前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两车在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75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时相距最远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6"/>
                  </a:ext>
                </a:extLst>
              </a:tr>
            </a:tbl>
          </a:graphicData>
        </a:graphic>
      </p:graphicFrame>
      <p:pic>
        <p:nvPicPr>
          <p:cNvPr id="13097" name="yt_image_13097_skip" title="H_247.08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5608" y="2206680"/>
            <a:ext cx="3552147" cy="155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34008" y="383425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34009" y="562166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e5a16985-40be-486f-a33f-f384efc188ea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34f46b6-5982-47be-9517-3eb411ad72bb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cd37f3e0-65e5-4c5f-9376-23ca21cdde6e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e4294168-1f36-41c9-8ad8-6af4138725cd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da7d0b8b-742b-49b0-8d5c-1669b9cd7ce2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16e139d7-5cc0-49a1-9012-5991fe1d6c8c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7cc2905c-ba8a-45ed-9039-3f56b11bb241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ed9c7ff5-1bf2-448b-b0bb-6446af274b77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473a24b2-c1ea-4ef5-aca8-a9ec95dbb300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232425ef-26dd-4d72-a9d5-daa2d3572884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5166267e-a502-422a-87f8-cebc76085d64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bb3c2522-eaf2-485f-94af-70eb4e4ffe2f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100" name="yt_shape_13100"/>
              <p:cNvSpPr txBox="1"/>
              <p:nvPr/>
            </p:nvSpPr>
            <p:spPr>
              <a:xfrm>
                <a:off x="324071" y="467999"/>
                <a:ext cx="11924914" cy="552221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由图乙可得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车的加速度大小为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7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d29d7"/>
                  </a:rPr>
                  <a:t>正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由图乙可知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停止运动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图像的面积的意义可知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0af24"/>
                  </a:rPr>
                  <a:t>内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车的位移大小为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根据上述分析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88efa"/>
                  </a:rPr>
                  <a:t>结合匀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变速直线运动规律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车的初速度为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ab6f2"/>
                  </a:rPr>
                  <a:t>P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车的位移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625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88500"/>
                  </a:rPr>
                  <a:t>错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根据追及问题的临界条件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二者速度相等时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相距最远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545c9"/>
                  </a:rPr>
                  <a:t>0</a:t>
                </a:r>
                <a:b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结合图乙可知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9dd39"/>
                  </a:rPr>
                  <a:t>代入数据解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3100" name="yt_shape_13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522217"/>
              </a:xfrm>
              <a:prstGeom prst="rect">
                <a:avLst/>
              </a:prstGeom>
              <a:blipFill>
                <a:blip r:embed="rId2"/>
                <a:stretch>
                  <a:fillRect l="-1789" b="-2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834b6d29-248a-4a0d-b235-aae0c58846f1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875adf92-1bbd-4978-812e-70a03f1a94d5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7cdfacf3-94b3-4154-b6d1-a623780e0094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294df8fb-cf68-436f-abd3-8449f7bd72ee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b01dcda-3471-4973-9b66-aad5a486ea0d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c86e21c1-3261-45df-ab87-35dad3dc12ae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ba37d40c-3bfb-41fc-a833-716827f142ee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3dfbd09c-5622-4009-9f46-e36942600dfe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775354a-7ccf-4e5a-b544-be0bf4ab95d8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51449010-1ee4-4d29-82ff-7fe2728d2e41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8785ffe3-e612-4be9-bc05-db274ccc7fad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c20faa8d-8e32-42c5-8b01-0c4c84f91933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2" name="yt_shape_13102"/>
          <p:cNvSpPr txBox="1"/>
          <p:nvPr/>
        </p:nvSpPr>
        <p:spPr>
          <a:xfrm>
            <a:off x="324071" y="4679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浙江宁波期末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某司机驾车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可视为质点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4a57f"/>
              </a:rPr>
              <a:t>沿着城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市道路以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km/h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的速度直线行驶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行驶路线与斑马线中线交于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af84f"/>
              </a:rPr>
              <a:t>车辆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距马路边沿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当汽车距离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18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3981b"/>
              </a:rPr>
              <a:t>司机发现一行人欲从路边出发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沿斑马线中央通过人行横道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已知汽车刹车的加速度大小为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88ac2"/>
              </a:rPr>
              <a:t>若该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司机的反应时间为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反应后司机立刻采取制动措施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3103" name="yt_image_13103" title="H_192.84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32132" y="3616316"/>
            <a:ext cx="5127734" cy="244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eec5dd4d-50ae-4b1a-bc8a-279062851ff3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515d6a8-5ff5-47e5-9889-2a1fcb93b5c0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d72b915-d7b8-4e43-9e5e-e4797dc9763d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03a72ac8-9cd4-4903-b910-9fe266ffed02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c07866e-c13c-44d4-813f-1b7660403ab9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2779a4b4-f57a-4061-9389-bc3a388028f0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b4d98dd-4751-41c1-8716-95fdc0cba84e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53baeb0c-a549-4e26-9670-1247280cf9a0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3aa28a91-ab2a-4c08-bc0a-5207ebe2831e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af74a737-3c24-4412-9bbf-9d8376f0f6be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7fa7b211-3bcf-4650-be38-5ddc5407cd5c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1d559106-0f6d-4478-9f1e-f8ecb682b5f5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5" name="yt_shape_13105"/>
          <p:cNvSpPr txBox="1"/>
          <p:nvPr/>
        </p:nvSpPr>
        <p:spPr>
          <a:xfrm>
            <a:off x="324000" y="467999"/>
            <a:ext cx="843820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求从司机看见行人到最终刹停汽车通过的距离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3106" name="yt_shape_13106"/>
          <p:cNvSpPr txBox="1"/>
          <p:nvPr/>
        </p:nvSpPr>
        <p:spPr>
          <a:xfrm>
            <a:off x="324000" y="1050984"/>
            <a:ext cx="225382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28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07" name="yt_shape_13107"/>
              <p:cNvSpPr txBox="1"/>
              <p:nvPr/>
            </p:nvSpPr>
            <p:spPr>
              <a:xfrm>
                <a:off x="324071" y="1633969"/>
                <a:ext cx="11924914" cy="362041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司机反应时间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这段时间内汽车匀速行驶的距离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a3e98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此后汽车开始以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的加速度做匀减速运动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停止时通过路程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e2d03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2×5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总路程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28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3107" name="yt_shape_13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1633969"/>
                <a:ext cx="11924914" cy="3620415"/>
              </a:xfrm>
              <a:prstGeom prst="rect">
                <a:avLst/>
              </a:prstGeom>
              <a:blipFill>
                <a:blip r:embed="rId2"/>
                <a:stretch>
                  <a:fillRect l="-1789" t="-673" b="-5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7db057eb-cac2-48f9-b0da-de6779750e83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d300cb9f-598b-4c6b-b59d-65d91543eaca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2c4211e2-b91b-47f3-922b-1ae0880bf4ba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d6c813a-d40a-4675-82ca-6a097d978f45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43c43a1d-ad1a-405e-97d0-d886d5571428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1b596fa-06d7-4352-9145-72d73a15f303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8be08814-b7a5-4ae9-b469-f272151f018e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ef8ac57b-a1cb-4bda-a067-e9e990a0294f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a18727c-c62c-4bd5-9f20-0b28c892b390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9810f351-1d11-4872-8f0e-cec272032c39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f28a4e2f-9d93-4928-926d-6ae1a4df6bdf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c18e2faf-cb06-42f6-8fed-74646f14b72a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6" grpId="0" build="allAtOnce"/>
      <p:bldP spid="13107" grpId="0" build="allAtOnce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9" name="yt_shape_13109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行人与司机同时发现对方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7_0e28e"/>
              </a:rPr>
              <a:t>行人在反应后立刻沿斑马线中线从静止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开始匀加速跑向对面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若行人的反应时间与司机相同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ed77c"/>
              </a:rPr>
              <a:t>要想先于汽车通过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行人的加速度大小至少为多少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3110" name="yt_shape_13110"/>
          <p:cNvSpPr txBox="1"/>
          <p:nvPr/>
        </p:nvSpPr>
        <p:spPr>
          <a:xfrm>
            <a:off x="324000" y="2257468"/>
            <a:ext cx="207428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6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11" name="yt_shape_13111"/>
              <p:cNvSpPr txBox="1"/>
              <p:nvPr/>
            </p:nvSpPr>
            <p:spPr>
              <a:xfrm>
                <a:off x="324000" y="2840453"/>
                <a:ext cx="7580601" cy="1394164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汽车刹车时距离斑马线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根据匀减速过程可以列出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</a:p>
            </p:txBody>
          </p:sp>
        </mc:Choice>
        <mc:Fallback xmlns="" xmlns:a16="http://schemas.microsoft.com/office/drawing/2014/main">
          <p:sp>
            <p:nvSpPr>
              <p:cNvPr id="13111" name="yt_shape_13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2840453"/>
                <a:ext cx="7580601" cy="1394164"/>
              </a:xfrm>
              <a:prstGeom prst="rect">
                <a:avLst/>
              </a:prstGeom>
              <a:blipFill>
                <a:blip r:embed="rId2"/>
                <a:stretch>
                  <a:fillRect l="-2814" t="-1747" r="-1688" b="-7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13" name="yt_shape_13113"/>
              <p:cNvSpPr txBox="1"/>
              <p:nvPr/>
            </p:nvSpPr>
            <p:spPr>
              <a:xfrm>
                <a:off x="324000" y="4285405"/>
                <a:ext cx="8375691" cy="1987147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以行人为研究对象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a'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L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把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L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代入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解得行人的加速度至少为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3113" name="yt_shape_13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4285405"/>
                <a:ext cx="8375691" cy="1987147"/>
              </a:xfrm>
              <a:prstGeom prst="rect">
                <a:avLst/>
              </a:prstGeom>
              <a:blipFill>
                <a:blip r:embed="rId3"/>
                <a:stretch>
                  <a:fillRect l="-2547" t="-1227" r="-1528" b="-10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1a3ce2d4-dbf5-4d60-b058-2e18f4da42d1" descr="{&quot;SlideID&quot;:&quot;325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671a558-2d42-4266-a76b-95cd1d24911f" descr="{&quot;SlideID&quot;:&quot;326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8ad8d83-423a-4607-b3b8-d465c2b70feb" descr="{&quot;SlideID&quot;:&quot;327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81fed201-3d94-4aed-b535-cf8cb17f251a" descr="{&quot;SlideID&quot;:&quot;328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8527e3e1-49a9-4c35-84a3-ebffe1bff4b9" descr="{&quot;SlideID&quot;:&quot;329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f762fe2a-675c-406d-bfcf-6f682f8d1328" descr="{&quot;SlideID&quot;:&quot;33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63cc16fd-2056-449c-98a8-68e96d5369b6" descr="{&quot;SlideID&quot;:&quot;331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5fa767f-32ec-4c01-b89e-963729afd51f" descr="{&quot;SlideID&quot;:&quot;332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3f87a2a-686a-45d8-b16a-587cb5e4aa56" descr="{&quot;SlideID&quot;:&quot;333&quot;,&quot;SlideNumber&quot;:&quot;5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82926e0-65bc-40e4-ab5e-99d8fb6f8fce" descr="{&quot;SlideID&quot;:&quot;334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c153edcc-d559-45d6-be69-6000723f737e" descr="{&quot;SlideID&quot;:&quot;335&quot;,&quot;SlideNumber&quot;:&quot;61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6e1e0ded-ebe7-4d9f-b70c-b2f89100ea04" descr="{&quot;SlideID&quot;:&quot;336&quot;,&quot;SlideNumber&quot;:&quot;64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10" grpId="0" build="allAtOnce"/>
      <p:bldP spid="13111" grpId="0" build="allAtOnce"/>
      <p:bldP spid="13113" grpId="0" build="allAtOnce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5" name="yt_shape_13115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北京丰台区期中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在某一长直的公路上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97425"/>
              </a:rPr>
              <a:t>一辆静止的轿车前方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处有一货车正以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的速度匀速前进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这时轿车从静止出发以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8a6a4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的加速度追赶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sp>
        <p:nvSpPr>
          <p:cNvPr id="13116" name="yt_shape_13116"/>
          <p:cNvSpPr txBox="1"/>
          <p:nvPr/>
        </p:nvSpPr>
        <p:spPr>
          <a:xfrm>
            <a:off x="324000" y="2257468"/>
            <a:ext cx="556562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轿车出发后追上货车的时间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3117" name="yt_shape_13117"/>
          <p:cNvSpPr txBox="1"/>
          <p:nvPr/>
        </p:nvSpPr>
        <p:spPr>
          <a:xfrm>
            <a:off x="324000" y="2840453"/>
            <a:ext cx="175528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20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18" name="yt_shape_13118"/>
              <p:cNvSpPr txBox="1"/>
              <p:nvPr/>
            </p:nvSpPr>
            <p:spPr>
              <a:xfrm>
                <a:off x="324000" y="3423438"/>
                <a:ext cx="10339369" cy="1987147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设轿车出发后经过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时间追上货车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轿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轿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货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或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舍去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5="http://schemas.microsoft.com/office/powerpoint/2012/main">
          <p:sp>
            <p:nvSpPr>
              <p:cNvPr id="13118" name="yt_shape_13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3423438"/>
                <a:ext cx="10339369" cy="1987147"/>
              </a:xfrm>
              <a:prstGeom prst="rect">
                <a:avLst/>
              </a:prstGeom>
              <a:blipFill>
                <a:blip r:embed="rId2"/>
                <a:stretch>
                  <a:fillRect l="-2064" t="-1227" r="-1002" b="-10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b278fd82-85f5-4cb9-8b5f-48424b2a29b8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4deb84ba-cb79-4caf-aff3-1faff98016dd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76fccd0-a63a-46e2-a37f-fb19aff848fe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27de42b-cac4-497c-bfb3-c38e91d4dab8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6857386-3ecb-48bf-b933-d30885411878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4a9fc2b-db9a-4c31-9ffa-1e092001e461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83c2a2bc-3c56-4d25-8f12-1fdb6d1c62f1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43383b8d-7be2-4505-80c1-bdec11aaca09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9604b20-a2b0-4ff4-bc88-5fec90c733d3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3230da35-dcaa-4e7a-8a28-f9fde2684c1d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d96eb2d1-5a2e-44b4-9423-a8fb3f2b1eb3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ae058b27-2609-425c-8166-e7e5393806b4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17" grpId="0" build="allAtOnce"/>
      <p:bldP spid="13118" grpId="0" build="allAtOnce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2" name="yt_shape_13122"/>
          <p:cNvSpPr txBox="1"/>
          <p:nvPr/>
        </p:nvSpPr>
        <p:spPr>
          <a:xfrm>
            <a:off x="267086" y="1727632"/>
            <a:ext cx="11543998" cy="53219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轿车追上货车前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当两车速度相等时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两车相距最远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则有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at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</a:p>
        </p:txBody>
      </p:sp>
      <p:sp>
        <p:nvSpPr>
          <p:cNvPr id="13123" name="yt_shape_13123"/>
          <p:cNvSpPr txBox="1"/>
          <p:nvPr/>
        </p:nvSpPr>
        <p:spPr>
          <a:xfrm>
            <a:off x="267015" y="2310617"/>
            <a:ext cx="5435783" cy="113543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可知经过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轿车与货车相距最远。</a:t>
            </a:r>
          </a:p>
        </p:txBody>
      </p:sp>
      <p:sp>
        <p:nvSpPr>
          <p:cNvPr id="13124" name="yt_shape_13124"/>
          <p:cNvSpPr txBox="1"/>
          <p:nvPr/>
        </p:nvSpPr>
        <p:spPr>
          <a:xfrm>
            <a:off x="267086" y="3496844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当轿车刚追上货车时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轿车司机立即刹车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使轿车以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d29f1"/>
              </a:rPr>
              <a:t>的加速度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做匀减速直线运动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分析说明轿车停止前两车可否再次相遇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3125" name="yt_shape_13125"/>
          <p:cNvSpPr txBox="1"/>
          <p:nvPr/>
        </p:nvSpPr>
        <p:spPr>
          <a:xfrm>
            <a:off x="267015" y="4663900"/>
            <a:ext cx="215443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见解析</a:t>
            </a:r>
          </a:p>
        </p:txBody>
      </p:sp>
      <p:sp>
        <p:nvSpPr>
          <p:cNvPr id="6" name="yt_shape_13120"/>
          <p:cNvSpPr txBox="1"/>
          <p:nvPr/>
        </p:nvSpPr>
        <p:spPr>
          <a:xfrm>
            <a:off x="267015" y="509788"/>
            <a:ext cx="879728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轿车追上货车前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经过多长时间与货车相距最远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7" name="yt_shape_13121"/>
          <p:cNvSpPr txBox="1"/>
          <p:nvPr/>
        </p:nvSpPr>
        <p:spPr>
          <a:xfrm>
            <a:off x="267015" y="1118709"/>
            <a:ext cx="193482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1c3d66fd-41a5-4754-80b8-44b6177c7c14" descr="{&quot;SlideID&quot;:&quot;325&quot;,&quot;SlideNumber&quot;:&quot;40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85bb13c-2c6c-48f3-994a-0fe73eb773bf" descr="{&quot;SlideID&quot;:&quot;326&quot;,&quot;SlideNumber&quot;:&quot;4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371223df-201d-4960-a4f9-2cb0ba31407c" descr="{&quot;SlideID&quot;:&quot;327&quot;,&quot;SlideNumber&quot;:&quot;4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69468c3-5c4d-4eed-a717-eedada68dcb8" descr="{&quot;SlideID&quot;:&quot;328&quot;,&quot;SlideNumber&quot;:&quot;4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14f29e95-5ca3-44c3-9dcc-02a1cf83bd45" descr="{&quot;SlideID&quot;:&quot;329&quot;,&quot;SlideNumber&quot;:&quot;4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b999643b-427e-4d2a-899e-ff9c23bb7850" descr="{&quot;SlideID&quot;:&quot;330&quot;,&quot;SlideNumber&quot;:&quot;5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49c605bf-a2c5-4bf4-9a86-673bda679f43" descr="{&quot;SlideID&quot;:&quot;331&quot;,&quot;SlideNumber&quot;:&quot;5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fd2153e-ca35-4845-bb8c-cc17350ed2df" descr="{&quot;SlideID&quot;:&quot;332&quot;,&quot;SlideNumber&quot;:&quot;5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fb0e326-7b53-4b59-b8ce-8291c73c15ee" descr="{&quot;SlideID&quot;:&quot;333&quot;,&quot;SlideNumber&quot;:&quot;5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5eb6121d-cd91-4a09-8883-9bf0ea4ae33a" descr="{&quot;SlideID&quot;:&quot;334&quot;,&quot;SlideNumber&quot;:&quot;5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da5678f8-af26-40e1-8dd3-242cefead1bc" descr="{&quot;SlideID&quot;:&quot;335&quot;,&quot;SlideNumber&quot;:&quot;6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e535ffec-df3e-4cd2-b1ad-8629a1be09df" descr="{&quot;SlideID&quot;:&quot;336&quot;,&quot;SlideNumber&quot;:&quot;6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22" grpId="0" build="allAtOnce"/>
      <p:bldP spid="13123" grpId="0" build="allAtOnce"/>
      <p:bldP spid="13125" grpId="0" build="allAtOnce"/>
      <p:bldP spid="7" grpId="0" build="allAtOnce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126" name="yt_shape_13126"/>
              <p:cNvSpPr txBox="1"/>
              <p:nvPr/>
            </p:nvSpPr>
            <p:spPr>
              <a:xfrm>
                <a:off x="324000" y="467999"/>
                <a:ext cx="9549089" cy="4651145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当轿车刚追上货车时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轿车速度为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轿车司机立即刹车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从刹车到停下所用时间为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′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轿车刹车到停下通过的位移大小为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轿车刹车过程货车通过的位移为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货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货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货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可知轿车停止前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两车不会再次相遇。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3126" name="yt_shape_13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467999"/>
                <a:ext cx="9549089" cy="4651145"/>
              </a:xfrm>
              <a:prstGeom prst="rect">
                <a:avLst/>
              </a:prstGeom>
              <a:blipFill>
                <a:blip r:embed="rId2"/>
                <a:stretch>
                  <a:fillRect l="-2234" t="-524" r="-1149" b="-3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9566ff1a-1948-4c1b-9239-9a11b7feace6" descr="{&quot;SlideID&quot;:&quot;325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d57fe0af-e90d-46b1-a4ea-bb75d5f93814" descr="{&quot;SlideID&quot;:&quot;326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2dd8e172-a0d8-46a1-9938-c108f8cc6921" descr="{&quot;SlideID&quot;:&quot;327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e36aeeb0-2011-42c3-8107-41b026858ece" descr="{&quot;SlideID&quot;:&quot;328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0f551ff7-38c5-4d6d-ab7f-3027a69b3717" descr="{&quot;SlideID&quot;:&quot;329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cba6854e-4425-4967-a5eb-f2795cd4983f" descr="{&quot;SlideID&quot;:&quot;33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2ea45789-1261-4665-8954-30f24f00ff2f" descr="{&quot;SlideID&quot;:&quot;331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1921d7a0-e7f0-4e8b-9200-7489b3e6a742" descr="{&quot;SlideID&quot;:&quot;332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9551560-aeb0-4a85-be36-4c3828d217f5" descr="{&quot;SlideID&quot;:&quot;333&quot;,&quot;SlideNumber&quot;:&quot;5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6b6f62d-b734-4866-8c6f-0cf6759362c1" descr="{&quot;SlideID&quot;:&quot;334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af082a4b-1b51-4ba4-9434-ffcb19ce8286" descr="{&quot;SlideID&quot;:&quot;335&quot;,&quot;SlideNumber&quot;:&quot;6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a72c9454-08aa-462c-a36b-45e7d9b770bf" descr="{&quot;SlideID&quot;:&quot;336&quot;,&quot;SlideNumber&quot;:&quot;6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68" y="-223206"/>
            <a:ext cx="7614606" cy="761460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0" y="1917700"/>
            <a:ext cx="12192000" cy="266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95"/>
          <a:stretch/>
        </p:blipFill>
        <p:spPr>
          <a:xfrm>
            <a:off x="6005768" y="1917700"/>
            <a:ext cx="6563872" cy="351427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C2CE74F-02DD-4AC0-A86F-3C8DF00FACEC}"/>
              </a:ext>
            </a:extLst>
          </p:cNvPr>
          <p:cNvSpPr txBox="1"/>
          <p:nvPr/>
        </p:nvSpPr>
        <p:spPr>
          <a:xfrm>
            <a:off x="181430" y="2383972"/>
            <a:ext cx="631371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11000" b="1" i="0" u="none" strike="noStrike" kern="1200" normalizeH="0" baseline="0" noProof="0" dirty="0">
                <a:ln w="10160">
                  <a:solidFill>
                    <a:schemeClr val="bg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Impact" panose="020B0806030902050204" pitchFamily="34" charset="0"/>
                <a:ea typeface="宋体" pitchFamily="2" charset="-122"/>
                <a:cs typeface="+mn-cs"/>
              </a:rPr>
              <a:t>THANKS</a:t>
            </a:r>
            <a:endParaRPr kumimoji="0" lang="zh-CN" altLang="en-US" sz="11000" b="1" i="0" u="none" strike="noStrike" kern="1200" normalizeH="0" baseline="0" noProof="0" dirty="0">
              <a:ln w="10160">
                <a:solidFill>
                  <a:schemeClr val="bg2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Impact" panose="020B080603090205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TextBox 32"/>
          <p:cNvSpPr txBox="1"/>
          <p:nvPr/>
        </p:nvSpPr>
        <p:spPr>
          <a:xfrm>
            <a:off x="6119586" y="1884101"/>
            <a:ext cx="6313715" cy="2047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50" endPos="85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演示完毕 </a:t>
            </a:r>
            <a:endParaRPr lang="en-US" altLang="zh-CN" sz="4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50" endPos="850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50" endPos="85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2ac376aa-22ce-4493-8d2e-3a464d6bd080" descr="{&quot;SlideID&quot;:&quot;325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e9e07041-137b-471f-ba48-9735ed657790" descr="{&quot;SlideID&quot;:&quot;326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51e037c-3dea-4d77-a433-1c1bbefa176c" descr="{&quot;SlideID&quot;:&quot;327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c9616c50-af9e-427a-a88e-1efdb7df5436" descr="{&quot;SlideID&quot;:&quot;328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71597c3e-c129-4ac3-a949-6038a148ae07" descr="{&quot;SlideID&quot;:&quot;329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3b5dcde4-7725-4429-8967-2adec7561839" descr="{&quot;SlideID&quot;:&quot;33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1591b8cc-8cf9-44d6-9329-b4f958b86553" descr="{&quot;SlideID&quot;:&quot;331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ac1e241d-4ddf-4af0-9030-ce67f6d8d5da" descr="{&quot;SlideID&quot;:&quot;332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6899b7a6-63ef-4030-a43e-88892dfc2870" descr="{&quot;SlideID&quot;:&quot;333&quot;,&quot;SlideNumber&quot;:&quot;5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62b6209d-c7fc-496b-bf70-4ba24c8ebbc4" descr="{&quot;SlideID&quot;:&quot;334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283b9f0f-763c-45b9-96eb-c57ff736b449" descr="{&quot;SlideID&quot;:&quot;335&quot;,&quot;SlideNumber&quot;:&quot;61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217ccbb7-8435-4d59-96f2-de924224e5ea" descr="{&quot;SlideID&quot;:&quot;336&quot;,&quot;SlideNumber&quot;:&quot;64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92291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airplan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1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7997</Words>
  <Application>Microsoft Macintosh PowerPoint</Application>
  <PresentationFormat>Widescreen</PresentationFormat>
  <Paragraphs>607</Paragraphs>
  <Slides>64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8" baseType="lpstr">
      <vt:lpstr>方正新报宋_GBK</vt:lpstr>
      <vt:lpstr>等线</vt:lpstr>
      <vt:lpstr>仿宋</vt:lpstr>
      <vt:lpstr>Microsoft YaHei</vt:lpstr>
      <vt:lpstr>Microsoft YaHei</vt:lpstr>
      <vt:lpstr>黑体</vt:lpstr>
      <vt:lpstr>宋体</vt:lpstr>
      <vt:lpstr>华文细黑</vt:lpstr>
      <vt:lpstr>Arial</vt:lpstr>
      <vt:lpstr>Calibri</vt:lpstr>
      <vt:lpstr>Cambria Math</vt:lpstr>
      <vt:lpstr>Impact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Xingyu Shu</cp:lastModifiedBy>
  <cp:revision>125</cp:revision>
  <dcterms:created xsi:type="dcterms:W3CDTF">2025-12-05T00:48:51Z</dcterms:created>
  <dcterms:modified xsi:type="dcterms:W3CDTF">2026-09-29T01:11:19Z</dcterms:modified>
</cp:coreProperties>
</file>