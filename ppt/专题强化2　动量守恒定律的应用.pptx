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8" r:id="rId4"/>
    <p:sldId id="269" r:id="rId5"/>
    <p:sldId id="270" r:id="rId6"/>
    <p:sldId id="300" r:id="rId7"/>
    <p:sldId id="271" r:id="rId8"/>
    <p:sldId id="262" r:id="rId9"/>
    <p:sldId id="272" r:id="rId10"/>
    <p:sldId id="273" r:id="rId11"/>
    <p:sldId id="289" r:id="rId12"/>
    <p:sldId id="274" r:id="rId13"/>
    <p:sldId id="290" r:id="rId14"/>
    <p:sldId id="275" r:id="rId15"/>
    <p:sldId id="299" r:id="rId16"/>
    <p:sldId id="264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311" r:id="rId28"/>
    <p:sldId id="312" r:id="rId29"/>
    <p:sldId id="313" r:id="rId30"/>
    <p:sldId id="314" r:id="rId31"/>
    <p:sldId id="315" r:id="rId32"/>
    <p:sldId id="316" r:id="rId33"/>
    <p:sldId id="317" r:id="rId34"/>
    <p:sldId id="318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3F00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389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0724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4679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6"/>
          <p:cNvSpPr txBox="1"/>
          <p:nvPr userDrawn="1"/>
        </p:nvSpPr>
        <p:spPr>
          <a:xfrm>
            <a:off x="706382" y="28047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>
                <a:solidFill>
                  <a:srgbClr val="476575"/>
                </a:solidFill>
              </a:defRPr>
            </a:defPPr>
            <a:lvl1pPr marL="0" algn="l" defTabSz="913765" rtl="0" eaLnBrk="1" latinLnBrk="0" hangingPunct="1">
              <a:defRPr sz="1900" kern="1200">
                <a:solidFill>
                  <a:srgbClr val="476575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rgbClr val="476575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rgbClr val="476575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rgbClr val="476575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rgbClr val="476575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rgbClr val="476575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rgbClr val="476575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rgbClr val="476575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rgbClr val="476575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476575"/>
                </a:solidFill>
              </a:defRPr>
            </a:pPr>
            <a:r>
              <a:rPr kumimoji="0" lang="zh-CN" altLang="en-US" sz="1400" b="1" i="0" u="none" strike="noStrike" kern="1200" cap="none" spc="0" normalizeH="0" baseline="0" noProof="0" dirty="0">
                <a:solidFill>
                  <a:srgbClr val="476575"/>
                </a:solidFill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物理</a:t>
            </a:r>
            <a:r>
              <a:rPr kumimoji="0" lang="en-US" altLang="zh-CN" sz="1400" b="1" i="0" u="none" strike="noStrike" kern="1200" cap="none" spc="0" normalizeH="0" baseline="0" noProof="0" dirty="0">
                <a:solidFill>
                  <a:srgbClr val="476575"/>
                </a:solidFill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 dirty="0">
                <a:solidFill>
                  <a:srgbClr val="476575"/>
                </a:solidFill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选择性必修第一册</a:t>
            </a:r>
          </a:p>
        </p:txBody>
      </p:sp>
    </p:spTree>
    <p:extLst>
      <p:ext uri="{BB962C8B-B14F-4D97-AF65-F5344CB8AC3E}">
        <p14:creationId xmlns:p14="http://schemas.microsoft.com/office/powerpoint/2010/main" val="3276152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805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0532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369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1" r:id="rId3"/>
    <p:sldLayoutId id="2147483650" r:id="rId4"/>
    <p:sldLayoutId id="214748365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slide" Target="slide31.xml"/><Relationship Id="rId3" Type="http://schemas.openxmlformats.org/officeDocument/2006/relationships/image" Target="../media/image9.png"/><Relationship Id="rId7" Type="http://schemas.openxmlformats.org/officeDocument/2006/relationships/slide" Target="slide21.xml"/><Relationship Id="rId12" Type="http://schemas.openxmlformats.org/officeDocument/2006/relationships/slide" Target="slide29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0.xml"/><Relationship Id="rId11" Type="http://schemas.openxmlformats.org/officeDocument/2006/relationships/slide" Target="slide27.xml"/><Relationship Id="rId5" Type="http://schemas.openxmlformats.org/officeDocument/2006/relationships/slide" Target="slide19.xml"/><Relationship Id="rId10" Type="http://schemas.openxmlformats.org/officeDocument/2006/relationships/slide" Target="slide25.xml"/><Relationship Id="rId4" Type="http://schemas.openxmlformats.org/officeDocument/2006/relationships/slide" Target="slide17.xml"/><Relationship Id="rId9" Type="http://schemas.openxmlformats.org/officeDocument/2006/relationships/slide" Target="slide2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3" Type="http://schemas.openxmlformats.org/officeDocument/2006/relationships/slide" Target="slide19.xml"/><Relationship Id="rId7" Type="http://schemas.openxmlformats.org/officeDocument/2006/relationships/slide" Target="slide23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2.xml"/><Relationship Id="rId11" Type="http://schemas.openxmlformats.org/officeDocument/2006/relationships/slide" Target="slide31.xml"/><Relationship Id="rId5" Type="http://schemas.openxmlformats.org/officeDocument/2006/relationships/slide" Target="slide21.xml"/><Relationship Id="rId10" Type="http://schemas.openxmlformats.org/officeDocument/2006/relationships/slide" Target="slide29.xml"/><Relationship Id="rId4" Type="http://schemas.openxmlformats.org/officeDocument/2006/relationships/slide" Target="slide20.xml"/><Relationship Id="rId9" Type="http://schemas.openxmlformats.org/officeDocument/2006/relationships/slide" Target="slide2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3" Type="http://schemas.openxmlformats.org/officeDocument/2006/relationships/slide" Target="slide17.xml"/><Relationship Id="rId7" Type="http://schemas.openxmlformats.org/officeDocument/2006/relationships/slide" Target="slide22.xml"/><Relationship Id="rId12" Type="http://schemas.openxmlformats.org/officeDocument/2006/relationships/slide" Target="slide3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1.xml"/><Relationship Id="rId11" Type="http://schemas.openxmlformats.org/officeDocument/2006/relationships/slide" Target="slide29.xml"/><Relationship Id="rId5" Type="http://schemas.openxmlformats.org/officeDocument/2006/relationships/slide" Target="slide20.xml"/><Relationship Id="rId10" Type="http://schemas.openxmlformats.org/officeDocument/2006/relationships/slide" Target="slide27.xml"/><Relationship Id="rId4" Type="http://schemas.openxmlformats.org/officeDocument/2006/relationships/slide" Target="slide19.xml"/><Relationship Id="rId9" Type="http://schemas.openxmlformats.org/officeDocument/2006/relationships/slide" Target="slide2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3" Type="http://schemas.openxmlformats.org/officeDocument/2006/relationships/slide" Target="slide17.xml"/><Relationship Id="rId7" Type="http://schemas.openxmlformats.org/officeDocument/2006/relationships/slide" Target="slide22.xml"/><Relationship Id="rId12" Type="http://schemas.openxmlformats.org/officeDocument/2006/relationships/slide" Target="slide3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1.xml"/><Relationship Id="rId11" Type="http://schemas.openxmlformats.org/officeDocument/2006/relationships/slide" Target="slide29.xml"/><Relationship Id="rId5" Type="http://schemas.openxmlformats.org/officeDocument/2006/relationships/slide" Target="slide20.xml"/><Relationship Id="rId10" Type="http://schemas.openxmlformats.org/officeDocument/2006/relationships/slide" Target="slide27.xml"/><Relationship Id="rId4" Type="http://schemas.openxmlformats.org/officeDocument/2006/relationships/slide" Target="slide19.xml"/><Relationship Id="rId9" Type="http://schemas.openxmlformats.org/officeDocument/2006/relationships/slide" Target="slide2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13" Type="http://schemas.openxmlformats.org/officeDocument/2006/relationships/slide" Target="slide29.xml"/><Relationship Id="rId3" Type="http://schemas.openxmlformats.org/officeDocument/2006/relationships/image" Target="../media/image13.png"/><Relationship Id="rId7" Type="http://schemas.openxmlformats.org/officeDocument/2006/relationships/slide" Target="slide20.xml"/><Relationship Id="rId12" Type="http://schemas.openxmlformats.org/officeDocument/2006/relationships/slide" Target="slide27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slide" Target="slide19.xml"/><Relationship Id="rId11" Type="http://schemas.openxmlformats.org/officeDocument/2006/relationships/slide" Target="slide25.xml"/><Relationship Id="rId5" Type="http://schemas.openxmlformats.org/officeDocument/2006/relationships/slide" Target="slide17.xml"/><Relationship Id="rId10" Type="http://schemas.openxmlformats.org/officeDocument/2006/relationships/slide" Target="slide23.xml"/><Relationship Id="rId4" Type="http://schemas.openxmlformats.org/officeDocument/2006/relationships/image" Target="../media/image17.png"/><Relationship Id="rId9" Type="http://schemas.openxmlformats.org/officeDocument/2006/relationships/slide" Target="slide22.xml"/><Relationship Id="rId14" Type="http://schemas.openxmlformats.org/officeDocument/2006/relationships/slide" Target="slide3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slide" Target="slide31.xml"/><Relationship Id="rId3" Type="http://schemas.openxmlformats.org/officeDocument/2006/relationships/image" Target="../media/image18.png"/><Relationship Id="rId7" Type="http://schemas.openxmlformats.org/officeDocument/2006/relationships/slide" Target="slide21.xml"/><Relationship Id="rId12" Type="http://schemas.openxmlformats.org/officeDocument/2006/relationships/slide" Target="slide29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0.xml"/><Relationship Id="rId11" Type="http://schemas.openxmlformats.org/officeDocument/2006/relationships/slide" Target="slide27.xml"/><Relationship Id="rId5" Type="http://schemas.openxmlformats.org/officeDocument/2006/relationships/slide" Target="slide19.xml"/><Relationship Id="rId10" Type="http://schemas.openxmlformats.org/officeDocument/2006/relationships/slide" Target="slide25.xml"/><Relationship Id="rId4" Type="http://schemas.openxmlformats.org/officeDocument/2006/relationships/slide" Target="slide17.xml"/><Relationship Id="rId9" Type="http://schemas.openxmlformats.org/officeDocument/2006/relationships/slide" Target="slide2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3" Type="http://schemas.openxmlformats.org/officeDocument/2006/relationships/slide" Target="slide17.xml"/><Relationship Id="rId7" Type="http://schemas.openxmlformats.org/officeDocument/2006/relationships/slide" Target="slide22.xml"/><Relationship Id="rId12" Type="http://schemas.openxmlformats.org/officeDocument/2006/relationships/slide" Target="slide3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1.xml"/><Relationship Id="rId11" Type="http://schemas.openxmlformats.org/officeDocument/2006/relationships/slide" Target="slide29.xml"/><Relationship Id="rId5" Type="http://schemas.openxmlformats.org/officeDocument/2006/relationships/slide" Target="slide20.xml"/><Relationship Id="rId10" Type="http://schemas.openxmlformats.org/officeDocument/2006/relationships/slide" Target="slide27.xml"/><Relationship Id="rId4" Type="http://schemas.openxmlformats.org/officeDocument/2006/relationships/slide" Target="slide19.xml"/><Relationship Id="rId9" Type="http://schemas.openxmlformats.org/officeDocument/2006/relationships/slide" Target="slide2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3" Type="http://schemas.openxmlformats.org/officeDocument/2006/relationships/slide" Target="slide19.xml"/><Relationship Id="rId7" Type="http://schemas.openxmlformats.org/officeDocument/2006/relationships/slide" Target="slide23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2.xml"/><Relationship Id="rId11" Type="http://schemas.openxmlformats.org/officeDocument/2006/relationships/slide" Target="slide31.xml"/><Relationship Id="rId5" Type="http://schemas.openxmlformats.org/officeDocument/2006/relationships/slide" Target="slide21.xml"/><Relationship Id="rId10" Type="http://schemas.openxmlformats.org/officeDocument/2006/relationships/slide" Target="slide29.xml"/><Relationship Id="rId4" Type="http://schemas.openxmlformats.org/officeDocument/2006/relationships/slide" Target="slide20.xml"/><Relationship Id="rId9" Type="http://schemas.openxmlformats.org/officeDocument/2006/relationships/slide" Target="slide2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slide" Target="slide31.xml"/><Relationship Id="rId3" Type="http://schemas.openxmlformats.org/officeDocument/2006/relationships/image" Target="../media/image16.png"/><Relationship Id="rId7" Type="http://schemas.openxmlformats.org/officeDocument/2006/relationships/slide" Target="slide21.xml"/><Relationship Id="rId12" Type="http://schemas.openxmlformats.org/officeDocument/2006/relationships/slide" Target="slide29.xml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0.xml"/><Relationship Id="rId11" Type="http://schemas.openxmlformats.org/officeDocument/2006/relationships/slide" Target="slide27.xml"/><Relationship Id="rId5" Type="http://schemas.openxmlformats.org/officeDocument/2006/relationships/slide" Target="slide19.xml"/><Relationship Id="rId10" Type="http://schemas.openxmlformats.org/officeDocument/2006/relationships/slide" Target="slide25.xml"/><Relationship Id="rId4" Type="http://schemas.openxmlformats.org/officeDocument/2006/relationships/slide" Target="slide17.xml"/><Relationship Id="rId9" Type="http://schemas.openxmlformats.org/officeDocument/2006/relationships/slide" Target="slide2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slide" Target="slide31.xml"/><Relationship Id="rId3" Type="http://schemas.openxmlformats.org/officeDocument/2006/relationships/image" Target="../media/image22.png"/><Relationship Id="rId7" Type="http://schemas.openxmlformats.org/officeDocument/2006/relationships/slide" Target="slide21.xml"/><Relationship Id="rId12" Type="http://schemas.openxmlformats.org/officeDocument/2006/relationships/slide" Target="slide29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0.xml"/><Relationship Id="rId11" Type="http://schemas.openxmlformats.org/officeDocument/2006/relationships/slide" Target="slide27.xml"/><Relationship Id="rId5" Type="http://schemas.openxmlformats.org/officeDocument/2006/relationships/slide" Target="slide19.xml"/><Relationship Id="rId10" Type="http://schemas.openxmlformats.org/officeDocument/2006/relationships/slide" Target="slide25.xml"/><Relationship Id="rId4" Type="http://schemas.openxmlformats.org/officeDocument/2006/relationships/slide" Target="slide17.xml"/><Relationship Id="rId9" Type="http://schemas.openxmlformats.org/officeDocument/2006/relationships/slide" Target="slide2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slide" Target="slide31.xml"/><Relationship Id="rId3" Type="http://schemas.openxmlformats.org/officeDocument/2006/relationships/image" Target="../media/image20.png"/><Relationship Id="rId7" Type="http://schemas.openxmlformats.org/officeDocument/2006/relationships/slide" Target="slide21.xml"/><Relationship Id="rId12" Type="http://schemas.openxmlformats.org/officeDocument/2006/relationships/slide" Target="slide29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0.xml"/><Relationship Id="rId11" Type="http://schemas.openxmlformats.org/officeDocument/2006/relationships/slide" Target="slide27.xml"/><Relationship Id="rId5" Type="http://schemas.openxmlformats.org/officeDocument/2006/relationships/slide" Target="slide19.xml"/><Relationship Id="rId10" Type="http://schemas.openxmlformats.org/officeDocument/2006/relationships/slide" Target="slide25.xml"/><Relationship Id="rId4" Type="http://schemas.openxmlformats.org/officeDocument/2006/relationships/slide" Target="slide17.xml"/><Relationship Id="rId9" Type="http://schemas.openxmlformats.org/officeDocument/2006/relationships/slide" Target="slide2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3" Type="http://schemas.openxmlformats.org/officeDocument/2006/relationships/slide" Target="slide17.xml"/><Relationship Id="rId7" Type="http://schemas.openxmlformats.org/officeDocument/2006/relationships/slide" Target="slide22.xml"/><Relationship Id="rId12" Type="http://schemas.openxmlformats.org/officeDocument/2006/relationships/slide" Target="slide3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1.xml"/><Relationship Id="rId11" Type="http://schemas.openxmlformats.org/officeDocument/2006/relationships/slide" Target="slide29.xml"/><Relationship Id="rId5" Type="http://schemas.openxmlformats.org/officeDocument/2006/relationships/slide" Target="slide20.xml"/><Relationship Id="rId10" Type="http://schemas.openxmlformats.org/officeDocument/2006/relationships/slide" Target="slide27.xml"/><Relationship Id="rId4" Type="http://schemas.openxmlformats.org/officeDocument/2006/relationships/slide" Target="slide19.xml"/><Relationship Id="rId9" Type="http://schemas.openxmlformats.org/officeDocument/2006/relationships/slide" Target="slide2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slide" Target="slide31.xml"/><Relationship Id="rId3" Type="http://schemas.openxmlformats.org/officeDocument/2006/relationships/image" Target="../media/image24.png"/><Relationship Id="rId7" Type="http://schemas.openxmlformats.org/officeDocument/2006/relationships/slide" Target="slide21.xml"/><Relationship Id="rId12" Type="http://schemas.openxmlformats.org/officeDocument/2006/relationships/slide" Target="slide29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0.xml"/><Relationship Id="rId11" Type="http://schemas.openxmlformats.org/officeDocument/2006/relationships/slide" Target="slide27.xml"/><Relationship Id="rId5" Type="http://schemas.openxmlformats.org/officeDocument/2006/relationships/slide" Target="slide19.xml"/><Relationship Id="rId10" Type="http://schemas.openxmlformats.org/officeDocument/2006/relationships/slide" Target="slide25.xml"/><Relationship Id="rId4" Type="http://schemas.openxmlformats.org/officeDocument/2006/relationships/slide" Target="slide17.xml"/><Relationship Id="rId9" Type="http://schemas.openxmlformats.org/officeDocument/2006/relationships/slide" Target="slide2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3" Type="http://schemas.openxmlformats.org/officeDocument/2006/relationships/slide" Target="slide17.xml"/><Relationship Id="rId7" Type="http://schemas.openxmlformats.org/officeDocument/2006/relationships/slide" Target="slide22.xml"/><Relationship Id="rId12" Type="http://schemas.openxmlformats.org/officeDocument/2006/relationships/slide" Target="slide31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1.xml"/><Relationship Id="rId11" Type="http://schemas.openxmlformats.org/officeDocument/2006/relationships/slide" Target="slide29.xml"/><Relationship Id="rId5" Type="http://schemas.openxmlformats.org/officeDocument/2006/relationships/slide" Target="slide20.xml"/><Relationship Id="rId10" Type="http://schemas.openxmlformats.org/officeDocument/2006/relationships/slide" Target="slide27.xml"/><Relationship Id="rId4" Type="http://schemas.openxmlformats.org/officeDocument/2006/relationships/slide" Target="slide19.xml"/><Relationship Id="rId9" Type="http://schemas.openxmlformats.org/officeDocument/2006/relationships/slide" Target="slide2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3" Type="http://schemas.openxmlformats.org/officeDocument/2006/relationships/slide" Target="slide17.xml"/><Relationship Id="rId7" Type="http://schemas.openxmlformats.org/officeDocument/2006/relationships/slide" Target="slide22.xml"/><Relationship Id="rId12" Type="http://schemas.openxmlformats.org/officeDocument/2006/relationships/slide" Target="slide31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1.xml"/><Relationship Id="rId11" Type="http://schemas.openxmlformats.org/officeDocument/2006/relationships/slide" Target="slide29.xml"/><Relationship Id="rId5" Type="http://schemas.openxmlformats.org/officeDocument/2006/relationships/slide" Target="slide20.xml"/><Relationship Id="rId10" Type="http://schemas.openxmlformats.org/officeDocument/2006/relationships/slide" Target="slide27.xml"/><Relationship Id="rId4" Type="http://schemas.openxmlformats.org/officeDocument/2006/relationships/slide" Target="slide19.xml"/><Relationship Id="rId9" Type="http://schemas.openxmlformats.org/officeDocument/2006/relationships/slide" Target="slide25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3" Type="http://schemas.openxmlformats.org/officeDocument/2006/relationships/slide" Target="slide19.xml"/><Relationship Id="rId7" Type="http://schemas.openxmlformats.org/officeDocument/2006/relationships/slide" Target="slide23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2.xml"/><Relationship Id="rId11" Type="http://schemas.openxmlformats.org/officeDocument/2006/relationships/slide" Target="slide31.xml"/><Relationship Id="rId5" Type="http://schemas.openxmlformats.org/officeDocument/2006/relationships/slide" Target="slide21.xml"/><Relationship Id="rId10" Type="http://schemas.openxmlformats.org/officeDocument/2006/relationships/slide" Target="slide29.xml"/><Relationship Id="rId4" Type="http://schemas.openxmlformats.org/officeDocument/2006/relationships/slide" Target="slide20.xml"/><Relationship Id="rId9" Type="http://schemas.openxmlformats.org/officeDocument/2006/relationships/slide" Target="slide2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3" Type="http://schemas.openxmlformats.org/officeDocument/2006/relationships/slide" Target="slide19.xml"/><Relationship Id="rId7" Type="http://schemas.openxmlformats.org/officeDocument/2006/relationships/slide" Target="slide23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2.xml"/><Relationship Id="rId11" Type="http://schemas.openxmlformats.org/officeDocument/2006/relationships/slide" Target="slide31.xml"/><Relationship Id="rId5" Type="http://schemas.openxmlformats.org/officeDocument/2006/relationships/slide" Target="slide21.xml"/><Relationship Id="rId10" Type="http://schemas.openxmlformats.org/officeDocument/2006/relationships/slide" Target="slide29.xml"/><Relationship Id="rId4" Type="http://schemas.openxmlformats.org/officeDocument/2006/relationships/slide" Target="slide20.xml"/><Relationship Id="rId9" Type="http://schemas.openxmlformats.org/officeDocument/2006/relationships/slide" Target="slide2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YTSlide_9_1_0.9_1.3_0.9_1.1__1_1_0_0">
    <p:bg>
      <p:bgPr>
        <a:solidFill>
          <a:srgbClr val="EA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22960" y="2633472"/>
            <a:ext cx="10561320" cy="1097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latinLnBrk="0" hangingPunct="0"/>
            <a:r>
              <a:rPr lang="zh-CN" altLang="en-US" sz="5200" b="1" dirty="0">
                <a:solidFill>
                  <a:srgbClr val="183A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专题强化2　动量守恒定律的应用</a:t>
            </a:r>
          </a:p>
        </p:txBody>
      </p:sp>
    </p:spTree>
    <p:extLst>
      <p:ext uri="{BB962C8B-B14F-4D97-AF65-F5344CB8AC3E}">
        <p14:creationId xmlns:p14="http://schemas.microsoft.com/office/powerpoint/2010/main" val="35294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1948306" y="2068901"/>
            <a:ext cx="1798820" cy="1798820"/>
            <a:chOff x="2329306" y="2634955"/>
            <a:chExt cx="1798820" cy="1798820"/>
          </a:xfrm>
        </p:grpSpPr>
        <p:sp>
          <p:nvSpPr>
            <p:cNvPr id="14" name="文本框 13"/>
            <p:cNvSpPr txBox="1"/>
            <p:nvPr/>
          </p:nvSpPr>
          <p:spPr>
            <a:xfrm>
              <a:off x="868680" y="2057400"/>
              <a:ext cx="1051560" cy="960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6500" dirty="0">
                  <a:solidFill>
                    <a:srgbClr val="2B718B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01</a:t>
              </a:r>
              <a:endParaRPr lang="zh-CN" altLang="en-US" sz="6500" dirty="0">
                <a:solidFill>
                  <a:srgbClr val="2B718B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14400" y="2907792"/>
              <a:ext cx="1005840" cy="411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200" dirty="0">
                  <a:solidFill>
                    <a:srgbClr val="5A9CB2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PART</a:t>
              </a:r>
              <a:endParaRPr lang="zh-CN" altLang="en-US" sz="2200" dirty="0">
                <a:solidFill>
                  <a:srgbClr val="5A9CB2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</p:grpSp>
      <p:sp>
        <p:nvSpPr>
          <p:cNvPr id="16" name="文本框 15">
            <a:hlinkClick r:id="rId2" action="ppaction://hlinksldjump"/>
          </p:cNvPr>
          <p:cNvSpPr txBox="1"/>
          <p:nvPr/>
        </p:nvSpPr>
        <p:spPr>
          <a:xfrm>
            <a:off x="2331720" y="2011680"/>
            <a:ext cx="9052560" cy="2194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183A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强化点一　</a:t>
            </a:r>
            <a:endParaRPr lang="en-US" altLang="zh-CN" sz="3600" b="1" dirty="0">
              <a:solidFill>
                <a:srgbClr val="183A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b="1" dirty="0">
                <a:solidFill>
                  <a:srgbClr val="183A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应用动量守恒定律处理多物体、多过程问题</a:t>
            </a:r>
          </a:p>
        </p:txBody>
      </p:sp>
    </p:spTree>
    <p:extLst>
      <p:ext uri="{BB962C8B-B14F-4D97-AF65-F5344CB8AC3E}">
        <p14:creationId xmlns:p14="http://schemas.microsoft.com/office/powerpoint/2010/main" val="3558856038"/>
      </p:ext>
    </p:extLst>
  </p:cSld>
  <p:clrMapOvr>
    <a:masterClrMapping/>
  </p:clrMapOvr>
  <p:transition spd="slow">
    <p:comb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7" name="yt_shape_10897"/>
          <p:cNvSpPr txBox="1"/>
          <p:nvPr/>
        </p:nvSpPr>
        <p:spPr>
          <a:xfrm>
            <a:off x="1787128" y="467999"/>
            <a:ext cx="8617744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76923C"/>
                </a:solidFill>
                <a:effectLst/>
                <a:latin typeface="微软雅黑" pitchFamily="28"/>
                <a:ea typeface="微软雅黑" pitchFamily="28"/>
              </a:rPr>
              <a:t>强化点一</a:t>
            </a:r>
            <a:r>
              <a:rPr lang="zh-CN" altLang="zh-CN" sz="2800" b="0" i="0" u="none" dirty="0">
                <a:solidFill>
                  <a:srgbClr val="76923C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1" i="0" u="none" dirty="0">
                <a:solidFill>
                  <a:srgbClr val="76923C"/>
                </a:solidFill>
                <a:effectLst/>
                <a:latin typeface="微软雅黑" pitchFamily="28"/>
                <a:ea typeface="微软雅黑" pitchFamily="28"/>
              </a:rPr>
              <a:t>应用动量守恒定律处理多物体、多过程问题</a:t>
            </a:r>
          </a:p>
        </p:txBody>
      </p:sp>
      <p:sp>
        <p:nvSpPr>
          <p:cNvPr id="10898" name="yt_shape_10898"/>
          <p:cNvSpPr txBox="1"/>
          <p:nvPr/>
        </p:nvSpPr>
        <p:spPr>
          <a:xfrm>
            <a:off x="324071" y="1052010"/>
            <a:ext cx="11924914" cy="2322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对于由多个物体组成的系统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由于物体较多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作用过程较为复杂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35855"/>
              </a:rPr>
              <a:t>这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时往往要根据作用过程中的不同阶段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5_241b4"/>
              </a:rPr>
              <a:t>将系统内的物体按作用关系分成几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个小系统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对不同阶段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不同的小系统准确选取初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末状态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2ac8f"/>
              </a:rPr>
              <a:t>分别根据动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量守恒定律列式求解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9" name="yt_shape_10899"/>
          <p:cNvSpPr txBox="1"/>
          <p:nvPr/>
        </p:nvSpPr>
        <p:spPr>
          <a:xfrm>
            <a:off x="324071" y="467999"/>
            <a:ext cx="11543998" cy="2322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乙两个溜冰者质量分别为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48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3be8c"/>
              </a:rPr>
              <a:t>甲手里拿着质量为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的球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两人均以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的速率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在光滑的冰面上沿同一直线相向滑行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9a396"/>
              </a:rPr>
              <a:t>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甲将球传给乙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乙再将球传给甲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这样抛接几次后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球又回到甲的手里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fa4bc"/>
              </a:rPr>
              <a:t>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乙的速度为零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不计空气阻力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求此时甲的速度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0900" name="yt_shape_10900"/>
          <p:cNvSpPr txBox="1"/>
          <p:nvPr/>
        </p:nvSpPr>
        <p:spPr>
          <a:xfrm>
            <a:off x="324000" y="2841539"/>
            <a:ext cx="6173165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方向与初速度方向相反</a:t>
            </a:r>
          </a:p>
        </p:txBody>
      </p:sp>
      <p:sp>
        <p:nvSpPr>
          <p:cNvPr id="10901" name="yt_shape_10901"/>
          <p:cNvSpPr txBox="1"/>
          <p:nvPr/>
        </p:nvSpPr>
        <p:spPr>
          <a:xfrm>
            <a:off x="324071" y="3425550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spc="15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以甲、乙及球组成的系统为研究对象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0_e40be"/>
              </a:rPr>
              <a:t>以甲原来的滑行方向为</a:t>
            </a:r>
            <a:br>
              <a:rPr lang="zh-CN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正方向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根据动量守恒有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1" u="none" spc="15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spc="150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甲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spc="15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spc="150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球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1" u="none" spc="15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spc="150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甲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 spc="15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spc="150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乙</a:t>
            </a:r>
            <a:r>
              <a:rPr lang="en-US" altLang="zh-CN" sz="2800" b="0" i="1" u="none" spc="15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spc="150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乙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＝（</a:t>
            </a:r>
            <a:r>
              <a:rPr lang="en-US" altLang="zh-CN" sz="2800" b="0" i="1" u="none" spc="15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spc="150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甲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spc="15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spc="150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球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1" u="none" spc="15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spc="150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甲</a:t>
            </a:r>
            <a:r>
              <a:rPr lang="en-US" altLang="zh-CN" sz="2800" b="0" i="1" u="none" spc="15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'</a:t>
            </a:r>
            <a:r>
              <a:rPr lang="zh-CN" altLang="zh-CN" sz="2800" b="0" i="0" u="none" spc="15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0" u="none" spc="15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</a:p>
        </p:txBody>
      </p:sp>
      <p:sp>
        <p:nvSpPr>
          <p:cNvPr id="10902" name="yt_shape_10902"/>
          <p:cNvSpPr txBox="1"/>
          <p:nvPr/>
        </p:nvSpPr>
        <p:spPr>
          <a:xfrm>
            <a:off x="324000" y="5215019"/>
            <a:ext cx="8327601" cy="113543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解得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甲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'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＝－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故甲的速度大小为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方向与初速度方向相反。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0" grpId="0" build="allAtOnce"/>
      <p:bldP spid="10901" grpId="0"/>
      <p:bldP spid="1090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3" name="yt_shape_10903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质量为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的平板车静止在光滑水平轨道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358a1"/>
              </a:rPr>
              <a:t>右端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放一质量为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的物块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的子弹以水平初速度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9b479"/>
              </a:rPr>
              <a:t> 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射中小车并留在车中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最终物块以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速度与小车脱离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  <p:sp>
        <p:nvSpPr>
          <p:cNvPr id="10904" name="yt_shape_10904"/>
          <p:cNvSpPr txBox="1"/>
          <p:nvPr/>
        </p:nvSpPr>
        <p:spPr>
          <a:xfrm>
            <a:off x="324000" y="2257468"/>
            <a:ext cx="628377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子弹刚射入小车时小车速度大小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2" name="yt_shape_10905"/>
          <p:cNvSpPr txBox="1"/>
          <p:nvPr/>
        </p:nvSpPr>
        <p:spPr>
          <a:xfrm>
            <a:off x="316384" y="2992817"/>
            <a:ext cx="3300584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</a:p>
        </p:txBody>
      </p:sp>
      <p:pic>
        <p:nvPicPr>
          <p:cNvPr id="10906" name="yt_image_10906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52748" y="2245818"/>
            <a:ext cx="3232650" cy="9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yt_shape_10912"/>
          <p:cNvSpPr txBox="1"/>
          <p:nvPr/>
        </p:nvSpPr>
        <p:spPr>
          <a:xfrm>
            <a:off x="354159" y="3627640"/>
            <a:ext cx="11543998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 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设子弹刚射入小车时小车速度大小为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9_b69f7"/>
              </a:rPr>
              <a:t>子弹与小车的作用过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程内力远大于外力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故子弹与小车组成的系统动量守恒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7_6c54b"/>
              </a:rPr>
              <a:t>根据动量守恒定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律有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＝（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解得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6="http://schemas.microsoft.com/office/drawing/2014/main" xmlns:a14="http://schemas.microsoft.com/office/drawing/2010/main"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t_shape_10908"/>
          <p:cNvSpPr txBox="1"/>
          <p:nvPr/>
        </p:nvSpPr>
        <p:spPr>
          <a:xfrm>
            <a:off x="374800" y="527134"/>
            <a:ext cx="592469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物块脱离小车时小车速度大小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3" name="yt_shape_10909"/>
          <p:cNvSpPr txBox="1"/>
          <p:nvPr/>
        </p:nvSpPr>
        <p:spPr>
          <a:xfrm>
            <a:off x="374800" y="1262483"/>
            <a:ext cx="2761975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</a:p>
        </p:txBody>
      </p:sp>
      <p:sp>
        <p:nvSpPr>
          <p:cNvPr id="4" name="yt_shape_10913"/>
          <p:cNvSpPr txBox="1"/>
          <p:nvPr/>
        </p:nvSpPr>
        <p:spPr>
          <a:xfrm>
            <a:off x="311371" y="1990768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hangingPunct="0">
              <a:lnSpc>
                <a:spcPct val="140000"/>
              </a:lnSpc>
            </a:pPr>
            <a:r>
              <a:rPr lang="zh-CN" altLang="zh-CN" sz="2800" dirty="0">
                <a:solidFill>
                  <a:srgbClr val="0000FF"/>
                </a:solidFill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设物块脱离小车时小车速度大小为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物块速度为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3_70d2e"/>
              </a:rPr>
              <a:t>物块与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小车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含子弹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组成的系统所受合外力为零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根据动量守恒定律有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14431"/>
              </a:rPr>
              <a:t>＋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＝（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</a:p>
        </p:txBody>
      </p:sp>
      <p:sp>
        <p:nvSpPr>
          <p:cNvPr id="5" name="yt_shape_10914"/>
          <p:cNvSpPr txBox="1"/>
          <p:nvPr/>
        </p:nvSpPr>
        <p:spPr>
          <a:xfrm>
            <a:off x="311300" y="3780237"/>
            <a:ext cx="2502288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解得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85735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5" name="yt_shape_10915"/>
          <p:cNvSpPr txBox="1"/>
          <p:nvPr/>
        </p:nvSpPr>
        <p:spPr>
          <a:xfrm>
            <a:off x="324000" y="467999"/>
            <a:ext cx="1436291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7030A0"/>
                </a:solidFill>
                <a:effectLst/>
                <a:latin typeface="微软雅黑" pitchFamily="28"/>
                <a:ea typeface="微软雅黑" pitchFamily="28"/>
              </a:rPr>
              <a:t>方法技巧</a:t>
            </a:r>
          </a:p>
        </p:txBody>
      </p:sp>
      <p:sp>
        <p:nvSpPr>
          <p:cNvPr id="10916" name="yt_shape_10916"/>
          <p:cNvSpPr txBox="1"/>
          <p:nvPr/>
        </p:nvSpPr>
        <p:spPr>
          <a:xfrm>
            <a:off x="3223419" y="1056691"/>
            <a:ext cx="5745163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分析多物体、多过程问题时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应注意</a:t>
            </a:r>
          </a:p>
        </p:txBody>
      </p:sp>
      <p:sp>
        <p:nvSpPr>
          <p:cNvPr id="10917" name="yt_shape_10917"/>
          <p:cNvSpPr txBox="1"/>
          <p:nvPr/>
        </p:nvSpPr>
        <p:spPr>
          <a:xfrm>
            <a:off x="324071" y="1640702"/>
            <a:ext cx="11543998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正确进行研究对象的选取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有时对整体应用动量守恒定律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3_daf66"/>
              </a:rPr>
              <a:t>有时对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32_711ba"/>
              </a:rPr>
              <a:t>部分物体应用动量守恒定律。研究对象的选取一是取决于系统是否满足动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量守恒的条件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二是根据所研究问题的需要。</a:t>
            </a:r>
          </a:p>
        </p:txBody>
      </p:sp>
      <p:sp>
        <p:nvSpPr>
          <p:cNvPr id="10918" name="yt_shape_10918"/>
          <p:cNvSpPr txBox="1"/>
          <p:nvPr/>
        </p:nvSpPr>
        <p:spPr>
          <a:xfrm>
            <a:off x="324071" y="3430171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正确进行过程的</a:t>
            </a:r>
            <a:r>
              <a:rPr lang="zh-CN" altLang="zh-CN" sz="2800" b="0" i="0" u="none" dirty="0">
                <a:effectLst/>
                <a:latin typeface="Times New Roman" pitchFamily="28"/>
                <a:ea typeface="楷体" pitchFamily="28"/>
              </a:rPr>
              <a:t>选取和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Times New Roman" pitchFamily="28"/>
                <a:ea typeface="楷体" pitchFamily="28"/>
              </a:rPr>
              <a:t>分析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 dirty="0">
                <a:effectLst/>
                <a:latin typeface="Times New Roman" pitchFamily="28"/>
                <a:ea typeface="楷体" pitchFamily="28"/>
              </a:rPr>
              <a:t>通常进行分段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分析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7_28535"/>
              </a:rPr>
              <a:t>并找出联系各阶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段的状态量。根据所研究问题的需要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15_2fb20"/>
              </a:rPr>
              <a:t>列式时有时需分过程多次应用动量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守恒定律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有时只需针对初、末状态建立动量守恒的关系式。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1948306" y="2068901"/>
            <a:ext cx="1798820" cy="1798820"/>
            <a:chOff x="2329306" y="2634955"/>
            <a:chExt cx="1798820" cy="1798820"/>
          </a:xfrm>
        </p:grpSpPr>
        <p:sp>
          <p:nvSpPr>
            <p:cNvPr id="14" name="文本框 13"/>
            <p:cNvSpPr txBox="1"/>
            <p:nvPr/>
          </p:nvSpPr>
          <p:spPr>
            <a:xfrm>
              <a:off x="868680" y="2057400"/>
              <a:ext cx="1051560" cy="960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6500" dirty="0">
                  <a:solidFill>
                    <a:srgbClr val="2B718B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02</a:t>
              </a:r>
              <a:endParaRPr lang="zh-CN" altLang="en-US" sz="6500" dirty="0">
                <a:solidFill>
                  <a:srgbClr val="2B718B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14400" y="2907792"/>
              <a:ext cx="1005840" cy="411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200" dirty="0">
                  <a:solidFill>
                    <a:srgbClr val="5A9CB2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PART</a:t>
              </a:r>
              <a:endParaRPr lang="zh-CN" altLang="en-US" sz="2200" dirty="0">
                <a:solidFill>
                  <a:srgbClr val="5A9CB2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</p:grpSp>
      <p:sp>
        <p:nvSpPr>
          <p:cNvPr id="17" name="文本框 16">
            <a:hlinkClick r:id="rId2" action="ppaction://hlinksldjump"/>
          </p:cNvPr>
          <p:cNvSpPr txBox="1"/>
          <p:nvPr/>
        </p:nvSpPr>
        <p:spPr>
          <a:xfrm>
            <a:off x="2331720" y="2011680"/>
            <a:ext cx="9052560" cy="2194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183A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强化点二　</a:t>
            </a:r>
            <a:endParaRPr lang="en-US" altLang="zh-CN" sz="3600" b="1" dirty="0">
              <a:solidFill>
                <a:srgbClr val="183A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b="1" dirty="0">
                <a:solidFill>
                  <a:srgbClr val="183A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应用动量守恒定律处理临界问题</a:t>
            </a:r>
          </a:p>
        </p:txBody>
      </p:sp>
    </p:spTree>
    <p:extLst>
      <p:ext uri="{BB962C8B-B14F-4D97-AF65-F5344CB8AC3E}">
        <p14:creationId xmlns:p14="http://schemas.microsoft.com/office/powerpoint/2010/main" val="3130972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9" name="yt_shape_10919"/>
          <p:cNvSpPr txBox="1"/>
          <p:nvPr/>
        </p:nvSpPr>
        <p:spPr>
          <a:xfrm>
            <a:off x="2684810" y="467999"/>
            <a:ext cx="6822380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76923C"/>
                </a:solidFill>
                <a:effectLst/>
                <a:latin typeface="微软雅黑" pitchFamily="28"/>
                <a:ea typeface="微软雅黑" pitchFamily="28"/>
              </a:rPr>
              <a:t>强化点二</a:t>
            </a:r>
            <a:r>
              <a:rPr lang="zh-CN" altLang="zh-CN" sz="2800" b="0" i="0" u="none" dirty="0">
                <a:solidFill>
                  <a:srgbClr val="76923C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1" i="0" u="none" dirty="0">
                <a:solidFill>
                  <a:srgbClr val="76923C"/>
                </a:solidFill>
                <a:effectLst/>
                <a:latin typeface="微软雅黑" pitchFamily="28"/>
                <a:ea typeface="微软雅黑" pitchFamily="28"/>
              </a:rPr>
              <a:t>应用动量守恒定律处理临界问题</a:t>
            </a:r>
          </a:p>
        </p:txBody>
      </p:sp>
      <p:sp>
        <p:nvSpPr>
          <p:cNvPr id="10920" name="yt_shape_10920"/>
          <p:cNvSpPr txBox="1"/>
          <p:nvPr/>
        </p:nvSpPr>
        <p:spPr>
          <a:xfrm>
            <a:off x="324071" y="1052010"/>
            <a:ext cx="11924914" cy="2322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在动量守恒定律的应用中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常常出现相互作用的两物体相距最近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1_1a95b"/>
              </a:rPr>
              <a:t>或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最远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恰好不相撞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弹簧最长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或最短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3_a1170"/>
              </a:rPr>
              <a:t>或物体开始反向运动等临界状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态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其临界条件常常表现为两物体的相对速度关系或相对位移关系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fffae"/>
              </a:rPr>
              <a:t>这些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特定关系的判断是求解这类问题的关键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1" name="yt_shape_10921"/>
          <p:cNvSpPr txBox="1"/>
          <p:nvPr/>
        </p:nvSpPr>
        <p:spPr>
          <a:xfrm>
            <a:off x="324071" y="467999"/>
            <a:ext cx="11924914" cy="35292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spc="150" dirty="0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 spc="150" dirty="0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3</a:t>
            </a:r>
            <a:r>
              <a:rPr lang="zh-CN" altLang="zh-CN" sz="2800" b="1" i="0" u="none" spc="150" dirty="0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光滑水平轨道上放置长木板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上表面粗糙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24518"/>
              </a:rPr>
              <a:t>和</a:t>
            </a:r>
            <a:b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滑块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滑块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置于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的左端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三者质量分别为</a:t>
            </a:r>
            <a:r>
              <a:rPr lang="en-US" altLang="zh-CN" sz="2800" b="0" i="1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spc="150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 spc="150" dirty="0" err="1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spc="150" baseline="-25000" dirty="0" err="1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f9860"/>
              </a:rPr>
              <a:t>，</a:t>
            </a:r>
            <a:b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0" i="1" u="none" spc="150" dirty="0" err="1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spc="150" baseline="-25000" dirty="0" err="1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开始时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静止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一起以</a:t>
            </a:r>
            <a:r>
              <a:rPr lang="en-US" altLang="zh-CN" sz="2800" b="0" i="1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spc="150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3d548"/>
              </a:rPr>
              <a:t>的速度匀速向右运</a:t>
            </a:r>
            <a:b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动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发生碰撞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时间极短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后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向右运动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经过一段时间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3b799"/>
              </a:rPr>
              <a:t>B</a:t>
            </a:r>
            <a:b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再次达到共同速度一起向右运动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且恰好不再与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碰撞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287c6"/>
              </a:rPr>
              <a:t>发生</a:t>
            </a:r>
            <a:b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碰撞后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瞬间的速度大小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pic>
        <p:nvPicPr>
          <p:cNvPr id="10922" name="yt_image_10922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81821" y="4200387"/>
            <a:ext cx="3228357" cy="878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24" name="yt_shape_10924"/>
          <p:cNvSpPr txBox="1"/>
          <p:nvPr/>
        </p:nvSpPr>
        <p:spPr>
          <a:xfrm>
            <a:off x="324000" y="5129312"/>
            <a:ext cx="1864293" cy="53764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6="http://schemas.microsoft.com/office/drawing/2014/main" xmlns:a14="http://schemas.microsoft.com/office/drawing/2010/main"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24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5" name="yt_shape_10925"/>
          <p:cNvSpPr txBox="1"/>
          <p:nvPr/>
        </p:nvSpPr>
        <p:spPr>
          <a:xfrm>
            <a:off x="324071" y="467999"/>
            <a:ext cx="11924914" cy="535813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长木板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与滑块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处于光滑水平轨道上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两者碰撞时间极短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3_50320"/>
              </a:rPr>
              <a:t>碰撞过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程中滑块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与长木板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间的摩擦力可以忽略不计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长木板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与滑块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3_b315c"/>
              </a:rPr>
              <a:t>组成的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系统在碰撞过程中动量守恒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取水平向右为正方向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endParaRPr lang="en-US" altLang="zh-CN" sz="2800" b="0" i="0" u="none" baseline="-25000" dirty="0">
              <a:solidFill>
                <a:srgbClr val="C00000"/>
              </a:solidFill>
              <a:effectLst/>
              <a:latin typeface="Times New Roman" pitchFamily="28"/>
              <a:ea typeface="宋体" pitchFamily="28"/>
            </a:endParaRP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长木板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和滑块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达到共同速度后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恰好不再与滑块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碰撞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6_4331f"/>
              </a:rPr>
              <a:t>即最后三者速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度相等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即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＝（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联立解得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6" name="yt_shape_10926"/>
          <p:cNvSpPr txBox="1"/>
          <p:nvPr/>
        </p:nvSpPr>
        <p:spPr>
          <a:xfrm>
            <a:off x="324071" y="467999"/>
            <a:ext cx="11924914" cy="35292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【例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4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】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9_e2358"/>
              </a:rPr>
              <a:t>乙两小孩各乘一辆冰车在光滑水平冰面上游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戏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甲和他的冰车总质量为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30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乙和他的冰车总质量也为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30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847e8"/>
              </a:rPr>
              <a:t>游戏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时甲推着一质量为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的木箱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和他一起以初速度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7afaf"/>
              </a:rPr>
              <a:t>向右滑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乙在甲的正前方静止在冰面上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为避免碰撞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甲将木箱推给乙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d0468"/>
              </a:rPr>
              <a:t>使木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箱与乙一起运动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4_1ede6"/>
              </a:rPr>
              <a:t>则甲至少以相对地面多大的速度将箱子推出才能避免与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乙相撞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</a:p>
        </p:txBody>
      </p:sp>
      <p:pic>
        <p:nvPicPr>
          <p:cNvPr id="10927" name="yt_image_10927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42328" y="4200387"/>
            <a:ext cx="3707342" cy="1220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29" name="yt_shape_10929"/>
          <p:cNvSpPr txBox="1"/>
          <p:nvPr/>
        </p:nvSpPr>
        <p:spPr>
          <a:xfrm>
            <a:off x="324000" y="5470995"/>
            <a:ext cx="1864293" cy="53764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6="http://schemas.microsoft.com/office/drawing/2014/main" xmlns:a14="http://schemas.microsoft.com/office/drawing/2010/main"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29" grpId="0" build="allAtOnce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0" name="yt_shape_10930"/>
          <p:cNvSpPr txBox="1"/>
          <p:nvPr/>
        </p:nvSpPr>
        <p:spPr>
          <a:xfrm>
            <a:off x="324071" y="467999"/>
            <a:ext cx="11924914" cy="41516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设甲至少以速度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将箱子推出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推出箱子后甲的速度为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甲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3_f2dba"/>
              </a:rPr>
              <a:t>乙接到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箱子后的速度为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乙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取向右为正方向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以甲及冰车和箱子为系统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根据动量守恒得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甲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甲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甲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mv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以箱子和乙及冰车为系统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根据动量守恒得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mv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＝（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乙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乙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当甲与乙恰好不相撞时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甲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乙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联立解得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1" name="yt_shape_10931"/>
          <p:cNvSpPr txBox="1"/>
          <p:nvPr/>
        </p:nvSpPr>
        <p:spPr>
          <a:xfrm>
            <a:off x="324000" y="467999"/>
            <a:ext cx="1436291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7030A0"/>
                </a:solidFill>
                <a:effectLst/>
                <a:latin typeface="微软雅黑" pitchFamily="28"/>
                <a:ea typeface="微软雅黑" pitchFamily="28"/>
              </a:rPr>
              <a:t>方法技巧</a:t>
            </a:r>
          </a:p>
        </p:txBody>
      </p:sp>
      <p:sp>
        <p:nvSpPr>
          <p:cNvPr id="10932" name="yt_shape_10932"/>
          <p:cNvSpPr txBox="1"/>
          <p:nvPr/>
        </p:nvSpPr>
        <p:spPr>
          <a:xfrm>
            <a:off x="3223419" y="1056691"/>
            <a:ext cx="5745163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动量守恒定律应用中的常见临界情形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031235"/>
              </p:ext>
            </p:extLst>
          </p:nvPr>
        </p:nvGraphicFramePr>
        <p:xfrm>
          <a:off x="349400" y="1889125"/>
          <a:ext cx="11543998" cy="43647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70914">
                  <a:extLst>
                    <a:ext uri="{9D8B030D-6E8A-4147-A177-3AD203B41FA5}">
                      <a16:colId xmlns:a16="http://schemas.microsoft.com/office/drawing/2014/main" val="1223664889"/>
                    </a:ext>
                  </a:extLst>
                </a:gridCol>
                <a:gridCol w="8573084">
                  <a:extLst>
                    <a:ext uri="{9D8B030D-6E8A-4147-A177-3AD203B41FA5}">
                      <a16:colId xmlns:a16="http://schemas.microsoft.com/office/drawing/2014/main" val="166002448"/>
                    </a:ext>
                  </a:extLst>
                </a:gridCol>
              </a:tblGrid>
              <a:tr h="467999"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4750" b="0" i="0" u="none">
                          <a:solidFill>
                            <a:srgbClr val="1EE3CF"/>
                          </a:solidFill>
                          <a:effectLst/>
                          <a:latin typeface="Times New Roman" pitchFamily="48"/>
                          <a:ea typeface="Times New Roman" pitchFamily="48"/>
                          <a:sym typeface="Finished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27_b172a"/>
                        </a:rPr>
                        <a:t>                           </a:t>
                      </a:r>
                      <a:b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{&quot;placeHolderSpace&quot;:&quot;1&quot;}"/>
                        </a:rPr>
                        <a:t> </a:t>
                      </a:r>
                      <a:r>
                        <a:rPr lang="en-US" altLang="zh-CN" sz="2300" b="0" i="0" u="none">
                          <a:solidFill>
                            <a:srgbClr val="1EE3CF"/>
                          </a:solidFill>
                          <a:effectLst/>
                          <a:latin typeface="Times New Roman" pitchFamily="23"/>
                          <a:ea typeface="宋体" pitchFamily="23"/>
                          <a:sym typeface="{&quot;placeHolderSpace&quot;:&quot;1&quot;}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光滑水平面上的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物体以速度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向静止的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物体运动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  <a:sym typeface="_⨹_1_a9bce"/>
                        </a:rPr>
                        <a:t>，</a:t>
                      </a:r>
                      <a:b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</a:b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两物体相距最近时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两物体速度必定相等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2_c806c"/>
                        </a:rPr>
                        <a:t>此时</a:t>
                      </a:r>
                      <a:b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弹簧最短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其压缩量最大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3089955"/>
                  </a:ext>
                </a:extLst>
              </a:tr>
              <a:tr h="467999"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4600" b="0" i="0" u="none" dirty="0">
                          <a:solidFill>
                            <a:srgbClr val="1EE3CF"/>
                          </a:solidFill>
                          <a:effectLst/>
                          <a:latin typeface="Times New Roman" pitchFamily="46"/>
                          <a:ea typeface="Times New Roman" pitchFamily="46"/>
                          <a:sym typeface="Finished"/>
                        </a:rPr>
                        <a:t> </a:t>
                      </a:r>
                      <a:r>
                        <a:rPr lang="en-US" altLang="zh-CN" sz="2800" b="0" i="0" u="none" dirty="0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"/>
                        </a:rPr>
                        <a:t>                            </a:t>
                      </a:r>
                      <a:r>
                        <a:rPr lang="en-US" altLang="zh-CN" sz="100" b="0" i="0" u="none" dirty="0">
                          <a:solidFill>
                            <a:srgbClr val="1EE3CF"/>
                          </a:solidFill>
                          <a:effectLst/>
                          <a:latin typeface="Times New Roman" pitchFamily="1"/>
                          <a:ea typeface="宋体" pitchFamily="1"/>
                          <a:sym typeface="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物体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以初速度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800" b="0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滑到静止在光滑水平面上的小车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_68a10"/>
                        </a:rPr>
                        <a:t>B</a:t>
                      </a:r>
                      <a:b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（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上表面粗糙且长度足够长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）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上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当物体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在小车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  <a:sym typeface="_⨹_1_798ea"/>
                        </a:rPr>
                        <a:t>上</a:t>
                      </a:r>
                      <a:b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</a:b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滑行的距离最远时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物体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、小车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相对静止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  <a:sym typeface="_⨹_2_025a7"/>
                        </a:rPr>
                        <a:t>物体</a:t>
                      </a:r>
                      <a:b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</a:b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、小车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的速度必定相等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029651"/>
                  </a:ext>
                </a:extLst>
              </a:tr>
            </a:tbl>
          </a:graphicData>
        </a:graphic>
      </p:graphicFrame>
      <p:pic>
        <p:nvPicPr>
          <p:cNvPr id="5" name="yt_shape_1745560342919">
            <a:extLst>
              <a:ext uri="{FF2B5EF4-FFF2-40B4-BE49-F238E27FC236}">
                <a16:creationId xmlns:a16="http://schemas.microsoft.com/office/drawing/2014/main" id="{141C89F4-4F7D-7224-A8E5-0312288E3E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800" y="2528166"/>
            <a:ext cx="2702052" cy="811330"/>
          </a:xfrm>
          <a:prstGeom prst="rect">
            <a:avLst/>
          </a:prstGeom>
        </p:spPr>
      </p:pic>
      <p:pic>
        <p:nvPicPr>
          <p:cNvPr id="6" name="yt_shape_1745560343099">
            <a:extLst>
              <a:ext uri="{FF2B5EF4-FFF2-40B4-BE49-F238E27FC236}">
                <a16:creationId xmlns:a16="http://schemas.microsoft.com/office/drawing/2014/main" id="{137CB541-6983-F387-6FFE-BE84212DB8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800" y="4710544"/>
            <a:ext cx="2638617" cy="8113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6="http://schemas.microsoft.com/office/drawing/2014/main" xmlns:p14="http://schemas.microsoft.com/office/powerpoint/2010/main" xmlns:a14="http://schemas.microsoft.com/office/drawing/2010/main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33" name="yt_table_10933" title="H_734.4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51548"/>
              </p:ext>
            </p:extLst>
          </p:nvPr>
        </p:nvGraphicFramePr>
        <p:xfrm>
          <a:off x="324000" y="467999"/>
          <a:ext cx="11543998" cy="49621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7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3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7999"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8300" b="0" i="0" u="none" dirty="0">
                          <a:solidFill>
                            <a:srgbClr val="1EE3CF"/>
                          </a:solidFill>
                          <a:effectLst/>
                          <a:latin typeface="Times New Roman" pitchFamily="83"/>
                          <a:ea typeface="Times New Roman" pitchFamily="83"/>
                          <a:sym typeface="Finished"/>
                        </a:rPr>
                        <a:t> </a:t>
                      </a:r>
                      <a:r>
                        <a:rPr lang="en-US" altLang="zh-CN" sz="2800" b="0" i="0" u="none" dirty="0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"/>
                        </a:rPr>
                        <a:t>                         </a:t>
                      </a:r>
                      <a:r>
                        <a:rPr lang="en-US" altLang="zh-CN" sz="900" b="0" i="0" u="none" dirty="0">
                          <a:solidFill>
                            <a:srgbClr val="1EE3CF"/>
                          </a:solidFill>
                          <a:effectLst/>
                          <a:latin typeface="Times New Roman" pitchFamily="9"/>
                          <a:ea typeface="宋体" pitchFamily="9"/>
                          <a:sym typeface="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质量为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的弧形滑块静止在光滑水平面上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  <a:sym typeface="_⨹_4_85a70"/>
                        </a:rPr>
                        <a:t>弧形滑块</a:t>
                      </a:r>
                      <a:b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</a:b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的光滑弧面底部与水平面相切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一个质量为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  <a:sym typeface="_⨹_3_f7dc4"/>
                        </a:rPr>
                        <a:t>的小球</a:t>
                      </a:r>
                      <a:b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</a:b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以初速度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800" b="0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  <a:sym typeface="_⨹_18_e0a22"/>
                        </a:rPr>
                        <a:t>向弧形滑块滚来。设小球不能越过弧形滑</a:t>
                      </a:r>
                      <a:b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</a:b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块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则小球到达弧形滑块上的最高点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（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  <a:sym typeface="_⨹_6_93718"/>
                        </a:rPr>
                        <a:t>即小球竖直方</a:t>
                      </a:r>
                      <a:b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</a:b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向上的速度为零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）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时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两物体的速度一定相等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999"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4150" b="0" i="0" u="none">
                          <a:solidFill>
                            <a:srgbClr val="1EE3CF"/>
                          </a:solidFill>
                          <a:effectLst/>
                          <a:latin typeface="Times New Roman" pitchFamily="42"/>
                          <a:ea typeface="Times New Roman" pitchFamily="42"/>
                          <a:sym typeface="Finished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28_1a520"/>
                        </a:rPr>
                        <a:t>                            </a:t>
                      </a:r>
                      <a:b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{&quot;placeHolderSpace&quot;:&quot;1&quot;}"/>
                        </a:rPr>
                        <a:t> </a:t>
                      </a:r>
                      <a:r>
                        <a:rPr lang="en-US" altLang="zh-CN" sz="500" b="0" i="0" u="none">
                          <a:solidFill>
                            <a:srgbClr val="1EE3CF"/>
                          </a:solidFill>
                          <a:effectLst/>
                          <a:latin typeface="Times New Roman" pitchFamily="5"/>
                          <a:ea typeface="宋体" pitchFamily="5"/>
                          <a:sym typeface="{&quot;placeHolderSpace&quot;:&quot;1&quot;}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光滑水平面上的薄板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（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上表面粗糙且足够长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）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  <a:sym typeface="_⨹_2_816ca"/>
                        </a:rPr>
                        <a:t>与物</a:t>
                      </a:r>
                      <a:b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</a:b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块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发生碰撞后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再与物块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相互作用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  <a:sym typeface="_⨹_6_fbd57"/>
                        </a:rPr>
                        <a:t>最后不再相撞</a:t>
                      </a:r>
                      <a:b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</a:b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的临界条件是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：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三者具有相同的速度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yt_shape_1745560343327">
            <a:extLst>
              <a:ext uri="{FF2B5EF4-FFF2-40B4-BE49-F238E27FC236}">
                <a16:creationId xmlns:a16="http://schemas.microsoft.com/office/drawing/2014/main" id="{DC03A22C-70C0-D4BC-B1D7-6884938002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40" y="1383930"/>
            <a:ext cx="2514792" cy="1492490"/>
          </a:xfrm>
          <a:prstGeom prst="rect">
            <a:avLst/>
          </a:prstGeom>
        </p:spPr>
      </p:pic>
      <p:pic>
        <p:nvPicPr>
          <p:cNvPr id="9" name="yt_shape_1745560343526">
            <a:extLst>
              <a:ext uri="{FF2B5EF4-FFF2-40B4-BE49-F238E27FC236}">
                <a16:creationId xmlns:a16="http://schemas.microsoft.com/office/drawing/2014/main" id="{D4C0146E-6ED1-50F5-5580-291CE75A10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40" y="4256217"/>
            <a:ext cx="2752852" cy="71006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1948306" y="2068901"/>
            <a:ext cx="1798820" cy="1798820"/>
            <a:chOff x="2329306" y="2634955"/>
            <a:chExt cx="1798820" cy="1798820"/>
          </a:xfrm>
        </p:grpSpPr>
        <p:sp>
          <p:nvSpPr>
            <p:cNvPr id="14" name="文本框 13"/>
            <p:cNvSpPr txBox="1"/>
            <p:nvPr/>
          </p:nvSpPr>
          <p:spPr>
            <a:xfrm>
              <a:off x="868680" y="2057400"/>
              <a:ext cx="1051560" cy="960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6500" dirty="0">
                  <a:solidFill>
                    <a:srgbClr val="2B718B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03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14400" y="2907792"/>
              <a:ext cx="1005840" cy="411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200" dirty="0">
                  <a:solidFill>
                    <a:srgbClr val="5A9CB2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PART</a:t>
              </a:r>
              <a:endParaRPr lang="zh-CN" altLang="en-US" sz="2200" dirty="0">
                <a:solidFill>
                  <a:srgbClr val="5A9CB2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</p:grpSp>
      <p:sp>
        <p:nvSpPr>
          <p:cNvPr id="17" name="文本框 16">
            <a:hlinkClick r:id="rId2" action="ppaction://hlinksldjump"/>
          </p:cNvPr>
          <p:cNvSpPr txBox="1"/>
          <p:nvPr/>
        </p:nvSpPr>
        <p:spPr>
          <a:xfrm>
            <a:off x="2331720" y="2011680"/>
            <a:ext cx="9052560" cy="21945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solidFill>
                  <a:srgbClr val="183A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课时作业</a:t>
            </a:r>
          </a:p>
        </p:txBody>
      </p:sp>
    </p:spTree>
    <p:extLst>
      <p:ext uri="{BB962C8B-B14F-4D97-AF65-F5344CB8AC3E}">
        <p14:creationId xmlns:p14="http://schemas.microsoft.com/office/powerpoint/2010/main" val="2108563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3" name="yt_shape_10333"/>
          <p:cNvSpPr txBox="1"/>
          <p:nvPr/>
        </p:nvSpPr>
        <p:spPr>
          <a:xfrm>
            <a:off x="402448" y="1225644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43865" indent="-443809"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在光滑的水平面上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小明站在平板车上用锤子敲打小车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69e6f"/>
              </a:rPr>
              <a:t>初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始时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锤都静止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sp>
        <p:nvSpPr>
          <p:cNvPr id="10336" name="选项 17-1-1"/>
          <p:cNvSpPr txBox="1"/>
          <p:nvPr/>
        </p:nvSpPr>
        <p:spPr>
          <a:xfrm>
            <a:off x="846308" y="2392700"/>
            <a:ext cx="8232775" cy="597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 eaLnBrk="1" fontAlgn="ctr" latinLnBrk="0" hangingPunct="0">
              <a:lnSpc>
                <a:spcPct val="140000"/>
              </a:lnSpc>
            </a:pP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车和锤组成的系统水平方向动量守恒</a:t>
            </a:r>
          </a:p>
        </p:txBody>
      </p:sp>
      <p:sp>
        <p:nvSpPr>
          <p:cNvPr id="10337" name="选项 17-2-1"/>
          <p:cNvSpPr txBox="1"/>
          <p:nvPr/>
        </p:nvSpPr>
        <p:spPr>
          <a:xfrm>
            <a:off x="846308" y="2990108"/>
            <a:ext cx="8232775" cy="597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 eaLnBrk="1" fontAlgn="ctr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车和锤组成的系统竖直方向动量守恒</a:t>
            </a:r>
          </a:p>
        </p:txBody>
      </p:sp>
      <p:sp>
        <p:nvSpPr>
          <p:cNvPr id="10338" name="选项 17-3-1"/>
          <p:cNvSpPr txBox="1"/>
          <p:nvPr/>
        </p:nvSpPr>
        <p:spPr>
          <a:xfrm>
            <a:off x="846308" y="3587516"/>
            <a:ext cx="8232775" cy="597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 eaLnBrk="1" fontAlgn="ctr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不断敲击车的左端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车和人会持续向右运动</a:t>
            </a:r>
          </a:p>
        </p:txBody>
      </p:sp>
      <p:sp>
        <p:nvSpPr>
          <p:cNvPr id="10339" name="选项 17-4-1"/>
          <p:cNvSpPr txBox="1"/>
          <p:nvPr/>
        </p:nvSpPr>
        <p:spPr>
          <a:xfrm>
            <a:off x="846308" y="4184924"/>
            <a:ext cx="8232775" cy="597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 eaLnBrk="1" fontAlgn="ctr" latinLnBrk="0" hangingPunct="0">
              <a:lnSpc>
                <a:spcPct val="140000"/>
              </a:lnSpc>
            </a:pP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当人挥动锤子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敲打车之前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车一直保持静止</a:t>
            </a:r>
          </a:p>
        </p:txBody>
      </p:sp>
      <p:pic>
        <p:nvPicPr>
          <p:cNvPr id="10334" name="yt_image_10334_skip" title="H_178.36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7713" y="2392700"/>
            <a:ext cx="2796794" cy="226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735989" y="2558386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7" name="yt_image_10628" title="H_47.87496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4BACC6">
                <a:shade val="45000"/>
                <a:satMod val="135000"/>
              </a:srgbClr>
              <a:prstClr val="white"/>
            </a:duotone>
          </a:blip>
          <a:srcRect/>
          <a:stretch>
            <a:fillRect/>
          </a:stretch>
        </p:blipFill>
        <p:spPr bwMode="auto">
          <a:xfrm>
            <a:off x="4621837" y="617632"/>
            <a:ext cx="2308195" cy="60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组合 14"/>
          <p:cNvGrpSpPr/>
          <p:nvPr/>
        </p:nvGrpSpPr>
        <p:grpSpPr>
          <a:xfrm>
            <a:off x="4338027" y="6427038"/>
            <a:ext cx="3797846" cy="288000"/>
            <a:chOff x="1463551" y="6425622"/>
            <a:chExt cx="3797846" cy="288000"/>
          </a:xfrm>
        </p:grpSpPr>
        <p:sp>
          <p:nvSpPr>
            <p:cNvPr id="9" name="6a0d9d3a-3bd7-4301-b54d-a2e37537e8cf" descr="{&quot;SlideID&quot;:&quot;301&quot;,&quot;SlideNumber&quot;:&quot;19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20e12cfc-17ae-4f75-b405-d92d2263a240" descr="{&quot;SlideID&quot;:&quot;303&quot;,&quot;SlideNumber&quot;:&quot;21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29b7c0e5-bd4a-44c9-b3ce-49b68f555def" descr="{&quot;SlideID&quot;:&quot;304&quot;,&quot;SlideNumber&quot;:&quot;22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13d04b0d-7377-431b-9dc0-c0a7e7880677" descr="{&quot;SlideID&quot;:&quot;305&quot;,&quot;SlideNumber&quot;:&quot;23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fed9b746-5b01-40fc-9a03-215279eec46c" descr="{&quot;SlideID&quot;:&quot;306&quot;,&quot;SlideNumber&quot;:&quot;24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26987a5e-085e-43dd-be68-cec0afcd827b" descr="{&quot;SlideID&quot;:&quot;307&quot;,&quot;SlideNumber&quot;:&quot;25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5fb63365-54b5-4f73-a85f-b1737ab0acab" descr="{&quot;SlideID&quot;:&quot;309&quot;,&quot;SlideNumber&quot;:&quot;27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08795dfb-bf4b-415c-9018-82276868a2e5" descr="{&quot;SlideID&quot;:&quot;311&quot;,&quot;SlideNumber&quot;:&quot;2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cf146d4d-5a80-4d44-aa7f-a15ce3315c05" descr="{&quot;SlideID&quot;:&quot;313&quot;,&quot;SlideNumber&quot;:&quot;3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57ded1ef-6b95-48f7-92db-532644387a10" descr="{&quot;SlideID&quot;:&quot;315&quot;,&quot;SlideNumber&quot;:&quot;3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79198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6="http://schemas.microsoft.com/office/drawing/2014/main"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7" name="yt_shape_10337"/>
          <p:cNvSpPr txBox="1"/>
          <p:nvPr/>
        </p:nvSpPr>
        <p:spPr>
          <a:xfrm>
            <a:off x="324071" y="467999"/>
            <a:ext cx="11924914" cy="656461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43865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人、车和锤组成的系统水平方向不受外力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水平方向动量守恒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b1912"/>
              </a:rPr>
              <a:t>正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确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人、车和锤组成的系统竖直方向所受合力不为零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7_d4704"/>
              </a:rPr>
              <a:t>竖直方向动量不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守恒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把人、锤子和车看成一个系统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9_95d2d"/>
              </a:rPr>
              <a:t>系统水平方向不受外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水平方向动量守恒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用锤子连续敲打车的左端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8_ae8f6"/>
              </a:rPr>
              <a:t>根据水平方向动量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守恒可知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系统水平方向的总动量为零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锤子向左运动时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5_0b06a"/>
              </a:rPr>
              <a:t>车子向右运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动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锤子向右运动时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车子向左运动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所以车左右往复运动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4_5b149"/>
              </a:rPr>
              <a:t>不会持续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地向右运动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人、车和锤组成的系统水平方向动量守恒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9a18f"/>
              </a:rPr>
              <a:t>锤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子向左运动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小车向右运动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锤子向右运动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小车向左运动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4_307ae"/>
              </a:rPr>
              <a:t>所以敲打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车之前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车不会一直保持静止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当锤子停止运动时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7_189d4"/>
              </a:rPr>
              <a:t>人和车也停止运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动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错误。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4338027" y="6427038"/>
            <a:ext cx="3797846" cy="288000"/>
            <a:chOff x="1463551" y="6425622"/>
            <a:chExt cx="3797846" cy="288000"/>
          </a:xfrm>
        </p:grpSpPr>
        <p:sp>
          <p:nvSpPr>
            <p:cNvPr id="9" name="4cc9bc9f-e3ea-45ba-a94b-6a27938e298f" descr="{&quot;SlideID&quot;:&quot;301&quot;,&quot;SlideNumber&quot;:&quot;19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afc26778-1a6c-4aba-8d73-5b8d4cec294c" descr="{&quot;SlideID&quot;:&quot;303&quot;,&quot;SlideNumber&quot;:&quot;21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66335cae-233b-43d5-8981-98885e41e25b" descr="{&quot;SlideID&quot;:&quot;304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f3e4b1ea-3693-40e1-a0d5-a54728a98bc8" descr="{&quot;SlideID&quot;:&quot;305&quot;,&quot;SlideNumber&quot;:&quot;23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dbba764f-3fb9-49a9-a261-05d637520e53" descr="{&quot;SlideID&quot;:&quot;306&quot;,&quot;SlideNumber&quot;:&quot;2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45abb4e3-e0ad-49fe-8fef-7495a9c160bb" descr="{&quot;SlideID&quot;:&quot;307&quot;,&quot;SlideNumber&quot;:&quot;25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1ad471eb-d7f5-4b8c-b0e3-467ed5dc169e" descr="{&quot;SlideID&quot;:&quot;309&quot;,&quot;SlideNumber&quot;:&quot;27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7ebc4b2b-ab62-4f09-aee4-7b8c169c8e4c" descr="{&quot;SlideID&quot;:&quot;311&quot;,&quot;SlideNumber&quot;:&quot;29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981ef45d-2a26-4946-9023-e15de8ee326b" descr="{&quot;SlideID&quot;:&quot;313&quot;,&quot;SlideNumber&quot;:&quot;31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fd918dd9-58bd-4f4e-9da4-9070112c536f" descr="{&quot;SlideID&quot;:&quot;315&quot;,&quot;SlideNumber&quot;:&quot;33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7063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8" name="yt_shape_10338"/>
          <p:cNvSpPr txBox="1"/>
          <p:nvPr/>
        </p:nvSpPr>
        <p:spPr>
          <a:xfrm>
            <a:off x="324071" y="467999"/>
            <a:ext cx="11543998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43865" indent="-443809"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浙江金华期中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质量均为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c59d6"/>
              </a:rPr>
              <a:t>的两长平板小车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开始时紧靠在一起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都静止于光滑水平面上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小物块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4a87f"/>
              </a:rPr>
              <a:t>可看成质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以初速度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9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从最左端滑上小车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的上表面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39c77"/>
              </a:rPr>
              <a:t>最后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停在小车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最右端时速度为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最后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sp>
        <p:nvSpPr>
          <p:cNvPr id="10343" name="选项 19-1-1"/>
          <p:cNvSpPr txBox="1"/>
          <p:nvPr/>
        </p:nvSpPr>
        <p:spPr>
          <a:xfrm>
            <a:off x="767931" y="2860710"/>
            <a:ext cx="3188018" cy="597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 eaLnBrk="1" fontAlgn="ctr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</a:p>
        </p:txBody>
      </p:sp>
      <p:sp>
        <p:nvSpPr>
          <p:cNvPr id="10344" name="选项 19-1-2"/>
          <p:cNvSpPr txBox="1"/>
          <p:nvPr/>
        </p:nvSpPr>
        <p:spPr>
          <a:xfrm>
            <a:off x="3955949" y="2860710"/>
            <a:ext cx="2255838" cy="597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 eaLnBrk="1" fontAlgn="ctr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</a:p>
        </p:txBody>
      </p:sp>
      <p:sp>
        <p:nvSpPr>
          <p:cNvPr id="10345" name="选项 19-2-1"/>
          <p:cNvSpPr txBox="1"/>
          <p:nvPr/>
        </p:nvSpPr>
        <p:spPr>
          <a:xfrm>
            <a:off x="767931" y="3458118"/>
            <a:ext cx="3188018" cy="597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 eaLnBrk="1" fontAlgn="ctr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</a:p>
        </p:txBody>
      </p:sp>
      <p:sp>
        <p:nvSpPr>
          <p:cNvPr id="10346" name="选项 19-2-2"/>
          <p:cNvSpPr txBox="1"/>
          <p:nvPr/>
        </p:nvSpPr>
        <p:spPr>
          <a:xfrm>
            <a:off x="3955949" y="3458118"/>
            <a:ext cx="2255838" cy="597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 eaLnBrk="1" fontAlgn="ctr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</a:p>
        </p:txBody>
      </p:sp>
      <p:pic>
        <p:nvPicPr>
          <p:cNvPr id="10339" name="yt_image_10339_skip" title="H_66.69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37818" y="2860710"/>
            <a:ext cx="4528693" cy="846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42" name="yt_shape_10342"/>
          <p:cNvSpPr txBox="1"/>
          <p:nvPr/>
        </p:nvSpPr>
        <p:spPr>
          <a:xfrm>
            <a:off x="324071" y="4106314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43865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三物体整体分析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以小物块的初速度方向为正方向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8_79942"/>
              </a:rPr>
              <a:t>由动量守恒定律得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mv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＝（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代入数据解得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故选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659127" y="306570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338027" y="6427038"/>
            <a:ext cx="3797846" cy="288000"/>
            <a:chOff x="1463551" y="6425622"/>
            <a:chExt cx="3797846" cy="288000"/>
          </a:xfrm>
        </p:grpSpPr>
        <p:sp>
          <p:nvSpPr>
            <p:cNvPr id="10" name="d6c33f8c-0abc-4e1b-b038-8e0f8ef65064" descr="{&quot;SlideID&quot;:&quot;301&quot;,&quot;SlideNumber&quot;:&quot;19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7f067cbd-f128-42b3-b20c-9e7f7e28d379" descr="{&quot;SlideID&quot;:&quot;303&quot;,&quot;SlideNumber&quot;:&quot;21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fe9bee57-63ff-40ea-9830-2683477f9c6f" descr="{&quot;SlideID&quot;:&quot;304&quot;,&quot;SlideNumber&quot;:&quot;2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7a358305-07dc-4284-a397-36359998e1eb" descr="{&quot;SlideID&quot;:&quot;305&quot;,&quot;SlideNumber&quot;:&quot;23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8ce9f58c-c8e6-4531-92ef-11125320e3cc" descr="{&quot;SlideID&quot;:&quot;306&quot;,&quot;SlideNumber&quot;:&quot;24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29ccff16-e2e1-4397-a7bf-3ab82764908b" descr="{&quot;SlideID&quot;:&quot;307&quot;,&quot;SlideNumber&quot;:&quot;25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c26a7cfc-bf68-4d63-bcd9-ab3c49ab7457" descr="{&quot;SlideID&quot;:&quot;309&quot;,&quot;SlideNumber&quot;:&quot;27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e617df87-32c5-4be7-805a-79df0e4d1c53" descr="{&quot;SlideID&quot;:&quot;311&quot;,&quot;SlideNumber&quot;:&quot;29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2d005d4b-6af7-4c1c-8cb0-156a012352f9" descr="{&quot;SlideID&quot;:&quot;313&quot;,&quot;SlideNumber&quot;:&quot;31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586a27ba-d74c-4933-a206-dc56e4a0de95" descr="{&quot;SlideID&quot;:&quot;315&quot;,&quot;SlideNumber&quot;:&quot;33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96388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6="http://schemas.microsoft.com/office/drawing/2014/main"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" grpId="0" build="allAtOnce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3" name="yt_shape_10343"/>
          <p:cNvSpPr txBox="1"/>
          <p:nvPr/>
        </p:nvSpPr>
        <p:spPr>
          <a:xfrm>
            <a:off x="324071" y="467999"/>
            <a:ext cx="11924914" cy="2322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43865" indent="-443809"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在光滑的水平地面上有一辆平板车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车的两端分别站着人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ef3c7"/>
              </a:rPr>
              <a:t>A</a:t>
            </a:r>
            <a:b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的质量为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的质量为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＞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0_03f2c"/>
              </a:rPr>
              <a:t>最初人和车都处于静止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状态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现在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两人同时由静止开始相向而行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54023"/>
              </a:rPr>
              <a:t>对地面的速度大小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相等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sp>
        <p:nvSpPr>
          <p:cNvPr id="10346" name="选项 20-1-1"/>
          <p:cNvSpPr txBox="1"/>
          <p:nvPr/>
        </p:nvSpPr>
        <p:spPr>
          <a:xfrm>
            <a:off x="767931" y="2841539"/>
            <a:ext cx="3475355" cy="597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 eaLnBrk="1" fontAlgn="ctr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静止不动</a:t>
            </a:r>
          </a:p>
        </p:txBody>
      </p:sp>
      <p:sp>
        <p:nvSpPr>
          <p:cNvPr id="10347" name="选项 20-1-2"/>
          <p:cNvSpPr txBox="1"/>
          <p:nvPr/>
        </p:nvSpPr>
        <p:spPr>
          <a:xfrm>
            <a:off x="4243286" y="2841539"/>
            <a:ext cx="3233738" cy="597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 eaLnBrk="1" fontAlgn="ctr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左右往返运动</a:t>
            </a:r>
          </a:p>
        </p:txBody>
      </p:sp>
      <p:sp>
        <p:nvSpPr>
          <p:cNvPr id="10348" name="选项 20-2-1"/>
          <p:cNvSpPr txBox="1"/>
          <p:nvPr/>
        </p:nvSpPr>
        <p:spPr>
          <a:xfrm>
            <a:off x="767931" y="3438947"/>
            <a:ext cx="3475355" cy="597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 eaLnBrk="1" fontAlgn="ctr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向右运动</a:t>
            </a:r>
          </a:p>
        </p:txBody>
      </p:sp>
      <p:sp>
        <p:nvSpPr>
          <p:cNvPr id="10349" name="选项 20-2-2"/>
          <p:cNvSpPr txBox="1"/>
          <p:nvPr/>
        </p:nvSpPr>
        <p:spPr>
          <a:xfrm>
            <a:off x="4243286" y="3438947"/>
            <a:ext cx="3233738" cy="597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 eaLnBrk="1" fontAlgn="ctr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向左运动</a:t>
            </a:r>
          </a:p>
        </p:txBody>
      </p:sp>
      <p:pic>
        <p:nvPicPr>
          <p:cNvPr id="10344" name="yt_image_10344_skip" title="H_97.89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23663" y="2841539"/>
            <a:ext cx="3242564" cy="1243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3964030" y="364394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yt_shape_10347"/>
          <p:cNvSpPr txBox="1"/>
          <p:nvPr/>
        </p:nvSpPr>
        <p:spPr>
          <a:xfrm>
            <a:off x="267086" y="4146329"/>
            <a:ext cx="11924914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43865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两人与车组成的系统动量守恒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开始时系统动量为零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7_2b113"/>
              </a:rPr>
              <a:t>两人以大小相等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的速度相向运动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的质量大于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的质量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的动量大于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的动量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3193f"/>
              </a:rPr>
              <a:t>，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的总动量方向与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的动量方向相同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即向右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8_93831"/>
              </a:rPr>
              <a:t>要保证系统动量守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恒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系统总动量为零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则小车应向左运动。故选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4338027" y="6427038"/>
            <a:ext cx="3797846" cy="288000"/>
            <a:chOff x="1463551" y="6425622"/>
            <a:chExt cx="3797846" cy="288000"/>
          </a:xfrm>
        </p:grpSpPr>
        <p:sp>
          <p:nvSpPr>
            <p:cNvPr id="10" name="6573bf15-67ab-41f7-b3a2-eb0ee08cbe06" descr="{&quot;SlideID&quot;:&quot;301&quot;,&quot;SlideNumber&quot;:&quot;19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c562f8d3-39c1-46df-b1f9-9ce8ace026a8" descr="{&quot;SlideID&quot;:&quot;303&quot;,&quot;SlideNumber&quot;:&quot;21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9786dbc2-3986-491f-a18f-1f72d2aca331" descr="{&quot;SlideID&quot;:&quot;304&quot;,&quot;SlideNumber&quot;:&quot;2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f493bd26-3295-4228-9e9d-d82e0b8723e9" descr="{&quot;SlideID&quot;:&quot;305&quot;,&quot;SlideNumber&quot;:&quot;23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7a2a4dc2-c921-4821-9f70-f448d0be66ad" descr="{&quot;SlideID&quot;:&quot;306&quot;,&quot;SlideNumber&quot;:&quot;24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5c3fef8c-3224-4547-9dd4-87bd5ad0fe17" descr="{&quot;SlideID&quot;:&quot;307&quot;,&quot;SlideNumber&quot;:&quot;25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6f13d7da-0bb9-4551-b6c0-f4e06bb6abfd" descr="{&quot;SlideID&quot;:&quot;309&quot;,&quot;SlideNumber&quot;:&quot;27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36da9449-eb78-466b-ac2e-6c794b6d6694" descr="{&quot;SlideID&quot;:&quot;311&quot;,&quot;SlideNumber&quot;:&quot;29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15481a01-9e63-4f1f-a0d3-5a43577e0df7" descr="{&quot;SlideID&quot;:&quot;313&quot;,&quot;SlideNumber&quot;:&quot;31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d80ab82a-f281-4d90-b9ff-a1682309cf9d" descr="{&quot;SlideID&quot;:&quot;315&quot;,&quot;SlideNumber&quot;:&quot;33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5173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6="http://schemas.microsoft.com/office/drawing/2014/main"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8" name="yt_shape_10348"/>
          <p:cNvSpPr txBox="1"/>
          <p:nvPr/>
        </p:nvSpPr>
        <p:spPr>
          <a:xfrm>
            <a:off x="324071" y="467999"/>
            <a:ext cx="11924914" cy="2322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43865" indent="-443809"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质量相等的五个物块在一光滑水平面上排成一条直线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9a38f"/>
              </a:rPr>
              <a:t>且彼此隔开一定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的距离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具有初速度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的第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号物块向左运动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0_e43ea"/>
              </a:rPr>
              <a:t>依次与其余四个静止物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块发生碰撞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最后这五个物块粘成一个整体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5880d"/>
              </a:rPr>
              <a:t>则它们最后的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速度为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pic>
            <p:nvPicPr>
              <p:cNvPr id="10351" name="选项公式 21" descr="A. v₀；B. v₀/5；C. v₀/3；D. v₀/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67931" y="2841539"/>
                <a:ext cx="3704527" cy="1484821"/>
              </a:xfrm>
              <a:prstGeom prst="rect">
                <a:avLst/>
              </a:prstGeom>
            </p:spPr>
          </p:pic>
        </mc:Choice>
        <mc:Fallback xmlns:p15="http://schemas.microsoft.com/office/powerpoint/2012/main" xmlns:p14="http://schemas.microsoft.com/office/powerpoint/2010/main" xmlns:a16="http://schemas.microsoft.com/office/drawing/2014/main" xmlns=""/>
      </mc:AlternateContent>
      <p:pic>
        <p:nvPicPr>
          <p:cNvPr id="10349" name="yt_image_10349_skip" title="H_110.37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a14="http://schemas.microsoft.com/office/drawing/2010/main" xmlns:p14="http://schemas.microsoft.com/office/powerpoint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3787" y="2522724"/>
            <a:ext cx="3673641" cy="1985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2840624" y="314997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yt_shape_10351"/>
              <p:cNvSpPr txBox="1"/>
              <p:nvPr/>
            </p:nvSpPr>
            <p:spPr>
              <a:xfrm>
                <a:off x="154253" y="4794572"/>
                <a:ext cx="11924914" cy="155397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443865" algn="l" eaLnBrk="1" latinLnBrk="0" hangingPunct="0">
                  <a:lnSpc>
                    <a:spcPct val="140000"/>
                  </a:lnSpc>
                </a:pPr>
                <a:r>
                  <a:rPr lang="zh-CN" altLang="zh-CN" sz="24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4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4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由于五个物块组成的系统沿水平方向不受外力作用</a:t>
                </a:r>
                <a:r>
                  <a:rPr lang="zh-CN" altLang="zh-CN" sz="24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4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8_c426b"/>
                  </a:rPr>
                  <a:t>故系统在水平方向</a:t>
                </a:r>
                <a:r>
                  <a:rPr lang="zh-CN" altLang="zh-CN" sz="24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上动量守恒</a:t>
                </a:r>
                <a:r>
                  <a:rPr lang="zh-CN" altLang="zh-CN" sz="24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4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由动量守恒定律得</a:t>
                </a:r>
                <a:r>
                  <a:rPr lang="en-US" altLang="zh-CN" sz="24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4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4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4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en-US" altLang="zh-CN" sz="24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zh-CN" altLang="zh-CN" sz="24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4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得</a:t>
                </a:r>
                <a:r>
                  <a:rPr lang="en-US" altLang="zh-CN" sz="24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4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altLang="zh-CN" sz="24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4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4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4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eadad"/>
                  </a:rPr>
                  <a:t>即它们最后的速</a:t>
                </a:r>
                <a:r>
                  <a:rPr lang="zh-CN" altLang="zh-CN" sz="24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度为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zh-CN" altLang="zh-CN" sz="24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4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4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:p15="http://schemas.microsoft.com/office/powerpoint/2012/main" xmlns:p14="http://schemas.microsoft.com/office/powerpoint/2010/main" xmlns:a16="http://schemas.microsoft.com/office/drawing/2014/main" xmlns="">
          <p:sp>
            <p:nvSpPr>
              <p:cNvPr id="6" name="yt_shape_103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53" y="4794572"/>
                <a:ext cx="11924914" cy="1553977"/>
              </a:xfrm>
              <a:prstGeom prst="rect">
                <a:avLst/>
              </a:prstGeom>
              <a:blipFill>
                <a:blip r:embed="rId4"/>
                <a:stretch>
                  <a:fillRect t="-19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4338027" y="6427038"/>
            <a:ext cx="3797846" cy="288000"/>
            <a:chOff x="1463551" y="6425622"/>
            <a:chExt cx="3797846" cy="288000"/>
          </a:xfrm>
        </p:grpSpPr>
        <p:sp>
          <p:nvSpPr>
            <p:cNvPr id="10" name="fd67217c-4a7b-45f2-bbea-14d341719325" descr="{&quot;SlideID&quot;:&quot;301&quot;,&quot;SlideNumber&quot;:&quot;19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794e2c88-3fed-4369-9f23-a7066662fddf" descr="{&quot;SlideID&quot;:&quot;303&quot;,&quot;SlideNumber&quot;:&quot;21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81439745-6d77-4edc-8cb2-39aeafff2d38" descr="{&quot;SlideID&quot;:&quot;304&quot;,&quot;SlideNumber&quot;:&quot;22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d4c48cd6-9243-429b-8db0-55af8b5527e0" descr="{&quot;SlideID&quot;:&quot;305&quot;,&quot;SlideNumber&quot;:&quot;2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d76c98d7-4497-4135-98aa-c3cf582f7469" descr="{&quot;SlideID&quot;:&quot;306&quot;,&quot;SlideNumber&quot;:&quot;2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4e3668a3-c812-4c79-b645-e18fdcc77368" descr="{&quot;SlideID&quot;:&quot;307&quot;,&quot;SlideNumber&quot;:&quot;25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7b370c28-0fff-4917-9369-087e1962fed7" descr="{&quot;SlideID&quot;:&quot;309&quot;,&quot;SlideNumber&quot;:&quot;27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47957a2d-64fb-4091-8b96-45aa6ce9ce5d" descr="{&quot;SlideID&quot;:&quot;311&quot;,&quot;SlideNumber&quot;:&quot;2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45454ab8-b228-47b5-8046-42317a094d35" descr="{&quot;SlideID&quot;:&quot;313&quot;,&quot;SlideNumber&quot;:&quot;31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925bc27f-3920-4fc6-b7ec-5ea245e3350d" descr="{&quot;SlideID&quot;:&quot;315&quot;,&quot;SlideNumber&quot;:&quot;33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79917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4="http://schemas.microsoft.com/office/drawing/2010/main" xmlns:p14="http://schemas.microsoft.com/office/powerpoint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3" name="yt_shape_10353"/>
          <p:cNvSpPr txBox="1"/>
          <p:nvPr/>
        </p:nvSpPr>
        <p:spPr>
          <a:xfrm>
            <a:off x="324071" y="467999"/>
            <a:ext cx="11924914" cy="2322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43865" indent="-443809"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三国演义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》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中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草船借箭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是经典的故事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若草船的质量为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4b0bc"/>
              </a:rPr>
              <a:t>每支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箭的质量为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草船以速度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驶来时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对岸士兵多箭齐发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c68bc"/>
              </a:rPr>
              <a:t>箭以相同的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水平射中草船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假设此时草船正好停下来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不计水的阻力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cd1f6"/>
              </a:rPr>
              <a:t>则射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出的箭的数目为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pic>
            <p:nvPicPr>
              <p:cNvPr id="10355" name="选项公式 22" descr="A. (M+m)v₁/(mv₂)；B. Mv₁/((M+m)v₂)；C. Mv₁/(mv₂)；D. mv₁/(Mv₂)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20183" y="2653555"/>
                <a:ext cx="6781102" cy="1912938"/>
              </a:xfrm>
              <a:prstGeom prst="rect">
                <a:avLst/>
              </a:prstGeom>
            </p:spPr>
          </p:pic>
        </mc:Choice>
        <mc:Fallback xmlns:p15="http://schemas.microsoft.com/office/powerpoint/2012/main" xmlns:p14="http://schemas.microsoft.com/office/powerpoint/2010/main" xmlns:a16="http://schemas.microsoft.com/office/drawing/2014/main" xmlns=""/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685254" y="4250469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yt_shape_10355"/>
              <p:cNvSpPr txBox="1"/>
              <p:nvPr/>
            </p:nvSpPr>
            <p:spPr>
              <a:xfrm>
                <a:off x="267086" y="4976307"/>
                <a:ext cx="11924914" cy="141244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443865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设射出的箭的数目为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n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在草船与箭的作用过程中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系统动量守恒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edb16"/>
                  </a:rPr>
                  <a:t>则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nmv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n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𝑚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故选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:p15="http://schemas.microsoft.com/office/powerpoint/2012/main" xmlns:p14="http://schemas.microsoft.com/office/powerpoint/2010/main" xmlns:a16="http://schemas.microsoft.com/office/drawing/2014/main" xmlns="">
          <p:sp>
            <p:nvSpPr>
              <p:cNvPr id="5" name="yt_shape_103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6" y="4976307"/>
                <a:ext cx="11924914" cy="1412445"/>
              </a:xfrm>
              <a:prstGeom prst="rect">
                <a:avLst/>
              </a:prstGeom>
              <a:blipFill>
                <a:blip r:embed="rId3"/>
                <a:stretch>
                  <a:fillRect t="-1724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4338027" y="6427038"/>
            <a:ext cx="3797846" cy="288000"/>
            <a:chOff x="1463551" y="6425622"/>
            <a:chExt cx="3797846" cy="288000"/>
          </a:xfrm>
        </p:grpSpPr>
        <p:sp>
          <p:nvSpPr>
            <p:cNvPr id="10" name="19ed050f-4444-44f4-bdf2-6b8af9df8943" descr="{&quot;SlideID&quot;:&quot;301&quot;,&quot;SlideNumber&quot;:&quot;19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6f445920-8b91-43b7-a2bc-7988ffc26585" descr="{&quot;SlideID&quot;:&quot;303&quot;,&quot;SlideNumber&quot;:&quot;21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871a65ad-2b8c-47fd-bf11-aca863ad228f" descr="{&quot;SlideID&quot;:&quot;304&quot;,&quot;SlideNumber&quot;:&quot;22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781d509a-c307-4139-bfac-bd09430f9fbc" descr="{&quot;SlideID&quot;:&quot;305&quot;,&quot;SlideNumber&quot;:&quot;23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d8cc59cb-4601-4759-bb36-bbb6ba2989b1" descr="{&quot;SlideID&quot;:&quot;306&quot;,&quot;SlideNumber&quot;:&quot;24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89a800b7-13da-4d4c-a75d-e35f0c89b899" descr="{&quot;SlideID&quot;:&quot;307&quot;,&quot;SlideNumber&quot;:&quot;25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d7c82821-e83b-412e-bed9-2bd3347d3552" descr="{&quot;SlideID&quot;:&quot;309&quot;,&quot;SlideNumber&quot;:&quot;27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cbc2f617-bbc0-4430-8c2e-a0263f360f62" descr="{&quot;SlideID&quot;:&quot;311&quot;,&quot;SlideNumber&quot;:&quot;2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10ac5be-1771-41b2-bab4-f6819748c3fc" descr="{&quot;SlideID&quot;:&quot;313&quot;,&quot;SlideNumber&quot;:&quot;3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7140c4ff-1984-44e0-9867-722ce46fcde8" descr="{&quot;SlideID&quot;:&quot;315&quot;,&quot;SlideNumber&quot;:&quot;3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82570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4="http://schemas.microsoft.com/office/drawing/2010/main" xmlns:p14="http://schemas.microsoft.com/office/powerpoint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7" name="yt_shape_10357"/>
          <p:cNvSpPr txBox="1"/>
          <p:nvPr/>
        </p:nvSpPr>
        <p:spPr>
          <a:xfrm>
            <a:off x="324071" y="467999"/>
            <a:ext cx="11924914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43865" indent="-443809"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2_7c09e"/>
              </a:rPr>
              <a:t>在光滑的水平面上放着一个上部为半圆形光滑槽的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木块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开始时木块是静止的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把一个小球放到槽边从静止开始释放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d92d5"/>
              </a:rPr>
              <a:t>关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于两个物体的运动情况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sp>
        <p:nvSpPr>
          <p:cNvPr id="10360" name="选项 23-1-1"/>
          <p:cNvSpPr txBox="1"/>
          <p:nvPr/>
        </p:nvSpPr>
        <p:spPr>
          <a:xfrm>
            <a:off x="767931" y="2238297"/>
            <a:ext cx="8567738" cy="597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 eaLnBrk="1" fontAlgn="ctr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当小球到达最低点时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木块有最大速率</a:t>
            </a:r>
          </a:p>
        </p:txBody>
      </p:sp>
      <p:sp>
        <p:nvSpPr>
          <p:cNvPr id="10361" name="选项 23-2-1"/>
          <p:cNvSpPr txBox="1"/>
          <p:nvPr/>
        </p:nvSpPr>
        <p:spPr>
          <a:xfrm>
            <a:off x="767931" y="2835705"/>
            <a:ext cx="8567738" cy="597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 eaLnBrk="1" fontAlgn="ctr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当小球的速率最大时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木块有最小速率</a:t>
            </a:r>
          </a:p>
        </p:txBody>
      </p:sp>
      <p:sp>
        <p:nvSpPr>
          <p:cNvPr id="10362" name="选项 23-3-1"/>
          <p:cNvSpPr txBox="1"/>
          <p:nvPr/>
        </p:nvSpPr>
        <p:spPr>
          <a:xfrm>
            <a:off x="767931" y="3433113"/>
            <a:ext cx="8567738" cy="597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 eaLnBrk="1" fontAlgn="ctr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当小球再次上升到最高点时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木块的速率为最大</a:t>
            </a:r>
          </a:p>
        </p:txBody>
      </p:sp>
      <p:sp>
        <p:nvSpPr>
          <p:cNvPr id="10363" name="选项 23-4-1"/>
          <p:cNvSpPr txBox="1"/>
          <p:nvPr/>
        </p:nvSpPr>
        <p:spPr>
          <a:xfrm>
            <a:off x="767931" y="4030521"/>
            <a:ext cx="8567738" cy="597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 eaLnBrk="1" fontAlgn="ctr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当小球再次上升到最高点时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木块的速率为零</a:t>
            </a:r>
          </a:p>
        </p:txBody>
      </p:sp>
      <p:pic>
        <p:nvPicPr>
          <p:cNvPr id="10358" name="yt_image_10358_skip" title="H_105.12212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89989" y="2238297"/>
            <a:ext cx="2976180" cy="1335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580750" y="2359894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484956" y="4286302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338027" y="6427038"/>
            <a:ext cx="3797846" cy="288000"/>
            <a:chOff x="1463551" y="6425622"/>
            <a:chExt cx="3797846" cy="288000"/>
          </a:xfrm>
        </p:grpSpPr>
        <p:sp>
          <p:nvSpPr>
            <p:cNvPr id="10" name="845b6740-5a31-45bf-bc8d-a55f94a3d05a" descr="{&quot;SlideID&quot;:&quot;301&quot;,&quot;SlideNumber&quot;:&quot;19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32adbb33-1eb2-4c7d-98b9-f31c14438fa6" descr="{&quot;SlideID&quot;:&quot;303&quot;,&quot;SlideNumber&quot;:&quot;21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5db47eaa-0b05-41a1-9ab5-e015183d7b15" descr="{&quot;SlideID&quot;:&quot;304&quot;,&quot;SlideNumber&quot;:&quot;2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e55711a2-5427-4d81-889a-e34dd846f37b" descr="{&quot;SlideID&quot;:&quot;305&quot;,&quot;SlideNumber&quot;:&quot;23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81a75231-db8b-4d52-b0f0-917b295ea8f6" descr="{&quot;SlideID&quot;:&quot;306&quot;,&quot;SlideNumber&quot;:&quot;24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43295bbe-16d8-4b84-9565-8d8aed0719c4" descr="{&quot;SlideID&quot;:&quot;307&quot;,&quot;SlideNumber&quot;:&quot;25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c4f66302-4a0e-4616-96af-e0fa9df58894" descr="{&quot;SlideID&quot;:&quot;309&quot;,&quot;SlideNumber&quot;:&quot;27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75401baa-78b7-42fd-b5dd-98f569fe5d84" descr="{&quot;SlideID&quot;:&quot;311&quot;,&quot;SlideNumber&quot;:&quot;29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f2da30e-bd58-4f3c-aee9-5fc2348cb41b" descr="{&quot;SlideID&quot;:&quot;313&quot;,&quot;SlideNumber&quot;:&quot;31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393a49ea-7fab-4888-ab0f-a15b9ed26655" descr="{&quot;SlideID&quot;:&quot;315&quot;,&quot;SlideNumber&quot;:&quot;33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26423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6="http://schemas.microsoft.com/office/drawing/2014/main"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1" name="yt_shape_10361"/>
          <p:cNvSpPr txBox="1"/>
          <p:nvPr/>
        </p:nvSpPr>
        <p:spPr>
          <a:xfrm>
            <a:off x="324071" y="467999"/>
            <a:ext cx="11924914" cy="475489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43865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小球和木块组成的系统在水平方向上动量守恒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初状态系统动量为零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a1ec4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当小球到达最低点时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小球有最大速率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即有最大动量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6_a2da2"/>
              </a:rPr>
              <a:t>水平方向上系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统动量为零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所以小球到达最低点时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木块有最大动量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6_265fa"/>
              </a:rPr>
              <a:t>即木块有最大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速率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9_dbf3c"/>
              </a:rPr>
              <a:t>小球和木块组成的系统在水平方向上动量守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恒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初状态系统动量为零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则末状态系统在水平方向上动量也为零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d235e"/>
              </a:rPr>
              <a:t>所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以小球再次上升到最高点时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小球速率为零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木块的速率也为零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  <a:sym typeface="_⨹_1_8ae4e"/>
              </a:rPr>
              <a:t>C</a:t>
            </a:r>
            <a:b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正确。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4338027" y="6427038"/>
            <a:ext cx="3797846" cy="288000"/>
            <a:chOff x="1463551" y="6425622"/>
            <a:chExt cx="3797846" cy="288000"/>
          </a:xfrm>
        </p:grpSpPr>
        <p:sp>
          <p:nvSpPr>
            <p:cNvPr id="10" name="3ef8e0a1-c2c2-4bbd-b0a9-b7356f81b693" descr="{&quot;SlideID&quot;:&quot;301&quot;,&quot;SlideNumber&quot;:&quot;19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5aa30393-3bf7-451e-89a4-42b1c6a725e9" descr="{&quot;SlideID&quot;:&quot;303&quot;,&quot;SlideNumber&quot;:&quot;21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5a496e99-1d18-4e8e-acc4-a73233c97160" descr="{&quot;SlideID&quot;:&quot;304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d25bb44d-6be0-4add-9c6b-0dd8a7ff1943" descr="{&quot;SlideID&quot;:&quot;305&quot;,&quot;SlideNumber&quot;:&quot;23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4d596e35-645e-496e-a8b6-096ec4a6d519" descr="{&quot;SlideID&quot;:&quot;306&quot;,&quot;SlideNumber&quot;:&quot;2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436a9f71-0a73-4418-926e-8b29640c94b2" descr="{&quot;SlideID&quot;:&quot;307&quot;,&quot;SlideNumber&quot;:&quot;25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03bfeac4-e611-4316-9b72-48129a7f8f47" descr="{&quot;SlideID&quot;:&quot;309&quot;,&quot;SlideNumber&quot;:&quot;27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efa06fbe-e8a0-4f47-8d65-6e48e0c86b90" descr="{&quot;SlideID&quot;:&quot;311&quot;,&quot;SlideNumber&quot;:&quot;29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2f3b65bf-26b0-4d70-99ef-3930f3e1539d" descr="{&quot;SlideID&quot;:&quot;313&quot;,&quot;SlideNumber&quot;:&quot;31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6a4a702d-7d3a-451f-8ab7-f52438fbbf49" descr="{&quot;SlideID&quot;:&quot;315&quot;,&quot;SlideNumber&quot;:&quot;33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87658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362" name="yt_shape_10362"/>
              <p:cNvSpPr txBox="1"/>
              <p:nvPr/>
            </p:nvSpPr>
            <p:spPr>
              <a:xfrm>
                <a:off x="324071" y="467999"/>
                <a:ext cx="11924914" cy="259167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443865" indent="-443809" algn="l" eaLnBrk="1" latinLnBrk="0" hangingPunct="0">
                  <a:lnSpc>
                    <a:spcPct val="140000"/>
                  </a:lnSpc>
                </a:pP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7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 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如图所示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一轻质弹簧两端连着物体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和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放在光滑的水平面上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1_0df3c"/>
                  </a:rPr>
                  <a:t>物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体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被水平初速度为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的子弹射中并且子弹嵌在其中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已知物体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2_422d6"/>
                  </a:rPr>
                  <a:t>的质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量是物体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的质量的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子弹的质量是物体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的质量的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7_d7092"/>
                  </a:rPr>
                  <a:t>则弹簧压缩到最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短时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的速度是多少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？</a:t>
                </a:r>
              </a:p>
            </p:txBody>
          </p:sp>
        </mc:Choice>
        <mc:Fallback xmlns:a16="http://schemas.microsoft.com/office/drawing/2014/main" xmlns:p14="http://schemas.microsoft.com/office/powerpoint/2010/main" xmlns:p15="http://schemas.microsoft.com/office/powerpoint/2012/main" xmlns="">
          <p:sp>
            <p:nvSpPr>
              <p:cNvPr id="10362" name="yt_shape_10362" descr="{&quot;rangeId&quot;:20,&quot;color&quot;:&quot;B&quot;,&quot;hasSerialNum&quot;:1,&quot;pageBreak&quot;:true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543998" cy="2591672"/>
              </a:xfrm>
              <a:prstGeom prst="rect">
                <a:avLst/>
              </a:prstGeom>
              <a:blipFill>
                <a:blip r:embed="rId2"/>
                <a:stretch>
                  <a:fillRect l="-1848" t="-941" r="-1531" b="-7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64" name="yt_image_10364">
            <a:extLst>
              <a:ext uri="">
                <a16:creationId xmlns:a16="http://schemas.microsoft.com/office/drawing/2014/main" xmlns:p14="http://schemas.microsoft.com/office/powerpoint/2010/main" xmlns:p15="http://schemas.microsoft.com/office/powerpoint/2012/main" xmlns:a14="http://schemas.microsoft.com/office/drawing/2010/main" xmlns:mc="http://schemas.openxmlformats.org/markup-compatibility/2006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04206" y="3262823"/>
            <a:ext cx="2783586" cy="90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组合 12"/>
          <p:cNvGrpSpPr/>
          <p:nvPr/>
        </p:nvGrpSpPr>
        <p:grpSpPr>
          <a:xfrm>
            <a:off x="4338027" y="6427038"/>
            <a:ext cx="3797846" cy="288000"/>
            <a:chOff x="1463551" y="6425622"/>
            <a:chExt cx="3797846" cy="288000"/>
          </a:xfrm>
        </p:grpSpPr>
        <p:sp>
          <p:nvSpPr>
            <p:cNvPr id="10" name="575a2912-7e24-4cc1-aab5-e714b7869cd0" descr="{&quot;SlideID&quot;:&quot;301&quot;,&quot;SlideNumber&quot;:&quot;19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0ce4d0e4-d77e-4940-ac16-a870da511174" descr="{&quot;SlideID&quot;:&quot;303&quot;,&quot;SlideNumber&quot;:&quot;21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fead8b05-092b-41c5-970d-35a98ecab5af" descr="{&quot;SlideID&quot;:&quot;304&quot;,&quot;SlideNumber&quot;:&quot;22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2ef0e6f7-d87f-4a59-8f44-d3b54164f32d" descr="{&quot;SlideID&quot;:&quot;305&quot;,&quot;SlideNumber&quot;:&quot;23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0b5d7b46-b11f-47dc-ba06-b1595680edfb" descr="{&quot;SlideID&quot;:&quot;306&quot;,&quot;SlideNumber&quot;:&quot;24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7e6e97f8-6eab-477e-a186-88422838951d" descr="{&quot;SlideID&quot;:&quot;307&quot;,&quot;SlideNumber&quot;:&quot;25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84953f14-2f07-47ae-978e-220a9d8a60d7" descr="{&quot;SlideID&quot;:&quot;309&quot;,&quot;SlideNumber&quot;:&quot;27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8960f693-d249-44a9-92b1-4df62136ac41" descr="{&quot;SlideID&quot;:&quot;311&quot;,&quot;SlideNumber&quot;:&quot;2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223a006-4b31-47f9-aa2c-99e7b2357d25" descr="{&quot;SlideID&quot;:&quot;313&quot;,&quot;SlideNumber&quot;:&quot;3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11cf8c52-9ece-4e9c-b120-3025ff1195a4" descr="{&quot;SlideID&quot;:&quot;315&quot;,&quot;SlideNumber&quot;:&quot;3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05029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6="http://schemas.microsoft.com/office/drawing/2014/main" xmlns:a14="http://schemas.microsoft.com/office/drawing/2010/main"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368" name="yt_shape_10368"/>
              <p:cNvSpPr txBox="1"/>
              <p:nvPr/>
            </p:nvSpPr>
            <p:spPr>
              <a:xfrm>
                <a:off x="324071" y="467999"/>
                <a:ext cx="11924914" cy="452201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443865" algn="l" eaLnBrk="1" latinLnBrk="0" hangingPunct="0">
                  <a:lnSpc>
                    <a:spcPct val="140000"/>
                  </a:lnSpc>
                </a:pPr>
                <a:endParaRPr lang="en-US" altLang="zh-CN" sz="2800" b="0" i="0" u="none" dirty="0">
                  <a:solidFill>
                    <a:srgbClr val="C00000"/>
                  </a:solidFill>
                  <a:effectLst/>
                  <a:latin typeface="Times New Roman" pitchFamily="28"/>
                  <a:ea typeface="黑体" pitchFamily="28"/>
                </a:endParaRPr>
              </a:p>
              <a:p>
                <a:pPr marL="443865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弹簧压缩到最短时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子弹、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及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具有共同的速度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且子弹、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8423e"/>
                  </a:rPr>
                  <a:t>A</a:t>
                </a:r>
                <a:b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及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组成的系统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从子弹开始射入物体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3_76bb1"/>
                  </a:rPr>
                  <a:t>一直到弹簧被压缩到最短的过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程中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系统所受合外力始终为零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故整个过程系统的动量守恒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695dd"/>
                  </a:rPr>
                  <a:t>取子弹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水平初速度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的方向为正方向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由动量守恒定律得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fc5c7"/>
                  </a:rPr>
                  <a:t>＋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即弹簧压缩到最短时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9a4b7"/>
                  </a:rPr>
                  <a:t>的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速度为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:p14="http://schemas.microsoft.com/office/powerpoint/2010/main" xmlns:a16="http://schemas.microsoft.com/office/drawing/2014/main" xmlns="">
          <p:sp>
            <p:nvSpPr>
              <p:cNvPr id="10368" name="yt_shape_103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4522012"/>
              </a:xfrm>
              <a:prstGeom prst="rect">
                <a:avLst/>
              </a:prstGeom>
              <a:blipFill>
                <a:blip r:embed="rId2"/>
                <a:stretch>
                  <a:fillRect b="-3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yt_shape_10366"/>
              <p:cNvSpPr txBox="1"/>
              <p:nvPr/>
            </p:nvSpPr>
            <p:spPr>
              <a:xfrm>
                <a:off x="324071" y="439609"/>
                <a:ext cx="1803827" cy="750270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marL="443865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答案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8</m:t>
                        </m:r>
                      </m:den>
                    </m:f>
                  </m:oMath>
                </a14:m>
                <a:endParaRPr lang="zh-CN" altLang="zh-CN" sz="2800" b="0" i="0" u="none" dirty="0">
                  <a:solidFill>
                    <a:srgbClr val="FF0000"/>
                  </a:solidFill>
                  <a:effectLst/>
                  <a:latin typeface="宋体" pitchFamily="28"/>
                  <a:ea typeface="宋体" pitchFamily="28"/>
                </a:endParaRPr>
              </a:p>
            </p:txBody>
          </p:sp>
        </mc:Choice>
        <mc:Fallback xmlns:p14="http://schemas.microsoft.com/office/powerpoint/2010/main" xmlns:a16="http://schemas.microsoft.com/office/drawing/2014/main" xmlns="">
          <p:sp>
            <p:nvSpPr>
              <p:cNvPr id="4" name="yt_shape_103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39609"/>
                <a:ext cx="1803827" cy="750270"/>
              </a:xfrm>
              <a:prstGeom prst="rect">
                <a:avLst/>
              </a:prstGeom>
              <a:blipFill>
                <a:blip r:embed="rId3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338027" y="6427038"/>
            <a:ext cx="3797846" cy="288000"/>
            <a:chOff x="1463551" y="6425622"/>
            <a:chExt cx="3797846" cy="288000"/>
          </a:xfrm>
        </p:grpSpPr>
        <p:sp>
          <p:nvSpPr>
            <p:cNvPr id="10" name="49bc36b8-b07a-4b26-af4d-6baa766075a3" descr="{&quot;SlideID&quot;:&quot;301&quot;,&quot;SlideNumber&quot;:&quot;19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fdaa3237-6ee1-468e-908a-707d036a61c4" descr="{&quot;SlideID&quot;:&quot;303&quot;,&quot;SlideNumber&quot;:&quot;21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bf5d28a3-bd90-4beb-8e3a-019becc976f2" descr="{&quot;SlideID&quot;:&quot;304&quot;,&quot;SlideNumber&quot;:&quot;22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deb3439d-2b7d-4e1e-8a5b-9b8aef4ae1a1" descr="{&quot;SlideID&quot;:&quot;305&quot;,&quot;SlideNumber&quot;:&quot;23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50c0e6e4-b9d6-4da5-82b8-a948d53c30f2" descr="{&quot;SlideID&quot;:&quot;306&quot;,&quot;SlideNumber&quot;:&quot;24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9c6be2a7-dedb-4cc2-a205-3219119132c2" descr="{&quot;SlideID&quot;:&quot;307&quot;,&quot;SlideNumber&quot;:&quot;25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4eb38e44-7891-430a-8555-bb9154447d1f" descr="{&quot;SlideID&quot;:&quot;309&quot;,&quot;SlideNumber&quot;:&quot;27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838c2426-899c-4cf0-91c4-44d8e3a69527" descr="{&quot;SlideID&quot;:&quot;311&quot;,&quot;SlideNumber&quot;:&quot;2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f1a19fb5-6d8f-4b58-8f72-a88db655b9d6" descr="{&quot;SlideID&quot;:&quot;313&quot;,&quot;SlideNumber&quot;:&quot;3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8a545bb-acfa-438c-b0d6-3833fc6c25b9" descr="{&quot;SlideID&quot;:&quot;315&quot;,&quot;SlideNumber&quot;:&quot;3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456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68" grpId="0" build="allAtOnce"/>
      <p:bldP spid="4" grpId="0" build="allAtOnce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2" name="yt_shape_10372"/>
          <p:cNvSpPr txBox="1"/>
          <p:nvPr/>
        </p:nvSpPr>
        <p:spPr>
          <a:xfrm>
            <a:off x="267086" y="1068890"/>
            <a:ext cx="11924914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43865" indent="-443809"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质量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的平板车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静止在光滑的水平面上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ff184"/>
              </a:rPr>
              <a:t>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其上表面水平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且左端静止着一块质量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的物块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一质量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a5b70"/>
              </a:rPr>
              <a:t>＝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的子弹以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600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的水平速度射向物块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cacc5"/>
              </a:rPr>
              <a:t>子弹在极短的时间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内射穿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后的速度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物块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始终在平板车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7f826"/>
              </a:rPr>
              <a:t>之间的动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摩擦因数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μ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取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以下说法正确的是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sp>
        <p:nvSpPr>
          <p:cNvPr id="10375" name="选项 27-1-1"/>
          <p:cNvSpPr txBox="1"/>
          <p:nvPr/>
        </p:nvSpPr>
        <p:spPr>
          <a:xfrm>
            <a:off x="710946" y="4064843"/>
            <a:ext cx="6976491" cy="597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 eaLnBrk="1" fontAlgn="ctr" latinLnBrk="0" hangingPunct="0">
              <a:lnSpc>
                <a:spcPct val="140000"/>
              </a:lnSpc>
            </a:pP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子弹穿过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后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的速度为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</a:p>
        </p:txBody>
      </p:sp>
      <p:sp>
        <p:nvSpPr>
          <p:cNvPr id="10376" name="选项 27-2-1"/>
          <p:cNvSpPr txBox="1"/>
          <p:nvPr/>
        </p:nvSpPr>
        <p:spPr>
          <a:xfrm>
            <a:off x="710946" y="4662251"/>
            <a:ext cx="6976491" cy="597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 eaLnBrk="1" fontAlgn="ctr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子弹对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的冲量为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</a:p>
        </p:txBody>
      </p:sp>
      <p:sp>
        <p:nvSpPr>
          <p:cNvPr id="10377" name="选项 27-3-1"/>
          <p:cNvSpPr txBox="1"/>
          <p:nvPr/>
        </p:nvSpPr>
        <p:spPr>
          <a:xfrm>
            <a:off x="710946" y="5259659"/>
            <a:ext cx="6976491" cy="597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 eaLnBrk="1" fontAlgn="ctr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一起匀速运动时的速度为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</a:p>
        </p:txBody>
      </p:sp>
      <p:sp>
        <p:nvSpPr>
          <p:cNvPr id="10378" name="选项 27-4-1"/>
          <p:cNvSpPr txBox="1"/>
          <p:nvPr/>
        </p:nvSpPr>
        <p:spPr>
          <a:xfrm>
            <a:off x="710946" y="5857067"/>
            <a:ext cx="6976491" cy="597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 eaLnBrk="1" fontAlgn="ctr" latinLnBrk="0" hangingPunct="0">
              <a:lnSpc>
                <a:spcPct val="140000"/>
              </a:lnSpc>
            </a:pP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相对于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的位移为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375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</a:p>
        </p:txBody>
      </p:sp>
      <p:pic>
        <p:nvPicPr>
          <p:cNvPr id="10373" name="yt_image_10373_skip" title="H_87.23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3281" y="4064843"/>
            <a:ext cx="3235960" cy="1107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381271" y="425397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381271" y="4835518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381271" y="5858775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9" name="yt_image_10672" title="H_47.87496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4BACC6">
                <a:shade val="45000"/>
                <a:satMod val="135000"/>
              </a:srgbClr>
              <a:prstClr val="white"/>
            </a:duotone>
          </a:blip>
          <a:srcRect/>
          <a:stretch>
            <a:fillRect/>
          </a:stretch>
        </p:blipFill>
        <p:spPr bwMode="auto">
          <a:xfrm>
            <a:off x="4600574" y="460878"/>
            <a:ext cx="2308195" cy="60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组合 16"/>
          <p:cNvGrpSpPr/>
          <p:nvPr/>
        </p:nvGrpSpPr>
        <p:grpSpPr>
          <a:xfrm>
            <a:off x="4338027" y="6427038"/>
            <a:ext cx="3797846" cy="288000"/>
            <a:chOff x="1463551" y="6425622"/>
            <a:chExt cx="3797846" cy="288000"/>
          </a:xfrm>
        </p:grpSpPr>
        <p:sp>
          <p:nvSpPr>
            <p:cNvPr id="10" name="9f4905cc-523e-4f39-8174-11ef8c497562" descr="{&quot;SlideID&quot;:&quot;301&quot;,&quot;SlideNumber&quot;:&quot;19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7295741e-8935-48da-9afc-899d6034548f" descr="{&quot;SlideID&quot;:&quot;303&quot;,&quot;SlideNumber&quot;:&quot;21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dba90976-e376-4722-b942-21a950d8bb02" descr="{&quot;SlideID&quot;:&quot;304&quot;,&quot;SlideNumber&quot;:&quot;22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e13a41ab-14c9-446d-95e6-b86f521fe2f0" descr="{&quot;SlideID&quot;:&quot;305&quot;,&quot;SlideNumber&quot;:&quot;23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8a7cccf2-5f6e-4b7f-80fe-090ed4fed5d8" descr="{&quot;SlideID&quot;:&quot;306&quot;,&quot;SlideNumber&quot;:&quot;24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95d39919-3107-4432-84bb-c0c41a12ac13" descr="{&quot;SlideID&quot;:&quot;307&quot;,&quot;SlideNumber&quot;:&quot;25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5b5faa78-2266-4e0f-a90e-89d6d0ddc837" descr="{&quot;SlideID&quot;:&quot;309&quot;,&quot;SlideNumber&quot;:&quot;27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fadc160d-db20-4af4-857a-672a002f98de" descr="{&quot;SlideID&quot;:&quot;311&quot;,&quot;SlideNumber&quot;:&quot;2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32140276-89cf-4100-ad6a-cacfc6504b13" descr="{&quot;SlideID&quot;:&quot;313&quot;,&quot;SlideNumber&quot;:&quot;3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af1562cd-2889-4a2f-88f8-b109dd640198" descr="{&quot;SlideID&quot;:&quot;315&quot;,&quot;SlideNumber&quot;:&quot;3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13030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6="http://schemas.microsoft.com/office/drawing/2014/main"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376" name="yt_shape_10376"/>
              <p:cNvSpPr txBox="1"/>
              <p:nvPr/>
            </p:nvSpPr>
            <p:spPr>
              <a:xfrm>
                <a:off x="324071" y="467999"/>
                <a:ext cx="11924914" cy="500335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443865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对子弹和物体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组成的系统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水平方向在碰撞的瞬间动量守恒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ff952"/>
                  </a:rPr>
                  <a:t>选取向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右为正方向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根据动量守恒定律得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6c2af"/>
                  </a:rPr>
                  <a:t> 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根据动量定理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子弹对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的冲量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N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f1847"/>
                  </a:rPr>
                  <a:t>正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确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组成的系统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根据动量守恒定律得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38f42"/>
                  </a:rPr>
                  <a:t>，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代入数据解得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根据能量守恒定律得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物体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在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ada71"/>
                  </a:rPr>
                  <a:t>上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相对滑动时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产生的内能为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A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B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μm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gx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16112"/>
                  </a:rPr>
                  <a:t>解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375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:p14="http://schemas.microsoft.com/office/powerpoint/2010/main" xmlns:a16="http://schemas.microsoft.com/office/drawing/2014/main" xmlns="">
          <p:sp>
            <p:nvSpPr>
              <p:cNvPr id="10376" name="yt_shape_103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003357"/>
              </a:xfrm>
              <a:prstGeom prst="rect">
                <a:avLst/>
              </a:prstGeom>
              <a:blipFill>
                <a:blip r:embed="rId2"/>
                <a:stretch>
                  <a:fillRect t="-4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/>
          <p:cNvGrpSpPr/>
          <p:nvPr/>
        </p:nvGrpSpPr>
        <p:grpSpPr>
          <a:xfrm>
            <a:off x="4338027" y="6427038"/>
            <a:ext cx="3797846" cy="288000"/>
            <a:chOff x="1463551" y="6425622"/>
            <a:chExt cx="3797846" cy="288000"/>
          </a:xfrm>
        </p:grpSpPr>
        <p:sp>
          <p:nvSpPr>
            <p:cNvPr id="10" name="b57f00cd-9246-4607-b66c-f3780a39730a" descr="{&quot;SlideID&quot;:&quot;301&quot;,&quot;SlideNumber&quot;:&quot;19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4cbb022a-1e09-44f6-a317-86b4209d10cc" descr="{&quot;SlideID&quot;:&quot;303&quot;,&quot;SlideNumber&quot;:&quot;21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f1591e3c-4ed3-4eba-baac-8fa286de4345" descr="{&quot;SlideID&quot;:&quot;304&quot;,&quot;SlideNumber&quot;:&quot;2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3230c977-b50f-4c3b-bbd3-02632d5f0a76" descr="{&quot;SlideID&quot;:&quot;305&quot;,&quot;SlideNumber&quot;:&quot;23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d5b6bb37-e907-4c9d-80bd-73f0e19c6a22" descr="{&quot;SlideID&quot;:&quot;306&quot;,&quot;SlideNumber&quot;:&quot;24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6ce5d2bc-eafe-4285-9250-1c15f3316c14" descr="{&quot;SlideID&quot;:&quot;307&quot;,&quot;SlideNumber&quot;:&quot;25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0d95cbfd-c057-407c-9b93-11ed814a8333" descr="{&quot;SlideID&quot;:&quot;309&quot;,&quot;SlideNumber&quot;:&quot;27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1653f6c9-4553-4948-9f6f-4c803c02790c" descr="{&quot;SlideID&quot;:&quot;311&quot;,&quot;SlideNumber&quot;:&quot;29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6b9d3273-e367-481e-a472-78497d08626d" descr="{&quot;SlideID&quot;:&quot;313&quot;,&quot;SlideNumber&quot;:&quot;31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e336e914-a4cb-4908-961d-c1fad9de5bb1" descr="{&quot;SlideID&quot;:&quot;315&quot;,&quot;SlideNumber&quot;:&quot;33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2990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8" name="yt_shape_10378"/>
          <p:cNvSpPr txBox="1"/>
          <p:nvPr/>
        </p:nvSpPr>
        <p:spPr>
          <a:xfrm>
            <a:off x="324071" y="467999"/>
            <a:ext cx="11543998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43865" indent="-443809" algn="l" eaLnBrk="1" latinLnBrk="0" hangingPunct="0">
              <a:lnSpc>
                <a:spcPct val="140000"/>
              </a:lnSpc>
            </a:pP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9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三辆完全相同的平板小车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成一直线排列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6833e"/>
              </a:rPr>
              <a:t>，</a:t>
            </a:r>
            <a:br>
              <a:rPr lang="zh-CN" altLang="zh-CN" sz="24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质量均为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静止在光滑水平面上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车上有一静止的质量为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的小孩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9c6be"/>
              </a:rPr>
              <a:t>。</a:t>
            </a:r>
            <a:br>
              <a:rPr lang="zh-CN" altLang="zh-CN" sz="24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现跳到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车上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接着又立即从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车跳到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车上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小孩跳离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车和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23fcd"/>
              </a:rPr>
              <a:t>车时对地</a:t>
            </a:r>
            <a:br>
              <a:rPr lang="zh-CN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的水平速度均为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小孩跳到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车上后相对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车保持静止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4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pic>
            <p:nvPicPr>
              <p:cNvPr id="10381" name="选项公式 29" descr="A. 平板小车a、b、c与小孩四者组成的系统水平方向动量守恒；B. b、c两车运动速率相等；C. b的速度为mv/M；D. a的速度为m/(m+M)v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67931" y="2860710"/>
                <a:ext cx="8193215" cy="3155442"/>
              </a:xfrm>
              <a:prstGeom prst="rect">
                <a:avLst/>
              </a:prstGeom>
            </p:spPr>
          </p:pic>
        </mc:Choice>
        <mc:Fallback xmlns:p15="http://schemas.microsoft.com/office/powerpoint/2012/main" xmlns:p14="http://schemas.microsoft.com/office/powerpoint/2010/main" xmlns:a16="http://schemas.microsoft.com/office/drawing/2014/main" xmlns=""/>
      </mc:AlternateContent>
      <p:pic>
        <p:nvPicPr>
          <p:cNvPr id="10379" name="yt_image_10379_skip" title="H_113.95803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a14="http://schemas.microsoft.com/office/drawing/2010/main" xmlns:p14="http://schemas.microsoft.com/office/powerpoint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15547" y="2860710"/>
            <a:ext cx="3350704" cy="144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567688" y="3080901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567687" y="5758651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338027" y="6427038"/>
            <a:ext cx="3797846" cy="288000"/>
            <a:chOff x="1463551" y="6425622"/>
            <a:chExt cx="3797846" cy="288000"/>
          </a:xfrm>
        </p:grpSpPr>
        <p:sp>
          <p:nvSpPr>
            <p:cNvPr id="10" name="bd7c6f8e-1bca-46f1-bc80-ba0de48c6795" descr="{&quot;SlideID&quot;:&quot;301&quot;,&quot;SlideNumber&quot;:&quot;19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c05f46d5-9cd7-4f99-8876-550994b12674" descr="{&quot;SlideID&quot;:&quot;303&quot;,&quot;SlideNumber&quot;:&quot;21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7192e472-b1f3-4156-86eb-724a51d87c57" descr="{&quot;SlideID&quot;:&quot;304&quot;,&quot;SlideNumber&quot;:&quot;22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004fccff-df81-49e1-8906-13920f7149c2" descr="{&quot;SlideID&quot;:&quot;305&quot;,&quot;SlideNumber&quot;:&quot;23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9c26d380-61dc-43bd-bf0c-ce8063d0fad4" descr="{&quot;SlideID&quot;:&quot;306&quot;,&quot;SlideNumber&quot;:&quot;24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cfc3387c-51bc-4216-a5da-304c02b8a337" descr="{&quot;SlideID&quot;:&quot;307&quot;,&quot;SlideNumber&quot;:&quot;25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ff9fa3f5-a8c9-4d20-a468-de0801966cd7" descr="{&quot;SlideID&quot;:&quot;309&quot;,&quot;SlideNumber&quot;:&quot;27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99ddd2a7-aacf-4632-aae5-a2e35395e8ee" descr="{&quot;SlideID&quot;:&quot;311&quot;,&quot;SlideNumber&quot;:&quot;2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c433ecb2-77d2-44e6-8bb9-e0126823ceb3" descr="{&quot;SlideID&quot;:&quot;313&quot;,&quot;SlideNumber&quot;:&quot;3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fcc9e9d2-df0a-421f-b909-fea3ef89df86" descr="{&quot;SlideID&quot;:&quot;315&quot;,&quot;SlideNumber&quot;:&quot;3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48207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4="http://schemas.microsoft.com/office/drawing/2010/main" xmlns:p14="http://schemas.microsoft.com/office/powerpoint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381" name="yt_shape_10381"/>
              <p:cNvSpPr txBox="1"/>
              <p:nvPr/>
            </p:nvSpPr>
            <p:spPr>
              <a:xfrm>
                <a:off x="324071" y="467999"/>
                <a:ext cx="11924914" cy="579870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443865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平板小车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与小孩四者组成的系统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2_46899"/>
                  </a:rPr>
                  <a:t>水平方向所受的外力矢量和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为零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水平方向动量守恒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对小孩跳离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车的过程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6f59c"/>
                  </a:rPr>
                  <a:t>取水平向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右为正方向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对小孩和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组成的系统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由水平方向动量守恒有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2afc6"/>
                  </a:rPr>
                  <a:t>＋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车的速度为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𝑚𝑣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𝑀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负号表示方向向左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对小孩跳上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54e22"/>
                  </a:rPr>
                  <a:t>车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再跳离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车的过程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由小孩和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组成的系统水平方向动量守恒有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ea17d"/>
                  </a:rPr>
                  <a:t>＝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车最终的速度为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对小孩跳上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1cfd7"/>
                  </a:rPr>
                  <a:t>车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的过程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由动量守恒定律有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6_61d1a"/>
                  </a:rPr>
                  <a:t>车的最终速度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为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𝑚</m:t>
                        </m:r>
                        <m: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𝑀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:p14="http://schemas.microsoft.com/office/powerpoint/2010/main" xmlns:a16="http://schemas.microsoft.com/office/drawing/2014/main" xmlns="">
          <p:sp>
            <p:nvSpPr>
              <p:cNvPr id="10381" name="yt_shape_103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798703"/>
              </a:xfrm>
              <a:prstGeom prst="rect">
                <a:avLst/>
              </a:prstGeom>
              <a:blipFill>
                <a:blip r:embed="rId2"/>
                <a:stretch>
                  <a:fillRect t="-421" r="-12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/>
          <p:cNvGrpSpPr/>
          <p:nvPr/>
        </p:nvGrpSpPr>
        <p:grpSpPr>
          <a:xfrm>
            <a:off x="4338027" y="6427038"/>
            <a:ext cx="3797846" cy="288000"/>
            <a:chOff x="1463551" y="6425622"/>
            <a:chExt cx="3797846" cy="288000"/>
          </a:xfrm>
        </p:grpSpPr>
        <p:sp>
          <p:nvSpPr>
            <p:cNvPr id="10" name="fc9981ae-92a6-42d6-8bb1-ebccc5d276e1" descr="{&quot;SlideID&quot;:&quot;301&quot;,&quot;SlideNumber&quot;:&quot;19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2c6e66fe-1316-4696-85a0-7575a17985b1" descr="{&quot;SlideID&quot;:&quot;303&quot;,&quot;SlideNumber&quot;:&quot;21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1587d66b-c142-4931-b198-7db46ee12b55" descr="{&quot;SlideID&quot;:&quot;304&quot;,&quot;SlideNumber&quot;:&quot;2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14f0c30a-74c2-4d98-903e-ccf11ac15ece" descr="{&quot;SlideID&quot;:&quot;305&quot;,&quot;SlideNumber&quot;:&quot;23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b28bbc9c-5357-48e0-9477-26b9256417e5" descr="{&quot;SlideID&quot;:&quot;306&quot;,&quot;SlideNumber&quot;:&quot;24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2514f460-769f-44ec-9e62-9adaeadfe45e" descr="{&quot;SlideID&quot;:&quot;307&quot;,&quot;SlideNumber&quot;:&quot;25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54c7c8f4-9515-4fdf-9acf-f6126543b30d" descr="{&quot;SlideID&quot;:&quot;309&quot;,&quot;SlideNumber&quot;:&quot;27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908bc4b8-f30e-4fc7-aa3e-1e168d8f5b23" descr="{&quot;SlideID&quot;:&quot;311&quot;,&quot;SlideNumber&quot;:&quot;29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8046aa8e-c1b9-4ae6-9609-322e7a53b088" descr="{&quot;SlideID&quot;:&quot;313&quot;,&quot;SlideNumber&quot;:&quot;31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2bfbd483-4239-4ece-b2e8-275c903404c8" descr="{&quot;SlideID&quot;:&quot;315&quot;,&quot;SlideNumber&quot;:&quot;33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45827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3" name="yt_shape_10383"/>
          <p:cNvSpPr txBox="1"/>
          <p:nvPr/>
        </p:nvSpPr>
        <p:spPr>
          <a:xfrm>
            <a:off x="324071" y="467999"/>
            <a:ext cx="11924914" cy="292599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21665" indent="-621587"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水平光滑地面上依次放置着质量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08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92c57"/>
              </a:rPr>
              <a:t>块完全相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同的长直木板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一质量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大小可忽略的小铜块以初速度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83b67"/>
              </a:rPr>
              <a:t>＝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从长木板左侧滑上木板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当铜块滑离第一块木板时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631eb"/>
              </a:rPr>
              <a:t>速度大小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铜块最终停在第二块木板上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取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d4e34"/>
              </a:rPr>
              <a:t>结果保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留两位有效数字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  <p:pic>
        <p:nvPicPr>
          <p:cNvPr id="10384" name="yt_image_10384">
            <a:extLst>
              <a:ext uri="">
                <a16:creationId xmlns:a16="http://schemas.microsoft.com/office/drawing/2014/main" xmlns:p14="http://schemas.microsoft.com/office/powerpoint/2010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46880" y="3597145"/>
            <a:ext cx="3698239" cy="665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86" name="yt_shape_10386"/>
          <p:cNvSpPr txBox="1"/>
          <p:nvPr/>
        </p:nvSpPr>
        <p:spPr>
          <a:xfrm>
            <a:off x="324000" y="4313139"/>
            <a:ext cx="5475217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1510030" indent="-888254"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第一块木板的最终速度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4338027" y="6427038"/>
            <a:ext cx="3797846" cy="288000"/>
            <a:chOff x="1463551" y="6425622"/>
            <a:chExt cx="3797846" cy="288000"/>
          </a:xfrm>
        </p:grpSpPr>
        <p:sp>
          <p:nvSpPr>
            <p:cNvPr id="10" name="e8ea00cb-ab1d-45e6-957f-8a7d4cd66d0e" descr="{&quot;SlideID&quot;:&quot;301&quot;,&quot;SlideNumber&quot;:&quot;19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36a5092c-241b-49c6-b1d9-ffae1de913e3" descr="{&quot;SlideID&quot;:&quot;303&quot;,&quot;SlideNumber&quot;:&quot;21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89e93d9a-08c0-4417-bf62-d464359f7fc8" descr="{&quot;SlideID&quot;:&quot;304&quot;,&quot;SlideNumber&quot;:&quot;2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44c64cdf-4084-407b-a20f-6bebd13a3358" descr="{&quot;SlideID&quot;:&quot;305&quot;,&quot;SlideNumber&quot;:&quot;23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1381fe18-9245-4b42-8c56-6edff49c996a" descr="{&quot;SlideID&quot;:&quot;306&quot;,&quot;SlideNumber&quot;:&quot;24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42684156-5c09-4e08-a1d5-2ef45867cdde" descr="{&quot;SlideID&quot;:&quot;307&quot;,&quot;SlideNumber&quot;:&quot;25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552afa15-dbf7-4ba9-b589-7d47011efdf3" descr="{&quot;SlideID&quot;:&quot;309&quot;,&quot;SlideNumber&quot;:&quot;27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0d92acfa-3ed6-4fe7-a18e-25004fb78092" descr="{&quot;SlideID&quot;:&quot;311&quot;,&quot;SlideNumber&quot;:&quot;29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da94919d-ba2c-4d4d-b57b-be75a4101bd4" descr="{&quot;SlideID&quot;:&quot;313&quot;,&quot;SlideNumber&quot;:&quot;31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920d246e-4feb-4902-9b24-c67454fa0187" descr="{&quot;SlideID&quot;:&quot;315&quot;,&quot;SlideNumber&quot;:&quot;33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21653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4="http://schemas.microsoft.com/office/drawing/2010/main" xmlns:a16="http://schemas.microsoft.com/office/drawing/2014/main"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8" name="yt_shape_10388"/>
          <p:cNvSpPr txBox="1"/>
          <p:nvPr/>
        </p:nvSpPr>
        <p:spPr>
          <a:xfrm>
            <a:off x="267086" y="1251771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510030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铜块和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块长木板水平方向不受外力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8_c5511"/>
              </a:rPr>
              <a:t>所以水平方向系统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动量守恒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设铜块刚滑到第二块木板时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木板的速度为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_14952"/>
              </a:rPr>
              <a:t>由动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量守恒定律得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</a:p>
        </p:txBody>
      </p:sp>
      <p:sp>
        <p:nvSpPr>
          <p:cNvPr id="10389" name="yt_shape_10389"/>
          <p:cNvSpPr txBox="1"/>
          <p:nvPr/>
        </p:nvSpPr>
        <p:spPr>
          <a:xfrm>
            <a:off x="267015" y="3041240"/>
            <a:ext cx="9413154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1510030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解得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方向与小铜块初速度方向相同。</a:t>
            </a:r>
          </a:p>
        </p:txBody>
      </p:sp>
      <p:sp>
        <p:nvSpPr>
          <p:cNvPr id="4" name="yt_shape_10387"/>
          <p:cNvSpPr txBox="1"/>
          <p:nvPr/>
        </p:nvSpPr>
        <p:spPr>
          <a:xfrm>
            <a:off x="267015" y="668786"/>
            <a:ext cx="877515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1510030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方向与小铜块初速度方向相同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338027" y="6427038"/>
            <a:ext cx="3797846" cy="288000"/>
            <a:chOff x="1463551" y="6425622"/>
            <a:chExt cx="3797846" cy="288000"/>
          </a:xfrm>
        </p:grpSpPr>
        <p:sp>
          <p:nvSpPr>
            <p:cNvPr id="10" name="ef9d7764-994f-4a2a-834f-79dc468520ba" descr="{&quot;SlideID&quot;:&quot;301&quot;,&quot;SlideNumber&quot;:&quot;19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8c38543b-dbcb-4ccb-8603-a888faed1738" descr="{&quot;SlideID&quot;:&quot;303&quot;,&quot;SlideNumber&quot;:&quot;21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f9edce68-94df-46a8-a694-15457cd02294" descr="{&quot;SlideID&quot;:&quot;304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d3d66db7-07e1-47dd-abb8-5db62bbc3787" descr="{&quot;SlideID&quot;:&quot;305&quot;,&quot;SlideNumber&quot;:&quot;23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c4d8da3b-b366-4a58-8673-72bc001b71ae" descr="{&quot;SlideID&quot;:&quot;306&quot;,&quot;SlideNumber&quot;:&quot;2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2ab056d9-8119-44e4-b6e7-e77ce7861cc2" descr="{&quot;SlideID&quot;:&quot;307&quot;,&quot;SlideNumber&quot;:&quot;25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b8fb50a3-a5b7-403a-bf39-c75f2cf5cf44" descr="{&quot;SlideID&quot;:&quot;309&quot;,&quot;SlideNumber&quot;:&quot;27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18bfe611-065e-4b90-808f-3b6c63a568d7" descr="{&quot;SlideID&quot;:&quot;311&quot;,&quot;SlideNumber&quot;:&quot;29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40b57d62-b35b-4cda-8ef2-4a936b22a54f" descr="{&quot;SlideID&quot;:&quot;313&quot;,&quot;SlideNumber&quot;:&quot;31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3df1ecad-cc4d-45b2-9270-f79c94f56b57" descr="{&quot;SlideID&quot;:&quot;315&quot;,&quot;SlideNumber&quot;:&quot;33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353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88" grpId="0"/>
      <p:bldP spid="10389" grpId="0"/>
      <p:bldP spid="4" grpId="0" build="allAtOnce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E"/>
        </a:solidFill>
        <a:effectLst/>
      </p:bgPr>
    </p:bg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0" name="yt_shape_10390"/>
          <p:cNvSpPr txBox="1"/>
          <p:nvPr/>
        </p:nvSpPr>
        <p:spPr>
          <a:xfrm>
            <a:off x="324000" y="467999"/>
            <a:ext cx="3770263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888365" indent="-888254"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铜块的最终速度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0391" name="yt_shape_10391"/>
          <p:cNvSpPr txBox="1"/>
          <p:nvPr/>
        </p:nvSpPr>
        <p:spPr>
          <a:xfrm>
            <a:off x="324000" y="1050984"/>
            <a:ext cx="823719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888365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3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方向与小铜块初速度方向相同</a:t>
            </a:r>
          </a:p>
        </p:txBody>
      </p:sp>
      <p:sp>
        <p:nvSpPr>
          <p:cNvPr id="10392" name="yt_shape_10392"/>
          <p:cNvSpPr txBox="1"/>
          <p:nvPr/>
        </p:nvSpPr>
        <p:spPr>
          <a:xfrm>
            <a:off x="324071" y="163396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88365"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由题意可知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铜块最终停在第二块木板上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7_579bb"/>
              </a:rPr>
              <a:t>设小铜块最终速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度为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由动量守恒定律得</a:t>
            </a:r>
          </a:p>
          <a:p>
            <a:pPr marL="888365" algn="l" eaLnBrk="1" latinLnBrk="0" hangingPunct="0">
              <a:lnSpc>
                <a:spcPct val="140000"/>
              </a:lnSpc>
            </a:pP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Mv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9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mv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＝（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9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</a:p>
        </p:txBody>
      </p:sp>
      <p:sp>
        <p:nvSpPr>
          <p:cNvPr id="10393" name="yt_shape_10393"/>
          <p:cNvSpPr txBox="1"/>
          <p:nvPr/>
        </p:nvSpPr>
        <p:spPr>
          <a:xfrm>
            <a:off x="324000" y="3423438"/>
            <a:ext cx="8785418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888365"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解得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≈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方向与小铜块初速度方向相同。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4338027" y="6427038"/>
            <a:ext cx="3797846" cy="288000"/>
            <a:chOff x="1463551" y="6425622"/>
            <a:chExt cx="3797846" cy="288000"/>
          </a:xfrm>
        </p:grpSpPr>
        <p:sp>
          <p:nvSpPr>
            <p:cNvPr id="10" name="7468e755-4bee-4211-a25b-3aed49eac0ca" descr="{&quot;SlideID&quot;:&quot;301&quot;,&quot;SlideNumber&quot;:&quot;19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f03a16e6-f5c0-4eba-b0df-9e1283eea713" descr="{&quot;SlideID&quot;:&quot;303&quot;,&quot;SlideNumber&quot;:&quot;21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4ff2a8cd-a919-42f7-80c8-ce4b3f4a5619" descr="{&quot;SlideID&quot;:&quot;304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985efac8-422c-4ab4-933a-2254167018b4" descr="{&quot;SlideID&quot;:&quot;305&quot;,&quot;SlideNumber&quot;:&quot;23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f71eed5d-d02e-4a2d-bec6-f7f3cecc4275" descr="{&quot;SlideID&quot;:&quot;306&quot;,&quot;SlideNumber&quot;:&quot;2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aedd5cf7-0c96-46d4-ba8e-0fe68812bb08" descr="{&quot;SlideID&quot;:&quot;307&quot;,&quot;SlideNumber&quot;:&quot;25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951fffe4-6c8d-40ca-833c-d0d0f1f266a8" descr="{&quot;SlideID&quot;:&quot;309&quot;,&quot;SlideNumber&quot;:&quot;27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3f4ee5b-8053-485a-8716-54ba1d50fc9d" descr="{&quot;SlideID&quot;:&quot;311&quot;,&quot;SlideNumber&quot;:&quot;29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4baf437a-6b23-4982-bf1f-be66e089b178" descr="{&quot;SlideID&quot;:&quot;313&quot;,&quot;SlideNumber&quot;:&quot;31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98c2406a-8a50-4f98-8498-15d64ac2aba7" descr="{&quot;SlideID&quot;:&quot;315&quot;,&quot;SlideNumber&quot;:&quot;33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79356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91" grpId="0" build="allAtOnce"/>
      <p:bldP spid="10392" grpId="0"/>
      <p:bldP spid="1039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7C2CE74F-02DD-4AC0-A86F-3C8DF00FACEC}"/>
              </a:ext>
            </a:extLst>
          </p:cNvPr>
          <p:cNvSpPr txBox="1"/>
          <p:nvPr/>
        </p:nvSpPr>
        <p:spPr>
          <a:xfrm>
            <a:off x="2468880" y="1874520"/>
            <a:ext cx="7315200" cy="1143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 sz="8000">
                <a:solidFill>
                  <a:srgbClr val="2B718B"/>
                </a:solidFill>
              </a:defRPr>
            </a:pPr>
            <a:r>
              <a:rPr kumimoji="0" lang="en-US" altLang="zh-CN" sz="8000" b="1" i="0" u="none" strike="noStrike" kern="1200" normalizeH="0" baseline="0" noProof="0" dirty="0">
                <a:solidFill>
                  <a:srgbClr val="2B718B"/>
                </a:solidFill>
                <a:latin typeface="Impact" panose="020B0806030902050204" pitchFamily="34" charset="0"/>
                <a:ea typeface="宋体" pitchFamily="2" charset="-122"/>
                <a:cs typeface="+mn-cs"/>
              </a:rPr>
              <a:t>THANKS</a:t>
            </a:r>
            <a:endParaRPr kumimoji="0" lang="zh-CN" altLang="en-US" sz="8000" b="1" i="0" u="none" strike="noStrike" kern="1200" normalizeH="0" baseline="0" noProof="0" dirty="0">
              <a:solidFill>
                <a:srgbClr val="2B718B"/>
              </a:solidFill>
              <a:latin typeface="Impact" panose="020B080603090205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8DE397-53CD-43DF-B436-EAF0D0085C34}"/>
              </a:ext>
            </a:extLst>
          </p:cNvPr>
          <p:cNvSpPr/>
          <p:nvPr/>
        </p:nvSpPr>
        <p:spPr>
          <a:xfrm>
            <a:off x="2834640" y="3182112"/>
            <a:ext cx="6583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 sz="3100">
                <a:solidFill>
                  <a:srgbClr val="183A4C"/>
                </a:solidFill>
              </a:defRPr>
            </a:pPr>
            <a:r>
              <a:rPr kumimoji="0" lang="zh-CN" altLang="en-US" sz="3100" b="1" i="0" u="none" strike="noStrike" kern="1200" normalizeH="0" baseline="0" noProof="0" dirty="0">
                <a:solidFill>
                  <a:srgbClr val="183A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 Light" panose="020B0502040204020203" pitchFamily="34" charset="-122"/>
              </a:rPr>
              <a:t>演示完毕 感谢观看</a:t>
            </a:r>
          </a:p>
        </p:txBody>
      </p:sp>
    </p:spTree>
    <p:extLst>
      <p:ext uri="{BB962C8B-B14F-4D97-AF65-F5344CB8AC3E}">
        <p14:creationId xmlns:p14="http://schemas.microsoft.com/office/powerpoint/2010/main" val="16908684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:p14="http://schemas.microsoft.com/office/powerpoint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E93AE"/>
      </a:accent1>
      <a:accent2>
        <a:srgbClr val="67B9C8"/>
      </a:accent2>
      <a:accent3>
        <a:srgbClr val="A5A5A5"/>
      </a:accent3>
      <a:accent4>
        <a:srgbClr val="9CD1D9"/>
      </a:accent4>
      <a:accent5>
        <a:srgbClr val="24718E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4103</Words>
  <Application>Microsoft Macintosh PowerPoint</Application>
  <PresentationFormat>Widescreen</PresentationFormat>
  <Paragraphs>294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方正新报宋_GBK</vt:lpstr>
      <vt:lpstr>微软雅黑</vt:lpstr>
      <vt:lpstr>宋体</vt:lpstr>
      <vt:lpstr>华文细黑</vt:lpstr>
      <vt:lpstr>Aparajita</vt:lpstr>
      <vt:lpstr>Arial</vt:lpstr>
      <vt:lpstr>Cambria Math</vt:lpstr>
      <vt:lpstr>Impact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三维设计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三维设计</dc:title>
  <dc:creator>三维设计</dc:creator>
  <cp:lastModifiedBy>Xingyu Shu</cp:lastModifiedBy>
  <cp:revision>60</cp:revision>
  <dcterms:created xsi:type="dcterms:W3CDTF">2025-04-22T02:39:12Z</dcterms:created>
  <dcterms:modified xsi:type="dcterms:W3CDTF">2026-09-18T02:32:04Z</dcterms:modified>
</cp:coreProperties>
</file>