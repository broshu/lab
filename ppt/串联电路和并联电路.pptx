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68" r:id="rId2"/>
    <p:sldId id="317" r:id="rId3"/>
    <p:sldId id="316" r:id="rId4"/>
    <p:sldId id="318" r:id="rId5"/>
    <p:sldId id="257" r:id="rId6"/>
    <p:sldId id="258" r:id="rId7"/>
    <p:sldId id="373" r:id="rId8"/>
    <p:sldId id="287" r:id="rId9"/>
    <p:sldId id="331" r:id="rId10"/>
    <p:sldId id="288" r:id="rId11"/>
    <p:sldId id="295" r:id="rId12"/>
    <p:sldId id="374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B5C46-588A-4E01-997B-A5CCDE7A194F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5B9E9-9775-4504-9C40-9F5400ADD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6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473C-5361-B377-0852-E06FCAAFB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C7CF-7A30-3996-D627-6C952BBA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8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7897-4259-7576-A8C8-BEFD89AE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3CD6-4F66-7CFB-0419-88F8DA37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05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F34DD-B395-2B52-85E5-334C6162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7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9F72-60C6-F486-B7AA-CAE08584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4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5181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9B8540-CEE2-F7E9-7023-B16E3AD7586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42513" y="3588589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80B459-6D70-2486-A082-4FD4ECB381A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6513" y="3588589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0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7039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1C616-F474-9B66-371D-746EF239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CA01-747C-1B2D-6111-783876589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4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2" r:id="rId5"/>
    <p:sldLayoutId id="2147483655" r:id="rId6"/>
    <p:sldLayoutId id="214748365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3FA24-4F11-8497-CEAF-80D6C2C29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串联电路和并联电路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CCCFA9-C3C4-E852-A076-BF91527DE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滑动变阻器的两种接法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2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rawing of a measuring tool&#10;&#10;Description automatically generated">
            <a:extLst>
              <a:ext uri="{FF2B5EF4-FFF2-40B4-BE49-F238E27FC236}">
                <a16:creationId xmlns:a16="http://schemas.microsoft.com/office/drawing/2014/main" id="{E6AD5C1B-19CD-675B-4DE7-3D5F29978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112" y="643466"/>
            <a:ext cx="100557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2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46BE9A-5FD6-39EE-4F73-652DBA73E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3998" y="1201003"/>
            <a:ext cx="4544446" cy="41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9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-up of a measuring device&#10;&#10;Description automatically generated">
            <a:extLst>
              <a:ext uri="{FF2B5EF4-FFF2-40B4-BE49-F238E27FC236}">
                <a16:creationId xmlns:a16="http://schemas.microsoft.com/office/drawing/2014/main" id="{1421A414-7020-20A9-2332-80B21E49A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93" r="-1" b="-1"/>
          <a:stretch/>
        </p:blipFill>
        <p:spPr>
          <a:xfrm>
            <a:off x="4250170" y="1201003"/>
            <a:ext cx="3952102" cy="41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03949-6089-48E8-D26E-477F8AE9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串联电路</a:t>
            </a:r>
            <a:endParaRPr lang="en-US" dirty="0"/>
          </a:p>
        </p:txBody>
      </p:sp>
      <p:pic>
        <p:nvPicPr>
          <p:cNvPr id="1026" name="Picture 2" descr="【2019最新】九年级物理全册第15章探究电路第4节电阻的串联和并联练习(新版)沪科版_word文档在线阅读与下载_免费文档">
            <a:extLst>
              <a:ext uri="{FF2B5EF4-FFF2-40B4-BE49-F238E27FC236}">
                <a16:creationId xmlns:a16="http://schemas.microsoft.com/office/drawing/2014/main" id="{239DBF06-9CB7-77D6-F4DE-526682171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2163" y="1825625"/>
            <a:ext cx="9307674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9688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25EE7-5291-1EEF-D7B8-33119A3F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并联电路</a:t>
            </a:r>
            <a:endParaRPr lang="en-US" dirty="0"/>
          </a:p>
        </p:txBody>
      </p:sp>
      <p:pic>
        <p:nvPicPr>
          <p:cNvPr id="2050" name="Picture 2" descr="并联_并联电路_并联电路图_淘宝助理">
            <a:extLst>
              <a:ext uri="{FF2B5EF4-FFF2-40B4-BE49-F238E27FC236}">
                <a16:creationId xmlns:a16="http://schemas.microsoft.com/office/drawing/2014/main" id="{20924FCD-B3AA-B407-26B9-23CA2412BE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91"/>
          <a:stretch/>
        </p:blipFill>
        <p:spPr bwMode="auto">
          <a:xfrm>
            <a:off x="2989489" y="1825625"/>
            <a:ext cx="6213021" cy="349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44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C4CE215-A2FE-7491-E04B-865E1D424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231" y="365125"/>
            <a:ext cx="8173538" cy="58118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076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8" name="yt_shape_14818"/>
          <p:cNvSpPr txBox="1"/>
          <p:nvPr/>
        </p:nvSpPr>
        <p:spPr>
          <a:xfrm>
            <a:off x="324000" y="786366"/>
            <a:ext cx="475771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滑动变阻器两种接法的比较</a:t>
            </a:r>
          </a:p>
        </p:txBody>
      </p:sp>
      <p:graphicFrame>
        <p:nvGraphicFramePr>
          <p:cNvPr id="14819" name="yt_table_14819" title="H_586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00" y="1471074"/>
          <a:ext cx="11543997" cy="49305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2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endParaRPr/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lnTlToBr w="9522" cap="flat" cmpd="sng" algn="ctr">
                      <a:solidFill>
                        <a:srgbClr val="000000"/>
                      </a:solidFill>
                      <a:prstDash val="solid"/>
                      <a:round/>
                    </a:lnTlToBr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限流式接法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分压式接法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431d2"/>
                        </a:rPr>
                        <a:t>电路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e2894"/>
                        </a:rPr>
                        <a:t>图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1_7e77f"/>
                        </a:rPr>
                        <a:t>电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14373"/>
                        </a:rPr>
                        <a:t>源电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0be66"/>
                        </a:rPr>
                        <a:t>压为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9450" b="0" i="0" u="none">
                          <a:solidFill>
                            <a:srgbClr val="1EE3CF"/>
                          </a:solidFill>
                          <a:effectLst/>
                          <a:latin typeface="Times New Roman" pitchFamily="94"/>
                          <a:ea typeface="Times New Roman" pitchFamily="94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</a:t>
                      </a:r>
                      <a:r>
                        <a:rPr lang="en-US" altLang="zh-CN" sz="2400" b="0" i="0" u="none">
                          <a:solidFill>
                            <a:srgbClr val="1EE3CF"/>
                          </a:solidFill>
                          <a:effectLst/>
                          <a:latin typeface="Times New Roman" pitchFamily="24"/>
                          <a:ea typeface="宋体" pitchFamily="24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100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100"/>
                          <a:ea typeface="Times New Roman" pitchFamily="100"/>
                          <a:sym typeface="Finished"/>
                        </a:rPr>
                        <a:t> </a:t>
                      </a:r>
                      <a:r>
                        <a:rPr lang="en-US" altLang="zh-CN" sz="28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</a:t>
                      </a:r>
                      <a:r>
                        <a:rPr lang="en-US" altLang="zh-CN" sz="300" b="0" i="0" u="none" dirty="0">
                          <a:solidFill>
                            <a:srgbClr val="1EE3CF"/>
                          </a:solidFill>
                          <a:effectLst/>
                          <a:latin typeface="Times New Roman" pitchFamily="3"/>
                          <a:ea typeface="宋体" pitchFamily="3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4e105"/>
                        </a:rPr>
                        <a:t>滑动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dfcbc"/>
                        </a:rPr>
                        <a:t>变阻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97f4f"/>
                        </a:rPr>
                        <a:t>器接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17bdc"/>
                        </a:rPr>
                        <a:t>线的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特点</a:t>
                      </a:r>
                      <a:r>
                        <a:rPr lang="zh-CN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　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2_03580"/>
                        </a:rPr>
                        <a:t>连接变阻器的导线分别接金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2_f0668"/>
                        </a:rPr>
                        <a:t>属杆一端和电阻丝一端的接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线柱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图中变阻器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97156"/>
                        </a:rPr>
                        <a:t>部分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被短路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不起作用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5_10c25"/>
                        </a:rPr>
                        <a:t>连接变阻器的导线分别接金属杆一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端和电阻丝的两端接线柱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。（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8b8df"/>
                        </a:rPr>
                        <a:t>图中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变阻器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、</a:t>
                      </a:r>
                      <a:r>
                        <a:rPr lang="en-US" altLang="zh-CN" sz="2800" b="0" i="0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  <a:r>
                        <a:rPr lang="en-US" altLang="zh-CN" sz="2800" b="0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部分都起作用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2_13666"/>
                        </a:rPr>
                        <a:t>从变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15_458e8"/>
                        </a:rPr>
                        <a:t>阻器上分出一部分电压加到待测电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阻上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yt_shape_1746690637535">
            <a:extLst>
              <a:ext uri="{FF2B5EF4-FFF2-40B4-BE49-F238E27FC236}">
                <a16:creationId xmlns:a16="http://schemas.microsoft.com/office/drawing/2014/main" id="{4070D1A3-8BE2-CA58-5896-9D613CCF86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413" y="2149864"/>
            <a:ext cx="1976627" cy="1640600"/>
          </a:xfrm>
          <a:prstGeom prst="rect">
            <a:avLst/>
          </a:prstGeom>
        </p:spPr>
      </p:pic>
      <p:pic>
        <p:nvPicPr>
          <p:cNvPr id="5" name="yt_shape_1746690637593">
            <a:extLst>
              <a:ext uri="{FF2B5EF4-FFF2-40B4-BE49-F238E27FC236}">
                <a16:creationId xmlns:a16="http://schemas.microsoft.com/office/drawing/2014/main" id="{A665D898-2433-7A3C-C4AB-2F68EED990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45" y="2125461"/>
            <a:ext cx="1660717" cy="1689405"/>
          </a:xfrm>
          <a:prstGeom prst="rect">
            <a:avLst/>
          </a:prstGeom>
        </p:spPr>
      </p:pic>
      <p:sp>
        <p:nvSpPr>
          <p:cNvPr id="6" name="yt_shape_14817"/>
          <p:cNvSpPr txBox="1"/>
          <p:nvPr/>
        </p:nvSpPr>
        <p:spPr>
          <a:xfrm>
            <a:off x="4070500" y="352772"/>
            <a:ext cx="3590727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滑动变阻器的两种接法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p14="http://schemas.microsoft.com/office/powerpoint/2010/main" xmlns:a14="http://schemas.microsoft.com/office/drawing/2010/main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821" name="yt_table_14821" title="H_384.6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4000" y="467999"/>
              <a:ext cx="11543997" cy="488467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090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199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3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lnTlToB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限流式接法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分压式接法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6f912"/>
                            </a:rPr>
                            <a:t>闭合开关前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滑片位置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应在最右端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9_6ff6d"/>
                            </a:rPr>
                            <a:t>即保证滑动变阻器接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入电路中的阻值最大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应在最左端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424db"/>
                            </a:rPr>
                            <a:t>即开始时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两端电压为零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通过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_14901"/>
                            </a:rPr>
                            <a:t>的电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流范围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32d34"/>
                            </a:rPr>
                            <a:t>两端的电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压范围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优点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电路连接简单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耗电少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的电压调节范围大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 xmlns:p14="http://schemas.microsoft.com/office/powerpoint/2010/main" xmlns:a16="http://schemas.microsoft.com/office/drawing/2014/main">
          <p:graphicFrame>
            <p:nvGraphicFramePr>
              <p:cNvPr id="14821" name="yt_table_14821" descr="{&quot;rangeId&quot;:64}" title="H_384.6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6652921"/>
                  </p:ext>
                </p:extLst>
              </p:nvPr>
            </p:nvGraphicFramePr>
            <p:xfrm>
              <a:off x="324000" y="467999"/>
              <a:ext cx="11543997" cy="4884674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090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199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3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849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endParaRPr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lnTlToB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限流式接法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分压式接法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1589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6f912"/>
                            </a:rPr>
                            <a:t>闭合开关前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滑片位置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应在最右端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9_6ff6d"/>
                            </a:rPr>
                            <a:t>即保证滑动变阻器接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入电路中的阻值最大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应在最左端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424db"/>
                            </a:rPr>
                            <a:t>即开始时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两端电压为零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1589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通过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_14901"/>
                            </a:rPr>
                            <a:t>的电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流范围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37969" t="-152261" r="-71413" b="-1663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193798" t="-152261" r="-310" b="-1663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215898"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4_32d34"/>
                            </a:rPr>
                            <a:t>两端的电</a:t>
                          </a:r>
                          <a:b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</a:b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压范围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37969" t="-251000" r="-71413" b="-6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849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优点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电路连接简单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耗电少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的电压调节范围大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3" name="yt_shape_14823"/>
          <p:cNvSpPr txBox="1"/>
          <p:nvPr/>
        </p:nvSpPr>
        <p:spPr>
          <a:xfrm>
            <a:off x="324000" y="467999"/>
            <a:ext cx="296234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两种接法的选择</a:t>
            </a:r>
          </a:p>
        </p:txBody>
      </p:sp>
      <p:sp>
        <p:nvSpPr>
          <p:cNvPr id="14824" name="yt_shape_14824"/>
          <p:cNvSpPr txBox="1"/>
          <p:nvPr/>
        </p:nvSpPr>
        <p:spPr>
          <a:xfrm>
            <a:off x="324000" y="1052010"/>
            <a:ext cx="592469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必须采用分压式接法的几种情况</a:t>
            </a:r>
          </a:p>
        </p:txBody>
      </p:sp>
      <p:sp>
        <p:nvSpPr>
          <p:cNvPr id="14825" name="yt_shape_14825"/>
          <p:cNvSpPr txBox="1"/>
          <p:nvPr/>
        </p:nvSpPr>
        <p:spPr>
          <a:xfrm>
            <a:off x="324000" y="1634995"/>
            <a:ext cx="11131252" cy="51302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要求电压表能从零开始读数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要求电压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测量范围尽可能大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4826" name="yt_shape_14826"/>
          <p:cNvSpPr txBox="1"/>
          <p:nvPr/>
        </p:nvSpPr>
        <p:spPr>
          <a:xfrm>
            <a:off x="324071" y="219880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当待测电阻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≫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滑动变阻器的最大阻值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0_f82f6"/>
              </a:rPr>
              <a:t>限流式接法滑动变阻器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几乎不起作用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）；</a:t>
            </a:r>
          </a:p>
        </p:txBody>
      </p:sp>
      <p:sp>
        <p:nvSpPr>
          <p:cNvPr id="14827" name="yt_shape_14827"/>
          <p:cNvSpPr txBox="1"/>
          <p:nvPr/>
        </p:nvSpPr>
        <p:spPr>
          <a:xfrm>
            <a:off x="324071" y="3365865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若采用限流式接法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2_2bacc"/>
              </a:rPr>
              <a:t>即使滑动变阻器以最大阻值接入电路时的最小电流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仍超过电路中电表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用电器允许的最大电流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7" name="yt_shape_14828"/>
          <p:cNvSpPr txBox="1"/>
          <p:nvPr/>
        </p:nvSpPr>
        <p:spPr>
          <a:xfrm>
            <a:off x="133613" y="4558333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除了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中的三种情况外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一般应优先采用限流式接法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5287a"/>
              </a:rPr>
              <a:t>因为限流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式接法电路简单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能耗低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9" name="yt_shape_14829"/>
          <p:cNvSpPr txBox="1"/>
          <p:nvPr/>
        </p:nvSpPr>
        <p:spPr>
          <a:xfrm>
            <a:off x="324071" y="467999"/>
            <a:ext cx="8527829" cy="15894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【典例】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已知滑动变阻器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的最大阻值是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9b2f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两端电压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4830" name="yt_image_14830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9723" y="612790"/>
            <a:ext cx="2406952" cy="174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32" name="yt_shape_14832"/>
          <p:cNvSpPr txBox="1"/>
          <p:nvPr/>
        </p:nvSpPr>
        <p:spPr>
          <a:xfrm>
            <a:off x="262083" y="1592932"/>
            <a:ext cx="831041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断开时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滑动变阻器属于什么接法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移动滑片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20811"/>
              </a:rPr>
              <a:t>两端电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压的变化范围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4833" name="yt_shape_14833"/>
          <p:cNvSpPr txBox="1"/>
          <p:nvPr/>
        </p:nvSpPr>
        <p:spPr>
          <a:xfrm>
            <a:off x="324071" y="2915721"/>
            <a:ext cx="4651851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限流式接法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4834"/>
              <p:cNvSpPr txBox="1"/>
              <p:nvPr/>
            </p:nvSpPr>
            <p:spPr>
              <a:xfrm>
                <a:off x="324071" y="3655465"/>
                <a:ext cx="11543998" cy="25625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 S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断开时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滑动变阻器为限流式接法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的滑片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5180b"/>
                  </a:rPr>
                  <a:t>以上部分接入电路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当滑片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在最上端时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接入电路的电阻为零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两端的电压最大为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a5a5b"/>
                  </a:rPr>
                  <a:t> 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当滑片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在最下端时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串联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此时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两端的电压最小为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6f03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两端电压的变化范围为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>
          <p:sp>
            <p:nvSpPr>
              <p:cNvPr id="6" name="yt_shape_148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655465"/>
                <a:ext cx="11543998" cy="2562561"/>
              </a:xfrm>
              <a:prstGeom prst="rect">
                <a:avLst/>
              </a:prstGeom>
              <a:blipFill>
                <a:blip r:embed="rId3"/>
                <a:stretch>
                  <a:fillRect l="-1848" t="-2381" r="-1162" b="-1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33" grpId="0" build="allAtOnce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6" name="yt_shape_14836"/>
          <p:cNvSpPr txBox="1"/>
          <p:nvPr/>
        </p:nvSpPr>
        <p:spPr>
          <a:xfrm>
            <a:off x="267086" y="757364"/>
            <a:ext cx="11543998" cy="10408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滑动变阻器属于什么接法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移动滑片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求出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506ca"/>
              </a:rPr>
              <a:t>两端电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压的变化范围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6" name="yt_shape_14837"/>
          <p:cNvSpPr txBox="1"/>
          <p:nvPr/>
        </p:nvSpPr>
        <p:spPr>
          <a:xfrm>
            <a:off x="267015" y="1849026"/>
            <a:ext cx="4292778" cy="50090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分压式接法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</a:p>
        </p:txBody>
      </p:sp>
      <p:sp>
        <p:nvSpPr>
          <p:cNvPr id="7" name="yt_shape_14838">
            <a:extLst>
              <a:ext uri="{FF2B5EF4-FFF2-40B4-BE49-F238E27FC236}">
                <a16:creationId xmlns:a16="http://schemas.microsoft.com/office/drawing/2014/main" id="{2C058C87-3EBC-675A-1186-1FB573EB22DC}"/>
              </a:ext>
            </a:extLst>
          </p:cNvPr>
          <p:cNvSpPr txBox="1"/>
          <p:nvPr/>
        </p:nvSpPr>
        <p:spPr>
          <a:xfrm>
            <a:off x="267086" y="2400732"/>
            <a:ext cx="11924914" cy="16201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闭合时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滑动变阻器为分压式接法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当滑片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在最下端时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e5574"/>
              </a:rPr>
              <a:t>两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端电压为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当滑片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在最上端时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两端的电压最大为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89f0e"/>
              </a:rPr>
              <a:t>两端电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压的变化范围为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1" name="yt_shape_14791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串、并联电路的分析与计算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电路中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660f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4792" name="yt_image_14792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41333" y="1603390"/>
            <a:ext cx="4309332" cy="160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94" name="yt_shape_14794"/>
          <p:cNvSpPr txBox="1"/>
          <p:nvPr/>
        </p:nvSpPr>
        <p:spPr>
          <a:xfrm>
            <a:off x="324000" y="3260373"/>
            <a:ext cx="412933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求电路中的总电阻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4795" name="yt_shape_14795"/>
          <p:cNvSpPr txBox="1"/>
          <p:nvPr/>
        </p:nvSpPr>
        <p:spPr>
          <a:xfrm>
            <a:off x="324000" y="3843358"/>
            <a:ext cx="1083623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加在电路两端的电压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通过每个电阻的电流是多少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4796" name="yt_shape_14796"/>
          <p:cNvSpPr txBox="1"/>
          <p:nvPr/>
        </p:nvSpPr>
        <p:spPr>
          <a:xfrm>
            <a:off x="324000" y="4426343"/>
            <a:ext cx="843820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解题指导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首先要明确各电阻的串、并联关系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sp>
        <p:nvSpPr>
          <p:cNvPr id="14797" name="yt_shape_14797"/>
          <p:cNvSpPr txBox="1"/>
          <p:nvPr/>
        </p:nvSpPr>
        <p:spPr>
          <a:xfrm>
            <a:off x="324071" y="5010354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9_074f9"/>
              </a:rPr>
              <a:t>再结合串、并联电路的特点及电流、电压分配规律和欧姆定律列式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计算。</a:t>
            </a:r>
          </a:p>
        </p:txBody>
      </p:sp>
      <p:sp>
        <p:nvSpPr>
          <p:cNvPr id="8" name="yt_shape_14798"/>
          <p:cNvSpPr txBox="1"/>
          <p:nvPr/>
        </p:nvSpPr>
        <p:spPr>
          <a:xfrm>
            <a:off x="247920" y="6121577"/>
            <a:ext cx="8590365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cademic Chinese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A3A1BD1-C29E-46B9-9C52-C66407E23471}" vid="{0DC283E7-9764-4DA6-8BEE-5C16B60E1DA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Academic Chinese</Template>
  <TotalTime>1170</TotalTime>
  <Words>812</Words>
  <Application>Microsoft Macintosh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方正新报宋_GBK</vt:lpstr>
      <vt:lpstr>微软雅黑</vt:lpstr>
      <vt:lpstr>宋体</vt:lpstr>
      <vt:lpstr>Aptos</vt:lpstr>
      <vt:lpstr>Arial</vt:lpstr>
      <vt:lpstr>Cambria Math</vt:lpstr>
      <vt:lpstr>Times New Roman</vt:lpstr>
      <vt:lpstr>Office 主题​​</vt:lpstr>
      <vt:lpstr>串联电路和并联电路</vt:lpstr>
      <vt:lpstr>PowerPoint Presentation</vt:lpstr>
      <vt:lpstr>PowerPoint Presentation</vt:lpstr>
      <vt:lpstr>PowerPoint Presentation</vt:lpstr>
      <vt:lpstr>串联电路</vt:lpstr>
      <vt:lpstr>并联电路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3</cp:revision>
  <dcterms:created xsi:type="dcterms:W3CDTF">2025-05-20T03:08:44Z</dcterms:created>
  <dcterms:modified xsi:type="dcterms:W3CDTF">2026-05-28T01:07:12Z</dcterms:modified>
</cp:coreProperties>
</file>