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14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3F00"/>
    <a:srgbClr val="99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58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slide" Target="../slides/slide2.xml"/><Relationship Id="rId4" Type="http://schemas.openxmlformats.org/officeDocument/2006/relationships/slide" Target="../slides/slide3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slide" Target="../slides/slide2.xml"/><Relationship Id="rId3" Type="http://schemas.openxmlformats.org/officeDocument/2006/relationships/slide" Target="../slides/slide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slide" Target="../slides/slide2.xml"/><Relationship Id="rId3" Type="http://schemas.openxmlformats.org/officeDocument/2006/relationships/slide" Target="../slides/slide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724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7529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-2"/>
            <a:ext cx="12192000" cy="6875297"/>
          </a:xfrm>
          <a:prstGeom prst="rect">
            <a:avLst/>
          </a:prstGeom>
          <a:solidFill>
            <a:schemeClr val="bg1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圆角矩形 3">
            <a:hlinkClick r:id="rId3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Box 26">
            <a:hlinkClick r:id="rId4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2514679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6"/>
          <p:cNvSpPr txBox="1"/>
          <p:nvPr userDrawn="1"/>
        </p:nvSpPr>
        <p:spPr>
          <a:xfrm>
            <a:off x="706382" y="28047"/>
            <a:ext cx="215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物理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·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方正新报宋_GBK" panose="03000509000000000000" pitchFamily="65" charset="-122"/>
                <a:ea typeface="方正新报宋_GBK" panose="03000509000000000000" pitchFamily="65" charset="-122"/>
                <a:cs typeface="+mn-cs"/>
              </a:rPr>
              <a:t>选择性必修第一册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8758"/>
            <a:ext cx="508986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580369" y="14429"/>
            <a:ext cx="90025" cy="357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016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箭头连接符 12"/>
          <p:cNvCxnSpPr/>
          <p:nvPr userDrawn="1"/>
        </p:nvCxnSpPr>
        <p:spPr>
          <a:xfrm>
            <a:off x="773038" y="366455"/>
            <a:ext cx="11377264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圆角矩形 13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TextBox 26">
            <a:hlinkClick r:id="rId3" action="ppaction://hlinksldjump"/>
          </p:cNvPr>
          <p:cNvSpPr txBox="1"/>
          <p:nvPr userDrawn="1"/>
        </p:nvSpPr>
        <p:spPr>
          <a:xfrm>
            <a:off x="11519592" y="6454003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327615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>
            <a:hlinkClick r:id="rId2" action="ppaction://hlinksldjump"/>
          </p:cNvPr>
          <p:cNvSpPr/>
          <p:nvPr userDrawn="1"/>
        </p:nvSpPr>
        <p:spPr>
          <a:xfrm>
            <a:off x="11519592" y="6475887"/>
            <a:ext cx="554462" cy="2705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TextBox 26">
            <a:hlinkClick r:id="rId3" action="ppaction://hlinksldjump"/>
          </p:cNvPr>
          <p:cNvSpPr txBox="1"/>
          <p:nvPr userDrawn="1"/>
        </p:nvSpPr>
        <p:spPr>
          <a:xfrm>
            <a:off x="11508077" y="6459951"/>
            <a:ext cx="59856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3765" rtl="0" eaLnBrk="1" latinLnBrk="0" hangingPunct="1"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376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 录</a:t>
            </a:r>
          </a:p>
        </p:txBody>
      </p:sp>
    </p:spTree>
    <p:extLst>
      <p:ext uri="{BB962C8B-B14F-4D97-AF65-F5344CB8AC3E}">
        <p14:creationId xmlns:p14="http://schemas.microsoft.com/office/powerpoint/2010/main" val="1029805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0532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36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1" r:id="rId3"/>
    <p:sldLayoutId id="2147483650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hyperlink" Target="https://www.bilibili.com/video/BV1Mg4y1B7E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YTSlide_9_1_0.9_1.3_0.9_1.1__1_1_0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" y="2144142"/>
            <a:ext cx="12208713" cy="2904107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9050" y="2152649"/>
            <a:ext cx="12192000" cy="2895600"/>
          </a:xfrm>
          <a:prstGeom prst="rect">
            <a:avLst/>
          </a:prstGeom>
          <a:solidFill>
            <a:schemeClr val="tx1">
              <a:lumMod val="50000"/>
              <a:lumOff val="50000"/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2458695"/>
            <a:ext cx="121920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latinLnBrk="0" hangingPunct="0"/>
            <a:r>
              <a:rPr lang="zh-CN" altLang="en-US" sz="5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endParaRPr lang="en-US" altLang="zh-CN" sz="55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latinLnBrk="0" hangingPunct="0"/>
            <a:r>
              <a:rPr lang="zh-CN" altLang="en-US" sz="5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验证动量守恒定律</a:t>
            </a:r>
          </a:p>
        </p:txBody>
      </p:sp>
    </p:spTree>
    <p:extLst>
      <p:ext uri="{BB962C8B-B14F-4D97-AF65-F5344CB8AC3E}">
        <p14:creationId xmlns:p14="http://schemas.microsoft.com/office/powerpoint/2010/main" val="35294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1428750"/>
            <a:ext cx="12192000" cy="367030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/>
          <p:cNvCxnSpPr/>
          <p:nvPr/>
        </p:nvCxnSpPr>
        <p:spPr>
          <a:xfrm>
            <a:off x="3953061" y="2060475"/>
            <a:ext cx="0" cy="595635"/>
          </a:xfrm>
          <a:prstGeom prst="line">
            <a:avLst/>
          </a:prstGeom>
          <a:ln w="22225">
            <a:solidFill>
              <a:srgbClr val="22252A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1644576" y="3302066"/>
            <a:ext cx="0" cy="595635"/>
          </a:xfrm>
          <a:prstGeom prst="line">
            <a:avLst/>
          </a:prstGeom>
          <a:ln w="22225">
            <a:solidFill>
              <a:srgbClr val="C00000"/>
            </a:solidFill>
          </a:ln>
          <a:effectLst>
            <a:outerShdw blurRad="101600" dist="38100" dir="2700000" algn="tl" rotWithShape="0">
              <a:prstClr val="black">
                <a:alpha val="25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组合 11"/>
          <p:cNvGrpSpPr/>
          <p:nvPr/>
        </p:nvGrpSpPr>
        <p:grpSpPr>
          <a:xfrm>
            <a:off x="1948306" y="2068901"/>
            <a:ext cx="1798820" cy="1798820"/>
            <a:chOff x="2329306" y="2634955"/>
            <a:chExt cx="1798820" cy="1798820"/>
          </a:xfrm>
        </p:grpSpPr>
        <p:sp>
          <p:nvSpPr>
            <p:cNvPr id="13" name="矩形 12"/>
            <p:cNvSpPr/>
            <p:nvPr/>
          </p:nvSpPr>
          <p:spPr>
            <a:xfrm>
              <a:off x="2329306" y="2634955"/>
              <a:ext cx="1798820" cy="179882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101600" dist="38100" dir="2700000" algn="tl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797975" y="2969317"/>
              <a:ext cx="86433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66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01</a:t>
              </a:r>
              <a:endParaRPr lang="zh-CN" altLang="en-US" sz="66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814911" y="3723965"/>
              <a:ext cx="81785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chemeClr val="bg1"/>
                  </a:solidFill>
                  <a:latin typeface="Aparajita" panose="020B0604020202020204" pitchFamily="34" charset="0"/>
                  <a:cs typeface="Aparajita" panose="020B0604020202020204" pitchFamily="34" charset="0"/>
                </a:rPr>
                <a:t>PART</a:t>
              </a:r>
              <a:endParaRPr lang="zh-CN" altLang="en-US" sz="2400" dirty="0">
                <a:solidFill>
                  <a:schemeClr val="bg1"/>
                </a:solidFill>
                <a:latin typeface="Aparajita" panose="020B0604020202020204" pitchFamily="34" charset="0"/>
                <a:cs typeface="Aparajita" panose="020B0604020202020204" pitchFamily="34" charset="0"/>
              </a:endParaRPr>
            </a:p>
          </p:txBody>
        </p:sp>
      </p:grpSp>
      <p:sp>
        <p:nvSpPr>
          <p:cNvPr id="16" name="文本框 15">
            <a:hlinkClick r:id="rId2" action="ppaction://hlinksldjump"/>
          </p:cNvPr>
          <p:cNvSpPr txBox="1"/>
          <p:nvPr/>
        </p:nvSpPr>
        <p:spPr>
          <a:xfrm>
            <a:off x="4063555" y="2607018"/>
            <a:ext cx="834708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3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实验视频　验证动量守恒定律</a:t>
            </a:r>
          </a:p>
        </p:txBody>
      </p:sp>
    </p:spTree>
    <p:extLst>
      <p:ext uri="{BB962C8B-B14F-4D97-AF65-F5344CB8AC3E}">
        <p14:creationId xmlns:p14="http://schemas.microsoft.com/office/powerpoint/2010/main" val="3558856038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1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1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 tmFilter="0,0; .5, 1; 1, 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YT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视频卡片">
            <a:hlinkClick r:id="rId3"/>
          </p:cNvPr>
          <p:cNvSpPr/>
          <p:nvPr/>
        </p:nvSpPr>
        <p:spPr>
          <a:xfrm>
            <a:off x="1889760" y="777240"/>
            <a:ext cx="8412480" cy="4732020"/>
          </a:xfrm>
          <a:prstGeom prst="roundRect">
            <a:avLst>
              <a:gd name="adj" fmla="val 4000"/>
            </a:avLst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播放按钮">
            <a:hlinkClick r:id="rId3"/>
          </p:cNvPr>
          <p:cNvSpPr/>
          <p:nvPr/>
        </p:nvSpPr>
        <p:spPr>
          <a:xfrm>
            <a:off x="5318760" y="1828800"/>
            <a:ext cx="1554480" cy="155448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播放三角">
            <a:hlinkClick r:id="rId3"/>
          </p:cNvPr>
          <p:cNvSpPr/>
          <p:nvPr/>
        </p:nvSpPr>
        <p:spPr>
          <a:xfrm rot="5400000">
            <a:off x="5885688" y="2276856"/>
            <a:ext cx="566928" cy="65836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视频文字">
            <a:hlinkClick r:id="rId3"/>
          </p:cNvPr>
          <p:cNvSpPr txBox="1"/>
          <p:nvPr/>
        </p:nvSpPr>
        <p:spPr>
          <a:xfrm>
            <a:off x="1889760" y="36576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点击播放视频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FBFBF"/>
                </a:solidFill>
                <a:latin typeface="微软雅黑"/>
                <a:ea typeface="微软雅黑"/>
              </a:rPr>
              <a:t>实验：验证动量守恒定律　·　约 10 分钟</a:t>
            </a:r>
          </a:p>
        </p:txBody>
      </p:sp>
      <p:sp>
        <p:nvSpPr>
          <p:cNvPr id="6" name="来源说明"/>
          <p:cNvSpPr txBox="1"/>
          <p:nvPr/>
        </p:nvSpPr>
        <p:spPr>
          <a:xfrm>
            <a:off x="1889760" y="5618988"/>
            <a:ext cx="8412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595959"/>
                </a:solidFill>
                <a:latin typeface="微软雅黑"/>
                <a:ea typeface="微软雅黑"/>
              </a:rPr>
              <a:t>视频来源：哔哩哔哩 · 北京海淀韩老师（放映时点击画面，在浏览器中打开 B 站播放，需联网）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5126</Words>
  <Application>Microsoft Macintosh PowerPoint</Application>
  <PresentationFormat>Widescreen</PresentationFormat>
  <Paragraphs>439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4" baseType="lpstr">
      <vt:lpstr>方正新报宋_GBK</vt:lpstr>
      <vt:lpstr>微软雅黑</vt:lpstr>
      <vt:lpstr>宋体</vt:lpstr>
      <vt:lpstr>华文细黑</vt:lpstr>
      <vt:lpstr>Aparajita</vt:lpstr>
      <vt:lpstr>Arial</vt:lpstr>
      <vt:lpstr>Cambria Math</vt:lpstr>
      <vt:lpstr>Impact</vt:lpstr>
      <vt:lpstr>Times New Roman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三维设计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三维设计</dc:title>
  <dc:creator>三维设计</dc:creator>
  <cp:lastModifiedBy>Xingyu Shu</cp:lastModifiedBy>
  <cp:revision>65</cp:revision>
  <dcterms:created xsi:type="dcterms:W3CDTF">2025-04-22T02:39:12Z</dcterms:created>
  <dcterms:modified xsi:type="dcterms:W3CDTF">2026-09-23T07:04:12Z</dcterms:modified>
</cp:coreProperties>
</file>