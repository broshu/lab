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media/image19.bin" ContentType="image/png"/>
  <Override PartName="/ppt/media/image20.bin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2" r:id="rId10"/>
    <p:sldId id="290" r:id="rId11"/>
    <p:sldId id="275" r:id="rId12"/>
    <p:sldId id="276" r:id="rId13"/>
    <p:sldId id="277" r:id="rId14"/>
    <p:sldId id="278" r:id="rId15"/>
    <p:sldId id="279" r:id="rId16"/>
    <p:sldId id="280" r:id="rId17"/>
    <p:sldId id="307" r:id="rId18"/>
    <p:sldId id="359" r:id="rId19"/>
    <p:sldId id="361" r:id="rId20"/>
    <p:sldId id="337" r:id="rId21"/>
    <p:sldId id="3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41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23B5A-748F-4A1A-9A8C-6FFF02DE8505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04274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7143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.xml"/><Relationship Id="rId7" Type="http://schemas.openxmlformats.org/officeDocument/2006/relationships/image" Target="../media/image17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5.bin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image" Target="../media/image19.bin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F8BF9-46AF-0122-456C-BDF67E09F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重力与弹力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D345D5-1BFD-A95F-B6DA-8C54DBFE7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Gravity and elasticity</a:t>
            </a:r>
          </a:p>
        </p:txBody>
      </p:sp>
    </p:spTree>
    <p:extLst>
      <p:ext uri="{BB962C8B-B14F-4D97-AF65-F5344CB8AC3E}">
        <p14:creationId xmlns:p14="http://schemas.microsoft.com/office/powerpoint/2010/main" val="183620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6CAC3-1011-67CC-6BA6-AC040F8A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力的作用有哪些？</a:t>
            </a:r>
          </a:p>
        </p:txBody>
      </p:sp>
      <p:pic>
        <p:nvPicPr>
          <p:cNvPr id="5" name="Picture 2" descr="Launch GIFs | Tenor">
            <a:extLst>
              <a:ext uri="{FF2B5EF4-FFF2-40B4-BE49-F238E27FC236}">
                <a16:creationId xmlns:a16="http://schemas.microsoft.com/office/drawing/2014/main" id="{47DB2BFA-1B75-7D67-F4C7-C36B8503AAC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2718594"/>
            <a:ext cx="27940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aradona Hand Of God Goal animated gif">
            <a:extLst>
              <a:ext uri="{FF2B5EF4-FFF2-40B4-BE49-F238E27FC236}">
                <a16:creationId xmlns:a16="http://schemas.microsoft.com/office/drawing/2014/main" id="{9C4BA0E5-ED59-5434-2E06-6D729865855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71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E452-D86E-A21B-A307-39106FFF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AA8BF-5CA4-0454-9B03-445A48A4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力的作用有哪些？</a:t>
            </a:r>
          </a:p>
        </p:txBody>
      </p:sp>
      <p:pic>
        <p:nvPicPr>
          <p:cNvPr id="7" name="Picture 2" descr="Pole Jump GIFs | Tenor">
            <a:extLst>
              <a:ext uri="{FF2B5EF4-FFF2-40B4-BE49-F238E27FC236}">
                <a16:creationId xmlns:a16="http://schemas.microsoft.com/office/drawing/2014/main" id="{E3C3C816-C5BD-FC18-20AE-AF3DEA4037B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281945"/>
            <a:ext cx="5181600" cy="343869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026" name="Picture 2" descr="Breaking Things GIFs - Find &amp; Share on GIPHY">
            <a:extLst>
              <a:ext uri="{FF2B5EF4-FFF2-40B4-BE49-F238E27FC236}">
                <a16:creationId xmlns:a16="http://schemas.microsoft.com/office/drawing/2014/main" id="{5E62C3AC-BDF5-0BA9-4E9B-04D6FADCDA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2610644"/>
            <a:ext cx="29718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14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77744-B92D-C65C-9E15-ABAC45F4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力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981976-FF4D-A6B3-4D8C-C73A495F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力的概念</a:t>
            </a:r>
            <a:endParaRPr lang="en-US" altLang="zh-CN" dirty="0"/>
          </a:p>
          <a:p>
            <a:pPr lvl="1"/>
            <a:r>
              <a:rPr lang="zh-CN" altLang="en-US" dirty="0"/>
              <a:t>力是物体与物体之间的相互作用</a:t>
            </a:r>
            <a:endParaRPr lang="en-US" altLang="zh-CN" dirty="0"/>
          </a:p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力的特征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/>
              <a:t>(1)</a:t>
            </a:r>
            <a:r>
              <a:rPr lang="zh-CN" altLang="en-US" dirty="0"/>
              <a:t>力的物质性（离不开物质）</a:t>
            </a:r>
          </a:p>
          <a:p>
            <a:pPr lvl="1"/>
            <a:r>
              <a:rPr lang="en-US" altLang="zh-CN" dirty="0"/>
              <a:t>(2)</a:t>
            </a:r>
            <a:r>
              <a:rPr lang="zh-CN" altLang="en-US" dirty="0"/>
              <a:t>力的效果性（形变，改变运动状态）</a:t>
            </a:r>
          </a:p>
          <a:p>
            <a:pPr lvl="1"/>
            <a:r>
              <a:rPr lang="en-US" altLang="zh-CN" dirty="0"/>
              <a:t>(3)</a:t>
            </a:r>
            <a:r>
              <a:rPr lang="zh-CN" altLang="en-US" dirty="0"/>
              <a:t>力的相互性（力存在于施力物体和受力物体之间）</a:t>
            </a:r>
          </a:p>
          <a:p>
            <a:pPr lvl="1"/>
            <a:r>
              <a:rPr lang="en-US" altLang="zh-CN" dirty="0"/>
              <a:t>(4)</a:t>
            </a:r>
            <a:r>
              <a:rPr lang="zh-CN" altLang="en-US" dirty="0"/>
              <a:t>力的矢量性（力既有大小，又有方向）</a:t>
            </a:r>
          </a:p>
          <a:p>
            <a:pPr lvl="1"/>
            <a:r>
              <a:rPr lang="en-US" altLang="zh-CN" dirty="0"/>
              <a:t>(5)</a:t>
            </a:r>
            <a:r>
              <a:rPr lang="zh-CN" altLang="en-US" dirty="0"/>
              <a:t>力的瞬时性（力可以发生突变，既可以瞬间产生，也可以瞬间消失）</a:t>
            </a:r>
          </a:p>
          <a:p>
            <a:pPr lvl="1"/>
            <a:r>
              <a:rPr lang="en-US" altLang="zh-CN" dirty="0"/>
              <a:t>(6)</a:t>
            </a:r>
            <a:r>
              <a:rPr lang="zh-CN" altLang="en-US" dirty="0"/>
              <a:t>力的三要素（大小、方向、作用点）</a:t>
            </a:r>
          </a:p>
        </p:txBody>
      </p:sp>
    </p:spTree>
    <p:extLst>
      <p:ext uri="{BB962C8B-B14F-4D97-AF65-F5344CB8AC3E}">
        <p14:creationId xmlns:p14="http://schemas.microsoft.com/office/powerpoint/2010/main" val="289983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25757-BF83-CB0B-8FAF-68B121C3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力的图示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843409-27F1-7FAC-8CD7-2006C0892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力的三要素：大小、方向、作用点。</a:t>
            </a:r>
            <a:endParaRPr lang="en-US" altLang="zh-CN" dirty="0"/>
          </a:p>
          <a:p>
            <a:r>
              <a:rPr lang="zh-CN" altLang="en-US" dirty="0"/>
              <a:t>力的图示：用一根带有箭头的线段来表示力。</a:t>
            </a:r>
            <a:endParaRPr lang="en-US" altLang="zh-CN" dirty="0"/>
          </a:p>
          <a:p>
            <a:r>
              <a:rPr lang="zh-CN" altLang="en-US" dirty="0"/>
              <a:t>力的示意图：只在图中画出力的作用点和方向，表示物体在这个方向上受到了力</a:t>
            </a:r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FA42227-116C-72A1-D1A1-B38368CF1588}"/>
              </a:ext>
            </a:extLst>
          </p:cNvPr>
          <p:cNvGrpSpPr/>
          <p:nvPr/>
        </p:nvGrpSpPr>
        <p:grpSpPr>
          <a:xfrm>
            <a:off x="838200" y="4574241"/>
            <a:ext cx="9501699" cy="1602722"/>
            <a:chOff x="627355" y="2489705"/>
            <a:chExt cx="9501699" cy="1602722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53ECCFC6-36DB-F761-A2D9-D194B5871476}"/>
                </a:ext>
              </a:extLst>
            </p:cNvPr>
            <p:cNvGrpSpPr/>
            <p:nvPr/>
          </p:nvGrpSpPr>
          <p:grpSpPr>
            <a:xfrm>
              <a:off x="4732815" y="2562298"/>
              <a:ext cx="2579316" cy="1530129"/>
              <a:chOff x="3744" y="1290"/>
              <a:chExt cx="1627" cy="129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706C376-5400-B422-5381-8818BB03D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919"/>
                <a:ext cx="416" cy="370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890BB553-88FC-EC80-A312-AC0D6D227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7" y="2125"/>
                <a:ext cx="952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9E218490-8AFB-A154-7E0F-52984C9F47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1" y="1947"/>
                <a:ext cx="230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en-US" altLang="zh-CN" sz="2800" b="1" i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3689F11-09CA-563C-D91B-146CB3EF30DE}"/>
                  </a:ext>
                </a:extLst>
              </p:cNvPr>
              <p:cNvGrpSpPr/>
              <p:nvPr/>
            </p:nvGrpSpPr>
            <p:grpSpPr>
              <a:xfrm>
                <a:off x="4165" y="2025"/>
                <a:ext cx="947" cy="100"/>
                <a:chOff x="3510" y="881"/>
                <a:chExt cx="2080" cy="182"/>
              </a:xfrm>
            </p:grpSpPr>
            <p:sp>
              <p:nvSpPr>
                <p:cNvPr id="19" name="Freeform 15">
                  <a:extLst>
                    <a:ext uri="{FF2B5EF4-FFF2-40B4-BE49-F238E27FC236}">
                      <a16:creationId xmlns:a16="http://schemas.microsoft.com/office/drawing/2014/main" id="{F87D7C49-1C95-A5F8-BD3A-E9FE37AE0C2F}"/>
                    </a:ext>
                  </a:extLst>
                </p:cNvPr>
                <p:cNvSpPr/>
                <p:nvPr/>
              </p:nvSpPr>
              <p:spPr bwMode="auto">
                <a:xfrm>
                  <a:off x="3510" y="881"/>
                  <a:ext cx="680" cy="182"/>
                </a:xfrm>
                <a:custGeom>
                  <a:avLst/>
                  <a:gdLst>
                    <a:gd name="T0" fmla="*/ 0 w 680"/>
                    <a:gd name="T1" fmla="*/ 46 h 182"/>
                    <a:gd name="T2" fmla="*/ 0 w 680"/>
                    <a:gd name="T3" fmla="*/ 182 h 182"/>
                    <a:gd name="T4" fmla="*/ 680 w 680"/>
                    <a:gd name="T5" fmla="*/ 182 h 182"/>
                    <a:gd name="T6" fmla="*/ 680 w 680"/>
                    <a:gd name="T7" fmla="*/ 0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80" h="182">
                      <a:moveTo>
                        <a:pt x="0" y="46"/>
                      </a:moveTo>
                      <a:lnTo>
                        <a:pt x="0" y="182"/>
                      </a:lnTo>
                      <a:lnTo>
                        <a:pt x="680" y="182"/>
                      </a:lnTo>
                      <a:lnTo>
                        <a:pt x="68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Freeform 14">
                  <a:extLst>
                    <a:ext uri="{FF2B5EF4-FFF2-40B4-BE49-F238E27FC236}">
                      <a16:creationId xmlns:a16="http://schemas.microsoft.com/office/drawing/2014/main" id="{C56CA7C9-D939-4FA3-E6E7-ACC01B98C14F}"/>
                    </a:ext>
                  </a:extLst>
                </p:cNvPr>
                <p:cNvSpPr/>
                <p:nvPr/>
              </p:nvSpPr>
              <p:spPr bwMode="auto">
                <a:xfrm>
                  <a:off x="4190" y="881"/>
                  <a:ext cx="680" cy="182"/>
                </a:xfrm>
                <a:custGeom>
                  <a:avLst/>
                  <a:gdLst>
                    <a:gd name="T0" fmla="*/ 0 w 680"/>
                    <a:gd name="T1" fmla="*/ 46 h 182"/>
                    <a:gd name="T2" fmla="*/ 0 w 680"/>
                    <a:gd name="T3" fmla="*/ 182 h 182"/>
                    <a:gd name="T4" fmla="*/ 680 w 680"/>
                    <a:gd name="T5" fmla="*/ 182 h 182"/>
                    <a:gd name="T6" fmla="*/ 680 w 680"/>
                    <a:gd name="T7" fmla="*/ 0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80" h="182">
                      <a:moveTo>
                        <a:pt x="0" y="46"/>
                      </a:moveTo>
                      <a:lnTo>
                        <a:pt x="0" y="182"/>
                      </a:lnTo>
                      <a:lnTo>
                        <a:pt x="680" y="182"/>
                      </a:lnTo>
                      <a:lnTo>
                        <a:pt x="68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Freeform 16">
                  <a:extLst>
                    <a:ext uri="{FF2B5EF4-FFF2-40B4-BE49-F238E27FC236}">
                      <a16:creationId xmlns:a16="http://schemas.microsoft.com/office/drawing/2014/main" id="{4FE79810-DE73-3467-164C-E2FB2F563A58}"/>
                    </a:ext>
                  </a:extLst>
                </p:cNvPr>
                <p:cNvSpPr/>
                <p:nvPr/>
              </p:nvSpPr>
              <p:spPr bwMode="auto">
                <a:xfrm>
                  <a:off x="4870" y="881"/>
                  <a:ext cx="720" cy="182"/>
                </a:xfrm>
                <a:custGeom>
                  <a:avLst/>
                  <a:gdLst>
                    <a:gd name="T0" fmla="*/ 0 w 680"/>
                    <a:gd name="T1" fmla="*/ 46 h 182"/>
                    <a:gd name="T2" fmla="*/ 0 w 680"/>
                    <a:gd name="T3" fmla="*/ 182 h 182"/>
                    <a:gd name="T4" fmla="*/ 680 w 680"/>
                    <a:gd name="T5" fmla="*/ 182 h 182"/>
                    <a:gd name="T6" fmla="*/ 680 w 680"/>
                    <a:gd name="T7" fmla="*/ 0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80" h="182">
                      <a:moveTo>
                        <a:pt x="0" y="46"/>
                      </a:moveTo>
                      <a:lnTo>
                        <a:pt x="0" y="182"/>
                      </a:lnTo>
                      <a:lnTo>
                        <a:pt x="680" y="182"/>
                      </a:lnTo>
                      <a:lnTo>
                        <a:pt x="68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" name="Group 17">
                <a:extLst>
                  <a:ext uri="{FF2B5EF4-FFF2-40B4-BE49-F238E27FC236}">
                    <a16:creationId xmlns:a16="http://schemas.microsoft.com/office/drawing/2014/main" id="{12ADB29F-6882-5401-EB6D-6DE3866DED08}"/>
                  </a:ext>
                </a:extLst>
              </p:cNvPr>
              <p:cNvGrpSpPr/>
              <p:nvPr/>
            </p:nvGrpSpPr>
            <p:grpSpPr>
              <a:xfrm>
                <a:off x="4869" y="1290"/>
                <a:ext cx="411" cy="441"/>
                <a:chOff x="4816" y="2036"/>
                <a:chExt cx="411" cy="441"/>
              </a:xfrm>
            </p:grpSpPr>
            <p:sp>
              <p:nvSpPr>
                <p:cNvPr id="17" name="Freeform 18">
                  <a:extLst>
                    <a:ext uri="{FF2B5EF4-FFF2-40B4-BE49-F238E27FC236}">
                      <a16:creationId xmlns:a16="http://schemas.microsoft.com/office/drawing/2014/main" id="{785E552F-CCAF-542A-88D7-B8844C47D679}"/>
                    </a:ext>
                  </a:extLst>
                </p:cNvPr>
                <p:cNvSpPr/>
                <p:nvPr/>
              </p:nvSpPr>
              <p:spPr bwMode="auto">
                <a:xfrm>
                  <a:off x="4867" y="2423"/>
                  <a:ext cx="317" cy="54"/>
                </a:xfrm>
                <a:custGeom>
                  <a:avLst/>
                  <a:gdLst>
                    <a:gd name="T0" fmla="*/ 0 w 680"/>
                    <a:gd name="T1" fmla="*/ 46 h 182"/>
                    <a:gd name="T2" fmla="*/ 0 w 680"/>
                    <a:gd name="T3" fmla="*/ 182 h 182"/>
                    <a:gd name="T4" fmla="*/ 680 w 680"/>
                    <a:gd name="T5" fmla="*/ 182 h 182"/>
                    <a:gd name="T6" fmla="*/ 680 w 680"/>
                    <a:gd name="T7" fmla="*/ 0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80" h="182">
                      <a:moveTo>
                        <a:pt x="0" y="46"/>
                      </a:moveTo>
                      <a:lnTo>
                        <a:pt x="0" y="182"/>
                      </a:lnTo>
                      <a:lnTo>
                        <a:pt x="680" y="182"/>
                      </a:lnTo>
                      <a:lnTo>
                        <a:pt x="68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Text Box 19">
                  <a:extLst>
                    <a:ext uri="{FF2B5EF4-FFF2-40B4-BE49-F238E27FC236}">
                      <a16:creationId xmlns:a16="http://schemas.microsoft.com/office/drawing/2014/main" id="{BA6E6B98-37DF-9084-C237-87AC2CD3F7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6" y="2036"/>
                  <a:ext cx="411" cy="3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buFontTx/>
                    <a:buNone/>
                  </a:pPr>
                  <a:r>
                    <a:rPr lang="en-US" altLang="zh-CN" sz="2400" b="1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5 N</a:t>
                  </a:r>
                </a:p>
              </p:txBody>
            </p:sp>
          </p:grpSp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65D50938-8B83-F5F2-D2DC-F83ED7DAC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5" y="2143"/>
                <a:ext cx="569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en-US" altLang="zh-CN" sz="2800" b="1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15 N</a:t>
                </a:r>
              </a:p>
            </p:txBody>
          </p:sp>
        </p:grpSp>
        <p:sp>
          <p:nvSpPr>
            <p:cNvPr id="8" name="椭圆形标注 5">
              <a:extLst>
                <a:ext uri="{FF2B5EF4-FFF2-40B4-BE49-F238E27FC236}">
                  <a16:creationId xmlns:a16="http://schemas.microsoft.com/office/drawing/2014/main" id="{569FC17F-9046-8672-1D30-4FB532B0334A}"/>
                </a:ext>
              </a:extLst>
            </p:cNvPr>
            <p:cNvSpPr/>
            <p:nvPr/>
          </p:nvSpPr>
          <p:spPr bwMode="auto">
            <a:xfrm>
              <a:off x="3401221" y="2489705"/>
              <a:ext cx="2871268" cy="606250"/>
            </a:xfrm>
            <a:prstGeom prst="wedgeEllipseCallout">
              <a:avLst>
                <a:gd name="adj1" fmla="val 49778"/>
                <a:gd name="adj2" fmla="val 123741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大小：长度</a:t>
              </a:r>
            </a:p>
          </p:txBody>
        </p:sp>
        <p:sp>
          <p:nvSpPr>
            <p:cNvPr id="9" name="椭圆形标注 38">
              <a:extLst>
                <a:ext uri="{FF2B5EF4-FFF2-40B4-BE49-F238E27FC236}">
                  <a16:creationId xmlns:a16="http://schemas.microsoft.com/office/drawing/2014/main" id="{3279DAE1-CC73-1A38-13AD-7DDCDFC86345}"/>
                </a:ext>
              </a:extLst>
            </p:cNvPr>
            <p:cNvSpPr/>
            <p:nvPr/>
          </p:nvSpPr>
          <p:spPr bwMode="auto">
            <a:xfrm>
              <a:off x="7392342" y="2853384"/>
              <a:ext cx="2736712" cy="593262"/>
            </a:xfrm>
            <a:prstGeom prst="wedgeEllipseCallout">
              <a:avLst>
                <a:gd name="adj1" fmla="val -68684"/>
                <a:gd name="adj2" fmla="val 6435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方向：箭头</a:t>
              </a:r>
            </a:p>
          </p:txBody>
        </p:sp>
        <p:sp>
          <p:nvSpPr>
            <p:cNvPr id="10" name="椭圆形标注 39">
              <a:extLst>
                <a:ext uri="{FF2B5EF4-FFF2-40B4-BE49-F238E27FC236}">
                  <a16:creationId xmlns:a16="http://schemas.microsoft.com/office/drawing/2014/main" id="{090FAE90-4D9F-663F-AEFD-B65E95C253E5}"/>
                </a:ext>
              </a:extLst>
            </p:cNvPr>
            <p:cNvSpPr/>
            <p:nvPr/>
          </p:nvSpPr>
          <p:spPr bwMode="auto">
            <a:xfrm>
              <a:off x="627355" y="2911804"/>
              <a:ext cx="3327861" cy="747538"/>
            </a:xfrm>
            <a:prstGeom prst="wedgeEllipseCallout">
              <a:avLst>
                <a:gd name="adj1" fmla="val 92639"/>
                <a:gd name="adj2" fmla="val 33338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作用点：起点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982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AAEF9-36FA-47DD-F22D-F37295AA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重力</a:t>
            </a:r>
          </a:p>
        </p:txBody>
      </p:sp>
      <p:pic>
        <p:nvPicPr>
          <p:cNvPr id="2052" name="Picture 4" descr="What is Gravity? - EWT">
            <a:extLst>
              <a:ext uri="{FF2B5EF4-FFF2-40B4-BE49-F238E27FC236}">
                <a16:creationId xmlns:a16="http://schemas.microsoft.com/office/drawing/2014/main" id="{76236CF4-9EF4-BCB3-CEE8-3A4DA85E19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794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ntrifugal Force...is it Real? - Science News">
            <a:extLst>
              <a:ext uri="{FF2B5EF4-FFF2-40B4-BE49-F238E27FC236}">
                <a16:creationId xmlns:a16="http://schemas.microsoft.com/office/drawing/2014/main" id="{34A64C9B-37C1-9705-A660-456C2956DEE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2293144"/>
            <a:ext cx="48260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30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C68FA-758C-40BA-95AA-6703E99F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673AE-3CC6-7EA6-CB81-E67CC130C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9772DF7-0115-D6CA-2D85-F8E1AF5B1848}"/>
              </a:ext>
            </a:extLst>
          </p:cNvPr>
          <p:cNvGrpSpPr/>
          <p:nvPr/>
        </p:nvGrpSpPr>
        <p:grpSpPr>
          <a:xfrm>
            <a:off x="2483410" y="2622550"/>
            <a:ext cx="7225179" cy="2757488"/>
            <a:chOff x="2207918" y="3111746"/>
            <a:chExt cx="7225179" cy="2757488"/>
          </a:xfrm>
        </p:grpSpPr>
        <p:grpSp>
          <p:nvGrpSpPr>
            <p:cNvPr id="28" name="Group 34">
              <a:extLst>
                <a:ext uri="{FF2B5EF4-FFF2-40B4-BE49-F238E27FC236}">
                  <a16:creationId xmlns:a16="http://schemas.microsoft.com/office/drawing/2014/main" id="{54F9E35A-E2C1-33A7-3766-857DCB16B702}"/>
                </a:ext>
              </a:extLst>
            </p:cNvPr>
            <p:cNvGrpSpPr/>
            <p:nvPr/>
          </p:nvGrpSpPr>
          <p:grpSpPr>
            <a:xfrm>
              <a:off x="2207918" y="3154609"/>
              <a:ext cx="2393956" cy="2714625"/>
              <a:chOff x="1037" y="2326"/>
              <a:chExt cx="1319" cy="1710"/>
            </a:xfrm>
          </p:grpSpPr>
          <p:sp>
            <p:nvSpPr>
              <p:cNvPr id="35" name="Freeform 9">
                <a:extLst>
                  <a:ext uri="{FF2B5EF4-FFF2-40B4-BE49-F238E27FC236}">
                    <a16:creationId xmlns:a16="http://schemas.microsoft.com/office/drawing/2014/main" id="{9A57BAE8-F4BB-B6DA-EAF6-E81020EBC650}"/>
                  </a:ext>
                </a:extLst>
              </p:cNvPr>
              <p:cNvSpPr/>
              <p:nvPr/>
            </p:nvSpPr>
            <p:spPr bwMode="auto">
              <a:xfrm>
                <a:off x="1037" y="2326"/>
                <a:ext cx="1319" cy="1001"/>
              </a:xfrm>
              <a:custGeom>
                <a:avLst/>
                <a:gdLst>
                  <a:gd name="T0" fmla="*/ 228 w 2017"/>
                  <a:gd name="T1" fmla="*/ 83 h 1476"/>
                  <a:gd name="T2" fmla="*/ 106 w 2017"/>
                  <a:gd name="T3" fmla="*/ 235 h 1476"/>
                  <a:gd name="T4" fmla="*/ 61 w 2017"/>
                  <a:gd name="T5" fmla="*/ 283 h 1476"/>
                  <a:gd name="T6" fmla="*/ 48 w 2017"/>
                  <a:gd name="T7" fmla="*/ 304 h 1476"/>
                  <a:gd name="T8" fmla="*/ 9 w 2017"/>
                  <a:gd name="T9" fmla="*/ 345 h 1476"/>
                  <a:gd name="T10" fmla="*/ 118 w 2017"/>
                  <a:gd name="T11" fmla="*/ 552 h 1476"/>
                  <a:gd name="T12" fmla="*/ 208 w 2017"/>
                  <a:gd name="T13" fmla="*/ 580 h 1476"/>
                  <a:gd name="T14" fmla="*/ 568 w 2017"/>
                  <a:gd name="T15" fmla="*/ 669 h 1476"/>
                  <a:gd name="T16" fmla="*/ 753 w 2017"/>
                  <a:gd name="T17" fmla="*/ 663 h 1476"/>
                  <a:gd name="T18" fmla="*/ 792 w 2017"/>
                  <a:gd name="T19" fmla="*/ 607 h 1476"/>
                  <a:gd name="T20" fmla="*/ 824 w 2017"/>
                  <a:gd name="T21" fmla="*/ 538 h 1476"/>
                  <a:gd name="T22" fmla="*/ 863 w 2017"/>
                  <a:gd name="T23" fmla="*/ 407 h 1476"/>
                  <a:gd name="T24" fmla="*/ 856 w 2017"/>
                  <a:gd name="T25" fmla="*/ 235 h 1476"/>
                  <a:gd name="T26" fmla="*/ 837 w 2017"/>
                  <a:gd name="T27" fmla="*/ 131 h 1476"/>
                  <a:gd name="T28" fmla="*/ 792 w 2017"/>
                  <a:gd name="T29" fmla="*/ 96 h 1476"/>
                  <a:gd name="T30" fmla="*/ 670 w 2017"/>
                  <a:gd name="T31" fmla="*/ 41 h 1476"/>
                  <a:gd name="T32" fmla="*/ 542 w 2017"/>
                  <a:gd name="T33" fmla="*/ 14 h 1476"/>
                  <a:gd name="T34" fmla="*/ 241 w 2017"/>
                  <a:gd name="T35" fmla="*/ 55 h 1476"/>
                  <a:gd name="T36" fmla="*/ 228 w 2017"/>
                  <a:gd name="T37" fmla="*/ 83 h 147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017"/>
                  <a:gd name="T58" fmla="*/ 0 h 1476"/>
                  <a:gd name="T59" fmla="*/ 2017 w 2017"/>
                  <a:gd name="T60" fmla="*/ 1476 h 147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017" h="1476">
                    <a:moveTo>
                      <a:pt x="532" y="180"/>
                    </a:moveTo>
                    <a:cubicBezTo>
                      <a:pt x="467" y="310"/>
                      <a:pt x="353" y="413"/>
                      <a:pt x="247" y="510"/>
                    </a:cubicBezTo>
                    <a:cubicBezTo>
                      <a:pt x="211" y="543"/>
                      <a:pt x="169" y="574"/>
                      <a:pt x="142" y="615"/>
                    </a:cubicBezTo>
                    <a:cubicBezTo>
                      <a:pt x="132" y="630"/>
                      <a:pt x="125" y="647"/>
                      <a:pt x="112" y="660"/>
                    </a:cubicBezTo>
                    <a:cubicBezTo>
                      <a:pt x="0" y="772"/>
                      <a:pt x="93" y="644"/>
                      <a:pt x="22" y="750"/>
                    </a:cubicBezTo>
                    <a:cubicBezTo>
                      <a:pt x="52" y="944"/>
                      <a:pt x="65" y="1115"/>
                      <a:pt x="277" y="1200"/>
                    </a:cubicBezTo>
                    <a:cubicBezTo>
                      <a:pt x="345" y="1227"/>
                      <a:pt x="417" y="1240"/>
                      <a:pt x="487" y="1260"/>
                    </a:cubicBezTo>
                    <a:cubicBezTo>
                      <a:pt x="751" y="1436"/>
                      <a:pt x="1013" y="1441"/>
                      <a:pt x="1327" y="1455"/>
                    </a:cubicBezTo>
                    <a:cubicBezTo>
                      <a:pt x="1472" y="1450"/>
                      <a:pt x="1621" y="1476"/>
                      <a:pt x="1762" y="1440"/>
                    </a:cubicBezTo>
                    <a:cubicBezTo>
                      <a:pt x="1810" y="1428"/>
                      <a:pt x="1852" y="1320"/>
                      <a:pt x="1852" y="1320"/>
                    </a:cubicBezTo>
                    <a:cubicBezTo>
                      <a:pt x="1870" y="1265"/>
                      <a:pt x="1906" y="1225"/>
                      <a:pt x="1927" y="1170"/>
                    </a:cubicBezTo>
                    <a:cubicBezTo>
                      <a:pt x="1961" y="1081"/>
                      <a:pt x="1994" y="978"/>
                      <a:pt x="2017" y="885"/>
                    </a:cubicBezTo>
                    <a:cubicBezTo>
                      <a:pt x="2012" y="760"/>
                      <a:pt x="2010" y="635"/>
                      <a:pt x="2002" y="510"/>
                    </a:cubicBezTo>
                    <a:cubicBezTo>
                      <a:pt x="1999" y="460"/>
                      <a:pt x="1991" y="336"/>
                      <a:pt x="1957" y="285"/>
                    </a:cubicBezTo>
                    <a:cubicBezTo>
                      <a:pt x="1923" y="234"/>
                      <a:pt x="1903" y="239"/>
                      <a:pt x="1852" y="210"/>
                    </a:cubicBezTo>
                    <a:cubicBezTo>
                      <a:pt x="1760" y="157"/>
                      <a:pt x="1668" y="124"/>
                      <a:pt x="1567" y="90"/>
                    </a:cubicBezTo>
                    <a:cubicBezTo>
                      <a:pt x="1471" y="58"/>
                      <a:pt x="1364" y="62"/>
                      <a:pt x="1267" y="30"/>
                    </a:cubicBezTo>
                    <a:cubicBezTo>
                      <a:pt x="1102" y="36"/>
                      <a:pt x="742" y="0"/>
                      <a:pt x="562" y="120"/>
                    </a:cubicBezTo>
                    <a:cubicBezTo>
                      <a:pt x="545" y="172"/>
                      <a:pt x="558" y="154"/>
                      <a:pt x="532" y="180"/>
                    </a:cubicBezTo>
                    <a:close/>
                  </a:path>
                </a:pathLst>
              </a:cu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eaLnBrk="1" hangingPunct="1">
                  <a:defRPr/>
                </a:pPr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10">
                <a:extLst>
                  <a:ext uri="{FF2B5EF4-FFF2-40B4-BE49-F238E27FC236}">
                    <a16:creationId xmlns:a16="http://schemas.microsoft.com/office/drawing/2014/main" id="{C381D411-1040-0439-22B4-DB0F96512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8" y="2906"/>
                <a:ext cx="0" cy="553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11">
                <a:extLst>
                  <a:ext uri="{FF2B5EF4-FFF2-40B4-BE49-F238E27FC236}">
                    <a16:creationId xmlns:a16="http://schemas.microsoft.com/office/drawing/2014/main" id="{4E15422E-6C2C-D820-0F18-67D8F22A9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52" y="2602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12">
                <a:extLst>
                  <a:ext uri="{FF2B5EF4-FFF2-40B4-BE49-F238E27FC236}">
                    <a16:creationId xmlns:a16="http://schemas.microsoft.com/office/drawing/2014/main" id="{3FF51E0C-D954-8C0D-26B1-FB86324B5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95" y="2462"/>
                <a:ext cx="0" cy="29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13">
                <a:extLst>
                  <a:ext uri="{FF2B5EF4-FFF2-40B4-BE49-F238E27FC236}">
                    <a16:creationId xmlns:a16="http://schemas.microsoft.com/office/drawing/2014/main" id="{18874B9A-29E2-E37E-5737-EBED1F4CD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99" y="2500"/>
                <a:ext cx="0" cy="507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14">
                <a:extLst>
                  <a:ext uri="{FF2B5EF4-FFF2-40B4-BE49-F238E27FC236}">
                    <a16:creationId xmlns:a16="http://schemas.microsoft.com/office/drawing/2014/main" id="{D90358ED-91A3-3A0C-B4CF-0EC6D33CB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4" y="2923"/>
                <a:ext cx="0" cy="463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15">
                <a:extLst>
                  <a:ext uri="{FF2B5EF4-FFF2-40B4-BE49-F238E27FC236}">
                    <a16:creationId xmlns:a16="http://schemas.microsoft.com/office/drawing/2014/main" id="{CE6BDEA3-3E6A-F288-B475-5DAD99FFE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2664"/>
                <a:ext cx="0" cy="42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16">
                <a:extLst>
                  <a:ext uri="{FF2B5EF4-FFF2-40B4-BE49-F238E27FC236}">
                    <a16:creationId xmlns:a16="http://schemas.microsoft.com/office/drawing/2014/main" id="{75E7AB6F-E1DE-1020-D226-0A04EA370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2" y="2644"/>
                <a:ext cx="0" cy="417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Line 17">
                <a:extLst>
                  <a:ext uri="{FF2B5EF4-FFF2-40B4-BE49-F238E27FC236}">
                    <a16:creationId xmlns:a16="http://schemas.microsoft.com/office/drawing/2014/main" id="{B7FD9099-468D-4620-EAE4-436C779D1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5" y="2885"/>
                <a:ext cx="0" cy="383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18">
                <a:extLst>
                  <a:ext uri="{FF2B5EF4-FFF2-40B4-BE49-F238E27FC236}">
                    <a16:creationId xmlns:a16="http://schemas.microsoft.com/office/drawing/2014/main" id="{C0410914-8DAE-1FA5-CBA4-84D41489D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7" y="2542"/>
                <a:ext cx="0" cy="473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5" name="Line 19">
                <a:extLst>
                  <a:ext uri="{FF2B5EF4-FFF2-40B4-BE49-F238E27FC236}">
                    <a16:creationId xmlns:a16="http://schemas.microsoft.com/office/drawing/2014/main" id="{A3627F19-7D80-B0D0-D872-0DC688508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97" y="2731"/>
                <a:ext cx="0" cy="519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Rectangle 23">
                <a:extLst>
                  <a:ext uri="{FF2B5EF4-FFF2-40B4-BE49-F238E27FC236}">
                    <a16:creationId xmlns:a16="http://schemas.microsoft.com/office/drawing/2014/main" id="{769036A4-2004-543E-CC83-A15A604FA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6" y="3418"/>
                <a:ext cx="41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楷体" panose="02010609060101010101" pitchFamily="49" charset="-122"/>
                    <a:ea typeface="楷体" panose="02010609060101010101" pitchFamily="49" charset="-122"/>
                  </a:rPr>
                  <a:t>m</a:t>
                </a:r>
                <a:r>
                  <a:rPr kumimoji="1" lang="en-US" altLang="zh-CN" sz="2800" b="1" baseline="-3000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kumimoji="1" lang="en-US" altLang="zh-CN" sz="2800" b="1" i="1">
                    <a:latin typeface="楷体" panose="02010609060101010101" pitchFamily="49" charset="-122"/>
                    <a:ea typeface="楷体" panose="02010609060101010101" pitchFamily="49" charset="-122"/>
                  </a:rPr>
                  <a:t>g</a:t>
                </a:r>
              </a:p>
            </p:txBody>
          </p:sp>
          <p:sp>
            <p:nvSpPr>
              <p:cNvPr id="47" name="Rectangle 24">
                <a:extLst>
                  <a:ext uri="{FF2B5EF4-FFF2-40B4-BE49-F238E27FC236}">
                    <a16:creationId xmlns:a16="http://schemas.microsoft.com/office/drawing/2014/main" id="{A7FF38DD-429C-02D3-6EA9-C8F22252E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3394"/>
                <a:ext cx="64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m</a:t>
                </a:r>
                <a:r>
                  <a:rPr kumimoji="1" lang="en-US" altLang="zh-CN" sz="2800" b="1" baseline="-30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kumimoji="1" lang="en-US" altLang="zh-CN" sz="2800" b="1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g ,</a:t>
                </a:r>
              </a:p>
            </p:txBody>
          </p:sp>
          <p:sp>
            <p:nvSpPr>
              <p:cNvPr id="48" name="Rectangle 25">
                <a:extLst>
                  <a:ext uri="{FF2B5EF4-FFF2-40B4-BE49-F238E27FC236}">
                    <a16:creationId xmlns:a16="http://schemas.microsoft.com/office/drawing/2014/main" id="{4111791C-688F-92B5-2841-477982514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3679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>
                    <a:latin typeface="楷体" panose="02010609060101010101" pitchFamily="49" charset="-122"/>
                    <a:ea typeface="楷体" panose="02010609060101010101" pitchFamily="49" charset="-122"/>
                  </a:rPr>
                  <a:t>…</a:t>
                </a:r>
              </a:p>
            </p:txBody>
          </p:sp>
          <p:sp>
            <p:nvSpPr>
              <p:cNvPr id="49" name="Rectangle 26">
                <a:extLst>
                  <a:ext uri="{FF2B5EF4-FFF2-40B4-BE49-F238E27FC236}">
                    <a16:creationId xmlns:a16="http://schemas.microsoft.com/office/drawing/2014/main" id="{20949781-0340-7C73-1E86-A5810770E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6" y="3706"/>
                <a:ext cx="41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楷体" panose="02010609060101010101" pitchFamily="49" charset="-122"/>
                    <a:ea typeface="楷体" panose="02010609060101010101" pitchFamily="49" charset="-122"/>
                  </a:rPr>
                  <a:t>m</a:t>
                </a:r>
                <a:r>
                  <a:rPr kumimoji="1" lang="en-US" altLang="zh-CN" sz="2800" b="1" baseline="-30000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kumimoji="1" lang="en-US" altLang="zh-CN" sz="2800" b="1" i="1">
                    <a:latin typeface="楷体" panose="02010609060101010101" pitchFamily="49" charset="-122"/>
                    <a:ea typeface="楷体" panose="02010609060101010101" pitchFamily="49" charset="-122"/>
                  </a:rPr>
                  <a:t>g</a:t>
                </a:r>
              </a:p>
            </p:txBody>
          </p:sp>
        </p:grpSp>
        <p:sp>
          <p:nvSpPr>
            <p:cNvPr id="29" name="AutoShape 28">
              <a:extLst>
                <a:ext uri="{FF2B5EF4-FFF2-40B4-BE49-F238E27FC236}">
                  <a16:creationId xmlns:a16="http://schemas.microsoft.com/office/drawing/2014/main" id="{37C47717-0A2B-4576-A068-34D11D5CE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526" y="3861046"/>
              <a:ext cx="1341223" cy="204787"/>
            </a:xfrm>
            <a:prstGeom prst="rightArrow">
              <a:avLst>
                <a:gd name="adj1" fmla="val 50000"/>
                <a:gd name="adj2" fmla="val 143217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EDB42961-BEFC-0719-15CC-69A1F2BC9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3742" y="3111746"/>
              <a:ext cx="1461007" cy="812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kumimoji="1" lang="zh-CN" altLang="en-US" sz="3600" b="1">
                  <a:latin typeface="楷体" panose="02010609060101010101" pitchFamily="49" charset="-122"/>
                  <a:ea typeface="楷体" panose="02010609060101010101" pitchFamily="49" charset="-122"/>
                </a:rPr>
                <a:t>等 效</a:t>
              </a:r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67A1C242-1844-55CD-29F4-16F36455E998}"/>
                </a:ext>
              </a:extLst>
            </p:cNvPr>
            <p:cNvSpPr/>
            <p:nvPr/>
          </p:nvSpPr>
          <p:spPr bwMode="auto">
            <a:xfrm>
              <a:off x="7039223" y="3127621"/>
              <a:ext cx="2393874" cy="1589087"/>
            </a:xfrm>
            <a:custGeom>
              <a:avLst/>
              <a:gdLst>
                <a:gd name="T0" fmla="*/ 228 w 2017"/>
                <a:gd name="T1" fmla="*/ 83 h 1476"/>
                <a:gd name="T2" fmla="*/ 106 w 2017"/>
                <a:gd name="T3" fmla="*/ 235 h 1476"/>
                <a:gd name="T4" fmla="*/ 61 w 2017"/>
                <a:gd name="T5" fmla="*/ 283 h 1476"/>
                <a:gd name="T6" fmla="*/ 48 w 2017"/>
                <a:gd name="T7" fmla="*/ 304 h 1476"/>
                <a:gd name="T8" fmla="*/ 9 w 2017"/>
                <a:gd name="T9" fmla="*/ 345 h 1476"/>
                <a:gd name="T10" fmla="*/ 118 w 2017"/>
                <a:gd name="T11" fmla="*/ 552 h 1476"/>
                <a:gd name="T12" fmla="*/ 208 w 2017"/>
                <a:gd name="T13" fmla="*/ 580 h 1476"/>
                <a:gd name="T14" fmla="*/ 568 w 2017"/>
                <a:gd name="T15" fmla="*/ 669 h 1476"/>
                <a:gd name="T16" fmla="*/ 753 w 2017"/>
                <a:gd name="T17" fmla="*/ 663 h 1476"/>
                <a:gd name="T18" fmla="*/ 792 w 2017"/>
                <a:gd name="T19" fmla="*/ 607 h 1476"/>
                <a:gd name="T20" fmla="*/ 824 w 2017"/>
                <a:gd name="T21" fmla="*/ 538 h 1476"/>
                <a:gd name="T22" fmla="*/ 863 w 2017"/>
                <a:gd name="T23" fmla="*/ 407 h 1476"/>
                <a:gd name="T24" fmla="*/ 856 w 2017"/>
                <a:gd name="T25" fmla="*/ 235 h 1476"/>
                <a:gd name="T26" fmla="*/ 837 w 2017"/>
                <a:gd name="T27" fmla="*/ 131 h 1476"/>
                <a:gd name="T28" fmla="*/ 792 w 2017"/>
                <a:gd name="T29" fmla="*/ 96 h 1476"/>
                <a:gd name="T30" fmla="*/ 670 w 2017"/>
                <a:gd name="T31" fmla="*/ 41 h 1476"/>
                <a:gd name="T32" fmla="*/ 542 w 2017"/>
                <a:gd name="T33" fmla="*/ 14 h 1476"/>
                <a:gd name="T34" fmla="*/ 241 w 2017"/>
                <a:gd name="T35" fmla="*/ 55 h 1476"/>
                <a:gd name="T36" fmla="*/ 228 w 2017"/>
                <a:gd name="T37" fmla="*/ 83 h 147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17"/>
                <a:gd name="T58" fmla="*/ 0 h 1476"/>
                <a:gd name="T59" fmla="*/ 2017 w 2017"/>
                <a:gd name="T60" fmla="*/ 1476 h 147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17" h="1476">
                  <a:moveTo>
                    <a:pt x="532" y="180"/>
                  </a:moveTo>
                  <a:cubicBezTo>
                    <a:pt x="467" y="310"/>
                    <a:pt x="353" y="413"/>
                    <a:pt x="247" y="510"/>
                  </a:cubicBezTo>
                  <a:cubicBezTo>
                    <a:pt x="211" y="543"/>
                    <a:pt x="169" y="574"/>
                    <a:pt x="142" y="615"/>
                  </a:cubicBezTo>
                  <a:cubicBezTo>
                    <a:pt x="132" y="630"/>
                    <a:pt x="125" y="647"/>
                    <a:pt x="112" y="660"/>
                  </a:cubicBezTo>
                  <a:cubicBezTo>
                    <a:pt x="0" y="772"/>
                    <a:pt x="93" y="644"/>
                    <a:pt x="22" y="750"/>
                  </a:cubicBezTo>
                  <a:cubicBezTo>
                    <a:pt x="52" y="944"/>
                    <a:pt x="65" y="1115"/>
                    <a:pt x="277" y="1200"/>
                  </a:cubicBezTo>
                  <a:cubicBezTo>
                    <a:pt x="345" y="1227"/>
                    <a:pt x="417" y="1240"/>
                    <a:pt x="487" y="1260"/>
                  </a:cubicBezTo>
                  <a:cubicBezTo>
                    <a:pt x="751" y="1436"/>
                    <a:pt x="1013" y="1441"/>
                    <a:pt x="1327" y="1455"/>
                  </a:cubicBezTo>
                  <a:cubicBezTo>
                    <a:pt x="1472" y="1450"/>
                    <a:pt x="1621" y="1476"/>
                    <a:pt x="1762" y="1440"/>
                  </a:cubicBezTo>
                  <a:cubicBezTo>
                    <a:pt x="1810" y="1428"/>
                    <a:pt x="1852" y="1320"/>
                    <a:pt x="1852" y="1320"/>
                  </a:cubicBezTo>
                  <a:cubicBezTo>
                    <a:pt x="1870" y="1265"/>
                    <a:pt x="1906" y="1225"/>
                    <a:pt x="1927" y="1170"/>
                  </a:cubicBezTo>
                  <a:cubicBezTo>
                    <a:pt x="1961" y="1081"/>
                    <a:pt x="1994" y="978"/>
                    <a:pt x="2017" y="885"/>
                  </a:cubicBezTo>
                  <a:cubicBezTo>
                    <a:pt x="2012" y="760"/>
                    <a:pt x="2010" y="635"/>
                    <a:pt x="2002" y="510"/>
                  </a:cubicBezTo>
                  <a:cubicBezTo>
                    <a:pt x="1999" y="460"/>
                    <a:pt x="1991" y="336"/>
                    <a:pt x="1957" y="285"/>
                  </a:cubicBezTo>
                  <a:cubicBezTo>
                    <a:pt x="1923" y="234"/>
                    <a:pt x="1903" y="239"/>
                    <a:pt x="1852" y="210"/>
                  </a:cubicBezTo>
                  <a:cubicBezTo>
                    <a:pt x="1760" y="157"/>
                    <a:pt x="1668" y="124"/>
                    <a:pt x="1567" y="90"/>
                  </a:cubicBezTo>
                  <a:cubicBezTo>
                    <a:pt x="1471" y="58"/>
                    <a:pt x="1364" y="62"/>
                    <a:pt x="1267" y="30"/>
                  </a:cubicBezTo>
                  <a:cubicBezTo>
                    <a:pt x="1102" y="36"/>
                    <a:pt x="742" y="0"/>
                    <a:pt x="562" y="120"/>
                  </a:cubicBezTo>
                  <a:cubicBezTo>
                    <a:pt x="545" y="172"/>
                    <a:pt x="558" y="154"/>
                    <a:pt x="532" y="180"/>
                  </a:cubicBezTo>
                  <a:close/>
                </a:path>
              </a:pathLst>
            </a:cu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 eaLnBrk="1" hangingPunct="1">
                <a:defRPr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A8B617-AFB8-BE2D-367C-FD8C42E43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9538" y="5262808"/>
              <a:ext cx="622516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楷体" panose="02010609060101010101" pitchFamily="49" charset="-122"/>
                  <a:ea typeface="楷体" panose="02010609060101010101" pitchFamily="49" charset="-122"/>
                </a:rPr>
                <a:t>mg</a:t>
              </a: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114581E2-49C1-3072-CB7B-9C1CD82AB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0482" y="4175371"/>
              <a:ext cx="0" cy="1604962"/>
            </a:xfrm>
            <a:prstGeom prst="line">
              <a:avLst/>
            </a:prstGeom>
            <a:ln w="57150">
              <a:solidFill>
                <a:srgbClr val="FFFF00"/>
              </a:solidFill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Oval 35">
              <a:extLst>
                <a:ext uri="{FF2B5EF4-FFF2-40B4-BE49-F238E27FC236}">
                  <a16:creationId xmlns:a16="http://schemas.microsoft.com/office/drawing/2014/main" id="{FC863A31-C382-D3E7-9E17-D6CEC6544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3823" y="4026147"/>
              <a:ext cx="173318" cy="152400"/>
            </a:xfrm>
            <a:prstGeom prst="ellipse">
              <a:avLst/>
            </a:prstGeom>
            <a:solidFill>
              <a:srgbClr val="FF0000"/>
            </a:solidFill>
            <a:ln w="57150" algn="ctr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491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A6C97-0772-DD5C-0B12-8E0D597A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8C468F-67A5-6F03-A1FD-D3AE59B1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形状规则</a:t>
            </a:r>
            <a:r>
              <a:rPr kumimoji="1" lang="en-US" altLang="zh-CN" dirty="0"/>
              <a:t>,</a:t>
            </a:r>
            <a:r>
              <a:rPr kumimoji="1" lang="zh-CN" altLang="en-US" dirty="0"/>
              <a:t>质量均匀分布的物体，它的重心在其几何中心处。</a:t>
            </a:r>
            <a:endParaRPr kumimoji="1" lang="en-US" altLang="zh-CN" dirty="0"/>
          </a:p>
          <a:p>
            <a:r>
              <a:rPr kumimoji="1" lang="zh-CN" altLang="en-US" dirty="0"/>
              <a:t>质量分布不均匀的物体，重心的位置除了跟物体的形状有关外，还跟物体内质量的分布有关。</a:t>
            </a:r>
          </a:p>
          <a:p>
            <a:endParaRPr kumimoji="1" lang="zh-CN" altLang="en-US" dirty="0"/>
          </a:p>
        </p:txBody>
      </p:sp>
      <p:pic>
        <p:nvPicPr>
          <p:cNvPr id="4" name="Picture 2" descr="055">
            <a:extLst>
              <a:ext uri="{FF2B5EF4-FFF2-40B4-BE49-F238E27FC236}">
                <a16:creationId xmlns:a16="http://schemas.microsoft.com/office/drawing/2014/main" id="{3E297075-E295-7254-858E-B666903E9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61" r="76135" b="49951"/>
          <a:stretch>
            <a:fillRect/>
          </a:stretch>
        </p:blipFill>
        <p:spPr bwMode="auto">
          <a:xfrm>
            <a:off x="838200" y="3429000"/>
            <a:ext cx="3128962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055">
            <a:extLst>
              <a:ext uri="{FF2B5EF4-FFF2-40B4-BE49-F238E27FC236}">
                <a16:creationId xmlns:a16="http://schemas.microsoft.com/office/drawing/2014/main" id="{4928C08C-6E32-B8A3-6500-1C2F10723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9" t="58556" r="15173" b="31055"/>
          <a:stretch>
            <a:fillRect/>
          </a:stretch>
        </p:blipFill>
        <p:spPr bwMode="auto">
          <a:xfrm>
            <a:off x="4143566" y="3663575"/>
            <a:ext cx="7210234" cy="192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456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031952" y="1406185"/>
            <a:ext cx="9923261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定义：发生弹性形变的物体由于要恢复原来的形状，对与它接触的物体发生力的作用，这种力叫做弹力。</a:t>
            </a:r>
          </a:p>
        </p:txBody>
      </p:sp>
      <p:sp>
        <p:nvSpPr>
          <p:cNvPr id="18" name="矩形 17"/>
          <p:cNvSpPr/>
          <p:nvPr/>
        </p:nvSpPr>
        <p:spPr>
          <a:xfrm>
            <a:off x="1458127" y="2776529"/>
            <a:ext cx="7800172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注意：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弹力不是指“弹簧产生的力”。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某一弹力的产生是</a:t>
            </a:r>
            <a:r>
              <a:rPr lang="zh-CN" altLang="en-US" sz="2800" b="1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施力物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发生弹性形变产生的。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41851" y="586542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三、弹力</a:t>
            </a:r>
          </a:p>
        </p:txBody>
      </p:sp>
      <p:sp>
        <p:nvSpPr>
          <p:cNvPr id="20" name="矩形 19"/>
          <p:cNvSpPr/>
          <p:nvPr/>
        </p:nvSpPr>
        <p:spPr>
          <a:xfrm>
            <a:off x="1031952" y="4707026"/>
            <a:ext cx="6582185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6080" indent="-386080">
              <a:lnSpc>
                <a:spcPct val="130000"/>
              </a:lnSpc>
              <a:buAutoNum type="arabicPeriod" startAt="2"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弹力产生的条件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直接接触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发生弹性形变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7090" name="Group 2"/>
          <p:cNvGrpSpPr/>
          <p:nvPr/>
        </p:nvGrpSpPr>
        <p:grpSpPr>
          <a:xfrm>
            <a:off x="7427913" y="3753022"/>
            <a:ext cx="2163762" cy="1622822"/>
            <a:chOff x="0" y="0"/>
            <a:chExt cx="2163865" cy="2163864"/>
          </a:xfrm>
        </p:grpSpPr>
        <p:sp>
          <p:nvSpPr>
            <p:cNvPr id="2777091" name="椭圆 45"/>
            <p:cNvSpPr>
              <a:spLocks noChangeArrowheads="1"/>
            </p:cNvSpPr>
            <p:nvPr/>
          </p:nvSpPr>
          <p:spPr bwMode="auto">
            <a:xfrm>
              <a:off x="0" y="0"/>
              <a:ext cx="2163865" cy="2163864"/>
            </a:xfrm>
            <a:prstGeom prst="ellipse">
              <a:avLst/>
            </a:prstGeom>
            <a:solidFill>
              <a:srgbClr val="9ED3D7"/>
            </a:solidFill>
            <a:ln w="25400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777092" name="Group 4"/>
            <p:cNvGrpSpPr/>
            <p:nvPr/>
          </p:nvGrpSpPr>
          <p:grpSpPr>
            <a:xfrm>
              <a:off x="637125" y="378922"/>
              <a:ext cx="908347" cy="1121717"/>
              <a:chOff x="0" y="0"/>
              <a:chExt cx="908304" cy="1121664"/>
            </a:xfrm>
          </p:grpSpPr>
          <p:pic>
            <p:nvPicPr>
              <p:cNvPr id="2777093" name="矩形 46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0" y="0"/>
                <a:ext cx="908304" cy="1121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7094" name="Text Box 6"/>
              <p:cNvSpPr txBox="1">
                <a:spLocks noChangeArrowheads="1"/>
              </p:cNvSpPr>
              <p:nvPr/>
            </p:nvSpPr>
            <p:spPr bwMode="auto">
              <a:xfrm>
                <a:off x="240757" y="236713"/>
                <a:ext cx="428608" cy="697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0D0D0D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p:grpSp>
      </p:grpSp>
      <p:pic>
        <p:nvPicPr>
          <p:cNvPr id="2777095" name="组合 3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4740" y="5379175"/>
            <a:ext cx="2670175" cy="15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77100" name="Group 12"/>
          <p:cNvGrpSpPr/>
          <p:nvPr/>
        </p:nvGrpSpPr>
        <p:grpSpPr>
          <a:xfrm>
            <a:off x="6810377" y="3744448"/>
            <a:ext cx="1046163" cy="1684735"/>
            <a:chOff x="0" y="0"/>
            <a:chExt cx="1045908" cy="2246513"/>
          </a:xfrm>
        </p:grpSpPr>
        <p:pic>
          <p:nvPicPr>
            <p:cNvPr id="2777101" name="组合 29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31568" y="3302"/>
              <a:ext cx="182835" cy="2341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777102" name="直接连接符 70"/>
            <p:cNvCxnSpPr>
              <a:cxnSpLocks noChangeShapeType="1"/>
            </p:cNvCxnSpPr>
            <p:nvPr/>
          </p:nvCxnSpPr>
          <p:spPr bwMode="auto">
            <a:xfrm rot="5400000">
              <a:off x="-509038" y="1107381"/>
              <a:ext cx="22147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777103" name="直接连接符 71"/>
          <p:cNvCxnSpPr>
            <a:cxnSpLocks noChangeShapeType="1"/>
          </p:cNvCxnSpPr>
          <p:nvPr/>
        </p:nvCxnSpPr>
        <p:spPr bwMode="auto">
          <a:xfrm rot="10800000" flipV="1">
            <a:off x="7396164" y="5373136"/>
            <a:ext cx="2676525" cy="7144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7104" name="椭圆形标注 78"/>
          <p:cNvSpPr>
            <a:spLocks noChangeArrowheads="1"/>
          </p:cNvSpPr>
          <p:nvPr/>
        </p:nvSpPr>
        <p:spPr bwMode="auto">
          <a:xfrm>
            <a:off x="3242784" y="4193282"/>
            <a:ext cx="3181055" cy="612593"/>
          </a:xfrm>
          <a:prstGeom prst="wedgeEllipseCallout">
            <a:avLst>
              <a:gd name="adj1" fmla="val 75661"/>
              <a:gd name="adj2" fmla="val 5061"/>
            </a:avLst>
          </a:prstGeom>
          <a:noFill/>
          <a:ln w="254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假设没有这面墙</a:t>
            </a:r>
          </a:p>
        </p:txBody>
      </p:sp>
      <p:sp>
        <p:nvSpPr>
          <p:cNvPr id="2777105" name="矩形 79"/>
          <p:cNvSpPr>
            <a:spLocks noChangeArrowheads="1"/>
          </p:cNvSpPr>
          <p:nvPr/>
        </p:nvSpPr>
        <p:spPr bwMode="auto">
          <a:xfrm>
            <a:off x="978027" y="4169862"/>
            <a:ext cx="3874628" cy="121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None/>
            </a:pPr>
            <a:r>
              <a:rPr lang="zh-CN" altLang="en-US" sz="2800" b="1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球动了么？</a:t>
            </a:r>
            <a:endParaRPr lang="en-US" altLang="zh-CN" sz="2800" b="1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None/>
            </a:pPr>
            <a:r>
              <a:rPr lang="zh-CN" altLang="en-US" sz="2800" b="1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能否保持原状？</a:t>
            </a:r>
          </a:p>
        </p:txBody>
      </p:sp>
      <p:sp>
        <p:nvSpPr>
          <p:cNvPr id="2777107" name="TextBox 86"/>
          <p:cNvSpPr txBox="1">
            <a:spLocks noChangeArrowheads="1"/>
          </p:cNvSpPr>
          <p:nvPr/>
        </p:nvSpPr>
        <p:spPr bwMode="auto">
          <a:xfrm>
            <a:off x="9632157" y="3279865"/>
            <a:ext cx="78581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只有支持力    </a:t>
            </a:r>
            <a:endParaRPr lang="en-US" altLang="zh-CN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endParaRPr lang="zh-CN" altLang="en-US" sz="2800" b="1" i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77109" name="椭圆形标注 48"/>
          <p:cNvSpPr>
            <a:spLocks noChangeArrowheads="1"/>
          </p:cNvSpPr>
          <p:nvPr/>
        </p:nvSpPr>
        <p:spPr bwMode="auto">
          <a:xfrm>
            <a:off x="2287124" y="4873553"/>
            <a:ext cx="4136714" cy="661595"/>
          </a:xfrm>
          <a:prstGeom prst="wedgeEllipseCallout">
            <a:avLst>
              <a:gd name="adj1" fmla="val 62805"/>
              <a:gd name="adj2" fmla="val 31261"/>
            </a:avLst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假设没有下面的墙呢</a:t>
            </a:r>
          </a:p>
        </p:txBody>
      </p:sp>
      <p:grpSp>
        <p:nvGrpSpPr>
          <p:cNvPr id="2777110" name="Group 22"/>
          <p:cNvGrpSpPr/>
          <p:nvPr/>
        </p:nvGrpSpPr>
        <p:grpSpPr>
          <a:xfrm>
            <a:off x="7424738" y="3763498"/>
            <a:ext cx="2163762" cy="1622822"/>
            <a:chOff x="0" y="0"/>
            <a:chExt cx="2163865" cy="2163864"/>
          </a:xfrm>
        </p:grpSpPr>
        <p:sp>
          <p:nvSpPr>
            <p:cNvPr id="2777111" name="椭圆 50"/>
            <p:cNvSpPr>
              <a:spLocks noChangeArrowheads="1"/>
            </p:cNvSpPr>
            <p:nvPr/>
          </p:nvSpPr>
          <p:spPr bwMode="auto">
            <a:xfrm>
              <a:off x="0" y="0"/>
              <a:ext cx="2163865" cy="2163864"/>
            </a:xfrm>
            <a:prstGeom prst="ellipse">
              <a:avLst/>
            </a:prstGeom>
            <a:solidFill>
              <a:srgbClr val="9ED3D7"/>
            </a:solidFill>
            <a:ln w="25400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777112" name="Group 24"/>
            <p:cNvGrpSpPr/>
            <p:nvPr/>
          </p:nvGrpSpPr>
          <p:grpSpPr>
            <a:xfrm>
              <a:off x="640300" y="380256"/>
              <a:ext cx="902251" cy="1121716"/>
              <a:chOff x="0" y="0"/>
              <a:chExt cx="902208" cy="1121664"/>
            </a:xfrm>
          </p:grpSpPr>
          <p:pic>
            <p:nvPicPr>
              <p:cNvPr id="2777113" name="矩形 51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0" y="0"/>
                <a:ext cx="902208" cy="1121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7114" name="Text Box 26"/>
              <p:cNvSpPr txBox="1">
                <a:spLocks noChangeArrowheads="1"/>
              </p:cNvSpPr>
              <p:nvPr/>
            </p:nvSpPr>
            <p:spPr bwMode="auto">
              <a:xfrm>
                <a:off x="280376" y="222897"/>
                <a:ext cx="428608" cy="697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0D0D0D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p:grpSp>
      </p:grpSp>
      <p:sp>
        <p:nvSpPr>
          <p:cNvPr id="2777115" name="任意多边形 47"/>
          <p:cNvSpPr/>
          <p:nvPr/>
        </p:nvSpPr>
        <p:spPr bwMode="auto">
          <a:xfrm rot="5400000">
            <a:off x="8530510" y="3847371"/>
            <a:ext cx="296129" cy="3187435"/>
          </a:xfrm>
          <a:custGeom>
            <a:avLst/>
            <a:gdLst>
              <a:gd name="T0" fmla="*/ 68239 w 559558"/>
              <a:gd name="T1" fmla="*/ 2333767 h 2538483"/>
              <a:gd name="T2" fmla="*/ 54591 w 559558"/>
              <a:gd name="T3" fmla="*/ 1815152 h 2538483"/>
              <a:gd name="T4" fmla="*/ 27296 w 559558"/>
              <a:gd name="T5" fmla="*/ 1119116 h 2538483"/>
              <a:gd name="T6" fmla="*/ 13648 w 559558"/>
              <a:gd name="T7" fmla="*/ 682388 h 2538483"/>
              <a:gd name="T8" fmla="*/ 0 w 559558"/>
              <a:gd name="T9" fmla="*/ 600501 h 2538483"/>
              <a:gd name="T10" fmla="*/ 13648 w 559558"/>
              <a:gd name="T11" fmla="*/ 218364 h 2538483"/>
              <a:gd name="T12" fmla="*/ 27296 w 559558"/>
              <a:gd name="T13" fmla="*/ 136477 h 2538483"/>
              <a:gd name="T14" fmla="*/ 95534 w 559558"/>
              <a:gd name="T15" fmla="*/ 54591 h 2538483"/>
              <a:gd name="T16" fmla="*/ 177421 w 559558"/>
              <a:gd name="T17" fmla="*/ 0 h 2538483"/>
              <a:gd name="T18" fmla="*/ 341194 w 559558"/>
              <a:gd name="T19" fmla="*/ 40943 h 2538483"/>
              <a:gd name="T20" fmla="*/ 368490 w 559558"/>
              <a:gd name="T21" fmla="*/ 122829 h 2538483"/>
              <a:gd name="T22" fmla="*/ 395785 w 559558"/>
              <a:gd name="T23" fmla="*/ 163773 h 2538483"/>
              <a:gd name="T24" fmla="*/ 409433 w 559558"/>
              <a:gd name="T25" fmla="*/ 204716 h 2538483"/>
              <a:gd name="T26" fmla="*/ 436728 w 559558"/>
              <a:gd name="T27" fmla="*/ 354841 h 2538483"/>
              <a:gd name="T28" fmla="*/ 464024 w 559558"/>
              <a:gd name="T29" fmla="*/ 464023 h 2538483"/>
              <a:gd name="T30" fmla="*/ 477672 w 559558"/>
              <a:gd name="T31" fmla="*/ 641444 h 2538483"/>
              <a:gd name="T32" fmla="*/ 491319 w 559558"/>
              <a:gd name="T33" fmla="*/ 723331 h 2538483"/>
              <a:gd name="T34" fmla="*/ 504967 w 559558"/>
              <a:gd name="T35" fmla="*/ 1091820 h 2538483"/>
              <a:gd name="T36" fmla="*/ 518615 w 559558"/>
              <a:gd name="T37" fmla="*/ 1501253 h 2538483"/>
              <a:gd name="T38" fmla="*/ 532263 w 559558"/>
              <a:gd name="T39" fmla="*/ 1856095 h 2538483"/>
              <a:gd name="T40" fmla="*/ 559558 w 559558"/>
              <a:gd name="T41" fmla="*/ 2047164 h 2538483"/>
              <a:gd name="T42" fmla="*/ 545910 w 559558"/>
              <a:gd name="T43" fmla="*/ 2347415 h 2538483"/>
              <a:gd name="T44" fmla="*/ 532263 w 559558"/>
              <a:gd name="T45" fmla="*/ 2388358 h 2538483"/>
              <a:gd name="T46" fmla="*/ 450376 w 559558"/>
              <a:gd name="T47" fmla="*/ 2456597 h 2538483"/>
              <a:gd name="T48" fmla="*/ 409433 w 559558"/>
              <a:gd name="T49" fmla="*/ 2497540 h 2538483"/>
              <a:gd name="T50" fmla="*/ 327546 w 559558"/>
              <a:gd name="T51" fmla="*/ 2524835 h 2538483"/>
              <a:gd name="T52" fmla="*/ 286603 w 559558"/>
              <a:gd name="T53" fmla="*/ 2538483 h 2538483"/>
              <a:gd name="T54" fmla="*/ 218364 w 559558"/>
              <a:gd name="T55" fmla="*/ 2524835 h 2538483"/>
              <a:gd name="T56" fmla="*/ 136478 w 559558"/>
              <a:gd name="T57" fmla="*/ 2470244 h 2538483"/>
              <a:gd name="T58" fmla="*/ 95534 w 559558"/>
              <a:gd name="T59" fmla="*/ 2456597 h 2538483"/>
              <a:gd name="T60" fmla="*/ 81887 w 559558"/>
              <a:gd name="T61" fmla="*/ 2415653 h 2538483"/>
              <a:gd name="T62" fmla="*/ 109182 w 559558"/>
              <a:gd name="T63" fmla="*/ 2320119 h 2538483"/>
              <a:gd name="T64" fmla="*/ 68239 w 559558"/>
              <a:gd name="T65" fmla="*/ 2333767 h 2538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59558" h="2538483">
                <a:moveTo>
                  <a:pt x="68239" y="2333767"/>
                </a:moveTo>
                <a:cubicBezTo>
                  <a:pt x="59141" y="2249606"/>
                  <a:pt x="74241" y="2332587"/>
                  <a:pt x="54591" y="1815152"/>
                </a:cubicBezTo>
                <a:cubicBezTo>
                  <a:pt x="27072" y="1090508"/>
                  <a:pt x="71368" y="1427635"/>
                  <a:pt x="27296" y="1119116"/>
                </a:cubicBezTo>
                <a:cubicBezTo>
                  <a:pt x="22747" y="973540"/>
                  <a:pt x="21303" y="827834"/>
                  <a:pt x="13648" y="682388"/>
                </a:cubicBezTo>
                <a:cubicBezTo>
                  <a:pt x="12194" y="654754"/>
                  <a:pt x="0" y="628173"/>
                  <a:pt x="0" y="600501"/>
                </a:cubicBezTo>
                <a:cubicBezTo>
                  <a:pt x="0" y="473041"/>
                  <a:pt x="6163" y="345604"/>
                  <a:pt x="13648" y="218364"/>
                </a:cubicBezTo>
                <a:cubicBezTo>
                  <a:pt x="15273" y="190740"/>
                  <a:pt x="18545" y="162729"/>
                  <a:pt x="27296" y="136477"/>
                </a:cubicBezTo>
                <a:cubicBezTo>
                  <a:pt x="35181" y="112821"/>
                  <a:pt x="78430" y="67894"/>
                  <a:pt x="95534" y="54591"/>
                </a:cubicBezTo>
                <a:cubicBezTo>
                  <a:pt x="121429" y="34451"/>
                  <a:pt x="177421" y="0"/>
                  <a:pt x="177421" y="0"/>
                </a:cubicBezTo>
                <a:cubicBezTo>
                  <a:pt x="198135" y="2589"/>
                  <a:pt x="314070" y="4778"/>
                  <a:pt x="341194" y="40943"/>
                </a:cubicBezTo>
                <a:cubicBezTo>
                  <a:pt x="358457" y="63960"/>
                  <a:pt x="352531" y="98889"/>
                  <a:pt x="368490" y="122829"/>
                </a:cubicBezTo>
                <a:cubicBezTo>
                  <a:pt x="377588" y="136477"/>
                  <a:pt x="388450" y="149102"/>
                  <a:pt x="395785" y="163773"/>
                </a:cubicBezTo>
                <a:cubicBezTo>
                  <a:pt x="402219" y="176640"/>
                  <a:pt x="405481" y="190884"/>
                  <a:pt x="409433" y="204716"/>
                </a:cubicBezTo>
                <a:cubicBezTo>
                  <a:pt x="430396" y="278084"/>
                  <a:pt x="421264" y="262057"/>
                  <a:pt x="436728" y="354841"/>
                </a:cubicBezTo>
                <a:cubicBezTo>
                  <a:pt x="447707" y="420716"/>
                  <a:pt x="446445" y="411288"/>
                  <a:pt x="464024" y="464023"/>
                </a:cubicBezTo>
                <a:cubicBezTo>
                  <a:pt x="468573" y="523163"/>
                  <a:pt x="471463" y="582455"/>
                  <a:pt x="477672" y="641444"/>
                </a:cubicBezTo>
                <a:cubicBezTo>
                  <a:pt x="480569" y="668964"/>
                  <a:pt x="489645" y="695710"/>
                  <a:pt x="491319" y="723331"/>
                </a:cubicBezTo>
                <a:cubicBezTo>
                  <a:pt x="498755" y="846020"/>
                  <a:pt x="500657" y="968982"/>
                  <a:pt x="504967" y="1091820"/>
                </a:cubicBezTo>
                <a:cubicBezTo>
                  <a:pt x="509755" y="1228289"/>
                  <a:pt x="513741" y="1364787"/>
                  <a:pt x="518615" y="1501253"/>
                </a:cubicBezTo>
                <a:cubicBezTo>
                  <a:pt x="522840" y="1619546"/>
                  <a:pt x="525312" y="1737931"/>
                  <a:pt x="532263" y="1856095"/>
                </a:cubicBezTo>
                <a:cubicBezTo>
                  <a:pt x="535369" y="1908898"/>
                  <a:pt x="550423" y="1992353"/>
                  <a:pt x="559558" y="2047164"/>
                </a:cubicBezTo>
                <a:cubicBezTo>
                  <a:pt x="555009" y="2147248"/>
                  <a:pt x="553899" y="2247547"/>
                  <a:pt x="545910" y="2347415"/>
                </a:cubicBezTo>
                <a:cubicBezTo>
                  <a:pt x="544763" y="2361755"/>
                  <a:pt x="540243" y="2376388"/>
                  <a:pt x="532263" y="2388358"/>
                </a:cubicBezTo>
                <a:cubicBezTo>
                  <a:pt x="502361" y="2433210"/>
                  <a:pt x="488137" y="2425129"/>
                  <a:pt x="450376" y="2456597"/>
                </a:cubicBezTo>
                <a:cubicBezTo>
                  <a:pt x="435549" y="2468953"/>
                  <a:pt x="426305" y="2488167"/>
                  <a:pt x="409433" y="2497540"/>
                </a:cubicBezTo>
                <a:cubicBezTo>
                  <a:pt x="384282" y="2511513"/>
                  <a:pt x="354842" y="2515737"/>
                  <a:pt x="327546" y="2524835"/>
                </a:cubicBezTo>
                <a:lnTo>
                  <a:pt x="286603" y="2538483"/>
                </a:lnTo>
                <a:cubicBezTo>
                  <a:pt x="263857" y="2533934"/>
                  <a:pt x="239482" y="2534434"/>
                  <a:pt x="218364" y="2524835"/>
                </a:cubicBezTo>
                <a:cubicBezTo>
                  <a:pt x="188499" y="2511260"/>
                  <a:pt x="167600" y="2480617"/>
                  <a:pt x="136478" y="2470244"/>
                </a:cubicBezTo>
                <a:lnTo>
                  <a:pt x="95534" y="2456597"/>
                </a:lnTo>
                <a:cubicBezTo>
                  <a:pt x="90985" y="2442949"/>
                  <a:pt x="81887" y="2430039"/>
                  <a:pt x="81887" y="2415653"/>
                </a:cubicBezTo>
                <a:cubicBezTo>
                  <a:pt x="81887" y="2396618"/>
                  <a:pt x="117572" y="2336899"/>
                  <a:pt x="109182" y="2320119"/>
                </a:cubicBezTo>
                <a:cubicBezTo>
                  <a:pt x="103079" y="2307912"/>
                  <a:pt x="77337" y="2417928"/>
                  <a:pt x="68239" y="2333767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57150" cap="flat" cmpd="sng">
            <a:solidFill>
              <a:srgbClr val="FF3300"/>
            </a:solidFill>
            <a:round/>
          </a:ln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77116" name="任意多边形 76"/>
          <p:cNvSpPr/>
          <p:nvPr/>
        </p:nvSpPr>
        <p:spPr bwMode="auto">
          <a:xfrm>
            <a:off x="7156101" y="3623004"/>
            <a:ext cx="354774" cy="1903809"/>
          </a:xfrm>
          <a:custGeom>
            <a:avLst/>
            <a:gdLst>
              <a:gd name="T0" fmla="*/ 68239 w 559558"/>
              <a:gd name="T1" fmla="*/ 2333767 h 2538483"/>
              <a:gd name="T2" fmla="*/ 54591 w 559558"/>
              <a:gd name="T3" fmla="*/ 1815152 h 2538483"/>
              <a:gd name="T4" fmla="*/ 27296 w 559558"/>
              <a:gd name="T5" fmla="*/ 1119116 h 2538483"/>
              <a:gd name="T6" fmla="*/ 13648 w 559558"/>
              <a:gd name="T7" fmla="*/ 682388 h 2538483"/>
              <a:gd name="T8" fmla="*/ 0 w 559558"/>
              <a:gd name="T9" fmla="*/ 600501 h 2538483"/>
              <a:gd name="T10" fmla="*/ 13648 w 559558"/>
              <a:gd name="T11" fmla="*/ 218364 h 2538483"/>
              <a:gd name="T12" fmla="*/ 27296 w 559558"/>
              <a:gd name="T13" fmla="*/ 136477 h 2538483"/>
              <a:gd name="T14" fmla="*/ 95534 w 559558"/>
              <a:gd name="T15" fmla="*/ 54591 h 2538483"/>
              <a:gd name="T16" fmla="*/ 177421 w 559558"/>
              <a:gd name="T17" fmla="*/ 0 h 2538483"/>
              <a:gd name="T18" fmla="*/ 341194 w 559558"/>
              <a:gd name="T19" fmla="*/ 40943 h 2538483"/>
              <a:gd name="T20" fmla="*/ 368490 w 559558"/>
              <a:gd name="T21" fmla="*/ 122829 h 2538483"/>
              <a:gd name="T22" fmla="*/ 395785 w 559558"/>
              <a:gd name="T23" fmla="*/ 163773 h 2538483"/>
              <a:gd name="T24" fmla="*/ 409433 w 559558"/>
              <a:gd name="T25" fmla="*/ 204716 h 2538483"/>
              <a:gd name="T26" fmla="*/ 436728 w 559558"/>
              <a:gd name="T27" fmla="*/ 354841 h 2538483"/>
              <a:gd name="T28" fmla="*/ 464024 w 559558"/>
              <a:gd name="T29" fmla="*/ 464023 h 2538483"/>
              <a:gd name="T30" fmla="*/ 477672 w 559558"/>
              <a:gd name="T31" fmla="*/ 641444 h 2538483"/>
              <a:gd name="T32" fmla="*/ 491319 w 559558"/>
              <a:gd name="T33" fmla="*/ 723331 h 2538483"/>
              <a:gd name="T34" fmla="*/ 504967 w 559558"/>
              <a:gd name="T35" fmla="*/ 1091820 h 2538483"/>
              <a:gd name="T36" fmla="*/ 518615 w 559558"/>
              <a:gd name="T37" fmla="*/ 1501253 h 2538483"/>
              <a:gd name="T38" fmla="*/ 532263 w 559558"/>
              <a:gd name="T39" fmla="*/ 1856095 h 2538483"/>
              <a:gd name="T40" fmla="*/ 559558 w 559558"/>
              <a:gd name="T41" fmla="*/ 2047164 h 2538483"/>
              <a:gd name="T42" fmla="*/ 545910 w 559558"/>
              <a:gd name="T43" fmla="*/ 2347415 h 2538483"/>
              <a:gd name="T44" fmla="*/ 532263 w 559558"/>
              <a:gd name="T45" fmla="*/ 2388358 h 2538483"/>
              <a:gd name="T46" fmla="*/ 450376 w 559558"/>
              <a:gd name="T47" fmla="*/ 2456597 h 2538483"/>
              <a:gd name="T48" fmla="*/ 409433 w 559558"/>
              <a:gd name="T49" fmla="*/ 2497540 h 2538483"/>
              <a:gd name="T50" fmla="*/ 327546 w 559558"/>
              <a:gd name="T51" fmla="*/ 2524835 h 2538483"/>
              <a:gd name="T52" fmla="*/ 286603 w 559558"/>
              <a:gd name="T53" fmla="*/ 2538483 h 2538483"/>
              <a:gd name="T54" fmla="*/ 218364 w 559558"/>
              <a:gd name="T55" fmla="*/ 2524835 h 2538483"/>
              <a:gd name="T56" fmla="*/ 136478 w 559558"/>
              <a:gd name="T57" fmla="*/ 2470244 h 2538483"/>
              <a:gd name="T58" fmla="*/ 95534 w 559558"/>
              <a:gd name="T59" fmla="*/ 2456597 h 2538483"/>
              <a:gd name="T60" fmla="*/ 81887 w 559558"/>
              <a:gd name="T61" fmla="*/ 2415653 h 2538483"/>
              <a:gd name="T62" fmla="*/ 109182 w 559558"/>
              <a:gd name="T63" fmla="*/ 2320119 h 2538483"/>
              <a:gd name="T64" fmla="*/ 68239 w 559558"/>
              <a:gd name="T65" fmla="*/ 2333767 h 2538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59558" h="2538483">
                <a:moveTo>
                  <a:pt x="68239" y="2333767"/>
                </a:moveTo>
                <a:cubicBezTo>
                  <a:pt x="59141" y="2249606"/>
                  <a:pt x="74241" y="2332587"/>
                  <a:pt x="54591" y="1815152"/>
                </a:cubicBezTo>
                <a:cubicBezTo>
                  <a:pt x="27072" y="1090508"/>
                  <a:pt x="71368" y="1427635"/>
                  <a:pt x="27296" y="1119116"/>
                </a:cubicBezTo>
                <a:cubicBezTo>
                  <a:pt x="22747" y="973540"/>
                  <a:pt x="21303" y="827834"/>
                  <a:pt x="13648" y="682388"/>
                </a:cubicBezTo>
                <a:cubicBezTo>
                  <a:pt x="12194" y="654754"/>
                  <a:pt x="0" y="628173"/>
                  <a:pt x="0" y="600501"/>
                </a:cubicBezTo>
                <a:cubicBezTo>
                  <a:pt x="0" y="473041"/>
                  <a:pt x="6163" y="345604"/>
                  <a:pt x="13648" y="218364"/>
                </a:cubicBezTo>
                <a:cubicBezTo>
                  <a:pt x="15273" y="190740"/>
                  <a:pt x="18545" y="162729"/>
                  <a:pt x="27296" y="136477"/>
                </a:cubicBezTo>
                <a:cubicBezTo>
                  <a:pt x="35181" y="112821"/>
                  <a:pt x="78430" y="67894"/>
                  <a:pt x="95534" y="54591"/>
                </a:cubicBezTo>
                <a:cubicBezTo>
                  <a:pt x="121429" y="34451"/>
                  <a:pt x="177421" y="0"/>
                  <a:pt x="177421" y="0"/>
                </a:cubicBezTo>
                <a:cubicBezTo>
                  <a:pt x="198135" y="2589"/>
                  <a:pt x="314070" y="4778"/>
                  <a:pt x="341194" y="40943"/>
                </a:cubicBezTo>
                <a:cubicBezTo>
                  <a:pt x="358457" y="63960"/>
                  <a:pt x="352531" y="98889"/>
                  <a:pt x="368490" y="122829"/>
                </a:cubicBezTo>
                <a:cubicBezTo>
                  <a:pt x="377588" y="136477"/>
                  <a:pt x="388450" y="149102"/>
                  <a:pt x="395785" y="163773"/>
                </a:cubicBezTo>
                <a:cubicBezTo>
                  <a:pt x="402219" y="176640"/>
                  <a:pt x="405481" y="190884"/>
                  <a:pt x="409433" y="204716"/>
                </a:cubicBezTo>
                <a:cubicBezTo>
                  <a:pt x="430396" y="278084"/>
                  <a:pt x="421264" y="262057"/>
                  <a:pt x="436728" y="354841"/>
                </a:cubicBezTo>
                <a:cubicBezTo>
                  <a:pt x="447707" y="420716"/>
                  <a:pt x="446445" y="411288"/>
                  <a:pt x="464024" y="464023"/>
                </a:cubicBezTo>
                <a:cubicBezTo>
                  <a:pt x="468573" y="523163"/>
                  <a:pt x="471463" y="582455"/>
                  <a:pt x="477672" y="641444"/>
                </a:cubicBezTo>
                <a:cubicBezTo>
                  <a:pt x="480569" y="668964"/>
                  <a:pt x="489645" y="695710"/>
                  <a:pt x="491319" y="723331"/>
                </a:cubicBezTo>
                <a:cubicBezTo>
                  <a:pt x="498755" y="846020"/>
                  <a:pt x="500657" y="968982"/>
                  <a:pt x="504967" y="1091820"/>
                </a:cubicBezTo>
                <a:cubicBezTo>
                  <a:pt x="509755" y="1228289"/>
                  <a:pt x="513741" y="1364787"/>
                  <a:pt x="518615" y="1501253"/>
                </a:cubicBezTo>
                <a:cubicBezTo>
                  <a:pt x="522840" y="1619546"/>
                  <a:pt x="525312" y="1737931"/>
                  <a:pt x="532263" y="1856095"/>
                </a:cubicBezTo>
                <a:cubicBezTo>
                  <a:pt x="535369" y="1908898"/>
                  <a:pt x="550423" y="1992353"/>
                  <a:pt x="559558" y="2047164"/>
                </a:cubicBezTo>
                <a:cubicBezTo>
                  <a:pt x="555009" y="2147248"/>
                  <a:pt x="553899" y="2247547"/>
                  <a:pt x="545910" y="2347415"/>
                </a:cubicBezTo>
                <a:cubicBezTo>
                  <a:pt x="544763" y="2361755"/>
                  <a:pt x="540243" y="2376388"/>
                  <a:pt x="532263" y="2388358"/>
                </a:cubicBezTo>
                <a:cubicBezTo>
                  <a:pt x="502361" y="2433210"/>
                  <a:pt x="488137" y="2425129"/>
                  <a:pt x="450376" y="2456597"/>
                </a:cubicBezTo>
                <a:cubicBezTo>
                  <a:pt x="435549" y="2468953"/>
                  <a:pt x="426305" y="2488167"/>
                  <a:pt x="409433" y="2497540"/>
                </a:cubicBezTo>
                <a:cubicBezTo>
                  <a:pt x="384282" y="2511513"/>
                  <a:pt x="354842" y="2515737"/>
                  <a:pt x="327546" y="2524835"/>
                </a:cubicBezTo>
                <a:lnTo>
                  <a:pt x="286603" y="2538483"/>
                </a:lnTo>
                <a:cubicBezTo>
                  <a:pt x="263857" y="2533934"/>
                  <a:pt x="239482" y="2534434"/>
                  <a:pt x="218364" y="2524835"/>
                </a:cubicBezTo>
                <a:cubicBezTo>
                  <a:pt x="188499" y="2511260"/>
                  <a:pt x="167600" y="2480617"/>
                  <a:pt x="136478" y="2470244"/>
                </a:cubicBezTo>
                <a:lnTo>
                  <a:pt x="95534" y="2456597"/>
                </a:lnTo>
                <a:cubicBezTo>
                  <a:pt x="90985" y="2442949"/>
                  <a:pt x="81887" y="2430039"/>
                  <a:pt x="81887" y="2415653"/>
                </a:cubicBezTo>
                <a:cubicBezTo>
                  <a:pt x="81887" y="2396618"/>
                  <a:pt x="117572" y="2336899"/>
                  <a:pt x="109182" y="2320119"/>
                </a:cubicBezTo>
                <a:cubicBezTo>
                  <a:pt x="103079" y="2307912"/>
                  <a:pt x="77337" y="2417928"/>
                  <a:pt x="68239" y="2333767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57150" cap="flat" cmpd="sng">
            <a:solidFill>
              <a:srgbClr val="FF3300"/>
            </a:solidFill>
            <a:round/>
          </a:ln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777117" name="直接箭头连接符 81"/>
          <p:cNvCxnSpPr>
            <a:cxnSpLocks noChangeShapeType="1"/>
          </p:cNvCxnSpPr>
          <p:nvPr/>
        </p:nvCxnSpPr>
        <p:spPr bwMode="auto">
          <a:xfrm rot="5400000" flipH="1" flipV="1">
            <a:off x="7914756" y="4791516"/>
            <a:ext cx="1160859" cy="9525"/>
          </a:xfrm>
          <a:prstGeom prst="straightConnector1">
            <a:avLst/>
          </a:prstGeom>
          <a:noFill/>
          <a:ln w="38100" cap="sq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7118" name="矩形 52"/>
          <p:cNvSpPr>
            <a:spLocks noChangeArrowheads="1"/>
          </p:cNvSpPr>
          <p:nvPr/>
        </p:nvSpPr>
        <p:spPr bwMode="auto">
          <a:xfrm>
            <a:off x="8667750" y="4106397"/>
            <a:ext cx="36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endParaRPr lang="zh-CN" altLang="en-US" sz="2800" b="1" i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8027" y="2182968"/>
            <a:ext cx="5418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Tx/>
              <a:buNone/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 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弹力有无的判断（假设法）</a:t>
            </a:r>
          </a:p>
        </p:txBody>
      </p:sp>
      <p:sp>
        <p:nvSpPr>
          <p:cNvPr id="32" name="矩形 31"/>
          <p:cNvSpPr/>
          <p:nvPr/>
        </p:nvSpPr>
        <p:spPr>
          <a:xfrm>
            <a:off x="1259797" y="805104"/>
            <a:ext cx="6410808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6080" indent="-386080">
              <a:lnSpc>
                <a:spcPct val="130000"/>
              </a:lnSpc>
              <a:buAutoNum type="arabicPeriod" startAt="2"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弹力产生的条件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直接接触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发生弹性形变</a:t>
            </a:r>
          </a:p>
        </p:txBody>
      </p:sp>
      <p:sp>
        <p:nvSpPr>
          <p:cNvPr id="3" name="矩形 2"/>
          <p:cNvSpPr/>
          <p:nvPr/>
        </p:nvSpPr>
        <p:spPr>
          <a:xfrm>
            <a:off x="813517" y="2640206"/>
            <a:ext cx="83927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例如：图中的圆球分别靠着左边和右边的墙，它们之间是否发生了挤压形变？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1" presetClass="entr" presetSubtype="0" fill="hold" grpId="0" nodeType="afterEffect">
                                  <p:childTnLst>
                                    <p:set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5" presetClass="emph" presetSubtype="0" repeatCount="4000" fill="hold" grpId="1" nodeType="withEffect">
                                  <p:childTnLst>
                                    <p:anim calcmode="discrete" valueType="str">
                                      <p:cBhvr>
                                        <p:cTn id="35" dur="500" fill="hold"/>
                                        <p:tgtEl>
                                          <p:spTgt spid="277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2777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777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777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2777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777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777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7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1" presetClass="entr" presetSubtype="0" fill="hold" grpId="0" nodeType="afterEffect"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5" presetClass="emph" presetSubtype="0" repeatCount="4000" fill="hold" grpId="1" nodeType="withEffect">
                                  <p:childTnLst>
                                    <p:anim calcmode="discrete" valueType="str">
                                      <p:cBhvr>
                                        <p:cTn id="74" dur="500" fill="hold"/>
                                        <p:tgtEl>
                                          <p:spTgt spid="277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777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777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777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xit" presetSubtype="8" fill="hold" nodeType="afterEffect"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2777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xit" presetSubtype="8" fill="hold" nodeType="withEffect">
                                  <p:childTnLst>
                                    <p:animEffect transition="out" filter="wipe(left)">
                                      <p:cBhvr>
                                        <p:cTn id="97" dur="500"/>
                                        <p:tgtEl>
                                          <p:spTgt spid="2777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42" presetClass="path" presetSubtype="0" accel="50000" decel="50000" fill="hold" nodeType="afterEffect">
                                  <p:childTnLst>
                                    <p:animMotion origin="layout" path="M 4.16667E-06 4.84736E-06 L 4.16667E-06 0.65402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2777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7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77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7104" grpId="0" uiExpand="1" build="allAtOnce" animBg="1"/>
      <p:bldP spid="2777104" grpId="1" uiExpand="1" build="allAtOnce" animBg="1"/>
      <p:bldP spid="2777105" grpId="0"/>
      <p:bldP spid="2777107" grpId="0"/>
      <p:bldP spid="2777109" grpId="0" uiExpand="1" build="allAtOnce" animBg="1"/>
      <p:bldP spid="2777109" grpId="1" uiExpand="1" build="allAtOnce" animBg="1"/>
      <p:bldP spid="2777115" grpId="0" bldLvl="0" animBg="1"/>
      <p:bldP spid="2777115" grpId="1" bldLvl="0" animBg="1"/>
      <p:bldP spid="2777115" grpId="2" bldLvl="0" animBg="1"/>
      <p:bldP spid="2777116" grpId="0" bldLvl="0" animBg="1"/>
      <p:bldP spid="2777116" grpId="1" bldLvl="0" animBg="1"/>
      <p:bldP spid="2777116" grpId="2" bldLvl="0" animBg="1"/>
      <p:bldP spid="2777118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0021" y="573879"/>
            <a:ext cx="5632938" cy="77787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弹力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方向:</a:t>
            </a:r>
            <a:r>
              <a:rPr lang="zh-CN" sz="32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垂直于接触面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905000"/>
            <a:ext cx="3225769" cy="45719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曲面与平面接触</a:t>
            </a:r>
          </a:p>
        </p:txBody>
      </p:sp>
      <p:grpSp>
        <p:nvGrpSpPr>
          <p:cNvPr id="12292" name="Group 4"/>
          <p:cNvGrpSpPr/>
          <p:nvPr/>
        </p:nvGrpSpPr>
        <p:grpSpPr>
          <a:xfrm>
            <a:off x="3140076" y="3108326"/>
            <a:ext cx="1584325" cy="1090613"/>
            <a:chOff x="0" y="0"/>
            <a:chExt cx="998" cy="687"/>
          </a:xfrm>
        </p:grpSpPr>
        <p:grpSp>
          <p:nvGrpSpPr>
            <p:cNvPr id="12311" name="Group 5"/>
            <p:cNvGrpSpPr/>
            <p:nvPr/>
          </p:nvGrpSpPr>
          <p:grpSpPr>
            <a:xfrm>
              <a:off x="0" y="590"/>
              <a:ext cx="998" cy="97"/>
              <a:chOff x="0" y="0"/>
              <a:chExt cx="1338" cy="130"/>
            </a:xfrm>
          </p:grpSpPr>
          <p:sp>
            <p:nvSpPr>
              <p:cNvPr id="12313" name="Line 6"/>
              <p:cNvSpPr>
                <a:spLocks noChangeShapeType="1"/>
              </p:cNvSpPr>
              <p:nvPr/>
            </p:nvSpPr>
            <p:spPr bwMode="auto">
              <a:xfrm flipH="1">
                <a:off x="0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4" name="Line 7"/>
              <p:cNvSpPr>
                <a:spLocks noChangeShapeType="1"/>
              </p:cNvSpPr>
              <p:nvPr/>
            </p:nvSpPr>
            <p:spPr bwMode="auto"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5" name="Line 8"/>
              <p:cNvSpPr>
                <a:spLocks noChangeShapeType="1"/>
              </p:cNvSpPr>
              <p:nvPr/>
            </p:nvSpPr>
            <p:spPr bwMode="auto"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6" name="Line 9"/>
              <p:cNvSpPr>
                <a:spLocks noChangeShapeType="1"/>
              </p:cNvSpPr>
              <p:nvPr/>
            </p:nvSpPr>
            <p:spPr bwMode="auto"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7" name="Line 10"/>
              <p:cNvSpPr>
                <a:spLocks noChangeShapeType="1"/>
              </p:cNvSpPr>
              <p:nvPr/>
            </p:nvSpPr>
            <p:spPr bwMode="auto"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8" name="Line 11"/>
              <p:cNvSpPr>
                <a:spLocks noChangeShapeType="1"/>
              </p:cNvSpPr>
              <p:nvPr/>
            </p:nvSpPr>
            <p:spPr bwMode="auto"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19" name="Line 12"/>
              <p:cNvSpPr>
                <a:spLocks noChangeShapeType="1"/>
              </p:cNvSpPr>
              <p:nvPr/>
            </p:nvSpPr>
            <p:spPr bwMode="auto"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20" name="Line 13"/>
              <p:cNvSpPr>
                <a:spLocks noChangeShapeType="1"/>
              </p:cNvSpPr>
              <p:nvPr/>
            </p:nvSpPr>
            <p:spPr bwMode="auto"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21" name="Line 14"/>
              <p:cNvSpPr>
                <a:spLocks noChangeShapeType="1"/>
              </p:cNvSpPr>
              <p:nvPr/>
            </p:nvSpPr>
            <p:spPr bwMode="auto"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22" name="Line 15"/>
              <p:cNvSpPr>
                <a:spLocks noChangeShapeType="1"/>
              </p:cNvSpPr>
              <p:nvPr/>
            </p:nvSpPr>
            <p:spPr bwMode="auto"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23" name="Line 16"/>
              <p:cNvSpPr>
                <a:spLocks noChangeShapeType="1"/>
              </p:cNvSpPr>
              <p:nvPr/>
            </p:nvSpPr>
            <p:spPr bwMode="auto"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2324" name="Line 17"/>
              <p:cNvSpPr>
                <a:spLocks noChangeShapeType="1"/>
              </p:cNvSpPr>
              <p:nvPr/>
            </p:nvSpPr>
            <p:spPr bwMode="auto">
              <a:xfrm>
                <a:off x="23" y="0"/>
                <a:ext cx="13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2312" name="Oval 18"/>
            <p:cNvSpPr>
              <a:spLocks noChangeArrowheads="1"/>
            </p:cNvSpPr>
            <p:nvPr/>
          </p:nvSpPr>
          <p:spPr bwMode="auto">
            <a:xfrm>
              <a:off x="226" y="0"/>
              <a:ext cx="589" cy="5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0851" name="Group 19"/>
          <p:cNvGrpSpPr/>
          <p:nvPr/>
        </p:nvGrpSpPr>
        <p:grpSpPr>
          <a:xfrm>
            <a:off x="3963988" y="2654300"/>
            <a:ext cx="365126" cy="1377950"/>
            <a:chOff x="-6" y="0"/>
            <a:chExt cx="230" cy="868"/>
          </a:xfrm>
        </p:grpSpPr>
        <p:sp>
          <p:nvSpPr>
            <p:cNvPr id="12308" name="Line 20"/>
            <p:cNvSpPr>
              <a:spLocks noChangeShapeType="1"/>
            </p:cNvSpPr>
            <p:nvPr/>
          </p:nvSpPr>
          <p:spPr bwMode="auto">
            <a:xfrm flipH="1" flipV="1">
              <a:off x="5" y="103"/>
              <a:ext cx="0" cy="4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 flipH="1">
              <a:off x="5" y="566"/>
              <a:ext cx="0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10" name="Text Box 22"/>
            <p:cNvSpPr txBox="1">
              <a:spLocks noChangeArrowheads="1"/>
            </p:cNvSpPr>
            <p:nvPr/>
          </p:nvSpPr>
          <p:spPr bwMode="auto">
            <a:xfrm>
              <a:off x="-6" y="0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latin typeface="楷体" panose="02010609060101010101" pitchFamily="49" charset="-122"/>
                  <a:ea typeface="楷体" panose="02010609060101010101" pitchFamily="49" charset="-122"/>
                </a:rPr>
                <a:t>F</a:t>
              </a:r>
            </a:p>
          </p:txBody>
        </p:sp>
      </p:grpSp>
      <p:grpSp>
        <p:nvGrpSpPr>
          <p:cNvPr id="120855" name="Group 23"/>
          <p:cNvGrpSpPr/>
          <p:nvPr/>
        </p:nvGrpSpPr>
        <p:grpSpPr>
          <a:xfrm>
            <a:off x="7107239" y="2757489"/>
            <a:ext cx="2092325" cy="1328737"/>
            <a:chOff x="0" y="0"/>
            <a:chExt cx="1318" cy="837"/>
          </a:xfrm>
        </p:grpSpPr>
        <p:sp>
          <p:nvSpPr>
            <p:cNvPr id="12305" name="AutoShape 24"/>
            <p:cNvSpPr>
              <a:spLocks noChangeArrowheads="1"/>
            </p:cNvSpPr>
            <p:nvPr/>
          </p:nvSpPr>
          <p:spPr bwMode="auto">
            <a:xfrm>
              <a:off x="0" y="235"/>
              <a:ext cx="1318" cy="602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6" name="Line 25"/>
            <p:cNvSpPr>
              <a:spLocks noChangeShapeType="1"/>
            </p:cNvSpPr>
            <p:nvPr/>
          </p:nvSpPr>
          <p:spPr bwMode="auto">
            <a:xfrm flipH="1">
              <a:off x="716" y="0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7" name="Oval 26"/>
            <p:cNvSpPr>
              <a:spLocks noChangeArrowheads="1"/>
            </p:cNvSpPr>
            <p:nvPr/>
          </p:nvSpPr>
          <p:spPr bwMode="auto">
            <a:xfrm>
              <a:off x="366" y="122"/>
              <a:ext cx="340" cy="3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0859" name="Group 27"/>
          <p:cNvGrpSpPr/>
          <p:nvPr/>
        </p:nvGrpSpPr>
        <p:grpSpPr>
          <a:xfrm>
            <a:off x="6831014" y="2652714"/>
            <a:ext cx="1444625" cy="579436"/>
            <a:chOff x="-172" y="-126"/>
            <a:chExt cx="910" cy="365"/>
          </a:xfrm>
        </p:grpSpPr>
        <p:sp>
          <p:nvSpPr>
            <p:cNvPr id="12302" name="Line 28"/>
            <p:cNvSpPr>
              <a:spLocks noChangeShapeType="1"/>
            </p:cNvSpPr>
            <p:nvPr/>
          </p:nvSpPr>
          <p:spPr bwMode="auto">
            <a:xfrm flipH="1">
              <a:off x="66" y="239"/>
              <a:ext cx="45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3" name="Line 29"/>
            <p:cNvSpPr>
              <a:spLocks noChangeShapeType="1"/>
            </p:cNvSpPr>
            <p:nvPr/>
          </p:nvSpPr>
          <p:spPr bwMode="auto">
            <a:xfrm flipV="1">
              <a:off x="520" y="230"/>
              <a:ext cx="218" cy="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4" name="Text Box 30"/>
            <p:cNvSpPr txBox="1">
              <a:spLocks noChangeArrowheads="1"/>
            </p:cNvSpPr>
            <p:nvPr/>
          </p:nvSpPr>
          <p:spPr bwMode="auto">
            <a:xfrm>
              <a:off x="-172" y="-126"/>
              <a:ext cx="3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solidFill>
                    <a:schemeClr val="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F2</a:t>
              </a:r>
            </a:p>
          </p:txBody>
        </p:sp>
      </p:grpSp>
      <p:grpSp>
        <p:nvGrpSpPr>
          <p:cNvPr id="120863" name="Group 31"/>
          <p:cNvGrpSpPr/>
          <p:nvPr/>
        </p:nvGrpSpPr>
        <p:grpSpPr>
          <a:xfrm>
            <a:off x="7824789" y="2241551"/>
            <a:ext cx="950913" cy="1231900"/>
            <a:chOff x="0" y="-22"/>
            <a:chExt cx="599" cy="776"/>
          </a:xfrm>
        </p:grpSpPr>
        <p:sp>
          <p:nvSpPr>
            <p:cNvPr id="12299" name="Line 32"/>
            <p:cNvSpPr>
              <a:spLocks noChangeShapeType="1"/>
            </p:cNvSpPr>
            <p:nvPr/>
          </p:nvSpPr>
          <p:spPr bwMode="auto">
            <a:xfrm flipV="1">
              <a:off x="79" y="126"/>
              <a:ext cx="183" cy="4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0" name="Line 33"/>
            <p:cNvSpPr>
              <a:spLocks noChangeShapeType="1"/>
            </p:cNvSpPr>
            <p:nvPr/>
          </p:nvSpPr>
          <p:spPr bwMode="auto">
            <a:xfrm flipH="1">
              <a:off x="0" y="545"/>
              <a:ext cx="95" cy="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01" name="Text Box 34"/>
            <p:cNvSpPr txBox="1">
              <a:spLocks noChangeArrowheads="1"/>
            </p:cNvSpPr>
            <p:nvPr/>
          </p:nvSpPr>
          <p:spPr bwMode="auto">
            <a:xfrm>
              <a:off x="254" y="-22"/>
              <a:ext cx="3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solidFill>
                    <a:schemeClr val="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F1</a:t>
              </a:r>
            </a:p>
          </p:txBody>
        </p:sp>
      </p:grpSp>
      <p:sp>
        <p:nvSpPr>
          <p:cNvPr id="120867" name="Text Box 35"/>
          <p:cNvSpPr txBox="1">
            <a:spLocks noChangeArrowheads="1"/>
          </p:cNvSpPr>
          <p:nvPr/>
        </p:nvSpPr>
        <p:spPr bwMode="auto">
          <a:xfrm>
            <a:off x="1277756" y="4729816"/>
            <a:ext cx="41520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曲面与平面间弹力方向：</a:t>
            </a:r>
          </a:p>
        </p:txBody>
      </p:sp>
      <p:sp>
        <p:nvSpPr>
          <p:cNvPr id="120868" name="Text Box 36"/>
          <p:cNvSpPr txBox="1">
            <a:spLocks noChangeArrowheads="1"/>
          </p:cNvSpPr>
          <p:nvPr/>
        </p:nvSpPr>
        <p:spPr bwMode="auto">
          <a:xfrm>
            <a:off x="3567536" y="5414680"/>
            <a:ext cx="5234125" cy="523220"/>
          </a:xfrm>
          <a:prstGeom prst="rect">
            <a:avLst/>
          </a:prstGeom>
          <a:noFill/>
          <a:ln w="31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过接触点垂直平面指向受力物体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120867" grpId="0"/>
      <p:bldP spid="1208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426411" y="1204915"/>
            <a:ext cx="2925781" cy="584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点与平面接触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1117127" y="4646612"/>
            <a:ext cx="37914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点与平面间弹力方向：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3244904" y="5437226"/>
            <a:ext cx="5234125" cy="523220"/>
          </a:xfrm>
          <a:prstGeom prst="rect">
            <a:avLst/>
          </a:prstGeom>
          <a:noFill/>
          <a:ln w="31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过接触点垂直平面指向受力物体</a:t>
            </a:r>
          </a:p>
        </p:txBody>
      </p:sp>
      <p:grpSp>
        <p:nvGrpSpPr>
          <p:cNvPr id="121874" name="Group 18"/>
          <p:cNvGrpSpPr/>
          <p:nvPr/>
        </p:nvGrpSpPr>
        <p:grpSpPr>
          <a:xfrm>
            <a:off x="4908550" y="2462213"/>
            <a:ext cx="1865313" cy="1854200"/>
            <a:chOff x="18" y="0"/>
            <a:chExt cx="1175" cy="1168"/>
          </a:xfrm>
        </p:grpSpPr>
        <p:grpSp>
          <p:nvGrpSpPr>
            <p:cNvPr id="13325" name="Group 19"/>
            <p:cNvGrpSpPr/>
            <p:nvPr/>
          </p:nvGrpSpPr>
          <p:grpSpPr>
            <a:xfrm>
              <a:off x="111" y="1071"/>
              <a:ext cx="998" cy="97"/>
              <a:chOff x="0" y="0"/>
              <a:chExt cx="1338" cy="130"/>
            </a:xfrm>
          </p:grpSpPr>
          <p:sp>
            <p:nvSpPr>
              <p:cNvPr id="13342" name="Line 20"/>
              <p:cNvSpPr>
                <a:spLocks noChangeShapeType="1"/>
              </p:cNvSpPr>
              <p:nvPr/>
            </p:nvSpPr>
            <p:spPr bwMode="auto">
              <a:xfrm flipH="1">
                <a:off x="0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3" name="Line 21"/>
              <p:cNvSpPr>
                <a:spLocks noChangeShapeType="1"/>
              </p:cNvSpPr>
              <p:nvPr/>
            </p:nvSpPr>
            <p:spPr bwMode="auto"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4" name="Line 22"/>
              <p:cNvSpPr>
                <a:spLocks noChangeShapeType="1"/>
              </p:cNvSpPr>
              <p:nvPr/>
            </p:nvSpPr>
            <p:spPr bwMode="auto"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5" name="Line 23"/>
              <p:cNvSpPr>
                <a:spLocks noChangeShapeType="1"/>
              </p:cNvSpPr>
              <p:nvPr/>
            </p:nvSpPr>
            <p:spPr bwMode="auto"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6" name="Line 24"/>
              <p:cNvSpPr>
                <a:spLocks noChangeShapeType="1"/>
              </p:cNvSpPr>
              <p:nvPr/>
            </p:nvSpPr>
            <p:spPr bwMode="auto"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7" name="Line 25"/>
              <p:cNvSpPr>
                <a:spLocks noChangeShapeType="1"/>
              </p:cNvSpPr>
              <p:nvPr/>
            </p:nvSpPr>
            <p:spPr bwMode="auto"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8" name="Line 26"/>
              <p:cNvSpPr>
                <a:spLocks noChangeShapeType="1"/>
              </p:cNvSpPr>
              <p:nvPr/>
            </p:nvSpPr>
            <p:spPr bwMode="auto"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9" name="Line 27"/>
              <p:cNvSpPr>
                <a:spLocks noChangeShapeType="1"/>
              </p:cNvSpPr>
              <p:nvPr/>
            </p:nvSpPr>
            <p:spPr bwMode="auto"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50" name="Line 28"/>
              <p:cNvSpPr>
                <a:spLocks noChangeShapeType="1"/>
              </p:cNvSpPr>
              <p:nvPr/>
            </p:nvSpPr>
            <p:spPr bwMode="auto"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51" name="Line 29"/>
              <p:cNvSpPr>
                <a:spLocks noChangeShapeType="1"/>
              </p:cNvSpPr>
              <p:nvPr/>
            </p:nvSpPr>
            <p:spPr bwMode="auto"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52" name="Line 30"/>
              <p:cNvSpPr>
                <a:spLocks noChangeShapeType="1"/>
              </p:cNvSpPr>
              <p:nvPr/>
            </p:nvSpPr>
            <p:spPr bwMode="auto"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53" name="Line 31"/>
              <p:cNvSpPr>
                <a:spLocks noChangeShapeType="1"/>
              </p:cNvSpPr>
              <p:nvPr/>
            </p:nvSpPr>
            <p:spPr bwMode="auto">
              <a:xfrm>
                <a:off x="23" y="0"/>
                <a:ext cx="13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3326" name="Group 32"/>
            <p:cNvGrpSpPr/>
            <p:nvPr/>
          </p:nvGrpSpPr>
          <p:grpSpPr>
            <a:xfrm rot="5400000" flipV="1">
              <a:off x="646" y="528"/>
              <a:ext cx="998" cy="97"/>
              <a:chOff x="0" y="0"/>
              <a:chExt cx="1338" cy="130"/>
            </a:xfrm>
          </p:grpSpPr>
          <p:sp>
            <p:nvSpPr>
              <p:cNvPr id="13330" name="Line 33"/>
              <p:cNvSpPr>
                <a:spLocks noChangeShapeType="1"/>
              </p:cNvSpPr>
              <p:nvPr/>
            </p:nvSpPr>
            <p:spPr bwMode="auto">
              <a:xfrm flipH="1">
                <a:off x="0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1" name="Line 34"/>
              <p:cNvSpPr>
                <a:spLocks noChangeShapeType="1"/>
              </p:cNvSpPr>
              <p:nvPr/>
            </p:nvSpPr>
            <p:spPr bwMode="auto"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2" name="Line 35"/>
              <p:cNvSpPr>
                <a:spLocks noChangeShapeType="1"/>
              </p:cNvSpPr>
              <p:nvPr/>
            </p:nvSpPr>
            <p:spPr bwMode="auto"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3" name="Line 36"/>
              <p:cNvSpPr>
                <a:spLocks noChangeShapeType="1"/>
              </p:cNvSpPr>
              <p:nvPr/>
            </p:nvSpPr>
            <p:spPr bwMode="auto"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4" name="Line 37"/>
              <p:cNvSpPr>
                <a:spLocks noChangeShapeType="1"/>
              </p:cNvSpPr>
              <p:nvPr/>
            </p:nvSpPr>
            <p:spPr bwMode="auto"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5" name="Line 38"/>
              <p:cNvSpPr>
                <a:spLocks noChangeShapeType="1"/>
              </p:cNvSpPr>
              <p:nvPr/>
            </p:nvSpPr>
            <p:spPr bwMode="auto"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6" name="Line 39"/>
              <p:cNvSpPr>
                <a:spLocks noChangeShapeType="1"/>
              </p:cNvSpPr>
              <p:nvPr/>
            </p:nvSpPr>
            <p:spPr bwMode="auto"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7" name="Line 40"/>
              <p:cNvSpPr>
                <a:spLocks noChangeShapeType="1"/>
              </p:cNvSpPr>
              <p:nvPr/>
            </p:nvSpPr>
            <p:spPr bwMode="auto"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8" name="Line 41"/>
              <p:cNvSpPr>
                <a:spLocks noChangeShapeType="1"/>
              </p:cNvSpPr>
              <p:nvPr/>
            </p:nvSpPr>
            <p:spPr bwMode="auto"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39" name="Line 42"/>
              <p:cNvSpPr>
                <a:spLocks noChangeShapeType="1"/>
              </p:cNvSpPr>
              <p:nvPr/>
            </p:nvSpPr>
            <p:spPr bwMode="auto"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0" name="Line 43"/>
              <p:cNvSpPr>
                <a:spLocks noChangeShapeType="1"/>
              </p:cNvSpPr>
              <p:nvPr/>
            </p:nvSpPr>
            <p:spPr bwMode="auto"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3341" name="Line 44"/>
              <p:cNvSpPr>
                <a:spLocks noChangeShapeType="1"/>
              </p:cNvSpPr>
              <p:nvPr/>
            </p:nvSpPr>
            <p:spPr bwMode="auto">
              <a:xfrm>
                <a:off x="23" y="0"/>
                <a:ext cx="13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3327" name="Line 45"/>
            <p:cNvSpPr>
              <a:spLocks noChangeShapeType="1"/>
            </p:cNvSpPr>
            <p:nvPr/>
          </p:nvSpPr>
          <p:spPr bwMode="auto">
            <a:xfrm flipV="1">
              <a:off x="274" y="308"/>
              <a:ext cx="812" cy="74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28" name="Text Box 46"/>
            <p:cNvSpPr txBox="1">
              <a:spLocks noChangeArrowheads="1"/>
            </p:cNvSpPr>
            <p:nvPr/>
          </p:nvSpPr>
          <p:spPr bwMode="auto">
            <a:xfrm>
              <a:off x="18" y="788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3329" name="Text Box 47"/>
            <p:cNvSpPr txBox="1">
              <a:spLocks noChangeArrowheads="1"/>
            </p:cNvSpPr>
            <p:nvPr/>
          </p:nvSpPr>
          <p:spPr bwMode="auto">
            <a:xfrm>
              <a:off x="821" y="0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</p:grpSp>
      <p:grpSp>
        <p:nvGrpSpPr>
          <p:cNvPr id="121904" name="Group 48"/>
          <p:cNvGrpSpPr/>
          <p:nvPr/>
        </p:nvGrpSpPr>
        <p:grpSpPr>
          <a:xfrm>
            <a:off x="4773614" y="3019426"/>
            <a:ext cx="542925" cy="1090613"/>
            <a:chOff x="17" y="0"/>
            <a:chExt cx="342" cy="687"/>
          </a:xfrm>
        </p:grpSpPr>
        <p:sp>
          <p:nvSpPr>
            <p:cNvPr id="13323" name="Line 49"/>
            <p:cNvSpPr>
              <a:spLocks noChangeShapeType="1"/>
            </p:cNvSpPr>
            <p:nvPr/>
          </p:nvSpPr>
          <p:spPr bwMode="auto">
            <a:xfrm flipH="1" flipV="1">
              <a:off x="359" y="149"/>
              <a:ext cx="0" cy="5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24" name="Text Box 50"/>
            <p:cNvSpPr txBox="1">
              <a:spLocks noChangeArrowheads="1"/>
            </p:cNvSpPr>
            <p:nvPr/>
          </p:nvSpPr>
          <p:spPr bwMode="auto">
            <a:xfrm>
              <a:off x="17" y="0"/>
              <a:ext cx="3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latin typeface="楷体" panose="02010609060101010101" pitchFamily="49" charset="-122"/>
                  <a:ea typeface="楷体" panose="02010609060101010101" pitchFamily="49" charset="-122"/>
                </a:rPr>
                <a:t>F</a:t>
              </a:r>
              <a:r>
                <a:rPr lang="en-US" altLang="zh-CN" b="1" i="1" baseline="-25000"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  <a:endParaRPr lang="en-US" altLang="zh-CN" b="1" i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1907" name="Group 51"/>
          <p:cNvGrpSpPr/>
          <p:nvPr/>
        </p:nvGrpSpPr>
        <p:grpSpPr>
          <a:xfrm>
            <a:off x="5340351" y="2401888"/>
            <a:ext cx="1201738" cy="541336"/>
            <a:chOff x="8" y="-50"/>
            <a:chExt cx="757" cy="341"/>
          </a:xfrm>
        </p:grpSpPr>
        <p:sp>
          <p:nvSpPr>
            <p:cNvPr id="13321" name="Line 52"/>
            <p:cNvSpPr>
              <a:spLocks noChangeShapeType="1"/>
            </p:cNvSpPr>
            <p:nvPr/>
          </p:nvSpPr>
          <p:spPr bwMode="auto">
            <a:xfrm flipH="1">
              <a:off x="265" y="291"/>
              <a:ext cx="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22" name="Text Box 53"/>
            <p:cNvSpPr txBox="1">
              <a:spLocks noChangeArrowheads="1"/>
            </p:cNvSpPr>
            <p:nvPr/>
          </p:nvSpPr>
          <p:spPr bwMode="auto">
            <a:xfrm>
              <a:off x="8" y="-50"/>
              <a:ext cx="3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i="1">
                  <a:latin typeface="楷体" panose="02010609060101010101" pitchFamily="49" charset="-122"/>
                  <a:ea typeface="楷体" panose="02010609060101010101" pitchFamily="49" charset="-122"/>
                </a:rPr>
                <a:t>F</a:t>
              </a:r>
              <a:r>
                <a:rPr lang="en-US" altLang="zh-CN" b="1" i="1" baseline="-25000"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  <a:endParaRPr lang="en-US" altLang="zh-CN" b="1" i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0" grpId="0"/>
      <p:bldP spid="12187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各种接触面间的弹力方向判断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905000"/>
            <a:ext cx="8540750" cy="584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点与曲面接触</a:t>
            </a: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2566988" y="4643438"/>
            <a:ext cx="3740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anose="02010609030101010101" pitchFamily="49" charset="-122"/>
              </a:rPr>
              <a:t>点与曲面间弹力方向：</a:t>
            </a:r>
          </a:p>
        </p:txBody>
      </p:sp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2730501" y="5343525"/>
            <a:ext cx="6232525" cy="522288"/>
          </a:xfrm>
          <a:prstGeom prst="rect">
            <a:avLst/>
          </a:prstGeom>
          <a:noFill/>
          <a:ln w="3175">
            <a:solidFill>
              <a:srgbClr val="FF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anose="02010609030101010101" pitchFamily="49" charset="-122"/>
              </a:rPr>
              <a:t>与过接触点的切面垂直并指向受力物体</a:t>
            </a:r>
          </a:p>
        </p:txBody>
      </p:sp>
      <p:grpSp>
        <p:nvGrpSpPr>
          <p:cNvPr id="14342" name="Group 6"/>
          <p:cNvGrpSpPr/>
          <p:nvPr/>
        </p:nvGrpSpPr>
        <p:grpSpPr>
          <a:xfrm>
            <a:off x="2679701" y="2781300"/>
            <a:ext cx="2424113" cy="1760538"/>
            <a:chOff x="0" y="0"/>
            <a:chExt cx="744" cy="523"/>
          </a:xfrm>
        </p:grpSpPr>
        <p:grpSp>
          <p:nvGrpSpPr>
            <p:cNvPr id="14382" name="Group 7"/>
            <p:cNvGrpSpPr/>
            <p:nvPr/>
          </p:nvGrpSpPr>
          <p:grpSpPr>
            <a:xfrm>
              <a:off x="0" y="151"/>
              <a:ext cx="288" cy="372"/>
              <a:chOff x="0" y="0"/>
              <a:chExt cx="288" cy="372"/>
            </a:xfrm>
          </p:grpSpPr>
          <p:grpSp>
            <p:nvGrpSpPr>
              <p:cNvPr id="14411" name="Group 8"/>
              <p:cNvGrpSpPr/>
              <p:nvPr/>
            </p:nvGrpSpPr>
            <p:grpSpPr>
              <a:xfrm rot="16200000" flipV="1">
                <a:off x="69" y="160"/>
                <a:ext cx="372" cy="52"/>
                <a:chOff x="0" y="0"/>
                <a:chExt cx="1338" cy="130"/>
              </a:xfrm>
            </p:grpSpPr>
            <p:sp>
              <p:nvSpPr>
                <p:cNvPr id="14425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0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6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120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4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8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36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48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601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72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84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3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96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4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082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5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203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6" name="Line 20"/>
                <p:cNvSpPr>
                  <a:spLocks noChangeShapeType="1"/>
                </p:cNvSpPr>
                <p:nvPr/>
              </p:nvSpPr>
              <p:spPr bwMode="auto">
                <a:xfrm>
                  <a:off x="23" y="0"/>
                  <a:ext cx="13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12" name="Group 21"/>
              <p:cNvGrpSpPr/>
              <p:nvPr/>
            </p:nvGrpSpPr>
            <p:grpSpPr>
              <a:xfrm>
                <a:off x="0" y="1"/>
                <a:ext cx="288" cy="52"/>
                <a:chOff x="0" y="0"/>
                <a:chExt cx="1338" cy="130"/>
              </a:xfrm>
            </p:grpSpPr>
            <p:sp>
              <p:nvSpPr>
                <p:cNvPr id="14413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0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4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20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5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24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6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36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7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8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8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601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9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72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0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84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1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96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2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1082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3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203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4" name="Line 33"/>
                <p:cNvSpPr>
                  <a:spLocks noChangeShapeType="1"/>
                </p:cNvSpPr>
                <p:nvPr/>
              </p:nvSpPr>
              <p:spPr bwMode="auto">
                <a:xfrm>
                  <a:off x="23" y="0"/>
                  <a:ext cx="13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83" name="Group 34"/>
            <p:cNvGrpSpPr/>
            <p:nvPr/>
          </p:nvGrpSpPr>
          <p:grpSpPr>
            <a:xfrm flipH="1">
              <a:off x="456" y="151"/>
              <a:ext cx="288" cy="372"/>
              <a:chOff x="0" y="0"/>
              <a:chExt cx="721" cy="931"/>
            </a:xfrm>
          </p:grpSpPr>
          <p:grpSp>
            <p:nvGrpSpPr>
              <p:cNvPr id="14385" name="Group 35"/>
              <p:cNvGrpSpPr/>
              <p:nvPr/>
            </p:nvGrpSpPr>
            <p:grpSpPr>
              <a:xfrm rot="16200000" flipV="1">
                <a:off x="164" y="400"/>
                <a:ext cx="931" cy="131"/>
                <a:chOff x="0" y="0"/>
                <a:chExt cx="1338" cy="130"/>
              </a:xfrm>
            </p:grpSpPr>
            <p:sp>
              <p:nvSpPr>
                <p:cNvPr id="14399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0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0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20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1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24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2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6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3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48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4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601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5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72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6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84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7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96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8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082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9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203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0" name="Line 47"/>
                <p:cNvSpPr>
                  <a:spLocks noChangeShapeType="1"/>
                </p:cNvSpPr>
                <p:nvPr/>
              </p:nvSpPr>
              <p:spPr bwMode="auto">
                <a:xfrm>
                  <a:off x="23" y="0"/>
                  <a:ext cx="13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86" name="Group 48"/>
              <p:cNvGrpSpPr/>
              <p:nvPr/>
            </p:nvGrpSpPr>
            <p:grpSpPr>
              <a:xfrm>
                <a:off x="0" y="2"/>
                <a:ext cx="721" cy="131"/>
                <a:chOff x="0" y="0"/>
                <a:chExt cx="1338" cy="130"/>
              </a:xfrm>
            </p:grpSpPr>
            <p:sp>
              <p:nvSpPr>
                <p:cNvPr id="14387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0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120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9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24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36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1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48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601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3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72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4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84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5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96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6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082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7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203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8" name="Line 60"/>
                <p:cNvSpPr>
                  <a:spLocks noChangeShapeType="1"/>
                </p:cNvSpPr>
                <p:nvPr/>
              </p:nvSpPr>
              <p:spPr bwMode="auto">
                <a:xfrm>
                  <a:off x="23" y="0"/>
                  <a:ext cx="13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384" name="Oval 61"/>
            <p:cNvSpPr>
              <a:spLocks noChangeArrowheads="1"/>
            </p:cNvSpPr>
            <p:nvPr/>
          </p:nvSpPr>
          <p:spPr bwMode="auto">
            <a:xfrm>
              <a:off x="273" y="0"/>
              <a:ext cx="198" cy="19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22942" name="Line 62"/>
          <p:cNvSpPr>
            <a:spLocks noChangeShapeType="1"/>
          </p:cNvSpPr>
          <p:nvPr/>
        </p:nvSpPr>
        <p:spPr bwMode="auto">
          <a:xfrm flipH="1">
            <a:off x="3952875" y="2924175"/>
            <a:ext cx="463550" cy="71755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43" name="Group 63"/>
          <p:cNvGrpSpPr/>
          <p:nvPr/>
        </p:nvGrpSpPr>
        <p:grpSpPr>
          <a:xfrm>
            <a:off x="2781300" y="2206625"/>
            <a:ext cx="1397000" cy="1106488"/>
            <a:chOff x="10" y="0"/>
            <a:chExt cx="880" cy="697"/>
          </a:xfrm>
        </p:grpSpPr>
        <p:sp>
          <p:nvSpPr>
            <p:cNvPr id="14379" name="Line 64"/>
            <p:cNvSpPr>
              <a:spLocks noChangeShapeType="1"/>
            </p:cNvSpPr>
            <p:nvPr/>
          </p:nvSpPr>
          <p:spPr bwMode="auto">
            <a:xfrm flipH="1" flipV="1">
              <a:off x="285" y="215"/>
              <a:ext cx="424" cy="3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Line 65"/>
            <p:cNvSpPr>
              <a:spLocks noChangeShapeType="1"/>
            </p:cNvSpPr>
            <p:nvPr/>
          </p:nvSpPr>
          <p:spPr bwMode="auto">
            <a:xfrm>
              <a:off x="682" y="546"/>
              <a:ext cx="208" cy="1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Text Box 66"/>
            <p:cNvSpPr txBox="1">
              <a:spLocks noChangeArrowheads="1"/>
            </p:cNvSpPr>
            <p:nvPr/>
          </p:nvSpPr>
          <p:spPr bwMode="auto">
            <a:xfrm>
              <a:off x="10" y="0"/>
              <a:ext cx="3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F</a:t>
              </a:r>
              <a:r>
                <a:rPr lang="en-US" altLang="zh-CN" sz="2400" i="1" baseline="-25000"/>
                <a:t>1</a:t>
              </a:r>
              <a:endParaRPr lang="en-US" altLang="zh-CN" sz="2400" i="1"/>
            </a:p>
          </p:txBody>
        </p:sp>
      </p:grpSp>
      <p:sp>
        <p:nvSpPr>
          <p:cNvPr id="122947" name="Line 67"/>
          <p:cNvSpPr>
            <a:spLocks noChangeShapeType="1"/>
          </p:cNvSpPr>
          <p:nvPr/>
        </p:nvSpPr>
        <p:spPr bwMode="auto">
          <a:xfrm>
            <a:off x="3411538" y="2925763"/>
            <a:ext cx="406400" cy="70326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48" name="Group 68"/>
          <p:cNvGrpSpPr/>
          <p:nvPr/>
        </p:nvGrpSpPr>
        <p:grpSpPr>
          <a:xfrm>
            <a:off x="3624263" y="2222500"/>
            <a:ext cx="1397000" cy="1074738"/>
            <a:chOff x="0" y="0"/>
            <a:chExt cx="880" cy="677"/>
          </a:xfrm>
        </p:grpSpPr>
        <p:sp>
          <p:nvSpPr>
            <p:cNvPr id="14376" name="Line 69"/>
            <p:cNvSpPr>
              <a:spLocks noChangeShapeType="1"/>
            </p:cNvSpPr>
            <p:nvPr/>
          </p:nvSpPr>
          <p:spPr bwMode="auto">
            <a:xfrm flipV="1">
              <a:off x="160" y="185"/>
              <a:ext cx="434" cy="3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Line 70"/>
            <p:cNvSpPr>
              <a:spLocks noChangeShapeType="1"/>
            </p:cNvSpPr>
            <p:nvPr/>
          </p:nvSpPr>
          <p:spPr bwMode="auto">
            <a:xfrm flipH="1">
              <a:off x="0" y="525"/>
              <a:ext cx="198" cy="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Text Box 71"/>
            <p:cNvSpPr txBox="1">
              <a:spLocks noChangeArrowheads="1"/>
            </p:cNvSpPr>
            <p:nvPr/>
          </p:nvSpPr>
          <p:spPr bwMode="auto">
            <a:xfrm>
              <a:off x="574" y="0"/>
              <a:ext cx="3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F</a:t>
              </a:r>
              <a:r>
                <a:rPr lang="en-US" altLang="zh-CN" sz="2400" i="1" baseline="-25000"/>
                <a:t>2</a:t>
              </a:r>
              <a:endParaRPr lang="en-US" altLang="zh-CN" sz="2400" i="1"/>
            </a:p>
          </p:txBody>
        </p:sp>
      </p:grpSp>
      <p:grpSp>
        <p:nvGrpSpPr>
          <p:cNvPr id="14347" name="Group 72"/>
          <p:cNvGrpSpPr/>
          <p:nvPr/>
        </p:nvGrpSpPr>
        <p:grpSpPr>
          <a:xfrm>
            <a:off x="7108826" y="2100263"/>
            <a:ext cx="2932113" cy="2189162"/>
            <a:chOff x="0" y="0"/>
            <a:chExt cx="1847" cy="1379"/>
          </a:xfrm>
        </p:grpSpPr>
        <p:grpSp>
          <p:nvGrpSpPr>
            <p:cNvPr id="14355" name="Group 73"/>
            <p:cNvGrpSpPr/>
            <p:nvPr/>
          </p:nvGrpSpPr>
          <p:grpSpPr>
            <a:xfrm>
              <a:off x="44" y="0"/>
              <a:ext cx="1392" cy="1379"/>
              <a:chOff x="0" y="0"/>
              <a:chExt cx="684" cy="678"/>
            </a:xfrm>
          </p:grpSpPr>
          <p:sp>
            <p:nvSpPr>
              <p:cNvPr id="14359" name="AutoShape 74"/>
              <p:cNvSpPr>
                <a:spLocks noChangeAspect="1" noChangeArrowheads="1"/>
              </p:cNvSpPr>
              <p:nvPr/>
            </p:nvSpPr>
            <p:spPr bwMode="auto">
              <a:xfrm flipV="1">
                <a:off x="0" y="0"/>
                <a:ext cx="558" cy="55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87 w 21600"/>
                  <a:gd name="T13" fmla="*/ 0 h 21600"/>
                  <a:gd name="T14" fmla="*/ 21213 w 21600"/>
                  <a:gd name="T15" fmla="*/ 13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" y="10636"/>
                    </a:moveTo>
                    <a:cubicBezTo>
                      <a:pt x="90" y="4735"/>
                      <a:pt x="4899" y="0"/>
                      <a:pt x="10800" y="0"/>
                    </a:cubicBezTo>
                    <a:cubicBezTo>
                      <a:pt x="16700" y="0"/>
                      <a:pt x="21509" y="4735"/>
                      <a:pt x="21598" y="10636"/>
                    </a:cubicBezTo>
                    <a:cubicBezTo>
                      <a:pt x="21509" y="4735"/>
                      <a:pt x="16700" y="0"/>
                      <a:pt x="10799" y="0"/>
                    </a:cubicBezTo>
                    <a:cubicBezTo>
                      <a:pt x="4899" y="0"/>
                      <a:pt x="90" y="4735"/>
                      <a:pt x="1" y="106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60" name="Group 75"/>
              <p:cNvGrpSpPr/>
              <p:nvPr/>
            </p:nvGrpSpPr>
            <p:grpSpPr>
              <a:xfrm>
                <a:off x="3" y="625"/>
                <a:ext cx="534" cy="53"/>
                <a:chOff x="0" y="0"/>
                <a:chExt cx="1338" cy="130"/>
              </a:xfrm>
            </p:grpSpPr>
            <p:sp>
              <p:nvSpPr>
                <p:cNvPr id="14364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0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5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120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6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24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7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36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8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481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9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601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0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72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84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2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962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3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1082" y="8"/>
                  <a:ext cx="121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4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1203" y="8"/>
                  <a:ext cx="120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5" name="Line 87"/>
                <p:cNvSpPr>
                  <a:spLocks noChangeShapeType="1"/>
                </p:cNvSpPr>
                <p:nvPr/>
              </p:nvSpPr>
              <p:spPr bwMode="auto">
                <a:xfrm>
                  <a:off x="23" y="0"/>
                  <a:ext cx="13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61" name="Line 88"/>
              <p:cNvSpPr>
                <a:spLocks noChangeShapeType="1"/>
              </p:cNvSpPr>
              <p:nvPr/>
            </p:nvSpPr>
            <p:spPr bwMode="auto">
              <a:xfrm flipH="1">
                <a:off x="168" y="552"/>
                <a:ext cx="54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Line 89"/>
              <p:cNvSpPr>
                <a:spLocks noChangeShapeType="1"/>
              </p:cNvSpPr>
              <p:nvPr/>
            </p:nvSpPr>
            <p:spPr bwMode="auto">
              <a:xfrm>
                <a:off x="348" y="552"/>
                <a:ext cx="66" cy="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Line 90"/>
              <p:cNvSpPr>
                <a:spLocks noChangeShapeType="1"/>
              </p:cNvSpPr>
              <p:nvPr/>
            </p:nvSpPr>
            <p:spPr bwMode="auto">
              <a:xfrm flipV="1">
                <a:off x="114" y="216"/>
                <a:ext cx="570" cy="27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56" name="Text Box 91"/>
            <p:cNvSpPr txBox="1">
              <a:spLocks noChangeArrowheads="1"/>
            </p:cNvSpPr>
            <p:nvPr/>
          </p:nvSpPr>
          <p:spPr bwMode="auto">
            <a:xfrm>
              <a:off x="1011" y="897"/>
              <a:ext cx="8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/>
                <a:t>半球形的碗</a:t>
              </a:r>
            </a:p>
          </p:txBody>
        </p:sp>
        <p:sp>
          <p:nvSpPr>
            <p:cNvPr id="14357" name="Text Box 92"/>
            <p:cNvSpPr txBox="1">
              <a:spLocks noChangeArrowheads="1"/>
            </p:cNvSpPr>
            <p:nvPr/>
          </p:nvSpPr>
          <p:spPr bwMode="auto">
            <a:xfrm>
              <a:off x="0" y="92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A</a:t>
              </a:r>
            </a:p>
          </p:txBody>
        </p:sp>
        <p:sp>
          <p:nvSpPr>
            <p:cNvPr id="14358" name="Text Box 93"/>
            <p:cNvSpPr txBox="1">
              <a:spLocks noChangeArrowheads="1"/>
            </p:cNvSpPr>
            <p:nvPr/>
          </p:nvSpPr>
          <p:spPr bwMode="auto">
            <a:xfrm>
              <a:off x="1112" y="27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B</a:t>
              </a:r>
            </a:p>
          </p:txBody>
        </p:sp>
      </p:grpSp>
      <p:sp>
        <p:nvSpPr>
          <p:cNvPr id="122974" name="Line 94"/>
          <p:cNvSpPr>
            <a:spLocks noChangeShapeType="1"/>
          </p:cNvSpPr>
          <p:nvPr/>
        </p:nvSpPr>
        <p:spPr bwMode="auto">
          <a:xfrm flipH="1" flipV="1">
            <a:off x="7035801" y="3289301"/>
            <a:ext cx="754063" cy="638175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75" name="Group 95"/>
          <p:cNvGrpSpPr/>
          <p:nvPr/>
        </p:nvGrpSpPr>
        <p:grpSpPr>
          <a:xfrm>
            <a:off x="7550150" y="2576513"/>
            <a:ext cx="509588" cy="1155700"/>
            <a:chOff x="16" y="0"/>
            <a:chExt cx="321" cy="728"/>
          </a:xfrm>
        </p:grpSpPr>
        <p:sp>
          <p:nvSpPr>
            <p:cNvPr id="14353" name="Line 96"/>
            <p:cNvSpPr>
              <a:spLocks noChangeShapeType="1"/>
            </p:cNvSpPr>
            <p:nvPr/>
          </p:nvSpPr>
          <p:spPr bwMode="auto">
            <a:xfrm flipV="1">
              <a:off x="16" y="275"/>
              <a:ext cx="321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Text Box 97"/>
            <p:cNvSpPr txBox="1">
              <a:spLocks noChangeArrowheads="1"/>
            </p:cNvSpPr>
            <p:nvPr/>
          </p:nvSpPr>
          <p:spPr bwMode="auto">
            <a:xfrm>
              <a:off x="17" y="0"/>
              <a:ext cx="3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F</a:t>
              </a:r>
              <a:r>
                <a:rPr lang="en-US" altLang="zh-CN" sz="2400" i="1" baseline="-25000"/>
                <a:t>A</a:t>
              </a:r>
              <a:endParaRPr lang="en-US" altLang="zh-CN" sz="2400" i="1"/>
            </a:p>
          </p:txBody>
        </p:sp>
      </p:grpSp>
      <p:grpSp>
        <p:nvGrpSpPr>
          <p:cNvPr id="122978" name="Group 98"/>
          <p:cNvGrpSpPr/>
          <p:nvPr/>
        </p:nvGrpSpPr>
        <p:grpSpPr>
          <a:xfrm>
            <a:off x="8420100" y="1881189"/>
            <a:ext cx="554038" cy="1131887"/>
            <a:chOff x="10" y="0"/>
            <a:chExt cx="349" cy="713"/>
          </a:xfrm>
        </p:grpSpPr>
        <p:sp>
          <p:nvSpPr>
            <p:cNvPr id="14351" name="Line 99"/>
            <p:cNvSpPr>
              <a:spLocks noChangeShapeType="1"/>
            </p:cNvSpPr>
            <p:nvPr/>
          </p:nvSpPr>
          <p:spPr bwMode="auto">
            <a:xfrm flipH="1" flipV="1">
              <a:off x="151" y="260"/>
              <a:ext cx="208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Text Box 100"/>
            <p:cNvSpPr txBox="1">
              <a:spLocks noChangeArrowheads="1"/>
            </p:cNvSpPr>
            <p:nvPr/>
          </p:nvSpPr>
          <p:spPr bwMode="auto">
            <a:xfrm>
              <a:off x="10" y="0"/>
              <a:ext cx="3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F</a:t>
              </a:r>
              <a:r>
                <a:rPr lang="en-US" altLang="zh-CN" sz="2400" i="1" baseline="-25000"/>
                <a:t>B</a:t>
              </a:r>
              <a:endParaRPr lang="en-US" altLang="zh-CN" sz="2400" i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/>
      <p:bldP spid="12288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各种接触面间的弹力方向判断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905000"/>
            <a:ext cx="8540750" cy="584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曲面与曲面接触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566988" y="4643438"/>
            <a:ext cx="4095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anose="02010609030101010101" pitchFamily="49" charset="-122"/>
              </a:rPr>
              <a:t>曲面与曲面间弹力方向：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2640014" y="5343525"/>
            <a:ext cx="6588125" cy="522288"/>
          </a:xfrm>
          <a:prstGeom prst="rect">
            <a:avLst/>
          </a:prstGeom>
          <a:noFill/>
          <a:ln w="3175">
            <a:solidFill>
              <a:srgbClr val="FF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anose="02010609030101010101" pitchFamily="49" charset="-122"/>
              </a:rPr>
              <a:t>与过接触点的公切面垂直并指向受力物体</a:t>
            </a:r>
          </a:p>
        </p:txBody>
      </p:sp>
      <p:grpSp>
        <p:nvGrpSpPr>
          <p:cNvPr id="15366" name="Group 6"/>
          <p:cNvGrpSpPr/>
          <p:nvPr/>
        </p:nvGrpSpPr>
        <p:grpSpPr>
          <a:xfrm>
            <a:off x="2936876" y="2071688"/>
            <a:ext cx="2862263" cy="2189162"/>
            <a:chOff x="0" y="0"/>
            <a:chExt cx="1803" cy="1379"/>
          </a:xfrm>
        </p:grpSpPr>
        <p:sp>
          <p:nvSpPr>
            <p:cNvPr id="15391" name="AutoShape 7"/>
            <p:cNvSpPr>
              <a:spLocks noChangeAspect="1" noChangeArrowheads="1"/>
            </p:cNvSpPr>
            <p:nvPr/>
          </p:nvSpPr>
          <p:spPr bwMode="auto">
            <a:xfrm flipV="1">
              <a:off x="0" y="0"/>
              <a:ext cx="1136" cy="11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99 w 21600"/>
                <a:gd name="T13" fmla="*/ 0 h 21600"/>
                <a:gd name="T14" fmla="*/ 21201 w 21600"/>
                <a:gd name="T15" fmla="*/ 1372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" y="10636"/>
                  </a:moveTo>
                  <a:cubicBezTo>
                    <a:pt x="90" y="4735"/>
                    <a:pt x="4899" y="0"/>
                    <a:pt x="10800" y="0"/>
                  </a:cubicBezTo>
                  <a:cubicBezTo>
                    <a:pt x="16700" y="0"/>
                    <a:pt x="21509" y="4735"/>
                    <a:pt x="21598" y="10636"/>
                  </a:cubicBezTo>
                  <a:cubicBezTo>
                    <a:pt x="21509" y="4735"/>
                    <a:pt x="16700" y="0"/>
                    <a:pt x="10799" y="0"/>
                  </a:cubicBezTo>
                  <a:cubicBezTo>
                    <a:pt x="4899" y="0"/>
                    <a:pt x="90" y="4735"/>
                    <a:pt x="1" y="1063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92" name="Group 8"/>
            <p:cNvGrpSpPr/>
            <p:nvPr/>
          </p:nvGrpSpPr>
          <p:grpSpPr>
            <a:xfrm>
              <a:off x="6" y="1271"/>
              <a:ext cx="1087" cy="108"/>
              <a:chOff x="0" y="0"/>
              <a:chExt cx="1338" cy="130"/>
            </a:xfrm>
          </p:grpSpPr>
          <p:sp>
            <p:nvSpPr>
              <p:cNvPr id="15397" name="Line 9"/>
              <p:cNvSpPr>
                <a:spLocks noChangeShapeType="1"/>
              </p:cNvSpPr>
              <p:nvPr/>
            </p:nvSpPr>
            <p:spPr bwMode="auto">
              <a:xfrm flipH="1">
                <a:off x="0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8" name="Line 10"/>
              <p:cNvSpPr>
                <a:spLocks noChangeShapeType="1"/>
              </p:cNvSpPr>
              <p:nvPr/>
            </p:nvSpPr>
            <p:spPr bwMode="auto"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Line 11"/>
              <p:cNvSpPr>
                <a:spLocks noChangeShapeType="1"/>
              </p:cNvSpPr>
              <p:nvPr/>
            </p:nvSpPr>
            <p:spPr bwMode="auto"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0" name="Line 12"/>
              <p:cNvSpPr>
                <a:spLocks noChangeShapeType="1"/>
              </p:cNvSpPr>
              <p:nvPr/>
            </p:nvSpPr>
            <p:spPr bwMode="auto"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" name="Line 13"/>
              <p:cNvSpPr>
                <a:spLocks noChangeShapeType="1"/>
              </p:cNvSpPr>
              <p:nvPr/>
            </p:nvSpPr>
            <p:spPr bwMode="auto"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2" name="Line 14"/>
              <p:cNvSpPr>
                <a:spLocks noChangeShapeType="1"/>
              </p:cNvSpPr>
              <p:nvPr/>
            </p:nvSpPr>
            <p:spPr bwMode="auto"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3" name="Line 15"/>
              <p:cNvSpPr>
                <a:spLocks noChangeShapeType="1"/>
              </p:cNvSpPr>
              <p:nvPr/>
            </p:nvSpPr>
            <p:spPr bwMode="auto"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4" name="Line 16"/>
              <p:cNvSpPr>
                <a:spLocks noChangeShapeType="1"/>
              </p:cNvSpPr>
              <p:nvPr/>
            </p:nvSpPr>
            <p:spPr bwMode="auto"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5" name="Line 17"/>
              <p:cNvSpPr>
                <a:spLocks noChangeShapeType="1"/>
              </p:cNvSpPr>
              <p:nvPr/>
            </p:nvSpPr>
            <p:spPr bwMode="auto"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Line 18"/>
              <p:cNvSpPr>
                <a:spLocks noChangeShapeType="1"/>
              </p:cNvSpPr>
              <p:nvPr/>
            </p:nvSpPr>
            <p:spPr bwMode="auto"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Line 19"/>
              <p:cNvSpPr>
                <a:spLocks noChangeShapeType="1"/>
              </p:cNvSpPr>
              <p:nvPr/>
            </p:nvSpPr>
            <p:spPr bwMode="auto"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8" name="Line 20"/>
              <p:cNvSpPr>
                <a:spLocks noChangeShapeType="1"/>
              </p:cNvSpPr>
              <p:nvPr/>
            </p:nvSpPr>
            <p:spPr bwMode="auto">
              <a:xfrm>
                <a:off x="23" y="0"/>
                <a:ext cx="13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3" name="Line 21"/>
            <p:cNvSpPr>
              <a:spLocks noChangeShapeType="1"/>
            </p:cNvSpPr>
            <p:nvPr/>
          </p:nvSpPr>
          <p:spPr bwMode="auto">
            <a:xfrm flipH="1">
              <a:off x="342" y="1123"/>
              <a:ext cx="11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22"/>
            <p:cNvSpPr>
              <a:spLocks noChangeShapeType="1"/>
            </p:cNvSpPr>
            <p:nvPr/>
          </p:nvSpPr>
          <p:spPr bwMode="auto">
            <a:xfrm>
              <a:off x="708" y="1123"/>
              <a:ext cx="135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Text Box 23"/>
            <p:cNvSpPr txBox="1">
              <a:spLocks noChangeArrowheads="1"/>
            </p:cNvSpPr>
            <p:nvPr/>
          </p:nvSpPr>
          <p:spPr bwMode="auto">
            <a:xfrm>
              <a:off x="967" y="897"/>
              <a:ext cx="8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/>
                <a:t>半球形的碗</a:t>
              </a:r>
            </a:p>
          </p:txBody>
        </p:sp>
        <p:sp>
          <p:nvSpPr>
            <p:cNvPr id="15396" name="Oval 24"/>
            <p:cNvSpPr>
              <a:spLocks noChangeArrowheads="1"/>
            </p:cNvSpPr>
            <p:nvPr/>
          </p:nvSpPr>
          <p:spPr bwMode="auto">
            <a:xfrm>
              <a:off x="317" y="611"/>
              <a:ext cx="519" cy="51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23929" name="Line 25"/>
          <p:cNvSpPr>
            <a:spLocks noChangeShapeType="1"/>
          </p:cNvSpPr>
          <p:nvPr/>
        </p:nvSpPr>
        <p:spPr bwMode="auto">
          <a:xfrm>
            <a:off x="3413125" y="3881438"/>
            <a:ext cx="95885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930" name="Group 26"/>
          <p:cNvGrpSpPr/>
          <p:nvPr/>
        </p:nvGrpSpPr>
        <p:grpSpPr>
          <a:xfrm>
            <a:off x="3848101" y="2352676"/>
            <a:ext cx="377825" cy="1558925"/>
            <a:chOff x="6" y="0"/>
            <a:chExt cx="238" cy="982"/>
          </a:xfrm>
        </p:grpSpPr>
        <p:grpSp>
          <p:nvGrpSpPr>
            <p:cNvPr id="15387" name="Group 27"/>
            <p:cNvGrpSpPr/>
            <p:nvPr/>
          </p:nvGrpSpPr>
          <p:grpSpPr>
            <a:xfrm>
              <a:off x="6" y="104"/>
              <a:ext cx="0" cy="878"/>
              <a:chOff x="0" y="0"/>
              <a:chExt cx="0" cy="878"/>
            </a:xfrm>
          </p:grpSpPr>
          <p:sp>
            <p:nvSpPr>
              <p:cNvPr id="15389" name="Line 28"/>
              <p:cNvSpPr>
                <a:spLocks noChangeShapeType="1"/>
              </p:cNvSpPr>
              <p:nvPr/>
            </p:nvSpPr>
            <p:spPr bwMode="auto">
              <a:xfrm flipH="1" flipV="1">
                <a:off x="0" y="0"/>
                <a:ext cx="0" cy="59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arrow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" name="Line 29"/>
              <p:cNvSpPr>
                <a:spLocks noChangeShapeType="1"/>
              </p:cNvSpPr>
              <p:nvPr/>
            </p:nvSpPr>
            <p:spPr bwMode="auto">
              <a:xfrm flipH="1">
                <a:off x="0" y="586"/>
                <a:ext cx="0" cy="2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8" name="Text Box 30"/>
            <p:cNvSpPr txBox="1">
              <a:spLocks noChangeArrowheads="1"/>
            </p:cNvSpPr>
            <p:nvPr/>
          </p:nvSpPr>
          <p:spPr bwMode="auto">
            <a:xfrm>
              <a:off x="10" y="0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F</a:t>
              </a:r>
            </a:p>
          </p:txBody>
        </p:sp>
      </p:grpSp>
      <p:grpSp>
        <p:nvGrpSpPr>
          <p:cNvPr id="123935" name="Group 31"/>
          <p:cNvGrpSpPr/>
          <p:nvPr/>
        </p:nvGrpSpPr>
        <p:grpSpPr>
          <a:xfrm>
            <a:off x="7131051" y="2430464"/>
            <a:ext cx="2098675" cy="1787525"/>
            <a:chOff x="0" y="0"/>
            <a:chExt cx="1322" cy="1126"/>
          </a:xfrm>
        </p:grpSpPr>
        <p:grpSp>
          <p:nvGrpSpPr>
            <p:cNvPr id="15379" name="Group 32"/>
            <p:cNvGrpSpPr/>
            <p:nvPr/>
          </p:nvGrpSpPr>
          <p:grpSpPr>
            <a:xfrm>
              <a:off x="0" y="0"/>
              <a:ext cx="1322" cy="1099"/>
              <a:chOff x="0" y="0"/>
              <a:chExt cx="1322" cy="1099"/>
            </a:xfrm>
          </p:grpSpPr>
          <p:sp>
            <p:nvSpPr>
              <p:cNvPr id="15384" name="Line 33"/>
              <p:cNvSpPr>
                <a:spLocks noChangeShapeType="1"/>
              </p:cNvSpPr>
              <p:nvPr/>
            </p:nvSpPr>
            <p:spPr bwMode="auto">
              <a:xfrm>
                <a:off x="0" y="1095"/>
                <a:ext cx="13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5" name="Line 34"/>
              <p:cNvSpPr>
                <a:spLocks noChangeShapeType="1"/>
              </p:cNvSpPr>
              <p:nvPr/>
            </p:nvSpPr>
            <p:spPr bwMode="auto">
              <a:xfrm flipH="1">
                <a:off x="160" y="0"/>
                <a:ext cx="0" cy="108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6" name="Line 35"/>
              <p:cNvSpPr>
                <a:spLocks noChangeShapeType="1"/>
              </p:cNvSpPr>
              <p:nvPr/>
            </p:nvSpPr>
            <p:spPr bwMode="auto">
              <a:xfrm flipH="1">
                <a:off x="1127" y="13"/>
                <a:ext cx="0" cy="108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0" name="Oval 36"/>
            <p:cNvSpPr>
              <a:spLocks noChangeArrowheads="1"/>
            </p:cNvSpPr>
            <p:nvPr/>
          </p:nvSpPr>
          <p:spPr bwMode="auto">
            <a:xfrm>
              <a:off x="170" y="442"/>
              <a:ext cx="633" cy="63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1" name="Oval 37"/>
            <p:cNvSpPr>
              <a:spLocks noChangeArrowheads="1"/>
            </p:cNvSpPr>
            <p:nvPr/>
          </p:nvSpPr>
          <p:spPr bwMode="auto">
            <a:xfrm>
              <a:off x="754" y="358"/>
              <a:ext cx="369" cy="36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2" name="Text Box 38"/>
            <p:cNvSpPr txBox="1">
              <a:spLocks noChangeArrowheads="1"/>
            </p:cNvSpPr>
            <p:nvPr/>
          </p:nvSpPr>
          <p:spPr bwMode="auto">
            <a:xfrm>
              <a:off x="671" y="15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A</a:t>
              </a:r>
            </a:p>
          </p:txBody>
        </p:sp>
        <p:sp>
          <p:nvSpPr>
            <p:cNvPr id="15383" name="Text Box 39"/>
            <p:cNvSpPr txBox="1">
              <a:spLocks noChangeArrowheads="1"/>
            </p:cNvSpPr>
            <p:nvPr/>
          </p:nvSpPr>
          <p:spPr bwMode="auto">
            <a:xfrm>
              <a:off x="713" y="83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B</a:t>
              </a:r>
            </a:p>
          </p:txBody>
        </p:sp>
      </p:grpSp>
      <p:grpSp>
        <p:nvGrpSpPr>
          <p:cNvPr id="123944" name="Group 40"/>
          <p:cNvGrpSpPr/>
          <p:nvPr/>
        </p:nvGrpSpPr>
        <p:grpSpPr>
          <a:xfrm>
            <a:off x="7454900" y="3255963"/>
            <a:ext cx="1474788" cy="461962"/>
            <a:chOff x="10" y="0"/>
            <a:chExt cx="929" cy="291"/>
          </a:xfrm>
        </p:grpSpPr>
        <p:sp>
          <p:nvSpPr>
            <p:cNvPr id="15376" name="Line 41"/>
            <p:cNvSpPr>
              <a:spLocks noChangeShapeType="1"/>
            </p:cNvSpPr>
            <p:nvPr/>
          </p:nvSpPr>
          <p:spPr bwMode="auto">
            <a:xfrm flipH="1">
              <a:off x="127" y="26"/>
              <a:ext cx="62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42"/>
            <p:cNvSpPr>
              <a:spLocks noChangeShapeType="1"/>
            </p:cNvSpPr>
            <p:nvPr/>
          </p:nvSpPr>
          <p:spPr bwMode="auto">
            <a:xfrm>
              <a:off x="750" y="26"/>
              <a:ext cx="1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Text Box 43"/>
            <p:cNvSpPr txBox="1">
              <a:spLocks noChangeArrowheads="1"/>
            </p:cNvSpPr>
            <p:nvPr/>
          </p:nvSpPr>
          <p:spPr bwMode="auto">
            <a:xfrm>
              <a:off x="10" y="0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F</a:t>
              </a:r>
            </a:p>
          </p:txBody>
        </p:sp>
      </p:grpSp>
      <p:sp>
        <p:nvSpPr>
          <p:cNvPr id="123948" name="Line 44"/>
          <p:cNvSpPr>
            <a:spLocks noChangeShapeType="1"/>
          </p:cNvSpPr>
          <p:nvPr/>
        </p:nvSpPr>
        <p:spPr bwMode="auto">
          <a:xfrm>
            <a:off x="8162926" y="3043238"/>
            <a:ext cx="404813" cy="74930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949" name="Group 45"/>
          <p:cNvGrpSpPr/>
          <p:nvPr/>
        </p:nvGrpSpPr>
        <p:grpSpPr>
          <a:xfrm>
            <a:off x="8389939" y="2627314"/>
            <a:ext cx="1895475" cy="820737"/>
            <a:chOff x="0" y="0"/>
            <a:chExt cx="1194" cy="517"/>
          </a:xfrm>
        </p:grpSpPr>
        <p:sp>
          <p:nvSpPr>
            <p:cNvPr id="15373" name="Line 46"/>
            <p:cNvSpPr>
              <a:spLocks noChangeShapeType="1"/>
            </p:cNvSpPr>
            <p:nvPr/>
          </p:nvSpPr>
          <p:spPr bwMode="auto">
            <a:xfrm flipV="1">
              <a:off x="151" y="120"/>
              <a:ext cx="519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47"/>
            <p:cNvSpPr>
              <a:spLocks noChangeShapeType="1"/>
            </p:cNvSpPr>
            <p:nvPr/>
          </p:nvSpPr>
          <p:spPr bwMode="auto">
            <a:xfrm flipH="1">
              <a:off x="0" y="413"/>
              <a:ext cx="160" cy="1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Text Box 48"/>
            <p:cNvSpPr txBox="1">
              <a:spLocks noChangeArrowheads="1"/>
            </p:cNvSpPr>
            <p:nvPr/>
          </p:nvSpPr>
          <p:spPr bwMode="auto">
            <a:xfrm>
              <a:off x="641" y="0"/>
              <a:ext cx="5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F</a:t>
              </a:r>
              <a:r>
                <a:rPr lang="en-US" altLang="zh-CN" sz="2400" i="1" baseline="-25000">
                  <a:solidFill>
                    <a:srgbClr val="FF0000"/>
                  </a:solidFill>
                </a:rPr>
                <a:t>B</a:t>
              </a:r>
              <a:r>
                <a:rPr lang="zh-CN" altLang="en-US" sz="2400" i="1" baseline="-25000">
                  <a:solidFill>
                    <a:srgbClr val="FF0000"/>
                  </a:solidFill>
                </a:rPr>
                <a:t>对</a:t>
              </a:r>
              <a:r>
                <a:rPr lang="en-US" altLang="zh-CN" sz="2400" i="1" baseline="-25000">
                  <a:solidFill>
                    <a:srgbClr val="FF0000"/>
                  </a:solidFill>
                </a:rPr>
                <a:t>A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/>
      <p:bldP spid="1239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839788" y="804069"/>
            <a:ext cx="3024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绳的弹力方向：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1252599" y="1641720"/>
            <a:ext cx="911212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由于绳被拉长而对所拉物体产生的弹力，通常称为</a:t>
            </a:r>
            <a:r>
              <a:rPr kumimoji="1" lang="zh-CN" altLang="en-US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拉力</a:t>
            </a: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（张力）。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64868" name="Group 4"/>
          <p:cNvGrpSpPr/>
          <p:nvPr/>
        </p:nvGrpSpPr>
        <p:grpSpPr>
          <a:xfrm>
            <a:off x="2640013" y="2997201"/>
            <a:ext cx="1223962" cy="1008063"/>
            <a:chOff x="385" y="1525"/>
            <a:chExt cx="771" cy="635"/>
          </a:xfrm>
        </p:grpSpPr>
        <p:grpSp>
          <p:nvGrpSpPr>
            <p:cNvPr id="16431" name="Group 5"/>
            <p:cNvGrpSpPr/>
            <p:nvPr/>
          </p:nvGrpSpPr>
          <p:grpSpPr>
            <a:xfrm rot="10800000">
              <a:off x="385" y="1525"/>
              <a:ext cx="771" cy="91"/>
              <a:chOff x="204" y="2251"/>
              <a:chExt cx="1225" cy="90"/>
            </a:xfrm>
          </p:grpSpPr>
          <p:sp>
            <p:nvSpPr>
              <p:cNvPr id="16434" name="Rectangle 6" descr="宽上对角线"/>
              <p:cNvSpPr>
                <a:spLocks noChangeArrowheads="1"/>
              </p:cNvSpPr>
              <p:nvPr/>
            </p:nvSpPr>
            <p:spPr bwMode="auto">
              <a:xfrm>
                <a:off x="204" y="2251"/>
                <a:ext cx="1225" cy="90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435" name="Line 7"/>
              <p:cNvSpPr>
                <a:spLocks noChangeShapeType="1"/>
              </p:cNvSpPr>
              <p:nvPr/>
            </p:nvSpPr>
            <p:spPr bwMode="auto">
              <a:xfrm>
                <a:off x="204" y="2251"/>
                <a:ext cx="122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6432" name="Line 8"/>
            <p:cNvSpPr>
              <a:spLocks noChangeShapeType="1"/>
            </p:cNvSpPr>
            <p:nvPr/>
          </p:nvSpPr>
          <p:spPr bwMode="auto">
            <a:xfrm flipH="1">
              <a:off x="748" y="1616"/>
              <a:ext cx="0" cy="36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433" name="Rectangle 9"/>
            <p:cNvSpPr>
              <a:spLocks noChangeArrowheads="1"/>
            </p:cNvSpPr>
            <p:nvPr/>
          </p:nvSpPr>
          <p:spPr bwMode="auto">
            <a:xfrm>
              <a:off x="567" y="1979"/>
              <a:ext cx="363" cy="181"/>
            </a:xfrm>
            <a:prstGeom prst="rect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64874" name="Line 10"/>
          <p:cNvSpPr>
            <a:spLocks noChangeShapeType="1"/>
          </p:cNvSpPr>
          <p:nvPr/>
        </p:nvSpPr>
        <p:spPr bwMode="auto">
          <a:xfrm flipH="1" flipV="1">
            <a:off x="3216275" y="3357564"/>
            <a:ext cx="0" cy="503237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3287713" y="3141663"/>
            <a:ext cx="647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  <p:grpSp>
        <p:nvGrpSpPr>
          <p:cNvPr id="164876" name="Group 12"/>
          <p:cNvGrpSpPr/>
          <p:nvPr/>
        </p:nvGrpSpPr>
        <p:grpSpPr>
          <a:xfrm>
            <a:off x="4800600" y="2997200"/>
            <a:ext cx="1873250" cy="1441450"/>
            <a:chOff x="1745" y="1525"/>
            <a:chExt cx="1180" cy="908"/>
          </a:xfrm>
        </p:grpSpPr>
        <p:sp>
          <p:nvSpPr>
            <p:cNvPr id="16419" name="Oval 13"/>
            <p:cNvSpPr>
              <a:spLocks noChangeArrowheads="1"/>
            </p:cNvSpPr>
            <p:nvPr/>
          </p:nvSpPr>
          <p:spPr bwMode="auto">
            <a:xfrm>
              <a:off x="2199" y="1934"/>
              <a:ext cx="182" cy="182"/>
            </a:xfrm>
            <a:prstGeom prst="ellipse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16420" name="Group 14"/>
            <p:cNvGrpSpPr/>
            <p:nvPr/>
          </p:nvGrpSpPr>
          <p:grpSpPr>
            <a:xfrm>
              <a:off x="1745" y="1525"/>
              <a:ext cx="1180" cy="908"/>
              <a:chOff x="1745" y="1525"/>
              <a:chExt cx="1180" cy="908"/>
            </a:xfrm>
          </p:grpSpPr>
          <p:grpSp>
            <p:nvGrpSpPr>
              <p:cNvPr id="16421" name="Group 15"/>
              <p:cNvGrpSpPr/>
              <p:nvPr/>
            </p:nvGrpSpPr>
            <p:grpSpPr>
              <a:xfrm>
                <a:off x="1745" y="1525"/>
                <a:ext cx="1180" cy="908"/>
                <a:chOff x="1745" y="1525"/>
                <a:chExt cx="1180" cy="908"/>
              </a:xfrm>
            </p:grpSpPr>
            <p:grpSp>
              <p:nvGrpSpPr>
                <p:cNvPr id="16423" name="Group 16"/>
                <p:cNvGrpSpPr/>
                <p:nvPr/>
              </p:nvGrpSpPr>
              <p:grpSpPr>
                <a:xfrm>
                  <a:off x="1745" y="1525"/>
                  <a:ext cx="1180" cy="908"/>
                  <a:chOff x="1745" y="1525"/>
                  <a:chExt cx="1180" cy="908"/>
                </a:xfrm>
              </p:grpSpPr>
              <p:grpSp>
                <p:nvGrpSpPr>
                  <p:cNvPr id="16425" name="Group 17"/>
                  <p:cNvGrpSpPr/>
                  <p:nvPr/>
                </p:nvGrpSpPr>
                <p:grpSpPr>
                  <a:xfrm rot="10800000">
                    <a:off x="1745" y="1525"/>
                    <a:ext cx="1089" cy="91"/>
                    <a:chOff x="204" y="2251"/>
                    <a:chExt cx="1225" cy="90"/>
                  </a:xfrm>
                </p:grpSpPr>
                <p:sp>
                  <p:nvSpPr>
                    <p:cNvPr id="16429" name="Rectangle 18" descr="宽上对角线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4" y="2251"/>
                      <a:ext cx="1225" cy="90"/>
                    </a:xfrm>
                    <a:prstGeom prst="rect">
                      <a:avLst/>
                    </a:prstGeom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16430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4" y="2251"/>
                      <a:ext cx="1225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28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6426" name="Group 20"/>
                  <p:cNvGrpSpPr/>
                  <p:nvPr/>
                </p:nvGrpSpPr>
                <p:grpSpPr>
                  <a:xfrm rot="-5400000">
                    <a:off x="2471" y="1979"/>
                    <a:ext cx="817" cy="91"/>
                    <a:chOff x="204" y="2251"/>
                    <a:chExt cx="1225" cy="90"/>
                  </a:xfrm>
                </p:grpSpPr>
                <p:sp>
                  <p:nvSpPr>
                    <p:cNvPr id="16427" name="Rectangle 21" descr="宽上对角线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4" y="2251"/>
                      <a:ext cx="1225" cy="90"/>
                    </a:xfrm>
                    <a:prstGeom prst="rect">
                      <a:avLst/>
                    </a:prstGeom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16428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4" y="2251"/>
                      <a:ext cx="1225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28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p:txBody>
                </p:sp>
              </p:grpSp>
            </p:grpSp>
            <p:sp>
              <p:nvSpPr>
                <p:cNvPr id="16424" name="Line 23"/>
                <p:cNvSpPr>
                  <a:spLocks noChangeShapeType="1"/>
                </p:cNvSpPr>
                <p:nvPr/>
              </p:nvSpPr>
              <p:spPr bwMode="auto">
                <a:xfrm>
                  <a:off x="2380" y="2024"/>
                  <a:ext cx="45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16422" name="Line 24"/>
              <p:cNvSpPr>
                <a:spLocks noChangeShapeType="1"/>
              </p:cNvSpPr>
              <p:nvPr/>
            </p:nvSpPr>
            <p:spPr bwMode="auto">
              <a:xfrm flipH="1" flipV="1">
                <a:off x="1845" y="1616"/>
                <a:ext cx="363" cy="3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164889" name="Line 25"/>
          <p:cNvSpPr>
            <a:spLocks noChangeShapeType="1"/>
          </p:cNvSpPr>
          <p:nvPr/>
        </p:nvSpPr>
        <p:spPr bwMode="auto">
          <a:xfrm>
            <a:off x="5664201" y="3789363"/>
            <a:ext cx="574675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890" name="Line 26"/>
          <p:cNvSpPr>
            <a:spLocks noChangeShapeType="1"/>
          </p:cNvSpPr>
          <p:nvPr/>
        </p:nvSpPr>
        <p:spPr bwMode="auto">
          <a:xfrm flipH="1" flipV="1">
            <a:off x="5159376" y="3357563"/>
            <a:ext cx="504825" cy="43180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891" name="Text Box 27"/>
          <p:cNvSpPr txBox="1">
            <a:spLocks noChangeArrowheads="1"/>
          </p:cNvSpPr>
          <p:nvPr/>
        </p:nvSpPr>
        <p:spPr bwMode="auto">
          <a:xfrm>
            <a:off x="5880100" y="3932238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="1" baseline="-250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892" name="Text Box 28"/>
          <p:cNvSpPr txBox="1">
            <a:spLocks noChangeArrowheads="1"/>
          </p:cNvSpPr>
          <p:nvPr/>
        </p:nvSpPr>
        <p:spPr bwMode="auto">
          <a:xfrm>
            <a:off x="4727575" y="3500438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="1" baseline="-250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altLang="zh-CN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893" name="Rectangle 29"/>
          <p:cNvSpPr>
            <a:spLocks noChangeArrowheads="1"/>
          </p:cNvSpPr>
          <p:nvPr/>
        </p:nvSpPr>
        <p:spPr bwMode="auto">
          <a:xfrm>
            <a:off x="1917701" y="5221043"/>
            <a:ext cx="82089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绳子拉力的方向总是</a:t>
            </a:r>
            <a:r>
              <a:rPr kumimoji="1"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沿着绳</a:t>
            </a: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而指向</a:t>
            </a:r>
            <a:r>
              <a:rPr kumimoji="1"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绳收缩</a:t>
            </a:r>
            <a:r>
              <a:rPr kumimoji="1"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的方向</a:t>
            </a:r>
            <a:r>
              <a:rPr kumimoji="1" lang="zh-CN" altLang="en-US" b="1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164894" name="Group 30"/>
          <p:cNvGrpSpPr/>
          <p:nvPr/>
        </p:nvGrpSpPr>
        <p:grpSpPr>
          <a:xfrm>
            <a:off x="7391400" y="2852738"/>
            <a:ext cx="2592388" cy="863600"/>
            <a:chOff x="3560" y="1525"/>
            <a:chExt cx="1633" cy="544"/>
          </a:xfrm>
        </p:grpSpPr>
        <p:sp>
          <p:nvSpPr>
            <p:cNvPr id="16411" name="Oval 31"/>
            <p:cNvSpPr>
              <a:spLocks noChangeArrowheads="1"/>
            </p:cNvSpPr>
            <p:nvPr/>
          </p:nvSpPr>
          <p:spPr bwMode="auto">
            <a:xfrm>
              <a:off x="4286" y="1933"/>
              <a:ext cx="136" cy="136"/>
            </a:xfrm>
            <a:prstGeom prst="ellipse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16412" name="Group 32"/>
            <p:cNvGrpSpPr/>
            <p:nvPr/>
          </p:nvGrpSpPr>
          <p:grpSpPr>
            <a:xfrm>
              <a:off x="3560" y="1525"/>
              <a:ext cx="1633" cy="544"/>
              <a:chOff x="3560" y="1525"/>
              <a:chExt cx="1633" cy="544"/>
            </a:xfrm>
          </p:grpSpPr>
          <p:grpSp>
            <p:nvGrpSpPr>
              <p:cNvPr id="16414" name="Group 33"/>
              <p:cNvGrpSpPr/>
              <p:nvPr/>
            </p:nvGrpSpPr>
            <p:grpSpPr>
              <a:xfrm rot="10800000">
                <a:off x="3560" y="1525"/>
                <a:ext cx="1633" cy="91"/>
                <a:chOff x="204" y="2251"/>
                <a:chExt cx="1225" cy="90"/>
              </a:xfrm>
            </p:grpSpPr>
            <p:sp>
              <p:nvSpPr>
                <p:cNvPr id="16417" name="Rectangle 34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204" y="2251"/>
                  <a:ext cx="1225" cy="90"/>
                </a:xfrm>
                <a:prstGeom prst="rect">
                  <a:avLst/>
                </a:prstGeom>
                <a:pattFill prst="wdUpDiag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b="1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16418" name="Line 35"/>
                <p:cNvSpPr>
                  <a:spLocks noChangeShapeType="1"/>
                </p:cNvSpPr>
                <p:nvPr/>
              </p:nvSpPr>
              <p:spPr bwMode="auto">
                <a:xfrm>
                  <a:off x="204" y="2251"/>
                  <a:ext cx="1225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800" b="1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16415" name="Line 36"/>
              <p:cNvSpPr>
                <a:spLocks noChangeShapeType="1"/>
              </p:cNvSpPr>
              <p:nvPr/>
            </p:nvSpPr>
            <p:spPr bwMode="auto">
              <a:xfrm>
                <a:off x="3651" y="1616"/>
                <a:ext cx="681" cy="45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416" name="Line 37"/>
              <p:cNvSpPr>
                <a:spLocks noChangeShapeType="1"/>
              </p:cNvSpPr>
              <p:nvPr/>
            </p:nvSpPr>
            <p:spPr bwMode="auto">
              <a:xfrm flipV="1">
                <a:off x="4377" y="1616"/>
                <a:ext cx="680" cy="45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6413" name="Oval 38"/>
            <p:cNvSpPr>
              <a:spLocks noChangeArrowheads="1"/>
            </p:cNvSpPr>
            <p:nvPr/>
          </p:nvSpPr>
          <p:spPr bwMode="auto">
            <a:xfrm>
              <a:off x="4332" y="1979"/>
              <a:ext cx="45" cy="46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64903" name="Group 39"/>
          <p:cNvGrpSpPr/>
          <p:nvPr/>
        </p:nvGrpSpPr>
        <p:grpSpPr>
          <a:xfrm>
            <a:off x="8472488" y="3602039"/>
            <a:ext cx="360362" cy="820737"/>
            <a:chOff x="4241" y="2006"/>
            <a:chExt cx="227" cy="517"/>
          </a:xfrm>
        </p:grpSpPr>
        <p:sp>
          <p:nvSpPr>
            <p:cNvPr id="16409" name="Line 40"/>
            <p:cNvSpPr>
              <a:spLocks noChangeShapeType="1"/>
            </p:cNvSpPr>
            <p:nvPr/>
          </p:nvSpPr>
          <p:spPr bwMode="auto">
            <a:xfrm flipH="1">
              <a:off x="4350" y="2006"/>
              <a:ext cx="0" cy="40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410" name="Rectangle 41"/>
            <p:cNvSpPr>
              <a:spLocks noChangeArrowheads="1"/>
            </p:cNvSpPr>
            <p:nvPr/>
          </p:nvSpPr>
          <p:spPr bwMode="auto">
            <a:xfrm>
              <a:off x="4241" y="2387"/>
              <a:ext cx="227" cy="136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64906" name="Line 42"/>
          <p:cNvSpPr>
            <a:spLocks noChangeShapeType="1"/>
          </p:cNvSpPr>
          <p:nvPr/>
        </p:nvSpPr>
        <p:spPr bwMode="auto">
          <a:xfrm flipV="1">
            <a:off x="8759826" y="3284538"/>
            <a:ext cx="576263" cy="360362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907" name="Line 43"/>
          <p:cNvSpPr>
            <a:spLocks noChangeShapeType="1"/>
          </p:cNvSpPr>
          <p:nvPr/>
        </p:nvSpPr>
        <p:spPr bwMode="auto">
          <a:xfrm flipH="1">
            <a:off x="8659813" y="3617914"/>
            <a:ext cx="0" cy="503237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908" name="Line 44"/>
          <p:cNvSpPr>
            <a:spLocks noChangeShapeType="1"/>
          </p:cNvSpPr>
          <p:nvPr/>
        </p:nvSpPr>
        <p:spPr bwMode="auto">
          <a:xfrm flipH="1" flipV="1">
            <a:off x="8040689" y="3357563"/>
            <a:ext cx="490537" cy="315912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909" name="Text Box 45"/>
          <p:cNvSpPr txBox="1">
            <a:spLocks noChangeArrowheads="1"/>
          </p:cNvSpPr>
          <p:nvPr/>
        </p:nvSpPr>
        <p:spPr bwMode="auto">
          <a:xfrm>
            <a:off x="7896226" y="400526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="1" baseline="-250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910" name="Text Box 46"/>
          <p:cNvSpPr txBox="1">
            <a:spLocks noChangeArrowheads="1"/>
          </p:cNvSpPr>
          <p:nvPr/>
        </p:nvSpPr>
        <p:spPr bwMode="auto">
          <a:xfrm>
            <a:off x="7391400" y="3141663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="1" baseline="-250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altLang="zh-CN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911" name="Text Box 47"/>
          <p:cNvSpPr txBox="1">
            <a:spLocks noChangeArrowheads="1"/>
          </p:cNvSpPr>
          <p:nvPr/>
        </p:nvSpPr>
        <p:spPr bwMode="auto">
          <a:xfrm>
            <a:off x="9407525" y="3125788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="1" baseline="-250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en-US" altLang="zh-CN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/>
      <p:bldP spid="164875" grpId="0"/>
      <p:bldP spid="164891" grpId="0"/>
      <p:bldP spid="164892" grpId="0"/>
      <p:bldP spid="164893" grpId="0"/>
      <p:bldP spid="164909" grpId="0"/>
      <p:bldP spid="164910" grpId="0"/>
      <p:bldP spid="1649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2023830" y="1214846"/>
            <a:ext cx="2502484" cy="4154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4.   </a:t>
            </a:r>
            <a:r>
              <a:rPr lang="zh-CN" alt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杆的弹力</a:t>
            </a:r>
          </a:p>
        </p:txBody>
      </p:sp>
      <p:sp>
        <p:nvSpPr>
          <p:cNvPr id="4106" name="Rectangle 13" descr="宽上对角线"/>
          <p:cNvSpPr>
            <a:spLocks noChangeArrowheads="1"/>
          </p:cNvSpPr>
          <p:nvPr/>
        </p:nvSpPr>
        <p:spPr bwMode="auto">
          <a:xfrm>
            <a:off x="3159183" y="3157577"/>
            <a:ext cx="1079500" cy="10834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4107" name="Line 14"/>
          <p:cNvSpPr>
            <a:spLocks noChangeShapeType="1"/>
          </p:cNvSpPr>
          <p:nvPr/>
        </p:nvSpPr>
        <p:spPr bwMode="auto">
          <a:xfrm>
            <a:off x="3168708" y="3264732"/>
            <a:ext cx="107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108" name="Rectangle 15" descr="宽上对角线"/>
          <p:cNvSpPr>
            <a:spLocks noChangeArrowheads="1"/>
          </p:cNvSpPr>
          <p:nvPr/>
        </p:nvSpPr>
        <p:spPr bwMode="auto">
          <a:xfrm>
            <a:off x="4886325" y="3146804"/>
            <a:ext cx="1079500" cy="10834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4895850" y="3253959"/>
            <a:ext cx="107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110" name="Group 17"/>
          <p:cNvGrpSpPr/>
          <p:nvPr/>
        </p:nvGrpSpPr>
        <p:grpSpPr>
          <a:xfrm rot="5400000">
            <a:off x="7415611" y="3677049"/>
            <a:ext cx="816769" cy="144463"/>
            <a:chOff x="3328" y="2069"/>
            <a:chExt cx="686" cy="91"/>
          </a:xfrm>
        </p:grpSpPr>
        <p:sp>
          <p:nvSpPr>
            <p:cNvPr id="4134" name="Rectangle 18" descr="宽上对角线"/>
            <p:cNvSpPr>
              <a:spLocks noChangeArrowheads="1"/>
            </p:cNvSpPr>
            <p:nvPr/>
          </p:nvSpPr>
          <p:spPr bwMode="auto">
            <a:xfrm>
              <a:off x="3328" y="2069"/>
              <a:ext cx="680" cy="91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4135" name="Line 19"/>
            <p:cNvSpPr>
              <a:spLocks noChangeShapeType="1"/>
            </p:cNvSpPr>
            <p:nvPr/>
          </p:nvSpPr>
          <p:spPr bwMode="auto">
            <a:xfrm>
              <a:off x="3334" y="2159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0260" name="Rectangle 20"/>
          <p:cNvSpPr>
            <a:spLocks noChangeArrowheads="1"/>
          </p:cNvSpPr>
          <p:nvPr/>
        </p:nvSpPr>
        <p:spPr bwMode="auto">
          <a:xfrm rot="8100000">
            <a:off x="7434353" y="3334797"/>
            <a:ext cx="36513" cy="809625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5434014" y="3245625"/>
            <a:ext cx="36512" cy="809625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4113" name="Oval 22"/>
          <p:cNvSpPr>
            <a:spLocks noChangeAspect="1" noChangeArrowheads="1"/>
          </p:cNvSpPr>
          <p:nvPr/>
        </p:nvSpPr>
        <p:spPr bwMode="auto">
          <a:xfrm>
            <a:off x="5314951" y="4020723"/>
            <a:ext cx="280988" cy="210740"/>
          </a:xfrm>
          <a:prstGeom prst="ellipse">
            <a:avLst/>
          </a:prstGeom>
          <a:gradFill rotWithShape="0">
            <a:gsLst>
              <a:gs pos="0">
                <a:srgbClr val="FFFFFF">
                  <a:alpha val="26999"/>
                </a:srgbClr>
              </a:gs>
              <a:gs pos="100000">
                <a:srgbClr val="757575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4114" name="Oval 23"/>
          <p:cNvSpPr>
            <a:spLocks noChangeAspect="1" noChangeArrowheads="1"/>
          </p:cNvSpPr>
          <p:nvPr/>
        </p:nvSpPr>
        <p:spPr bwMode="auto">
          <a:xfrm>
            <a:off x="6918916" y="3271547"/>
            <a:ext cx="280987" cy="210741"/>
          </a:xfrm>
          <a:prstGeom prst="ellipse">
            <a:avLst/>
          </a:prstGeom>
          <a:gradFill rotWithShape="0">
            <a:gsLst>
              <a:gs pos="0">
                <a:srgbClr val="FFFFFF">
                  <a:alpha val="26999"/>
                </a:srgbClr>
              </a:gs>
              <a:gs pos="100000">
                <a:srgbClr val="757575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 rot="2700000">
            <a:off x="3261379" y="3010137"/>
            <a:ext cx="27384" cy="107950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4116" name="Oval 25"/>
          <p:cNvSpPr>
            <a:spLocks noChangeAspect="1" noChangeArrowheads="1"/>
          </p:cNvSpPr>
          <p:nvPr/>
        </p:nvSpPr>
        <p:spPr bwMode="auto">
          <a:xfrm>
            <a:off x="2706748" y="3758842"/>
            <a:ext cx="280987" cy="210741"/>
          </a:xfrm>
          <a:prstGeom prst="ellipse">
            <a:avLst/>
          </a:prstGeom>
          <a:gradFill rotWithShape="0">
            <a:gsLst>
              <a:gs pos="0">
                <a:srgbClr val="FFFFFF">
                  <a:alpha val="26999"/>
                </a:srgbClr>
              </a:gs>
              <a:gs pos="100000">
                <a:srgbClr val="757575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 rot="5400000">
            <a:off x="9049700" y="3002162"/>
            <a:ext cx="27385" cy="719138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4118" name="Oval 27"/>
          <p:cNvSpPr>
            <a:spLocks noChangeAspect="1" noChangeArrowheads="1"/>
          </p:cNvSpPr>
          <p:nvPr/>
        </p:nvSpPr>
        <p:spPr bwMode="auto">
          <a:xfrm>
            <a:off x="8457762" y="3242074"/>
            <a:ext cx="280987" cy="210740"/>
          </a:xfrm>
          <a:prstGeom prst="ellipse">
            <a:avLst/>
          </a:prstGeom>
          <a:gradFill rotWithShape="0">
            <a:gsLst>
              <a:gs pos="0">
                <a:srgbClr val="FFFFFF">
                  <a:alpha val="26999"/>
                </a:srgbClr>
              </a:gs>
              <a:gs pos="100000">
                <a:srgbClr val="757575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grpSp>
        <p:nvGrpSpPr>
          <p:cNvPr id="4119" name="Group 28"/>
          <p:cNvGrpSpPr/>
          <p:nvPr/>
        </p:nvGrpSpPr>
        <p:grpSpPr>
          <a:xfrm rot="5400000">
            <a:off x="9078871" y="3282952"/>
            <a:ext cx="816769" cy="144463"/>
            <a:chOff x="3328" y="2069"/>
            <a:chExt cx="686" cy="91"/>
          </a:xfrm>
        </p:grpSpPr>
        <p:sp>
          <p:nvSpPr>
            <p:cNvPr id="4132" name="Rectangle 29" descr="宽上对角线"/>
            <p:cNvSpPr>
              <a:spLocks noChangeArrowheads="1"/>
            </p:cNvSpPr>
            <p:nvPr/>
          </p:nvSpPr>
          <p:spPr bwMode="auto">
            <a:xfrm>
              <a:off x="3328" y="2069"/>
              <a:ext cx="680" cy="91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4133" name="Line 30"/>
            <p:cNvSpPr>
              <a:spLocks noChangeShapeType="1"/>
            </p:cNvSpPr>
            <p:nvPr/>
          </p:nvSpPr>
          <p:spPr bwMode="auto">
            <a:xfrm>
              <a:off x="3334" y="2159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2492998" y="3268835"/>
            <a:ext cx="384175" cy="622697"/>
            <a:chOff x="839" y="2296"/>
            <a:chExt cx="242" cy="523"/>
          </a:xfrm>
        </p:grpSpPr>
        <p:sp>
          <p:nvSpPr>
            <p:cNvPr id="4130" name="Line 32"/>
            <p:cNvSpPr>
              <a:spLocks noChangeShapeType="1"/>
            </p:cNvSpPr>
            <p:nvPr/>
          </p:nvSpPr>
          <p:spPr bwMode="auto">
            <a:xfrm flipH="1" flipV="1">
              <a:off x="1059" y="2338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4101" name="Object 33"/>
            <p:cNvGraphicFramePr>
              <a:graphicFrameLocks noChangeAspect="1"/>
            </p:cNvGraphicFramePr>
            <p:nvPr/>
          </p:nvGraphicFramePr>
          <p:xfrm>
            <a:off x="839" y="2296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962400" imgH="3962400" progId="Equation.DSMT4">
                    <p:embed/>
                  </p:oleObj>
                </mc:Choice>
                <mc:Fallback>
                  <p:oleObj name="Equation" r:id="rId2" imgW="3962400" imgH="3962400" progId="Equation.DSMT4">
                    <p:embed/>
                    <p:pic>
                      <p:nvPicPr>
                        <p:cNvPr id="4101" name="Object 3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9" y="2296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1" name="Oval 34"/>
            <p:cNvSpPr>
              <a:spLocks noChangeArrowheads="1"/>
            </p:cNvSpPr>
            <p:nvPr/>
          </p:nvSpPr>
          <p:spPr bwMode="auto">
            <a:xfrm>
              <a:off x="1036" y="2774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5417346" y="3556381"/>
            <a:ext cx="357187" cy="588169"/>
            <a:chOff x="2533" y="2341"/>
            <a:chExt cx="225" cy="494"/>
          </a:xfrm>
        </p:grpSpPr>
        <p:sp>
          <p:nvSpPr>
            <p:cNvPr id="4128" name="Oval 36"/>
            <p:cNvSpPr>
              <a:spLocks noChangeArrowheads="1"/>
            </p:cNvSpPr>
            <p:nvPr/>
          </p:nvSpPr>
          <p:spPr bwMode="auto">
            <a:xfrm>
              <a:off x="2533" y="2790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4129" name="Line 37"/>
            <p:cNvSpPr>
              <a:spLocks noChangeShapeType="1"/>
            </p:cNvSpPr>
            <p:nvPr/>
          </p:nvSpPr>
          <p:spPr bwMode="auto">
            <a:xfrm flipH="1" flipV="1">
              <a:off x="2554" y="2357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4100" name="Object 38"/>
            <p:cNvGraphicFramePr>
              <a:graphicFrameLocks noChangeAspect="1"/>
            </p:cNvGraphicFramePr>
            <p:nvPr/>
          </p:nvGraphicFramePr>
          <p:xfrm>
            <a:off x="2576" y="2341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962400" imgH="3962400" progId="Equation.DSMT4">
                    <p:embed/>
                  </p:oleObj>
                </mc:Choice>
                <mc:Fallback>
                  <p:oleObj name="Equation" r:id="rId4" imgW="3962400" imgH="3962400" progId="Equation.DSMT4">
                    <p:embed/>
                    <p:pic>
                      <p:nvPicPr>
                        <p:cNvPr id="4100" name="Object 3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76" y="2341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9"/>
          <p:cNvGrpSpPr/>
          <p:nvPr/>
        </p:nvGrpSpPr>
        <p:grpSpPr>
          <a:xfrm>
            <a:off x="7021308" y="2808988"/>
            <a:ext cx="373062" cy="583406"/>
            <a:chOff x="3499" y="1912"/>
            <a:chExt cx="235" cy="490"/>
          </a:xfrm>
        </p:grpSpPr>
        <p:sp>
          <p:nvSpPr>
            <p:cNvPr id="4126" name="Oval 40"/>
            <p:cNvSpPr>
              <a:spLocks noChangeArrowheads="1"/>
            </p:cNvSpPr>
            <p:nvPr/>
          </p:nvSpPr>
          <p:spPr bwMode="auto">
            <a:xfrm>
              <a:off x="3499" y="2357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4127" name="Line 41"/>
            <p:cNvSpPr>
              <a:spLocks noChangeShapeType="1"/>
            </p:cNvSpPr>
            <p:nvPr/>
          </p:nvSpPr>
          <p:spPr bwMode="auto">
            <a:xfrm flipH="1" flipV="1">
              <a:off x="3523" y="1933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4099" name="Object 42"/>
            <p:cNvGraphicFramePr>
              <a:graphicFrameLocks noChangeAspect="1"/>
            </p:cNvGraphicFramePr>
            <p:nvPr/>
          </p:nvGraphicFramePr>
          <p:xfrm>
            <a:off x="3552" y="1912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62400" imgH="3962400" progId="Equation.DSMT4">
                    <p:embed/>
                  </p:oleObj>
                </mc:Choice>
                <mc:Fallback>
                  <p:oleObj name="Equation" r:id="rId6" imgW="3962400" imgH="3962400" progId="Equation.DSMT4">
                    <p:embed/>
                    <p:pic>
                      <p:nvPicPr>
                        <p:cNvPr id="4099" name="Object 4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52" y="1912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3"/>
          <p:cNvGrpSpPr/>
          <p:nvPr/>
        </p:nvGrpSpPr>
        <p:grpSpPr>
          <a:xfrm>
            <a:off x="8562695" y="2808750"/>
            <a:ext cx="339725" cy="583406"/>
            <a:chOff x="4572" y="2160"/>
            <a:chExt cx="214" cy="490"/>
          </a:xfrm>
        </p:grpSpPr>
        <p:sp>
          <p:nvSpPr>
            <p:cNvPr id="4124" name="Oval 44"/>
            <p:cNvSpPr>
              <a:spLocks noChangeArrowheads="1"/>
            </p:cNvSpPr>
            <p:nvPr/>
          </p:nvSpPr>
          <p:spPr bwMode="auto">
            <a:xfrm>
              <a:off x="4572" y="2605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4125" name="Line 45"/>
            <p:cNvSpPr>
              <a:spLocks noChangeShapeType="1"/>
            </p:cNvSpPr>
            <p:nvPr/>
          </p:nvSpPr>
          <p:spPr bwMode="auto">
            <a:xfrm flipH="1" flipV="1">
              <a:off x="4595" y="2173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4098" name="Object 46"/>
            <p:cNvGraphicFramePr>
              <a:graphicFrameLocks noChangeAspect="1"/>
            </p:cNvGraphicFramePr>
            <p:nvPr/>
          </p:nvGraphicFramePr>
          <p:xfrm>
            <a:off x="4604" y="2160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62400" imgH="3962400" progId="Equation.DSMT4">
                    <p:embed/>
                  </p:oleObj>
                </mc:Choice>
                <mc:Fallback>
                  <p:oleObj name="Equation" r:id="rId8" imgW="3962400" imgH="3962400" progId="Equation.DSMT4">
                    <p:embed/>
                    <p:pic>
                      <p:nvPicPr>
                        <p:cNvPr id="4098" name="Object 4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604" y="2160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/>
          <p:nvPr/>
        </p:nvSpPr>
        <p:spPr>
          <a:xfrm>
            <a:off x="2835655" y="4638771"/>
            <a:ext cx="2608406" cy="512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b="1">
                <a:solidFill>
                  <a:srgbClr val="FF0000"/>
                </a:solidFill>
              </a:rPr>
              <a:t>杆的弹力不一定沿杆</a:t>
            </a:r>
            <a:endParaRPr lang="zh-CN" altLang="en-US" sz="21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2" grpId="0"/>
      <p:bldP spid="4106" grpId="0" animBg="1"/>
      <p:bldP spid="4107" grpId="0" animBg="1"/>
      <p:bldP spid="4108" grpId="0" animBg="1"/>
      <p:bldP spid="4109" grpId="0" animBg="1"/>
      <p:bldP spid="10260" grpId="0" animBg="1"/>
      <p:bldP spid="10261" grpId="0" animBg="1"/>
      <p:bldP spid="4113" grpId="0" animBg="1"/>
      <p:bldP spid="4114" grpId="0" animBg="1"/>
      <p:bldP spid="10264" grpId="0" animBg="1"/>
      <p:bldP spid="4116" grpId="0" animBg="1"/>
      <p:bldP spid="10266" grpId="0" animBg="1"/>
      <p:bldP spid="4118" grpId="0" animBg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文本占位符 501761"/>
          <p:cNvSpPr>
            <a:spLocks noGrp="1"/>
          </p:cNvSpPr>
          <p:nvPr>
            <p:ph idx="4294967295"/>
            <p:custDataLst>
              <p:tags r:id="rId1"/>
            </p:custDataLst>
          </p:nvPr>
        </p:nvSpPr>
        <p:spPr>
          <a:xfrm>
            <a:off x="1951038" y="200025"/>
            <a:ext cx="8229600" cy="639763"/>
          </a:xfrm>
        </p:spPr>
        <p:txBody>
          <a:bodyPr anchor="t"/>
          <a:lstStyle/>
          <a:p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）常见的弹力方向</a:t>
            </a:r>
          </a:p>
        </p:txBody>
      </p:sp>
      <p:graphicFrame>
        <p:nvGraphicFramePr>
          <p:cNvPr id="2076" name="对象 501762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51038" y="1989138"/>
          <a:ext cx="824865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253730" imgH="201295" progId="Word.Document.8">
                  <p:embed/>
                </p:oleObj>
              </mc:Choice>
              <mc:Fallback>
                <p:oleObj r:id="rId6" imgW="8253730" imgH="201295" progId="Word.Document.8">
                  <p:embed/>
                  <p:pic>
                    <p:nvPicPr>
                      <p:cNvPr id="2076" name="对象 50176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1038" y="1989138"/>
                        <a:ext cx="8248650" cy="19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77" name="图片 501764" descr="A3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87613" y="982663"/>
            <a:ext cx="4121150" cy="537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78" name="文本框 1"/>
          <p:cNvSpPr/>
          <p:nvPr>
            <p:custDataLst>
              <p:tags r:id="rId4"/>
            </p:custDataLst>
          </p:nvPr>
        </p:nvSpPr>
        <p:spPr>
          <a:xfrm>
            <a:off x="6511925" y="5257800"/>
            <a:ext cx="3230563" cy="1189038"/>
          </a:xfrm>
          <a:prstGeom prst="rect">
            <a:avLst/>
          </a:prstGeom>
          <a:noFill/>
          <a:ln w="9525">
            <a:noFill/>
          </a:ln>
        </p:spPr>
        <p:txBody>
          <a:bodyPr wrap="none" anchor="t"/>
          <a:lstStyle/>
          <a:p>
            <a:r>
              <a:rPr lang="zh-CN" altLang="en-US">
                <a:solidFill>
                  <a:srgbClr val="FF0000"/>
                </a:solidFill>
              </a:rPr>
              <a:t>是否沿杆因杆而异</a:t>
            </a:r>
          </a:p>
          <a:p>
            <a:r>
              <a:rPr lang="zh-CN" altLang="en-US">
                <a:solidFill>
                  <a:srgbClr val="FF0000"/>
                </a:solidFill>
              </a:rPr>
              <a:t>自由杆（必沿杆）</a:t>
            </a:r>
          </a:p>
          <a:p>
            <a:r>
              <a:rPr lang="zh-CN" altLang="en-US">
                <a:solidFill>
                  <a:srgbClr val="FF0000"/>
                </a:solidFill>
              </a:rPr>
              <a:t>固定杆（可沿可不沿）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1" name="yt_shape_13461"/>
          <p:cNvSpPr txBox="1"/>
          <p:nvPr/>
        </p:nvSpPr>
        <p:spPr>
          <a:xfrm>
            <a:off x="324071" y="467999"/>
            <a:ext cx="11591121" cy="18553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【典例】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某老师在黑板上画了以下四幅物理情境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f787e"/>
              </a:rPr>
              <a:t>假设所有接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触面或接触点均光滑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项中绳处于竖直方向上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b8d6a"/>
              </a:rPr>
              <a:t>所有物体均处于静止状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下列各选项中物体所受弹力示意图正确的是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463" name="yt_image_13463" title="H_157.2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444" y="2323322"/>
            <a:ext cx="5058374" cy="199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yt_image_13465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0444" y="4317584"/>
            <a:ext cx="505660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283022" y="57826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21217" y="57826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7" name="yt_shape_13467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共同作用效果斜向上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与重力不可能平衡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f1934"/>
              </a:rPr>
              <a:t>所以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物体一定不受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的作用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杆对物体的弹力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039bf"/>
              </a:rPr>
              <a:t>应与重力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方向应为竖直向上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f6aee"/>
              </a:rPr>
              <a:t>均垂直于接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触面斜向上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且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任意缺少一个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物体都不可能平衡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23a1"/>
              </a:rPr>
              <a:t>选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若斜面对物体有弹力作用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则物体不可能平衡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b8d06"/>
              </a:rPr>
              <a:t>所以物体只受重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力和绳的拉力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0" name="yt_shape_13470"/>
          <p:cNvSpPr txBox="1"/>
          <p:nvPr/>
        </p:nvSpPr>
        <p:spPr>
          <a:xfrm>
            <a:off x="408047" y="101850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下列四幅图均为静止的光滑小球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所受弹力方向的示意图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b074c"/>
              </a:rPr>
              <a:t>其中正确的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471" name="yt_image_13471" title="H_157.2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7957" y="2357096"/>
            <a:ext cx="5104037" cy="199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73" name="yt_image_13473" title="H_146.8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2811" y="4556247"/>
            <a:ext cx="5094329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47" y="400635"/>
            <a:ext cx="2348629" cy="6178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74091" y="591329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" name="yt_shape_13475"/>
          <p:cNvSpPr txBox="1"/>
          <p:nvPr/>
        </p:nvSpPr>
        <p:spPr>
          <a:xfrm>
            <a:off x="324071" y="467999"/>
            <a:ext cx="11924914" cy="47548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受力分析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受竖直向下的重力和杆对小球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b41ab"/>
              </a:rPr>
              <a:t>的弹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二力平衡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受到的弹力方向应为竖直向上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336b7"/>
              </a:rPr>
              <a:t>对选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受力分析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在竖直方向上受力平衡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水平方向上不受力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e5eff"/>
              </a:rPr>
              <a:t>因此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左侧绳子上没有弹力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受力分析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be053"/>
              </a:rPr>
              <a:t>在竖直方向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上受力平衡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水平方向上不受力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因此倾斜墙面对小球没有弹力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f9ef2"/>
              </a:rPr>
              <a:t>错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中小球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没有沿竖直方向放在球面上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1_44369"/>
              </a:rPr>
              <a:t>球面对小球的弹力沿两球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球心延长线向上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由于小球处于静止状态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3_e5206"/>
              </a:rPr>
              <a:t>所以左侧绳子对小球有沿绳子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向上的拉力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sp>
        <p:nvSpPr>
          <p:cNvPr id="13478" name="yt_shape_13478"/>
          <p:cNvSpPr txBox="1"/>
          <p:nvPr/>
        </p:nvSpPr>
        <p:spPr>
          <a:xfrm>
            <a:off x="324071" y="5918725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45</TotalTime>
  <Words>1050</Words>
  <Application>Microsoft Macintosh PowerPoint</Application>
  <PresentationFormat>Widescreen</PresentationFormat>
  <Paragraphs>113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方正新报宋_GBK</vt:lpstr>
      <vt:lpstr>楷体</vt:lpstr>
      <vt:lpstr>楷体_GB2312</vt:lpstr>
      <vt:lpstr>微软雅黑</vt:lpstr>
      <vt:lpstr>微软雅黑</vt:lpstr>
      <vt:lpstr>宋体</vt:lpstr>
      <vt:lpstr>华文细黑</vt:lpstr>
      <vt:lpstr>Arial</vt:lpstr>
      <vt:lpstr>Times New Roman</vt:lpstr>
      <vt:lpstr>Office 主题​​</vt:lpstr>
      <vt:lpstr>Equation</vt:lpstr>
      <vt:lpstr>Word.Document.8</vt:lpstr>
      <vt:lpstr>重力与弹力</vt:lpstr>
      <vt:lpstr>力的作用有哪些？</vt:lpstr>
      <vt:lpstr>力的作用有哪些？</vt:lpstr>
      <vt:lpstr>力</vt:lpstr>
      <vt:lpstr>力的图示</vt:lpstr>
      <vt:lpstr>重力</vt:lpstr>
      <vt:lpstr>重心</vt:lpstr>
      <vt:lpstr>重心</vt:lpstr>
      <vt:lpstr>PowerPoint Presentation</vt:lpstr>
      <vt:lpstr>PowerPoint Presentation</vt:lpstr>
      <vt:lpstr>3、弹力的方向:垂直于接触面</vt:lpstr>
      <vt:lpstr>PowerPoint Presentation</vt:lpstr>
      <vt:lpstr>各种接触面间的弹力方向判断</vt:lpstr>
      <vt:lpstr>各种接触面间的弹力方向判断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4</cp:revision>
  <dcterms:created xsi:type="dcterms:W3CDTF">2025-09-17T02:16:39Z</dcterms:created>
  <dcterms:modified xsi:type="dcterms:W3CDTF">2026-10-12T01:09:00Z</dcterms:modified>
</cp:coreProperties>
</file>