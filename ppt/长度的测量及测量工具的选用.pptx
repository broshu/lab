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notesSlides/notesSlide1.xml" ContentType="application/vnd.openxmlformats-officedocument.presentationml.notesSlide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91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7" r:id="rId13"/>
    <p:sldId id="266" r:id="rId14"/>
    <p:sldId id="268" r:id="rId15"/>
    <p:sldId id="269" r:id="rId16"/>
    <p:sldId id="283" r:id="rId17"/>
    <p:sldId id="284" r:id="rId18"/>
    <p:sldId id="285" r:id="rId19"/>
    <p:sldId id="286" r:id="rId20"/>
    <p:sldId id="287" r:id="rId21"/>
    <p:sldId id="288" r:id="rId22"/>
    <p:sldId id="289" r:id="rId23"/>
    <p:sldId id="290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AF5093-D47A-6F43-8E04-0759F16C2C21}" v="11" dt="2025-05-18T14:14:02.6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84" autoAdjust="0"/>
    <p:restoredTop sz="96164"/>
  </p:normalViewPr>
  <p:slideViewPr>
    <p:cSldViewPr snapToGrid="0">
      <p:cViewPr varScale="1">
        <p:scale>
          <a:sx n="122" d="100"/>
          <a:sy n="122" d="100"/>
        </p:scale>
        <p:origin x="78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9040AD-F759-4442-946B-3BB67E27A60A}" type="datetimeFigureOut">
              <a:rPr lang="en-US" smtClean="0"/>
              <a:t>5/25/26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C79955-A99B-4BA6-A1C7-453546D99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3696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tags" Target="../tags/tag55.xml"/><Relationship Id="rId5" Type="http://schemas.openxmlformats.org/officeDocument/2006/relationships/slide" Target="../slides/slide15.xml"/><Relationship Id="rId4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更多模板亮... text has been truncated due to evaluation version limitation.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A3B02C48-7442-42A1-A2D3-5C71B5252205}" type="slidenum">
              <a:rPr lang="zh-CN" altLang="en-US" smtClean="0"/>
              <a:t>15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.xml"/><Relationship Id="rId4" Type="http://schemas.openxmlformats.org/officeDocument/2006/relationships/tags" Target="../tags/tag4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9BAE26-56B8-2430-61FE-210867C46B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 b="1" baseline="0">
                <a:latin typeface="Times New Roman" panose="02020603050405020304" pitchFamily="18" charset="0"/>
                <a:ea typeface="宋体" panose="0201060003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37BB5E0-8FB4-28ED-7516-8F1B6E2328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 baseline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B12B10A-941C-D939-27AC-6B15C7D34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9AD2BD-88C2-A651-59BE-1F23AE6AA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A89C6D7-3953-E131-FC50-ABB0C76B8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3104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787BA6-2A8E-5FA0-58D6-C944834A0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 baseline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D54497-2070-1B06-6BF5-7537BD4B78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E8D4BD-E88E-12E0-8F46-4ED0DD7A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0FAC07-7BC7-4FEA-4C23-59EAF4C59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44D76C5-DC12-60D9-043D-68225995A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537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D54497-2070-1B06-6BF5-7537BD4B78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23081"/>
            <a:ext cx="10515600" cy="5811838"/>
          </a:xfrm>
        </p:spPr>
        <p:txBody>
          <a:bodyPr/>
          <a:lstStyle>
            <a:lvl1pPr marL="0" indent="0">
              <a:buNone/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E8D4BD-E88E-12E0-8F46-4ED0DD7A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0FAC07-7BC7-4FEA-4C23-59EAF4C59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44D76C5-DC12-60D9-043D-68225995A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9453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6037C5-4353-B18D-E7F6-50395C053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>
            <a:lvl1pPr algn="ctr">
              <a:defRPr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095E053-2D55-7D42-832A-64D9FD71F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5/25/26</a:t>
            </a:fld>
            <a:endParaRPr 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409B3BC-5091-C9EB-93DC-DAA2C0485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9B95254-26E7-464E-C68E-165FA6809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5004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C20D54-C7A4-F62C-CC22-B293E07047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 b="1" baseline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0589F1-7D74-4430-FB9E-40E1F442B2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992771C-A8D5-5948-1E5C-1736747CD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5EDC015-CD30-C731-1C93-A1325969F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DB0D019-59E6-17D0-F066-F6DA9B4ED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5450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135E84-15A1-7FC9-AFAF-8FADC46CD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E4AF478-0EFE-AC89-ED8A-29756B0B9E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49BB167-44B9-706B-D666-89AE18CB9E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CE7B3BB-7A6E-45B9-71DF-CB6C64FBA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5/25/26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3162526-EB46-7571-519E-1D9919B8F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FDE84E-A2DC-6924-24F0-2B9796818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490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3554D5-D7A9-A1DD-900A-2FD838DA3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E7B749-E7A9-21B5-B42B-E0A39C25CC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07C0BC1-B0B5-7AAD-E11A-81B8F71F4C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339032A-E84E-69B4-CBA0-AA0E80DEEB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95D864D-D9D2-FFDB-0B84-6A573F795D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1228042-54E5-4EAA-2940-C44C574436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5/25/26</a:t>
            </a:fld>
            <a:endParaRPr 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0899DAD-BFB9-32DF-3CE6-59BAD615A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7AF6A48-CE64-6945-8AD6-C8258AA9A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596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A0B8863-BAC7-B36D-C13B-DA7B7689B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5/25/26</a:t>
            </a:fld>
            <a:endParaRPr 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C1886FE-AD99-9024-2807-F5F026508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443AE4A-99B5-3215-CD93-6E770BD76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5292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2026/5/25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9937881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209237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C416FE3-9FFB-D473-650E-C0FF08387F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F6876DD-7317-1E24-5465-9C24EFCE52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38481CF-CAF6-E439-D9F9-98DE38F887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A95057-F28B-4021-A46F-4C2D267CFC9D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3123095-2A83-7320-9954-6441CBEAF2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D8FB62F-A58A-E29F-AA4A-4628B24796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70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6" r:id="rId3"/>
    <p:sldLayoutId id="2147483654" r:id="rId4"/>
    <p:sldLayoutId id="2147483651" r:id="rId5"/>
    <p:sldLayoutId id="2147483652" r:id="rId6"/>
    <p:sldLayoutId id="2147483653" r:id="rId7"/>
    <p:sldLayoutId id="2147483655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bilibili.com/video/BV1tT4y1A7AW/?spm_id_from=333.337.search-card.all.click" TargetMode="Externa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tags" Target="../tags/tag18.xml"/><Relationship Id="rId18" Type="http://schemas.openxmlformats.org/officeDocument/2006/relationships/tags" Target="../tags/tag23.xml"/><Relationship Id="rId26" Type="http://schemas.openxmlformats.org/officeDocument/2006/relationships/tags" Target="../tags/tag31.xml"/><Relationship Id="rId39" Type="http://schemas.openxmlformats.org/officeDocument/2006/relationships/tags" Target="../tags/tag44.xml"/><Relationship Id="rId21" Type="http://schemas.openxmlformats.org/officeDocument/2006/relationships/tags" Target="../tags/tag26.xml"/><Relationship Id="rId34" Type="http://schemas.openxmlformats.org/officeDocument/2006/relationships/tags" Target="../tags/tag39.xml"/><Relationship Id="rId42" Type="http://schemas.openxmlformats.org/officeDocument/2006/relationships/tags" Target="../tags/tag47.xml"/><Relationship Id="rId7" Type="http://schemas.openxmlformats.org/officeDocument/2006/relationships/tags" Target="../tags/tag12.xml"/><Relationship Id="rId2" Type="http://schemas.openxmlformats.org/officeDocument/2006/relationships/tags" Target="../tags/tag7.xml"/><Relationship Id="rId16" Type="http://schemas.openxmlformats.org/officeDocument/2006/relationships/tags" Target="../tags/tag21.xml"/><Relationship Id="rId29" Type="http://schemas.openxmlformats.org/officeDocument/2006/relationships/tags" Target="../tags/tag34.xml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11" Type="http://schemas.openxmlformats.org/officeDocument/2006/relationships/tags" Target="../tags/tag16.xml"/><Relationship Id="rId24" Type="http://schemas.openxmlformats.org/officeDocument/2006/relationships/tags" Target="../tags/tag29.xml"/><Relationship Id="rId32" Type="http://schemas.openxmlformats.org/officeDocument/2006/relationships/tags" Target="../tags/tag37.xml"/><Relationship Id="rId37" Type="http://schemas.openxmlformats.org/officeDocument/2006/relationships/tags" Target="../tags/tag42.xml"/><Relationship Id="rId40" Type="http://schemas.openxmlformats.org/officeDocument/2006/relationships/tags" Target="../tags/tag45.xml"/><Relationship Id="rId45" Type="http://schemas.openxmlformats.org/officeDocument/2006/relationships/slideLayout" Target="../slideLayouts/slideLayout2.xml"/><Relationship Id="rId5" Type="http://schemas.openxmlformats.org/officeDocument/2006/relationships/tags" Target="../tags/tag10.xml"/><Relationship Id="rId15" Type="http://schemas.openxmlformats.org/officeDocument/2006/relationships/tags" Target="../tags/tag20.xml"/><Relationship Id="rId23" Type="http://schemas.openxmlformats.org/officeDocument/2006/relationships/tags" Target="../tags/tag28.xml"/><Relationship Id="rId28" Type="http://schemas.openxmlformats.org/officeDocument/2006/relationships/tags" Target="../tags/tag33.xml"/><Relationship Id="rId36" Type="http://schemas.openxmlformats.org/officeDocument/2006/relationships/tags" Target="../tags/tag41.xml"/><Relationship Id="rId10" Type="http://schemas.openxmlformats.org/officeDocument/2006/relationships/tags" Target="../tags/tag15.xml"/><Relationship Id="rId19" Type="http://schemas.openxmlformats.org/officeDocument/2006/relationships/tags" Target="../tags/tag24.xml"/><Relationship Id="rId31" Type="http://schemas.openxmlformats.org/officeDocument/2006/relationships/tags" Target="../tags/tag36.xml"/><Relationship Id="rId44" Type="http://schemas.openxmlformats.org/officeDocument/2006/relationships/tags" Target="../tags/tag49.xml"/><Relationship Id="rId4" Type="http://schemas.openxmlformats.org/officeDocument/2006/relationships/tags" Target="../tags/tag9.xml"/><Relationship Id="rId9" Type="http://schemas.openxmlformats.org/officeDocument/2006/relationships/tags" Target="../tags/tag14.xml"/><Relationship Id="rId14" Type="http://schemas.openxmlformats.org/officeDocument/2006/relationships/tags" Target="../tags/tag19.xml"/><Relationship Id="rId22" Type="http://schemas.openxmlformats.org/officeDocument/2006/relationships/tags" Target="../tags/tag27.xml"/><Relationship Id="rId27" Type="http://schemas.openxmlformats.org/officeDocument/2006/relationships/tags" Target="../tags/tag32.xml"/><Relationship Id="rId30" Type="http://schemas.openxmlformats.org/officeDocument/2006/relationships/tags" Target="../tags/tag35.xml"/><Relationship Id="rId35" Type="http://schemas.openxmlformats.org/officeDocument/2006/relationships/tags" Target="../tags/tag40.xml"/><Relationship Id="rId43" Type="http://schemas.openxmlformats.org/officeDocument/2006/relationships/tags" Target="../tags/tag48.xml"/><Relationship Id="rId8" Type="http://schemas.openxmlformats.org/officeDocument/2006/relationships/tags" Target="../tags/tag13.xml"/><Relationship Id="rId3" Type="http://schemas.openxmlformats.org/officeDocument/2006/relationships/tags" Target="../tags/tag8.xml"/><Relationship Id="rId12" Type="http://schemas.openxmlformats.org/officeDocument/2006/relationships/tags" Target="../tags/tag17.xml"/><Relationship Id="rId17" Type="http://schemas.openxmlformats.org/officeDocument/2006/relationships/tags" Target="../tags/tag22.xml"/><Relationship Id="rId25" Type="http://schemas.openxmlformats.org/officeDocument/2006/relationships/tags" Target="../tags/tag30.xml"/><Relationship Id="rId33" Type="http://schemas.openxmlformats.org/officeDocument/2006/relationships/tags" Target="../tags/tag38.xml"/><Relationship Id="rId38" Type="http://schemas.openxmlformats.org/officeDocument/2006/relationships/tags" Target="../tags/tag43.xml"/><Relationship Id="rId20" Type="http://schemas.openxmlformats.org/officeDocument/2006/relationships/tags" Target="../tags/tag25.xml"/><Relationship Id="rId41" Type="http://schemas.openxmlformats.org/officeDocument/2006/relationships/tags" Target="../tags/tag4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tags" Target="../tags/tag52.xml"/><Relationship Id="rId7" Type="http://schemas.openxmlformats.org/officeDocument/2006/relationships/notesSlide" Target="../notesSlides/notesSlide1.xml"/><Relationship Id="rId2" Type="http://schemas.openxmlformats.org/officeDocument/2006/relationships/tags" Target="../tags/tag51.xml"/><Relationship Id="rId1" Type="http://schemas.openxmlformats.org/officeDocument/2006/relationships/tags" Target="../tags/tag50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54.xml"/><Relationship Id="rId4" Type="http://schemas.openxmlformats.org/officeDocument/2006/relationships/tags" Target="../tags/tag5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7" Type="http://schemas.openxmlformats.org/officeDocument/2006/relationships/image" Target="../media/image18.png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6" Type="http://schemas.openxmlformats.org/officeDocument/2006/relationships/image" Target="../media/image17.png"/><Relationship Id="rId5" Type="http://schemas.openxmlformats.org/officeDocument/2006/relationships/slideLayout" Target="../slideLayouts/slideLayout9.xml"/><Relationship Id="rId4" Type="http://schemas.openxmlformats.org/officeDocument/2006/relationships/tags" Target="../tags/tag6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tags" Target="../tags/tag64.xml"/><Relationship Id="rId2" Type="http://schemas.openxmlformats.org/officeDocument/2006/relationships/tags" Target="../tags/tag63.xml"/><Relationship Id="rId1" Type="http://schemas.openxmlformats.org/officeDocument/2006/relationships/tags" Target="../tags/tag62.xml"/><Relationship Id="rId6" Type="http://schemas.microsoft.com/office/2007/relationships/hdphoto" Target="../media/hdphoto1.wdp"/><Relationship Id="rId5" Type="http://schemas.openxmlformats.org/officeDocument/2006/relationships/image" Target="../media/image19.png"/><Relationship Id="rId4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13" Type="http://schemas.openxmlformats.org/officeDocument/2006/relationships/tags" Target="../tags/tag77.xml"/><Relationship Id="rId18" Type="http://schemas.openxmlformats.org/officeDocument/2006/relationships/tags" Target="../tags/tag82.xml"/><Relationship Id="rId26" Type="http://schemas.openxmlformats.org/officeDocument/2006/relationships/tags" Target="../tags/tag90.xml"/><Relationship Id="rId21" Type="http://schemas.openxmlformats.org/officeDocument/2006/relationships/tags" Target="../tags/tag85.xml"/><Relationship Id="rId34" Type="http://schemas.openxmlformats.org/officeDocument/2006/relationships/tags" Target="../tags/tag98.xml"/><Relationship Id="rId7" Type="http://schemas.openxmlformats.org/officeDocument/2006/relationships/tags" Target="../tags/tag71.xml"/><Relationship Id="rId12" Type="http://schemas.openxmlformats.org/officeDocument/2006/relationships/tags" Target="../tags/tag76.xml"/><Relationship Id="rId17" Type="http://schemas.openxmlformats.org/officeDocument/2006/relationships/tags" Target="../tags/tag81.xml"/><Relationship Id="rId25" Type="http://schemas.openxmlformats.org/officeDocument/2006/relationships/tags" Target="../tags/tag89.xml"/><Relationship Id="rId33" Type="http://schemas.openxmlformats.org/officeDocument/2006/relationships/tags" Target="../tags/tag97.xml"/><Relationship Id="rId38" Type="http://schemas.openxmlformats.org/officeDocument/2006/relationships/image" Target="../media/image20.png"/><Relationship Id="rId2" Type="http://schemas.openxmlformats.org/officeDocument/2006/relationships/tags" Target="../tags/tag66.xml"/><Relationship Id="rId16" Type="http://schemas.openxmlformats.org/officeDocument/2006/relationships/tags" Target="../tags/tag80.xml"/><Relationship Id="rId20" Type="http://schemas.openxmlformats.org/officeDocument/2006/relationships/tags" Target="../tags/tag84.xml"/><Relationship Id="rId29" Type="http://schemas.openxmlformats.org/officeDocument/2006/relationships/tags" Target="../tags/tag93.xml"/><Relationship Id="rId1" Type="http://schemas.openxmlformats.org/officeDocument/2006/relationships/tags" Target="../tags/tag65.xml"/><Relationship Id="rId6" Type="http://schemas.openxmlformats.org/officeDocument/2006/relationships/tags" Target="../tags/tag70.xml"/><Relationship Id="rId11" Type="http://schemas.openxmlformats.org/officeDocument/2006/relationships/tags" Target="../tags/tag75.xml"/><Relationship Id="rId24" Type="http://schemas.openxmlformats.org/officeDocument/2006/relationships/tags" Target="../tags/tag88.xml"/><Relationship Id="rId32" Type="http://schemas.openxmlformats.org/officeDocument/2006/relationships/tags" Target="../tags/tag96.xml"/><Relationship Id="rId37" Type="http://schemas.openxmlformats.org/officeDocument/2006/relationships/slideLayout" Target="../slideLayouts/slideLayout2.xml"/><Relationship Id="rId5" Type="http://schemas.openxmlformats.org/officeDocument/2006/relationships/tags" Target="../tags/tag69.xml"/><Relationship Id="rId15" Type="http://schemas.openxmlformats.org/officeDocument/2006/relationships/tags" Target="../tags/tag79.xml"/><Relationship Id="rId23" Type="http://schemas.openxmlformats.org/officeDocument/2006/relationships/tags" Target="../tags/tag87.xml"/><Relationship Id="rId28" Type="http://schemas.openxmlformats.org/officeDocument/2006/relationships/tags" Target="../tags/tag92.xml"/><Relationship Id="rId36" Type="http://schemas.openxmlformats.org/officeDocument/2006/relationships/tags" Target="../tags/tag100.xml"/><Relationship Id="rId10" Type="http://schemas.openxmlformats.org/officeDocument/2006/relationships/tags" Target="../tags/tag74.xml"/><Relationship Id="rId19" Type="http://schemas.openxmlformats.org/officeDocument/2006/relationships/tags" Target="../tags/tag83.xml"/><Relationship Id="rId31" Type="http://schemas.openxmlformats.org/officeDocument/2006/relationships/tags" Target="../tags/tag95.xml"/><Relationship Id="rId4" Type="http://schemas.openxmlformats.org/officeDocument/2006/relationships/tags" Target="../tags/tag68.xml"/><Relationship Id="rId9" Type="http://schemas.openxmlformats.org/officeDocument/2006/relationships/tags" Target="../tags/tag73.xml"/><Relationship Id="rId14" Type="http://schemas.openxmlformats.org/officeDocument/2006/relationships/tags" Target="../tags/tag78.xml"/><Relationship Id="rId22" Type="http://schemas.openxmlformats.org/officeDocument/2006/relationships/tags" Target="../tags/tag86.xml"/><Relationship Id="rId27" Type="http://schemas.openxmlformats.org/officeDocument/2006/relationships/tags" Target="../tags/tag91.xml"/><Relationship Id="rId30" Type="http://schemas.openxmlformats.org/officeDocument/2006/relationships/tags" Target="../tags/tag94.xml"/><Relationship Id="rId35" Type="http://schemas.openxmlformats.org/officeDocument/2006/relationships/tags" Target="../tags/tag99.xml"/><Relationship Id="rId8" Type="http://schemas.openxmlformats.org/officeDocument/2006/relationships/tags" Target="../tags/tag72.xml"/><Relationship Id="rId3" Type="http://schemas.openxmlformats.org/officeDocument/2006/relationships/tags" Target="../tags/tag6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tags" Target="../tags/tag108.xml"/><Relationship Id="rId13" Type="http://schemas.openxmlformats.org/officeDocument/2006/relationships/tags" Target="../tags/tag113.xml"/><Relationship Id="rId3" Type="http://schemas.openxmlformats.org/officeDocument/2006/relationships/tags" Target="../tags/tag103.xml"/><Relationship Id="rId7" Type="http://schemas.openxmlformats.org/officeDocument/2006/relationships/tags" Target="../tags/tag107.xml"/><Relationship Id="rId12" Type="http://schemas.openxmlformats.org/officeDocument/2006/relationships/tags" Target="../tags/tag112.xml"/><Relationship Id="rId2" Type="http://schemas.openxmlformats.org/officeDocument/2006/relationships/tags" Target="../tags/tag102.xml"/><Relationship Id="rId16" Type="http://schemas.openxmlformats.org/officeDocument/2006/relationships/image" Target="../media/image22.png"/><Relationship Id="rId1" Type="http://schemas.openxmlformats.org/officeDocument/2006/relationships/tags" Target="../tags/tag101.xml"/><Relationship Id="rId6" Type="http://schemas.openxmlformats.org/officeDocument/2006/relationships/tags" Target="../tags/tag106.xml"/><Relationship Id="rId11" Type="http://schemas.openxmlformats.org/officeDocument/2006/relationships/tags" Target="../tags/tag111.xml"/><Relationship Id="rId5" Type="http://schemas.openxmlformats.org/officeDocument/2006/relationships/tags" Target="../tags/tag105.xml"/><Relationship Id="rId15" Type="http://schemas.openxmlformats.org/officeDocument/2006/relationships/image" Target="../media/image21.png"/><Relationship Id="rId10" Type="http://schemas.openxmlformats.org/officeDocument/2006/relationships/tags" Target="../tags/tag110.xml"/><Relationship Id="rId4" Type="http://schemas.openxmlformats.org/officeDocument/2006/relationships/tags" Target="../tags/tag104.xml"/><Relationship Id="rId9" Type="http://schemas.openxmlformats.org/officeDocument/2006/relationships/tags" Target="../tags/tag109.xml"/><Relationship Id="rId14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tags" Target="../tags/tag116.xml"/><Relationship Id="rId2" Type="http://schemas.openxmlformats.org/officeDocument/2006/relationships/tags" Target="../tags/tag115.xml"/><Relationship Id="rId1" Type="http://schemas.openxmlformats.org/officeDocument/2006/relationships/tags" Target="../tags/tag114.xml"/><Relationship Id="rId5" Type="http://schemas.openxmlformats.org/officeDocument/2006/relationships/image" Target="../media/image23.png"/><Relationship Id="rId4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tags" Target="../tags/tag119.xml"/><Relationship Id="rId2" Type="http://schemas.openxmlformats.org/officeDocument/2006/relationships/tags" Target="../tags/tag118.xml"/><Relationship Id="rId1" Type="http://schemas.openxmlformats.org/officeDocument/2006/relationships/tags" Target="../tags/tag117.xml"/><Relationship Id="rId5" Type="http://schemas.openxmlformats.org/officeDocument/2006/relationships/image" Target="../media/image24.png"/><Relationship Id="rId4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tags" Target="../tags/tag122.xml"/><Relationship Id="rId2" Type="http://schemas.openxmlformats.org/officeDocument/2006/relationships/tags" Target="../tags/tag121.xml"/><Relationship Id="rId1" Type="http://schemas.openxmlformats.org/officeDocument/2006/relationships/tags" Target="../tags/tag120.xml"/><Relationship Id="rId5" Type="http://schemas.openxmlformats.org/officeDocument/2006/relationships/image" Target="../media/image25.png"/><Relationship Id="rId4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tags" Target="../tags/tag125.xml"/><Relationship Id="rId2" Type="http://schemas.openxmlformats.org/officeDocument/2006/relationships/tags" Target="../tags/tag124.xml"/><Relationship Id="rId1" Type="http://schemas.openxmlformats.org/officeDocument/2006/relationships/tags" Target="../tags/tag123.xml"/><Relationship Id="rId5" Type="http://schemas.openxmlformats.org/officeDocument/2006/relationships/image" Target="../media/image26.png"/><Relationship Id="rId4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5472B8-8E94-E786-49B1-FC57187580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长度的测量及测量工具的选用</a:t>
            </a:r>
            <a:endParaRPr 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98B86E0-15A8-1812-F169-3125451383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/>
              <a:t>实验：导体电阻率的测量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6235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D3CAB-FABF-B4E7-9E55-55BB17345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>
                <a:hlinkClick r:id="rId2"/>
              </a:rPr>
              <a:t>https://www.bilibili.com/video/BV1tT4y1A7AW/?spm_id_from=333.337.search-card.all.click</a:t>
            </a:r>
            <a:br>
              <a:rPr kumimoji="1" lang="en-US" altLang="zh-CN" dirty="0"/>
            </a:b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760614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8CD6EE-806D-69E6-CC33-3973F0E2F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zh-CN" altLang="en-US" dirty="0"/>
              <a:t>游标卡尺</a:t>
            </a:r>
            <a:endParaRPr lang="en-US" dirty="0"/>
          </a:p>
        </p:txBody>
      </p:sp>
      <p:pic>
        <p:nvPicPr>
          <p:cNvPr id="1026" name="Picture 2" descr="游标卡尺-一步百科">
            <a:extLst>
              <a:ext uri="{FF2B5EF4-FFF2-40B4-BE49-F238E27FC236}">
                <a16:creationId xmlns:a16="http://schemas.microsoft.com/office/drawing/2014/main" id="{990A0FCC-7597-DE06-A3AC-47C9E4B1CA0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195108" y="1825625"/>
            <a:ext cx="5801784" cy="4351338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40361901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5147FA-7CBE-8003-6632-5DF211667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主尺每小格１ｍｍ，游标尺</a:t>
            </a:r>
            <a:r>
              <a:rPr lang="en-US" altLang="zh-CN" dirty="0"/>
              <a:t>10</a:t>
            </a:r>
            <a:r>
              <a:rPr lang="zh-CN" altLang="en-US" dirty="0"/>
              <a:t>小格９ｍｍ，每小格０</a:t>
            </a:r>
            <a:r>
              <a:rPr lang="en-US" altLang="zh-CN" dirty="0"/>
              <a:t>.</a:t>
            </a:r>
            <a:r>
              <a:rPr lang="zh-CN" altLang="en-US" dirty="0"/>
              <a:t>９ｍｍ</a:t>
            </a:r>
            <a:endParaRPr lang="en-US" dirty="0"/>
          </a:p>
        </p:txBody>
      </p: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B69A244A-DE04-E6B3-281A-8F5AD59DADA6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1943100" y="2172494"/>
            <a:ext cx="8305800" cy="3657600"/>
            <a:chOff x="1905" y="1752"/>
            <a:chExt cx="7995" cy="2964"/>
          </a:xfrm>
        </p:grpSpPr>
        <p:sp>
          <p:nvSpPr>
            <p:cNvPr id="50" name="直接连接符 49">
              <a:extLst>
                <a:ext uri="{FF2B5EF4-FFF2-40B4-BE49-F238E27FC236}">
                  <a16:creationId xmlns:a16="http://schemas.microsoft.com/office/drawing/2014/main" id="{C46616CD-D650-A746-EC98-6EFA4FAE8973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2160" y="3000"/>
              <a:ext cx="7380" cy="0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直接连接符 50">
              <a:extLst>
                <a:ext uri="{FF2B5EF4-FFF2-40B4-BE49-F238E27FC236}">
                  <a16:creationId xmlns:a16="http://schemas.microsoft.com/office/drawing/2014/main" id="{7C568EF4-A265-97BE-EC1A-C95EA906DE60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 flipH="1" flipV="1">
              <a:off x="2157" y="2274"/>
              <a:ext cx="0" cy="726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直接连接符 51">
              <a:extLst>
                <a:ext uri="{FF2B5EF4-FFF2-40B4-BE49-F238E27FC236}">
                  <a16:creationId xmlns:a16="http://schemas.microsoft.com/office/drawing/2014/main" id="{304942BE-9DCE-F2E0-878F-064A298D359B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 flipH="1" flipV="1">
              <a:off x="3777" y="2433"/>
              <a:ext cx="0" cy="567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直接连接符 52">
              <a:extLst>
                <a:ext uri="{FF2B5EF4-FFF2-40B4-BE49-F238E27FC236}">
                  <a16:creationId xmlns:a16="http://schemas.microsoft.com/office/drawing/2014/main" id="{287C8ED8-E8CE-4E08-FBDB-68913C64C25D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 flipH="1" flipV="1">
              <a:off x="2481" y="2637"/>
              <a:ext cx="0" cy="363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直接连接符 53">
              <a:extLst>
                <a:ext uri="{FF2B5EF4-FFF2-40B4-BE49-F238E27FC236}">
                  <a16:creationId xmlns:a16="http://schemas.microsoft.com/office/drawing/2014/main" id="{049E3A18-B058-CC79-C7AD-B442A2D61906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 flipH="1" flipV="1">
              <a:off x="2805" y="2637"/>
              <a:ext cx="0" cy="363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直接连接符 54">
              <a:extLst>
                <a:ext uri="{FF2B5EF4-FFF2-40B4-BE49-F238E27FC236}">
                  <a16:creationId xmlns:a16="http://schemas.microsoft.com/office/drawing/2014/main" id="{8A507037-C35C-7979-7E21-026061AAB6F3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 flipH="1" flipV="1">
              <a:off x="3129" y="2637"/>
              <a:ext cx="0" cy="363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直接连接符 55">
              <a:extLst>
                <a:ext uri="{FF2B5EF4-FFF2-40B4-BE49-F238E27FC236}">
                  <a16:creationId xmlns:a16="http://schemas.microsoft.com/office/drawing/2014/main" id="{9193ECB8-2136-34E8-8036-D6FC3B70DBCE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 flipH="1" flipV="1">
              <a:off x="3453" y="2637"/>
              <a:ext cx="0" cy="363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直接连接符 56">
              <a:extLst>
                <a:ext uri="{FF2B5EF4-FFF2-40B4-BE49-F238E27FC236}">
                  <a16:creationId xmlns:a16="http://schemas.microsoft.com/office/drawing/2014/main" id="{09BEB9CD-E68C-27BF-5456-D254B279D5D5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 flipH="1" flipV="1">
              <a:off x="4101" y="2637"/>
              <a:ext cx="0" cy="363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直接连接符 57">
              <a:extLst>
                <a:ext uri="{FF2B5EF4-FFF2-40B4-BE49-F238E27FC236}">
                  <a16:creationId xmlns:a16="http://schemas.microsoft.com/office/drawing/2014/main" id="{7889B22E-392E-01F8-4975-F26D5B1CCBD1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 flipH="1" flipV="1">
              <a:off x="4426" y="2637"/>
              <a:ext cx="0" cy="363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直接连接符 58">
              <a:extLst>
                <a:ext uri="{FF2B5EF4-FFF2-40B4-BE49-F238E27FC236}">
                  <a16:creationId xmlns:a16="http://schemas.microsoft.com/office/drawing/2014/main" id="{2F7BADA1-79A6-61C3-C6EB-7FA131AB0B2B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 flipH="1" flipV="1">
              <a:off x="4750" y="2637"/>
              <a:ext cx="0" cy="363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直接连接符 59">
              <a:extLst>
                <a:ext uri="{FF2B5EF4-FFF2-40B4-BE49-F238E27FC236}">
                  <a16:creationId xmlns:a16="http://schemas.microsoft.com/office/drawing/2014/main" id="{CD3C602C-0EAA-C254-EE27-7DA6A5224F9A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 flipH="1" flipV="1">
              <a:off x="5074" y="2637"/>
              <a:ext cx="0" cy="363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直接连接符 60">
              <a:extLst>
                <a:ext uri="{FF2B5EF4-FFF2-40B4-BE49-F238E27FC236}">
                  <a16:creationId xmlns:a16="http://schemas.microsoft.com/office/drawing/2014/main" id="{308AEBF9-7052-942C-455A-5EAEE8410A69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 flipH="1" flipV="1">
              <a:off x="5398" y="2274"/>
              <a:ext cx="0" cy="726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直接连接符 61">
              <a:extLst>
                <a:ext uri="{FF2B5EF4-FFF2-40B4-BE49-F238E27FC236}">
                  <a16:creationId xmlns:a16="http://schemas.microsoft.com/office/drawing/2014/main" id="{4127DBA2-9ED0-75C0-4A96-A7FB4B5B4F11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 flipH="1" flipV="1">
              <a:off x="7019" y="2433"/>
              <a:ext cx="0" cy="567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直接连接符 62">
              <a:extLst>
                <a:ext uri="{FF2B5EF4-FFF2-40B4-BE49-F238E27FC236}">
                  <a16:creationId xmlns:a16="http://schemas.microsoft.com/office/drawing/2014/main" id="{2F9236DF-F5BC-E63A-6D41-F0B8D2048F85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 flipH="1" flipV="1">
              <a:off x="5722" y="2637"/>
              <a:ext cx="0" cy="363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直接连接符 63">
              <a:extLst>
                <a:ext uri="{FF2B5EF4-FFF2-40B4-BE49-F238E27FC236}">
                  <a16:creationId xmlns:a16="http://schemas.microsoft.com/office/drawing/2014/main" id="{57D7DD13-7521-12CA-7E00-01C7700AC511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 flipH="1" flipV="1">
              <a:off x="6046" y="2637"/>
              <a:ext cx="0" cy="363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直接连接符 64">
              <a:extLst>
                <a:ext uri="{FF2B5EF4-FFF2-40B4-BE49-F238E27FC236}">
                  <a16:creationId xmlns:a16="http://schemas.microsoft.com/office/drawing/2014/main" id="{57013251-6E65-2D0E-D42A-DDA7C612504A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 flipH="1" flipV="1">
              <a:off x="6370" y="2637"/>
              <a:ext cx="0" cy="363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直接连接符 65">
              <a:extLst>
                <a:ext uri="{FF2B5EF4-FFF2-40B4-BE49-F238E27FC236}">
                  <a16:creationId xmlns:a16="http://schemas.microsoft.com/office/drawing/2014/main" id="{979A4A2D-F82A-6DB7-05BB-9353D494F3C5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 flipH="1" flipV="1">
              <a:off x="6695" y="2637"/>
              <a:ext cx="0" cy="363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直接连接符 66">
              <a:extLst>
                <a:ext uri="{FF2B5EF4-FFF2-40B4-BE49-F238E27FC236}">
                  <a16:creationId xmlns:a16="http://schemas.microsoft.com/office/drawing/2014/main" id="{65ADDAE8-1580-7A87-4FE4-2BD286A78054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 flipH="1" flipV="1">
              <a:off x="7343" y="2637"/>
              <a:ext cx="0" cy="363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直接连接符 67">
              <a:extLst>
                <a:ext uri="{FF2B5EF4-FFF2-40B4-BE49-F238E27FC236}">
                  <a16:creationId xmlns:a16="http://schemas.microsoft.com/office/drawing/2014/main" id="{B977DAC6-3D3A-9C75-FE2D-9CD3DCAAF8D3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 flipH="1" flipV="1">
              <a:off x="7667" y="2637"/>
              <a:ext cx="0" cy="363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直接连接符 68">
              <a:extLst>
                <a:ext uri="{FF2B5EF4-FFF2-40B4-BE49-F238E27FC236}">
                  <a16:creationId xmlns:a16="http://schemas.microsoft.com/office/drawing/2014/main" id="{DE5D5DA7-6163-9D6D-9AD0-F5003999D8D5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 flipH="1" flipV="1">
              <a:off x="7991" y="2637"/>
              <a:ext cx="0" cy="363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直接连接符 69">
              <a:extLst>
                <a:ext uri="{FF2B5EF4-FFF2-40B4-BE49-F238E27FC236}">
                  <a16:creationId xmlns:a16="http://schemas.microsoft.com/office/drawing/2014/main" id="{637CD61C-8058-70DC-61B9-1D6622703DBF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 flipH="1" flipV="1">
              <a:off x="8315" y="2637"/>
              <a:ext cx="0" cy="363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直接连接符 70">
              <a:extLst>
                <a:ext uri="{FF2B5EF4-FFF2-40B4-BE49-F238E27FC236}">
                  <a16:creationId xmlns:a16="http://schemas.microsoft.com/office/drawing/2014/main" id="{6B847AAA-4A4D-19DE-F956-BCDD472AF943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 flipH="1" flipV="1">
              <a:off x="8640" y="2274"/>
              <a:ext cx="0" cy="726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72" name="组合 71">
              <a:extLst>
                <a:ext uri="{FF2B5EF4-FFF2-40B4-BE49-F238E27FC236}">
                  <a16:creationId xmlns:a16="http://schemas.microsoft.com/office/drawing/2014/main" id="{9CB4D992-A7A6-F204-6142-548079708F29}"/>
                </a:ext>
              </a:extLst>
            </p:cNvPr>
            <p:cNvGrpSpPr/>
            <p:nvPr>
              <p:custDataLst>
                <p:tags r:id="rId24"/>
              </p:custDataLst>
            </p:nvPr>
          </p:nvGrpSpPr>
          <p:grpSpPr>
            <a:xfrm>
              <a:off x="2160" y="3009"/>
              <a:ext cx="2910" cy="747"/>
              <a:chOff x="2160" y="3009"/>
              <a:chExt cx="2910" cy="747"/>
            </a:xfrm>
          </p:grpSpPr>
          <p:sp>
            <p:nvSpPr>
              <p:cNvPr id="82" name="直接连接符 81">
                <a:extLst>
                  <a:ext uri="{FF2B5EF4-FFF2-40B4-BE49-F238E27FC236}">
                    <a16:creationId xmlns:a16="http://schemas.microsoft.com/office/drawing/2014/main" id="{3AD68CD2-3C94-516F-3CD9-962CC014264D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 flipH="1">
                <a:off x="2160" y="3030"/>
                <a:ext cx="0" cy="726"/>
              </a:xfrm>
              <a:prstGeom prst="line">
                <a:avLst/>
              </a:prstGeom>
              <a:ln w="44450" cap="flat" cmpd="sng">
                <a:solidFill>
                  <a:srgbClr val="0000FF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" name="直接连接符 82">
                <a:extLst>
                  <a:ext uri="{FF2B5EF4-FFF2-40B4-BE49-F238E27FC236}">
                    <a16:creationId xmlns:a16="http://schemas.microsoft.com/office/drawing/2014/main" id="{261E4604-3D5C-055D-BA84-68A0D077F626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 flipH="1">
                <a:off x="3615" y="3030"/>
                <a:ext cx="0" cy="567"/>
              </a:xfrm>
              <a:prstGeom prst="line">
                <a:avLst/>
              </a:prstGeom>
              <a:ln w="44450" cap="flat" cmpd="sng">
                <a:solidFill>
                  <a:srgbClr val="0000FF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直接连接符 83">
                <a:extLst>
                  <a:ext uri="{FF2B5EF4-FFF2-40B4-BE49-F238E27FC236}">
                    <a16:creationId xmlns:a16="http://schemas.microsoft.com/office/drawing/2014/main" id="{62508C25-F165-C949-1123-4F4C793C427B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 flipH="1">
                <a:off x="2451" y="3030"/>
                <a:ext cx="0" cy="363"/>
              </a:xfrm>
              <a:prstGeom prst="line">
                <a:avLst/>
              </a:prstGeom>
              <a:ln w="44450" cap="flat" cmpd="sng">
                <a:solidFill>
                  <a:srgbClr val="0000FF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" name="直接连接符 84">
                <a:extLst>
                  <a:ext uri="{FF2B5EF4-FFF2-40B4-BE49-F238E27FC236}">
                    <a16:creationId xmlns:a16="http://schemas.microsoft.com/office/drawing/2014/main" id="{C00915DA-3CC0-8AFB-3720-6F75BA1CB768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 flipH="1">
                <a:off x="2742" y="3030"/>
                <a:ext cx="0" cy="363"/>
              </a:xfrm>
              <a:prstGeom prst="line">
                <a:avLst/>
              </a:prstGeom>
              <a:ln w="44450" cap="flat" cmpd="sng">
                <a:solidFill>
                  <a:srgbClr val="0000FF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" name="直接连接符 85">
                <a:extLst>
                  <a:ext uri="{FF2B5EF4-FFF2-40B4-BE49-F238E27FC236}">
                    <a16:creationId xmlns:a16="http://schemas.microsoft.com/office/drawing/2014/main" id="{A5617C4C-E487-F3F9-BFA1-1635B781055F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>
              <a:xfrm flipH="1">
                <a:off x="3033" y="3030"/>
                <a:ext cx="0" cy="363"/>
              </a:xfrm>
              <a:prstGeom prst="line">
                <a:avLst/>
              </a:prstGeom>
              <a:ln w="44450" cap="flat" cmpd="sng">
                <a:solidFill>
                  <a:srgbClr val="0000FF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" name="直接连接符 86">
                <a:extLst>
                  <a:ext uri="{FF2B5EF4-FFF2-40B4-BE49-F238E27FC236}">
                    <a16:creationId xmlns:a16="http://schemas.microsoft.com/office/drawing/2014/main" id="{FF36960E-DE7B-DD2E-2983-3DE88953F556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>
              <a:xfrm flipH="1">
                <a:off x="3324" y="3030"/>
                <a:ext cx="0" cy="363"/>
              </a:xfrm>
              <a:prstGeom prst="line">
                <a:avLst/>
              </a:prstGeom>
              <a:ln w="44450" cap="flat" cmpd="sng">
                <a:solidFill>
                  <a:srgbClr val="0000FF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" name="直接连接符 87">
                <a:extLst>
                  <a:ext uri="{FF2B5EF4-FFF2-40B4-BE49-F238E27FC236}">
                    <a16:creationId xmlns:a16="http://schemas.microsoft.com/office/drawing/2014/main" id="{19D48D73-32E6-C16B-A18E-1B3F6AE7B251}"/>
                  </a:ext>
                </a:extLst>
              </p:cNvPr>
              <p:cNvSpPr/>
              <p:nvPr>
                <p:custDataLst>
                  <p:tags r:id="rId40"/>
                </p:custDataLst>
              </p:nvPr>
            </p:nvSpPr>
            <p:spPr>
              <a:xfrm flipH="1">
                <a:off x="3906" y="3030"/>
                <a:ext cx="0" cy="363"/>
              </a:xfrm>
              <a:prstGeom prst="line">
                <a:avLst/>
              </a:prstGeom>
              <a:ln w="44450" cap="flat" cmpd="sng">
                <a:solidFill>
                  <a:srgbClr val="0000FF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" name="直接连接符 88">
                <a:extLst>
                  <a:ext uri="{FF2B5EF4-FFF2-40B4-BE49-F238E27FC236}">
                    <a16:creationId xmlns:a16="http://schemas.microsoft.com/office/drawing/2014/main" id="{4D0AB662-22D7-2DE7-9F45-D306B3D33B73}"/>
                  </a:ext>
                </a:extLst>
              </p:cNvPr>
              <p:cNvSpPr/>
              <p:nvPr>
                <p:custDataLst>
                  <p:tags r:id="rId41"/>
                </p:custDataLst>
              </p:nvPr>
            </p:nvSpPr>
            <p:spPr>
              <a:xfrm flipH="1">
                <a:off x="4197" y="3030"/>
                <a:ext cx="0" cy="363"/>
              </a:xfrm>
              <a:prstGeom prst="line">
                <a:avLst/>
              </a:prstGeom>
              <a:ln w="44450" cap="flat" cmpd="sng">
                <a:solidFill>
                  <a:srgbClr val="0000FF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" name="直接连接符 89">
                <a:extLst>
                  <a:ext uri="{FF2B5EF4-FFF2-40B4-BE49-F238E27FC236}">
                    <a16:creationId xmlns:a16="http://schemas.microsoft.com/office/drawing/2014/main" id="{838742B8-5405-0B6B-65A4-C266520761AE}"/>
                  </a:ext>
                </a:extLst>
              </p:cNvPr>
              <p:cNvSpPr/>
              <p:nvPr>
                <p:custDataLst>
                  <p:tags r:id="rId42"/>
                </p:custDataLst>
              </p:nvPr>
            </p:nvSpPr>
            <p:spPr>
              <a:xfrm flipH="1">
                <a:off x="4488" y="3030"/>
                <a:ext cx="0" cy="363"/>
              </a:xfrm>
              <a:prstGeom prst="line">
                <a:avLst/>
              </a:prstGeom>
              <a:ln w="44450" cap="flat" cmpd="sng">
                <a:solidFill>
                  <a:srgbClr val="0000FF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" name="直接连接符 90">
                <a:extLst>
                  <a:ext uri="{FF2B5EF4-FFF2-40B4-BE49-F238E27FC236}">
                    <a16:creationId xmlns:a16="http://schemas.microsoft.com/office/drawing/2014/main" id="{E147F1DF-1A20-8993-FD38-E5000E75AFDB}"/>
                  </a:ext>
                </a:extLst>
              </p:cNvPr>
              <p:cNvSpPr/>
              <p:nvPr>
                <p:custDataLst>
                  <p:tags r:id="rId43"/>
                </p:custDataLst>
              </p:nvPr>
            </p:nvSpPr>
            <p:spPr>
              <a:xfrm flipH="1">
                <a:off x="4779" y="3030"/>
                <a:ext cx="0" cy="363"/>
              </a:xfrm>
              <a:prstGeom prst="line">
                <a:avLst/>
              </a:prstGeom>
              <a:ln w="44450" cap="flat" cmpd="sng">
                <a:solidFill>
                  <a:srgbClr val="0000FF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" name="直接连接符 91">
                <a:extLst>
                  <a:ext uri="{FF2B5EF4-FFF2-40B4-BE49-F238E27FC236}">
                    <a16:creationId xmlns:a16="http://schemas.microsoft.com/office/drawing/2014/main" id="{E96284FB-F66B-B9EC-BD53-F39626E8F873}"/>
                  </a:ext>
                </a:extLst>
              </p:cNvPr>
              <p:cNvSpPr/>
              <p:nvPr>
                <p:custDataLst>
                  <p:tags r:id="rId44"/>
                </p:custDataLst>
              </p:nvPr>
            </p:nvSpPr>
            <p:spPr>
              <a:xfrm flipH="1">
                <a:off x="5070" y="3009"/>
                <a:ext cx="0" cy="726"/>
              </a:xfrm>
              <a:prstGeom prst="line">
                <a:avLst/>
              </a:prstGeom>
              <a:ln w="44450" cap="flat" cmpd="sng">
                <a:solidFill>
                  <a:srgbClr val="0000FF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890414AA-CFEC-641D-EF8A-5FA3F4CE0A37}"/>
                </a:ext>
              </a:extLst>
            </p:cNvPr>
            <p:cNvSpPr txBox="1"/>
            <p:nvPr>
              <p:custDataLst>
                <p:tags r:id="rId25"/>
              </p:custDataLst>
            </p:nvPr>
          </p:nvSpPr>
          <p:spPr>
            <a:xfrm>
              <a:off x="6660" y="1752"/>
              <a:ext cx="900" cy="468"/>
            </a:xfrm>
            <a:prstGeom prst="rect">
              <a:avLst/>
            </a:prstGeom>
            <a:noFill/>
            <a:ln w="44450">
              <a:noFill/>
            </a:ln>
          </p:spPr>
          <p:txBody>
            <a:bodyPr/>
            <a:lstStyle/>
            <a:p>
              <a:pPr eaLnBrk="0" hangingPunct="0"/>
              <a:r>
                <a:rPr lang="zh-CN" altLang="en-US" sz="2800" b="1">
                  <a:latin typeface="Times New Roman" panose="02020603050405020304" pitchFamily="18" charset="0"/>
                </a:rPr>
                <a:t>主尺</a:t>
              </a:r>
            </a:p>
          </p:txBody>
        </p:sp>
        <p:sp>
          <p:nvSpPr>
            <p:cNvPr id="74" name="文本框 73">
              <a:extLst>
                <a:ext uri="{FF2B5EF4-FFF2-40B4-BE49-F238E27FC236}">
                  <a16:creationId xmlns:a16="http://schemas.microsoft.com/office/drawing/2014/main" id="{6A4539DD-7EBB-C4A4-81C4-6DCAA0C6B4A8}"/>
                </a:ext>
              </a:extLst>
            </p:cNvPr>
            <p:cNvSpPr txBox="1"/>
            <p:nvPr>
              <p:custDataLst>
                <p:tags r:id="rId26"/>
              </p:custDataLst>
            </p:nvPr>
          </p:nvSpPr>
          <p:spPr>
            <a:xfrm>
              <a:off x="5145" y="1752"/>
              <a:ext cx="900" cy="468"/>
            </a:xfrm>
            <a:prstGeom prst="rect">
              <a:avLst/>
            </a:prstGeom>
            <a:noFill/>
            <a:ln w="44450">
              <a:noFill/>
            </a:ln>
          </p:spPr>
          <p:txBody>
            <a:bodyPr/>
            <a:lstStyle/>
            <a:p>
              <a:pPr eaLnBrk="0" hangingPunct="0"/>
              <a:r>
                <a:rPr lang="zh-CN" altLang="en-US" sz="2800" b="1">
                  <a:latin typeface="Times New Roman" panose="02020603050405020304" pitchFamily="18" charset="0"/>
                </a:rPr>
                <a:t>１</a:t>
              </a:r>
            </a:p>
          </p:txBody>
        </p:sp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A238AAFB-449B-4802-EFB1-811B8F937D91}"/>
                </a:ext>
              </a:extLst>
            </p:cNvPr>
            <p:cNvSpPr txBox="1"/>
            <p:nvPr>
              <p:custDataLst>
                <p:tags r:id="rId27"/>
              </p:custDataLst>
            </p:nvPr>
          </p:nvSpPr>
          <p:spPr>
            <a:xfrm>
              <a:off x="1905" y="1752"/>
              <a:ext cx="900" cy="468"/>
            </a:xfrm>
            <a:prstGeom prst="rect">
              <a:avLst/>
            </a:prstGeom>
            <a:noFill/>
            <a:ln w="44450">
              <a:noFill/>
            </a:ln>
          </p:spPr>
          <p:txBody>
            <a:bodyPr/>
            <a:lstStyle/>
            <a:p>
              <a:pPr eaLnBrk="0" hangingPunct="0"/>
              <a:r>
                <a:rPr lang="zh-CN" altLang="en-US" sz="2800" b="1">
                  <a:latin typeface="Times New Roman" panose="02020603050405020304" pitchFamily="18" charset="0"/>
                </a:rPr>
                <a:t>０</a:t>
              </a:r>
            </a:p>
          </p:txBody>
        </p: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26BE2076-F2A6-1EF1-C3C2-A8A7B1F9F24C}"/>
                </a:ext>
              </a:extLst>
            </p:cNvPr>
            <p:cNvSpPr txBox="1"/>
            <p:nvPr>
              <p:custDataLst>
                <p:tags r:id="rId28"/>
              </p:custDataLst>
            </p:nvPr>
          </p:nvSpPr>
          <p:spPr>
            <a:xfrm>
              <a:off x="1905" y="3780"/>
              <a:ext cx="900" cy="468"/>
            </a:xfrm>
            <a:prstGeom prst="rect">
              <a:avLst/>
            </a:prstGeom>
            <a:noFill/>
            <a:ln w="44450">
              <a:noFill/>
            </a:ln>
          </p:spPr>
          <p:txBody>
            <a:bodyPr/>
            <a:lstStyle/>
            <a:p>
              <a:pPr eaLnBrk="0" hangingPunct="0"/>
              <a:r>
                <a:rPr lang="zh-CN" altLang="en-US" sz="2800" b="1">
                  <a:latin typeface="Times New Roman" panose="02020603050405020304" pitchFamily="18" charset="0"/>
                </a:rPr>
                <a:t>０</a:t>
              </a:r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61284851-8717-4BD1-952B-95F9381C03F1}"/>
                </a:ext>
              </a:extLst>
            </p:cNvPr>
            <p:cNvSpPr txBox="1"/>
            <p:nvPr>
              <p:custDataLst>
                <p:tags r:id="rId29"/>
              </p:custDataLst>
            </p:nvPr>
          </p:nvSpPr>
          <p:spPr>
            <a:xfrm>
              <a:off x="4695" y="3780"/>
              <a:ext cx="900" cy="468"/>
            </a:xfrm>
            <a:prstGeom prst="rect">
              <a:avLst/>
            </a:prstGeom>
            <a:noFill/>
            <a:ln w="44450">
              <a:noFill/>
            </a:ln>
          </p:spPr>
          <p:txBody>
            <a:bodyPr/>
            <a:lstStyle/>
            <a:p>
              <a:pPr eaLnBrk="0" hangingPunct="0"/>
              <a:r>
                <a:rPr lang="zh-CN" altLang="en-US" sz="2800" b="1">
                  <a:latin typeface="Times New Roman" panose="02020603050405020304" pitchFamily="18" charset="0"/>
                </a:rPr>
                <a:t>１０</a:t>
              </a:r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55CE8B72-4380-F94A-8D5E-5B20FDBD2F17}"/>
                </a:ext>
              </a:extLst>
            </p:cNvPr>
            <p:cNvSpPr txBox="1"/>
            <p:nvPr>
              <p:custDataLst>
                <p:tags r:id="rId30"/>
              </p:custDataLst>
            </p:nvPr>
          </p:nvSpPr>
          <p:spPr>
            <a:xfrm>
              <a:off x="3240" y="3780"/>
              <a:ext cx="1080" cy="468"/>
            </a:xfrm>
            <a:prstGeom prst="rect">
              <a:avLst/>
            </a:prstGeom>
            <a:noFill/>
            <a:ln w="44450">
              <a:noFill/>
            </a:ln>
          </p:spPr>
          <p:txBody>
            <a:bodyPr/>
            <a:lstStyle/>
            <a:p>
              <a:pPr eaLnBrk="0" hangingPunct="0"/>
              <a:r>
                <a:rPr lang="zh-CN" altLang="en-US" sz="2400" b="1">
                  <a:latin typeface="Times New Roman" panose="02020603050405020304" pitchFamily="18" charset="0"/>
                </a:rPr>
                <a:t>游标尺</a:t>
              </a:r>
            </a:p>
          </p:txBody>
        </p: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AE01B924-4A9E-A7A1-4F89-81559EAEEDF7}"/>
                </a:ext>
              </a:extLst>
            </p:cNvPr>
            <p:cNvSpPr txBox="1"/>
            <p:nvPr>
              <p:custDataLst>
                <p:tags r:id="rId31"/>
              </p:custDataLst>
            </p:nvPr>
          </p:nvSpPr>
          <p:spPr>
            <a:xfrm>
              <a:off x="8400" y="1752"/>
              <a:ext cx="900" cy="468"/>
            </a:xfrm>
            <a:prstGeom prst="rect">
              <a:avLst/>
            </a:prstGeom>
            <a:noFill/>
            <a:ln w="44450">
              <a:noFill/>
            </a:ln>
          </p:spPr>
          <p:txBody>
            <a:bodyPr/>
            <a:lstStyle/>
            <a:p>
              <a:pPr eaLnBrk="0" hangingPunct="0"/>
              <a:r>
                <a:rPr lang="zh-CN" altLang="en-US" sz="2400" b="1">
                  <a:latin typeface="Times New Roman" panose="02020603050405020304" pitchFamily="18" charset="0"/>
                </a:rPr>
                <a:t>２</a:t>
              </a:r>
            </a:p>
          </p:txBody>
        </p:sp>
        <p:sp>
          <p:nvSpPr>
            <p:cNvPr id="80" name="文本框 79">
              <a:extLst>
                <a:ext uri="{FF2B5EF4-FFF2-40B4-BE49-F238E27FC236}">
                  <a16:creationId xmlns:a16="http://schemas.microsoft.com/office/drawing/2014/main" id="{BABB145B-385A-ED56-4395-06F21C950AE4}"/>
                </a:ext>
              </a:extLst>
            </p:cNvPr>
            <p:cNvSpPr txBox="1"/>
            <p:nvPr>
              <p:custDataLst>
                <p:tags r:id="rId32"/>
              </p:custDataLst>
            </p:nvPr>
          </p:nvSpPr>
          <p:spPr>
            <a:xfrm>
              <a:off x="9000" y="1752"/>
              <a:ext cx="900" cy="468"/>
            </a:xfrm>
            <a:prstGeom prst="rect">
              <a:avLst/>
            </a:prstGeom>
            <a:noFill/>
            <a:ln w="44450">
              <a:noFill/>
            </a:ln>
          </p:spPr>
          <p:txBody>
            <a:bodyPr/>
            <a:lstStyle/>
            <a:p>
              <a:pPr eaLnBrk="0" hangingPunct="0"/>
              <a:r>
                <a:rPr lang="zh-CN" altLang="en-US" sz="2400" b="1">
                  <a:latin typeface="Times New Roman" panose="02020603050405020304" pitchFamily="18" charset="0"/>
                </a:rPr>
                <a:t>ｃｍ</a:t>
              </a:r>
            </a:p>
          </p:txBody>
        </p:sp>
        <p:sp>
          <p:nvSpPr>
            <p:cNvPr id="81" name="文本框 80">
              <a:extLst>
                <a:ext uri="{FF2B5EF4-FFF2-40B4-BE49-F238E27FC236}">
                  <a16:creationId xmlns:a16="http://schemas.microsoft.com/office/drawing/2014/main" id="{CF56B684-67D0-5AC7-A9F5-DA775653227E}"/>
                </a:ext>
              </a:extLst>
            </p:cNvPr>
            <p:cNvSpPr txBox="1"/>
            <p:nvPr>
              <p:custDataLst>
                <p:tags r:id="rId33"/>
              </p:custDataLst>
            </p:nvPr>
          </p:nvSpPr>
          <p:spPr>
            <a:xfrm>
              <a:off x="4680" y="4248"/>
              <a:ext cx="1800" cy="468"/>
            </a:xfrm>
            <a:prstGeom prst="rect">
              <a:avLst/>
            </a:prstGeom>
            <a:noFill/>
            <a:ln w="44450">
              <a:noFill/>
            </a:ln>
          </p:spPr>
          <p:txBody>
            <a:bodyPr/>
            <a:lstStyle/>
            <a:p>
              <a:pPr eaLnBrk="0" hangingPunct="0"/>
              <a:endParaRPr lang="zh-CN" altLang="en-US" sz="1000" b="1">
                <a:latin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71671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C4D63F-5315-D3F2-019A-086D11ED6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此时游标尺向右移动了多少距离？</a:t>
            </a:r>
            <a:endParaRPr lang="en-US" dirty="0"/>
          </a:p>
        </p:txBody>
      </p:sp>
      <p:pic>
        <p:nvPicPr>
          <p:cNvPr id="49" name="内容占位符 48">
            <a:extLst>
              <a:ext uri="{FF2B5EF4-FFF2-40B4-BE49-F238E27FC236}">
                <a16:creationId xmlns:a16="http://schemas.microsoft.com/office/drawing/2014/main" id="{A46C2676-B5D7-FC05-FE04-7C0FC1CC180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2856696"/>
            <a:ext cx="5181600" cy="2289195"/>
          </a:xfrm>
          <a:prstGeom prst="rect">
            <a:avLst/>
          </a:prstGeom>
        </p:spPr>
      </p:pic>
      <p:pic>
        <p:nvPicPr>
          <p:cNvPr id="48" name="内容占位符 47">
            <a:extLst>
              <a:ext uri="{FF2B5EF4-FFF2-40B4-BE49-F238E27FC236}">
                <a16:creationId xmlns:a16="http://schemas.microsoft.com/office/drawing/2014/main" id="{639180A6-0320-D824-AA38-AD153761AAD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2754740"/>
            <a:ext cx="5181600" cy="2493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183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C4D63F-5315-D3F2-019A-086D11ED6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此时游标尺向右移动了多少距离？</a:t>
            </a:r>
            <a:endParaRPr lang="en-US" dirty="0"/>
          </a:p>
        </p:txBody>
      </p:sp>
      <p:pic>
        <p:nvPicPr>
          <p:cNvPr id="49" name="内容占位符 48">
            <a:extLst>
              <a:ext uri="{FF2B5EF4-FFF2-40B4-BE49-F238E27FC236}">
                <a16:creationId xmlns:a16="http://schemas.microsoft.com/office/drawing/2014/main" id="{A46C2676-B5D7-FC05-FE04-7C0FC1CC180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2856696"/>
            <a:ext cx="5181600" cy="2289195"/>
          </a:xfrm>
          <a:prstGeom prst="rect">
            <a:avLst/>
          </a:prstGeom>
        </p:spPr>
      </p:pic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35677447-840C-37F2-F024-ADF116D3003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2754740"/>
            <a:ext cx="5181600" cy="2493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28022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C4D63F-5315-D3F2-019A-086D11ED6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此时游标尺向右移动了多少距离？</a:t>
            </a:r>
            <a:endParaRPr lang="en-US" dirty="0"/>
          </a:p>
        </p:txBody>
      </p:sp>
      <p:pic>
        <p:nvPicPr>
          <p:cNvPr id="49" name="内容占位符 48">
            <a:extLst>
              <a:ext uri="{FF2B5EF4-FFF2-40B4-BE49-F238E27FC236}">
                <a16:creationId xmlns:a16="http://schemas.microsoft.com/office/drawing/2014/main" id="{A46C2676-B5D7-FC05-FE04-7C0FC1CC180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2856696"/>
            <a:ext cx="5181600" cy="2289195"/>
          </a:xfrm>
          <a:prstGeom prst="rect">
            <a:avLst/>
          </a:prstGeom>
        </p:spPr>
      </p:pic>
      <p:pic>
        <p:nvPicPr>
          <p:cNvPr id="6" name="内容占位符 5">
            <a:extLst>
              <a:ext uri="{FF2B5EF4-FFF2-40B4-BE49-F238E27FC236}">
                <a16:creationId xmlns:a16="http://schemas.microsoft.com/office/drawing/2014/main" id="{EC4791BD-DFA2-F861-E971-6CE8B60B4A9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2754740"/>
            <a:ext cx="5181600" cy="2493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35592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A967FC-6263-11E7-CC08-AF11E9145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读数是多少？</a:t>
            </a:r>
            <a:endParaRPr lang="en-US" dirty="0"/>
          </a:p>
        </p:txBody>
      </p:sp>
      <p:pic>
        <p:nvPicPr>
          <p:cNvPr id="47" name="内容占位符 46">
            <a:extLst>
              <a:ext uri="{FF2B5EF4-FFF2-40B4-BE49-F238E27FC236}">
                <a16:creationId xmlns:a16="http://schemas.microsoft.com/office/drawing/2014/main" id="{02B2F942-312C-0141-9C7A-EEAF61FD37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54001" y="2056501"/>
            <a:ext cx="8083997" cy="3889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31230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A967FC-6263-11E7-CC08-AF11E9145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读数是多少？</a:t>
            </a:r>
            <a:endParaRPr lang="en-US" dirty="0"/>
          </a:p>
        </p:txBody>
      </p:sp>
      <p:pic>
        <p:nvPicPr>
          <p:cNvPr id="47" name="内容占位符 46">
            <a:extLst>
              <a:ext uri="{FF2B5EF4-FFF2-40B4-BE49-F238E27FC236}">
                <a16:creationId xmlns:a16="http://schemas.microsoft.com/office/drawing/2014/main" id="{02B2F942-312C-0141-9C7A-EEAF61FD37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54001" y="2056501"/>
            <a:ext cx="8083997" cy="3889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8661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A967FC-6263-11E7-CC08-AF11E9145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读数是多少？</a:t>
            </a:r>
            <a:endParaRPr lang="en-US" dirty="0"/>
          </a:p>
        </p:txBody>
      </p:sp>
      <p:pic>
        <p:nvPicPr>
          <p:cNvPr id="47" name="内容占位符 46">
            <a:extLst>
              <a:ext uri="{FF2B5EF4-FFF2-40B4-BE49-F238E27FC236}">
                <a16:creationId xmlns:a16="http://schemas.microsoft.com/office/drawing/2014/main" id="{02B2F942-312C-0141-9C7A-EEAF61FD37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54001" y="2056501"/>
            <a:ext cx="8083997" cy="3889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6337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A967FC-6263-11E7-CC08-AF11E9145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读数是多少？</a:t>
            </a:r>
            <a:endParaRPr lang="en-US" dirty="0"/>
          </a:p>
        </p:txBody>
      </p:sp>
      <p:pic>
        <p:nvPicPr>
          <p:cNvPr id="47" name="内容占位符 46">
            <a:extLst>
              <a:ext uri="{FF2B5EF4-FFF2-40B4-BE49-F238E27FC236}">
                <a16:creationId xmlns:a16="http://schemas.microsoft.com/office/drawing/2014/main" id="{02B2F942-312C-0141-9C7A-EEAF61FD37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54001" y="2056501"/>
            <a:ext cx="8083997" cy="3889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3585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内容占位符 2">
            <a:extLst>
              <a:ext uri="{FF2B5EF4-FFF2-40B4-BE49-F238E27FC236}">
                <a16:creationId xmlns:a16="http://schemas.microsoft.com/office/drawing/2014/main" id="{6B9ED29C-E385-09BE-024B-16DA1326EA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0650" y="719249"/>
            <a:ext cx="11950700" cy="541950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7160477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内容占位符 116">
            <a:extLst>
              <a:ext uri="{FF2B5EF4-FFF2-40B4-BE49-F238E27FC236}">
                <a16:creationId xmlns:a16="http://schemas.microsoft.com/office/drawing/2014/main" id="{A6268CD2-DA4F-CC9D-7C79-D3F11B5E26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0650" y="1612527"/>
            <a:ext cx="11950700" cy="363294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5963726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内容占位符 2">
            <a:extLst>
              <a:ext uri="{FF2B5EF4-FFF2-40B4-BE49-F238E27FC236}">
                <a16:creationId xmlns:a16="http://schemas.microsoft.com/office/drawing/2014/main" id="{2E0A5CAD-ACB6-74B3-5204-9E5CA20629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0650" y="686551"/>
            <a:ext cx="11950700" cy="548489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5837951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544830" y="2384425"/>
            <a:ext cx="10859135" cy="4108450"/>
          </a:xfrm>
          <a:prstGeom prst="rect">
            <a:avLst/>
          </a:prstGeom>
        </p:spPr>
      </p:pic>
      <p:sp>
        <p:nvSpPr>
          <p:cNvPr id="49" name="Rectangle 9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4610" y="1610360"/>
            <a:ext cx="11555095" cy="58356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indent="473710" defTabSz="685800"/>
            <a:r>
              <a:rPr lang="en-US" altLang="zh-CN" sz="3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1</a:t>
            </a:r>
            <a:r>
              <a:rPr lang="zh-CN" altLang="en-US" sz="3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、</a:t>
            </a:r>
            <a:r>
              <a:rPr lang="zh-CN" altLang="zh-CN" sz="3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常见的游标卡尺有</a:t>
            </a:r>
            <a:r>
              <a:rPr lang="en-US" altLang="zh-CN" sz="3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10</a:t>
            </a:r>
            <a:r>
              <a:rPr lang="zh-CN" altLang="zh-CN" sz="3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分度、</a:t>
            </a:r>
            <a:r>
              <a:rPr lang="en-US" altLang="zh-CN" sz="3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20</a:t>
            </a:r>
            <a:r>
              <a:rPr lang="zh-CN" altLang="zh-CN" sz="3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分度和</a:t>
            </a:r>
            <a:r>
              <a:rPr lang="en-US" altLang="zh-CN" sz="3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50</a:t>
            </a:r>
            <a:r>
              <a:rPr lang="zh-CN" altLang="zh-CN" sz="3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分度三种</a:t>
            </a:r>
          </a:p>
        </p:txBody>
      </p:sp>
      <p:sp>
        <p:nvSpPr>
          <p:cNvPr id="15" name="TextBox 14">
            <a:hlinkClick r:id="" action="ppaction://noaction"/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253683" y="605316"/>
            <a:ext cx="367347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28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sz="3600"/>
              <a:t>帮你总结</a:t>
            </a:r>
          </a:p>
        </p:txBody>
      </p:sp>
      <p:sp>
        <p:nvSpPr>
          <p:cNvPr id="24580" name="TextBox 5"/>
          <p:cNvSpPr txBox="1"/>
          <p:nvPr>
            <p:custDataLst>
              <p:tags r:id="rId4"/>
            </p:custDataLst>
          </p:nvPr>
        </p:nvSpPr>
        <p:spPr>
          <a:xfrm>
            <a:off x="2465705" y="402590"/>
            <a:ext cx="9144000" cy="13220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4000" b="1">
                <a:solidFill>
                  <a:srgbClr val="FF0000"/>
                </a:solidFill>
                <a:latin typeface="Times New Roman" panose="02020603050405020304" pitchFamily="18" charset="0"/>
              </a:rPr>
              <a:t>主尺刻度数</a:t>
            </a:r>
            <a:r>
              <a:rPr lang="en-US" altLang="zh-CN" sz="4000" b="1">
                <a:solidFill>
                  <a:srgbClr val="FF0000"/>
                </a:solidFill>
                <a:latin typeface="Times New Roman" panose="02020603050405020304" pitchFamily="18" charset="0"/>
              </a:rPr>
              <a:t>+</a:t>
            </a:r>
            <a:r>
              <a:rPr lang="zh-CN" altLang="en-US" sz="4000" b="1">
                <a:solidFill>
                  <a:srgbClr val="FF0000"/>
                </a:solidFill>
                <a:latin typeface="Times New Roman" panose="02020603050405020304" pitchFamily="18" charset="0"/>
              </a:rPr>
              <a:t>游标尺对齐格数</a:t>
            </a:r>
            <a:r>
              <a:rPr lang="en-US" altLang="zh-CN" sz="4000" b="1">
                <a:solidFill>
                  <a:srgbClr val="FF0000"/>
                </a:solidFill>
                <a:latin typeface="隶书" pitchFamily="49" charset="-122"/>
                <a:ea typeface="隶书" pitchFamily="49" charset="-122"/>
              </a:rPr>
              <a:t>×</a:t>
            </a:r>
            <a:r>
              <a:rPr lang="zh-CN" altLang="zh-CN" sz="4000" b="1">
                <a:solidFill>
                  <a:srgbClr val="FF0000"/>
                </a:solidFill>
                <a:latin typeface="隶书" pitchFamily="49" charset="-122"/>
                <a:ea typeface="隶书" pitchFamily="49" charset="-122"/>
              </a:rPr>
              <a:t>精</a:t>
            </a:r>
            <a:r>
              <a:rPr lang="zh-CN" altLang="en-US" sz="4000" b="1">
                <a:solidFill>
                  <a:srgbClr val="FF0000"/>
                </a:solidFill>
                <a:latin typeface="隶书" pitchFamily="49" charset="-122"/>
                <a:ea typeface="隶书" pitchFamily="49" charset="-122"/>
              </a:rPr>
              <a:t>确度</a:t>
            </a:r>
            <a:endParaRPr lang="en-US" altLang="zh-CN" sz="4000" b="1">
              <a:solidFill>
                <a:srgbClr val="FF0000"/>
              </a:solidFill>
              <a:latin typeface="Times New Roman" panose="02020603050405020304" pitchFamily="18" charset="0"/>
            </a:endParaRPr>
          </a:p>
          <a:p>
            <a:endParaRPr lang="zh-CN" altLang="en-US" sz="4000" b="1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5"/>
            </p:custDataLst>
          </p:nvPr>
        </p:nvSpPr>
        <p:spPr>
          <a:xfrm>
            <a:off x="6096000" y="1163320"/>
            <a:ext cx="609600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2400" b="1">
                <a:solidFill>
                  <a:srgbClr val="C00000"/>
                </a:solidFill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 </a:t>
            </a:r>
            <a:r>
              <a:rPr lang="zh-CN" altLang="en-US" sz="2400" b="1">
                <a:solidFill>
                  <a:srgbClr val="C00000"/>
                </a:solidFill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注：不需估读！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8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67360" y="271780"/>
            <a:ext cx="5360670" cy="5219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hangingPunct="0"/>
            <a:r>
              <a:rPr lang="zh-CN" altLang="en-US" sz="2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二、</a:t>
            </a:r>
            <a:r>
              <a:rPr lang="zh-CN" altLang="en-US" sz="2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螺旋测微器</a:t>
            </a:r>
            <a:endParaRPr lang="zh-CN" altLang="en-US" sz="28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文本框 14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942975" y="5266690"/>
            <a:ext cx="9049385" cy="10502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hangingPunct="0">
              <a:lnSpc>
                <a:spcPct val="120000"/>
              </a:lnSpc>
            </a:pPr>
            <a:r>
              <a:rPr lang="en-US" altLang="zh-CN" sz="2600">
                <a:latin typeface="Calibri"/>
                <a:ea typeface="微软雅黑" panose="020B0503020204020204" charset="-122"/>
                <a:cs typeface="微软雅黑" panose="020B0503020204020204" charset="-122"/>
                <a:sym typeface="+mn-ea"/>
              </a:rPr>
              <a:t>①.  </a:t>
            </a:r>
            <a:r>
              <a:rPr lang="en-US" altLang="zh-CN" sz="2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A</a:t>
            </a:r>
            <a:r>
              <a:rPr lang="zh-CN" altLang="en-US" sz="2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、</a:t>
            </a:r>
            <a:r>
              <a:rPr lang="en-US" altLang="zh-CN" sz="2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B</a:t>
            </a:r>
            <a:r>
              <a:rPr lang="zh-CN" altLang="en-US" sz="2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、</a:t>
            </a:r>
            <a:r>
              <a:rPr lang="en-US" altLang="zh-CN" sz="2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C</a:t>
            </a:r>
            <a:r>
              <a:rPr lang="zh-CN" altLang="en-US" sz="2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连在一起。</a:t>
            </a:r>
            <a:endParaRPr lang="en-US" altLang="zh-CN" sz="2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just" hangingPunct="0">
              <a:lnSpc>
                <a:spcPct val="120000"/>
              </a:lnSpc>
            </a:pPr>
            <a:r>
              <a:rPr lang="en-US" altLang="zh-CN" sz="2600">
                <a:latin typeface="Calibri"/>
                <a:ea typeface="微软雅黑" panose="020B0503020204020204" charset="-122"/>
                <a:cs typeface="微软雅黑" panose="020B0503020204020204" charset="-122"/>
              </a:rPr>
              <a:t>②.  </a:t>
            </a:r>
            <a:r>
              <a:rPr lang="en-US" altLang="zh-CN" sz="2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</a:t>
            </a:r>
            <a:r>
              <a:rPr lang="zh-CN" altLang="en-US" sz="2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2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</a:t>
            </a:r>
            <a:r>
              <a:rPr lang="zh-CN" altLang="en-US" sz="2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2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</a:t>
            </a:r>
            <a:r>
              <a:rPr lang="zh-CN" altLang="en-US" sz="2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2600" i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 sz="2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D′ </a:t>
            </a:r>
            <a:r>
              <a:rPr lang="zh-CN" altLang="en-US" sz="2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连在一起，通过精密的螺纹套在</a:t>
            </a:r>
            <a:r>
              <a:rPr lang="en-US" altLang="zh-CN" sz="2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</a:t>
            </a:r>
            <a:r>
              <a:rPr lang="zh-CN" altLang="en-US" sz="2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上。</a:t>
            </a:r>
          </a:p>
        </p:txBody>
      </p:sp>
      <p:pic>
        <p:nvPicPr>
          <p:cNvPr id="4" name="图片 3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278890" y="997585"/>
            <a:ext cx="9556750" cy="3786505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7"/>
          <a:stretch>
            <a:fillRect/>
          </a:stretch>
        </p:blipFill>
        <p:spPr>
          <a:xfrm flipH="1">
            <a:off x="10274300" y="10210800"/>
            <a:ext cx="0" cy="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2"/>
          <p:cNvPicPr preferRelativeResize="0"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275205" y="1039495"/>
            <a:ext cx="7115175" cy="29387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文本框 1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53390" y="297180"/>
            <a:ext cx="5444490" cy="5219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hangingPunct="0"/>
            <a:r>
              <a:rPr lang="zh-CN" altLang="en-US" sz="2800"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螺旋测微器的</a:t>
            </a:r>
            <a:r>
              <a:rPr lang="zh-CN" altLang="en-US" sz="2800"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原理：</a:t>
            </a:r>
          </a:p>
        </p:txBody>
      </p:sp>
      <p:sp>
        <p:nvSpPr>
          <p:cNvPr id="33793" name="内容占位符 10241"/>
          <p:cNvSpPr>
            <a:spLocks noGrp="1" noChangeArrowheads="1"/>
          </p:cNvSpPr>
          <p:nvPr>
            <p:custDataLst>
              <p:tags r:id="rId3"/>
            </p:custDataLst>
          </p:nvPr>
        </p:nvSpPr>
        <p:spPr>
          <a:xfrm>
            <a:off x="666750" y="4255770"/>
            <a:ext cx="10509250" cy="1905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zh-CN" altLang="en-US" sz="2400">
                <a:effectLst/>
                <a:latin typeface="微软雅黑" panose="020B0503020204020204" charset="-122"/>
                <a:ea typeface="微软雅黑" panose="020B0503020204020204" charset="-122"/>
              </a:rPr>
              <a:t>螺旋测微器是依据</a:t>
            </a:r>
            <a:r>
              <a:rPr lang="zh-CN" altLang="en-US" sz="2400">
                <a:solidFill>
                  <a:srgbClr val="FF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螺旋放大</a:t>
            </a:r>
            <a:r>
              <a:rPr lang="zh-CN" altLang="en-US" sz="2400">
                <a:effectLst/>
                <a:latin typeface="微软雅黑" panose="020B0503020204020204" charset="-122"/>
                <a:ea typeface="微软雅黑" panose="020B0503020204020204" charset="-122"/>
              </a:rPr>
              <a:t>的原理制成的，即</a:t>
            </a:r>
            <a:r>
              <a:rPr lang="zh-CN" altLang="en-US" sz="2400">
                <a:solidFill>
                  <a:srgbClr val="FF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螺杆</a:t>
            </a:r>
            <a:r>
              <a:rPr lang="zh-CN" altLang="en-US" sz="2400">
                <a:effectLst/>
                <a:latin typeface="微软雅黑" panose="020B0503020204020204" charset="-122"/>
                <a:ea typeface="微软雅黑" panose="020B0503020204020204" charset="-122"/>
              </a:rPr>
              <a:t>在</a:t>
            </a:r>
            <a:r>
              <a:rPr lang="zh-CN" altLang="en-US" sz="2400">
                <a:solidFill>
                  <a:srgbClr val="FF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螺母</a:t>
            </a:r>
            <a:r>
              <a:rPr lang="zh-CN" altLang="en-US" sz="2400">
                <a:effectLst/>
                <a:latin typeface="微软雅黑" panose="020B0503020204020204" charset="-122"/>
                <a:ea typeface="微软雅黑" panose="020B0503020204020204" charset="-122"/>
              </a:rPr>
              <a:t>中旋转一周，螺杆便沿着旋转轴线方向前进或后退一个螺距的距离。因此，沿轴线方向移动的微小距离，就能用圆周上的读数表示出来。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内容占位符 11265"/>
          <p:cNvSpPr>
            <a:spLocks noGrp="1" noChangeArrowheads="1"/>
          </p:cNvSpPr>
          <p:nvPr>
            <p:ph idx="1"/>
            <p:custDataLst>
              <p:tags r:id="rId1"/>
            </p:custDataLst>
          </p:nvPr>
        </p:nvSpPr>
        <p:spPr>
          <a:xfrm>
            <a:off x="542925" y="605473"/>
            <a:ext cx="11068050" cy="2266950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zh-CN" altLang="en-US" sz="2400"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</a:rPr>
              <a:t>螺旋测微器的精密螺纹的螺距是</a:t>
            </a:r>
            <a:r>
              <a:rPr lang="en-US" altLang="zh-CN" sz="2400"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</a:rPr>
              <a:t>0.5mm</a:t>
            </a:r>
            <a:r>
              <a:rPr lang="zh-CN" altLang="en-US" sz="2400"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</a:rPr>
              <a:t>，可动刻度有</a:t>
            </a:r>
            <a:r>
              <a:rPr lang="en-US" altLang="zh-CN" sz="2400"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</a:rPr>
              <a:t>50</a:t>
            </a:r>
            <a:r>
              <a:rPr lang="zh-CN" altLang="en-US" sz="2400"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</a:rPr>
              <a:t>个等分刻度，可动刻度旋转一周，测微螺杆可前进或后退</a:t>
            </a:r>
            <a:r>
              <a:rPr lang="en-US" altLang="zh-CN" sz="2400"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</a:rPr>
              <a:t>0.5mm</a:t>
            </a:r>
            <a:r>
              <a:rPr lang="zh-CN" altLang="en-US" sz="2400"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</a:rPr>
              <a:t>，因此旋转每个小分度，相当于测微螺杆前进或后退</a:t>
            </a:r>
            <a:r>
              <a:rPr lang="en-US" altLang="zh-CN" sz="2400"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</a:rPr>
              <a:t>0.5/50=0.01mm</a:t>
            </a:r>
            <a:r>
              <a:rPr lang="zh-CN" altLang="en-US" sz="2400"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</a:rPr>
              <a:t>。可见，</a:t>
            </a:r>
            <a:r>
              <a:rPr lang="zh-CN" altLang="en-US" sz="2400">
                <a:solidFill>
                  <a:srgbClr val="FF0000"/>
                </a:solidFill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</a:rPr>
              <a:t>可动刻度每一小分度表示</a:t>
            </a:r>
            <a:r>
              <a:rPr lang="en-US" altLang="zh-CN" sz="2400">
                <a:solidFill>
                  <a:srgbClr val="FF0000"/>
                </a:solidFill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</a:rPr>
              <a:t>0.01mm</a:t>
            </a:r>
            <a:r>
              <a:rPr lang="zh-CN" altLang="en-US" sz="2400">
                <a:solidFill>
                  <a:srgbClr val="FF0000"/>
                </a:solidFill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</a:rPr>
              <a:t>，</a:t>
            </a:r>
            <a:r>
              <a:rPr lang="zh-CN" altLang="en-US" sz="2400"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</a:rPr>
              <a:t>所以以螺旋测微器可准确到</a:t>
            </a:r>
            <a:r>
              <a:rPr lang="en-US" altLang="zh-CN" sz="2400"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</a:rPr>
              <a:t>0.01mm</a:t>
            </a:r>
            <a:r>
              <a:rPr lang="zh-CN" altLang="en-US" sz="2400"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</a:rPr>
              <a:t>。由于还能再估读一位，可读到毫米的千分位。</a:t>
            </a:r>
          </a:p>
        </p:txBody>
      </p:sp>
      <p:grpSp>
        <p:nvGrpSpPr>
          <p:cNvPr id="4" name="组合 3"/>
          <p:cNvGrpSpPr/>
          <p:nvPr>
            <p:custDataLst>
              <p:tags r:id="rId2"/>
            </p:custDataLst>
          </p:nvPr>
        </p:nvGrpSpPr>
        <p:grpSpPr>
          <a:xfrm>
            <a:off x="5711483" y="3631097"/>
            <a:ext cx="3379202" cy="1720516"/>
            <a:chOff x="4338638" y="3276600"/>
            <a:chExt cx="5986462" cy="3352800"/>
          </a:xfrm>
        </p:grpSpPr>
        <p:sp>
          <p:nvSpPr>
            <p:cNvPr id="6" name="Line 2"/>
            <p:cNvSpPr>
              <a:spLocks noChangeShapeType="1"/>
            </p:cNvSpPr>
            <p:nvPr>
              <p:custDataLst>
                <p:tags r:id="rId4"/>
              </p:custDataLst>
            </p:nvPr>
          </p:nvSpPr>
          <p:spPr bwMode="auto">
            <a:xfrm>
              <a:off x="4497388" y="3505200"/>
              <a:ext cx="1724025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7" name="Line 3"/>
            <p:cNvSpPr>
              <a:spLocks noChangeShapeType="1"/>
            </p:cNvSpPr>
            <p:nvPr>
              <p:custDataLst>
                <p:tags r:id="rId5"/>
              </p:custDataLst>
            </p:nvPr>
          </p:nvSpPr>
          <p:spPr bwMode="auto">
            <a:xfrm flipH="1">
              <a:off x="6176963" y="3505200"/>
              <a:ext cx="0" cy="28194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8" name="Line 4"/>
            <p:cNvSpPr>
              <a:spLocks noChangeShapeType="1"/>
            </p:cNvSpPr>
            <p:nvPr>
              <p:custDataLst>
                <p:tags r:id="rId6"/>
              </p:custDataLst>
            </p:nvPr>
          </p:nvSpPr>
          <p:spPr bwMode="auto">
            <a:xfrm flipH="1">
              <a:off x="4338638" y="6324600"/>
              <a:ext cx="187325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9" name="Line 5"/>
            <p:cNvSpPr>
              <a:spLocks noChangeShapeType="1"/>
            </p:cNvSpPr>
            <p:nvPr>
              <p:custDataLst>
                <p:tags r:id="rId7"/>
              </p:custDataLst>
            </p:nvPr>
          </p:nvSpPr>
          <p:spPr bwMode="auto">
            <a:xfrm>
              <a:off x="6221413" y="4038600"/>
              <a:ext cx="109855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10" name="Line 6"/>
            <p:cNvSpPr>
              <a:spLocks noChangeShapeType="1"/>
            </p:cNvSpPr>
            <p:nvPr>
              <p:custDataLst>
                <p:tags r:id="rId8"/>
              </p:custDataLst>
            </p:nvPr>
          </p:nvSpPr>
          <p:spPr bwMode="auto">
            <a:xfrm>
              <a:off x="6221413" y="5867400"/>
              <a:ext cx="109855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11" name="Line 7"/>
            <p:cNvSpPr>
              <a:spLocks noChangeShapeType="1"/>
            </p:cNvSpPr>
            <p:nvPr>
              <p:custDataLst>
                <p:tags r:id="rId9"/>
              </p:custDataLst>
            </p:nvPr>
          </p:nvSpPr>
          <p:spPr bwMode="auto">
            <a:xfrm>
              <a:off x="6221413" y="4876800"/>
              <a:ext cx="109855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12" name="Line 8"/>
            <p:cNvSpPr>
              <a:spLocks noChangeShapeType="1"/>
            </p:cNvSpPr>
            <p:nvPr>
              <p:custDataLst>
                <p:tags r:id="rId10"/>
              </p:custDataLst>
            </p:nvPr>
          </p:nvSpPr>
          <p:spPr bwMode="auto">
            <a:xfrm flipH="1">
              <a:off x="6896100" y="4876800"/>
              <a:ext cx="0" cy="7620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13" name="Line 9"/>
            <p:cNvSpPr>
              <a:spLocks noChangeShapeType="1"/>
            </p:cNvSpPr>
            <p:nvPr>
              <p:custDataLst>
                <p:tags r:id="rId11"/>
              </p:custDataLst>
            </p:nvPr>
          </p:nvSpPr>
          <p:spPr bwMode="auto">
            <a:xfrm flipH="1">
              <a:off x="7270750" y="4343400"/>
              <a:ext cx="0" cy="533400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14" name="Text Box 10"/>
            <p:cNvSpPr txBox="1">
              <a:spLocks noChangeArrowheads="1"/>
            </p:cNvSpPr>
            <p:nvPr>
              <p:custDataLst>
                <p:tags r:id="rId12"/>
              </p:custDataLst>
            </p:nvPr>
          </p:nvSpPr>
          <p:spPr bwMode="auto">
            <a:xfrm>
              <a:off x="6846435" y="5204311"/>
              <a:ext cx="374650" cy="7797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zh-CN" sz="2000">
                  <a:latin typeface="Times New Roman" panose="02020603050405020304" pitchFamily="18" charset="0"/>
                  <a:ea typeface="微软雅黑" panose="020B0503020204020204" charset="-122"/>
                </a:rPr>
                <a:t>0</a:t>
              </a:r>
            </a:p>
          </p:txBody>
        </p:sp>
        <p:grpSp>
          <p:nvGrpSpPr>
            <p:cNvPr id="19" name="组合 19472"/>
            <p:cNvGrpSpPr/>
            <p:nvPr>
              <p:custDataLst>
                <p:tags r:id="rId13"/>
              </p:custDataLst>
            </p:nvPr>
          </p:nvGrpSpPr>
          <p:grpSpPr>
            <a:xfrm>
              <a:off x="7277100" y="3276600"/>
              <a:ext cx="3048000" cy="3352800"/>
              <a:chOff x="0" y="0"/>
              <a:chExt cx="1920" cy="2112"/>
            </a:xfrm>
          </p:grpSpPr>
          <p:sp>
            <p:nvSpPr>
              <p:cNvPr id="20" name="Line 18"/>
              <p:cNvSpPr>
                <a:spLocks noChangeShapeType="1"/>
              </p:cNvSpPr>
              <p:nvPr>
                <p:custDataLst>
                  <p:tags r:id="rId32"/>
                </p:custDataLst>
              </p:nvPr>
            </p:nvSpPr>
            <p:spPr bwMode="auto">
              <a:xfrm flipH="1">
                <a:off x="0" y="480"/>
                <a:ext cx="0" cy="1152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400"/>
              </a:p>
            </p:txBody>
          </p:sp>
          <p:sp>
            <p:nvSpPr>
              <p:cNvPr id="21" name="Line 19"/>
              <p:cNvSpPr>
                <a:spLocks noChangeShapeType="1"/>
              </p:cNvSpPr>
              <p:nvPr>
                <p:custDataLst>
                  <p:tags r:id="rId33"/>
                </p:custDataLst>
              </p:nvPr>
            </p:nvSpPr>
            <p:spPr bwMode="auto">
              <a:xfrm>
                <a:off x="0" y="1632"/>
                <a:ext cx="336" cy="48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400"/>
              </a:p>
            </p:txBody>
          </p:sp>
          <p:sp>
            <p:nvSpPr>
              <p:cNvPr id="22" name="Line 20"/>
              <p:cNvSpPr>
                <a:spLocks noChangeShapeType="1"/>
              </p:cNvSpPr>
              <p:nvPr>
                <p:custDataLst>
                  <p:tags r:id="rId34"/>
                </p:custDataLst>
              </p:nvPr>
            </p:nvSpPr>
            <p:spPr bwMode="auto">
              <a:xfrm flipV="1">
                <a:off x="0" y="0"/>
                <a:ext cx="288" cy="48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400"/>
              </a:p>
            </p:txBody>
          </p:sp>
          <p:sp>
            <p:nvSpPr>
              <p:cNvPr id="23" name="Line 21"/>
              <p:cNvSpPr>
                <a:spLocks noChangeShapeType="1"/>
              </p:cNvSpPr>
              <p:nvPr>
                <p:custDataLst>
                  <p:tags r:id="rId35"/>
                </p:custDataLst>
              </p:nvPr>
            </p:nvSpPr>
            <p:spPr bwMode="auto">
              <a:xfrm>
                <a:off x="288" y="0"/>
                <a:ext cx="148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400"/>
              </a:p>
            </p:txBody>
          </p:sp>
          <p:sp>
            <p:nvSpPr>
              <p:cNvPr id="24" name="Line 22"/>
              <p:cNvSpPr>
                <a:spLocks noChangeShapeType="1"/>
              </p:cNvSpPr>
              <p:nvPr>
                <p:custDataLst>
                  <p:tags r:id="rId36"/>
                </p:custDataLst>
              </p:nvPr>
            </p:nvSpPr>
            <p:spPr bwMode="auto">
              <a:xfrm>
                <a:off x="336" y="2112"/>
                <a:ext cx="1584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400"/>
              </a:p>
            </p:txBody>
          </p:sp>
        </p:grpSp>
        <p:grpSp>
          <p:nvGrpSpPr>
            <p:cNvPr id="25" name="组合 19478"/>
            <p:cNvGrpSpPr/>
            <p:nvPr>
              <p:custDataLst>
                <p:tags r:id="rId14"/>
              </p:custDataLst>
            </p:nvPr>
          </p:nvGrpSpPr>
          <p:grpSpPr>
            <a:xfrm>
              <a:off x="7719801" y="3687761"/>
              <a:ext cx="1691473" cy="2263776"/>
              <a:chOff x="-3" y="-125"/>
              <a:chExt cx="350" cy="1426"/>
            </a:xfrm>
          </p:grpSpPr>
          <p:sp>
            <p:nvSpPr>
              <p:cNvPr id="26" name="Text Box 24"/>
              <p:cNvSpPr txBox="1">
                <a:spLocks noChangeArrowheads="1"/>
              </p:cNvSpPr>
              <p:nvPr>
                <p:custDataLst>
                  <p:tags r:id="rId29"/>
                </p:custDataLst>
              </p:nvPr>
            </p:nvSpPr>
            <p:spPr bwMode="auto">
              <a:xfrm>
                <a:off x="11" y="-125"/>
                <a:ext cx="336" cy="4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altLang="zh-CN" sz="2000">
                    <a:latin typeface="Times New Roman" panose="02020603050405020304" pitchFamily="18" charset="0"/>
                    <a:ea typeface="微软雅黑" panose="020B0503020204020204" charset="-122"/>
                  </a:rPr>
                  <a:t>0</a:t>
                </a:r>
              </a:p>
            </p:txBody>
          </p:sp>
          <p:sp>
            <p:nvSpPr>
              <p:cNvPr id="27" name="Text Box 25"/>
              <p:cNvSpPr txBox="1">
                <a:spLocks noChangeArrowheads="1"/>
              </p:cNvSpPr>
              <p:nvPr>
                <p:custDataLst>
                  <p:tags r:id="rId30"/>
                </p:custDataLst>
              </p:nvPr>
            </p:nvSpPr>
            <p:spPr bwMode="auto">
              <a:xfrm>
                <a:off x="-3" y="369"/>
                <a:ext cx="336" cy="4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altLang="zh-CN" sz="2000">
                    <a:latin typeface="Times New Roman" panose="02020603050405020304" pitchFamily="18" charset="0"/>
                    <a:ea typeface="微软雅黑" panose="020B0503020204020204" charset="-122"/>
                  </a:rPr>
                  <a:t>50</a:t>
                </a:r>
              </a:p>
            </p:txBody>
          </p:sp>
          <p:sp>
            <p:nvSpPr>
              <p:cNvPr id="28" name="Text Box 26"/>
              <p:cNvSpPr txBox="1">
                <a:spLocks noChangeArrowheads="1"/>
              </p:cNvSpPr>
              <p:nvPr>
                <p:custDataLst>
                  <p:tags r:id="rId31"/>
                </p:custDataLst>
              </p:nvPr>
            </p:nvSpPr>
            <p:spPr bwMode="auto">
              <a:xfrm>
                <a:off x="4" y="810"/>
                <a:ext cx="336" cy="4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altLang="zh-CN" sz="2000">
                    <a:latin typeface="Times New Roman" panose="02020603050405020304" pitchFamily="18" charset="0"/>
                    <a:ea typeface="微软雅黑" panose="020B0503020204020204" charset="-122"/>
                  </a:rPr>
                  <a:t>45</a:t>
                </a:r>
              </a:p>
            </p:txBody>
          </p:sp>
        </p:grpSp>
        <p:sp>
          <p:nvSpPr>
            <p:cNvPr id="29" name="Line 36"/>
            <p:cNvSpPr>
              <a:spLocks noChangeShapeType="1"/>
            </p:cNvSpPr>
            <p:nvPr>
              <p:custDataLst>
                <p:tags r:id="rId15"/>
              </p:custDataLst>
            </p:nvPr>
          </p:nvSpPr>
          <p:spPr bwMode="auto">
            <a:xfrm flipH="1">
              <a:off x="7277100" y="4114800"/>
              <a:ext cx="0" cy="17526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30" name="Line 37"/>
            <p:cNvSpPr>
              <a:spLocks noChangeShapeType="1"/>
            </p:cNvSpPr>
            <p:nvPr>
              <p:custDataLst>
                <p:tags r:id="rId16"/>
              </p:custDataLst>
            </p:nvPr>
          </p:nvSpPr>
          <p:spPr bwMode="auto">
            <a:xfrm>
              <a:off x="7277100" y="4114800"/>
              <a:ext cx="4572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31" name="Line 38"/>
            <p:cNvSpPr>
              <a:spLocks noChangeShapeType="1"/>
            </p:cNvSpPr>
            <p:nvPr>
              <p:custDataLst>
                <p:tags r:id="rId17"/>
              </p:custDataLst>
            </p:nvPr>
          </p:nvSpPr>
          <p:spPr bwMode="auto">
            <a:xfrm>
              <a:off x="7277100" y="4254500"/>
              <a:ext cx="304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32" name="Line 39"/>
            <p:cNvSpPr>
              <a:spLocks noChangeShapeType="1"/>
            </p:cNvSpPr>
            <p:nvPr>
              <p:custDataLst>
                <p:tags r:id="rId18"/>
              </p:custDataLst>
            </p:nvPr>
          </p:nvSpPr>
          <p:spPr bwMode="auto">
            <a:xfrm>
              <a:off x="7277100" y="4394200"/>
              <a:ext cx="304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33" name="Line 40"/>
            <p:cNvSpPr>
              <a:spLocks noChangeShapeType="1"/>
            </p:cNvSpPr>
            <p:nvPr>
              <p:custDataLst>
                <p:tags r:id="rId19"/>
              </p:custDataLst>
            </p:nvPr>
          </p:nvSpPr>
          <p:spPr bwMode="auto">
            <a:xfrm>
              <a:off x="7277100" y="4533900"/>
              <a:ext cx="304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34" name="Line 41"/>
            <p:cNvSpPr>
              <a:spLocks noChangeShapeType="1"/>
            </p:cNvSpPr>
            <p:nvPr>
              <p:custDataLst>
                <p:tags r:id="rId20"/>
              </p:custDataLst>
            </p:nvPr>
          </p:nvSpPr>
          <p:spPr bwMode="auto">
            <a:xfrm>
              <a:off x="7277100" y="4673600"/>
              <a:ext cx="304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35" name="Line 42"/>
            <p:cNvSpPr>
              <a:spLocks noChangeShapeType="1"/>
            </p:cNvSpPr>
            <p:nvPr>
              <p:custDataLst>
                <p:tags r:id="rId21"/>
              </p:custDataLst>
            </p:nvPr>
          </p:nvSpPr>
          <p:spPr bwMode="auto">
            <a:xfrm>
              <a:off x="7277100" y="4813300"/>
              <a:ext cx="4572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36" name="Line 43"/>
            <p:cNvSpPr>
              <a:spLocks noChangeShapeType="1"/>
            </p:cNvSpPr>
            <p:nvPr>
              <p:custDataLst>
                <p:tags r:id="rId22"/>
              </p:custDataLst>
            </p:nvPr>
          </p:nvSpPr>
          <p:spPr bwMode="auto">
            <a:xfrm>
              <a:off x="7277100" y="4953000"/>
              <a:ext cx="304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37" name="Line 44"/>
            <p:cNvSpPr>
              <a:spLocks noChangeShapeType="1"/>
            </p:cNvSpPr>
            <p:nvPr>
              <p:custDataLst>
                <p:tags r:id="rId23"/>
              </p:custDataLst>
            </p:nvPr>
          </p:nvSpPr>
          <p:spPr bwMode="auto">
            <a:xfrm>
              <a:off x="7277100" y="5092700"/>
              <a:ext cx="304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38" name="Line 45"/>
            <p:cNvSpPr>
              <a:spLocks noChangeShapeType="1"/>
            </p:cNvSpPr>
            <p:nvPr>
              <p:custDataLst>
                <p:tags r:id="rId24"/>
              </p:custDataLst>
            </p:nvPr>
          </p:nvSpPr>
          <p:spPr bwMode="auto">
            <a:xfrm>
              <a:off x="7277100" y="5232400"/>
              <a:ext cx="304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39" name="Line 46"/>
            <p:cNvSpPr>
              <a:spLocks noChangeShapeType="1"/>
            </p:cNvSpPr>
            <p:nvPr>
              <p:custDataLst>
                <p:tags r:id="rId25"/>
              </p:custDataLst>
            </p:nvPr>
          </p:nvSpPr>
          <p:spPr bwMode="auto">
            <a:xfrm>
              <a:off x="7277100" y="5372100"/>
              <a:ext cx="304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40" name="Line 47"/>
            <p:cNvSpPr>
              <a:spLocks noChangeShapeType="1"/>
            </p:cNvSpPr>
            <p:nvPr>
              <p:custDataLst>
                <p:tags r:id="rId26"/>
              </p:custDataLst>
            </p:nvPr>
          </p:nvSpPr>
          <p:spPr bwMode="auto">
            <a:xfrm>
              <a:off x="7277100" y="5511800"/>
              <a:ext cx="4572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41" name="Line 48"/>
            <p:cNvSpPr>
              <a:spLocks noChangeShapeType="1"/>
            </p:cNvSpPr>
            <p:nvPr>
              <p:custDataLst>
                <p:tags r:id="rId27"/>
              </p:custDataLst>
            </p:nvPr>
          </p:nvSpPr>
          <p:spPr bwMode="auto">
            <a:xfrm>
              <a:off x="7277100" y="5651500"/>
              <a:ext cx="304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42" name="Line 49"/>
            <p:cNvSpPr>
              <a:spLocks noChangeShapeType="1"/>
            </p:cNvSpPr>
            <p:nvPr>
              <p:custDataLst>
                <p:tags r:id="rId28"/>
              </p:custDataLst>
            </p:nvPr>
          </p:nvSpPr>
          <p:spPr bwMode="auto">
            <a:xfrm>
              <a:off x="7277100" y="5791200"/>
              <a:ext cx="304800" cy="158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</p:grpSp>
      <p:pic>
        <p:nvPicPr>
          <p:cNvPr id="2" name="图片 1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38"/>
          <a:stretch>
            <a:fillRect/>
          </a:stretch>
        </p:blipFill>
        <p:spPr>
          <a:xfrm>
            <a:off x="1437005" y="3852545"/>
            <a:ext cx="3092450" cy="219392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文本框 35"/>
          <p:cNvSpPr txBox="1"/>
          <p:nvPr>
            <p:custDataLst>
              <p:tags r:id="rId1"/>
            </p:custDataLst>
          </p:nvPr>
        </p:nvSpPr>
        <p:spPr>
          <a:xfrm>
            <a:off x="759704" y="1115853"/>
            <a:ext cx="2945553" cy="50165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en-US" altLang="zh-CN" sz="2665" b="1">
                <a:latin typeface="Calibri"/>
                <a:ea typeface="宋体" panose="02010600030101010101" pitchFamily="2" charset="-122"/>
              </a:rPr>
              <a:t>①</a:t>
            </a:r>
            <a:r>
              <a:rPr lang="en-US" altLang="zh-CN" sz="2665" b="1">
                <a:latin typeface="宋体" panose="02010600030101010101" pitchFamily="2" charset="-122"/>
                <a:ea typeface="宋体" panose="02010600030101010101" pitchFamily="2" charset="-122"/>
              </a:rPr>
              <a:t>.</a:t>
            </a:r>
            <a:r>
              <a:rPr lang="zh-CN" altLang="en-US" sz="2665" b="1">
                <a:latin typeface="宋体" panose="02010600030101010101" pitchFamily="2" charset="-122"/>
                <a:ea typeface="宋体" panose="02010600030101010101" pitchFamily="2" charset="-122"/>
              </a:rPr>
              <a:t>先读</a:t>
            </a:r>
            <a:r>
              <a:rPr lang="zh-CN" altLang="en-US" sz="2665" b="1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固定刻度</a:t>
            </a:r>
            <a:r>
              <a:rPr lang="zh-CN" altLang="en-US" sz="2665" b="1">
                <a:latin typeface="宋体" panose="02010600030101010101" pitchFamily="2" charset="-122"/>
                <a:ea typeface="宋体" panose="02010600030101010101" pitchFamily="2" charset="-122"/>
              </a:rPr>
              <a:t>：</a:t>
            </a:r>
          </a:p>
        </p:txBody>
      </p:sp>
      <p:sp>
        <p:nvSpPr>
          <p:cNvPr id="9219" name="文本框 36"/>
          <p:cNvSpPr txBox="1"/>
          <p:nvPr>
            <p:custDataLst>
              <p:tags r:id="rId2"/>
            </p:custDataLst>
          </p:nvPr>
        </p:nvSpPr>
        <p:spPr>
          <a:xfrm>
            <a:off x="768350" y="1778635"/>
            <a:ext cx="6504305" cy="105029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indent="0" fontAlgn="auto">
              <a:lnSpc>
                <a:spcPct val="130000"/>
              </a:lnSpc>
            </a:pPr>
            <a:r>
              <a:rPr lang="zh-CN" altLang="en-US" sz="24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找到固定刻度右边第一根主尺线（注意半刻度线有没有</a:t>
            </a:r>
            <a:r>
              <a:rPr lang="zh-CN" altLang="en-US" sz="24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露</a:t>
            </a:r>
            <a:r>
              <a:rPr lang="zh-CN" altLang="en-US" sz="24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出来）：读得</a:t>
            </a:r>
            <a:r>
              <a:rPr lang="en-US" altLang="zh-CN" sz="24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4.5mm</a:t>
            </a:r>
            <a:endParaRPr lang="zh-CN" altLang="en-US" sz="2400" b="1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5" name="文本框 4"/>
          <p:cNvSpPr txBox="1"/>
          <p:nvPr>
            <p:custDataLst>
              <p:tags r:id="rId3"/>
            </p:custDataLst>
          </p:nvPr>
        </p:nvSpPr>
        <p:spPr>
          <a:xfrm>
            <a:off x="649182" y="2874488"/>
            <a:ext cx="5908040" cy="460375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sz="2400" b="1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【如果半刻度线没有</a:t>
            </a:r>
            <a:r>
              <a:rPr lang="zh-CN" altLang="en-US" sz="2400" b="1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  <a:sym typeface="+mn-ea"/>
              </a:rPr>
              <a:t>露</a:t>
            </a:r>
            <a:r>
              <a:rPr lang="zh-CN" altLang="en-US" sz="2400" b="1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出来那就是</a:t>
            </a:r>
            <a:r>
              <a:rPr lang="en-US" altLang="zh-CN" sz="2400" b="1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4.0mm</a:t>
            </a:r>
            <a:r>
              <a:rPr lang="zh-CN" altLang="en-US" sz="2400" b="1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】</a:t>
            </a:r>
          </a:p>
        </p:txBody>
      </p:sp>
      <p:grpSp>
        <p:nvGrpSpPr>
          <p:cNvPr id="14" name="组合 13"/>
          <p:cNvGrpSpPr/>
          <p:nvPr>
            <p:custDataLst>
              <p:tags r:id="rId4"/>
            </p:custDataLst>
          </p:nvPr>
        </p:nvGrpSpPr>
        <p:grpSpPr>
          <a:xfrm>
            <a:off x="751205" y="3701415"/>
            <a:ext cx="9787890" cy="1673860"/>
            <a:chOff x="1183" y="5829"/>
            <a:chExt cx="15414" cy="2636"/>
          </a:xfrm>
        </p:grpSpPr>
        <p:sp>
          <p:nvSpPr>
            <p:cNvPr id="11" name="文本框 10"/>
            <p:cNvSpPr txBox="1"/>
            <p:nvPr>
              <p:custDataLst>
                <p:tags r:id="rId11"/>
              </p:custDataLst>
            </p:nvPr>
          </p:nvSpPr>
          <p:spPr>
            <a:xfrm>
              <a:off x="1201" y="5829"/>
              <a:ext cx="5452" cy="79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 anchorCtr="0">
              <a:spAutoFit/>
            </a:bodyPr>
            <a:lstStyle/>
            <a:p>
              <a:r>
                <a:rPr lang="en-US" altLang="zh-CN" sz="2665" b="1">
                  <a:latin typeface="Calibri"/>
                  <a:ea typeface="宋体" panose="02010600030101010101" pitchFamily="2" charset="-122"/>
                  <a:cs typeface="宋体" panose="02010600030101010101" pitchFamily="2" charset="-122"/>
                </a:rPr>
                <a:t>②</a:t>
              </a:r>
              <a:r>
                <a:rPr lang="en-US" altLang="zh-CN" sz="2665" b="1"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.</a:t>
              </a:r>
              <a:r>
                <a:rPr lang="zh-CN" altLang="en-US" sz="2665" b="1"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再读</a:t>
              </a:r>
              <a:r>
                <a:rPr lang="zh-CN" altLang="en-US" sz="2665" b="1">
                  <a:solidFill>
                    <a:srgbClr val="FF000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可动刻度</a:t>
              </a:r>
              <a:r>
                <a:rPr lang="en-US" altLang="zh-CN" sz="2665" b="1"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:</a:t>
              </a:r>
            </a:p>
          </p:txBody>
        </p:sp>
        <p:sp>
          <p:nvSpPr>
            <p:cNvPr id="33" name="文本框 32"/>
            <p:cNvSpPr txBox="1"/>
            <p:nvPr>
              <p:custDataLst>
                <p:tags r:id="rId12"/>
              </p:custDataLst>
            </p:nvPr>
          </p:nvSpPr>
          <p:spPr>
            <a:xfrm>
              <a:off x="1183" y="6685"/>
              <a:ext cx="15414" cy="109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 anchorCtr="0">
              <a:no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zh-CN" sz="2400" b="1"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找到轴线与可动刻度对齐的地方，读数从下面起且要往后</a:t>
              </a:r>
              <a:r>
                <a:rPr lang="zh-CN" altLang="zh-CN" sz="2400" b="1">
                  <a:solidFill>
                    <a:srgbClr val="FF0000"/>
                  </a:solidFill>
                  <a:highlight>
                    <a:srgbClr val="FFFF00"/>
                  </a:highlight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估读</a:t>
              </a:r>
              <a:r>
                <a:rPr lang="zh-CN" altLang="zh-CN" sz="2400" b="1"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一位</a:t>
              </a:r>
              <a:r>
                <a:rPr lang="zh-CN" altLang="en-US" sz="2400" b="1"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。</a:t>
              </a:r>
            </a:p>
          </p:txBody>
        </p:sp>
        <p:sp>
          <p:nvSpPr>
            <p:cNvPr id="9" name="文本框 8"/>
            <p:cNvSpPr txBox="1"/>
            <p:nvPr>
              <p:custDataLst>
                <p:tags r:id="rId13"/>
              </p:custDataLst>
            </p:nvPr>
          </p:nvSpPr>
          <p:spPr>
            <a:xfrm>
              <a:off x="1195" y="7675"/>
              <a:ext cx="12272" cy="79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 anchorCtr="0">
              <a:spAutoFit/>
            </a:bodyPr>
            <a:lstStyle/>
            <a:p>
              <a:r>
                <a:rPr lang="zh-CN" altLang="en-US" sz="2665" b="1"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读得</a:t>
              </a:r>
              <a:r>
                <a:rPr lang="en-US" altLang="zh-CN" sz="2665" b="1"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9.2   </a:t>
              </a:r>
              <a:r>
                <a:rPr lang="zh-CN" altLang="en-US" sz="2665" b="1"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对应的数值为：</a:t>
              </a:r>
              <a:r>
                <a:rPr lang="en-US" altLang="zh-CN" sz="2665" b="1"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9.2×0.01mm=0.092mm</a:t>
              </a:r>
              <a:endParaRPr lang="en-US" altLang="zh-CN" sz="2665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endParaRPr>
            </a:p>
          </p:txBody>
        </p:sp>
      </p:grpSp>
      <p:sp>
        <p:nvSpPr>
          <p:cNvPr id="29698" name="文本框 1"/>
          <p:cNvSpPr txBox="1"/>
          <p:nvPr>
            <p:custDataLst>
              <p:tags r:id="rId5"/>
            </p:custDataLst>
          </p:nvPr>
        </p:nvSpPr>
        <p:spPr>
          <a:xfrm>
            <a:off x="758825" y="5540375"/>
            <a:ext cx="10563225" cy="50165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en-US" altLang="zh-CN" sz="2665" b="1">
                <a:latin typeface="Calibri"/>
                <a:ea typeface="宋体" panose="02010600030101010101" pitchFamily="2" charset="-122"/>
              </a:rPr>
              <a:t>③</a:t>
            </a:r>
            <a:r>
              <a:rPr lang="en-US" altLang="zh-CN" sz="2665" b="1">
                <a:latin typeface="宋体" panose="02010600030101010101" pitchFamily="2" charset="-122"/>
                <a:ea typeface="宋体" panose="02010600030101010101" pitchFamily="2" charset="-122"/>
              </a:rPr>
              <a:t>.</a:t>
            </a:r>
            <a:r>
              <a:rPr lang="zh-CN" altLang="en-US" sz="2665" b="1">
                <a:latin typeface="宋体" panose="02010600030101010101" pitchFamily="2" charset="-122"/>
                <a:ea typeface="宋体" panose="02010600030101010101" pitchFamily="2" charset="-122"/>
              </a:rPr>
              <a:t>把</a:t>
            </a:r>
            <a:r>
              <a:rPr lang="zh-CN" altLang="en-US" sz="2665" b="1">
                <a:latin typeface="宋体" panose="02010600030101010101" pitchFamily="2" charset="-122"/>
                <a:ea typeface="宋体" panose="02010600030101010101" pitchFamily="2" charset="-122"/>
                <a:sym typeface="宋体" panose="02010600030101010101" pitchFamily="2" charset="-122"/>
              </a:rPr>
              <a:t>固定刻度</a:t>
            </a:r>
            <a:r>
              <a:rPr lang="zh-CN" altLang="en-US" sz="2665" b="1">
                <a:latin typeface="宋体" panose="02010600030101010101" pitchFamily="2" charset="-122"/>
                <a:ea typeface="宋体" panose="02010600030101010101" pitchFamily="2" charset="-122"/>
              </a:rPr>
              <a:t>读数与可动刻度读数相加：</a:t>
            </a:r>
            <a:r>
              <a:rPr lang="en-US" altLang="zh-CN" sz="2665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4.5mm+0.092mm=4.592mm</a:t>
            </a:r>
            <a:endParaRPr lang="zh-CN" altLang="en-US" sz="2665" b="1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7" name="文本框 56"/>
          <p:cNvSpPr txBox="1"/>
          <p:nvPr>
            <p:custDataLst>
              <p:tags r:id="rId6"/>
            </p:custDataLst>
          </p:nvPr>
        </p:nvSpPr>
        <p:spPr>
          <a:xfrm>
            <a:off x="574675" y="393065"/>
            <a:ext cx="4540250" cy="521970"/>
          </a:xfrm>
          <a:prstGeom prst="rect">
            <a:avLst/>
          </a:prstGeom>
          <a:noFill/>
          <a:ln w="19050">
            <a:noFill/>
          </a:ln>
        </p:spPr>
        <p:txBody>
          <a:bodyPr wrap="square">
            <a:spAutoFit/>
          </a:bodyPr>
          <a:lstStyle>
            <a:defPPr>
              <a:defRPr lang="zh-CN"/>
            </a:defPPr>
            <a:lvl1pPr>
              <a:spcBef>
                <a:spcPct val="50000"/>
              </a:spcBef>
              <a:defRPr sz="2400" b="1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r>
              <a:rPr lang="zh-CN" altLang="en-US" sz="2800" b="0"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螺旋测微器的</a:t>
            </a:r>
            <a:r>
              <a:rPr lang="zh-CN" altLang="en-US" sz="2800" b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读数</a:t>
            </a:r>
          </a:p>
        </p:txBody>
      </p:sp>
      <p:pic>
        <p:nvPicPr>
          <p:cNvPr id="13" name="图片 12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7313930" y="809625"/>
            <a:ext cx="3966845" cy="2769870"/>
          </a:xfrm>
          <a:prstGeom prst="rect">
            <a:avLst/>
          </a:prstGeom>
        </p:spPr>
      </p:pic>
      <p:grpSp>
        <p:nvGrpSpPr>
          <p:cNvPr id="17" name="组合 16"/>
          <p:cNvGrpSpPr/>
          <p:nvPr>
            <p:custDataLst>
              <p:tags r:id="rId8"/>
            </p:custDataLst>
          </p:nvPr>
        </p:nvGrpSpPr>
        <p:grpSpPr>
          <a:xfrm>
            <a:off x="892810" y="1584960"/>
            <a:ext cx="9959975" cy="4249420"/>
            <a:chOff x="729" y="2375"/>
            <a:chExt cx="15685" cy="6692"/>
          </a:xfrm>
        </p:grpSpPr>
        <p:sp>
          <p:nvSpPr>
            <p:cNvPr id="16" name="折角形 15"/>
            <p:cNvSpPr/>
            <p:nvPr>
              <p:custDataLst>
                <p:tags r:id="rId9"/>
              </p:custDataLst>
            </p:nvPr>
          </p:nvSpPr>
          <p:spPr>
            <a:xfrm>
              <a:off x="729" y="2375"/>
              <a:ext cx="15685" cy="6692"/>
            </a:xfrm>
            <a:prstGeom prst="foldedCorner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5" name="图片 14" descr="图片5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 r:embed="rId16"/>
            <a:stretch>
              <a:fillRect/>
            </a:stretch>
          </p:blipFill>
          <p:spPr>
            <a:xfrm>
              <a:off x="2758" y="4156"/>
              <a:ext cx="10810" cy="3811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15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69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986" name="图片 55298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/>
          <a:srcRect r="53152"/>
          <a:stretch>
            <a:fillRect/>
          </a:stretch>
        </p:blipFill>
        <p:spPr>
          <a:xfrm>
            <a:off x="3630930" y="1611630"/>
            <a:ext cx="5330190" cy="285940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8" name="文本框 7"/>
          <p:cNvSpPr txBox="1"/>
          <p:nvPr>
            <p:custDataLst>
              <p:tags r:id="rId2"/>
            </p:custDataLst>
          </p:nvPr>
        </p:nvSpPr>
        <p:spPr>
          <a:xfrm>
            <a:off x="2371090" y="5015230"/>
            <a:ext cx="7400925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3200"/>
              <a:t>1.5mm+28.3×0.01mm=1.783mm</a:t>
            </a:r>
          </a:p>
        </p:txBody>
      </p:sp>
      <p:sp>
        <p:nvSpPr>
          <p:cNvPr id="10" name="文本框 9"/>
          <p:cNvSpPr txBox="1"/>
          <p:nvPr>
            <p:custDataLst>
              <p:tags r:id="rId3"/>
            </p:custDataLst>
          </p:nvPr>
        </p:nvSpPr>
        <p:spPr>
          <a:xfrm>
            <a:off x="679948" y="378874"/>
            <a:ext cx="1829241" cy="583565"/>
          </a:xfrm>
          <a:prstGeom prst="rect">
            <a:avLst/>
          </a:prstGeom>
          <a:noFill/>
          <a:ln w="19050">
            <a:noFill/>
          </a:ln>
        </p:spPr>
        <p:txBody>
          <a:bodyPr wrap="square">
            <a:spAutoFit/>
          </a:bodyPr>
          <a:lstStyle>
            <a:defPPr>
              <a:defRPr lang="zh-CN"/>
            </a:defPPr>
            <a:lvl1pPr>
              <a:spcBef>
                <a:spcPct val="50000"/>
              </a:spcBef>
              <a:defRPr sz="2400" b="1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r>
              <a:rPr lang="zh-CN" altLang="en-US" sz="3200"/>
              <a:t>读数练习</a:t>
            </a:r>
            <a:endParaRPr lang="en-US" altLang="zh-CN" sz="32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内容占位符 57345"/>
          <p:cNvSpPr>
            <a:spLocks noGrp="1"/>
          </p:cNvSpPr>
          <p:nvPr>
            <p:ph idx="1"/>
            <p:custDataLst>
              <p:tags r:id="rId1"/>
            </p:custDataLst>
          </p:nvPr>
        </p:nvSpPr>
        <p:spPr>
          <a:xfrm>
            <a:off x="1986915" y="4926330"/>
            <a:ext cx="7426960" cy="734060"/>
          </a:xfrm>
        </p:spPr>
        <p:txBody>
          <a:bodyPr anchor="t">
            <a:normAutofit/>
          </a:bodyPr>
          <a:lstStyle/>
          <a:p>
            <a:pPr algn="ctr">
              <a:buNone/>
            </a:pPr>
            <a:r>
              <a:rPr lang="en-US" altLang="zh-CN" sz="3200"/>
              <a:t>5.0mm+3.2×0.01mm=5.034mm</a:t>
            </a:r>
          </a:p>
        </p:txBody>
      </p:sp>
      <p:pic>
        <p:nvPicPr>
          <p:cNvPr id="44034" name="图片 57346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/>
          <a:srcRect r="39166"/>
          <a:stretch>
            <a:fillRect/>
          </a:stretch>
        </p:blipFill>
        <p:spPr>
          <a:xfrm>
            <a:off x="2948305" y="1539875"/>
            <a:ext cx="5881370" cy="305181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" name="文本框 9"/>
          <p:cNvSpPr txBox="1"/>
          <p:nvPr>
            <p:custDataLst>
              <p:tags r:id="rId3"/>
            </p:custDataLst>
          </p:nvPr>
        </p:nvSpPr>
        <p:spPr>
          <a:xfrm>
            <a:off x="679948" y="378874"/>
            <a:ext cx="1829241" cy="583565"/>
          </a:xfrm>
          <a:prstGeom prst="rect">
            <a:avLst/>
          </a:prstGeom>
          <a:noFill/>
          <a:ln w="19050">
            <a:noFill/>
          </a:ln>
        </p:spPr>
        <p:txBody>
          <a:bodyPr wrap="square">
            <a:spAutoFit/>
          </a:bodyPr>
          <a:lstStyle>
            <a:defPPr>
              <a:defRPr lang="zh-CN"/>
            </a:defPPr>
            <a:lvl1pPr>
              <a:spcBef>
                <a:spcPct val="50000"/>
              </a:spcBef>
              <a:defRPr sz="2400" b="1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r>
              <a:rPr lang="zh-CN" altLang="en-US" sz="3200"/>
              <a:t>读数练习</a:t>
            </a:r>
            <a:endParaRPr lang="en-US" altLang="zh-CN" sz="32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73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73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346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986" name="Picture 2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/>
          <a:srcRect t="14679" r="2815" b="12623"/>
          <a:stretch>
            <a:fillRect/>
          </a:stretch>
        </p:blipFill>
        <p:spPr>
          <a:xfrm>
            <a:off x="2912110" y="1769110"/>
            <a:ext cx="5953760" cy="2745105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</p:pic>
      <p:sp>
        <p:nvSpPr>
          <p:cNvPr id="41987" name="TextBox 6"/>
          <p:cNvSpPr/>
          <p:nvPr>
            <p:custDataLst>
              <p:tags r:id="rId2"/>
            </p:custDataLst>
          </p:nvPr>
        </p:nvSpPr>
        <p:spPr>
          <a:xfrm>
            <a:off x="3121123" y="4874230"/>
            <a:ext cx="4977130" cy="58356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pPr algn="l"/>
            <a:r>
              <a:rPr lang="en-US" altLang="zh-CN" sz="3200">
                <a:latin typeface="Times New Roman" panose="02020603050405020304" pitchFamily="18" charset="0"/>
                <a:cs typeface="Times New Roman" panose="02020603050405020304" pitchFamily="18" charset="0"/>
              </a:rPr>
              <a:t>8.5</a:t>
            </a:r>
            <a:r>
              <a:rPr lang="en-US" altLang="zh-CN" sz="32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mm</a:t>
            </a:r>
            <a:r>
              <a:rPr lang="en-US" altLang="zh-CN" sz="3200">
                <a:latin typeface="Times New Roman" panose="02020603050405020304" pitchFamily="18" charset="0"/>
                <a:cs typeface="Times New Roman" panose="02020603050405020304" pitchFamily="18" charset="0"/>
              </a:rPr>
              <a:t>+0.203</a:t>
            </a:r>
            <a:r>
              <a:rPr lang="en-US" altLang="zh-CN" sz="32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mm</a:t>
            </a:r>
            <a:r>
              <a:rPr lang="en-US" altLang="zh-CN" sz="3200">
                <a:latin typeface="Times New Roman" panose="02020603050405020304" pitchFamily="18" charset="0"/>
                <a:cs typeface="Times New Roman" panose="02020603050405020304" pitchFamily="18" charset="0"/>
              </a:rPr>
              <a:t>=8.703 mm</a:t>
            </a:r>
          </a:p>
        </p:txBody>
      </p:sp>
      <p:sp>
        <p:nvSpPr>
          <p:cNvPr id="3" name="文本框 2"/>
          <p:cNvSpPr txBox="1"/>
          <p:nvPr>
            <p:custDataLst>
              <p:tags r:id="rId3"/>
            </p:custDataLst>
          </p:nvPr>
        </p:nvSpPr>
        <p:spPr>
          <a:xfrm>
            <a:off x="679948" y="378874"/>
            <a:ext cx="1829241" cy="583565"/>
          </a:xfrm>
          <a:prstGeom prst="rect">
            <a:avLst/>
          </a:prstGeom>
          <a:noFill/>
          <a:ln w="19050">
            <a:noFill/>
          </a:ln>
        </p:spPr>
        <p:txBody>
          <a:bodyPr wrap="square">
            <a:spAutoFit/>
          </a:bodyPr>
          <a:lstStyle>
            <a:defPPr>
              <a:defRPr lang="zh-CN"/>
            </a:defPPr>
            <a:lvl1pPr>
              <a:spcBef>
                <a:spcPct val="50000"/>
              </a:spcBef>
              <a:defRPr sz="2400" b="1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r>
              <a:rPr lang="zh-CN" altLang="en-US" sz="3200"/>
              <a:t>读数练习</a:t>
            </a:r>
            <a:endParaRPr lang="en-US" altLang="zh-CN" sz="320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9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8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TextBox 6"/>
          <p:cNvSpPr/>
          <p:nvPr>
            <p:custDataLst>
              <p:tags r:id="rId1"/>
            </p:custDataLst>
          </p:nvPr>
        </p:nvSpPr>
        <p:spPr>
          <a:xfrm>
            <a:off x="2298231" y="4889341"/>
            <a:ext cx="6327789" cy="58356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altLang="zh-CN" sz="3200">
                <a:latin typeface="Times New Roman" panose="02020603050405020304" pitchFamily="18" charset="0"/>
                <a:cs typeface="Times New Roman" panose="02020603050405020304" pitchFamily="18" charset="0"/>
              </a:rPr>
              <a:t>4.0</a:t>
            </a:r>
            <a:r>
              <a:rPr lang="en-US" altLang="zh-CN" sz="32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mm</a:t>
            </a:r>
            <a:r>
              <a:rPr lang="en-US" altLang="zh-CN" sz="3200">
                <a:latin typeface="Times New Roman" panose="02020603050405020304" pitchFamily="18" charset="0"/>
                <a:cs typeface="Times New Roman" panose="02020603050405020304" pitchFamily="18" charset="0"/>
              </a:rPr>
              <a:t>+0.088</a:t>
            </a:r>
            <a:r>
              <a:rPr lang="en-US" altLang="zh-CN" sz="32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mm</a:t>
            </a:r>
            <a:r>
              <a:rPr lang="en-US" altLang="zh-CN" sz="3200">
                <a:latin typeface="Times New Roman" panose="02020603050405020304" pitchFamily="18" charset="0"/>
                <a:cs typeface="Times New Roman" panose="02020603050405020304" pitchFamily="18" charset="0"/>
              </a:rPr>
              <a:t>=4.088 mm</a:t>
            </a:r>
          </a:p>
        </p:txBody>
      </p:sp>
      <p:pic>
        <p:nvPicPr>
          <p:cNvPr id="44035" name="Picture 2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/>
          <a:srcRect l="7546" t="14184" r="2503" b="14400"/>
          <a:stretch>
            <a:fillRect/>
          </a:stretch>
        </p:blipFill>
        <p:spPr>
          <a:xfrm>
            <a:off x="2610485" y="2017395"/>
            <a:ext cx="5865495" cy="2484755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</p:pic>
      <p:sp>
        <p:nvSpPr>
          <p:cNvPr id="10" name="文本框 9"/>
          <p:cNvSpPr txBox="1"/>
          <p:nvPr>
            <p:custDataLst>
              <p:tags r:id="rId3"/>
            </p:custDataLst>
          </p:nvPr>
        </p:nvSpPr>
        <p:spPr>
          <a:xfrm>
            <a:off x="679948" y="378874"/>
            <a:ext cx="1829241" cy="583565"/>
          </a:xfrm>
          <a:prstGeom prst="rect">
            <a:avLst/>
          </a:prstGeom>
          <a:noFill/>
          <a:ln w="19050">
            <a:noFill/>
          </a:ln>
        </p:spPr>
        <p:txBody>
          <a:bodyPr wrap="square">
            <a:spAutoFit/>
          </a:bodyPr>
          <a:lstStyle>
            <a:defPPr>
              <a:defRPr lang="zh-CN"/>
            </a:defPPr>
            <a:lvl1pPr>
              <a:spcBef>
                <a:spcPct val="50000"/>
              </a:spcBef>
              <a:defRPr sz="2400" b="1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r>
              <a:rPr lang="zh-CN" altLang="en-US" sz="3200"/>
              <a:t>读数练习</a:t>
            </a:r>
            <a:endParaRPr lang="en-US" altLang="zh-CN" sz="320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034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0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07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0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09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1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8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9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9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9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93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94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95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96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97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98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99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00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0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0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03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04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05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06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07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08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09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10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1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12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24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25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26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27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28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29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30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31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32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13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14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15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16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17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18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19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20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21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22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23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66"/>
  <p:tag name="KSO_WM_BEAUTIFY_FLAG" val="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81"/>
  <p:tag name="KSO_WM_BEAUTIFY_FLAG" val="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57"/>
  <p:tag name="KSO_WM_BEAUTIFY_FLAG" val="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998"/>
  <p:tag name="KSO_WM_BEAUTIFY_FLAG" val="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999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874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875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876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1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2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77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0008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3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4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05"/>
  <p:tag name="KSO_WM_BEAUTIFY_FLAG" val="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09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10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80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11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12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13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14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15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16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17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18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19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20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26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30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31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32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33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34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35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36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37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38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39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40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41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42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43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27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28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29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21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22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23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24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25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48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49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50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82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96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41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83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84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85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86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92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93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94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50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51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41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55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56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41"/>
  <p:tag name="KSO_WM_BEAUTIFY_FLAG" val="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55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56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41"/>
  <p:tag name="KSO_WM_BEAUTIFY_FLAG" val="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57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58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41"/>
  <p:tag name="KSO_WM_BEAUTIFY_FLAG" val="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tand Chinese">
      <a:majorFont>
        <a:latin typeface="Times New Roman"/>
        <a:ea typeface="宋体"/>
        <a:cs typeface=""/>
      </a:majorFont>
      <a:minorFont>
        <a:latin typeface="Times New Roman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演示文稿1" id="{F8B9FEED-8146-4839-8053-D9880E4F147B}" vid="{01A7EF7B-974A-4C72-8CCA-666A79B3FFE4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Stand Chinese</Template>
  <TotalTime>38</TotalTime>
  <Words>527</Words>
  <Application>Microsoft Macintosh PowerPoint</Application>
  <PresentationFormat>Widescreen</PresentationFormat>
  <Paragraphs>52</Paragraphs>
  <Slides>23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2" baseType="lpstr">
      <vt:lpstr>楷体</vt:lpstr>
      <vt:lpstr>隶书</vt:lpstr>
      <vt:lpstr>微软雅黑</vt:lpstr>
      <vt:lpstr>宋体</vt:lpstr>
      <vt:lpstr>Aptos</vt:lpstr>
      <vt:lpstr>Arial</vt:lpstr>
      <vt:lpstr>Calibri</vt:lpstr>
      <vt:lpstr>Times New Roman</vt:lpstr>
      <vt:lpstr>Office 主题​​</vt:lpstr>
      <vt:lpstr>长度的测量及测量工具的选用</vt:lpstr>
      <vt:lpstr>https://www.bilibili.com/video/BV1tT4y1A7AW/?spm_id_from=333.337.search-card.all.click </vt:lpstr>
      <vt:lpstr>游标卡尺</vt:lpstr>
      <vt:lpstr>主尺每小格１ｍｍ，游标尺10小格９ｍｍ，每小格０.９ｍｍ</vt:lpstr>
      <vt:lpstr>此时游标尺向右移动了多少距离？</vt:lpstr>
      <vt:lpstr>此时游标尺向右移动了多少距离？</vt:lpstr>
      <vt:lpstr>此时游标尺向右移动了多少距离？</vt:lpstr>
      <vt:lpstr>读数是多少？</vt:lpstr>
      <vt:lpstr>读数是多少？</vt:lpstr>
      <vt:lpstr>读数是多少？</vt:lpstr>
      <vt:lpstr>读数是多少？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Shu</dc:creator>
  <cp:lastModifiedBy>Xingyu Shu</cp:lastModifiedBy>
  <cp:revision>2</cp:revision>
  <dcterms:created xsi:type="dcterms:W3CDTF">2024-08-26T02:33:30Z</dcterms:created>
  <dcterms:modified xsi:type="dcterms:W3CDTF">2026-05-25T01:33:20Z</dcterms:modified>
</cp:coreProperties>
</file>