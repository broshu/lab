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1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91" r:id="rId3"/>
    <p:sldId id="292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6" r:id="rId15"/>
    <p:sldId id="268" r:id="rId16"/>
    <p:sldId id="269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6164"/>
  </p:normalViewPr>
  <p:slideViewPr>
    <p:cSldViewPr snapToGrid="0">
      <p:cViewPr varScale="1">
        <p:scale>
          <a:sx n="122" d="100"/>
          <a:sy n="122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040AD-F759-4442-946B-3BB67E27A60A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79955-A99B-4BA6-A1C7-453546D99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369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" Target="../slides/slide16.xml"/><Relationship Id="rId4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更多模板亮... text has been truncated due to evaluation version limitation.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A3B02C48-7442-42A1-A2D3-5C71B5252205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20D54-C7A4-F62C-CC22-B293E0704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0589F1-7D74-4430-FB9E-40E1F442B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2771C-A8D5-5948-1E5C-1736747CD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DC015-CD30-C731-1C93-A1325969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B0D019-59E6-17D0-F066-F6DA9B4E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45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0B8863-BAC7-B36D-C13B-DA7B7689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1886FE-AD99-9024-2807-F5F02650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43AE4A-99B5-3215-CD93-6E770BD7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2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93788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0923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1" r:id="rId5"/>
    <p:sldLayoutId id="2147483652" r:id="rId6"/>
    <p:sldLayoutId id="2147483653" r:id="rId7"/>
    <p:sldLayoutId id="2147483655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libili.com/video/BV1tT4y1A7AW/?spm_id_from=333.337.search-card.all.click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libili.com/video/BV1PL411H7nD/?spm_id_from=333.337.search-card.all.click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18.xml"/><Relationship Id="rId18" Type="http://schemas.openxmlformats.org/officeDocument/2006/relationships/tags" Target="../tags/tag23.xml"/><Relationship Id="rId26" Type="http://schemas.openxmlformats.org/officeDocument/2006/relationships/tags" Target="../tags/tag31.xml"/><Relationship Id="rId39" Type="http://schemas.openxmlformats.org/officeDocument/2006/relationships/tags" Target="../tags/tag44.xml"/><Relationship Id="rId21" Type="http://schemas.openxmlformats.org/officeDocument/2006/relationships/tags" Target="../tags/tag26.xml"/><Relationship Id="rId34" Type="http://schemas.openxmlformats.org/officeDocument/2006/relationships/tags" Target="../tags/tag39.xml"/><Relationship Id="rId42" Type="http://schemas.openxmlformats.org/officeDocument/2006/relationships/tags" Target="../tags/tag47.xml"/><Relationship Id="rId7" Type="http://schemas.openxmlformats.org/officeDocument/2006/relationships/tags" Target="../tags/tag12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29" Type="http://schemas.openxmlformats.org/officeDocument/2006/relationships/tags" Target="../tags/tag34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24" Type="http://schemas.openxmlformats.org/officeDocument/2006/relationships/tags" Target="../tags/tag29.xml"/><Relationship Id="rId32" Type="http://schemas.openxmlformats.org/officeDocument/2006/relationships/tags" Target="../tags/tag37.xml"/><Relationship Id="rId37" Type="http://schemas.openxmlformats.org/officeDocument/2006/relationships/tags" Target="../tags/tag42.xml"/><Relationship Id="rId40" Type="http://schemas.openxmlformats.org/officeDocument/2006/relationships/tags" Target="../tags/tag45.xml"/><Relationship Id="rId45" Type="http://schemas.openxmlformats.org/officeDocument/2006/relationships/slideLayout" Target="../slideLayouts/slideLayout2.xml"/><Relationship Id="rId5" Type="http://schemas.openxmlformats.org/officeDocument/2006/relationships/tags" Target="../tags/tag10.xml"/><Relationship Id="rId15" Type="http://schemas.openxmlformats.org/officeDocument/2006/relationships/tags" Target="../tags/tag20.xml"/><Relationship Id="rId23" Type="http://schemas.openxmlformats.org/officeDocument/2006/relationships/tags" Target="../tags/tag28.xml"/><Relationship Id="rId28" Type="http://schemas.openxmlformats.org/officeDocument/2006/relationships/tags" Target="../tags/tag33.xml"/><Relationship Id="rId36" Type="http://schemas.openxmlformats.org/officeDocument/2006/relationships/tags" Target="../tags/tag41.xml"/><Relationship Id="rId10" Type="http://schemas.openxmlformats.org/officeDocument/2006/relationships/tags" Target="../tags/tag15.xml"/><Relationship Id="rId19" Type="http://schemas.openxmlformats.org/officeDocument/2006/relationships/tags" Target="../tags/tag24.xml"/><Relationship Id="rId31" Type="http://schemas.openxmlformats.org/officeDocument/2006/relationships/tags" Target="../tags/tag36.xml"/><Relationship Id="rId44" Type="http://schemas.openxmlformats.org/officeDocument/2006/relationships/tags" Target="../tags/tag49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Relationship Id="rId22" Type="http://schemas.openxmlformats.org/officeDocument/2006/relationships/tags" Target="../tags/tag27.xml"/><Relationship Id="rId27" Type="http://schemas.openxmlformats.org/officeDocument/2006/relationships/tags" Target="../tags/tag32.xml"/><Relationship Id="rId30" Type="http://schemas.openxmlformats.org/officeDocument/2006/relationships/tags" Target="../tags/tag35.xml"/><Relationship Id="rId35" Type="http://schemas.openxmlformats.org/officeDocument/2006/relationships/tags" Target="../tags/tag40.xml"/><Relationship Id="rId43" Type="http://schemas.openxmlformats.org/officeDocument/2006/relationships/tags" Target="../tags/tag48.xml"/><Relationship Id="rId8" Type="http://schemas.openxmlformats.org/officeDocument/2006/relationships/tags" Target="../tags/tag13.xml"/><Relationship Id="rId3" Type="http://schemas.openxmlformats.org/officeDocument/2006/relationships/tags" Target="../tags/tag8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5" Type="http://schemas.openxmlformats.org/officeDocument/2006/relationships/tags" Target="../tags/tag30.xml"/><Relationship Id="rId33" Type="http://schemas.openxmlformats.org/officeDocument/2006/relationships/tags" Target="../tags/tag38.xml"/><Relationship Id="rId38" Type="http://schemas.openxmlformats.org/officeDocument/2006/relationships/tags" Target="../tags/tag43.xml"/><Relationship Id="rId20" Type="http://schemas.openxmlformats.org/officeDocument/2006/relationships/tags" Target="../tags/tag25.xml"/><Relationship Id="rId41" Type="http://schemas.openxmlformats.org/officeDocument/2006/relationships/tags" Target="../tags/tag4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52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image" Target="../media/image18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image" Target="../media/image17.png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6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microsoft.com/office/2007/relationships/hdphoto" Target="../media/hdphoto1.wdp"/><Relationship Id="rId5" Type="http://schemas.openxmlformats.org/officeDocument/2006/relationships/image" Target="../media/image19.png"/><Relationship Id="rId4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tags" Target="../tags/tag77.xml"/><Relationship Id="rId18" Type="http://schemas.openxmlformats.org/officeDocument/2006/relationships/tags" Target="../tags/tag82.xml"/><Relationship Id="rId26" Type="http://schemas.openxmlformats.org/officeDocument/2006/relationships/tags" Target="../tags/tag90.xml"/><Relationship Id="rId21" Type="http://schemas.openxmlformats.org/officeDocument/2006/relationships/tags" Target="../tags/tag85.xml"/><Relationship Id="rId34" Type="http://schemas.openxmlformats.org/officeDocument/2006/relationships/tags" Target="../tags/tag98.xml"/><Relationship Id="rId7" Type="http://schemas.openxmlformats.org/officeDocument/2006/relationships/tags" Target="../tags/tag71.xml"/><Relationship Id="rId12" Type="http://schemas.openxmlformats.org/officeDocument/2006/relationships/tags" Target="../tags/tag76.xml"/><Relationship Id="rId17" Type="http://schemas.openxmlformats.org/officeDocument/2006/relationships/tags" Target="../tags/tag81.xml"/><Relationship Id="rId25" Type="http://schemas.openxmlformats.org/officeDocument/2006/relationships/tags" Target="../tags/tag89.xml"/><Relationship Id="rId33" Type="http://schemas.openxmlformats.org/officeDocument/2006/relationships/tags" Target="../tags/tag97.xml"/><Relationship Id="rId38" Type="http://schemas.openxmlformats.org/officeDocument/2006/relationships/image" Target="../media/image20.png"/><Relationship Id="rId2" Type="http://schemas.openxmlformats.org/officeDocument/2006/relationships/tags" Target="../tags/tag66.xml"/><Relationship Id="rId16" Type="http://schemas.openxmlformats.org/officeDocument/2006/relationships/tags" Target="../tags/tag80.xml"/><Relationship Id="rId20" Type="http://schemas.openxmlformats.org/officeDocument/2006/relationships/tags" Target="../tags/tag84.xml"/><Relationship Id="rId29" Type="http://schemas.openxmlformats.org/officeDocument/2006/relationships/tags" Target="../tags/tag93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tags" Target="../tags/tag75.xml"/><Relationship Id="rId24" Type="http://schemas.openxmlformats.org/officeDocument/2006/relationships/tags" Target="../tags/tag88.xml"/><Relationship Id="rId32" Type="http://schemas.openxmlformats.org/officeDocument/2006/relationships/tags" Target="../tags/tag96.xml"/><Relationship Id="rId37" Type="http://schemas.openxmlformats.org/officeDocument/2006/relationships/slideLayout" Target="../slideLayouts/slideLayout2.xml"/><Relationship Id="rId5" Type="http://schemas.openxmlformats.org/officeDocument/2006/relationships/tags" Target="../tags/tag69.xml"/><Relationship Id="rId15" Type="http://schemas.openxmlformats.org/officeDocument/2006/relationships/tags" Target="../tags/tag79.xml"/><Relationship Id="rId23" Type="http://schemas.openxmlformats.org/officeDocument/2006/relationships/tags" Target="../tags/tag87.xml"/><Relationship Id="rId28" Type="http://schemas.openxmlformats.org/officeDocument/2006/relationships/tags" Target="../tags/tag92.xml"/><Relationship Id="rId36" Type="http://schemas.openxmlformats.org/officeDocument/2006/relationships/tags" Target="../tags/tag100.xml"/><Relationship Id="rId10" Type="http://schemas.openxmlformats.org/officeDocument/2006/relationships/tags" Target="../tags/tag74.xml"/><Relationship Id="rId19" Type="http://schemas.openxmlformats.org/officeDocument/2006/relationships/tags" Target="../tags/tag83.xml"/><Relationship Id="rId31" Type="http://schemas.openxmlformats.org/officeDocument/2006/relationships/tags" Target="../tags/tag95.xml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tags" Target="../tags/tag78.xml"/><Relationship Id="rId22" Type="http://schemas.openxmlformats.org/officeDocument/2006/relationships/tags" Target="../tags/tag86.xml"/><Relationship Id="rId27" Type="http://schemas.openxmlformats.org/officeDocument/2006/relationships/tags" Target="../tags/tag91.xml"/><Relationship Id="rId30" Type="http://schemas.openxmlformats.org/officeDocument/2006/relationships/tags" Target="../tags/tag94.xml"/><Relationship Id="rId35" Type="http://schemas.openxmlformats.org/officeDocument/2006/relationships/tags" Target="../tags/tag99.xml"/><Relationship Id="rId8" Type="http://schemas.openxmlformats.org/officeDocument/2006/relationships/tags" Target="../tags/tag72.xml"/><Relationship Id="rId3" Type="http://schemas.openxmlformats.org/officeDocument/2006/relationships/tags" Target="../tags/tag6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08.xml"/><Relationship Id="rId13" Type="http://schemas.openxmlformats.org/officeDocument/2006/relationships/tags" Target="../tags/tag113.xml"/><Relationship Id="rId3" Type="http://schemas.openxmlformats.org/officeDocument/2006/relationships/tags" Target="../tags/tag103.xml"/><Relationship Id="rId7" Type="http://schemas.openxmlformats.org/officeDocument/2006/relationships/tags" Target="../tags/tag107.xml"/><Relationship Id="rId12" Type="http://schemas.openxmlformats.org/officeDocument/2006/relationships/tags" Target="../tags/tag112.xml"/><Relationship Id="rId2" Type="http://schemas.openxmlformats.org/officeDocument/2006/relationships/tags" Target="../tags/tag102.xml"/><Relationship Id="rId16" Type="http://schemas.openxmlformats.org/officeDocument/2006/relationships/image" Target="../media/image22.png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11" Type="http://schemas.openxmlformats.org/officeDocument/2006/relationships/tags" Target="../tags/tag111.xml"/><Relationship Id="rId5" Type="http://schemas.openxmlformats.org/officeDocument/2006/relationships/tags" Target="../tags/tag105.xml"/><Relationship Id="rId15" Type="http://schemas.openxmlformats.org/officeDocument/2006/relationships/image" Target="../media/image21.png"/><Relationship Id="rId10" Type="http://schemas.openxmlformats.org/officeDocument/2006/relationships/tags" Target="../tags/tag110.xml"/><Relationship Id="rId4" Type="http://schemas.openxmlformats.org/officeDocument/2006/relationships/tags" Target="../tags/tag104.xml"/><Relationship Id="rId9" Type="http://schemas.openxmlformats.org/officeDocument/2006/relationships/tags" Target="../tags/tag109.xml"/><Relationship Id="rId14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5" Type="http://schemas.openxmlformats.org/officeDocument/2006/relationships/image" Target="../media/image23.png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5" Type="http://schemas.openxmlformats.org/officeDocument/2006/relationships/image" Target="../media/image24.png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5" Type="http://schemas.openxmlformats.org/officeDocument/2006/relationships/image" Target="../media/image25.png"/><Relationship Id="rId4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5" Type="http://schemas.openxmlformats.org/officeDocument/2006/relationships/image" Target="../media/image26.png"/><Relationship Id="rId4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5472B8-8E94-E786-49B1-FC57187580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长度的测量及测量工具的选用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8B86E0-15A8-1812-F169-312545138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实验：导体电阻率的测量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235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D3CAB-FABF-B4E7-9E55-55BB17345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>
                <a:hlinkClick r:id="rId2"/>
              </a:rPr>
              <a:t>https://www.bilibili.com/video/BV1tT4y1A7AW/?spm_id_from=333.337.search-card.all.click</a:t>
            </a:r>
            <a:br>
              <a:rPr kumimoji="1" lang="en-US" altLang="zh-CN" dirty="0"/>
            </a:b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6061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E9A701-257C-6EFB-3DFB-E4D24AC00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https://www.bilibili.com/video/BV1PL411H7nD/?spm_id_from=333.337.search-card.all.click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555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8CD6EE-806D-69E6-CC33-3973F0E2F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游标卡尺</a:t>
            </a:r>
            <a:endParaRPr lang="en-US" dirty="0"/>
          </a:p>
        </p:txBody>
      </p:sp>
      <p:pic>
        <p:nvPicPr>
          <p:cNvPr id="1026" name="Picture 2" descr="游标卡尺-一步百科">
            <a:extLst>
              <a:ext uri="{FF2B5EF4-FFF2-40B4-BE49-F238E27FC236}">
                <a16:creationId xmlns:a16="http://schemas.microsoft.com/office/drawing/2014/main" id="{990A0FCC-7597-DE06-A3AC-47C9E4B1CA0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36190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5147FA-7CBE-8003-6632-5DF211667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主尺每小格１ｍｍ，游标尺</a:t>
            </a:r>
            <a:r>
              <a:rPr lang="en-US" altLang="zh-CN" dirty="0"/>
              <a:t>10</a:t>
            </a:r>
            <a:r>
              <a:rPr lang="zh-CN" altLang="en-US" dirty="0"/>
              <a:t>小格９ｍｍ，每小格０</a:t>
            </a:r>
            <a:r>
              <a:rPr lang="en-US" altLang="zh-CN" dirty="0"/>
              <a:t>.</a:t>
            </a:r>
            <a:r>
              <a:rPr lang="zh-CN" altLang="en-US" dirty="0"/>
              <a:t>９ｍｍ</a:t>
            </a:r>
            <a:endParaRPr lang="en-US" dirty="0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69A244A-DE04-E6B3-281A-8F5AD59DADA6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943100" y="2172494"/>
            <a:ext cx="8305800" cy="3657600"/>
            <a:chOff x="1905" y="1752"/>
            <a:chExt cx="7995" cy="2964"/>
          </a:xfrm>
        </p:grpSpPr>
        <p:sp>
          <p:nvSpPr>
            <p:cNvPr id="50" name="直接连接符 49">
              <a:extLst>
                <a:ext uri="{FF2B5EF4-FFF2-40B4-BE49-F238E27FC236}">
                  <a16:creationId xmlns:a16="http://schemas.microsoft.com/office/drawing/2014/main" id="{C46616CD-D650-A746-EC98-6EFA4FAE8973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160" y="3000"/>
              <a:ext cx="7380" cy="0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直接连接符 50">
              <a:extLst>
                <a:ext uri="{FF2B5EF4-FFF2-40B4-BE49-F238E27FC236}">
                  <a16:creationId xmlns:a16="http://schemas.microsoft.com/office/drawing/2014/main" id="{7C568EF4-A265-97BE-EC1A-C95EA906DE6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flipH="1" flipV="1">
              <a:off x="2157" y="2274"/>
              <a:ext cx="0" cy="726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直接连接符 51">
              <a:extLst>
                <a:ext uri="{FF2B5EF4-FFF2-40B4-BE49-F238E27FC236}">
                  <a16:creationId xmlns:a16="http://schemas.microsoft.com/office/drawing/2014/main" id="{304942BE-9DCE-F2E0-878F-064A298D359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flipH="1" flipV="1">
              <a:off x="3777" y="2433"/>
              <a:ext cx="0" cy="567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直接连接符 52">
              <a:extLst>
                <a:ext uri="{FF2B5EF4-FFF2-40B4-BE49-F238E27FC236}">
                  <a16:creationId xmlns:a16="http://schemas.microsoft.com/office/drawing/2014/main" id="{287C8ED8-E8CE-4E08-FBDB-68913C64C25D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flipH="1" flipV="1">
              <a:off x="2481" y="2637"/>
              <a:ext cx="0" cy="363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直接连接符 53">
              <a:extLst>
                <a:ext uri="{FF2B5EF4-FFF2-40B4-BE49-F238E27FC236}">
                  <a16:creationId xmlns:a16="http://schemas.microsoft.com/office/drawing/2014/main" id="{049E3A18-B058-CC79-C7AD-B442A2D61906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 flipH="1" flipV="1">
              <a:off x="2805" y="2637"/>
              <a:ext cx="0" cy="363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直接连接符 54">
              <a:extLst>
                <a:ext uri="{FF2B5EF4-FFF2-40B4-BE49-F238E27FC236}">
                  <a16:creationId xmlns:a16="http://schemas.microsoft.com/office/drawing/2014/main" id="{8A507037-C35C-7979-7E21-026061AAB6F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flipH="1" flipV="1">
              <a:off x="3129" y="2637"/>
              <a:ext cx="0" cy="363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直接连接符 55">
              <a:extLst>
                <a:ext uri="{FF2B5EF4-FFF2-40B4-BE49-F238E27FC236}">
                  <a16:creationId xmlns:a16="http://schemas.microsoft.com/office/drawing/2014/main" id="{9193ECB8-2136-34E8-8036-D6FC3B70DBCE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 flipH="1" flipV="1">
              <a:off x="3453" y="2637"/>
              <a:ext cx="0" cy="363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直接连接符 56">
              <a:extLst>
                <a:ext uri="{FF2B5EF4-FFF2-40B4-BE49-F238E27FC236}">
                  <a16:creationId xmlns:a16="http://schemas.microsoft.com/office/drawing/2014/main" id="{09BEB9CD-E68C-27BF-5456-D254B279D5D5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flipH="1" flipV="1">
              <a:off x="4101" y="2637"/>
              <a:ext cx="0" cy="363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直接连接符 57">
              <a:extLst>
                <a:ext uri="{FF2B5EF4-FFF2-40B4-BE49-F238E27FC236}">
                  <a16:creationId xmlns:a16="http://schemas.microsoft.com/office/drawing/2014/main" id="{7889B22E-392E-01F8-4975-F26D5B1CCBD1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 flipH="1" flipV="1">
              <a:off x="4426" y="2637"/>
              <a:ext cx="0" cy="363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直接连接符 58">
              <a:extLst>
                <a:ext uri="{FF2B5EF4-FFF2-40B4-BE49-F238E27FC236}">
                  <a16:creationId xmlns:a16="http://schemas.microsoft.com/office/drawing/2014/main" id="{2F7BADA1-79A6-61C3-C6EB-7FA131AB0B2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 flipH="1" flipV="1">
              <a:off x="4750" y="2637"/>
              <a:ext cx="0" cy="363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直接连接符 59">
              <a:extLst>
                <a:ext uri="{FF2B5EF4-FFF2-40B4-BE49-F238E27FC236}">
                  <a16:creationId xmlns:a16="http://schemas.microsoft.com/office/drawing/2014/main" id="{CD3C602C-0EAA-C254-EE27-7DA6A5224F9A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flipH="1" flipV="1">
              <a:off x="5074" y="2637"/>
              <a:ext cx="0" cy="363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直接连接符 60">
              <a:extLst>
                <a:ext uri="{FF2B5EF4-FFF2-40B4-BE49-F238E27FC236}">
                  <a16:creationId xmlns:a16="http://schemas.microsoft.com/office/drawing/2014/main" id="{308AEBF9-7052-942C-455A-5EAEE8410A6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flipH="1" flipV="1">
              <a:off x="5398" y="2274"/>
              <a:ext cx="0" cy="726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直接连接符 61">
              <a:extLst>
                <a:ext uri="{FF2B5EF4-FFF2-40B4-BE49-F238E27FC236}">
                  <a16:creationId xmlns:a16="http://schemas.microsoft.com/office/drawing/2014/main" id="{4127DBA2-9ED0-75C0-4A96-A7FB4B5B4F1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 flipH="1" flipV="1">
              <a:off x="7019" y="2433"/>
              <a:ext cx="0" cy="567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直接连接符 62">
              <a:extLst>
                <a:ext uri="{FF2B5EF4-FFF2-40B4-BE49-F238E27FC236}">
                  <a16:creationId xmlns:a16="http://schemas.microsoft.com/office/drawing/2014/main" id="{2F9236DF-F5BC-E63A-6D41-F0B8D2048F8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flipH="1" flipV="1">
              <a:off x="5722" y="2637"/>
              <a:ext cx="0" cy="363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直接连接符 63">
              <a:extLst>
                <a:ext uri="{FF2B5EF4-FFF2-40B4-BE49-F238E27FC236}">
                  <a16:creationId xmlns:a16="http://schemas.microsoft.com/office/drawing/2014/main" id="{57D7DD13-7521-12CA-7E00-01C7700AC511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flipH="1" flipV="1">
              <a:off x="6046" y="2637"/>
              <a:ext cx="0" cy="363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直接连接符 64">
              <a:extLst>
                <a:ext uri="{FF2B5EF4-FFF2-40B4-BE49-F238E27FC236}">
                  <a16:creationId xmlns:a16="http://schemas.microsoft.com/office/drawing/2014/main" id="{57013251-6E65-2D0E-D42A-DDA7C612504A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flipH="1" flipV="1">
              <a:off x="6370" y="2637"/>
              <a:ext cx="0" cy="363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直接连接符 65">
              <a:extLst>
                <a:ext uri="{FF2B5EF4-FFF2-40B4-BE49-F238E27FC236}">
                  <a16:creationId xmlns:a16="http://schemas.microsoft.com/office/drawing/2014/main" id="{979A4A2D-F82A-6DB7-05BB-9353D494F3C5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 flipH="1" flipV="1">
              <a:off x="6695" y="2637"/>
              <a:ext cx="0" cy="363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直接连接符 66">
              <a:extLst>
                <a:ext uri="{FF2B5EF4-FFF2-40B4-BE49-F238E27FC236}">
                  <a16:creationId xmlns:a16="http://schemas.microsoft.com/office/drawing/2014/main" id="{65ADDAE8-1580-7A87-4FE4-2BD286A78054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 flipH="1" flipV="1">
              <a:off x="7343" y="2637"/>
              <a:ext cx="0" cy="363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直接连接符 67">
              <a:extLst>
                <a:ext uri="{FF2B5EF4-FFF2-40B4-BE49-F238E27FC236}">
                  <a16:creationId xmlns:a16="http://schemas.microsoft.com/office/drawing/2014/main" id="{B977DAC6-3D3A-9C75-FE2D-9CD3DCAAF8D3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 flipH="1" flipV="1">
              <a:off x="7667" y="2637"/>
              <a:ext cx="0" cy="363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直接连接符 68">
              <a:extLst>
                <a:ext uri="{FF2B5EF4-FFF2-40B4-BE49-F238E27FC236}">
                  <a16:creationId xmlns:a16="http://schemas.microsoft.com/office/drawing/2014/main" id="{DE5D5DA7-6163-9D6D-9AD0-F5003999D8D5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flipH="1" flipV="1">
              <a:off x="7991" y="2637"/>
              <a:ext cx="0" cy="363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直接连接符 69">
              <a:extLst>
                <a:ext uri="{FF2B5EF4-FFF2-40B4-BE49-F238E27FC236}">
                  <a16:creationId xmlns:a16="http://schemas.microsoft.com/office/drawing/2014/main" id="{637CD61C-8058-70DC-61B9-1D6622703DBF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 flipH="1" flipV="1">
              <a:off x="8315" y="2637"/>
              <a:ext cx="0" cy="363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直接连接符 70">
              <a:extLst>
                <a:ext uri="{FF2B5EF4-FFF2-40B4-BE49-F238E27FC236}">
                  <a16:creationId xmlns:a16="http://schemas.microsoft.com/office/drawing/2014/main" id="{6B847AAA-4A4D-19DE-F956-BCDD472AF943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 flipH="1" flipV="1">
              <a:off x="8640" y="2274"/>
              <a:ext cx="0" cy="726"/>
            </a:xfrm>
            <a:prstGeom prst="line">
              <a:avLst/>
            </a:prstGeom>
            <a:ln w="444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CB4D992-A7A6-F204-6142-548079708F29}"/>
                </a:ext>
              </a:extLst>
            </p:cNvPr>
            <p:cNvGrpSpPr/>
            <p:nvPr>
              <p:custDataLst>
                <p:tags r:id="rId24"/>
              </p:custDataLst>
            </p:nvPr>
          </p:nvGrpSpPr>
          <p:grpSpPr>
            <a:xfrm>
              <a:off x="2160" y="3009"/>
              <a:ext cx="2910" cy="747"/>
              <a:chOff x="2160" y="3009"/>
              <a:chExt cx="2910" cy="747"/>
            </a:xfrm>
          </p:grpSpPr>
          <p:sp>
            <p:nvSpPr>
              <p:cNvPr id="82" name="直接连接符 81">
                <a:extLst>
                  <a:ext uri="{FF2B5EF4-FFF2-40B4-BE49-F238E27FC236}">
                    <a16:creationId xmlns:a16="http://schemas.microsoft.com/office/drawing/2014/main" id="{3AD68CD2-3C94-516F-3CD9-962CC014264D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 flipH="1">
                <a:off x="2160" y="3030"/>
                <a:ext cx="0" cy="726"/>
              </a:xfrm>
              <a:prstGeom prst="line">
                <a:avLst/>
              </a:prstGeom>
              <a:ln w="444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3" name="直接连接符 82">
                <a:extLst>
                  <a:ext uri="{FF2B5EF4-FFF2-40B4-BE49-F238E27FC236}">
                    <a16:creationId xmlns:a16="http://schemas.microsoft.com/office/drawing/2014/main" id="{261E4604-3D5C-055D-BA84-68A0D077F626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 flipH="1">
                <a:off x="3615" y="3030"/>
                <a:ext cx="0" cy="567"/>
              </a:xfrm>
              <a:prstGeom prst="line">
                <a:avLst/>
              </a:prstGeom>
              <a:ln w="444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" name="直接连接符 83">
                <a:extLst>
                  <a:ext uri="{FF2B5EF4-FFF2-40B4-BE49-F238E27FC236}">
                    <a16:creationId xmlns:a16="http://schemas.microsoft.com/office/drawing/2014/main" id="{62508C25-F165-C949-1123-4F4C793C427B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 flipH="1">
                <a:off x="2451" y="3030"/>
                <a:ext cx="0" cy="363"/>
              </a:xfrm>
              <a:prstGeom prst="line">
                <a:avLst/>
              </a:prstGeom>
              <a:ln w="444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5" name="直接连接符 84">
                <a:extLst>
                  <a:ext uri="{FF2B5EF4-FFF2-40B4-BE49-F238E27FC236}">
                    <a16:creationId xmlns:a16="http://schemas.microsoft.com/office/drawing/2014/main" id="{C00915DA-3CC0-8AFB-3720-6F75BA1CB768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 flipH="1">
                <a:off x="2742" y="3030"/>
                <a:ext cx="0" cy="363"/>
              </a:xfrm>
              <a:prstGeom prst="line">
                <a:avLst/>
              </a:prstGeom>
              <a:ln w="444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6" name="直接连接符 85">
                <a:extLst>
                  <a:ext uri="{FF2B5EF4-FFF2-40B4-BE49-F238E27FC236}">
                    <a16:creationId xmlns:a16="http://schemas.microsoft.com/office/drawing/2014/main" id="{A5617C4C-E487-F3F9-BFA1-1635B781055F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 flipH="1">
                <a:off x="3033" y="3030"/>
                <a:ext cx="0" cy="363"/>
              </a:xfrm>
              <a:prstGeom prst="line">
                <a:avLst/>
              </a:prstGeom>
              <a:ln w="444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7" name="直接连接符 86">
                <a:extLst>
                  <a:ext uri="{FF2B5EF4-FFF2-40B4-BE49-F238E27FC236}">
                    <a16:creationId xmlns:a16="http://schemas.microsoft.com/office/drawing/2014/main" id="{FF36960E-DE7B-DD2E-2983-3DE88953F556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 flipH="1">
                <a:off x="3324" y="3030"/>
                <a:ext cx="0" cy="363"/>
              </a:xfrm>
              <a:prstGeom prst="line">
                <a:avLst/>
              </a:prstGeom>
              <a:ln w="444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8" name="直接连接符 87">
                <a:extLst>
                  <a:ext uri="{FF2B5EF4-FFF2-40B4-BE49-F238E27FC236}">
                    <a16:creationId xmlns:a16="http://schemas.microsoft.com/office/drawing/2014/main" id="{19D48D73-32E6-C16B-A18E-1B3F6AE7B251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 flipH="1">
                <a:off x="3906" y="3030"/>
                <a:ext cx="0" cy="363"/>
              </a:xfrm>
              <a:prstGeom prst="line">
                <a:avLst/>
              </a:prstGeom>
              <a:ln w="444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9" name="直接连接符 88">
                <a:extLst>
                  <a:ext uri="{FF2B5EF4-FFF2-40B4-BE49-F238E27FC236}">
                    <a16:creationId xmlns:a16="http://schemas.microsoft.com/office/drawing/2014/main" id="{4D0AB662-22D7-2DE7-9F45-D306B3D33B73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 flipH="1">
                <a:off x="4197" y="3030"/>
                <a:ext cx="0" cy="363"/>
              </a:xfrm>
              <a:prstGeom prst="line">
                <a:avLst/>
              </a:prstGeom>
              <a:ln w="444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0" name="直接连接符 89">
                <a:extLst>
                  <a:ext uri="{FF2B5EF4-FFF2-40B4-BE49-F238E27FC236}">
                    <a16:creationId xmlns:a16="http://schemas.microsoft.com/office/drawing/2014/main" id="{838742B8-5405-0B6B-65A4-C266520761AE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 flipH="1">
                <a:off x="4488" y="3030"/>
                <a:ext cx="0" cy="363"/>
              </a:xfrm>
              <a:prstGeom prst="line">
                <a:avLst/>
              </a:prstGeom>
              <a:ln w="444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" name="直接连接符 90">
                <a:extLst>
                  <a:ext uri="{FF2B5EF4-FFF2-40B4-BE49-F238E27FC236}">
                    <a16:creationId xmlns:a16="http://schemas.microsoft.com/office/drawing/2014/main" id="{E147F1DF-1A20-8993-FD38-E5000E75AFDB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 flipH="1">
                <a:off x="4779" y="3030"/>
                <a:ext cx="0" cy="363"/>
              </a:xfrm>
              <a:prstGeom prst="line">
                <a:avLst/>
              </a:prstGeom>
              <a:ln w="444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" name="直接连接符 91">
                <a:extLst>
                  <a:ext uri="{FF2B5EF4-FFF2-40B4-BE49-F238E27FC236}">
                    <a16:creationId xmlns:a16="http://schemas.microsoft.com/office/drawing/2014/main" id="{E96284FB-F66B-B9EC-BD53-F39626E8F873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 flipH="1">
                <a:off x="5070" y="3009"/>
                <a:ext cx="0" cy="726"/>
              </a:xfrm>
              <a:prstGeom prst="line">
                <a:avLst/>
              </a:prstGeom>
              <a:ln w="444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890414AA-CFEC-641D-EF8A-5FA3F4CE0A37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6660" y="1752"/>
              <a:ext cx="900" cy="468"/>
            </a:xfrm>
            <a:prstGeom prst="rect">
              <a:avLst/>
            </a:prstGeom>
            <a:noFill/>
            <a:ln w="44450">
              <a:noFill/>
            </a:ln>
          </p:spPr>
          <p:txBody>
            <a:bodyPr/>
            <a:lstStyle/>
            <a:p>
              <a:pPr eaLnBrk="0" hangingPunct="0"/>
              <a:r>
                <a:rPr lang="zh-CN" altLang="en-US" sz="2800" b="1">
                  <a:latin typeface="Times New Roman" panose="02020603050405020304" pitchFamily="18" charset="0"/>
                </a:rPr>
                <a:t>主尺</a:t>
              </a: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6A4539DD-7EBB-C4A4-81C4-6DCAA0C6B4A8}"/>
                </a:ext>
              </a:extLst>
            </p:cNvPr>
            <p:cNvSpPr txBox="1"/>
            <p:nvPr>
              <p:custDataLst>
                <p:tags r:id="rId26"/>
              </p:custDataLst>
            </p:nvPr>
          </p:nvSpPr>
          <p:spPr>
            <a:xfrm>
              <a:off x="5145" y="1752"/>
              <a:ext cx="900" cy="468"/>
            </a:xfrm>
            <a:prstGeom prst="rect">
              <a:avLst/>
            </a:prstGeom>
            <a:noFill/>
            <a:ln w="44450">
              <a:noFill/>
            </a:ln>
          </p:spPr>
          <p:txBody>
            <a:bodyPr/>
            <a:lstStyle/>
            <a:p>
              <a:pPr eaLnBrk="0" hangingPunct="0"/>
              <a:r>
                <a:rPr lang="zh-CN" altLang="en-US" sz="2800" b="1">
                  <a:latin typeface="Times New Roman" panose="02020603050405020304" pitchFamily="18" charset="0"/>
                </a:rPr>
                <a:t>１</a:t>
              </a:r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A238AAFB-449B-4802-EFB1-811B8F937D91}"/>
                </a:ext>
              </a:extLst>
            </p:cNvPr>
            <p:cNvSpPr txBox="1"/>
            <p:nvPr>
              <p:custDataLst>
                <p:tags r:id="rId27"/>
              </p:custDataLst>
            </p:nvPr>
          </p:nvSpPr>
          <p:spPr>
            <a:xfrm>
              <a:off x="1905" y="1752"/>
              <a:ext cx="900" cy="468"/>
            </a:xfrm>
            <a:prstGeom prst="rect">
              <a:avLst/>
            </a:prstGeom>
            <a:noFill/>
            <a:ln w="44450">
              <a:noFill/>
            </a:ln>
          </p:spPr>
          <p:txBody>
            <a:bodyPr/>
            <a:lstStyle/>
            <a:p>
              <a:pPr eaLnBrk="0" hangingPunct="0"/>
              <a:r>
                <a:rPr lang="zh-CN" altLang="en-US" sz="2800" b="1">
                  <a:latin typeface="Times New Roman" panose="02020603050405020304" pitchFamily="18" charset="0"/>
                </a:rPr>
                <a:t>０</a:t>
              </a:r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26BE2076-F2A6-1EF1-C3C2-A8A7B1F9F24C}"/>
                </a:ext>
              </a:extLst>
            </p:cNvPr>
            <p:cNvSpPr txBox="1"/>
            <p:nvPr>
              <p:custDataLst>
                <p:tags r:id="rId28"/>
              </p:custDataLst>
            </p:nvPr>
          </p:nvSpPr>
          <p:spPr>
            <a:xfrm>
              <a:off x="1905" y="3780"/>
              <a:ext cx="900" cy="468"/>
            </a:xfrm>
            <a:prstGeom prst="rect">
              <a:avLst/>
            </a:prstGeom>
            <a:noFill/>
            <a:ln w="44450">
              <a:noFill/>
            </a:ln>
          </p:spPr>
          <p:txBody>
            <a:bodyPr/>
            <a:lstStyle/>
            <a:p>
              <a:pPr eaLnBrk="0" hangingPunct="0"/>
              <a:r>
                <a:rPr lang="zh-CN" altLang="en-US" sz="2800" b="1">
                  <a:latin typeface="Times New Roman" panose="02020603050405020304" pitchFamily="18" charset="0"/>
                </a:rPr>
                <a:t>０</a:t>
              </a: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61284851-8717-4BD1-952B-95F9381C03F1}"/>
                </a:ext>
              </a:extLst>
            </p:cNvPr>
            <p:cNvSpPr txBox="1"/>
            <p:nvPr>
              <p:custDataLst>
                <p:tags r:id="rId29"/>
              </p:custDataLst>
            </p:nvPr>
          </p:nvSpPr>
          <p:spPr>
            <a:xfrm>
              <a:off x="4695" y="3780"/>
              <a:ext cx="900" cy="468"/>
            </a:xfrm>
            <a:prstGeom prst="rect">
              <a:avLst/>
            </a:prstGeom>
            <a:noFill/>
            <a:ln w="44450">
              <a:noFill/>
            </a:ln>
          </p:spPr>
          <p:txBody>
            <a:bodyPr/>
            <a:lstStyle/>
            <a:p>
              <a:pPr eaLnBrk="0" hangingPunct="0"/>
              <a:r>
                <a:rPr lang="zh-CN" altLang="en-US" sz="2800" b="1">
                  <a:latin typeface="Times New Roman" panose="02020603050405020304" pitchFamily="18" charset="0"/>
                </a:rPr>
                <a:t>１０</a:t>
              </a: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55CE8B72-4380-F94A-8D5E-5B20FDBD2F17}"/>
                </a:ext>
              </a:extLst>
            </p:cNvPr>
            <p:cNvSpPr txBox="1"/>
            <p:nvPr>
              <p:custDataLst>
                <p:tags r:id="rId30"/>
              </p:custDataLst>
            </p:nvPr>
          </p:nvSpPr>
          <p:spPr>
            <a:xfrm>
              <a:off x="3240" y="3780"/>
              <a:ext cx="1080" cy="468"/>
            </a:xfrm>
            <a:prstGeom prst="rect">
              <a:avLst/>
            </a:prstGeom>
            <a:noFill/>
            <a:ln w="44450">
              <a:noFill/>
            </a:ln>
          </p:spPr>
          <p:txBody>
            <a:bodyPr/>
            <a:lstStyle/>
            <a:p>
              <a:pPr eaLnBrk="0" hangingPunct="0"/>
              <a:r>
                <a:rPr lang="zh-CN" altLang="en-US" sz="2400" b="1">
                  <a:latin typeface="Times New Roman" panose="02020603050405020304" pitchFamily="18" charset="0"/>
                </a:rPr>
                <a:t>游标尺</a:t>
              </a: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AE01B924-4A9E-A7A1-4F89-81559EAEEDF7}"/>
                </a:ext>
              </a:extLst>
            </p:cNvPr>
            <p:cNvSpPr txBox="1"/>
            <p:nvPr>
              <p:custDataLst>
                <p:tags r:id="rId31"/>
              </p:custDataLst>
            </p:nvPr>
          </p:nvSpPr>
          <p:spPr>
            <a:xfrm>
              <a:off x="8400" y="1752"/>
              <a:ext cx="900" cy="468"/>
            </a:xfrm>
            <a:prstGeom prst="rect">
              <a:avLst/>
            </a:prstGeom>
            <a:noFill/>
            <a:ln w="44450">
              <a:noFill/>
            </a:ln>
          </p:spPr>
          <p:txBody>
            <a:bodyPr/>
            <a:lstStyle/>
            <a:p>
              <a:pPr eaLnBrk="0" hangingPunct="0"/>
              <a:r>
                <a:rPr lang="zh-CN" altLang="en-US" sz="2400" b="1">
                  <a:latin typeface="Times New Roman" panose="02020603050405020304" pitchFamily="18" charset="0"/>
                </a:rPr>
                <a:t>２</a:t>
              </a: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BABB145B-385A-ED56-4395-06F21C950AE4}"/>
                </a:ext>
              </a:extLst>
            </p:cNvPr>
            <p:cNvSpPr txBox="1"/>
            <p:nvPr>
              <p:custDataLst>
                <p:tags r:id="rId32"/>
              </p:custDataLst>
            </p:nvPr>
          </p:nvSpPr>
          <p:spPr>
            <a:xfrm>
              <a:off x="9000" y="1752"/>
              <a:ext cx="900" cy="468"/>
            </a:xfrm>
            <a:prstGeom prst="rect">
              <a:avLst/>
            </a:prstGeom>
            <a:noFill/>
            <a:ln w="44450">
              <a:noFill/>
            </a:ln>
          </p:spPr>
          <p:txBody>
            <a:bodyPr/>
            <a:lstStyle/>
            <a:p>
              <a:pPr eaLnBrk="0" hangingPunct="0"/>
              <a:r>
                <a:rPr lang="zh-CN" altLang="en-US" sz="2400" b="1">
                  <a:latin typeface="Times New Roman" panose="02020603050405020304" pitchFamily="18" charset="0"/>
                </a:rPr>
                <a:t>ｃｍ</a:t>
              </a: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CF56B684-67D0-5AC7-A9F5-DA775653227E}"/>
                </a:ext>
              </a:extLst>
            </p:cNvPr>
            <p:cNvSpPr txBox="1"/>
            <p:nvPr>
              <p:custDataLst>
                <p:tags r:id="rId33"/>
              </p:custDataLst>
            </p:nvPr>
          </p:nvSpPr>
          <p:spPr>
            <a:xfrm>
              <a:off x="4680" y="4248"/>
              <a:ext cx="1800" cy="468"/>
            </a:xfrm>
            <a:prstGeom prst="rect">
              <a:avLst/>
            </a:prstGeom>
            <a:noFill/>
            <a:ln w="44450">
              <a:noFill/>
            </a:ln>
          </p:spPr>
          <p:txBody>
            <a:bodyPr/>
            <a:lstStyle/>
            <a:p>
              <a:pPr eaLnBrk="0" hangingPunct="0"/>
              <a:endParaRPr lang="zh-CN" altLang="en-US" sz="1000" b="1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1671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C4D63F-5315-D3F2-019A-086D11ED6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此时游标尺向右移动了多少距离？</a:t>
            </a:r>
            <a:endParaRPr lang="en-US" dirty="0"/>
          </a:p>
        </p:txBody>
      </p:sp>
      <p:pic>
        <p:nvPicPr>
          <p:cNvPr id="49" name="内容占位符 48">
            <a:extLst>
              <a:ext uri="{FF2B5EF4-FFF2-40B4-BE49-F238E27FC236}">
                <a16:creationId xmlns:a16="http://schemas.microsoft.com/office/drawing/2014/main" id="{A46C2676-B5D7-FC05-FE04-7C0FC1CC180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856696"/>
            <a:ext cx="5181600" cy="2289195"/>
          </a:xfrm>
          <a:prstGeom prst="rect">
            <a:avLst/>
          </a:prstGeom>
        </p:spPr>
      </p:pic>
      <p:pic>
        <p:nvPicPr>
          <p:cNvPr id="48" name="内容占位符 47">
            <a:extLst>
              <a:ext uri="{FF2B5EF4-FFF2-40B4-BE49-F238E27FC236}">
                <a16:creationId xmlns:a16="http://schemas.microsoft.com/office/drawing/2014/main" id="{639180A6-0320-D824-AA38-AD153761AA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754740"/>
            <a:ext cx="5181600" cy="249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183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C4D63F-5315-D3F2-019A-086D11ED6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此时游标尺向右移动了多少距离？</a:t>
            </a:r>
            <a:endParaRPr lang="en-US" dirty="0"/>
          </a:p>
        </p:txBody>
      </p:sp>
      <p:pic>
        <p:nvPicPr>
          <p:cNvPr id="49" name="内容占位符 48">
            <a:extLst>
              <a:ext uri="{FF2B5EF4-FFF2-40B4-BE49-F238E27FC236}">
                <a16:creationId xmlns:a16="http://schemas.microsoft.com/office/drawing/2014/main" id="{A46C2676-B5D7-FC05-FE04-7C0FC1CC180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856696"/>
            <a:ext cx="5181600" cy="2289195"/>
          </a:xfrm>
          <a:prstGeom prst="rect">
            <a:avLst/>
          </a:prstGeom>
        </p:spPr>
      </p:pic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5677447-840C-37F2-F024-ADF116D300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754740"/>
            <a:ext cx="5181600" cy="249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802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C4D63F-5315-D3F2-019A-086D11ED6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此时游标尺向右移动了多少距离？</a:t>
            </a:r>
            <a:endParaRPr lang="en-US" dirty="0"/>
          </a:p>
        </p:txBody>
      </p:sp>
      <p:pic>
        <p:nvPicPr>
          <p:cNvPr id="49" name="内容占位符 48">
            <a:extLst>
              <a:ext uri="{FF2B5EF4-FFF2-40B4-BE49-F238E27FC236}">
                <a16:creationId xmlns:a16="http://schemas.microsoft.com/office/drawing/2014/main" id="{A46C2676-B5D7-FC05-FE04-7C0FC1CC180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856696"/>
            <a:ext cx="5181600" cy="2289195"/>
          </a:xfrm>
          <a:prstGeom prst="rect">
            <a:avLst/>
          </a:prstGeom>
        </p:spPr>
      </p:pic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C4791BD-DFA2-F861-E971-6CE8B60B4A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754740"/>
            <a:ext cx="5181600" cy="249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59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967FC-6263-11E7-CC08-AF11E914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读数是多少？</a:t>
            </a:r>
            <a:endParaRPr lang="en-US" dirty="0"/>
          </a:p>
        </p:txBody>
      </p:sp>
      <p:pic>
        <p:nvPicPr>
          <p:cNvPr id="47" name="内容占位符 46">
            <a:extLst>
              <a:ext uri="{FF2B5EF4-FFF2-40B4-BE49-F238E27FC236}">
                <a16:creationId xmlns:a16="http://schemas.microsoft.com/office/drawing/2014/main" id="{02B2F942-312C-0141-9C7A-EEAF61FD3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4001" y="2056501"/>
            <a:ext cx="8083997" cy="388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123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967FC-6263-11E7-CC08-AF11E914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读数是多少？</a:t>
            </a:r>
            <a:endParaRPr lang="en-US" dirty="0"/>
          </a:p>
        </p:txBody>
      </p:sp>
      <p:pic>
        <p:nvPicPr>
          <p:cNvPr id="47" name="内容占位符 46">
            <a:extLst>
              <a:ext uri="{FF2B5EF4-FFF2-40B4-BE49-F238E27FC236}">
                <a16:creationId xmlns:a16="http://schemas.microsoft.com/office/drawing/2014/main" id="{02B2F942-312C-0141-9C7A-EEAF61FD3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54001" y="2056501"/>
            <a:ext cx="8083997" cy="388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866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967FC-6263-11E7-CC08-AF11E914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读数是多少？</a:t>
            </a:r>
            <a:endParaRPr lang="en-US" dirty="0"/>
          </a:p>
        </p:txBody>
      </p:sp>
      <p:pic>
        <p:nvPicPr>
          <p:cNvPr id="47" name="内容占位符 46">
            <a:extLst>
              <a:ext uri="{FF2B5EF4-FFF2-40B4-BE49-F238E27FC236}">
                <a16:creationId xmlns:a16="http://schemas.microsoft.com/office/drawing/2014/main" id="{02B2F942-312C-0141-9C7A-EEAF61FD3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54001" y="2056501"/>
            <a:ext cx="8083997" cy="388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33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967FC-6263-11E7-CC08-AF11E914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读数是多少？</a:t>
            </a:r>
            <a:endParaRPr lang="en-US" dirty="0"/>
          </a:p>
        </p:txBody>
      </p:sp>
      <p:pic>
        <p:nvPicPr>
          <p:cNvPr id="47" name="内容占位符 46">
            <a:extLst>
              <a:ext uri="{FF2B5EF4-FFF2-40B4-BE49-F238E27FC236}">
                <a16:creationId xmlns:a16="http://schemas.microsoft.com/office/drawing/2014/main" id="{02B2F942-312C-0141-9C7A-EEAF61FD3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54001" y="2056501"/>
            <a:ext cx="8083997" cy="388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358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6B9ED29C-E385-09BE-024B-16DA1326EA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650" y="719249"/>
            <a:ext cx="11950700" cy="54195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16047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内容占位符 116">
            <a:extLst>
              <a:ext uri="{FF2B5EF4-FFF2-40B4-BE49-F238E27FC236}">
                <a16:creationId xmlns:a16="http://schemas.microsoft.com/office/drawing/2014/main" id="{A6268CD2-DA4F-CC9D-7C79-D3F11B5E2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650" y="1612527"/>
            <a:ext cx="11950700" cy="36329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96372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2E0A5CAD-ACB6-74B3-5204-9E5CA20629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650" y="686551"/>
            <a:ext cx="11950700" cy="54848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83795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44830" y="2384425"/>
            <a:ext cx="10859135" cy="4108450"/>
          </a:xfrm>
          <a:prstGeom prst="rect">
            <a:avLst/>
          </a:prstGeom>
        </p:spPr>
      </p:pic>
      <p:sp>
        <p:nvSpPr>
          <p:cNvPr id="49" name="Rectangle 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4610" y="1610360"/>
            <a:ext cx="11555095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473710" defTabSz="685800"/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</a:t>
            </a:r>
            <a:r>
              <a:rPr lang="zh-CN" alt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常见的游标卡尺有</a:t>
            </a: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10</a:t>
            </a:r>
            <a:r>
              <a:rPr lang="zh-CN" alt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分度、</a:t>
            </a: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20</a:t>
            </a:r>
            <a:r>
              <a:rPr lang="zh-CN" alt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分度和</a:t>
            </a: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50</a:t>
            </a:r>
            <a:r>
              <a:rPr lang="zh-CN" alt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分度三种</a:t>
            </a:r>
          </a:p>
        </p:txBody>
      </p:sp>
      <p:sp>
        <p:nvSpPr>
          <p:cNvPr id="15" name="TextBox 14">
            <a:hlinkClick r:id="" action="ppaction://noaction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53683" y="605316"/>
            <a:ext cx="36734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3600"/>
              <a:t>帮你总结</a:t>
            </a:r>
          </a:p>
        </p:txBody>
      </p:sp>
      <p:sp>
        <p:nvSpPr>
          <p:cNvPr id="24580" name="TextBox 5"/>
          <p:cNvSpPr txBox="1"/>
          <p:nvPr>
            <p:custDataLst>
              <p:tags r:id="rId4"/>
            </p:custDataLst>
          </p:nvPr>
        </p:nvSpPr>
        <p:spPr>
          <a:xfrm>
            <a:off x="2465705" y="402590"/>
            <a:ext cx="9144000" cy="13220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4000" b="1">
                <a:solidFill>
                  <a:srgbClr val="FF0000"/>
                </a:solidFill>
                <a:latin typeface="Times New Roman" panose="02020603050405020304" pitchFamily="18" charset="0"/>
              </a:rPr>
              <a:t>主尺刻度数</a:t>
            </a:r>
            <a:r>
              <a:rPr lang="en-US" altLang="zh-CN" sz="4000" b="1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sz="4000" b="1">
                <a:solidFill>
                  <a:srgbClr val="FF0000"/>
                </a:solidFill>
                <a:latin typeface="Times New Roman" panose="02020603050405020304" pitchFamily="18" charset="0"/>
              </a:rPr>
              <a:t>游标尺对齐格数</a:t>
            </a:r>
            <a:r>
              <a:rPr lang="en-US" altLang="zh-CN" sz="4000" b="1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×</a:t>
            </a:r>
            <a:r>
              <a:rPr lang="zh-CN" altLang="zh-CN" sz="4000" b="1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精</a:t>
            </a:r>
            <a:r>
              <a:rPr lang="zh-CN" altLang="en-US" sz="4000" b="1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确度</a:t>
            </a:r>
            <a:endParaRPr lang="en-US" altLang="zh-CN" sz="40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endParaRPr lang="zh-CN" altLang="en-US" sz="40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6096000" y="116332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注：不需估读！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67360" y="271780"/>
            <a:ext cx="53606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hangingPunct="0"/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螺旋测微器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sz="2800" b="1" dirty="0"/>
              <a:t>micrometer)</a:t>
            </a:r>
            <a:endParaRPr lang="en-US" sz="2800" dirty="0"/>
          </a:p>
        </p:txBody>
      </p:sp>
      <p:sp>
        <p:nvSpPr>
          <p:cNvPr id="17" name="文本框 1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42975" y="5266690"/>
            <a:ext cx="9049385" cy="1050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hangingPunct="0">
              <a:lnSpc>
                <a:spcPct val="120000"/>
              </a:lnSpc>
            </a:pPr>
            <a:r>
              <a:rPr lang="en-US" altLang="zh-CN" sz="2600">
                <a:latin typeface="Calibri"/>
                <a:ea typeface="微软雅黑" panose="020B0503020204020204" charset="-122"/>
                <a:cs typeface="微软雅黑" panose="020B0503020204020204" charset="-122"/>
                <a:sym typeface="+mn-ea"/>
              </a:rPr>
              <a:t>①.  </a:t>
            </a:r>
            <a:r>
              <a:rPr lang="en-US" altLang="zh-CN" sz="2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</a:t>
            </a:r>
            <a:r>
              <a:rPr lang="zh-CN" altLang="en-US" sz="2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</a:t>
            </a:r>
            <a:r>
              <a:rPr lang="zh-CN" altLang="en-US" sz="2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连在一起。</a:t>
            </a:r>
            <a:endParaRPr lang="en-US" altLang="zh-CN" sz="2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 hangingPunct="0">
              <a:lnSpc>
                <a:spcPct val="120000"/>
              </a:lnSpc>
            </a:pPr>
            <a:r>
              <a:rPr lang="en-US" altLang="zh-CN" sz="2600">
                <a:latin typeface="Calibri"/>
                <a:ea typeface="微软雅黑" panose="020B0503020204020204" charset="-122"/>
                <a:cs typeface="微软雅黑" panose="020B0503020204020204" charset="-122"/>
              </a:rPr>
              <a:t>②.  </a:t>
            </a:r>
            <a:r>
              <a:rPr lang="en-US" altLang="zh-CN" sz="2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r>
              <a:rPr lang="zh-CN" altLang="en-US" sz="2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r>
              <a:rPr lang="zh-CN" altLang="en-US" sz="2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sz="2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600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D′ </a:t>
            </a:r>
            <a:r>
              <a:rPr lang="zh-CN" altLang="en-US" sz="2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连在一起，通过精密的螺纹套在</a:t>
            </a:r>
            <a:r>
              <a:rPr lang="en-US" altLang="zh-CN" sz="2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上。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278890" y="997585"/>
            <a:ext cx="9556750" cy="3786505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 flipH="1">
            <a:off x="10274300" y="102108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2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75205" y="1039495"/>
            <a:ext cx="7115175" cy="293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本框 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3390" y="297180"/>
            <a:ext cx="54444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hangingPunct="0"/>
            <a:r>
              <a:rPr lang="zh-CN" altLang="en-US" sz="280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螺旋测微器的</a:t>
            </a:r>
            <a:r>
              <a:rPr lang="zh-CN" altLang="en-US" sz="280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原理：</a:t>
            </a:r>
          </a:p>
        </p:txBody>
      </p:sp>
      <p:sp>
        <p:nvSpPr>
          <p:cNvPr id="33793" name="内容占位符 10241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666750" y="4255770"/>
            <a:ext cx="10509250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effectLst/>
                <a:latin typeface="微软雅黑" panose="020B0503020204020204" charset="-122"/>
                <a:ea typeface="微软雅黑" panose="020B0503020204020204" charset="-122"/>
              </a:rPr>
              <a:t>螺旋测微器是依据</a:t>
            </a:r>
            <a:r>
              <a:rPr lang="zh-CN" altLang="en-US" sz="240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螺旋放大</a:t>
            </a:r>
            <a:r>
              <a:rPr lang="zh-CN" altLang="en-US" sz="2400">
                <a:effectLst/>
                <a:latin typeface="微软雅黑" panose="020B0503020204020204" charset="-122"/>
                <a:ea typeface="微软雅黑" panose="020B0503020204020204" charset="-122"/>
              </a:rPr>
              <a:t>的原理制成的，即</a:t>
            </a:r>
            <a:r>
              <a:rPr lang="zh-CN" altLang="en-US" sz="240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螺杆</a:t>
            </a:r>
            <a:r>
              <a:rPr lang="zh-CN" altLang="en-US" sz="2400">
                <a:effectLst/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zh-CN" altLang="en-US" sz="240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螺母</a:t>
            </a:r>
            <a:r>
              <a:rPr lang="zh-CN" altLang="en-US" sz="2400">
                <a:effectLst/>
                <a:latin typeface="微软雅黑" panose="020B0503020204020204" charset="-122"/>
                <a:ea typeface="微软雅黑" panose="020B0503020204020204" charset="-122"/>
              </a:rPr>
              <a:t>中旋转一周，螺杆便沿着旋转轴线方向前进或后退一个螺距的距离。因此，沿轴线方向移动的微小距离，就能用圆周上的读数表示出来。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内容占位符 11265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542925" y="605473"/>
            <a:ext cx="11068050" cy="2266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螺旋测微器的精密螺纹的螺距是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0.5mm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，可动刻度有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50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个等分刻度，可动刻度旋转一周，测微螺杆可前进或后退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0.5mm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，因此旋转每个小分度，相当于测微螺杆前进或后退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0.5/50=0.01mm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。可见，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可动刻度每一小分度表示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0.01mm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所以以螺旋测微器可准确到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0.01mm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。由于还能再估读一位，可读到毫米的千分位。</a:t>
            </a: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5711483" y="3631097"/>
            <a:ext cx="3379202" cy="1720516"/>
            <a:chOff x="4338638" y="3276600"/>
            <a:chExt cx="5986462" cy="3352800"/>
          </a:xfrm>
        </p:grpSpPr>
        <p:sp>
          <p:nvSpPr>
            <p:cNvPr id="6" name="Line 2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4497388" y="3505200"/>
              <a:ext cx="17240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7" name="Line 3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 flipH="1">
              <a:off x="6176963" y="3505200"/>
              <a:ext cx="0" cy="2819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8" name="Line 4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 flipH="1">
              <a:off x="4338638" y="6324600"/>
              <a:ext cx="18732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9" name="Line 5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6221413" y="4038600"/>
              <a:ext cx="10985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0" name="Line 6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6221413" y="5867400"/>
              <a:ext cx="10985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1" name="Line 7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6221413" y="4876800"/>
              <a:ext cx="10985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2" name="Line 8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 flipH="1">
              <a:off x="6896100" y="4876800"/>
              <a:ext cx="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3" name="Line 9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H="1">
              <a:off x="7270750" y="4343400"/>
              <a:ext cx="0" cy="5334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4" name="Text Box 10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846435" y="5204311"/>
              <a:ext cx="374650" cy="779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微软雅黑" panose="020B0503020204020204" charset="-122"/>
                </a:rPr>
                <a:t>0</a:t>
              </a:r>
            </a:p>
          </p:txBody>
        </p:sp>
        <p:grpSp>
          <p:nvGrpSpPr>
            <p:cNvPr id="19" name="组合 19472"/>
            <p:cNvGrpSpPr/>
            <p:nvPr>
              <p:custDataLst>
                <p:tags r:id="rId13"/>
              </p:custDataLst>
            </p:nvPr>
          </p:nvGrpSpPr>
          <p:grpSpPr>
            <a:xfrm>
              <a:off x="7277100" y="3276600"/>
              <a:ext cx="3048000" cy="3352800"/>
              <a:chOff x="0" y="0"/>
              <a:chExt cx="1920" cy="2112"/>
            </a:xfrm>
          </p:grpSpPr>
          <p:sp>
            <p:nvSpPr>
              <p:cNvPr id="20" name="Line 18"/>
              <p:cNvSpPr>
                <a:spLocks noChangeShapeType="1"/>
              </p:cNvSpPr>
              <p:nvPr>
                <p:custDataLst>
                  <p:tags r:id="rId32"/>
                </p:custDataLst>
              </p:nvPr>
            </p:nvSpPr>
            <p:spPr bwMode="auto">
              <a:xfrm flipH="1">
                <a:off x="0" y="480"/>
                <a:ext cx="0" cy="115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21" name="Line 19"/>
              <p:cNvSpPr>
                <a:spLocks noChangeShapeType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0" y="1632"/>
                <a:ext cx="336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22" name="Line 20"/>
              <p:cNvSpPr>
                <a:spLocks noChangeShapeType="1"/>
              </p:cNvSpPr>
              <p:nvPr>
                <p:custDataLst>
                  <p:tags r:id="rId34"/>
                </p:custDataLst>
              </p:nvPr>
            </p:nvSpPr>
            <p:spPr bwMode="auto">
              <a:xfrm flipV="1">
                <a:off x="0" y="0"/>
                <a:ext cx="288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23" name="Line 21"/>
              <p:cNvSpPr>
                <a:spLocks noChangeShapeType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288" y="0"/>
                <a:ext cx="14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24" name="Line 22"/>
              <p:cNvSpPr>
                <a:spLocks noChangeShapeType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336" y="2112"/>
                <a:ext cx="15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</p:grpSp>
        <p:grpSp>
          <p:nvGrpSpPr>
            <p:cNvPr id="25" name="组合 19478"/>
            <p:cNvGrpSpPr/>
            <p:nvPr>
              <p:custDataLst>
                <p:tags r:id="rId14"/>
              </p:custDataLst>
            </p:nvPr>
          </p:nvGrpSpPr>
          <p:grpSpPr>
            <a:xfrm>
              <a:off x="7719801" y="3687761"/>
              <a:ext cx="1691473" cy="2263776"/>
              <a:chOff x="-3" y="-125"/>
              <a:chExt cx="350" cy="1426"/>
            </a:xfrm>
          </p:grpSpPr>
          <p:sp>
            <p:nvSpPr>
              <p:cNvPr id="26" name="Text Box 24"/>
              <p:cNvSpPr txBox="1"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11" y="-125"/>
                <a:ext cx="336" cy="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Times New Roman" panose="02020603050405020304" pitchFamily="18" charset="0"/>
                    <a:ea typeface="微软雅黑" panose="020B0503020204020204" charset="-122"/>
                  </a:rPr>
                  <a:t>0</a:t>
                </a:r>
              </a:p>
            </p:txBody>
          </p:sp>
          <p:sp>
            <p:nvSpPr>
              <p:cNvPr id="27" name="Text Box 25"/>
              <p:cNvSpPr txBox="1"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-3" y="369"/>
                <a:ext cx="336" cy="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Times New Roman" panose="02020603050405020304" pitchFamily="18" charset="0"/>
                    <a:ea typeface="微软雅黑" panose="020B0503020204020204" charset="-122"/>
                  </a:rPr>
                  <a:t>50</a:t>
                </a:r>
              </a:p>
            </p:txBody>
          </p:sp>
          <p:sp>
            <p:nvSpPr>
              <p:cNvPr id="28" name="Text Box 26"/>
              <p:cNvSpPr txBox="1"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4" y="810"/>
                <a:ext cx="336" cy="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Times New Roman" panose="02020603050405020304" pitchFamily="18" charset="0"/>
                    <a:ea typeface="微软雅黑" panose="020B0503020204020204" charset="-122"/>
                  </a:rPr>
                  <a:t>45</a:t>
                </a:r>
              </a:p>
            </p:txBody>
          </p:sp>
        </p:grpSp>
        <p:sp>
          <p:nvSpPr>
            <p:cNvPr id="29" name="Line 36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flipH="1">
              <a:off x="7277100" y="4114800"/>
              <a:ext cx="0" cy="1752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0" name="Line 37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7277100" y="4114800"/>
              <a:ext cx="457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1" name="Line 38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7277100" y="4254500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2" name="Line 39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7277100" y="4394200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3" name="Line 40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7277100" y="4533900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4" name="Line 41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7277100" y="4673600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5" name="Line 42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7277100" y="4813300"/>
              <a:ext cx="457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" name="Line 43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7277100" y="4953000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7" name="Line 44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7277100" y="5092700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8" name="Line 45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>
              <a:off x="7277100" y="5232400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" name="Line 46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>
              <a:off x="7277100" y="5372100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0" name="Line 47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>
              <a:off x="7277100" y="5511800"/>
              <a:ext cx="457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1" name="Line 48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7277100" y="5651500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" name="Line 49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7277100" y="5791200"/>
              <a:ext cx="304800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</p:grp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1437005" y="3852545"/>
            <a:ext cx="3092450" cy="21939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 35"/>
          <p:cNvSpPr txBox="1"/>
          <p:nvPr>
            <p:custDataLst>
              <p:tags r:id="rId1"/>
            </p:custDataLst>
          </p:nvPr>
        </p:nvSpPr>
        <p:spPr>
          <a:xfrm>
            <a:off x="759704" y="1115853"/>
            <a:ext cx="2945553" cy="5016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665" b="1">
                <a:latin typeface="Calibri"/>
                <a:ea typeface="宋体" panose="02010600030101010101" pitchFamily="2" charset="-122"/>
              </a:rPr>
              <a:t>①</a:t>
            </a:r>
            <a:r>
              <a:rPr lang="en-US" altLang="zh-CN" sz="2665" b="1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2665" b="1">
                <a:latin typeface="宋体" panose="02010600030101010101" pitchFamily="2" charset="-122"/>
                <a:ea typeface="宋体" panose="02010600030101010101" pitchFamily="2" charset="-122"/>
              </a:rPr>
              <a:t>先读</a:t>
            </a:r>
            <a:r>
              <a:rPr lang="zh-CN" altLang="en-US" sz="2665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固定刻度</a:t>
            </a:r>
            <a:r>
              <a:rPr lang="zh-CN" altLang="en-US" sz="2665" b="1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</p:txBody>
      </p:sp>
      <p:sp>
        <p:nvSpPr>
          <p:cNvPr id="9219" name="文本框 36"/>
          <p:cNvSpPr txBox="1"/>
          <p:nvPr>
            <p:custDataLst>
              <p:tags r:id="rId2"/>
            </p:custDataLst>
          </p:nvPr>
        </p:nvSpPr>
        <p:spPr>
          <a:xfrm>
            <a:off x="768350" y="1778635"/>
            <a:ext cx="6504305" cy="10502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0" fontAlgn="auto">
              <a:lnSpc>
                <a:spcPct val="13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找到固定刻度右边第一根主尺线（注意半刻度线有没有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露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出来）：读得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4.5mm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49182" y="2874488"/>
            <a:ext cx="590804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【如果半刻度线没有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露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出来那就是</a:t>
            </a: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4.0mm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】</a:t>
            </a:r>
          </a:p>
        </p:txBody>
      </p:sp>
      <p:grpSp>
        <p:nvGrpSpPr>
          <p:cNvPr id="14" name="组合 13"/>
          <p:cNvGrpSpPr/>
          <p:nvPr>
            <p:custDataLst>
              <p:tags r:id="rId4"/>
            </p:custDataLst>
          </p:nvPr>
        </p:nvGrpSpPr>
        <p:grpSpPr>
          <a:xfrm>
            <a:off x="751205" y="3701415"/>
            <a:ext cx="9787890" cy="1673860"/>
            <a:chOff x="1183" y="5829"/>
            <a:chExt cx="15414" cy="2636"/>
          </a:xfrm>
        </p:grpSpPr>
        <p:sp>
          <p:nvSpPr>
            <p:cNvPr id="11" name="文本框 10"/>
            <p:cNvSpPr txBox="1"/>
            <p:nvPr>
              <p:custDataLst>
                <p:tags r:id="rId11"/>
              </p:custDataLst>
            </p:nvPr>
          </p:nvSpPr>
          <p:spPr>
            <a:xfrm>
              <a:off x="1201" y="5829"/>
              <a:ext cx="5452" cy="7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en-US" altLang="zh-CN" sz="2665" b="1">
                  <a:latin typeface="Calibri"/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r>
                <a:rPr lang="en-US" altLang="zh-CN" sz="2665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.</a:t>
              </a:r>
              <a:r>
                <a:rPr lang="zh-CN" altLang="en-US" sz="2665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再读</a:t>
              </a:r>
              <a:r>
                <a:rPr lang="zh-CN" altLang="en-US" sz="2665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可动刻度</a:t>
              </a:r>
              <a:r>
                <a:rPr lang="en-US" altLang="zh-CN" sz="2665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:</a:t>
              </a:r>
            </a:p>
          </p:txBody>
        </p:sp>
        <p:sp>
          <p:nvSpPr>
            <p:cNvPr id="33" name="文本框 32"/>
            <p:cNvSpPr txBox="1"/>
            <p:nvPr>
              <p:custDataLst>
                <p:tags r:id="rId12"/>
              </p:custDataLst>
            </p:nvPr>
          </p:nvSpPr>
          <p:spPr>
            <a:xfrm>
              <a:off x="1183" y="6685"/>
              <a:ext cx="15414" cy="10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zh-CN" sz="24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找到轴线与可动刻度对齐的地方，读数从下面起且要往后</a:t>
              </a:r>
              <a:r>
                <a:rPr lang="zh-CN" altLang="zh-CN" sz="2400" b="1">
                  <a:solidFill>
                    <a:srgbClr val="FF0000"/>
                  </a:solidFill>
                  <a:highlight>
                    <a:srgbClr val="FFFF00"/>
                  </a:highlight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估读</a:t>
              </a:r>
              <a:r>
                <a:rPr lang="zh-CN" altLang="zh-CN" sz="24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一位</a:t>
              </a:r>
              <a:r>
                <a:rPr lang="zh-CN" altLang="en-US" sz="24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。</a:t>
              </a:r>
            </a:p>
          </p:txBody>
        </p:sp>
        <p:sp>
          <p:nvSpPr>
            <p:cNvPr id="9" name="文本框 8"/>
            <p:cNvSpPr txBox="1"/>
            <p:nvPr>
              <p:custDataLst>
                <p:tags r:id="rId13"/>
              </p:custDataLst>
            </p:nvPr>
          </p:nvSpPr>
          <p:spPr>
            <a:xfrm>
              <a:off x="1195" y="7675"/>
              <a:ext cx="12272" cy="7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665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读得</a:t>
              </a:r>
              <a:r>
                <a:rPr lang="en-US" altLang="zh-CN" sz="2665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9.2   </a:t>
              </a:r>
              <a:r>
                <a:rPr lang="zh-CN" altLang="en-US" sz="2665" b="1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对应的数值为：</a:t>
              </a:r>
              <a:r>
                <a:rPr lang="en-US" altLang="zh-CN" sz="2665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9.2×0.01mm=0.092mm</a:t>
              </a:r>
              <a:endParaRPr lang="en-US" altLang="zh-CN" sz="2665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29698" name="文本框 1"/>
          <p:cNvSpPr txBox="1"/>
          <p:nvPr>
            <p:custDataLst>
              <p:tags r:id="rId5"/>
            </p:custDataLst>
          </p:nvPr>
        </p:nvSpPr>
        <p:spPr>
          <a:xfrm>
            <a:off x="758825" y="5540375"/>
            <a:ext cx="10563225" cy="5016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665" b="1">
                <a:latin typeface="Calibri"/>
                <a:ea typeface="宋体" panose="02010600030101010101" pitchFamily="2" charset="-122"/>
              </a:rPr>
              <a:t>③</a:t>
            </a:r>
            <a:r>
              <a:rPr lang="en-US" altLang="zh-CN" sz="2665" b="1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2665" b="1">
                <a:latin typeface="宋体" panose="02010600030101010101" pitchFamily="2" charset="-122"/>
                <a:ea typeface="宋体" panose="02010600030101010101" pitchFamily="2" charset="-122"/>
              </a:rPr>
              <a:t>把</a:t>
            </a:r>
            <a:r>
              <a:rPr lang="zh-CN" altLang="en-US" sz="2665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固定刻度</a:t>
            </a:r>
            <a:r>
              <a:rPr lang="zh-CN" altLang="en-US" sz="2665" b="1">
                <a:latin typeface="宋体" panose="02010600030101010101" pitchFamily="2" charset="-122"/>
                <a:ea typeface="宋体" panose="02010600030101010101" pitchFamily="2" charset="-122"/>
              </a:rPr>
              <a:t>读数与可动刻度读数相加：</a:t>
            </a:r>
            <a:r>
              <a:rPr lang="en-US" altLang="zh-CN" sz="2665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4.5mm+0.092mm=4.592mm</a:t>
            </a:r>
            <a:endParaRPr lang="zh-CN" altLang="en-US" sz="2665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6"/>
            </p:custDataLst>
          </p:nvPr>
        </p:nvSpPr>
        <p:spPr>
          <a:xfrm>
            <a:off x="574675" y="393065"/>
            <a:ext cx="4540250" cy="52197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2400" b="1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2800" b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螺旋测微器的</a:t>
            </a:r>
            <a:r>
              <a:rPr lang="zh-CN" altLang="en-US" sz="28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读数</a:t>
            </a: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7313930" y="809625"/>
            <a:ext cx="3966845" cy="2769870"/>
          </a:xfrm>
          <a:prstGeom prst="rect">
            <a:avLst/>
          </a:prstGeom>
        </p:spPr>
      </p:pic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892810" y="1584960"/>
            <a:ext cx="9959975" cy="4249420"/>
            <a:chOff x="729" y="2375"/>
            <a:chExt cx="15685" cy="6692"/>
          </a:xfrm>
        </p:grpSpPr>
        <p:sp>
          <p:nvSpPr>
            <p:cNvPr id="16" name="折角形 15"/>
            <p:cNvSpPr/>
            <p:nvPr>
              <p:custDataLst>
                <p:tags r:id="rId9"/>
              </p:custDataLst>
            </p:nvPr>
          </p:nvSpPr>
          <p:spPr>
            <a:xfrm>
              <a:off x="729" y="2375"/>
              <a:ext cx="15685" cy="6692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 descr="图片5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2758" y="4156"/>
              <a:ext cx="10810" cy="3811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图片 5529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rcRect r="53152"/>
          <a:stretch>
            <a:fillRect/>
          </a:stretch>
        </p:blipFill>
        <p:spPr>
          <a:xfrm>
            <a:off x="3630930" y="1611630"/>
            <a:ext cx="5330190" cy="28594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2371090" y="5015230"/>
            <a:ext cx="740092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/>
              <a:t>1.5mm+28.3×0.01mm=1.783mm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679948" y="378874"/>
            <a:ext cx="1829241" cy="58356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2400" b="1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3200"/>
              <a:t>读数练习</a:t>
            </a:r>
            <a:endParaRPr lang="en-US" altLang="zh-CN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内容占位符 57345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1986915" y="4926330"/>
            <a:ext cx="7426960" cy="734060"/>
          </a:xfrm>
        </p:spPr>
        <p:txBody>
          <a:bodyPr anchor="t">
            <a:normAutofit/>
          </a:bodyPr>
          <a:lstStyle/>
          <a:p>
            <a:pPr algn="ctr">
              <a:buNone/>
            </a:pPr>
            <a:r>
              <a:rPr lang="en-US" altLang="zh-CN" sz="3200"/>
              <a:t>5.0mm+3.2×0.01mm=5.034mm</a:t>
            </a:r>
          </a:p>
        </p:txBody>
      </p:sp>
      <p:pic>
        <p:nvPicPr>
          <p:cNvPr id="44034" name="图片 5734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rcRect r="39166"/>
          <a:stretch>
            <a:fillRect/>
          </a:stretch>
        </p:blipFill>
        <p:spPr>
          <a:xfrm>
            <a:off x="2948305" y="1539875"/>
            <a:ext cx="5881370" cy="30518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679948" y="378874"/>
            <a:ext cx="1829241" cy="58356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2400" b="1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3200"/>
              <a:t>读数练习</a:t>
            </a:r>
            <a:endParaRPr lang="en-US" altLang="zh-CN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rcRect t="14679" r="2815" b="12623"/>
          <a:stretch>
            <a:fillRect/>
          </a:stretch>
        </p:blipFill>
        <p:spPr>
          <a:xfrm>
            <a:off x="2912110" y="1769110"/>
            <a:ext cx="5953760" cy="27451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sp>
        <p:nvSpPr>
          <p:cNvPr id="41987" name="TextBox 6"/>
          <p:cNvSpPr/>
          <p:nvPr>
            <p:custDataLst>
              <p:tags r:id="rId2"/>
            </p:custDataLst>
          </p:nvPr>
        </p:nvSpPr>
        <p:spPr>
          <a:xfrm>
            <a:off x="3121123" y="4874230"/>
            <a:ext cx="497713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8.5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mm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+0.203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mm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=8.703 mm</a:t>
            </a: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679948" y="378874"/>
            <a:ext cx="1829241" cy="58356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2400" b="1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3200"/>
              <a:t>读数练习</a:t>
            </a:r>
            <a:endParaRPr lang="en-US" altLang="zh-CN" sz="32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Box 6"/>
          <p:cNvSpPr/>
          <p:nvPr>
            <p:custDataLst>
              <p:tags r:id="rId1"/>
            </p:custDataLst>
          </p:nvPr>
        </p:nvSpPr>
        <p:spPr>
          <a:xfrm>
            <a:off x="2298231" y="4889341"/>
            <a:ext cx="6327789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4.0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mm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+0.088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mm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=4.088 mm</a:t>
            </a:r>
          </a:p>
        </p:txBody>
      </p:sp>
      <p:pic>
        <p:nvPicPr>
          <p:cNvPr id="44035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rcRect l="7546" t="14184" r="2503" b="14400"/>
          <a:stretch>
            <a:fillRect/>
          </a:stretch>
        </p:blipFill>
        <p:spPr>
          <a:xfrm>
            <a:off x="2610485" y="2017395"/>
            <a:ext cx="5865495" cy="248475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679948" y="378874"/>
            <a:ext cx="1829241" cy="58356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2400" b="1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3200"/>
              <a:t>读数练习</a:t>
            </a:r>
            <a:endParaRPr lang="en-US" altLang="zh-CN" sz="32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0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0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0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0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1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8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9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9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9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9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9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9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9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9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9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9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0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0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0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0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0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0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0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0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0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0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1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1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2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2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2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27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2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2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3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3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3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1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1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1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1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17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19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2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2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2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2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66"/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1"/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7"/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998"/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999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7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7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76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7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0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5"/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9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8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3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5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7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9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6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6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7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8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9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3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7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8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9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3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5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48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49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5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8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96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83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84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85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86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9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93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9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5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5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55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56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1"/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55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56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1"/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57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58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1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8B9FEED-8146-4839-8053-D9880E4F147B}" vid="{01A7EF7B-974A-4C72-8CCA-666A79B3FFE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Stand Chinese</Template>
  <TotalTime>283</TotalTime>
  <Words>555</Words>
  <Application>Microsoft Macintosh PowerPoint</Application>
  <PresentationFormat>Widescreen</PresentationFormat>
  <Paragraphs>53</Paragraphs>
  <Slides>24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楷体</vt:lpstr>
      <vt:lpstr>隶书</vt:lpstr>
      <vt:lpstr>微软雅黑</vt:lpstr>
      <vt:lpstr>宋体</vt:lpstr>
      <vt:lpstr>Aptos</vt:lpstr>
      <vt:lpstr>Arial</vt:lpstr>
      <vt:lpstr>Calibri</vt:lpstr>
      <vt:lpstr>Times New Roman</vt:lpstr>
      <vt:lpstr>Office 主题​​</vt:lpstr>
      <vt:lpstr>长度的测量及测量工具的选用</vt:lpstr>
      <vt:lpstr>https://www.bilibili.com/video/BV1tT4y1A7AW/?spm_id_from=333.337.search-card.all.click </vt:lpstr>
      <vt:lpstr>PowerPoint Presentation</vt:lpstr>
      <vt:lpstr>游标卡尺</vt:lpstr>
      <vt:lpstr>主尺每小格１ｍｍ，游标尺10小格９ｍｍ，每小格０.９ｍｍ</vt:lpstr>
      <vt:lpstr>此时游标尺向右移动了多少距离？</vt:lpstr>
      <vt:lpstr>此时游标尺向右移动了多少距离？</vt:lpstr>
      <vt:lpstr>此时游标尺向右移动了多少距离？</vt:lpstr>
      <vt:lpstr>读数是多少？</vt:lpstr>
      <vt:lpstr>读数是多少？</vt:lpstr>
      <vt:lpstr>读数是多少？</vt:lpstr>
      <vt:lpstr>读数是多少？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</dc:creator>
  <cp:lastModifiedBy>Xingyu Shu</cp:lastModifiedBy>
  <cp:revision>4</cp:revision>
  <dcterms:created xsi:type="dcterms:W3CDTF">2024-08-26T02:33:30Z</dcterms:created>
  <dcterms:modified xsi:type="dcterms:W3CDTF">2026-05-27T06:42:49Z</dcterms:modified>
</cp:coreProperties>
</file>