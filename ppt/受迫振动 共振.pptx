
<file path=[Content_Types].xml><?xml version="1.0" encoding="utf-8"?>
<Types xmlns="http://schemas.openxmlformats.org/package/2006/content-types">
  <Default Extension="bin" ContentType="image/png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107" r:id="rId5"/>
    <p:sldId id="261" r:id="rId6"/>
    <p:sldId id="262" r:id="rId7"/>
    <p:sldId id="2047" r:id="rId8"/>
    <p:sldId id="2048" r:id="rId9"/>
    <p:sldId id="2049" r:id="rId10"/>
    <p:sldId id="2050" r:id="rId11"/>
    <p:sldId id="2051" r:id="rId12"/>
    <p:sldId id="2052" r:id="rId13"/>
    <p:sldId id="2100" r:id="rId14"/>
    <p:sldId id="2106" r:id="rId15"/>
    <p:sldId id="2101" r:id="rId16"/>
    <p:sldId id="2102" r:id="rId17"/>
    <p:sldId id="2103" r:id="rId18"/>
    <p:sldId id="2104" r:id="rId19"/>
    <p:sldId id="353" r:id="rId20"/>
    <p:sldId id="355" r:id="rId21"/>
    <p:sldId id="35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5712"/>
  </p:normalViewPr>
  <p:slideViewPr>
    <p:cSldViewPr snapToGrid="0">
      <p:cViewPr varScale="1">
        <p:scale>
          <a:sx n="120" d="100"/>
          <a:sy n="120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20D54-C7A4-F62C-CC22-B293E070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589F1-7D74-4430-FB9E-40E1F442B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2771C-A8D5-5948-1E5C-1736747C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DC015-CD30-C731-1C93-A1325969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0D019-59E6-17D0-F066-F6DA9B4E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04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1" r:id="rId5"/>
    <p:sldLayoutId id="2147483652" r:id="rId6"/>
    <p:sldLayoutId id="2147483653" r:id="rId7"/>
    <p:sldLayoutId id="2147483655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gif"/><Relationship Id="rId4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4.gif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0.gi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9.gif"/><Relationship Id="rId5" Type="http://schemas.openxmlformats.org/officeDocument/2006/relationships/tags" Target="../tags/tag13.xml"/><Relationship Id="rId10" Type="http://schemas.openxmlformats.org/officeDocument/2006/relationships/image" Target="../media/image8.gif"/><Relationship Id="rId4" Type="http://schemas.openxmlformats.org/officeDocument/2006/relationships/tags" Target="../tags/tag12.xml"/><Relationship Id="rId9" Type="http://schemas.openxmlformats.org/officeDocument/2006/relationships/image" Target="../media/image7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3.jpeg"/><Relationship Id="rId4" Type="http://schemas.openxmlformats.org/officeDocument/2006/relationships/image" Target="../media/image1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5.png"/><Relationship Id="rId4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17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slideLayout" Target="../slideLayouts/slideLayout8.xml"/><Relationship Id="rId2" Type="http://schemas.openxmlformats.org/officeDocument/2006/relationships/tags" Target="../tags/tag22.xml"/><Relationship Id="rId16" Type="http://schemas.openxmlformats.org/officeDocument/2006/relationships/image" Target="../media/image20.gif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image" Target="../media/image19.jpeg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4.gif"/><Relationship Id="rId5" Type="http://schemas.openxmlformats.org/officeDocument/2006/relationships/image" Target="../media/image23.jpeg"/><Relationship Id="rId4" Type="http://schemas.openxmlformats.org/officeDocument/2006/relationships/hyperlink" Target="T790611A.wmv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bin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472B8-8E94-E786-49B1-FC5718758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受迫振动 共振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B86E0-15A8-1812-F169-312545138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3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9C6A8-F28B-FB25-8CCC-3B8DD9476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简谐振动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CC9176C-46FA-7AB5-ED63-5A9AB38A2D00}"/>
              </a:ext>
            </a:extLst>
          </p:cNvPr>
          <p:cNvPicPr>
            <a:picLocks noGrp="1"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3586" r="18093"/>
          <a:stretch>
            <a:fillRect/>
          </a:stretch>
        </p:blipFill>
        <p:spPr>
          <a:xfrm>
            <a:off x="838200" y="2999337"/>
            <a:ext cx="5181600" cy="2003914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FA5EFEA-8513-D0B4-31C4-AE76813AB512}"/>
              </a:ext>
            </a:extLst>
          </p:cNvPr>
          <p:cNvPicPr>
            <a:picLocks noGrp="1" noChangeAspect="1" noChangeArrowheads="1"/>
          </p:cNvPicPr>
          <p:nvPr>
            <p:ph sz="half" idx="2"/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 bwMode="auto">
          <a:xfrm>
            <a:off x="7577137" y="2529681"/>
            <a:ext cx="237172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00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D9FCDA-7AE3-C11B-AA2D-55669440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将一根一端缠绕铁丝的筷子放在水里，向下垂直按压，筷子将做什么运动？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11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EC4255-A840-28E6-5CE8-2A97E3BD2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966" y="522288"/>
            <a:ext cx="4360068" cy="58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0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20A46-38FD-F099-1BC4-7C607333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阻尼振动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FB0A53-BA19-CB84-75E8-5BEC11F6C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7EB71D6-D483-54AD-AD9A-AFA34096998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782916" y="2757964"/>
            <a:ext cx="4716780" cy="2486660"/>
            <a:chOff x="5777" y="1484"/>
            <a:chExt cx="7428" cy="391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7029976-60CD-6A93-DEC3-498CBC4A1E41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5777" y="1484"/>
              <a:ext cx="7325" cy="3875"/>
              <a:chOff x="7326" y="1443"/>
              <a:chExt cx="7325" cy="3875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8EEE4F71-943D-5D76-4A01-44B475E32A37}"/>
                  </a:ext>
                </a:extLst>
              </p:cNvPr>
              <p:cNvPicPr/>
              <p:nvPr>
                <p:custDataLst>
                  <p:tags r:id="rId4"/>
                </p:custDataLst>
              </p:nvPr>
            </p:nvPicPr>
            <p:blipFill>
              <a:blip r:embed="rId7"/>
              <a:stretch>
                <a:fillRect/>
              </a:stretch>
            </p:blipFill>
            <p:spPr>
              <a:xfrm>
                <a:off x="7962" y="1484"/>
                <a:ext cx="6689" cy="383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0E59D26-B7E4-6848-D856-80CAB4C481F6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326" y="1443"/>
                <a:ext cx="4472" cy="38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1EDCB51-D895-B2F8-649E-A11194E7357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1967" y="1525"/>
              <a:ext cx="1238" cy="3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502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实验视频：阻尼振动图像">
            <a:hlinkClick r:id="" action="ppaction://media"/>
            <a:extLst>
              <a:ext uri="{FF2B5EF4-FFF2-40B4-BE49-F238E27FC236}">
                <a16:creationId xmlns:a16="http://schemas.microsoft.com/office/drawing/2014/main" id="{6575E80D-D861-5C43-F2F8-A86808E303A4}"/>
              </a:ext>
            </a:extLst>
          </p:cNvPr>
          <p:cNvPicPr>
            <a:picLocks noGrp="1"/>
          </p:cNvPicPr>
          <p:nvPr>
            <p:ph idx="1"/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16944" y="522288"/>
            <a:ext cx="7558111" cy="58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2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26745" y="977265"/>
            <a:ext cx="4733290" cy="28930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84835" y="4034790"/>
            <a:ext cx="4817745" cy="272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934075" y="4034790"/>
            <a:ext cx="5112385" cy="272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918835" y="972185"/>
            <a:ext cx="5127625" cy="279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0" name="图片 99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918835" y="4034790"/>
            <a:ext cx="5197475" cy="27222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ECBFA848-2F73-43D3-AA3F-CBA4FEE5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生活中的实际的振动一定有空气阻力，故是</a:t>
            </a:r>
            <a:r>
              <a:rPr lang="zh-CN" altLang="en-US" sz="4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阻尼振动</a:t>
            </a:r>
            <a:br>
              <a:rPr lang="zh-CN" altLang="en-US" sz="4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</a:b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4BC32-9487-3512-9DFE-54EC8D85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这是什么振动，周期与什么有关？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DE1D5D1-5923-0A6B-886B-92DD0E6A8C22}"/>
              </a:ext>
            </a:extLst>
          </p:cNvPr>
          <p:cNvPicPr>
            <a:picLocks noGrp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62312" y="2405856"/>
            <a:ext cx="5667375" cy="319087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37721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E3C0B-1647-B12B-D68B-39CA96B9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受迫振动的周期与什么有关？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DE16290-C906-0E66-1630-170471286F42}"/>
              </a:ext>
            </a:extLst>
          </p:cNvPr>
          <p:cNvPicPr>
            <a:picLocks noGrp="1"/>
          </p:cNvPicPr>
          <p:nvPr>
            <p:ph sz="half" idx="1"/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8200" y="2555060"/>
            <a:ext cx="5181600" cy="289246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19" descr="1117422130">
            <a:extLst>
              <a:ext uri="{FF2B5EF4-FFF2-40B4-BE49-F238E27FC236}">
                <a16:creationId xmlns:a16="http://schemas.microsoft.com/office/drawing/2014/main" id="{A8A73297-5399-E073-F52E-9778DB02C76D}"/>
              </a:ext>
            </a:extLst>
          </p:cNvPr>
          <p:cNvPicPr>
            <a:picLocks noGrp="1"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858000" y="2758281"/>
            <a:ext cx="3810000" cy="24860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04612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实验视频：受迫振动">
            <a:hlinkClick r:id="" action="ppaction://media"/>
            <a:extLst>
              <a:ext uri="{FF2B5EF4-FFF2-40B4-BE49-F238E27FC236}">
                <a16:creationId xmlns:a16="http://schemas.microsoft.com/office/drawing/2014/main" id="{5AC3716B-B715-8ED2-A35E-9B65999D0329}"/>
              </a:ext>
            </a:extLst>
          </p:cNvPr>
          <p:cNvPicPr>
            <a:picLocks noGrp="1"/>
          </p:cNvPicPr>
          <p:nvPr>
            <p:ph idx="1"/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5932" y="522288"/>
            <a:ext cx="8720136" cy="58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0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实验视频：摆的共振">
            <a:hlinkClick r:id="" action="ppaction://media"/>
            <a:extLst>
              <a:ext uri="{FF2B5EF4-FFF2-40B4-BE49-F238E27FC236}">
                <a16:creationId xmlns:a16="http://schemas.microsoft.com/office/drawing/2014/main" id="{C7013DCB-8081-A84B-B7F1-F0AA9E89FA1B}"/>
              </a:ext>
            </a:extLst>
          </p:cNvPr>
          <p:cNvPicPr>
            <a:picLocks noGrp="1"/>
          </p:cNvPicPr>
          <p:nvPr>
            <p:ph idx="1"/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20383" y="522288"/>
            <a:ext cx="7751234" cy="58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7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86CFA-034A-8790-D939-63CDF64A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共振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A96933B-C8C9-3266-9536-494EC1CAD7AE}"/>
              </a:ext>
            </a:extLst>
          </p:cNvPr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00550" y="2262981"/>
            <a:ext cx="3390900" cy="3476625"/>
          </a:xfrm>
          <a:prstGeom prst="cube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74985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2150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1770" y="603885"/>
            <a:ext cx="2983230" cy="31153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7" name="图片 2150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241925" y="414020"/>
            <a:ext cx="1847850" cy="27432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1508" name="组合 21507"/>
          <p:cNvGrpSpPr/>
          <p:nvPr>
            <p:custDataLst>
              <p:tags r:id="rId3"/>
            </p:custDataLst>
          </p:nvPr>
        </p:nvGrpSpPr>
        <p:grpSpPr>
          <a:xfrm>
            <a:off x="3573463" y="3379787"/>
            <a:ext cx="3727450" cy="1450976"/>
            <a:chOff x="-117" y="-239"/>
            <a:chExt cx="2348" cy="914"/>
          </a:xfrm>
        </p:grpSpPr>
        <p:sp>
          <p:nvSpPr>
            <p:cNvPr id="2" name="直接连接符 21508"/>
            <p:cNvSpPr/>
            <p:nvPr>
              <p:custDataLst>
                <p:tags r:id="rId9"/>
              </p:custDataLst>
            </p:nvPr>
          </p:nvSpPr>
          <p:spPr>
            <a:xfrm flipH="1" flipV="1">
              <a:off x="-117" y="-179"/>
              <a:ext cx="1396" cy="5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09" name="直接连接符 21509"/>
            <p:cNvSpPr/>
            <p:nvPr>
              <p:custDataLst>
                <p:tags r:id="rId10"/>
              </p:custDataLst>
            </p:nvPr>
          </p:nvSpPr>
          <p:spPr>
            <a:xfrm flipH="1" flipV="1">
              <a:off x="1565" y="-239"/>
              <a:ext cx="8" cy="5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10" name="文本框 21510"/>
            <p:cNvSpPr txBox="1"/>
            <p:nvPr>
              <p:custDataLst>
                <p:tags r:id="rId11"/>
              </p:custDataLst>
            </p:nvPr>
          </p:nvSpPr>
          <p:spPr>
            <a:xfrm>
              <a:off x="977" y="346"/>
              <a:ext cx="125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CC6600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共鸣箱</a:t>
              </a:r>
            </a:p>
          </p:txBody>
        </p:sp>
      </p:grp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731591" y="548419"/>
            <a:ext cx="2928958" cy="2196719"/>
          </a:xfrm>
          <a:prstGeom prst="roundRect">
            <a:avLst>
              <a:gd name="adj" fmla="val 837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直接连接符 21509"/>
          <p:cNvSpPr/>
          <p:nvPr>
            <p:custDataLst>
              <p:tags r:id="rId5"/>
            </p:custDataLst>
          </p:nvPr>
        </p:nvSpPr>
        <p:spPr>
          <a:xfrm flipV="1">
            <a:off x="6711315" y="2258060"/>
            <a:ext cx="1504950" cy="192341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22250" y="3930650"/>
            <a:ext cx="4333240" cy="243078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056245" y="3107055"/>
            <a:ext cx="3545205" cy="1568450"/>
          </a:xfrm>
          <a:prstGeom prst="rect">
            <a:avLst/>
          </a:pr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</a:rPr>
              <a:t>几乎所有乐器都利用了共振达到放大某一频率，同时抑制其他频率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声音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</a:rPr>
              <a:t>的目的。</a:t>
            </a:r>
          </a:p>
        </p:txBody>
      </p:sp>
      <p:sp>
        <p:nvSpPr>
          <p:cNvPr id="4" name="圆角矩形 3"/>
          <p:cNvSpPr/>
          <p:nvPr>
            <p:custDataLst>
              <p:tags r:id="rId8"/>
            </p:custDataLst>
          </p:nvPr>
        </p:nvSpPr>
        <p:spPr>
          <a:xfrm>
            <a:off x="4638040" y="5120005"/>
            <a:ext cx="7106285" cy="1241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/>
              <a:t>原子和分子的共振能够制造各种光源（如日光灯、激光），也能制造电子表、原子钟等。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9a19ccdfeabdc80a85c041e6f301345c_15626207777206951916">
            <a:hlinkClick r:id="" action="ppaction://media"/>
            <a:extLst>
              <a:ext uri="{FF2B5EF4-FFF2-40B4-BE49-F238E27FC236}">
                <a16:creationId xmlns:a16="http://schemas.microsoft.com/office/drawing/2014/main" id="{81C84B03-D234-3463-E3D7-E4A57E338B7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16200000">
            <a:off x="4448175" y="522288"/>
            <a:ext cx="3294063" cy="5813425"/>
          </a:xfrm>
        </p:spPr>
      </p:pic>
    </p:spTree>
    <p:extLst>
      <p:ext uri="{BB962C8B-B14F-4D97-AF65-F5344CB8AC3E}">
        <p14:creationId xmlns:p14="http://schemas.microsoft.com/office/powerpoint/2010/main" val="11997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82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53E2A-F89A-C837-8B92-094F570F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微波炉加热原理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F90A85-2D46-37F5-A4FD-E4521E0DE2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食物中水分子的振动频率约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2500MHz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。微波炉加热食品时，炉内产生大致相同频率的电磁波，也称为 “微波”。使食物中的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水分子做受迫振动，发生共振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，将电磁辐射能转化为内能，从而使食物的温度迅速升高。微波加热是对物体内部的整体加热，极大地提高了加热效率。 </a:t>
            </a:r>
          </a:p>
        </p:txBody>
      </p:sp>
      <p:pic>
        <p:nvPicPr>
          <p:cNvPr id="1026" name="Picture 2" descr="实力科普：勺子放入微波炉加热为啥产生火花？|微波炉|勺子|加热_新浪科技_新浪网">
            <a:extLst>
              <a:ext uri="{FF2B5EF4-FFF2-40B4-BE49-F238E27FC236}">
                <a16:creationId xmlns:a16="http://schemas.microsoft.com/office/drawing/2014/main" id="{432B8C2A-5A98-3C39-BFCA-3EC9DCB9248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137" y="2324894"/>
            <a:ext cx="4657725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876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DB0B8-58F3-3169-68C9-44233352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1940</a:t>
            </a:r>
            <a:r>
              <a:rPr lang="zh-CN" altLang="en-US" dirty="0"/>
              <a:t>年，全长</a:t>
            </a:r>
            <a:r>
              <a:rPr lang="en-US" altLang="zh-CN" dirty="0"/>
              <a:t>860</a:t>
            </a:r>
            <a:r>
              <a:rPr lang="zh-CN" altLang="en-US" dirty="0"/>
              <a:t>米的塔柯姆大桥在建成后的</a:t>
            </a:r>
            <a:r>
              <a:rPr lang="en-US" altLang="zh-CN" dirty="0"/>
              <a:t>4</a:t>
            </a:r>
            <a:r>
              <a:rPr lang="zh-CN" altLang="en-US" dirty="0"/>
              <a:t>个月就因风共振而倒塌。 </a:t>
            </a:r>
            <a:endParaRPr lang="en-US" dirty="0"/>
          </a:p>
        </p:txBody>
      </p:sp>
      <p:pic>
        <p:nvPicPr>
          <p:cNvPr id="6" name="Picture 2">
            <a:hlinkClick r:id="rId4" action="ppaction://hlinkfile"/>
            <a:extLst>
              <a:ext uri="{FF2B5EF4-FFF2-40B4-BE49-F238E27FC236}">
                <a16:creationId xmlns:a16="http://schemas.microsoft.com/office/drawing/2014/main" id="{6247CE85-8CDB-4F6E-96E3-EED7CDFA7C91}"/>
              </a:ext>
            </a:extLst>
          </p:cNvPr>
          <p:cNvPicPr>
            <a:picLocks noGrp="1" noChangeAspect="1" noChangeArrowheads="1"/>
          </p:cNvPicPr>
          <p:nvPr>
            <p:ph sz="half" idx="1"/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6300" y="2896394"/>
            <a:ext cx="2565400" cy="2209800"/>
          </a:xfrm>
          <a:prstGeom prst="cub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D992582-F924-C831-156A-CED5A0B1795F}"/>
              </a:ext>
            </a:extLst>
          </p:cNvPr>
          <p:cNvPicPr>
            <a:picLocks noGrp="1"/>
          </p:cNvPicPr>
          <p:nvPr>
            <p:ph sz="half" idx="2"/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15250" y="3139281"/>
            <a:ext cx="2095500" cy="17240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89864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963A5-D76E-15AD-086B-C8305297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1831</a:t>
            </a:r>
            <a:r>
              <a:rPr lang="zh-CN" altLang="en-US" dirty="0"/>
              <a:t>年，一队骑兵通过一座石桥时，由于马蹄节奏整齐，桥梁发生共振而断裂。</a:t>
            </a:r>
            <a:endParaRPr lang="en-US" dirty="0"/>
          </a:p>
        </p:txBody>
      </p:sp>
      <p:pic>
        <p:nvPicPr>
          <p:cNvPr id="4" name="图片 35842">
            <a:extLst>
              <a:ext uri="{FF2B5EF4-FFF2-40B4-BE49-F238E27FC236}">
                <a16:creationId xmlns:a16="http://schemas.microsoft.com/office/drawing/2014/main" id="{7458D338-786E-8C99-514C-FD787A9A0BEE}"/>
              </a:ext>
            </a:extLst>
          </p:cNvPr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rcRect l="8423" b="2252"/>
          <a:stretch>
            <a:fillRect/>
          </a:stretch>
        </p:blipFill>
        <p:spPr>
          <a:xfrm>
            <a:off x="4128754" y="2148737"/>
            <a:ext cx="3934491" cy="3705114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338250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5DF18-8A38-B18A-E6A9-86FC2E51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频率小于</a:t>
            </a:r>
            <a:r>
              <a:rPr lang="en-US" altLang="zh-CN" sz="3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20HZ</a:t>
            </a:r>
            <a:r>
              <a:rPr lang="zh-CN" altLang="en-US" sz="3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的声波称为次声波。某些次声波与人体器官频率接近，容易和人体器官产生共振，对人体有很强的伤害性，严重可以致人死亡。</a:t>
            </a:r>
            <a:endParaRPr 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8F637B-D7D4-FE39-1952-3DBA3EFFC5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1980年6月30日上午，澳大利亚新南威尔士州北部西·罗克斯附近，就发生过成群的巨头鲸冲上海滩的现象。人们为保护这些珍贵动物，费尽九牛二虎之力，企图把它们拖回海去。可这一切努力都枉费心机，被拖回海里的鲸鱼，又固执地冲回海滩。鲸鱼干燥的皮肤上出现了血泡，鲜血不断从破裂处流出。多数鲸鱼窒息而死。对这一系列奇怪的现象，人们进行了各种各样的分析，最后发现，原来罪魁祸首是次声波。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8EF940-C7E9-BA0C-C30F-4D28B990D1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1890年，一艘名叫“马尔波罗”号的帆船在从新西兰驶往英国的途中，突然神秘地失踪了。20年后，人们在火地岛海岸边发现了它。奇怪的是：船上的物品都原封不动，完好如初，航海日记的字迹仍然依稀可辨，就连那些死去多年的船员，也保持着当年的姿势。目前的比较合理的解释是受到了海洋次声波的伤害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319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8" name="yt_shape_13688"/>
          <p:cNvSpPr txBox="1"/>
          <p:nvPr/>
        </p:nvSpPr>
        <p:spPr>
          <a:xfrm>
            <a:off x="324000" y="432000"/>
            <a:ext cx="7845096" cy="57124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图所示为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“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双峰值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”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的共振曲线。</a:t>
            </a:r>
          </a:p>
        </p:txBody>
      </p:sp>
      <p:pic>
        <p:nvPicPr>
          <p:cNvPr id="13689" name="yt_image_13689" title="H_268.24496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44596" y="136723"/>
            <a:ext cx="4323560" cy="283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91" name="yt_shape_13691"/>
          <p:cNvSpPr txBox="1"/>
          <p:nvPr/>
        </p:nvSpPr>
        <p:spPr>
          <a:xfrm>
            <a:off x="324000" y="3263267"/>
            <a:ext cx="11924914" cy="121655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（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）若两个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“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峰值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”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1_686c9"/>
              </a:rPr>
              <a:t>表示在地球上同一地点的两个不同单摆的共振曲</a:t>
            </a:r>
            <a:b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线，求两个单摆的摆长之比。</a:t>
            </a:r>
          </a:p>
        </p:txBody>
      </p:sp>
      <p:sp>
        <p:nvSpPr>
          <p:cNvPr id="2" name="yt_shape_13695">
            <a:extLst>
              <a:ext uri="{FF2B5EF4-FFF2-40B4-BE49-F238E27FC236}">
                <a16:creationId xmlns:a16="http://schemas.microsoft.com/office/drawing/2014/main" id="{91CFF757-8542-44B7-4FA5-EFB2D7E1929A}"/>
              </a:ext>
            </a:extLst>
          </p:cNvPr>
          <p:cNvSpPr txBox="1"/>
          <p:nvPr/>
        </p:nvSpPr>
        <p:spPr>
          <a:xfrm>
            <a:off x="324000" y="4479818"/>
            <a:ext cx="11543998" cy="121655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（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）若两个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“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峰值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”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1_2795c"/>
              </a:rPr>
              <a:t>表示同一单摆分别在地球和另一个星球上的共振</a:t>
            </a:r>
            <a:b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曲线，求地球和该星球表面的重力加速度之比。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a16="http://schemas.microsoft.com/office/drawing/2014/main" xmlns:a14="http://schemas.microsoft.com/office/drawing/2010/main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3" name="yt_shape_13703"/>
          <p:cNvSpPr txBox="1"/>
          <p:nvPr/>
        </p:nvSpPr>
        <p:spPr>
          <a:xfrm>
            <a:off x="324071" y="432001"/>
            <a:ext cx="11924914" cy="36450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5_9e2ed"/>
              </a:rPr>
              <a:t>一个筛子用四根弹簧支撑起来，筛子上装一个电动偏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30_a09e1"/>
              </a:rPr>
              <a:t>心轮，它每转一周，给筛子一个驱动力，这就做成了一个共振筛，如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30_a2a01"/>
              </a:rPr>
              <a:t>图甲所示。该共振筛的共振曲线如图乙所示。已知增大电压，可使偏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30_4f60e"/>
              </a:rPr>
              <a:t>心轮转速提高，增加筛子质量，可增大筛子的固有周期。现在，在某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电压下偏心轮的转速是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88 r/min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6_35714"/>
              </a:rPr>
              <a:t>。为使共振筛的振幅增大，以下做法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可行的是（　　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）</a:t>
            </a:r>
          </a:p>
        </p:txBody>
      </p:sp>
      <p:pic>
        <p:nvPicPr>
          <p:cNvPr id="3" name="yt_image_13704" title="H_272.16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28" y="3885638"/>
            <a:ext cx="5680457" cy="259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3706" title="H_201.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59" y="3938458"/>
          <a:ext cx="6021388" cy="2560320"/>
        </p:xfrm>
        <a:graphic>
          <a:graphicData uri="http://schemas.openxmlformats.org/drawingml/2006/table">
            <a:tbl>
              <a:tblPr/>
              <a:tblGrid>
                <a:gridCol w="6021388">
                  <a:extLst>
                    <a:ext uri="{9D8B030D-6E8A-4147-A177-3AD203B41FA5}">
                      <a16:colId xmlns:a16="http://schemas.microsoft.com/office/drawing/2014/main" val="10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65396" indent="-465396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降低输入电压或减小筛子质量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降低输入电压或增加筛子质量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C.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增大输入电压或减小筛子质量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65396" indent="-465396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D.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增大输入电压或增加筛子质量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9"/>
                  </a:ext>
                </a:extLst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632" y="4156161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2" name="yt_shape_13712"/>
          <p:cNvSpPr txBox="1"/>
          <p:nvPr/>
        </p:nvSpPr>
        <p:spPr>
          <a:xfrm>
            <a:off x="4356667" y="674688"/>
            <a:ext cx="2812180" cy="60587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3100" b="0" i="0" u="none" spc="-3100">
                <a:solidFill>
                  <a:srgbClr val="1EE3CF"/>
                </a:solidFill>
                <a:effectLst/>
                <a:latin typeface="宋体/Times New Roman" pitchFamily="31"/>
                <a:ea typeface="宋体" pitchFamily="31"/>
              </a:rPr>
              <a:t> </a:t>
            </a:r>
            <a:r>
              <a:rPr lang="en-US" altLang="zh-CN" sz="3100" b="0" i="0" u="none" spc="21229">
                <a:solidFill>
                  <a:srgbClr val="1EE3CF"/>
                </a:solidFill>
                <a:effectLst/>
                <a:latin typeface="宋体/Times New Roman" pitchFamily="31"/>
                <a:ea typeface="宋体" pitchFamily="31"/>
              </a:rPr>
              <a:t> </a:t>
            </a:r>
          </a:p>
        </p:txBody>
      </p:sp>
      <p:sp>
        <p:nvSpPr>
          <p:cNvPr id="13714" name="yt_shape_13714"/>
          <p:cNvSpPr txBox="1"/>
          <p:nvPr/>
        </p:nvSpPr>
        <p:spPr>
          <a:xfrm>
            <a:off x="47328" y="1390555"/>
            <a:ext cx="11543998" cy="121655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80365" indent="-380317" algn="l" eaLnBrk="1" latinLnBrk="0" hangingPunct="0">
              <a:lnSpc>
                <a:spcPct val="140000"/>
              </a:lnSpc>
            </a:pP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1.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Times New Roman" pitchFamily="30"/>
              </a:rPr>
              <a:t> 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9_4aae9"/>
              </a:rPr>
              <a:t>如图所示，松果采摘机利用机械臂抱紧树干，通过采摘振动头振动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而摇动树干，使得松果脱落。下列说法正确是（　　）</a:t>
            </a:r>
          </a:p>
        </p:txBody>
      </p:sp>
      <p:graphicFrame>
        <p:nvGraphicFramePr>
          <p:cNvPr id="13716" name="yt_table_13716_skip" title="H_352.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427681" y="2657894"/>
          <a:ext cx="9280008" cy="3200400"/>
        </p:xfrm>
        <a:graphic>
          <a:graphicData uri="http://schemas.openxmlformats.org/drawingml/2006/table">
            <a:tbl>
              <a:tblPr/>
              <a:tblGrid>
                <a:gridCol w="9280008">
                  <a:extLst>
                    <a:ext uri="{9D8B030D-6E8A-4147-A177-3AD203B41FA5}">
                      <a16:colId xmlns:a16="http://schemas.microsoft.com/office/drawing/2014/main" val="10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65396" indent="-465396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  <a:sym typeface="_⨹_21_c76cc"/>
                        </a:rPr>
                        <a:t>工作中，树干的振动频率等于采摘振动头的振动</a:t>
                      </a:r>
                      <a:b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</a:b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频率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B.</a:t>
                      </a: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采摘振动头振动频率越高，则落果的效果越好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C.</a:t>
                      </a: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  <a:sym typeface="_⨹_21_271a4"/>
                        </a:rPr>
                        <a:t>采摘振动头振动频率越高，则树干的振动幅度越</a:t>
                      </a:r>
                      <a:r>
                        <a:rPr lang="zh-CN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65396" indent="-465396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D.</a:t>
                      </a:r>
                      <a:r>
                        <a:rPr lang="en-US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  <a:sym typeface="_⨹_21_44c8b"/>
                        </a:rPr>
                        <a:t>采摘振动头停止振动，则树干的振动频率逐渐减</a:t>
                      </a:r>
                      <a:r>
                        <a:rPr lang="zh-CN" altLang="zh-CN" sz="30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3"/>
                  </a:ext>
                </a:extLst>
              </a:tr>
            </a:tbl>
          </a:graphicData>
        </a:graphic>
      </p:graphicFrame>
      <p:pic>
        <p:nvPicPr>
          <p:cNvPr id="13715" name="yt_image_13715_skip" title="H_265.84204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36113" y="2657747"/>
            <a:ext cx="2962931" cy="337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0648" y="2852936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2"/>
  <p:tag name="KSO_WM_UNIT_PLACING_PICTURE_USER_VIEWPORT" val="{&quot;height&quot;:5070,&quot;width&quot;:90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0"/>
  <p:tag name="KSO_WM_UNIT_PLACING_PICTURE_USER_VIEWPORT" val="{&quot;height&quot;:4112,&quot;width&quot;:766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  <p:tag name="KSO_WM_MEDIACOVER_FLAG" val="1"/>
  <p:tag name="KSO_WM_UNIT_MEDIACOVER_BTN_POS" val="c"/>
  <p:tag name="KSO_WM_UNIT_MEDIACOVER_BTN_STATE" val="1"/>
  <p:tag name="KSO_WM_UNIT_MEDIACOVER_BTN_STYLE" val="ee0bc779c1f3d7f3e90c96344320e69a"/>
  <p:tag name="KSO_WM_UNIT_MEDIACOVER_BTNRECT" val="5522*4088*0*0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7"/>
  <p:tag name="KSO_WM_UNIT_PLACING_PICTURE_USER_VIEWPORT" val="{&quot;height&quot;:5896,&quot;width&quot;:9245.333858267717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3"/>
  <p:tag name="KSO_WM_UNIT_PLACING_PICTURE_USER_VIEWPORT" val="{&quot;height&quot;:5688,&quot;width&quot;:826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8B9FEED-8146-4839-8053-D9880E4F147B}" vid="{01A7EF7B-974A-4C72-8CCA-666A79B3FF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 Chinese</Template>
  <TotalTime>40</TotalTime>
  <Words>832</Words>
  <Application>Microsoft Macintosh PowerPoint</Application>
  <PresentationFormat>Widescreen</PresentationFormat>
  <Paragraphs>32</Paragraphs>
  <Slides>21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宋体/Times New Roman</vt:lpstr>
      <vt:lpstr>黑体</vt:lpstr>
      <vt:lpstr>华文楷体</vt:lpstr>
      <vt:lpstr>Arial</vt:lpstr>
      <vt:lpstr>Times New Roman</vt:lpstr>
      <vt:lpstr>Office 主题​​</vt:lpstr>
      <vt:lpstr>受迫振动 共振</vt:lpstr>
      <vt:lpstr>简谐振动</vt:lpstr>
      <vt:lpstr>将一根一端缠绕铁丝的筷子放在水里，向下垂直按压，筷子将做什么运动？</vt:lpstr>
      <vt:lpstr>PowerPoint Presentation</vt:lpstr>
      <vt:lpstr>阻尼振动</vt:lpstr>
      <vt:lpstr>PowerPoint Presentation</vt:lpstr>
      <vt:lpstr>生活中的实际的振动一定有空气阻力，故是阻尼振动 </vt:lpstr>
      <vt:lpstr>这是什么振动，周期与什么有关？</vt:lpstr>
      <vt:lpstr>受迫振动的周期与什么有关？</vt:lpstr>
      <vt:lpstr>PowerPoint Presentation</vt:lpstr>
      <vt:lpstr>PowerPoint Presentation</vt:lpstr>
      <vt:lpstr>共振</vt:lpstr>
      <vt:lpstr>PowerPoint Presentation</vt:lpstr>
      <vt:lpstr>PowerPoint Presentation</vt:lpstr>
      <vt:lpstr>微波炉加热原理</vt:lpstr>
      <vt:lpstr>1940年，全长860米的塔柯姆大桥在建成后的4个月就因风共振而倒塌。 </vt:lpstr>
      <vt:lpstr>1831年，一队骑兵通过一座石桥时，由于马蹄节奏整齐，桥梁发生共振而断裂。</vt:lpstr>
      <vt:lpstr>频率小于20HZ的声波称为次声波。某些次声波与人体器官频率接近，容易和人体器官产生共振，对人体有很强的伤害性，严重可以致人死亡。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</dc:creator>
  <cp:lastModifiedBy>Xingyu Shu</cp:lastModifiedBy>
  <cp:revision>3</cp:revision>
  <dcterms:created xsi:type="dcterms:W3CDTF">2024-10-04T01:33:46Z</dcterms:created>
  <dcterms:modified xsi:type="dcterms:W3CDTF">2026-10-21T06:35:32Z</dcterms:modified>
</cp:coreProperties>
</file>