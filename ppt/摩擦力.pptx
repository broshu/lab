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2" r:id="rId2"/>
    <p:sldId id="256" r:id="rId3"/>
    <p:sldId id="257" r:id="rId4"/>
    <p:sldId id="258" r:id="rId5"/>
    <p:sldId id="264" r:id="rId6"/>
    <p:sldId id="259" r:id="rId7"/>
    <p:sldId id="318" r:id="rId8"/>
    <p:sldId id="320" r:id="rId9"/>
    <p:sldId id="265" r:id="rId10"/>
    <p:sldId id="330" r:id="rId11"/>
    <p:sldId id="331" r:id="rId12"/>
    <p:sldId id="332" r:id="rId13"/>
    <p:sldId id="266" r:id="rId14"/>
    <p:sldId id="267" r:id="rId15"/>
    <p:sldId id="268" r:id="rId16"/>
    <p:sldId id="334" r:id="rId17"/>
    <p:sldId id="3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slide" Target="../slides/slide4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hlinkClick r:id="rId2" action="ppaction://hlinksldjump"/>
          </p:cNvPr>
          <p:cNvSpPr/>
          <p:nvPr userDrawn="1"/>
        </p:nvSpPr>
        <p:spPr>
          <a:xfrm>
            <a:off x="11519592" y="6475887"/>
            <a:ext cx="554462" cy="27050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26">
            <a:hlinkClick r:id="rId3" action="ppaction://hlinksldjump"/>
          </p:cNvPr>
          <p:cNvSpPr txBox="1"/>
          <p:nvPr userDrawn="1"/>
        </p:nvSpPr>
        <p:spPr>
          <a:xfrm>
            <a:off x="11519866" y="6453601"/>
            <a:ext cx="5985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 录</a:t>
            </a:r>
          </a:p>
        </p:txBody>
      </p:sp>
      <p:sp>
        <p:nvSpPr>
          <p:cNvPr id="6" name="TextBox 26"/>
          <p:cNvSpPr txBox="1"/>
          <p:nvPr userDrawn="1"/>
        </p:nvSpPr>
        <p:spPr>
          <a:xfrm>
            <a:off x="706381" y="28047"/>
            <a:ext cx="32179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物 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理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·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方正新报宋_GBK" panose="03000509000000000000" pitchFamily="65" charset="-122"/>
                <a:ea typeface="方正新报宋_GBK" panose="03000509000000000000" pitchFamily="65" charset="-122"/>
                <a:cs typeface="+mn-cs"/>
              </a:rPr>
              <a:t>必修第一册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方正新报宋_GBK" panose="03000509000000000000" pitchFamily="65" charset="-122"/>
              <a:ea typeface="方正新报宋_GBK" panose="03000509000000000000" pitchFamily="65" charset="-122"/>
              <a:cs typeface="+mn-cs"/>
            </a:endParaRPr>
          </a:p>
        </p:txBody>
      </p:sp>
      <p:cxnSp>
        <p:nvCxnSpPr>
          <p:cNvPr id="7" name="直接箭头连接符 6"/>
          <p:cNvCxnSpPr/>
          <p:nvPr userDrawn="1"/>
        </p:nvCxnSpPr>
        <p:spPr>
          <a:xfrm>
            <a:off x="773038" y="366455"/>
            <a:ext cx="11377264" cy="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 userDrawn="1"/>
        </p:nvSpPr>
        <p:spPr>
          <a:xfrm>
            <a:off x="0" y="-972"/>
            <a:ext cx="508986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580369" y="-4354"/>
            <a:ext cx="90025" cy="35741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Ya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2910190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:p14="http://schemas.microsoft.com/office/powerpoint/2010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D960C80-7696-31EC-3E09-E2ED9E2BD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2859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6B927-987C-8177-6872-F93332E889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摩擦力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2D8450-4671-AD30-78AF-D31C450495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frictional force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7909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7AD95-F446-C196-CFB7-BE8CFC284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你觉得摩擦力大吗？为什么？</a:t>
            </a:r>
            <a:endParaRPr lang="en-US" dirty="0"/>
          </a:p>
        </p:txBody>
      </p:sp>
      <p:pic>
        <p:nvPicPr>
          <p:cNvPr id="1026" name="Picture 2" descr="Friction forces « KaiserScience">
            <a:extLst>
              <a:ext uri="{FF2B5EF4-FFF2-40B4-BE49-F238E27FC236}">
                <a16:creationId xmlns:a16="http://schemas.microsoft.com/office/drawing/2014/main" id="{57B627D9-1D83-54DC-CE67-8C44D78BFA2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47750" y="2663031"/>
            <a:ext cx="47625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 descr="Seal No Friction GIF - Seal No Friction - Discover &amp; Share GIFs">
            <a:extLst>
              <a:ext uri="{FF2B5EF4-FFF2-40B4-BE49-F238E27FC236}">
                <a16:creationId xmlns:a16="http://schemas.microsoft.com/office/drawing/2014/main" id="{B32FE4AE-4943-7E1F-4407-FDA9EA5985E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664" y="2663032"/>
            <a:ext cx="4748672" cy="267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852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9E8586-8438-8731-7DB9-5C38DFAD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同样的材料相接触，摩擦力相同吗？</a:t>
            </a:r>
            <a:endParaRPr lang="en-US" dirty="0"/>
          </a:p>
        </p:txBody>
      </p:sp>
      <p:pic>
        <p:nvPicPr>
          <p:cNvPr id="2050" name="Picture 2" descr="Pushing Box GIFs | Tenor">
            <a:extLst>
              <a:ext uri="{FF2B5EF4-FFF2-40B4-BE49-F238E27FC236}">
                <a16:creationId xmlns:a16="http://schemas.microsoft.com/office/drawing/2014/main" id="{97867A08-39F3-0990-26E3-3BE39379438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0830" y="1912230"/>
            <a:ext cx="4356340" cy="417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 descr="Pushing Box GIFs | Tenor">
            <a:extLst>
              <a:ext uri="{FF2B5EF4-FFF2-40B4-BE49-F238E27FC236}">
                <a16:creationId xmlns:a16="http://schemas.microsoft.com/office/drawing/2014/main" id="{819C0FBE-9D64-03FB-00B7-693D5790DCA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01043"/>
            <a:ext cx="5334000" cy="400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445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0D9FE1-863D-0B67-AF08-714A5EF56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定量分析静摩擦力</a:t>
            </a:r>
            <a:endParaRPr lang="en-US" dirty="0"/>
          </a:p>
        </p:txBody>
      </p:sp>
      <p:grpSp>
        <p:nvGrpSpPr>
          <p:cNvPr id="4" name="组合 38070">
            <a:extLst>
              <a:ext uri="{FF2B5EF4-FFF2-40B4-BE49-F238E27FC236}">
                <a16:creationId xmlns:a16="http://schemas.microsoft.com/office/drawing/2014/main" id="{C10E993B-07AC-6A67-A801-308EF9328A9A}"/>
              </a:ext>
            </a:extLst>
          </p:cNvPr>
          <p:cNvGrpSpPr/>
          <p:nvPr/>
        </p:nvGrpSpPr>
        <p:grpSpPr>
          <a:xfrm>
            <a:off x="4923099" y="3441168"/>
            <a:ext cx="4361848" cy="630469"/>
            <a:chOff x="4154980" y="3039425"/>
            <a:chExt cx="3634477" cy="524269"/>
          </a:xfrm>
        </p:grpSpPr>
        <p:grpSp>
          <p:nvGrpSpPr>
            <p:cNvPr id="5" name="组合 38068">
              <a:extLst>
                <a:ext uri="{FF2B5EF4-FFF2-40B4-BE49-F238E27FC236}">
                  <a16:creationId xmlns:a16="http://schemas.microsoft.com/office/drawing/2014/main" id="{CF01287E-0A99-1D71-5D8E-3FC9D9736C62}"/>
                </a:ext>
              </a:extLst>
            </p:cNvPr>
            <p:cNvGrpSpPr/>
            <p:nvPr/>
          </p:nvGrpSpPr>
          <p:grpSpPr>
            <a:xfrm>
              <a:off x="4154980" y="3039425"/>
              <a:ext cx="2756605" cy="524269"/>
              <a:chOff x="3892506" y="2132856"/>
              <a:chExt cx="2756605" cy="524269"/>
            </a:xfrm>
          </p:grpSpPr>
          <p:grpSp>
            <p:nvGrpSpPr>
              <p:cNvPr id="21" name="组合 38065">
                <a:extLst>
                  <a:ext uri="{FF2B5EF4-FFF2-40B4-BE49-F238E27FC236}">
                    <a16:creationId xmlns:a16="http://schemas.microsoft.com/office/drawing/2014/main" id="{2A7BA2E2-908B-8B77-0EC6-6C1DBC41A1A5}"/>
                  </a:ext>
                </a:extLst>
              </p:cNvPr>
              <p:cNvGrpSpPr/>
              <p:nvPr/>
            </p:nvGrpSpPr>
            <p:grpSpPr>
              <a:xfrm>
                <a:off x="3992729" y="2132856"/>
                <a:ext cx="2656382" cy="524269"/>
                <a:chOff x="3774261" y="2276871"/>
                <a:chExt cx="2656382" cy="524269"/>
              </a:xfrm>
            </p:grpSpPr>
            <p:sp>
              <p:nvSpPr>
                <p:cNvPr id="23" name="矩形​​ 38064">
                  <a:extLst>
                    <a:ext uri="{FF2B5EF4-FFF2-40B4-BE49-F238E27FC236}">
                      <a16:creationId xmlns:a16="http://schemas.microsoft.com/office/drawing/2014/main" id="{1601F9DC-C9AD-A65C-7DBE-939E9FE6FBB6}"/>
                    </a:ext>
                  </a:extLst>
                </p:cNvPr>
                <p:cNvSpPr/>
                <p:nvPr/>
              </p:nvSpPr>
              <p:spPr>
                <a:xfrm>
                  <a:off x="3904168" y="2330723"/>
                  <a:ext cx="2052131" cy="432403"/>
                </a:xfrm>
                <a:prstGeom prst="rect">
                  <a:avLst/>
                </a:prstGeom>
                <a:solidFill>
                  <a:sysClr val="window" lastClr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967037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159" kern="0">
                    <a:solidFill>
                      <a:prstClr val="black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pic>
              <p:nvPicPr>
                <p:cNvPr id="24" name="图片 155">
                  <a:extLst>
                    <a:ext uri="{FF2B5EF4-FFF2-40B4-BE49-F238E27FC236}">
                      <a16:creationId xmlns:a16="http://schemas.microsoft.com/office/drawing/2014/main" id="{F0952736-8E93-E2DE-8FAC-9F50F9689BA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lum bright="-18000" contrast="36000"/>
                </a:blip>
                <a:stretch>
                  <a:fillRect/>
                </a:stretch>
              </p:blipFill>
              <p:spPr bwMode="auto">
                <a:xfrm rot="5400000">
                  <a:off x="4840317" y="1210815"/>
                  <a:ext cx="524269" cy="2656382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22" name="直接连接符​​ 38067">
                <a:extLst>
                  <a:ext uri="{FF2B5EF4-FFF2-40B4-BE49-F238E27FC236}">
                    <a16:creationId xmlns:a16="http://schemas.microsoft.com/office/drawing/2014/main" id="{6B0423EB-0EAC-D508-DAD9-8776C0E60028}"/>
                  </a:ext>
                </a:extLst>
              </p:cNvPr>
              <p:cNvCxnSpPr/>
              <p:nvPr/>
            </p:nvCxnSpPr>
            <p:spPr>
              <a:xfrm>
                <a:off x="3892506" y="2406870"/>
                <a:ext cx="144426" cy="0"/>
              </a:xfrm>
              <a:prstGeom prst="line">
                <a:avLst/>
              </a:prstGeom>
              <a:noFill/>
              <a:ln w="19050" cap="flat" cmpd="sng" algn="ctr">
                <a:solidFill>
                  <a:sysClr val="windowText" lastClr="000000">
                    <a:shade val="95000"/>
                    <a:satMod val="105000"/>
                  </a:sysClr>
                </a:solidFill>
                <a:prstDash val="solid"/>
              </a:ln>
              <a:effectLst/>
            </p:spPr>
          </p:cxnSp>
        </p:grpSp>
        <p:grpSp>
          <p:nvGrpSpPr>
            <p:cNvPr id="6" name="组合 38069">
              <a:extLst>
                <a:ext uri="{FF2B5EF4-FFF2-40B4-BE49-F238E27FC236}">
                  <a16:creationId xmlns:a16="http://schemas.microsoft.com/office/drawing/2014/main" id="{BDB7162B-FF89-21C3-D20B-E032EAB80C28}"/>
                </a:ext>
              </a:extLst>
            </p:cNvPr>
            <p:cNvGrpSpPr/>
            <p:nvPr/>
          </p:nvGrpSpPr>
          <p:grpSpPr>
            <a:xfrm>
              <a:off x="6630053" y="3043522"/>
              <a:ext cx="1159404" cy="377330"/>
              <a:chOff x="6546525" y="2402110"/>
              <a:chExt cx="1159404" cy="377330"/>
            </a:xfrm>
          </p:grpSpPr>
          <p:sp>
            <p:nvSpPr>
              <p:cNvPr id="7" name="任意多边形 80">
                <a:extLst>
                  <a:ext uri="{FF2B5EF4-FFF2-40B4-BE49-F238E27FC236}">
                    <a16:creationId xmlns:a16="http://schemas.microsoft.com/office/drawing/2014/main" id="{DB489431-F885-903F-0B16-0B761A897693}"/>
                  </a:ext>
                </a:extLst>
              </p:cNvPr>
              <p:cNvSpPr/>
              <p:nvPr/>
            </p:nvSpPr>
            <p:spPr bwMode="auto">
              <a:xfrm flipH="1">
                <a:off x="6546525" y="2402110"/>
                <a:ext cx="1032919" cy="364508"/>
              </a:xfrm>
              <a:custGeom>
                <a:avLst/>
                <a:gdLst>
                  <a:gd name="T0" fmla="*/ 0 w 3594"/>
                  <a:gd name="T1" fmla="*/ 2147483647 h 1391"/>
                  <a:gd name="T2" fmla="*/ 2147483647 w 3594"/>
                  <a:gd name="T3" fmla="*/ 2147483647 h 1391"/>
                  <a:gd name="T4" fmla="*/ 2147483647 w 3594"/>
                  <a:gd name="T5" fmla="*/ 0 h 1391"/>
                  <a:gd name="T6" fmla="*/ 2147483647 w 3594"/>
                  <a:gd name="T7" fmla="*/ 2147483647 h 1391"/>
                  <a:gd name="T8" fmla="*/ 2147483647 w 3594"/>
                  <a:gd name="T9" fmla="*/ 2147483647 h 1391"/>
                  <a:gd name="T10" fmla="*/ 2147483647 w 3594"/>
                  <a:gd name="T11" fmla="*/ 2147483647 h 1391"/>
                  <a:gd name="T12" fmla="*/ 2147483647 w 3594"/>
                  <a:gd name="T13" fmla="*/ 2147483647 h 139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93" h="1391">
                    <a:moveTo>
                      <a:pt x="0" y="302"/>
                    </a:moveTo>
                    <a:lnTo>
                      <a:pt x="673" y="274"/>
                    </a:lnTo>
                    <a:lnTo>
                      <a:pt x="2115" y="0"/>
                    </a:lnTo>
                    <a:lnTo>
                      <a:pt x="3594" y="329"/>
                    </a:lnTo>
                    <a:lnTo>
                      <a:pt x="3379" y="1283"/>
                    </a:lnTo>
                    <a:lnTo>
                      <a:pt x="2948" y="1391"/>
                    </a:lnTo>
                    <a:lnTo>
                      <a:pt x="2368" y="1256"/>
                    </a:lnTo>
                  </a:path>
                </a:pathLst>
              </a:custGeom>
              <a:solidFill>
                <a:srgbClr val="FAF5B4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8" name="任意多边形 70">
                <a:extLst>
                  <a:ext uri="{FF2B5EF4-FFF2-40B4-BE49-F238E27FC236}">
                    <a16:creationId xmlns:a16="http://schemas.microsoft.com/office/drawing/2014/main" id="{D3A0ECAD-B935-BB8D-1FA6-A15DDA5C0EEF}"/>
                  </a:ext>
                </a:extLst>
              </p:cNvPr>
              <p:cNvSpPr/>
              <p:nvPr/>
            </p:nvSpPr>
            <p:spPr bwMode="auto">
              <a:xfrm flipH="1">
                <a:off x="6679093" y="2552996"/>
                <a:ext cx="417984" cy="31597"/>
              </a:xfrm>
              <a:custGeom>
                <a:avLst/>
                <a:gdLst>
                  <a:gd name="T0" fmla="*/ 0 w 1455"/>
                  <a:gd name="T1" fmla="*/ 2147483647 h 120"/>
                  <a:gd name="T2" fmla="*/ 2147483647 w 1455"/>
                  <a:gd name="T3" fmla="*/ 0 h 120"/>
                  <a:gd name="T4" fmla="*/ 2147483647 w 1455"/>
                  <a:gd name="T5" fmla="*/ 2147483647 h 1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55" h="120">
                    <a:moveTo>
                      <a:pt x="0" y="120"/>
                    </a:moveTo>
                    <a:lnTo>
                      <a:pt x="800" y="0"/>
                    </a:lnTo>
                    <a:lnTo>
                      <a:pt x="1455" y="12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9" name="弧线 69">
                <a:extLst>
                  <a:ext uri="{FF2B5EF4-FFF2-40B4-BE49-F238E27FC236}">
                    <a16:creationId xmlns:a16="http://schemas.microsoft.com/office/drawing/2014/main" id="{D92632F1-0AFB-F24C-EBA0-1C15F4F4CE78}"/>
                  </a:ext>
                </a:extLst>
              </p:cNvPr>
              <p:cNvSpPr/>
              <p:nvPr/>
            </p:nvSpPr>
            <p:spPr bwMode="auto">
              <a:xfrm rot="5400000">
                <a:off x="6819080" y="2645158"/>
                <a:ext cx="81740" cy="16476"/>
              </a:xfrm>
              <a:custGeom>
                <a:avLst/>
                <a:gdLst>
                  <a:gd name="T0" fmla="*/ 0 w 42622"/>
                  <a:gd name="T1" fmla="*/ 12 h 21600"/>
                  <a:gd name="T2" fmla="*/ 2147483647 w 42622"/>
                  <a:gd name="T3" fmla="*/ 12 h 21600"/>
                  <a:gd name="T4" fmla="*/ 2147483647 w 42622"/>
                  <a:gd name="T5" fmla="*/ 1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622" h="21600" fill="none" extrusionOk="0">
                    <a:moveTo>
                      <a:pt x="-1" y="18228"/>
                    </a:moveTo>
                    <a:cubicBezTo>
                      <a:pt x="1658" y="7731"/>
                      <a:pt x="10707" y="-1"/>
                      <a:pt x="21335" y="0"/>
                    </a:cubicBezTo>
                    <a:cubicBezTo>
                      <a:pt x="31849" y="0"/>
                      <a:pt x="40837" y="7571"/>
                      <a:pt x="42621" y="17934"/>
                    </a:cubicBezTo>
                  </a:path>
                  <a:path w="42622" h="21600" stroke="0" extrusionOk="0">
                    <a:moveTo>
                      <a:pt x="-1" y="18228"/>
                    </a:moveTo>
                    <a:cubicBezTo>
                      <a:pt x="1658" y="7731"/>
                      <a:pt x="10707" y="-1"/>
                      <a:pt x="21335" y="0"/>
                    </a:cubicBezTo>
                    <a:cubicBezTo>
                      <a:pt x="31849" y="0"/>
                      <a:pt x="40837" y="7571"/>
                      <a:pt x="42621" y="17934"/>
                    </a:cubicBezTo>
                    <a:lnTo>
                      <a:pt x="21335" y="21600"/>
                    </a:lnTo>
                    <a:lnTo>
                      <a:pt x="-1" y="18228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0" name="任意多边形 68">
                <a:extLst>
                  <a:ext uri="{FF2B5EF4-FFF2-40B4-BE49-F238E27FC236}">
                    <a16:creationId xmlns:a16="http://schemas.microsoft.com/office/drawing/2014/main" id="{52D21B59-F2BA-7F0A-EC50-993535400AAF}"/>
                  </a:ext>
                </a:extLst>
              </p:cNvPr>
              <p:cNvSpPr/>
              <p:nvPr/>
            </p:nvSpPr>
            <p:spPr bwMode="auto">
              <a:xfrm flipH="1">
                <a:off x="6649944" y="2708920"/>
                <a:ext cx="1055985" cy="70520"/>
              </a:xfrm>
              <a:custGeom>
                <a:avLst/>
                <a:gdLst>
                  <a:gd name="T0" fmla="*/ 0 w 1051"/>
                  <a:gd name="T1" fmla="*/ 0 h 77"/>
                  <a:gd name="T2" fmla="*/ 2147483647 w 1051"/>
                  <a:gd name="T3" fmla="*/ 2147483647 h 77"/>
                  <a:gd name="T4" fmla="*/ 2147483647 w 1051"/>
                  <a:gd name="T5" fmla="*/ 2147483647 h 77"/>
                  <a:gd name="T6" fmla="*/ 2147483647 w 1051"/>
                  <a:gd name="T7" fmla="*/ 2147483647 h 7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51" h="77">
                    <a:moveTo>
                      <a:pt x="0" y="0"/>
                    </a:moveTo>
                    <a:cubicBezTo>
                      <a:pt x="58" y="14"/>
                      <a:pt x="211" y="72"/>
                      <a:pt x="351" y="75"/>
                    </a:cubicBezTo>
                    <a:cubicBezTo>
                      <a:pt x="464" y="77"/>
                      <a:pt x="725" y="32"/>
                      <a:pt x="842" y="21"/>
                    </a:cubicBezTo>
                    <a:cubicBezTo>
                      <a:pt x="959" y="10"/>
                      <a:pt x="1008" y="10"/>
                      <a:pt x="1051" y="7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1" name="任意多边形 67">
                <a:extLst>
                  <a:ext uri="{FF2B5EF4-FFF2-40B4-BE49-F238E27FC236}">
                    <a16:creationId xmlns:a16="http://schemas.microsoft.com/office/drawing/2014/main" id="{4013B70B-9647-8999-AEC9-CFE80323EA82}"/>
                  </a:ext>
                </a:extLst>
              </p:cNvPr>
              <p:cNvSpPr/>
              <p:nvPr/>
            </p:nvSpPr>
            <p:spPr bwMode="auto">
              <a:xfrm flipH="1">
                <a:off x="6674024" y="2523918"/>
                <a:ext cx="480339" cy="66857"/>
              </a:xfrm>
              <a:custGeom>
                <a:avLst/>
                <a:gdLst>
                  <a:gd name="T0" fmla="*/ 0 w 1553"/>
                  <a:gd name="T1" fmla="*/ 0 h 238"/>
                  <a:gd name="T2" fmla="*/ 2147483647 w 1553"/>
                  <a:gd name="T3" fmla="*/ 2147483647 h 238"/>
                  <a:gd name="T4" fmla="*/ 2147483647 w 1553"/>
                  <a:gd name="T5" fmla="*/ 2147483647 h 238"/>
                  <a:gd name="T6" fmla="*/ 2147483647 w 1553"/>
                  <a:gd name="T7" fmla="*/ 2147483647 h 2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53" h="238">
                    <a:moveTo>
                      <a:pt x="0" y="0"/>
                    </a:moveTo>
                    <a:lnTo>
                      <a:pt x="188" y="200"/>
                    </a:lnTo>
                    <a:lnTo>
                      <a:pt x="964" y="200"/>
                    </a:lnTo>
                    <a:lnTo>
                      <a:pt x="1553" y="238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2" name="任意多边形 79">
                <a:extLst>
                  <a:ext uri="{FF2B5EF4-FFF2-40B4-BE49-F238E27FC236}">
                    <a16:creationId xmlns:a16="http://schemas.microsoft.com/office/drawing/2014/main" id="{59438B2F-87CC-1095-CCEE-518A45ABDEB8}"/>
                  </a:ext>
                </a:extLst>
              </p:cNvPr>
              <p:cNvSpPr/>
              <p:nvPr/>
            </p:nvSpPr>
            <p:spPr bwMode="auto">
              <a:xfrm flipH="1">
                <a:off x="6935612" y="2494153"/>
                <a:ext cx="7351" cy="71894"/>
              </a:xfrm>
              <a:custGeom>
                <a:avLst/>
                <a:gdLst>
                  <a:gd name="T0" fmla="*/ 2147483647 w 25"/>
                  <a:gd name="T1" fmla="*/ 0 h 275"/>
                  <a:gd name="T2" fmla="*/ 0 w 25"/>
                  <a:gd name="T3" fmla="*/ 2147483647 h 27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" h="275">
                    <a:moveTo>
                      <a:pt x="25" y="0"/>
                    </a:moveTo>
                    <a:lnTo>
                      <a:pt x="0" y="275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3" name="任意多边形 78">
                <a:extLst>
                  <a:ext uri="{FF2B5EF4-FFF2-40B4-BE49-F238E27FC236}">
                    <a16:creationId xmlns:a16="http://schemas.microsoft.com/office/drawing/2014/main" id="{056D0D5E-6153-02A1-F88C-C26F8647F880}"/>
                  </a:ext>
                </a:extLst>
              </p:cNvPr>
              <p:cNvSpPr/>
              <p:nvPr/>
            </p:nvSpPr>
            <p:spPr bwMode="auto">
              <a:xfrm flipH="1">
                <a:off x="6604571" y="2536511"/>
                <a:ext cx="53991" cy="49227"/>
              </a:xfrm>
              <a:custGeom>
                <a:avLst/>
                <a:gdLst>
                  <a:gd name="T0" fmla="*/ 2147483647 w 188"/>
                  <a:gd name="T1" fmla="*/ 0 h 188"/>
                  <a:gd name="T2" fmla="*/ 0 w 188"/>
                  <a:gd name="T3" fmla="*/ 2147483647 h 18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8" h="188">
                    <a:moveTo>
                      <a:pt x="188" y="0"/>
                    </a:moveTo>
                    <a:lnTo>
                      <a:pt x="0" y="188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4" name="任意多边形 77">
                <a:extLst>
                  <a:ext uri="{FF2B5EF4-FFF2-40B4-BE49-F238E27FC236}">
                    <a16:creationId xmlns:a16="http://schemas.microsoft.com/office/drawing/2014/main" id="{4CA92B90-7751-E1CD-4D7D-F6F0E7C447CB}"/>
                  </a:ext>
                </a:extLst>
              </p:cNvPr>
              <p:cNvSpPr/>
              <p:nvPr/>
            </p:nvSpPr>
            <p:spPr bwMode="auto">
              <a:xfrm flipH="1">
                <a:off x="6849684" y="2483163"/>
                <a:ext cx="7351" cy="71894"/>
              </a:xfrm>
              <a:custGeom>
                <a:avLst/>
                <a:gdLst>
                  <a:gd name="T0" fmla="*/ 2147483647 w 25"/>
                  <a:gd name="T1" fmla="*/ 0 h 275"/>
                  <a:gd name="T2" fmla="*/ 0 w 25"/>
                  <a:gd name="T3" fmla="*/ 2147483647 h 27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5" h="275">
                    <a:moveTo>
                      <a:pt x="25" y="0"/>
                    </a:moveTo>
                    <a:lnTo>
                      <a:pt x="0" y="275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" name="任意多边形 76">
                <a:extLst>
                  <a:ext uri="{FF2B5EF4-FFF2-40B4-BE49-F238E27FC236}">
                    <a16:creationId xmlns:a16="http://schemas.microsoft.com/office/drawing/2014/main" id="{964EBD91-669D-9E45-03DD-D856930FB000}"/>
                  </a:ext>
                </a:extLst>
              </p:cNvPr>
              <p:cNvSpPr/>
              <p:nvPr/>
            </p:nvSpPr>
            <p:spPr bwMode="auto">
              <a:xfrm flipH="1">
                <a:off x="6752095" y="2726779"/>
                <a:ext cx="79338" cy="29536"/>
              </a:xfrm>
              <a:custGeom>
                <a:avLst/>
                <a:gdLst>
                  <a:gd name="T0" fmla="*/ 2147483647 w 276"/>
                  <a:gd name="T1" fmla="*/ 2147483647 h 113"/>
                  <a:gd name="T2" fmla="*/ 0 w 276"/>
                  <a:gd name="T3" fmla="*/ 0 h 1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6" h="113">
                    <a:moveTo>
                      <a:pt x="276" y="11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6" name="任意多边形 75">
                <a:extLst>
                  <a:ext uri="{FF2B5EF4-FFF2-40B4-BE49-F238E27FC236}">
                    <a16:creationId xmlns:a16="http://schemas.microsoft.com/office/drawing/2014/main" id="{EF21A831-8EBE-D9BD-BFEA-133826039B84}"/>
                  </a:ext>
                </a:extLst>
              </p:cNvPr>
              <p:cNvSpPr/>
              <p:nvPr/>
            </p:nvSpPr>
            <p:spPr bwMode="auto">
              <a:xfrm flipH="1">
                <a:off x="6637777" y="2484765"/>
                <a:ext cx="1064857" cy="291927"/>
              </a:xfrm>
              <a:custGeom>
                <a:avLst/>
                <a:gdLst>
                  <a:gd name="T0" fmla="*/ 2147483647 w 4201"/>
                  <a:gd name="T1" fmla="*/ 2147483647 h 1275"/>
                  <a:gd name="T2" fmla="*/ 2147483647 w 4201"/>
                  <a:gd name="T3" fmla="*/ 2147483647 h 1275"/>
                  <a:gd name="T4" fmla="*/ 2147483647 w 4201"/>
                  <a:gd name="T5" fmla="*/ 2147483647 h 1275"/>
                  <a:gd name="T6" fmla="*/ 2147483647 w 4201"/>
                  <a:gd name="T7" fmla="*/ 2147483647 h 1275"/>
                  <a:gd name="T8" fmla="*/ 2147483647 w 4201"/>
                  <a:gd name="T9" fmla="*/ 2147483647 h 1275"/>
                  <a:gd name="T10" fmla="*/ 0 w 4201"/>
                  <a:gd name="T11" fmla="*/ 2147483647 h 1275"/>
                  <a:gd name="T12" fmla="*/ 2147483647 w 4201"/>
                  <a:gd name="T13" fmla="*/ 0 h 1275"/>
                  <a:gd name="T14" fmla="*/ 2147483647 w 4201"/>
                  <a:gd name="T15" fmla="*/ 0 h 1275"/>
                  <a:gd name="T16" fmla="*/ 2147483647 w 4201"/>
                  <a:gd name="T17" fmla="*/ 2147483647 h 127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201" h="1275">
                    <a:moveTo>
                      <a:pt x="2492" y="411"/>
                    </a:moveTo>
                    <a:lnTo>
                      <a:pt x="4095" y="486"/>
                    </a:lnTo>
                    <a:lnTo>
                      <a:pt x="4201" y="624"/>
                    </a:lnTo>
                    <a:lnTo>
                      <a:pt x="4132" y="999"/>
                    </a:lnTo>
                    <a:lnTo>
                      <a:pt x="1340" y="1275"/>
                    </a:lnTo>
                    <a:lnTo>
                      <a:pt x="0" y="1012"/>
                    </a:lnTo>
                    <a:lnTo>
                      <a:pt x="601" y="0"/>
                    </a:lnTo>
                    <a:lnTo>
                      <a:pt x="1861" y="0"/>
                    </a:lnTo>
                    <a:lnTo>
                      <a:pt x="2492" y="411"/>
                    </a:lnTo>
                    <a:close/>
                  </a:path>
                </a:pathLst>
              </a:custGeom>
              <a:solidFill>
                <a:srgbClr val="FAF5B4"/>
              </a:solidFill>
              <a:ln>
                <a:noFill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7" name="弧线 74">
                <a:extLst>
                  <a:ext uri="{FF2B5EF4-FFF2-40B4-BE49-F238E27FC236}">
                    <a16:creationId xmlns:a16="http://schemas.microsoft.com/office/drawing/2014/main" id="{93FCA1CE-BAFB-87A8-1DAA-2F2E17E7EF33}"/>
                  </a:ext>
                </a:extLst>
              </p:cNvPr>
              <p:cNvSpPr/>
              <p:nvPr/>
            </p:nvSpPr>
            <p:spPr bwMode="auto">
              <a:xfrm rot="16200000" flipH="1">
                <a:off x="6791451" y="2641724"/>
                <a:ext cx="81740" cy="16476"/>
              </a:xfrm>
              <a:custGeom>
                <a:avLst/>
                <a:gdLst>
                  <a:gd name="T0" fmla="*/ 0 w 42622"/>
                  <a:gd name="T1" fmla="*/ 12 h 21600"/>
                  <a:gd name="T2" fmla="*/ 2147483647 w 42622"/>
                  <a:gd name="T3" fmla="*/ 12 h 21600"/>
                  <a:gd name="T4" fmla="*/ 2147483647 w 42622"/>
                  <a:gd name="T5" fmla="*/ 14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622" h="21600" fill="none" extrusionOk="0">
                    <a:moveTo>
                      <a:pt x="-1" y="18228"/>
                    </a:moveTo>
                    <a:cubicBezTo>
                      <a:pt x="1658" y="7731"/>
                      <a:pt x="10707" y="-1"/>
                      <a:pt x="21335" y="0"/>
                    </a:cubicBezTo>
                    <a:cubicBezTo>
                      <a:pt x="31849" y="0"/>
                      <a:pt x="40837" y="7571"/>
                      <a:pt x="42621" y="17934"/>
                    </a:cubicBezTo>
                  </a:path>
                  <a:path w="42622" h="21600" stroke="0" extrusionOk="0">
                    <a:moveTo>
                      <a:pt x="-1" y="18228"/>
                    </a:moveTo>
                    <a:cubicBezTo>
                      <a:pt x="1658" y="7731"/>
                      <a:pt x="10707" y="-1"/>
                      <a:pt x="21335" y="0"/>
                    </a:cubicBezTo>
                    <a:cubicBezTo>
                      <a:pt x="31849" y="0"/>
                      <a:pt x="40837" y="7571"/>
                      <a:pt x="42621" y="17934"/>
                    </a:cubicBezTo>
                    <a:lnTo>
                      <a:pt x="21335" y="21600"/>
                    </a:lnTo>
                    <a:lnTo>
                      <a:pt x="-1" y="18228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grpSp>
            <p:nvGrpSpPr>
              <p:cNvPr id="18" name="组合 71">
                <a:extLst>
                  <a:ext uri="{FF2B5EF4-FFF2-40B4-BE49-F238E27FC236}">
                    <a16:creationId xmlns:a16="http://schemas.microsoft.com/office/drawing/2014/main" id="{22D267EE-6C88-FA66-D5CA-53ABE20267F3}"/>
                  </a:ext>
                </a:extLst>
              </p:cNvPr>
              <p:cNvGrpSpPr/>
              <p:nvPr/>
            </p:nvGrpSpPr>
            <p:grpSpPr>
              <a:xfrm rot="16200000" flipH="1">
                <a:off x="6638047" y="2591217"/>
                <a:ext cx="123411" cy="123443"/>
                <a:chOff x="3240" y="4480"/>
                <a:chExt cx="1273" cy="1392"/>
              </a:xfrm>
              <a:solidFill>
                <a:srgbClr val="FAF5B4"/>
              </a:solidFill>
            </p:grpSpPr>
            <p:sp>
              <p:nvSpPr>
                <p:cNvPr id="19" name="任意多边形 73">
                  <a:extLst>
                    <a:ext uri="{FF2B5EF4-FFF2-40B4-BE49-F238E27FC236}">
                      <a16:creationId xmlns:a16="http://schemas.microsoft.com/office/drawing/2014/main" id="{347ED190-1A78-B1F1-95D7-D22B80E71174}"/>
                    </a:ext>
                  </a:extLst>
                </p:cNvPr>
                <p:cNvSpPr/>
                <p:nvPr/>
              </p:nvSpPr>
              <p:spPr bwMode="auto">
                <a:xfrm>
                  <a:off x="3240" y="4792"/>
                  <a:ext cx="1260" cy="1080"/>
                </a:xfrm>
                <a:custGeom>
                  <a:avLst/>
                  <a:gdLst>
                    <a:gd name="T0" fmla="*/ 0 w 1260"/>
                    <a:gd name="T1" fmla="*/ 0 h 1080"/>
                    <a:gd name="T2" fmla="*/ 128 w 1260"/>
                    <a:gd name="T3" fmla="*/ 1080 h 1080"/>
                    <a:gd name="T4" fmla="*/ 1168 w 1260"/>
                    <a:gd name="T5" fmla="*/ 1080 h 1080"/>
                    <a:gd name="T6" fmla="*/ 1260 w 1260"/>
                    <a:gd name="T7" fmla="*/ 0 h 108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60" h="1080">
                      <a:moveTo>
                        <a:pt x="0" y="0"/>
                      </a:moveTo>
                      <a:lnTo>
                        <a:pt x="128" y="1080"/>
                      </a:lnTo>
                      <a:lnTo>
                        <a:pt x="1168" y="1080"/>
                      </a:lnTo>
                      <a:lnTo>
                        <a:pt x="1260" y="0"/>
                      </a:lnTo>
                    </a:path>
                  </a:pathLst>
                </a:custGeom>
                <a:grp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defTabSz="967037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879" kern="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0" name="弧线 72">
                  <a:extLst>
                    <a:ext uri="{FF2B5EF4-FFF2-40B4-BE49-F238E27FC236}">
                      <a16:creationId xmlns:a16="http://schemas.microsoft.com/office/drawing/2014/main" id="{770299EE-EF97-E2B8-E2F0-C036A9F98B36}"/>
                    </a:ext>
                  </a:extLst>
                </p:cNvPr>
                <p:cNvSpPr/>
                <p:nvPr/>
              </p:nvSpPr>
              <p:spPr bwMode="auto">
                <a:xfrm>
                  <a:off x="3240" y="4480"/>
                  <a:ext cx="1273" cy="399"/>
                </a:xfrm>
                <a:custGeom>
                  <a:avLst/>
                  <a:gdLst>
                    <a:gd name="G0" fmla="+- 21335 0 0"/>
                    <a:gd name="G1" fmla="+- 21600 0 0"/>
                    <a:gd name="G2" fmla="+- 21600 0 0"/>
                    <a:gd name="T0" fmla="*/ 0 w 42622"/>
                    <a:gd name="T1" fmla="*/ 18229 h 21600"/>
                    <a:gd name="T2" fmla="*/ 42622 w 42622"/>
                    <a:gd name="T3" fmla="*/ 17934 h 21600"/>
                    <a:gd name="T4" fmla="*/ 21335 w 42622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2622" h="21600" fill="none" extrusionOk="0">
                      <a:moveTo>
                        <a:pt x="-1" y="18228"/>
                      </a:moveTo>
                      <a:cubicBezTo>
                        <a:pt x="1658" y="7731"/>
                        <a:pt x="10707" y="-1"/>
                        <a:pt x="21335" y="0"/>
                      </a:cubicBezTo>
                      <a:cubicBezTo>
                        <a:pt x="31849" y="0"/>
                        <a:pt x="40837" y="7571"/>
                        <a:pt x="42621" y="17934"/>
                      </a:cubicBezTo>
                    </a:path>
                    <a:path w="42622" h="21600" stroke="0" extrusionOk="0">
                      <a:moveTo>
                        <a:pt x="-1" y="18228"/>
                      </a:moveTo>
                      <a:cubicBezTo>
                        <a:pt x="1658" y="7731"/>
                        <a:pt x="10707" y="-1"/>
                        <a:pt x="21335" y="0"/>
                      </a:cubicBezTo>
                      <a:cubicBezTo>
                        <a:pt x="31849" y="0"/>
                        <a:pt x="40837" y="7571"/>
                        <a:pt x="42621" y="17934"/>
                      </a:cubicBezTo>
                      <a:lnTo>
                        <a:pt x="21335" y="21600"/>
                      </a:lnTo>
                      <a:close/>
                    </a:path>
                  </a:pathLst>
                </a:custGeom>
                <a:grpFill/>
                <a:ln w="9525">
                  <a:solidFill>
                    <a:srgbClr val="000000"/>
                  </a:solidFill>
                  <a:round/>
                </a:ln>
              </p:spPr>
              <p:txBody>
                <a:bodyPr/>
                <a:lstStyle/>
                <a:p>
                  <a:pPr defTabSz="967037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zh-CN" altLang="en-US" sz="2879" kern="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25" name="组合 38072">
            <a:extLst>
              <a:ext uri="{FF2B5EF4-FFF2-40B4-BE49-F238E27FC236}">
                <a16:creationId xmlns:a16="http://schemas.microsoft.com/office/drawing/2014/main" id="{B094BBDF-2C56-0C22-52CD-88BB402294D4}"/>
              </a:ext>
            </a:extLst>
          </p:cNvPr>
          <p:cNvGrpSpPr/>
          <p:nvPr/>
        </p:nvGrpSpPr>
        <p:grpSpPr>
          <a:xfrm>
            <a:off x="3053652" y="3429000"/>
            <a:ext cx="4049472" cy="742848"/>
            <a:chOff x="2555776" y="3022200"/>
            <a:chExt cx="3375218" cy="618987"/>
          </a:xfrm>
        </p:grpSpPr>
        <p:sp>
          <p:nvSpPr>
            <p:cNvPr id="26" name="矩形 167">
              <a:extLst>
                <a:ext uri="{FF2B5EF4-FFF2-40B4-BE49-F238E27FC236}">
                  <a16:creationId xmlns:a16="http://schemas.microsoft.com/office/drawing/2014/main" id="{61F019CF-147A-03E4-D392-2BC53E240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5776" y="3022200"/>
              <a:ext cx="765219" cy="618987"/>
            </a:xfrm>
            <a:prstGeom prst="rect">
              <a:avLst/>
            </a:prstGeom>
            <a:blipFill rotWithShape="1">
              <a:blip r:embed="rId3"/>
              <a:tile tx="0" ty="0" sx="100000" sy="100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pPr defTabSz="967037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79" ker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grpSp>
          <p:nvGrpSpPr>
            <p:cNvPr id="27" name="组合 149">
              <a:extLst>
                <a:ext uri="{FF2B5EF4-FFF2-40B4-BE49-F238E27FC236}">
                  <a16:creationId xmlns:a16="http://schemas.microsoft.com/office/drawing/2014/main" id="{16560401-FBA0-F6A2-013F-BC31EF6CA7D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833126" y="3231719"/>
              <a:ext cx="2097868" cy="145128"/>
              <a:chOff x="9672" y="8219"/>
              <a:chExt cx="2028" cy="155"/>
            </a:xfrm>
          </p:grpSpPr>
          <p:sp>
            <p:nvSpPr>
              <p:cNvPr id="32" name="直线 151">
                <a:extLst>
                  <a:ext uri="{FF2B5EF4-FFF2-40B4-BE49-F238E27FC236}">
                    <a16:creationId xmlns:a16="http://schemas.microsoft.com/office/drawing/2014/main" id="{2076F4AB-6CC1-D798-2BAA-1F69E6C1E23B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5400000" flipH="1">
                <a:off x="10809" y="7420"/>
                <a:ext cx="0" cy="1782"/>
              </a:xfrm>
              <a:prstGeom prst="line">
                <a:avLst/>
              </a:prstGeom>
              <a:noFill/>
              <a:ln w="19050">
                <a:solidFill>
                  <a:srgbClr val="333333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3" name="任意多边形 150">
                <a:extLst>
                  <a:ext uri="{FF2B5EF4-FFF2-40B4-BE49-F238E27FC236}">
                    <a16:creationId xmlns:a16="http://schemas.microsoft.com/office/drawing/2014/main" id="{75FB9594-4BB9-E48B-6CA0-02B5770D77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5400000">
                <a:off x="9719" y="8172"/>
                <a:ext cx="155" cy="250"/>
              </a:xfrm>
              <a:custGeom>
                <a:avLst/>
                <a:gdLst>
                  <a:gd name="T0" fmla="*/ 0 w 488"/>
                  <a:gd name="T1" fmla="*/ 0 h 1095"/>
                  <a:gd name="T2" fmla="*/ 0 w 488"/>
                  <a:gd name="T3" fmla="*/ 0 h 1095"/>
                  <a:gd name="T4" fmla="*/ 0 w 488"/>
                  <a:gd name="T5" fmla="*/ 0 h 1095"/>
                  <a:gd name="T6" fmla="*/ 0 w 488"/>
                  <a:gd name="T7" fmla="*/ 0 h 1095"/>
                  <a:gd name="T8" fmla="*/ 0 w 488"/>
                  <a:gd name="T9" fmla="*/ 0 h 10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8" h="1095">
                    <a:moveTo>
                      <a:pt x="288" y="0"/>
                    </a:moveTo>
                    <a:lnTo>
                      <a:pt x="288" y="468"/>
                    </a:lnTo>
                    <a:cubicBezTo>
                      <a:pt x="321" y="603"/>
                      <a:pt x="463" y="588"/>
                      <a:pt x="488" y="813"/>
                    </a:cubicBezTo>
                    <a:cubicBezTo>
                      <a:pt x="450" y="1038"/>
                      <a:pt x="358" y="1095"/>
                      <a:pt x="263" y="1088"/>
                    </a:cubicBezTo>
                    <a:cubicBezTo>
                      <a:pt x="0" y="1088"/>
                      <a:pt x="87" y="815"/>
                      <a:pt x="75" y="738"/>
                    </a:cubicBezTo>
                  </a:path>
                </a:pathLst>
              </a:custGeom>
              <a:noFill/>
              <a:ln w="19050">
                <a:solidFill>
                  <a:srgbClr val="333333"/>
                </a:solidFill>
                <a:round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15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  <p:cxnSp>
          <p:nvCxnSpPr>
            <p:cNvPr id="28" name="直接连接符​​ 38063">
              <a:extLst>
                <a:ext uri="{FF2B5EF4-FFF2-40B4-BE49-F238E27FC236}">
                  <a16:creationId xmlns:a16="http://schemas.microsoft.com/office/drawing/2014/main" id="{4410A7C9-7FA3-E199-8E0C-4645098C3BED}"/>
                </a:ext>
              </a:extLst>
            </p:cNvPr>
            <p:cNvCxnSpPr/>
            <p:nvPr/>
          </p:nvCxnSpPr>
          <p:spPr>
            <a:xfrm>
              <a:off x="3320995" y="3315822"/>
              <a:ext cx="523905" cy="0"/>
            </a:xfrm>
            <a:prstGeom prst="line">
              <a:avLst/>
            </a:prstGeom>
            <a:noFill/>
            <a:ln w="28575" cap="flat" cmpd="sng" algn="ctr">
              <a:solidFill>
                <a:sysClr val="windowText" lastClr="000000">
                  <a:shade val="95000"/>
                  <a:satMod val="105000"/>
                </a:sysClr>
              </a:solidFill>
              <a:prstDash val="solid"/>
            </a:ln>
            <a:effectLst/>
          </p:spPr>
        </p:cxnSp>
        <p:grpSp>
          <p:nvGrpSpPr>
            <p:cNvPr id="29" name="组合 152">
              <a:extLst>
                <a:ext uri="{FF2B5EF4-FFF2-40B4-BE49-F238E27FC236}">
                  <a16:creationId xmlns:a16="http://schemas.microsoft.com/office/drawing/2014/main" id="{BC0D1579-2A07-08AE-67A7-3655083D11EC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 flipH="1">
              <a:off x="5814011" y="3111989"/>
              <a:ext cx="82384" cy="379142"/>
              <a:chOff x="7740" y="4641"/>
              <a:chExt cx="360" cy="1872"/>
            </a:xfrm>
          </p:grpSpPr>
          <p:sp>
            <p:nvSpPr>
              <p:cNvPr id="30" name="自选图形 154">
                <a:extLst>
                  <a:ext uri="{FF2B5EF4-FFF2-40B4-BE49-F238E27FC236}">
                    <a16:creationId xmlns:a16="http://schemas.microsoft.com/office/drawing/2014/main" id="{7178EDE9-3E4F-B9DF-65A7-7EF9D432F4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7740" y="4641"/>
                <a:ext cx="360" cy="936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87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31" name="自选图形 153">
                <a:extLst>
                  <a:ext uri="{FF2B5EF4-FFF2-40B4-BE49-F238E27FC236}">
                    <a16:creationId xmlns:a16="http://schemas.microsoft.com/office/drawing/2014/main" id="{C1ACB9F5-2846-21DB-5CC0-54AA8CD7BC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V="1">
                <a:off x="7740" y="5577"/>
                <a:ext cx="360" cy="936"/>
              </a:xfrm>
              <a:prstGeom prst="triangle">
                <a:avLst>
                  <a:gd name="adj" fmla="val 50000"/>
                </a:avLst>
              </a:prstGeom>
              <a:solidFill>
                <a:srgbClr val="FF0000"/>
              </a:solidFill>
              <a:ln>
                <a:noFill/>
              </a:ln>
            </p:spPr>
            <p:txBody>
              <a:bodyPr/>
              <a:lstStyle/>
              <a:p>
                <a:pPr defTabSz="967037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2879" kern="0">
                  <a:solidFill>
                    <a:prstClr val="black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34" name="组合 168">
            <a:extLst>
              <a:ext uri="{FF2B5EF4-FFF2-40B4-BE49-F238E27FC236}">
                <a16:creationId xmlns:a16="http://schemas.microsoft.com/office/drawing/2014/main" id="{66A60955-EF7D-0483-7166-6F26747C23C9}"/>
              </a:ext>
            </a:extLst>
          </p:cNvPr>
          <p:cNvGrpSpPr/>
          <p:nvPr/>
        </p:nvGrpSpPr>
        <p:grpSpPr>
          <a:xfrm>
            <a:off x="2941586" y="4204306"/>
            <a:ext cx="6379190" cy="82793"/>
            <a:chOff x="7970" y="5937"/>
            <a:chExt cx="1125" cy="4"/>
          </a:xfrm>
        </p:grpSpPr>
        <p:sp>
          <p:nvSpPr>
            <p:cNvPr id="35" name="直线 170">
              <a:extLst>
                <a:ext uri="{FF2B5EF4-FFF2-40B4-BE49-F238E27FC236}">
                  <a16:creationId xmlns:a16="http://schemas.microsoft.com/office/drawing/2014/main" id="{7FA4D763-4501-917E-C7E6-6DFEACFBD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1" y="5940"/>
              <a:ext cx="1124" cy="1"/>
            </a:xfrm>
            <a:prstGeom prst="line">
              <a:avLst/>
            </a:prstGeom>
            <a:noFill/>
            <a:ln w="76200">
              <a:pattFill prst="ltUpDiag">
                <a:fgClr>
                  <a:srgbClr val="000000"/>
                </a:fgClr>
                <a:bgClr>
                  <a:srgbClr val="FFFFFF"/>
                </a:bgClr>
              </a:pattFill>
              <a:round/>
            </a:ln>
          </p:spPr>
          <p:txBody>
            <a:bodyPr/>
            <a:lstStyle/>
            <a:p>
              <a:pPr defTabSz="967037"/>
              <a:endParaRPr lang="zh-CN" altLang="en-US" sz="2159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6" name="直线 169">
              <a:extLst>
                <a:ext uri="{FF2B5EF4-FFF2-40B4-BE49-F238E27FC236}">
                  <a16:creationId xmlns:a16="http://schemas.microsoft.com/office/drawing/2014/main" id="{FA140B70-93CB-BF45-22A6-8753E2B0C0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0" y="5937"/>
              <a:ext cx="112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</p:spPr>
          <p:txBody>
            <a:bodyPr/>
            <a:lstStyle/>
            <a:p>
              <a:pPr defTabSz="967037"/>
              <a:endParaRPr lang="zh-CN" altLang="en-US" sz="2159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37" name="等腰三角形​​ 38071">
            <a:extLst>
              <a:ext uri="{FF2B5EF4-FFF2-40B4-BE49-F238E27FC236}">
                <a16:creationId xmlns:a16="http://schemas.microsoft.com/office/drawing/2014/main" id="{308B65B5-85A1-2DE9-3CFC-654677FCE4C1}"/>
              </a:ext>
            </a:extLst>
          </p:cNvPr>
          <p:cNvSpPr/>
          <p:nvPr/>
        </p:nvSpPr>
        <p:spPr>
          <a:xfrm>
            <a:off x="3381817" y="4289861"/>
            <a:ext cx="217140" cy="217140"/>
          </a:xfrm>
          <a:prstGeom prst="triangle">
            <a:avLst/>
          </a:prstGeom>
          <a:solidFill>
            <a:srgbClr val="1E76B0"/>
          </a:solidFill>
          <a:ln w="25400" cap="flat" cmpd="sng" algn="ctr">
            <a:solidFill>
              <a:srgbClr val="1E76B0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defTabSz="967037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2159" kern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282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98636E-07 3.16512E-06 L 0.0237 3.16512E-06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37 3.16512E-06 L 0.04727 3.16512E-06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27 3.16512E-06 L 0.07097 3.16512E-06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222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083 3.16512E-06 L 0.23619 3.16512E-06" pathEditMode="relative" rAng="0" ptsTypes="AA">
                                      <p:cBhvr>
                                        <p:cTn id="18" dur="9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8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3" presetClass="pat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67507E-06 3.73836E-06 L 0.16549 3.73836E-06" pathEditMode="relative" rAng="0" ptsTypes="AA">
                                      <p:cBhvr>
                                        <p:cTn id="20" dur="8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26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511505D-62A8-36CD-995F-23E0EBDB8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精密的实验表明，滑动摩擦力的大小与正压力成正比，与接触面的粗糙程度有关</a:t>
            </a:r>
            <a:endParaRPr lang="en-US" dirty="0"/>
          </a:p>
        </p:txBody>
      </p:sp>
      <p:pic>
        <p:nvPicPr>
          <p:cNvPr id="1330" name="内容占位符 1329">
            <a:extLst>
              <a:ext uri="{FF2B5EF4-FFF2-40B4-BE49-F238E27FC236}">
                <a16:creationId xmlns:a16="http://schemas.microsoft.com/office/drawing/2014/main" id="{44D63A44-8FF0-3E0E-5147-3F20EADB8A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601203"/>
            <a:ext cx="5181600" cy="2800182"/>
          </a:xfrm>
          <a:prstGeom prst="rect">
            <a:avLst/>
          </a:prstGeom>
        </p:spPr>
      </p:pic>
      <p:pic>
        <p:nvPicPr>
          <p:cNvPr id="1331" name="内容占位符 1330">
            <a:extLst>
              <a:ext uri="{FF2B5EF4-FFF2-40B4-BE49-F238E27FC236}">
                <a16:creationId xmlns:a16="http://schemas.microsoft.com/office/drawing/2014/main" id="{F2A81088-52DA-EF71-E3B3-4BF60AB280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438670"/>
            <a:ext cx="5181600" cy="312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278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1" name="yt_shape_13781"/>
          <p:cNvSpPr txBox="1"/>
          <p:nvPr/>
        </p:nvSpPr>
        <p:spPr>
          <a:xfrm>
            <a:off x="267086" y="897208"/>
            <a:ext cx="11924914" cy="53389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滑动摩擦力产生的必备条件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两物体相互接触且挤压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即有弹力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物体间的接触面粗糙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两物体间存在相对运动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提醒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三个条件必须同时具备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两物体间才有滑动摩擦力。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滑动摩擦力的方向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在接触面上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与接触面相切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且与物体相对运动的方向相反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与物体的运动方向可能相同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也可能相反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0_74970"/>
              </a:rPr>
              <a:t>滑动摩擦力既可以是动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也可以是阻力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EDF5994-6B2E-441C-AE5F-6B49636A6C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86" y="383458"/>
            <a:ext cx="2348632" cy="6178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6="http://schemas.microsoft.com/office/drawing/2014/main" xmlns:a14="http://schemas.microsoft.com/office/drawing/2010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9" name="yt_shape_13789"/>
          <p:cNvSpPr txBox="1"/>
          <p:nvPr/>
        </p:nvSpPr>
        <p:spPr>
          <a:xfrm>
            <a:off x="324000" y="467999"/>
            <a:ext cx="3321422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滑动摩擦力的大小</a:t>
            </a:r>
          </a:p>
        </p:txBody>
      </p:sp>
      <p:sp>
        <p:nvSpPr>
          <p:cNvPr id="13790" name="yt_shape_13790"/>
          <p:cNvSpPr txBox="1"/>
          <p:nvPr/>
        </p:nvSpPr>
        <p:spPr>
          <a:xfrm>
            <a:off x="324000" y="1050984"/>
            <a:ext cx="6144311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公式法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根据公式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μF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计算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3791" name="yt_shape_13791"/>
          <p:cNvSpPr txBox="1"/>
          <p:nvPr/>
        </p:nvSpPr>
        <p:spPr>
          <a:xfrm>
            <a:off x="324071" y="1633969"/>
            <a:ext cx="11924914" cy="111626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二力平衡法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物体处于平衡状态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匀速直线运动或静止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_a61af"/>
              </a:rPr>
              <a:t>根据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二力平衡条件求解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AD762-11D8-1D62-5EAF-FD3C7B02D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传送带上的物体所受的摩擦力是怎样的？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30262F6-8B5F-A618-0BA9-E10E131DB5D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4800" y="2172494"/>
            <a:ext cx="65024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70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1" name="yt_shape_13831"/>
          <p:cNvSpPr txBox="1"/>
          <p:nvPr/>
        </p:nvSpPr>
        <p:spPr>
          <a:xfrm>
            <a:off x="324071" y="467999"/>
            <a:ext cx="11924914" cy="47357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静摩擦力的理解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相对运动趋势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20_ee080"/>
              </a:rPr>
              <a:t>产生静摩擦力的两个物体之间具有相对运动的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趋势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相对静止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产生静摩擦力的两个物体相对静止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6_73a3a"/>
              </a:rPr>
              <a:t>但它们相对于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地面可能是运动的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“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阻碍效果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”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静摩擦力阻碍两物体间的相对运动趋势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9a923"/>
              </a:rPr>
              <a:t>静摩擦力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既可能与物体的运动方向相同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动力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3_0a604"/>
              </a:rPr>
              <a:t>也可能与物体的运动方向相反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阻力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5" name="yt_shape_13835"/>
          <p:cNvSpPr txBox="1"/>
          <p:nvPr/>
        </p:nvSpPr>
        <p:spPr>
          <a:xfrm>
            <a:off x="324000" y="467999"/>
            <a:ext cx="296234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静摩擦力的大小</a:t>
            </a:r>
          </a:p>
        </p:txBody>
      </p:sp>
      <p:sp>
        <p:nvSpPr>
          <p:cNvPr id="13836" name="yt_shape_13836"/>
          <p:cNvSpPr txBox="1"/>
          <p:nvPr/>
        </p:nvSpPr>
        <p:spPr>
          <a:xfrm>
            <a:off x="324000" y="1050984"/>
            <a:ext cx="408284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范围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＜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≤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3837" name="yt_shape_13837"/>
          <p:cNvSpPr txBox="1"/>
          <p:nvPr/>
        </p:nvSpPr>
        <p:spPr>
          <a:xfrm>
            <a:off x="324000" y="1633969"/>
            <a:ext cx="1095171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计算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物体做匀速直线运动或静止时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根据二力平衡条件求解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3838" name="yt_shape_13838"/>
          <p:cNvSpPr txBox="1"/>
          <p:nvPr/>
        </p:nvSpPr>
        <p:spPr>
          <a:xfrm>
            <a:off x="324000" y="2216954"/>
            <a:ext cx="5565626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静摩擦力大小与正压力无关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  <p:sp>
        <p:nvSpPr>
          <p:cNvPr id="13839" name="yt_shape_13839"/>
          <p:cNvSpPr txBox="1"/>
          <p:nvPr/>
        </p:nvSpPr>
        <p:spPr>
          <a:xfrm>
            <a:off x="324071" y="2799939"/>
            <a:ext cx="11924914" cy="11354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拓展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最大静摩擦力的大小与正压力成正比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即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max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＝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μ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F</a:t>
            </a:r>
            <a:r>
              <a:rPr lang="zh-CN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压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。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μ</a:t>
            </a:r>
            <a:r>
              <a:rPr lang="en-US" altLang="zh-CN" sz="2800" b="0" i="0" u="none" baseline="-25000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0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  <a:sym typeface="_⨹_4_627fb"/>
              </a:rPr>
              <a:t>为静摩擦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因数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它取决于接触面的材料和粗糙程度。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0" name="yt_shape_13840"/>
          <p:cNvSpPr txBox="1"/>
          <p:nvPr/>
        </p:nvSpPr>
        <p:spPr>
          <a:xfrm>
            <a:off x="324000" y="467999"/>
            <a:ext cx="10233571" cy="1738681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1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4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黑体" pitchFamily="28"/>
              </a:rPr>
              <a:t>静摩擦力有无的判断方法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条件判断法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接触面之间有压力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、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粗糙且有相对运动趋势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假设法</a:t>
            </a:r>
          </a:p>
        </p:txBody>
      </p:sp>
      <p:pic>
        <p:nvPicPr>
          <p:cNvPr id="13843" name="yt_image_13843" title="H_152.04">
            <a:extLst>
              <a:ext uri="">
                <a16:creationId xmlns="" xmlns:a16="http://schemas.microsoft.com/office/drawing/2014/main" xmlns:p15="http://schemas.microsoft.com/office/powerpoint/2012/main" xmlns:mc="http://schemas.openxmlformats.org/markup-compatibility/2006" xmlns:a14="http://schemas.microsoft.com/office/drawing/2010/main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5919" y="2369318"/>
            <a:ext cx="5880161" cy="1930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845" name="yt_shape_13845"/>
          <p:cNvSpPr txBox="1"/>
          <p:nvPr/>
        </p:nvSpPr>
        <p:spPr>
          <a:xfrm>
            <a:off x="324000" y="4350588"/>
            <a:ext cx="7360989" cy="53219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3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平衡条件法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：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根据二力平衡的条件判断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a14="http://schemas.microsoft.com/office/drawing/2010/main" xmlns:a16="http://schemas.microsoft.com/office/drawing/2014/main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5FD2E-3D3C-8498-AFD8-EB694A83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C2E98-0F26-0D9F-4B30-B9A816AB5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传送带上的物体所受的摩擦力是怎样的？</a:t>
            </a:r>
          </a:p>
        </p:txBody>
      </p:sp>
      <p:pic>
        <p:nvPicPr>
          <p:cNvPr id="2050" name="Picture 2" descr="On The Conveyor Belt GIFs | Tenor">
            <a:extLst>
              <a:ext uri="{FF2B5EF4-FFF2-40B4-BE49-F238E27FC236}">
                <a16:creationId xmlns:a16="http://schemas.microsoft.com/office/drawing/2014/main" id="{1EF7400E-29AF-8FA6-D78C-DFB25F9A717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5680" y="1440974"/>
            <a:ext cx="5120640" cy="512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852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99D106-BB91-62E7-AC55-A4F05D6E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自行车受到的摩擦力是怎样的？</a:t>
            </a:r>
          </a:p>
        </p:txBody>
      </p:sp>
      <p:pic>
        <p:nvPicPr>
          <p:cNvPr id="3074" name="Picture 2" descr="Cykling GIFs - Find &amp; Share on GIPHY">
            <a:extLst>
              <a:ext uri="{FF2B5EF4-FFF2-40B4-BE49-F238E27FC236}">
                <a16:creationId xmlns:a16="http://schemas.microsoft.com/office/drawing/2014/main" id="{902472A5-5DE4-D8D5-3E88-AC3C341BFE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2280444"/>
            <a:ext cx="6350000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547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BF062-A22D-B624-7DEB-2C7B68B5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钢卷收到的摩擦力是怎样的？</a:t>
            </a:r>
          </a:p>
        </p:txBody>
      </p:sp>
      <p:pic>
        <p:nvPicPr>
          <p:cNvPr id="4098" name="Picture 2" descr="Isn't it safe to stretch the steel coil and lay it flat?Why do trucks  always pull steel coils upright? - iNEWS">
            <a:extLst>
              <a:ext uri="{FF2B5EF4-FFF2-40B4-BE49-F238E27FC236}">
                <a16:creationId xmlns:a16="http://schemas.microsoft.com/office/drawing/2014/main" id="{92416C9D-FC82-0CE1-5BDD-3C3CAFD8B8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2007394"/>
            <a:ext cx="7112000" cy="398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8761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2" name="yt_shape_13862"/>
          <p:cNvSpPr txBox="1"/>
          <p:nvPr/>
        </p:nvSpPr>
        <p:spPr>
          <a:xfrm>
            <a:off x="342732" y="886675"/>
            <a:ext cx="11543998" cy="173868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1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.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 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en-US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2026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Times New Roman" pitchFamily="28"/>
              </a:rPr>
              <a:t>·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楷体" pitchFamily="28"/>
              </a:rPr>
              <a:t>浙江宁波期末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如图所示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传送带以速度</a:t>
            </a:r>
            <a:r>
              <a:rPr lang="en-US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v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顺时针匀速转动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1_cb425"/>
              </a:rPr>
              <a:t>一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物块由静止放上传送带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经过一段时间后物块相对传送带静止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。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  <a:sym typeface="_⨹_4_5798d"/>
              </a:rPr>
              <a:t>下列说法</a:t>
            </a:r>
            <a:b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</a:br>
            <a:r>
              <a:rPr lang="zh-CN" altLang="zh-CN" sz="2800" b="0" i="0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正确的是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（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en-US" altLang="zh-CN" sz="2800" b="0" i="0" u="none">
                <a:solidFill>
                  <a:srgbClr val="C00000">
                    <a:alpha val="0"/>
                  </a:srgbClr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1" u="none">
                <a:solidFill>
                  <a:srgbClr val="000000"/>
                </a:solidFill>
                <a:effectLst/>
                <a:latin typeface="Times New Roman" pitchFamily="28"/>
                <a:ea typeface="宋体" pitchFamily="28"/>
              </a:rPr>
              <a:t>　</a:t>
            </a:r>
            <a:r>
              <a:rPr lang="zh-CN" altLang="zh-CN" sz="2800" b="0" i="0" u="none">
                <a:solidFill>
                  <a:srgbClr val="000000"/>
                </a:solidFill>
                <a:effectLst/>
                <a:latin typeface="宋体" pitchFamily="28"/>
                <a:ea typeface="宋体" pitchFamily="28"/>
              </a:rPr>
              <a:t>）</a:t>
            </a:r>
          </a:p>
        </p:txBody>
      </p:sp>
      <p:graphicFrame>
        <p:nvGraphicFramePr>
          <p:cNvPr id="13864" name="yt_table_13864_skip" title="H_329.28">
            <a:extLst>
              <a:ext uri="{FF2B5EF4-FFF2-40B4-BE49-F238E27FC236}">
                <a16:creationId xmlns:a16="http://schemas.microsoft.com/office/drawing/2014/main" id="{85F9CD91-DE56-4981-AD6D-3D4292DC4A24}"/>
              </a:ext>
            </a:extLst>
          </p:cNvPr>
          <p:cNvGraphicFramePr>
            <a:graphicFrameLocks noGrp="1"/>
          </p:cNvGraphicFramePr>
          <p:nvPr/>
        </p:nvGraphicFramePr>
        <p:xfrm>
          <a:off x="342727" y="2676144"/>
          <a:ext cx="9219303" cy="4181856"/>
        </p:xfrm>
        <a:graphic>
          <a:graphicData uri="http://schemas.openxmlformats.org/drawingml/2006/table">
            <a:tbl>
              <a:tblPr/>
              <a:tblGrid>
                <a:gridCol w="9219303">
                  <a:extLst>
                    <a:ext uri="{9D8B030D-6E8A-4147-A177-3AD203B41FA5}">
                      <a16:colId xmlns:a16="http://schemas.microsoft.com/office/drawing/2014/main" val="103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A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物块放上传送带瞬间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物块受到的摩擦力为静摩擦力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  <a:sym typeface="_⨹_1_9ba84"/>
                        </a:rPr>
                        <a:t>，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方向平行传送带向下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B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物块放上传送带瞬间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3_6e687"/>
                        </a:rPr>
                        <a:t>物块受到的摩擦力为滑动摩擦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力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方向平行传送带向下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03492" indent="-503492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C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物块相对传送带静止时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  <a:sym typeface="_⨹_13_8d640"/>
                        </a:rPr>
                        <a:t>物块有相对传送带向下运动的</a:t>
                      </a:r>
                      <a:b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</a:b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趋势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23174" indent="-523174" algn="l" eaLnBrk="1" fontAlgn="ctr" latinLnBrk="0" hangingPunct="0">
                        <a:lnSpc>
                          <a:spcPct val="140000"/>
                        </a:lnSpc>
                      </a:pP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D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.</a:t>
                      </a:r>
                      <a:r>
                        <a:rPr lang="en-US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 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物块相对传送带静止时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宋体" pitchFamily="28"/>
                          <a:ea typeface="宋体" pitchFamily="28"/>
                        </a:rPr>
                        <a:t>，</a:t>
                      </a:r>
                      <a:r>
                        <a:rPr lang="zh-CN" altLang="zh-CN" sz="2800" b="0" i="0" u="none">
                          <a:solidFill>
                            <a:srgbClr val="000000"/>
                          </a:solidFill>
                          <a:effectLst/>
                          <a:latin typeface="Times New Roman" pitchFamily="28"/>
                          <a:ea typeface="宋体" pitchFamily="28"/>
                        </a:rPr>
                        <a:t>物块没有受到摩擦力的作用</a:t>
                      </a:r>
                    </a:p>
                  </a:txBody>
                  <a:tcPr marL="0" marR="0" marT="0" marB="0" anchor="ctr">
                    <a:lnL w="9522" cmpd="sng">
                      <a:noFill/>
                    </a:lnL>
                    <a:lnR w="9522" cmpd="sng">
                      <a:noFill/>
                    </a:lnR>
                    <a:lnT w="9522" cmpd="sng">
                      <a:noFill/>
                    </a:lnT>
                    <a:lnB w="9522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4"/>
                  </a:ext>
                </a:extLst>
              </a:tr>
            </a:tbl>
          </a:graphicData>
        </a:graphic>
      </p:graphicFrame>
      <p:pic>
        <p:nvPicPr>
          <p:cNvPr id="13863" name="yt_image_13863_skip" title="H_129.6">
            <a:extLst>
              <a:ext uri="">
                <a16:creationId xmlns="" xmlns:a16="http://schemas.microsoft.com/office/drawing/2014/main" xmlns:p15="http://schemas.microsoft.com/office/powerpoint/2012/main" xmlns:p14="http://schemas.microsoft.com/office/powerpoint/2010/main" xmlns:a14="http://schemas.microsoft.com/office/drawing/2010/main" xmlns:mc="http://schemas.openxmlformats.org/markup-compatibility/2006" id="{5351258F-BC95-41E6-9372-C2FE361B0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59973" y="2676144"/>
            <a:ext cx="2324615" cy="1645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321326-13EE-4346-8BA3-83BDF1BA09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27" y="396022"/>
            <a:ext cx="2348629" cy="61787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8AFB920-9FA1-4E95-AE2D-F19F0BDE6791}"/>
              </a:ext>
            </a:extLst>
          </p:cNvPr>
          <p:cNvSpPr/>
          <p:nvPr/>
        </p:nvSpPr>
        <p:spPr>
          <a:xfrm>
            <a:off x="140230" y="5177860"/>
            <a:ext cx="76166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500" b="1" dirty="0">
                <a:solidFill>
                  <a:srgbClr val="C00000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√</a:t>
            </a:r>
            <a:endParaRPr lang="zh-CN" altLang="en-US" sz="4500" b="1" dirty="0">
              <a:solidFill>
                <a:srgbClr val="C0000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pageCurlDouble"/>
      </p:transition>
    </mc:Choice>
    <mc:Fallback xmlns="" xmlns:p14="http://schemas.microsoft.com/office/powerpoint/2010/main" xmlns:a16="http://schemas.microsoft.com/office/drawing/2014/main" xmlns:a14="http://schemas.microsoft.com/office/drawing/2010/main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Y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6" name="yt_shape_13866"/>
          <p:cNvSpPr txBox="1"/>
          <p:nvPr/>
        </p:nvSpPr>
        <p:spPr>
          <a:xfrm>
            <a:off x="324071" y="467999"/>
            <a:ext cx="11924914" cy="29451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l" eaLnBrk="1" latinLnBrk="0" hangingPunct="0">
              <a:lnSpc>
                <a:spcPct val="140000"/>
              </a:lnSpc>
            </a:pPr>
            <a:r>
              <a:rPr lang="zh-CN" altLang="zh-CN" sz="2800" b="0" i="0" u="none">
                <a:solidFill>
                  <a:srgbClr val="0000FF"/>
                </a:solidFill>
                <a:effectLst/>
                <a:latin typeface="Times New Roman" pitchFamily="28"/>
                <a:ea typeface="黑体" pitchFamily="28"/>
              </a:rPr>
              <a:t>解析：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因物块由静止放上传送带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物块与传送带存在相对运动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4_89466"/>
              </a:rPr>
              <a:t>物块受到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的摩擦力为滑动摩擦力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摩擦力方向与相对运动方向相反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6_93298"/>
              </a:rPr>
              <a:t>因此物块受到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的摩擦力方向平行传送带向上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A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、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B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物块相对传送带静止时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2_63f1a"/>
              </a:rPr>
              <a:t>两者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之间为静摩擦力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摩擦力方向向上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  <a:sym typeface="_⨹_16_8305f"/>
              </a:rPr>
              <a:t>与物块所受重力沿传送带向下的分量</a:t>
            </a:r>
            <a:b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</a:b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平衡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阻碍物块相对传送带下滑的趋势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C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正确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宋体" pitchFamily="28"/>
                <a:ea typeface="宋体" pitchFamily="28"/>
              </a:rPr>
              <a:t>，</a:t>
            </a:r>
            <a:r>
              <a:rPr lang="en-US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宋体" pitchFamily="28"/>
              </a:rPr>
              <a:t>D</a:t>
            </a:r>
            <a:r>
              <a:rPr lang="zh-CN" altLang="zh-CN" sz="2800" b="0" i="0" u="none">
                <a:solidFill>
                  <a:srgbClr val="C00000"/>
                </a:solidFill>
                <a:effectLst/>
                <a:latin typeface="Times New Roman" pitchFamily="28"/>
                <a:ea typeface="仿宋" pitchFamily="28"/>
              </a:rPr>
              <a:t>错误。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1022</TotalTime>
  <Words>730</Words>
  <Application>Microsoft Macintosh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方正新报宋_GBK</vt:lpstr>
      <vt:lpstr>微软雅黑</vt:lpstr>
      <vt:lpstr>微软雅黑</vt:lpstr>
      <vt:lpstr>宋体</vt:lpstr>
      <vt:lpstr>华文细黑</vt:lpstr>
      <vt:lpstr>Arial</vt:lpstr>
      <vt:lpstr>Calibri</vt:lpstr>
      <vt:lpstr>Times New Roman</vt:lpstr>
      <vt:lpstr>Office 主题​​</vt:lpstr>
      <vt:lpstr>PowerPoint Presentation</vt:lpstr>
      <vt:lpstr>摩擦力</vt:lpstr>
      <vt:lpstr>你觉得摩擦力大吗？为什么？</vt:lpstr>
      <vt:lpstr>同样的材料相接触，摩擦力相同吗？</vt:lpstr>
      <vt:lpstr>定量分析静摩擦力</vt:lpstr>
      <vt:lpstr>精密的实验表明，滑动摩擦力的大小与正压力成正比，与接触面的粗糙程度有关</vt:lpstr>
      <vt:lpstr>PowerPoint Presentation</vt:lpstr>
      <vt:lpstr>PowerPoint Presentation</vt:lpstr>
      <vt:lpstr>传送带上的物体所受的摩擦力是怎样的？</vt:lpstr>
      <vt:lpstr>PowerPoint Presentation</vt:lpstr>
      <vt:lpstr>PowerPoint Presentation</vt:lpstr>
      <vt:lpstr>PowerPoint Presentation</vt:lpstr>
      <vt:lpstr>传送带上的物体所受的摩擦力是怎样的？</vt:lpstr>
      <vt:lpstr>自行车受到的摩擦力是怎样的？</vt:lpstr>
      <vt:lpstr>钢卷收到的摩擦力是怎样的？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5</cp:revision>
  <dcterms:created xsi:type="dcterms:W3CDTF">2025-09-17T08:29:39Z</dcterms:created>
  <dcterms:modified xsi:type="dcterms:W3CDTF">2026-10-13T00:57:41Z</dcterms:modified>
</cp:coreProperties>
</file>