
<file path=[Content_Types].xml><?xml version="1.0" encoding="utf-8"?>
<Types xmlns="http://schemas.openxmlformats.org/package/2006/content-types">
  <Default Extension="bin" ContentType="image/png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6" r:id="rId5"/>
    <p:sldId id="267" r:id="rId6"/>
    <p:sldId id="268" r:id="rId7"/>
    <p:sldId id="269" r:id="rId8"/>
    <p:sldId id="270" r:id="rId9"/>
    <p:sldId id="339" r:id="rId10"/>
    <p:sldId id="354" r:id="rId11"/>
    <p:sldId id="3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980843-2755-BC44-96FD-A180A2F2F774}" v="152" dt="2025-09-02T08:40:21.9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5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6C505D-17E7-D14F-B86D-A517020B150B}" type="datetimeFigureOut">
              <a:rPr kumimoji="1" lang="zh-CN" altLang="en-US" smtClean="0"/>
              <a:t>2026/6/4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4EA6BF-B998-A44E-851D-9A4E7638FD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17414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BAE26-56B8-2430-61FE-210867C46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7BB5E0-8FB4-28ED-7516-8F1B6E232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2B10A-941C-D939-27AC-6B15C7D3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9AD2BD-88C2-A651-59BE-1F23AE6A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89C6D7-3953-E131-FC50-ABB0C76B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1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87BA6-2A8E-5FA0-58D6-C944834A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37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3081"/>
            <a:ext cx="10515600" cy="5811838"/>
          </a:xfrm>
        </p:spPr>
        <p:txBody>
          <a:bodyPr/>
          <a:lstStyle>
            <a:lvl1pPr marL="0" indent="0">
              <a:buNone/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45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037C5-4353-B18D-E7F6-50395C053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>
            <a:lvl1pPr algn="ctr"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95E053-2D55-7D42-832A-64D9FD71F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09B3BC-5091-C9EB-93DC-DAA2C048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B95254-26E7-464E-C68E-165FA680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00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35E84-15A1-7FC9-AFAF-8FADC46CD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4AF478-0EFE-AC89-ED8A-29756B0B9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9BB167-44B9-706B-D666-89AE18CB9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E7B3BB-7A6E-45B9-71DF-CB6C64FBA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162526-EB46-7571-519E-1D9919B8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DE84E-A2DC-6924-24F0-2B979681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9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3554D5-D7A9-A1DD-900A-2FD838DA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E7B749-E7A9-21B5-B42B-E0A39C25C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7C0BC1-B0B5-7AAD-E11A-81B8F71F4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39032A-E84E-69B4-CBA0-AA0E80DEE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5D864D-D9D2-FFDB-0B84-6A573F795D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228042-54E5-4EAA-2940-C44C57443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6/4/26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899DAD-BFB9-32DF-3CE6-59BAD615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AF6A48-CE64-6945-8AD6-C8258AA9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96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A0B8863-BAC7-B36D-C13B-DA7B7689B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6/4/26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C1886FE-AD99-9024-2807-F5F026508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43AE4A-99B5-3215-CD93-6E770BD76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665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8052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416FE3-9FFB-D473-650E-C0FF08387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6876DD-7317-1E24-5465-9C24EFCE5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8481CF-CAF6-E439-D9F9-98DE38F88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95057-F28B-4021-A46F-4C2D267CFC9D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123095-2A83-7320-9954-6441CBEAF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FB62F-A58A-E29F-AA4A-4628B2479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4" r:id="rId4"/>
    <p:sldLayoutId id="2147483652" r:id="rId5"/>
    <p:sldLayoutId id="2147483653" r:id="rId6"/>
    <p:sldLayoutId id="2147483657" r:id="rId7"/>
    <p:sldLayoutId id="2147483658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bin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232B2B-5927-5778-0BDC-53C8BA5C63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/>
              <a:t>电路中的能量转化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59537F6-8FAC-D468-D4D2-D584C92514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dirty="0"/>
              <a:t>Energy conversion 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circuit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9245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339F6E-DC37-62FE-D67E-F2867DD02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哪个电流更大？哪个能耗更高</a:t>
            </a:r>
          </a:p>
        </p:txBody>
      </p:sp>
      <p:pic>
        <p:nvPicPr>
          <p:cNvPr id="1026" name="Picture 2" descr="Electrical Grid 101 : All you need to know ! (With Quiz)">
            <a:extLst>
              <a:ext uri="{FF2B5EF4-FFF2-40B4-BE49-F238E27FC236}">
                <a16:creationId xmlns:a16="http://schemas.microsoft.com/office/drawing/2014/main" id="{C70DFF06-96FA-3567-793E-E00350249AA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43969"/>
            <a:ext cx="5181600" cy="291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est Animations">
            <a:extLst>
              <a:ext uri="{FF2B5EF4-FFF2-40B4-BE49-F238E27FC236}">
                <a16:creationId xmlns:a16="http://schemas.microsoft.com/office/drawing/2014/main" id="{278C017A-4869-64A9-2CFE-A2195A24465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384635"/>
            <a:ext cx="5181600" cy="3233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5045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4D0156-3FFC-CD89-D78C-349370B08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电流做功的实质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A1A41D-D4B0-BF40-C393-DB54D827605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1" lang="zh-CN" altLang="en-US" dirty="0"/>
              <a:t>导体中的恒定电场对自由电荷的静电力做功。</a:t>
            </a:r>
            <a:endParaRPr kumimoji="1" lang="en-US" altLang="zh-CN" dirty="0"/>
          </a:p>
          <a:p>
            <a:r>
              <a:rPr kumimoji="1" lang="zh-CN" altLang="en-US" dirty="0"/>
              <a:t>在时间</a:t>
            </a:r>
            <a:r>
              <a:rPr kumimoji="1" lang="en-US" altLang="zh-CN" dirty="0"/>
              <a:t>t</a:t>
            </a:r>
            <a:r>
              <a:rPr kumimoji="1" lang="zh-CN" altLang="en-US" dirty="0"/>
              <a:t>内通过这段电路任一横截面的电荷量：</a:t>
            </a:r>
            <a:endParaRPr kumimoji="1" lang="en-US" altLang="zh-CN" dirty="0"/>
          </a:p>
          <a:p>
            <a:endParaRPr kumimoji="1" lang="zh-CN" altLang="en-US" dirty="0"/>
          </a:p>
          <a:p>
            <a:r>
              <a:rPr lang="zh-CN" altLang="en-US" dirty="0">
                <a:latin typeface="+mn-ea"/>
                <a:cs typeface="+mn-ea"/>
              </a:rPr>
              <a:t>故电路中静电力对电荷做的功，即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cs typeface="+mn-ea"/>
              </a:rPr>
              <a:t>电流做功为：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D91E3A90-2198-BA19-39D1-833759122CD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lum contrast="6000"/>
          </a:blip>
          <a:stretch>
            <a:fillRect/>
          </a:stretch>
        </p:blipFill>
        <p:spPr>
          <a:xfrm>
            <a:off x="844550" y="2559844"/>
            <a:ext cx="5168900" cy="28829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0614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91EFAC-A3F9-B9A7-1005-E995964D4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电功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2510976-4D91-DF86-8202-B34276AA2C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685800" indent="-457200">
                  <a:lnSpc>
                    <a:spcPct val="150000"/>
                  </a:lnSpc>
                </a:pPr>
                <a:r>
                  <a:rPr lang="zh-CN" altLang="en-US" dirty="0"/>
                  <a:t>电流在一段电路中所做的功，等于这段电路两端的电压</a:t>
                </a:r>
                <a:r>
                  <a:rPr lang="en-US" altLang="zh-CN" dirty="0"/>
                  <a:t> </a:t>
                </a:r>
                <a:r>
                  <a:rPr lang="en-US" altLang="zh-CN" b="1" i="1" dirty="0">
                    <a:solidFill>
                      <a:srgbClr val="FF0000"/>
                    </a:solidFill>
                  </a:rPr>
                  <a:t>U </a:t>
                </a:r>
                <a:r>
                  <a:rPr lang="zh-CN" altLang="en-US" dirty="0"/>
                  <a:t>，电路中的电流</a:t>
                </a:r>
                <a:r>
                  <a:rPr lang="en-US" altLang="zh-CN" dirty="0"/>
                  <a:t> </a:t>
                </a:r>
                <a:r>
                  <a:rPr lang="en-US" altLang="zh-CN" b="1" i="1" dirty="0">
                    <a:solidFill>
                      <a:srgbClr val="FF0000"/>
                    </a:solidFill>
                  </a:rPr>
                  <a:t>I </a:t>
                </a:r>
                <a:r>
                  <a:rPr lang="zh-CN" altLang="en-US" dirty="0"/>
                  <a:t>，通电时间</a:t>
                </a:r>
                <a:r>
                  <a:rPr lang="en-US" altLang="zh-CN" dirty="0"/>
                  <a:t> </a:t>
                </a:r>
                <a:r>
                  <a:rPr lang="en-US" altLang="zh-CN" b="1" i="1" dirty="0">
                    <a:solidFill>
                      <a:srgbClr val="FF0000"/>
                    </a:solidFill>
                  </a:rPr>
                  <a:t>t </a:t>
                </a:r>
                <a:r>
                  <a:rPr lang="zh-CN" altLang="en-US" dirty="0"/>
                  <a:t>三者的乘积，即：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𝑈𝐼𝑡</m:t>
                    </m:r>
                  </m:oMath>
                </a14:m>
                <a:endParaRPr lang="en-US" altLang="zh-CN" dirty="0"/>
              </a:p>
              <a:p>
                <a:pPr marL="685800" indent="-457200">
                  <a:lnSpc>
                    <a:spcPct val="150000"/>
                  </a:lnSpc>
                </a:pPr>
                <a:r>
                  <a:rPr lang="zh-CN" altLang="en-US" dirty="0"/>
                  <a:t>电功的单位：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焦耳（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J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）</a:t>
                </a:r>
                <a:r>
                  <a:rPr lang="zh-CN" altLang="en-US" dirty="0"/>
                  <a:t>，常用的单位还有：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千瓦时（</a:t>
                </a:r>
                <a:r>
                  <a:rPr lang="en-US" altLang="zh-CN" b="1" dirty="0" err="1">
                    <a:solidFill>
                      <a:srgbClr val="FF0000"/>
                    </a:solidFill>
                  </a:rPr>
                  <a:t>kW·h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）</a:t>
                </a:r>
                <a:endParaRPr lang="en-US" altLang="zh-CN" b="1" dirty="0">
                  <a:solidFill>
                    <a:srgbClr val="FF0000"/>
                  </a:solidFill>
                </a:endParaRPr>
              </a:p>
              <a:p>
                <a:pPr marL="1143000" lvl="1" indent="-457200">
                  <a:lnSpc>
                    <a:spcPct val="150000"/>
                  </a:lnSpc>
                </a:pPr>
                <a:r>
                  <a:rPr lang="en-US" altLang="zh-CN" b="1" dirty="0">
                    <a:solidFill>
                      <a:srgbClr val="FF0000"/>
                    </a:solidFill>
                  </a:rPr>
                  <a:t>1</a:t>
                </a:r>
                <a:r>
                  <a:rPr lang="en-US" altLang="zh-CN" b="1" dirty="0">
                    <a:solidFill>
                      <a:srgbClr val="FF0000"/>
                    </a:solidFill>
                    <a:sym typeface="+mn-ea"/>
                  </a:rPr>
                  <a:t>kW·h = 3.6</a:t>
                </a:r>
                <a:r>
                  <a:rPr lang="en-US" altLang="zh-CN" b="1" dirty="0">
                    <a:solidFill>
                      <a:srgbClr val="FF0000"/>
                    </a:solidFill>
                    <a:latin typeface="Arial" panose="020B0604020202020204" pitchFamily="34" charset="0"/>
                    <a:sym typeface="+mn-ea"/>
                  </a:rPr>
                  <a:t>×10</a:t>
                </a:r>
                <a:r>
                  <a:rPr lang="en-US" altLang="zh-CN" b="1" baseline="30000" dirty="0">
                    <a:solidFill>
                      <a:srgbClr val="FF0000"/>
                    </a:solidFill>
                    <a:latin typeface="Arial" panose="020B0604020202020204" pitchFamily="34" charset="0"/>
                    <a:sym typeface="+mn-ea"/>
                  </a:rPr>
                  <a:t>6</a:t>
                </a:r>
                <a:r>
                  <a:rPr lang="en-US" altLang="zh-CN" b="1" dirty="0">
                    <a:solidFill>
                      <a:srgbClr val="FF0000"/>
                    </a:solidFill>
                    <a:latin typeface="Arial" panose="020B0604020202020204" pitchFamily="34" charset="0"/>
                    <a:sym typeface="+mn-ea"/>
                  </a:rPr>
                  <a:t>J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2510976-4D91-DF86-8202-B34276AA2C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r="-10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1074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68B01C-F7C7-ECEC-63C3-5E3FDCED3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调整的是什么？电功吗？</a:t>
            </a:r>
          </a:p>
        </p:txBody>
      </p:sp>
      <p:pic>
        <p:nvPicPr>
          <p:cNvPr id="2050" name="Picture 2" descr="The Thinker Lamp – Casa &amp; Beyond">
            <a:extLst>
              <a:ext uri="{FF2B5EF4-FFF2-40B4-BE49-F238E27FC236}">
                <a16:creationId xmlns:a16="http://schemas.microsoft.com/office/drawing/2014/main" id="{029E10EC-0AA8-2DDA-734E-BBA40ADC12B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20331" y="1825625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7514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0C4551-5CA7-CF04-B777-3FEEF42E9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电功率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7899993-2BF7-D096-B3B1-99FA32E75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685800" indent="-457200">
                  <a:lnSpc>
                    <a:spcPct val="150000"/>
                  </a:lnSpc>
                </a:pPr>
                <a:r>
                  <a:rPr lang="zh-CN" altLang="en-US" dirty="0"/>
                  <a:t>描述电流做功快慢的物理量。电流在一段电路中所做的功 </a:t>
                </a:r>
                <a:r>
                  <a:rPr lang="en-US" altLang="zh-CN" b="1" i="1" dirty="0">
                    <a:solidFill>
                      <a:srgbClr val="FF0000"/>
                    </a:solidFill>
                  </a:rPr>
                  <a:t>W</a:t>
                </a:r>
                <a:r>
                  <a:rPr lang="zh-CN" altLang="en-US" dirty="0"/>
                  <a:t>与通电时间 </a:t>
                </a:r>
                <a:r>
                  <a:rPr lang="en-US" altLang="zh-CN" b="1" i="1" dirty="0">
                    <a:solidFill>
                      <a:srgbClr val="FF0000"/>
                    </a:solidFill>
                  </a:rPr>
                  <a:t>t</a:t>
                </a:r>
                <a:r>
                  <a:rPr lang="zh-CN" altLang="en-US" b="1" i="1" dirty="0">
                    <a:solidFill>
                      <a:srgbClr val="FF0000"/>
                    </a:solidFill>
                  </a:rPr>
                  <a:t> </a:t>
                </a:r>
                <a:r>
                  <a:rPr lang="zh-CN" altLang="en-US" dirty="0"/>
                  <a:t>之比叫做电功率，即：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𝑈𝐼</m:t>
                    </m:r>
                  </m:oMath>
                </a14:m>
                <a:endParaRPr kumimoji="1" lang="en-US" altLang="zh-CN" dirty="0">
                  <a:solidFill>
                    <a:srgbClr val="FF0000"/>
                  </a:solidFill>
                </a:endParaRPr>
              </a:p>
              <a:p>
                <a:pPr marL="685800" indent="-457200">
                  <a:lnSpc>
                    <a:spcPct val="150000"/>
                  </a:lnSpc>
                </a:pPr>
                <a:r>
                  <a:rPr lang="zh-CN" altLang="en-US" dirty="0"/>
                  <a:t>电功率的单位：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瓦特（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W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）</a:t>
                </a:r>
                <a:r>
                  <a:rPr lang="zh-CN" altLang="en-US" b="1" dirty="0"/>
                  <a:t>，</a:t>
                </a:r>
                <a:r>
                  <a:rPr lang="zh-CN" altLang="en-US" dirty="0"/>
                  <a:t>常用的单位还有：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千瓦（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kW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）</a:t>
                </a:r>
                <a:endParaRPr kumimoji="1" lang="en-US" altLang="zh-CN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7899993-2BF7-D096-B3B1-99FA32E75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2586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15BCFE-6743-C922-E5F6-4E2540460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焦耳定律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D88AB0FE-7B36-F1F3-03CA-C5CF4BCCB4F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热量：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𝑈𝐼𝑡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由欧姆定律：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𝐼𝑅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得：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𝑅𝑡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热功率：</a:t>
                </a:r>
              </a:p>
            </p:txBody>
          </p:sp>
        </mc:Choice>
        <mc:Fallback xmlns="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D88AB0FE-7B36-F1F3-03CA-C5CF4BCCB4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200" t="-2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WaterCooker GLASS | DesignNest.com">
            <a:extLst>
              <a:ext uri="{FF2B5EF4-FFF2-40B4-BE49-F238E27FC236}">
                <a16:creationId xmlns:a16="http://schemas.microsoft.com/office/drawing/2014/main" id="{FA1AE1A5-C014-D954-BACA-2E6BCA175BD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1738" y="1825625"/>
            <a:ext cx="265452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6064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34D62D1-FFF3-1DD3-C435-82A590C526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zh-CN" altLang="en-US" sz="4000" dirty="0"/>
                  <a:t>一台电动机，线圈的电阻是 </a:t>
                </a:r>
                <a14:m>
                  <m:oMath xmlns:m="http://schemas.openxmlformats.org/officeDocument/2006/math">
                    <m:r>
                      <a:rPr lang="en-US" altLang="zh-CN" sz="4000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altLang="zh-CN" sz="4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4000" i="0" dirty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zh-CN" altLang="en-US" sz="4000" dirty="0"/>
                  <a:t>。当它两端所加的电压为 </a:t>
                </a:r>
                <a14:m>
                  <m:oMath xmlns:m="http://schemas.openxmlformats.org/officeDocument/2006/math">
                    <m:r>
                      <a:rPr lang="en-US" altLang="zh-CN" sz="4000" i="1" dirty="0" smtClean="0">
                        <a:latin typeface="Cambria Math" panose="02040503050406030204" pitchFamily="18" charset="0"/>
                      </a:rPr>
                      <m:t>220</m:t>
                    </m:r>
                    <m:r>
                      <m:rPr>
                        <m:lit/>
                      </m:rPr>
                      <a:rPr lang="en-US" altLang="zh-CN" sz="4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4000" b="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altLang="zh-CN" sz="4000" dirty="0"/>
                  <a:t> </a:t>
                </a:r>
                <a:r>
                  <a:rPr lang="zh-CN" altLang="en-US" sz="4000" dirty="0"/>
                  <a:t>时，通过的电流是 </a:t>
                </a:r>
                <a14:m>
                  <m:oMath xmlns:m="http://schemas.openxmlformats.org/officeDocument/2006/math">
                    <m:r>
                      <a:rPr lang="en-US" altLang="zh-CN" sz="400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lit/>
                      </m:rPr>
                      <a:rPr lang="en-US" altLang="zh-CN" sz="4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4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4000" dirty="0"/>
                  <a:t>。这台电动机发热的功率与对外做功的功率各是多少？</a:t>
                </a: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34D62D1-FFF3-1DD3-C435-82A590C526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171" t="-3493" r="-3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963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5" name="yt_shape_16235"/>
          <p:cNvSpPr txBox="1"/>
          <p:nvPr/>
        </p:nvSpPr>
        <p:spPr>
          <a:xfrm>
            <a:off x="4928734" y="467999"/>
            <a:ext cx="2225353" cy="53655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 spc="16653">
                <a:solidFill>
                  <a:srgbClr val="1EE3CF"/>
                </a:solidFill>
                <a:effectLst/>
                <a:latin typeface="Times New Roman" pitchFamily="28"/>
                <a:ea typeface="宋体" pitchFamily="28"/>
              </a:rPr>
              <a:t> </a:t>
            </a:r>
          </a:p>
        </p:txBody>
      </p:sp>
      <p:sp>
        <p:nvSpPr>
          <p:cNvPr id="16237" name="yt_shape_16237"/>
          <p:cNvSpPr txBox="1"/>
          <p:nvPr/>
        </p:nvSpPr>
        <p:spPr>
          <a:xfrm>
            <a:off x="468087" y="1144069"/>
            <a:ext cx="11172529" cy="24886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有四盏灯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7_f4cfa"/>
              </a:rPr>
              <a:t>如图所示连接在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电路中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L</a:t>
            </a:r>
            <a:r>
              <a:rPr lang="en-US" altLang="zh-CN" sz="3000" b="0" i="0" u="none" baseline="-2500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1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和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L</a:t>
            </a:r>
            <a:r>
              <a:rPr lang="en-US" altLang="zh-CN" sz="3000" b="0" i="0" u="none" baseline="-2500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2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都标有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“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220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 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V</a:t>
            </a:r>
            <a:r>
              <a:rPr lang="zh-CN" altLang="zh-CN" sz="3000" b="0" i="1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　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100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 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W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”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字样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L</a:t>
            </a:r>
            <a:r>
              <a:rPr lang="en-US" altLang="zh-CN" sz="3000" b="0" i="0" u="none" baseline="-2500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3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和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L</a:t>
            </a:r>
            <a:r>
              <a:rPr lang="en-US" altLang="zh-CN" sz="3000" b="0" i="0" u="none" baseline="-2500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4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都标有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“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220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1_a2640"/>
              </a:rPr>
              <a:t> 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V</a:t>
            </a:r>
            <a:r>
              <a:rPr lang="zh-CN" altLang="zh-CN" sz="3000" b="0" i="1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　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40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 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W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”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字样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把电路接通后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四个灯都能发光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。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4_13b61"/>
              </a:rPr>
              <a:t>最暗的是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（</a:t>
            </a:r>
            <a:r>
              <a:rPr lang="zh-CN" altLang="zh-CN" sz="3000" b="0" i="1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　　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）</a:t>
            </a:r>
          </a:p>
        </p:txBody>
      </p:sp>
      <p:pic>
        <p:nvPicPr>
          <p:cNvPr id="16238" name="yt_image_16238">
            <a:extLst>
              <a:ext uri="">
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56240" y="3293525"/>
            <a:ext cx="3191902" cy="2295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yt_table_16240" title="H_50.4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619705" y="3933056"/>
          <a:ext cx="4828223" cy="640080"/>
        </p:xfrm>
        <a:graphic>
          <a:graphicData uri="http://schemas.openxmlformats.org/drawingml/2006/table">
            <a:tbl>
              <a:tblPr/>
              <a:tblGrid>
                <a:gridCol w="2424430">
                  <a:extLst>
                    <a:ext uri="{9D8B030D-6E8A-4147-A177-3AD203B41FA5}">
                      <a16:colId xmlns:a16="http://schemas.microsoft.com/office/drawing/2014/main" val="10535"/>
                    </a:ext>
                  </a:extLst>
                </a:gridCol>
                <a:gridCol w="2403793">
                  <a:extLst>
                    <a:ext uri="{9D8B030D-6E8A-4147-A177-3AD203B41FA5}">
                      <a16:colId xmlns:a16="http://schemas.microsoft.com/office/drawing/2014/main" val="105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60634" indent="-56063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A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.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 L</a:t>
                      </a:r>
                      <a:r>
                        <a:rPr lang="en-US" altLang="zh-CN" sz="30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3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60634" indent="-56063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30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B</a:t>
                      </a:r>
                      <a:r>
                        <a:rPr lang="en-US" altLang="zh-CN" sz="3000" b="0" i="0" u="none" dirty="0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.</a:t>
                      </a:r>
                      <a:r>
                        <a:rPr lang="en-US" altLang="zh-CN" sz="30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 L</a:t>
                      </a:r>
                      <a:r>
                        <a:rPr lang="en-US" altLang="zh-CN" sz="3000" b="0" i="0" u="none" baseline="-25000" dirty="0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2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13"/>
                  </a:ext>
                </a:extLst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84102" y="4653136"/>
          <a:ext cx="3896043" cy="640080"/>
        </p:xfrm>
        <a:graphic>
          <a:graphicData uri="http://schemas.openxmlformats.org/drawingml/2006/table">
            <a:tbl>
              <a:tblPr/>
              <a:tblGrid>
                <a:gridCol w="2403793">
                  <a:extLst>
                    <a:ext uri="{9D8B030D-6E8A-4147-A177-3AD203B41FA5}">
                      <a16:colId xmlns:a16="http://schemas.microsoft.com/office/drawing/2014/main" val="4110768131"/>
                    </a:ext>
                  </a:extLst>
                </a:gridCol>
                <a:gridCol w="1492250">
                  <a:extLst>
                    <a:ext uri="{9D8B030D-6E8A-4147-A177-3AD203B41FA5}">
                      <a16:colId xmlns:a16="http://schemas.microsoft.com/office/drawing/2014/main" val="2888790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60634" indent="-56063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30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C</a:t>
                      </a:r>
                      <a:r>
                        <a:rPr lang="en-US" altLang="zh-CN" sz="3000" b="0" i="0" u="none" dirty="0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.</a:t>
                      </a:r>
                      <a:r>
                        <a:rPr lang="en-US" altLang="zh-CN" sz="30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 L</a:t>
                      </a:r>
                      <a:r>
                        <a:rPr lang="en-US" altLang="zh-CN" sz="3000" b="0" i="0" u="none" baseline="-25000" dirty="0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1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60634" indent="-56063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30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D</a:t>
                      </a:r>
                      <a:r>
                        <a:rPr lang="en-US" altLang="zh-CN" sz="3000" b="0" i="0" u="none" dirty="0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.</a:t>
                      </a:r>
                      <a:r>
                        <a:rPr lang="en-US" altLang="zh-CN" sz="30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 L</a:t>
                      </a:r>
                      <a:r>
                        <a:rPr lang="en-US" altLang="zh-CN" sz="3000" b="0" i="0" u="none" baseline="-25000" dirty="0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4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6316467"/>
                  </a:ext>
                </a:extLst>
              </a:tr>
            </a:tbl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9376" y="4149080"/>
            <a:ext cx="722784" cy="5796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 xmlns:a16="http://schemas.microsoft.com/office/drawing/2014/main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8" name="yt_shape_16278"/>
          <p:cNvSpPr txBox="1"/>
          <p:nvPr/>
        </p:nvSpPr>
        <p:spPr>
          <a:xfrm>
            <a:off x="4928734" y="467999"/>
            <a:ext cx="2225353" cy="53655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 spc="16653">
                <a:solidFill>
                  <a:srgbClr val="1EE3CF"/>
                </a:solidFill>
                <a:effectLst/>
                <a:latin typeface="Times New Roman" pitchFamily="28"/>
                <a:ea typeface="宋体" pitchFamily="28"/>
              </a:rPr>
              <a:t> </a:t>
            </a:r>
          </a:p>
        </p:txBody>
      </p:sp>
      <p:sp>
        <p:nvSpPr>
          <p:cNvPr id="16280" name="yt_shape_16280"/>
          <p:cNvSpPr txBox="1"/>
          <p:nvPr/>
        </p:nvSpPr>
        <p:spPr>
          <a:xfrm>
            <a:off x="324071" y="1144069"/>
            <a:ext cx="11924914" cy="184236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两根由同种材料制成的均匀电阻丝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A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、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B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串联在电路中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  <a:sym typeface="_⨹_1_a8056"/>
              </a:rPr>
              <a:t>，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A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的长度为</a:t>
            </a:r>
            <a:r>
              <a:rPr lang="en-US" altLang="zh-CN" sz="3000" b="0" i="1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L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直径为</a:t>
            </a:r>
            <a:r>
              <a:rPr lang="en-US" altLang="zh-CN" sz="3000" b="0" i="1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d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；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B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的长度为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2</a:t>
            </a:r>
            <a:r>
              <a:rPr lang="en-US" altLang="zh-CN" sz="3000" b="0" i="1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L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直径为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2</a:t>
            </a:r>
            <a:r>
              <a:rPr lang="en-US" altLang="zh-CN" sz="3000" b="0" i="1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d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7_5954a"/>
              </a:rPr>
              <a:t>那么通电后在相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同的时间内产生的热量之比为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（</a:t>
            </a:r>
            <a:r>
              <a:rPr lang="zh-CN" altLang="zh-CN" sz="3000" b="0" i="1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　　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）</a:t>
            </a:r>
          </a:p>
        </p:txBody>
      </p:sp>
      <p:graphicFrame>
        <p:nvGraphicFramePr>
          <p:cNvPr id="16281" name="yt_table_16281" title="H_100.8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71" y="3037221"/>
          <a:ext cx="8114030" cy="1280160"/>
        </p:xfrm>
        <a:graphic>
          <a:graphicData uri="http://schemas.openxmlformats.org/drawingml/2006/table">
            <a:tbl>
              <a:tblPr/>
              <a:tblGrid>
                <a:gridCol w="4523105">
                  <a:extLst>
                    <a:ext uri="{9D8B030D-6E8A-4147-A177-3AD203B41FA5}">
                      <a16:colId xmlns:a16="http://schemas.microsoft.com/office/drawing/2014/main" val="10544"/>
                    </a:ext>
                  </a:extLst>
                </a:gridCol>
                <a:gridCol w="3590925">
                  <a:extLst>
                    <a:ext uri="{9D8B030D-6E8A-4147-A177-3AD203B41FA5}">
                      <a16:colId xmlns:a16="http://schemas.microsoft.com/office/drawing/2014/main" val="105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60634" indent="-56063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A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.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 </a:t>
                      </a:r>
                      <a:r>
                        <a:rPr lang="en-US" altLang="zh-CN" sz="3000" b="0" i="1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Q</a:t>
                      </a:r>
                      <a:r>
                        <a:rPr lang="en-US" altLang="zh-CN" sz="30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A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∶</a:t>
                      </a:r>
                      <a:r>
                        <a:rPr lang="en-US" altLang="zh-CN" sz="3000" b="0" i="1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Q</a:t>
                      </a:r>
                      <a:r>
                        <a:rPr lang="en-US" altLang="zh-CN" sz="30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B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＝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1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∶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1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60634" indent="-56063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B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.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 </a:t>
                      </a:r>
                      <a:r>
                        <a:rPr lang="en-US" altLang="zh-CN" sz="3000" b="0" i="1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Q</a:t>
                      </a:r>
                      <a:r>
                        <a:rPr lang="en-US" altLang="zh-CN" sz="30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A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∶</a:t>
                      </a:r>
                      <a:r>
                        <a:rPr lang="en-US" altLang="zh-CN" sz="3000" b="0" i="1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Q</a:t>
                      </a:r>
                      <a:r>
                        <a:rPr lang="en-US" altLang="zh-CN" sz="30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B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＝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2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∶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1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39682" indent="-53968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C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.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 </a:t>
                      </a:r>
                      <a:r>
                        <a:rPr lang="en-US" altLang="zh-CN" sz="3000" b="0" i="1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Q</a:t>
                      </a:r>
                      <a:r>
                        <a:rPr lang="en-US" altLang="zh-CN" sz="30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A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∶</a:t>
                      </a:r>
                      <a:r>
                        <a:rPr lang="en-US" altLang="zh-CN" sz="3000" b="0" i="1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Q</a:t>
                      </a:r>
                      <a:r>
                        <a:rPr lang="en-US" altLang="zh-CN" sz="30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B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＝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1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∶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2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39682" indent="-53968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D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.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 </a:t>
                      </a:r>
                      <a:r>
                        <a:rPr lang="en-US" altLang="zh-CN" sz="3000" b="0" i="1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Q</a:t>
                      </a:r>
                      <a:r>
                        <a:rPr lang="en-US" altLang="zh-CN" sz="30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A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∶</a:t>
                      </a:r>
                      <a:r>
                        <a:rPr lang="en-US" altLang="zh-CN" sz="3000" b="0" i="1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Q</a:t>
                      </a:r>
                      <a:r>
                        <a:rPr lang="en-US" altLang="zh-CN" sz="30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B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＝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4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∶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1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20"/>
                  </a:ext>
                </a:extLst>
              </a:tr>
            </a:tbl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83832" y="3212976"/>
            <a:ext cx="722784" cy="5796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 xmlns:a16="http://schemas.microsoft.com/office/drawing/2014/main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9" name="yt_shape_16319"/>
          <p:cNvSpPr txBox="1"/>
          <p:nvPr/>
        </p:nvSpPr>
        <p:spPr>
          <a:xfrm>
            <a:off x="4928734" y="467999"/>
            <a:ext cx="2225353" cy="53655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 spc="16653">
                <a:solidFill>
                  <a:srgbClr val="1EE3CF"/>
                </a:solidFill>
                <a:effectLst/>
                <a:latin typeface="Times New Roman" pitchFamily="28"/>
                <a:ea typeface="宋体" pitchFamily="28"/>
              </a:rPr>
              <a:t> </a:t>
            </a:r>
          </a:p>
        </p:txBody>
      </p:sp>
      <p:sp>
        <p:nvSpPr>
          <p:cNvPr id="16321" name="yt_shape_16321"/>
          <p:cNvSpPr txBox="1"/>
          <p:nvPr/>
        </p:nvSpPr>
        <p:spPr>
          <a:xfrm>
            <a:off x="267086" y="293975"/>
            <a:ext cx="11924914" cy="31350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如图所示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en-US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A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为电解槽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en-US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M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为电动机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en-US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N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为电炉子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  <a:sym typeface="_⨹_1_a0323"/>
              </a:rPr>
              <a:t>，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恒定电压</a:t>
            </a:r>
            <a:r>
              <a:rPr lang="en-US" altLang="zh-CN" sz="3000" b="0" i="1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U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＝</a:t>
            </a:r>
            <a:r>
              <a:rPr lang="en-US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12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 </a:t>
            </a:r>
            <a:r>
              <a:rPr lang="en-US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V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当</a:t>
            </a:r>
            <a:r>
              <a:rPr lang="en-US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S</a:t>
            </a:r>
            <a:r>
              <a:rPr lang="en-US" altLang="zh-CN" sz="3000" b="0" i="0" u="none" spc="150" baseline="-2500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1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闭合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en-US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S</a:t>
            </a:r>
            <a:r>
              <a:rPr lang="en-US" altLang="zh-CN" sz="3000" b="0" i="0" u="none" spc="150" baseline="-2500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2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、</a:t>
            </a:r>
            <a:r>
              <a:rPr lang="en-US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S</a:t>
            </a:r>
            <a:r>
              <a:rPr lang="en-US" altLang="zh-CN" sz="3000" b="0" i="0" u="none" spc="150" baseline="-2500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3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断开时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电流表示数为</a:t>
            </a:r>
            <a:r>
              <a:rPr lang="en-US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6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1_8c9c9"/>
              </a:rPr>
              <a:t> </a:t>
            </a:r>
            <a:r>
              <a:rPr lang="en-US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A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；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当</a:t>
            </a:r>
            <a:r>
              <a:rPr lang="en-US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S</a:t>
            </a:r>
            <a:r>
              <a:rPr lang="en-US" altLang="zh-CN" sz="3000" b="0" i="0" u="none" spc="150" baseline="-2500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2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闭合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en-US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S</a:t>
            </a:r>
            <a:r>
              <a:rPr lang="en-US" altLang="zh-CN" sz="3000" b="0" i="0" u="none" spc="150" baseline="-2500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1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、</a:t>
            </a:r>
            <a:r>
              <a:rPr lang="en-US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S</a:t>
            </a:r>
            <a:r>
              <a:rPr lang="en-US" altLang="zh-CN" sz="3000" b="0" i="0" u="none" spc="150" baseline="-2500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3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断开时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电流表示数为</a:t>
            </a:r>
            <a:r>
              <a:rPr lang="en-US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5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 </a:t>
            </a:r>
            <a:r>
              <a:rPr lang="en-US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A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6_3c7ce"/>
              </a:rPr>
              <a:t>且电动机的电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阻</a:t>
            </a:r>
            <a:r>
              <a:rPr lang="en-US" altLang="zh-CN" sz="3000" b="0" i="1" u="none" spc="150" dirty="0" err="1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r</a:t>
            </a:r>
            <a:r>
              <a:rPr lang="en-US" altLang="zh-CN" sz="3000" b="0" i="0" u="none" spc="150" baseline="-25000" dirty="0" err="1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M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＝</a:t>
            </a:r>
            <a:r>
              <a:rPr lang="en-US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1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 </a:t>
            </a:r>
            <a:r>
              <a:rPr lang="en-US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Ω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；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当</a:t>
            </a:r>
            <a:r>
              <a:rPr lang="en-US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S</a:t>
            </a:r>
            <a:r>
              <a:rPr lang="en-US" altLang="zh-CN" sz="3000" b="0" i="0" u="none" spc="150" baseline="-2500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3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闭合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en-US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S</a:t>
            </a:r>
            <a:r>
              <a:rPr lang="en-US" altLang="zh-CN" sz="3000" b="0" i="0" u="none" spc="150" baseline="-2500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1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、</a:t>
            </a:r>
            <a:r>
              <a:rPr lang="en-US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S</a:t>
            </a:r>
            <a:r>
              <a:rPr lang="en-US" altLang="zh-CN" sz="3000" b="0" i="0" u="none" spc="150" baseline="-2500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2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断开时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电流表示数为</a:t>
            </a:r>
            <a:r>
              <a:rPr lang="en-US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4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 </a:t>
            </a:r>
            <a:r>
              <a:rPr lang="en-US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A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3_ba666"/>
              </a:rPr>
              <a:t>且电解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槽电阻</a:t>
            </a:r>
            <a:r>
              <a:rPr lang="en-US" altLang="zh-CN" sz="3000" b="0" i="1" u="none" spc="150" dirty="0" err="1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r</a:t>
            </a:r>
            <a:r>
              <a:rPr lang="en-US" altLang="zh-CN" sz="3000" b="0" i="0" u="none" spc="150" baseline="-25000" dirty="0" err="1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A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＝</a:t>
            </a:r>
            <a:r>
              <a:rPr lang="en-US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2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 </a:t>
            </a:r>
            <a:r>
              <a:rPr lang="en-US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Ω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。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求</a:t>
            </a:r>
            <a:r>
              <a:rPr lang="zh-CN" altLang="zh-CN" sz="3000" b="0" i="0" u="none" spc="150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：</a:t>
            </a:r>
          </a:p>
        </p:txBody>
      </p:sp>
      <p:sp>
        <p:nvSpPr>
          <p:cNvPr id="5" name="yt_shape_16322"/>
          <p:cNvSpPr txBox="1"/>
          <p:nvPr/>
        </p:nvSpPr>
        <p:spPr>
          <a:xfrm>
            <a:off x="0" y="3429000"/>
            <a:ext cx="5578450" cy="57022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951865" indent="-951746" algn="l" eaLnBrk="1" latinLnBrk="0" hangingPunct="0">
              <a:lnSpc>
                <a:spcPct val="140000"/>
              </a:lnSpc>
            </a:pP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（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1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）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电炉丝的电阻及发热功率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；</a:t>
            </a:r>
          </a:p>
        </p:txBody>
      </p:sp>
      <p:pic>
        <p:nvPicPr>
          <p:cNvPr id="7" name="yt_image_16324" title="H_234.49496">
            <a:extLst>
              <a:ext uri="">
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56216" y="2930655"/>
            <a:ext cx="2904721" cy="2707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yt_shape_16326">
            <a:extLst>
              <a:ext uri="{FF2B5EF4-FFF2-40B4-BE49-F238E27FC236}">
                <a16:creationId xmlns:a16="http://schemas.microsoft.com/office/drawing/2014/main" id="{AEEF5C4E-F9ED-76C7-ABDD-0881AE0342F5}"/>
              </a:ext>
            </a:extLst>
          </p:cNvPr>
          <p:cNvSpPr txBox="1"/>
          <p:nvPr/>
        </p:nvSpPr>
        <p:spPr>
          <a:xfrm>
            <a:off x="0" y="3999221"/>
            <a:ext cx="4424288" cy="57022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951865" indent="-951746" algn="l" eaLnBrk="1" latinLnBrk="0" hangingPunct="0">
              <a:lnSpc>
                <a:spcPct val="140000"/>
              </a:lnSpc>
            </a:pP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（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2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）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电动机的机械效率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；</a:t>
            </a:r>
          </a:p>
        </p:txBody>
      </p:sp>
      <p:sp>
        <p:nvSpPr>
          <p:cNvPr id="3" name="yt_shape_16330">
            <a:extLst>
              <a:ext uri="{FF2B5EF4-FFF2-40B4-BE49-F238E27FC236}">
                <a16:creationId xmlns:a16="http://schemas.microsoft.com/office/drawing/2014/main" id="{C038B5E0-5B28-1788-1D82-BFF6D8A9BCDE}"/>
              </a:ext>
            </a:extLst>
          </p:cNvPr>
          <p:cNvSpPr txBox="1"/>
          <p:nvPr/>
        </p:nvSpPr>
        <p:spPr>
          <a:xfrm>
            <a:off x="0" y="4569442"/>
            <a:ext cx="8656216" cy="57022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951865" indent="-951746" algn="l" eaLnBrk="1" latinLnBrk="0" hangingPunct="0">
              <a:lnSpc>
                <a:spcPct val="140000"/>
              </a:lnSpc>
            </a:pP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（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3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）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在电解槽工作时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电能转化为化学能的功率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 xmlns:a16="http://schemas.microsoft.com/office/drawing/2014/main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tand Chines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功" id="{305D7A6B-F211-124E-A565-AFD60AE97881}" vid="{BCE79254-6837-AE48-BBE5-2699EE225D4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主题​​</Template>
  <TotalTime>101</TotalTime>
  <Words>561</Words>
  <Application>Microsoft Macintosh PowerPoint</Application>
  <PresentationFormat>Widescreen</PresentationFormat>
  <Paragraphs>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等线</vt:lpstr>
      <vt:lpstr>宋体</vt:lpstr>
      <vt:lpstr>Arial</vt:lpstr>
      <vt:lpstr>Cambria Math</vt:lpstr>
      <vt:lpstr>Times New Roman</vt:lpstr>
      <vt:lpstr>Office 主题​​</vt:lpstr>
      <vt:lpstr>电路中的能量转化</vt:lpstr>
      <vt:lpstr>哪个电流更大？哪个能耗更高</vt:lpstr>
      <vt:lpstr>电流做功的实质</vt:lpstr>
      <vt:lpstr>电功</vt:lpstr>
      <vt:lpstr>调整的是什么？电功吗？</vt:lpstr>
      <vt:lpstr>电功率</vt:lpstr>
      <vt:lpstr>焦耳定律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Xingyu Shu</dc:creator>
  <cp:lastModifiedBy>Xingyu Shu</cp:lastModifiedBy>
  <cp:revision>1</cp:revision>
  <dcterms:created xsi:type="dcterms:W3CDTF">2025-09-02T06:59:01Z</dcterms:created>
  <dcterms:modified xsi:type="dcterms:W3CDTF">2026-06-04T00:40:21Z</dcterms:modified>
</cp:coreProperties>
</file>