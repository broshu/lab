
<file path=[Content_Types].xml><?xml version="1.0" encoding="utf-8"?>
<Types xmlns="http://schemas.openxmlformats.org/package/2006/content-types">
  <Default Extension="bin" ContentType="image/pn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9" r:id="rId4"/>
    <p:sldId id="270" r:id="rId5"/>
    <p:sldId id="309" r:id="rId6"/>
    <p:sldId id="275" r:id="rId7"/>
    <p:sldId id="277" r:id="rId8"/>
    <p:sldId id="310" r:id="rId9"/>
    <p:sldId id="311" r:id="rId10"/>
    <p:sldId id="278" r:id="rId11"/>
    <p:sldId id="313" r:id="rId12"/>
    <p:sldId id="279" r:id="rId13"/>
    <p:sldId id="314" r:id="rId14"/>
    <p:sldId id="315" r:id="rId15"/>
    <p:sldId id="280" r:id="rId16"/>
    <p:sldId id="317" r:id="rId17"/>
    <p:sldId id="318" r:id="rId18"/>
    <p:sldId id="281" r:id="rId19"/>
    <p:sldId id="282" r:id="rId20"/>
    <p:sldId id="262" r:id="rId21"/>
    <p:sldId id="283" r:id="rId22"/>
    <p:sldId id="320" r:id="rId23"/>
    <p:sldId id="284" r:id="rId24"/>
    <p:sldId id="287" r:id="rId25"/>
    <p:sldId id="290" r:id="rId26"/>
    <p:sldId id="322" r:id="rId27"/>
    <p:sldId id="291" r:id="rId28"/>
    <p:sldId id="292" r:id="rId29"/>
    <p:sldId id="323" r:id="rId30"/>
    <p:sldId id="293" r:id="rId31"/>
    <p:sldId id="324" r:id="rId32"/>
    <p:sldId id="294" r:id="rId33"/>
    <p:sldId id="327" r:id="rId34"/>
    <p:sldId id="295" r:id="rId35"/>
    <p:sldId id="267" r:id="rId36"/>
    <p:sldId id="328" r:id="rId37"/>
    <p:sldId id="329" r:id="rId38"/>
    <p:sldId id="330" r:id="rId39"/>
    <p:sldId id="331" r:id="rId40"/>
    <p:sldId id="332" r:id="rId41"/>
    <p:sldId id="333" r:id="rId42"/>
    <p:sldId id="334" r:id="rId43"/>
    <p:sldId id="335" r:id="rId44"/>
    <p:sldId id="336" r:id="rId45"/>
    <p:sldId id="337" r:id="rId46"/>
    <p:sldId id="338" r:id="rId47"/>
    <p:sldId id="339" r:id="rId48"/>
    <p:sldId id="340" r:id="rId49"/>
    <p:sldId id="341" r:id="rId50"/>
    <p:sldId id="342" r:id="rId51"/>
    <p:sldId id="343" r:id="rId52"/>
    <p:sldId id="344" r:id="rId53"/>
    <p:sldId id="345" r:id="rId54"/>
    <p:sldId id="346" r:id="rId55"/>
    <p:sldId id="347" r:id="rId56"/>
    <p:sldId id="348" r:id="rId57"/>
    <p:sldId id="349" r:id="rId58"/>
    <p:sldId id="350" r:id="rId59"/>
    <p:sldId id="351" r:id="rId6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3F00"/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60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3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75297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-2"/>
            <a:ext cx="12192000" cy="6875297"/>
          </a:xfrm>
          <a:prstGeom prst="rect">
            <a:avLst/>
          </a:prstGeom>
          <a:solidFill>
            <a:schemeClr val="bg1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724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75297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-2"/>
            <a:ext cx="12192000" cy="6875297"/>
          </a:xfrm>
          <a:prstGeom prst="rect">
            <a:avLst/>
          </a:prstGeom>
          <a:solidFill>
            <a:schemeClr val="bg1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>
            <a:hlinkClick r:id="rId3" action="ppaction://hlinksldjump"/>
          </p:cNvPr>
          <p:cNvSpPr/>
          <p:nvPr userDrawn="1"/>
        </p:nvSpPr>
        <p:spPr>
          <a:xfrm>
            <a:off x="11519592" y="6475887"/>
            <a:ext cx="554462" cy="27050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26">
            <a:hlinkClick r:id="rId4" action="ppaction://hlinksldjump"/>
          </p:cNvPr>
          <p:cNvSpPr txBox="1"/>
          <p:nvPr userDrawn="1"/>
        </p:nvSpPr>
        <p:spPr>
          <a:xfrm>
            <a:off x="11519592" y="6454003"/>
            <a:ext cx="5985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</a:p>
        </p:txBody>
      </p:sp>
    </p:spTree>
    <p:extLst>
      <p:ext uri="{BB962C8B-B14F-4D97-AF65-F5344CB8AC3E}">
        <p14:creationId xmlns:p14="http://schemas.microsoft.com/office/powerpoint/2010/main" val="2514679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6"/>
          <p:cNvSpPr txBox="1"/>
          <p:nvPr userDrawn="1"/>
        </p:nvSpPr>
        <p:spPr>
          <a:xfrm>
            <a:off x="706382" y="28047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物理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·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必修第三册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0" y="8758"/>
            <a:ext cx="508986" cy="357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016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580369" y="14429"/>
            <a:ext cx="90025" cy="357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016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/>
          <p:nvPr userDrawn="1"/>
        </p:nvCxnSpPr>
        <p:spPr>
          <a:xfrm>
            <a:off x="773038" y="366455"/>
            <a:ext cx="11377264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圆角矩形 13">
            <a:hlinkClick r:id="rId2" action="ppaction://hlinksldjump"/>
          </p:cNvPr>
          <p:cNvSpPr/>
          <p:nvPr userDrawn="1"/>
        </p:nvSpPr>
        <p:spPr>
          <a:xfrm>
            <a:off x="11519592" y="6475887"/>
            <a:ext cx="554462" cy="27050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26">
            <a:hlinkClick r:id="rId3" action="ppaction://hlinksldjump"/>
          </p:cNvPr>
          <p:cNvSpPr txBox="1"/>
          <p:nvPr userDrawn="1"/>
        </p:nvSpPr>
        <p:spPr>
          <a:xfrm>
            <a:off x="11519592" y="6454003"/>
            <a:ext cx="5985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</a:p>
        </p:txBody>
      </p:sp>
    </p:spTree>
    <p:extLst>
      <p:ext uri="{BB962C8B-B14F-4D97-AF65-F5344CB8AC3E}">
        <p14:creationId xmlns:p14="http://schemas.microsoft.com/office/powerpoint/2010/main" val="3276152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11519592" y="6475887"/>
            <a:ext cx="554462" cy="2705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26">
            <a:hlinkClick r:id="" action="ppaction://noaction"/>
          </p:cNvPr>
          <p:cNvSpPr txBox="1"/>
          <p:nvPr userDrawn="1"/>
        </p:nvSpPr>
        <p:spPr>
          <a:xfrm>
            <a:off x="11508077" y="6459951"/>
            <a:ext cx="5985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</a:p>
        </p:txBody>
      </p:sp>
    </p:spTree>
    <p:extLst>
      <p:ext uri="{BB962C8B-B14F-4D97-AF65-F5344CB8AC3E}">
        <p14:creationId xmlns:p14="http://schemas.microsoft.com/office/powerpoint/2010/main" val="1029805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0532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9369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1" r:id="rId3"/>
    <p:sldLayoutId id="2147483650" r:id="rId4"/>
    <p:sldLayoutId id="2147483652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bin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bin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slide" Target="slide40.xml"/><Relationship Id="rId13" Type="http://schemas.openxmlformats.org/officeDocument/2006/relationships/slide" Target="slide50.xml"/><Relationship Id="rId3" Type="http://schemas.openxmlformats.org/officeDocument/2006/relationships/image" Target="../media/image61.png"/><Relationship Id="rId7" Type="http://schemas.openxmlformats.org/officeDocument/2006/relationships/slide" Target="slide38.xml"/><Relationship Id="rId12" Type="http://schemas.openxmlformats.org/officeDocument/2006/relationships/slide" Target="slide48.xml"/><Relationship Id="rId16" Type="http://schemas.openxmlformats.org/officeDocument/2006/relationships/slide" Target="slide57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6.xml"/><Relationship Id="rId11" Type="http://schemas.openxmlformats.org/officeDocument/2006/relationships/slide" Target="slide46.xml"/><Relationship Id="rId5" Type="http://schemas.openxmlformats.org/officeDocument/2006/relationships/image" Target="../media/image45.png"/><Relationship Id="rId15" Type="http://schemas.openxmlformats.org/officeDocument/2006/relationships/slide" Target="slide55.xml"/><Relationship Id="rId10" Type="http://schemas.openxmlformats.org/officeDocument/2006/relationships/slide" Target="slide44.xml"/><Relationship Id="rId4" Type="http://schemas.openxmlformats.org/officeDocument/2006/relationships/image" Target="../media/image39.png"/><Relationship Id="rId9" Type="http://schemas.openxmlformats.org/officeDocument/2006/relationships/slide" Target="slide42.xml"/><Relationship Id="rId14" Type="http://schemas.openxmlformats.org/officeDocument/2006/relationships/slide" Target="slide5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slide" Target="slide46.xml"/><Relationship Id="rId13" Type="http://schemas.openxmlformats.org/officeDocument/2006/relationships/slide" Target="slide57.xml"/><Relationship Id="rId3" Type="http://schemas.openxmlformats.org/officeDocument/2006/relationships/slide" Target="slide36.xml"/><Relationship Id="rId7" Type="http://schemas.openxmlformats.org/officeDocument/2006/relationships/slide" Target="slide44.xml"/><Relationship Id="rId12" Type="http://schemas.openxmlformats.org/officeDocument/2006/relationships/slide" Target="slide55.xm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Relationship Id="rId6" Type="http://schemas.openxmlformats.org/officeDocument/2006/relationships/slide" Target="slide42.xml"/><Relationship Id="rId11" Type="http://schemas.openxmlformats.org/officeDocument/2006/relationships/slide" Target="slide52.xml"/><Relationship Id="rId5" Type="http://schemas.openxmlformats.org/officeDocument/2006/relationships/slide" Target="slide40.xml"/><Relationship Id="rId10" Type="http://schemas.openxmlformats.org/officeDocument/2006/relationships/slide" Target="slide50.xml"/><Relationship Id="rId4" Type="http://schemas.openxmlformats.org/officeDocument/2006/relationships/slide" Target="slide38.xml"/><Relationship Id="rId9" Type="http://schemas.openxmlformats.org/officeDocument/2006/relationships/slide" Target="slide48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slide" Target="slide46.xml"/><Relationship Id="rId13" Type="http://schemas.openxmlformats.org/officeDocument/2006/relationships/slide" Target="slide57.xml"/><Relationship Id="rId3" Type="http://schemas.openxmlformats.org/officeDocument/2006/relationships/slide" Target="slide36.xml"/><Relationship Id="rId7" Type="http://schemas.openxmlformats.org/officeDocument/2006/relationships/slide" Target="slide44.xml"/><Relationship Id="rId12" Type="http://schemas.openxmlformats.org/officeDocument/2006/relationships/slide" Target="slide55.xm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Relationship Id="rId6" Type="http://schemas.openxmlformats.org/officeDocument/2006/relationships/slide" Target="slide42.xml"/><Relationship Id="rId11" Type="http://schemas.openxmlformats.org/officeDocument/2006/relationships/slide" Target="slide52.xml"/><Relationship Id="rId5" Type="http://schemas.openxmlformats.org/officeDocument/2006/relationships/slide" Target="slide40.xml"/><Relationship Id="rId10" Type="http://schemas.openxmlformats.org/officeDocument/2006/relationships/slide" Target="slide50.xml"/><Relationship Id="rId4" Type="http://schemas.openxmlformats.org/officeDocument/2006/relationships/slide" Target="slide38.xml"/><Relationship Id="rId9" Type="http://schemas.openxmlformats.org/officeDocument/2006/relationships/slide" Target="slide48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slide" Target="slide46.xml"/><Relationship Id="rId13" Type="http://schemas.openxmlformats.org/officeDocument/2006/relationships/slide" Target="slide57.xml"/><Relationship Id="rId3" Type="http://schemas.openxmlformats.org/officeDocument/2006/relationships/slide" Target="slide36.xml"/><Relationship Id="rId7" Type="http://schemas.openxmlformats.org/officeDocument/2006/relationships/slide" Target="slide44.xml"/><Relationship Id="rId12" Type="http://schemas.openxmlformats.org/officeDocument/2006/relationships/slide" Target="slide55.xm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Relationship Id="rId6" Type="http://schemas.openxmlformats.org/officeDocument/2006/relationships/slide" Target="slide42.xml"/><Relationship Id="rId11" Type="http://schemas.openxmlformats.org/officeDocument/2006/relationships/slide" Target="slide52.xml"/><Relationship Id="rId5" Type="http://schemas.openxmlformats.org/officeDocument/2006/relationships/slide" Target="slide40.xml"/><Relationship Id="rId10" Type="http://schemas.openxmlformats.org/officeDocument/2006/relationships/slide" Target="slide50.xml"/><Relationship Id="rId4" Type="http://schemas.openxmlformats.org/officeDocument/2006/relationships/slide" Target="slide38.xml"/><Relationship Id="rId9" Type="http://schemas.openxmlformats.org/officeDocument/2006/relationships/slide" Target="slide48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slide" Target="slide46.xml"/><Relationship Id="rId13" Type="http://schemas.openxmlformats.org/officeDocument/2006/relationships/slide" Target="slide57.xml"/><Relationship Id="rId3" Type="http://schemas.openxmlformats.org/officeDocument/2006/relationships/slide" Target="slide36.xml"/><Relationship Id="rId7" Type="http://schemas.openxmlformats.org/officeDocument/2006/relationships/slide" Target="slide44.xml"/><Relationship Id="rId12" Type="http://schemas.openxmlformats.org/officeDocument/2006/relationships/slide" Target="slide55.xm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Relationship Id="rId6" Type="http://schemas.openxmlformats.org/officeDocument/2006/relationships/slide" Target="slide42.xml"/><Relationship Id="rId11" Type="http://schemas.openxmlformats.org/officeDocument/2006/relationships/slide" Target="slide52.xml"/><Relationship Id="rId5" Type="http://schemas.openxmlformats.org/officeDocument/2006/relationships/slide" Target="slide40.xml"/><Relationship Id="rId10" Type="http://schemas.openxmlformats.org/officeDocument/2006/relationships/slide" Target="slide50.xml"/><Relationship Id="rId4" Type="http://schemas.openxmlformats.org/officeDocument/2006/relationships/slide" Target="slide38.xml"/><Relationship Id="rId9" Type="http://schemas.openxmlformats.org/officeDocument/2006/relationships/slide" Target="slide48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slide" Target="slide46.xml"/><Relationship Id="rId13" Type="http://schemas.openxmlformats.org/officeDocument/2006/relationships/slide" Target="slide57.xml"/><Relationship Id="rId3" Type="http://schemas.openxmlformats.org/officeDocument/2006/relationships/slide" Target="slide36.xml"/><Relationship Id="rId7" Type="http://schemas.openxmlformats.org/officeDocument/2006/relationships/slide" Target="slide44.xml"/><Relationship Id="rId12" Type="http://schemas.openxmlformats.org/officeDocument/2006/relationships/slide" Target="slide55.xm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Relationship Id="rId6" Type="http://schemas.openxmlformats.org/officeDocument/2006/relationships/slide" Target="slide42.xml"/><Relationship Id="rId11" Type="http://schemas.openxmlformats.org/officeDocument/2006/relationships/slide" Target="slide52.xml"/><Relationship Id="rId5" Type="http://schemas.openxmlformats.org/officeDocument/2006/relationships/slide" Target="slide40.xml"/><Relationship Id="rId10" Type="http://schemas.openxmlformats.org/officeDocument/2006/relationships/slide" Target="slide50.xml"/><Relationship Id="rId4" Type="http://schemas.openxmlformats.org/officeDocument/2006/relationships/slide" Target="slide38.xml"/><Relationship Id="rId9" Type="http://schemas.openxmlformats.org/officeDocument/2006/relationships/slide" Target="slide48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slide" Target="slide46.xml"/><Relationship Id="rId13" Type="http://schemas.openxmlformats.org/officeDocument/2006/relationships/slide" Target="slide57.xml"/><Relationship Id="rId3" Type="http://schemas.openxmlformats.org/officeDocument/2006/relationships/slide" Target="slide36.xml"/><Relationship Id="rId7" Type="http://schemas.openxmlformats.org/officeDocument/2006/relationships/slide" Target="slide44.xml"/><Relationship Id="rId12" Type="http://schemas.openxmlformats.org/officeDocument/2006/relationships/slide" Target="slide55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Relationship Id="rId6" Type="http://schemas.openxmlformats.org/officeDocument/2006/relationships/slide" Target="slide42.xml"/><Relationship Id="rId11" Type="http://schemas.openxmlformats.org/officeDocument/2006/relationships/slide" Target="slide52.xml"/><Relationship Id="rId5" Type="http://schemas.openxmlformats.org/officeDocument/2006/relationships/slide" Target="slide40.xml"/><Relationship Id="rId10" Type="http://schemas.openxmlformats.org/officeDocument/2006/relationships/slide" Target="slide50.xml"/><Relationship Id="rId4" Type="http://schemas.openxmlformats.org/officeDocument/2006/relationships/slide" Target="slide38.xml"/><Relationship Id="rId9" Type="http://schemas.openxmlformats.org/officeDocument/2006/relationships/slide" Target="slide48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slide" Target="slide46.xml"/><Relationship Id="rId13" Type="http://schemas.openxmlformats.org/officeDocument/2006/relationships/slide" Target="slide57.xml"/><Relationship Id="rId3" Type="http://schemas.openxmlformats.org/officeDocument/2006/relationships/slide" Target="slide36.xml"/><Relationship Id="rId7" Type="http://schemas.openxmlformats.org/officeDocument/2006/relationships/slide" Target="slide44.xml"/><Relationship Id="rId12" Type="http://schemas.openxmlformats.org/officeDocument/2006/relationships/slide" Target="slide55.xml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Relationship Id="rId6" Type="http://schemas.openxmlformats.org/officeDocument/2006/relationships/slide" Target="slide42.xml"/><Relationship Id="rId11" Type="http://schemas.openxmlformats.org/officeDocument/2006/relationships/slide" Target="slide52.xml"/><Relationship Id="rId5" Type="http://schemas.openxmlformats.org/officeDocument/2006/relationships/slide" Target="slide40.xml"/><Relationship Id="rId10" Type="http://schemas.openxmlformats.org/officeDocument/2006/relationships/slide" Target="slide50.xml"/><Relationship Id="rId4" Type="http://schemas.openxmlformats.org/officeDocument/2006/relationships/slide" Target="slide38.xml"/><Relationship Id="rId9" Type="http://schemas.openxmlformats.org/officeDocument/2006/relationships/slide" Target="slide48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slide" Target="slide46.xml"/><Relationship Id="rId13" Type="http://schemas.openxmlformats.org/officeDocument/2006/relationships/slide" Target="slide57.xml"/><Relationship Id="rId3" Type="http://schemas.openxmlformats.org/officeDocument/2006/relationships/slide" Target="slide36.xml"/><Relationship Id="rId7" Type="http://schemas.openxmlformats.org/officeDocument/2006/relationships/slide" Target="slide44.xml"/><Relationship Id="rId12" Type="http://schemas.openxmlformats.org/officeDocument/2006/relationships/slide" Target="slide55.xm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Relationship Id="rId6" Type="http://schemas.openxmlformats.org/officeDocument/2006/relationships/slide" Target="slide42.xml"/><Relationship Id="rId11" Type="http://schemas.openxmlformats.org/officeDocument/2006/relationships/slide" Target="slide52.xml"/><Relationship Id="rId5" Type="http://schemas.openxmlformats.org/officeDocument/2006/relationships/slide" Target="slide40.xml"/><Relationship Id="rId10" Type="http://schemas.openxmlformats.org/officeDocument/2006/relationships/slide" Target="slide50.xml"/><Relationship Id="rId4" Type="http://schemas.openxmlformats.org/officeDocument/2006/relationships/slide" Target="slide38.xml"/><Relationship Id="rId9" Type="http://schemas.openxmlformats.org/officeDocument/2006/relationships/slide" Target="slide48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slide" Target="slide46.xml"/><Relationship Id="rId13" Type="http://schemas.openxmlformats.org/officeDocument/2006/relationships/slide" Target="slide57.xml"/><Relationship Id="rId3" Type="http://schemas.openxmlformats.org/officeDocument/2006/relationships/slide" Target="slide36.xml"/><Relationship Id="rId7" Type="http://schemas.openxmlformats.org/officeDocument/2006/relationships/slide" Target="slide44.xml"/><Relationship Id="rId12" Type="http://schemas.openxmlformats.org/officeDocument/2006/relationships/slide" Target="slide55.xml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Relationship Id="rId6" Type="http://schemas.openxmlformats.org/officeDocument/2006/relationships/slide" Target="slide42.xml"/><Relationship Id="rId11" Type="http://schemas.openxmlformats.org/officeDocument/2006/relationships/slide" Target="slide52.xml"/><Relationship Id="rId5" Type="http://schemas.openxmlformats.org/officeDocument/2006/relationships/slide" Target="slide40.xml"/><Relationship Id="rId10" Type="http://schemas.openxmlformats.org/officeDocument/2006/relationships/slide" Target="slide50.xml"/><Relationship Id="rId4" Type="http://schemas.openxmlformats.org/officeDocument/2006/relationships/slide" Target="slide38.xml"/><Relationship Id="rId9" Type="http://schemas.openxmlformats.org/officeDocument/2006/relationships/slide" Target="slide48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slide" Target="slide46.xml"/><Relationship Id="rId13" Type="http://schemas.openxmlformats.org/officeDocument/2006/relationships/slide" Target="slide57.xml"/><Relationship Id="rId3" Type="http://schemas.openxmlformats.org/officeDocument/2006/relationships/slide" Target="slide36.xml"/><Relationship Id="rId7" Type="http://schemas.openxmlformats.org/officeDocument/2006/relationships/slide" Target="slide44.xml"/><Relationship Id="rId12" Type="http://schemas.openxmlformats.org/officeDocument/2006/relationships/slide" Target="slide55.xml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Relationship Id="rId6" Type="http://schemas.openxmlformats.org/officeDocument/2006/relationships/slide" Target="slide42.xml"/><Relationship Id="rId11" Type="http://schemas.openxmlformats.org/officeDocument/2006/relationships/slide" Target="slide52.xml"/><Relationship Id="rId5" Type="http://schemas.openxmlformats.org/officeDocument/2006/relationships/slide" Target="slide40.xml"/><Relationship Id="rId10" Type="http://schemas.openxmlformats.org/officeDocument/2006/relationships/slide" Target="slide50.xml"/><Relationship Id="rId4" Type="http://schemas.openxmlformats.org/officeDocument/2006/relationships/slide" Target="slide38.xml"/><Relationship Id="rId9" Type="http://schemas.openxmlformats.org/officeDocument/2006/relationships/slide" Target="slide48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slide" Target="slide48.xml"/><Relationship Id="rId3" Type="http://schemas.openxmlformats.org/officeDocument/2006/relationships/slide" Target="slide38.xml"/><Relationship Id="rId7" Type="http://schemas.openxmlformats.org/officeDocument/2006/relationships/slide" Target="slide46.xml"/><Relationship Id="rId12" Type="http://schemas.openxmlformats.org/officeDocument/2006/relationships/slide" Target="slide57.xml"/><Relationship Id="rId2" Type="http://schemas.openxmlformats.org/officeDocument/2006/relationships/slide" Target="slide36.xml"/><Relationship Id="rId1" Type="http://schemas.openxmlformats.org/officeDocument/2006/relationships/slideLayout" Target="../slideLayouts/slideLayout3.xml"/><Relationship Id="rId6" Type="http://schemas.openxmlformats.org/officeDocument/2006/relationships/slide" Target="slide44.xml"/><Relationship Id="rId11" Type="http://schemas.openxmlformats.org/officeDocument/2006/relationships/slide" Target="slide55.xml"/><Relationship Id="rId5" Type="http://schemas.openxmlformats.org/officeDocument/2006/relationships/slide" Target="slide42.xml"/><Relationship Id="rId10" Type="http://schemas.openxmlformats.org/officeDocument/2006/relationships/slide" Target="slide52.xml"/><Relationship Id="rId4" Type="http://schemas.openxmlformats.org/officeDocument/2006/relationships/slide" Target="slide40.xml"/><Relationship Id="rId9" Type="http://schemas.openxmlformats.org/officeDocument/2006/relationships/slide" Target="slide50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slide" Target="slide46.xml"/><Relationship Id="rId13" Type="http://schemas.openxmlformats.org/officeDocument/2006/relationships/slide" Target="slide57.xml"/><Relationship Id="rId3" Type="http://schemas.openxmlformats.org/officeDocument/2006/relationships/slide" Target="slide36.xml"/><Relationship Id="rId7" Type="http://schemas.openxmlformats.org/officeDocument/2006/relationships/slide" Target="slide44.xml"/><Relationship Id="rId12" Type="http://schemas.openxmlformats.org/officeDocument/2006/relationships/slide" Target="slide55.xml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Relationship Id="rId6" Type="http://schemas.openxmlformats.org/officeDocument/2006/relationships/slide" Target="slide42.xml"/><Relationship Id="rId11" Type="http://schemas.openxmlformats.org/officeDocument/2006/relationships/slide" Target="slide52.xml"/><Relationship Id="rId5" Type="http://schemas.openxmlformats.org/officeDocument/2006/relationships/slide" Target="slide40.xml"/><Relationship Id="rId10" Type="http://schemas.openxmlformats.org/officeDocument/2006/relationships/slide" Target="slide50.xml"/><Relationship Id="rId4" Type="http://schemas.openxmlformats.org/officeDocument/2006/relationships/slide" Target="slide38.xml"/><Relationship Id="rId9" Type="http://schemas.openxmlformats.org/officeDocument/2006/relationships/slide" Target="slide48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slide" Target="slide46.xml"/><Relationship Id="rId13" Type="http://schemas.openxmlformats.org/officeDocument/2006/relationships/slide" Target="slide57.xml"/><Relationship Id="rId3" Type="http://schemas.openxmlformats.org/officeDocument/2006/relationships/slide" Target="slide36.xml"/><Relationship Id="rId7" Type="http://schemas.openxmlformats.org/officeDocument/2006/relationships/slide" Target="slide44.xml"/><Relationship Id="rId12" Type="http://schemas.openxmlformats.org/officeDocument/2006/relationships/slide" Target="slide55.xml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Relationship Id="rId6" Type="http://schemas.openxmlformats.org/officeDocument/2006/relationships/slide" Target="slide42.xml"/><Relationship Id="rId11" Type="http://schemas.openxmlformats.org/officeDocument/2006/relationships/slide" Target="slide52.xml"/><Relationship Id="rId5" Type="http://schemas.openxmlformats.org/officeDocument/2006/relationships/slide" Target="slide40.xml"/><Relationship Id="rId10" Type="http://schemas.openxmlformats.org/officeDocument/2006/relationships/slide" Target="slide50.xml"/><Relationship Id="rId4" Type="http://schemas.openxmlformats.org/officeDocument/2006/relationships/slide" Target="slide38.xml"/><Relationship Id="rId9" Type="http://schemas.openxmlformats.org/officeDocument/2006/relationships/slide" Target="slide48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slide" Target="slide44.xml"/><Relationship Id="rId13" Type="http://schemas.openxmlformats.org/officeDocument/2006/relationships/slide" Target="slide55.xml"/><Relationship Id="rId3" Type="http://schemas.openxmlformats.org/officeDocument/2006/relationships/image" Target="../media/image59.png"/><Relationship Id="rId7" Type="http://schemas.openxmlformats.org/officeDocument/2006/relationships/slide" Target="slide42.xml"/><Relationship Id="rId12" Type="http://schemas.openxmlformats.org/officeDocument/2006/relationships/slide" Target="slide52.xml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Relationship Id="rId6" Type="http://schemas.openxmlformats.org/officeDocument/2006/relationships/slide" Target="slide40.xml"/><Relationship Id="rId11" Type="http://schemas.openxmlformats.org/officeDocument/2006/relationships/slide" Target="slide50.xml"/><Relationship Id="rId5" Type="http://schemas.openxmlformats.org/officeDocument/2006/relationships/slide" Target="slide38.xml"/><Relationship Id="rId10" Type="http://schemas.openxmlformats.org/officeDocument/2006/relationships/slide" Target="slide48.xml"/><Relationship Id="rId4" Type="http://schemas.openxmlformats.org/officeDocument/2006/relationships/slide" Target="slide36.xml"/><Relationship Id="rId9" Type="http://schemas.openxmlformats.org/officeDocument/2006/relationships/slide" Target="slide46.xml"/><Relationship Id="rId14" Type="http://schemas.openxmlformats.org/officeDocument/2006/relationships/slide" Target="slide57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slide" Target="slide46.xml"/><Relationship Id="rId13" Type="http://schemas.openxmlformats.org/officeDocument/2006/relationships/slide" Target="slide57.xml"/><Relationship Id="rId3" Type="http://schemas.openxmlformats.org/officeDocument/2006/relationships/slide" Target="slide36.xml"/><Relationship Id="rId7" Type="http://schemas.openxmlformats.org/officeDocument/2006/relationships/slide" Target="slide44.xml"/><Relationship Id="rId12" Type="http://schemas.openxmlformats.org/officeDocument/2006/relationships/slide" Target="slide55.xml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Relationship Id="rId6" Type="http://schemas.openxmlformats.org/officeDocument/2006/relationships/slide" Target="slide42.xml"/><Relationship Id="rId11" Type="http://schemas.openxmlformats.org/officeDocument/2006/relationships/slide" Target="slide52.xml"/><Relationship Id="rId5" Type="http://schemas.openxmlformats.org/officeDocument/2006/relationships/slide" Target="slide40.xml"/><Relationship Id="rId10" Type="http://schemas.openxmlformats.org/officeDocument/2006/relationships/slide" Target="slide50.xml"/><Relationship Id="rId4" Type="http://schemas.openxmlformats.org/officeDocument/2006/relationships/slide" Target="slide38.xml"/><Relationship Id="rId9" Type="http://schemas.openxmlformats.org/officeDocument/2006/relationships/slide" Target="slide48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slide" Target="slide46.xml"/><Relationship Id="rId13" Type="http://schemas.openxmlformats.org/officeDocument/2006/relationships/slide" Target="slide57.xml"/><Relationship Id="rId3" Type="http://schemas.openxmlformats.org/officeDocument/2006/relationships/slide" Target="slide36.xml"/><Relationship Id="rId7" Type="http://schemas.openxmlformats.org/officeDocument/2006/relationships/slide" Target="slide44.xml"/><Relationship Id="rId12" Type="http://schemas.openxmlformats.org/officeDocument/2006/relationships/slide" Target="slide55.xml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Relationship Id="rId6" Type="http://schemas.openxmlformats.org/officeDocument/2006/relationships/slide" Target="slide42.xml"/><Relationship Id="rId11" Type="http://schemas.openxmlformats.org/officeDocument/2006/relationships/slide" Target="slide52.xml"/><Relationship Id="rId5" Type="http://schemas.openxmlformats.org/officeDocument/2006/relationships/slide" Target="slide40.xml"/><Relationship Id="rId10" Type="http://schemas.openxmlformats.org/officeDocument/2006/relationships/slide" Target="slide50.xml"/><Relationship Id="rId4" Type="http://schemas.openxmlformats.org/officeDocument/2006/relationships/slide" Target="slide38.xml"/><Relationship Id="rId9" Type="http://schemas.openxmlformats.org/officeDocument/2006/relationships/slide" Target="slide48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slide" Target="slide46.xml"/><Relationship Id="rId13" Type="http://schemas.openxmlformats.org/officeDocument/2006/relationships/slide" Target="slide57.xml"/><Relationship Id="rId3" Type="http://schemas.openxmlformats.org/officeDocument/2006/relationships/slide" Target="slide36.xml"/><Relationship Id="rId7" Type="http://schemas.openxmlformats.org/officeDocument/2006/relationships/slide" Target="slide44.xml"/><Relationship Id="rId12" Type="http://schemas.openxmlformats.org/officeDocument/2006/relationships/slide" Target="slide55.xml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Relationship Id="rId6" Type="http://schemas.openxmlformats.org/officeDocument/2006/relationships/slide" Target="slide42.xml"/><Relationship Id="rId11" Type="http://schemas.openxmlformats.org/officeDocument/2006/relationships/slide" Target="slide52.xml"/><Relationship Id="rId5" Type="http://schemas.openxmlformats.org/officeDocument/2006/relationships/slide" Target="slide40.xml"/><Relationship Id="rId10" Type="http://schemas.openxmlformats.org/officeDocument/2006/relationships/slide" Target="slide50.xml"/><Relationship Id="rId4" Type="http://schemas.openxmlformats.org/officeDocument/2006/relationships/slide" Target="slide38.xml"/><Relationship Id="rId9" Type="http://schemas.openxmlformats.org/officeDocument/2006/relationships/slide" Target="slide48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slide" Target="slide46.xml"/><Relationship Id="rId13" Type="http://schemas.openxmlformats.org/officeDocument/2006/relationships/slide" Target="slide57.xml"/><Relationship Id="rId3" Type="http://schemas.openxmlformats.org/officeDocument/2006/relationships/slide" Target="slide36.xml"/><Relationship Id="rId7" Type="http://schemas.openxmlformats.org/officeDocument/2006/relationships/slide" Target="slide44.xml"/><Relationship Id="rId12" Type="http://schemas.openxmlformats.org/officeDocument/2006/relationships/slide" Target="slide55.xml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Relationship Id="rId6" Type="http://schemas.openxmlformats.org/officeDocument/2006/relationships/slide" Target="slide42.xml"/><Relationship Id="rId11" Type="http://schemas.openxmlformats.org/officeDocument/2006/relationships/slide" Target="slide52.xml"/><Relationship Id="rId5" Type="http://schemas.openxmlformats.org/officeDocument/2006/relationships/slide" Target="slide40.xml"/><Relationship Id="rId10" Type="http://schemas.openxmlformats.org/officeDocument/2006/relationships/slide" Target="slide50.xml"/><Relationship Id="rId4" Type="http://schemas.openxmlformats.org/officeDocument/2006/relationships/slide" Target="slide38.xml"/><Relationship Id="rId9" Type="http://schemas.openxmlformats.org/officeDocument/2006/relationships/slide" Target="slide48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slide" Target="slide46.xml"/><Relationship Id="rId13" Type="http://schemas.openxmlformats.org/officeDocument/2006/relationships/slide" Target="slide57.xml"/><Relationship Id="rId3" Type="http://schemas.openxmlformats.org/officeDocument/2006/relationships/slide" Target="slide36.xml"/><Relationship Id="rId7" Type="http://schemas.openxmlformats.org/officeDocument/2006/relationships/slide" Target="slide44.xml"/><Relationship Id="rId12" Type="http://schemas.openxmlformats.org/officeDocument/2006/relationships/slide" Target="slide55.xml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Relationship Id="rId6" Type="http://schemas.openxmlformats.org/officeDocument/2006/relationships/slide" Target="slide42.xml"/><Relationship Id="rId11" Type="http://schemas.openxmlformats.org/officeDocument/2006/relationships/slide" Target="slide52.xml"/><Relationship Id="rId5" Type="http://schemas.openxmlformats.org/officeDocument/2006/relationships/slide" Target="slide40.xml"/><Relationship Id="rId10" Type="http://schemas.openxmlformats.org/officeDocument/2006/relationships/slide" Target="slide50.xml"/><Relationship Id="rId4" Type="http://schemas.openxmlformats.org/officeDocument/2006/relationships/slide" Target="slide38.xml"/><Relationship Id="rId9" Type="http://schemas.openxmlformats.org/officeDocument/2006/relationships/slide" Target="slide48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slide" Target="slide46.xml"/><Relationship Id="rId13" Type="http://schemas.openxmlformats.org/officeDocument/2006/relationships/slide" Target="slide57.xml"/><Relationship Id="rId3" Type="http://schemas.openxmlformats.org/officeDocument/2006/relationships/slide" Target="slide36.xml"/><Relationship Id="rId7" Type="http://schemas.openxmlformats.org/officeDocument/2006/relationships/slide" Target="slide44.xml"/><Relationship Id="rId12" Type="http://schemas.openxmlformats.org/officeDocument/2006/relationships/slide" Target="slide55.xml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Relationship Id="rId6" Type="http://schemas.openxmlformats.org/officeDocument/2006/relationships/slide" Target="slide42.xml"/><Relationship Id="rId11" Type="http://schemas.openxmlformats.org/officeDocument/2006/relationships/slide" Target="slide52.xml"/><Relationship Id="rId5" Type="http://schemas.openxmlformats.org/officeDocument/2006/relationships/slide" Target="slide40.xml"/><Relationship Id="rId10" Type="http://schemas.openxmlformats.org/officeDocument/2006/relationships/slide" Target="slide50.xml"/><Relationship Id="rId4" Type="http://schemas.openxmlformats.org/officeDocument/2006/relationships/slide" Target="slide38.xml"/><Relationship Id="rId9" Type="http://schemas.openxmlformats.org/officeDocument/2006/relationships/slide" Target="slide48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slide" Target="slide46.xml"/><Relationship Id="rId13" Type="http://schemas.openxmlformats.org/officeDocument/2006/relationships/slide" Target="slide57.xml"/><Relationship Id="rId3" Type="http://schemas.openxmlformats.org/officeDocument/2006/relationships/slide" Target="slide36.xml"/><Relationship Id="rId7" Type="http://schemas.openxmlformats.org/officeDocument/2006/relationships/slide" Target="slide44.xml"/><Relationship Id="rId12" Type="http://schemas.openxmlformats.org/officeDocument/2006/relationships/slide" Target="slide55.xml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Relationship Id="rId6" Type="http://schemas.openxmlformats.org/officeDocument/2006/relationships/slide" Target="slide42.xml"/><Relationship Id="rId11" Type="http://schemas.openxmlformats.org/officeDocument/2006/relationships/slide" Target="slide52.xml"/><Relationship Id="rId5" Type="http://schemas.openxmlformats.org/officeDocument/2006/relationships/slide" Target="slide40.xml"/><Relationship Id="rId10" Type="http://schemas.openxmlformats.org/officeDocument/2006/relationships/slide" Target="slide50.xml"/><Relationship Id="rId4" Type="http://schemas.openxmlformats.org/officeDocument/2006/relationships/slide" Target="slide38.xml"/><Relationship Id="rId9" Type="http://schemas.openxmlformats.org/officeDocument/2006/relationships/slide" Target="slide48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slide" Target="slide46.xml"/><Relationship Id="rId13" Type="http://schemas.openxmlformats.org/officeDocument/2006/relationships/slide" Target="slide57.xml"/><Relationship Id="rId3" Type="http://schemas.openxmlformats.org/officeDocument/2006/relationships/slide" Target="slide36.xml"/><Relationship Id="rId7" Type="http://schemas.openxmlformats.org/officeDocument/2006/relationships/slide" Target="slide44.xml"/><Relationship Id="rId12" Type="http://schemas.openxmlformats.org/officeDocument/2006/relationships/slide" Target="slide55.xml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3.xml"/><Relationship Id="rId6" Type="http://schemas.openxmlformats.org/officeDocument/2006/relationships/slide" Target="slide42.xml"/><Relationship Id="rId11" Type="http://schemas.openxmlformats.org/officeDocument/2006/relationships/slide" Target="slide52.xml"/><Relationship Id="rId5" Type="http://schemas.openxmlformats.org/officeDocument/2006/relationships/slide" Target="slide40.xml"/><Relationship Id="rId10" Type="http://schemas.openxmlformats.org/officeDocument/2006/relationships/slide" Target="slide50.xml"/><Relationship Id="rId4" Type="http://schemas.openxmlformats.org/officeDocument/2006/relationships/slide" Target="slide38.xml"/><Relationship Id="rId9" Type="http://schemas.openxmlformats.org/officeDocument/2006/relationships/slide" Target="slide4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YTSlide_10_1_0.9_1.3_0.9_1.1__1_1_0_0"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" y="2144142"/>
            <a:ext cx="12208713" cy="290410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0" y="2187126"/>
            <a:ext cx="12192000" cy="2481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latinLnBrk="0" hangingPunct="0">
              <a:lnSpc>
                <a:spcPct val="150000"/>
              </a:lnSpc>
            </a:pPr>
            <a:r>
              <a:rPr lang="zh-CN" altLang="en-US" sz="5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专题强化6</a:t>
            </a:r>
            <a:endParaRPr lang="en-US" altLang="zh-CN" sz="55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latinLnBrk="0" hangingPunct="0">
              <a:lnSpc>
                <a:spcPct val="150000"/>
              </a:lnSpc>
            </a:pPr>
            <a:r>
              <a:rPr lang="zh-CN" altLang="en-US" sz="5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闭合电路的功率、效率及动态分析</a:t>
            </a:r>
          </a:p>
        </p:txBody>
      </p:sp>
    </p:spTree>
    <p:extLst>
      <p:ext uri="{BB962C8B-B14F-4D97-AF65-F5344CB8AC3E}">
        <p14:creationId xmlns:p14="http://schemas.microsoft.com/office/powerpoint/2010/main" val="35294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428750"/>
            <a:ext cx="12192000" cy="367030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3953061" y="2060475"/>
            <a:ext cx="0" cy="595635"/>
          </a:xfrm>
          <a:prstGeom prst="line">
            <a:avLst/>
          </a:prstGeom>
          <a:ln w="22225">
            <a:solidFill>
              <a:srgbClr val="22252A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644576" y="3302066"/>
            <a:ext cx="0" cy="595635"/>
          </a:xfrm>
          <a:prstGeom prst="line">
            <a:avLst/>
          </a:prstGeom>
          <a:ln w="22225">
            <a:solidFill>
              <a:srgbClr val="C00000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948306" y="2068901"/>
            <a:ext cx="1798820" cy="1798820"/>
            <a:chOff x="2329306" y="2634955"/>
            <a:chExt cx="1798820" cy="1798820"/>
          </a:xfrm>
        </p:grpSpPr>
        <p:sp>
          <p:nvSpPr>
            <p:cNvPr id="13" name="矩形 12"/>
            <p:cNvSpPr/>
            <p:nvPr/>
          </p:nvSpPr>
          <p:spPr>
            <a:xfrm>
              <a:off x="2329306" y="2634955"/>
              <a:ext cx="1798820" cy="17988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>
              <a:outerShdw blurRad="101600" dist="381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797975" y="2969317"/>
              <a:ext cx="864339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600" dirty="0">
                  <a:solidFill>
                    <a:schemeClr val="bg1"/>
                  </a:solidFill>
                  <a:latin typeface="Aparajita" panose="020B0604020202020204" pitchFamily="34" charset="0"/>
                  <a:cs typeface="Aparajita" panose="020B0604020202020204" pitchFamily="34" charset="0"/>
                </a:rPr>
                <a:t>01</a:t>
              </a:r>
              <a:endParaRPr lang="zh-CN" altLang="en-US" sz="6600" dirty="0">
                <a:solidFill>
                  <a:schemeClr val="bg1"/>
                </a:solidFill>
                <a:latin typeface="Aparajita" panose="020B0604020202020204" pitchFamily="34" charset="0"/>
                <a:cs typeface="Aparajita" panose="020B0604020202020204" pitchFamily="34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814911" y="3723965"/>
              <a:ext cx="8178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Aparajita" panose="020B0604020202020204" pitchFamily="34" charset="0"/>
                  <a:cs typeface="Aparajita" panose="020B0604020202020204" pitchFamily="34" charset="0"/>
                </a:rPr>
                <a:t>PART</a:t>
              </a:r>
              <a:endParaRPr lang="zh-CN" altLang="en-US" sz="2400" dirty="0">
                <a:solidFill>
                  <a:schemeClr val="bg1"/>
                </a:solidFill>
                <a:latin typeface="Aparajita" panose="020B0604020202020204" pitchFamily="34" charset="0"/>
                <a:cs typeface="Aparajita" panose="020B0604020202020204" pitchFamily="34" charset="0"/>
              </a:endParaRPr>
            </a:p>
          </p:txBody>
        </p:sp>
      </p:grpSp>
      <p:sp>
        <p:nvSpPr>
          <p:cNvPr id="16" name="文本框 15">
            <a:hlinkClick r:id="rId2" action="ppaction://hlinksldjump"/>
          </p:cNvPr>
          <p:cNvSpPr txBox="1"/>
          <p:nvPr/>
        </p:nvSpPr>
        <p:spPr>
          <a:xfrm>
            <a:off x="4543575" y="1942793"/>
            <a:ext cx="26468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强化点一</a:t>
            </a:r>
          </a:p>
        </p:txBody>
      </p:sp>
      <p:sp>
        <p:nvSpPr>
          <p:cNvPr id="17" name="文本框 16">
            <a:hlinkClick r:id="rId2" action="ppaction://hlinksldjump"/>
          </p:cNvPr>
          <p:cNvSpPr txBox="1"/>
          <p:nvPr/>
        </p:nvSpPr>
        <p:spPr>
          <a:xfrm>
            <a:off x="4553834" y="3037082"/>
            <a:ext cx="58272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闭合电路的功率和效率</a:t>
            </a:r>
          </a:p>
        </p:txBody>
      </p:sp>
    </p:spTree>
    <p:extLst>
      <p:ext uri="{BB962C8B-B14F-4D97-AF65-F5344CB8AC3E}">
        <p14:creationId xmlns:p14="http://schemas.microsoft.com/office/powerpoint/2010/main" val="355885603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1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 tmFilter="0,0; .5, 1; 1, 1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1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 tmFilter="0,0; .5, 1; 1, 1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9" name="yt_shape_16569"/>
          <p:cNvSpPr txBox="1"/>
          <p:nvPr/>
        </p:nvSpPr>
        <p:spPr>
          <a:xfrm>
            <a:off x="324000" y="456925"/>
            <a:ext cx="5116785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闭合电路中的有关功率及效率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570" name="yt_table_16570" title="H_362.4401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5054837"/>
                  </p:ext>
                </p:extLst>
              </p:nvPr>
            </p:nvGraphicFramePr>
            <p:xfrm>
              <a:off x="324000" y="1193300"/>
              <a:ext cx="11543998" cy="490251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47112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99871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2093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25322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67999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项目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电源的总功率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P</a:t>
                          </a:r>
                          <a:r>
                            <a:rPr lang="zh-CN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总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电源的热功率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P</a:t>
                          </a:r>
                          <a:r>
                            <a:rPr lang="zh-CN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热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电源的输出功率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P</a:t>
                          </a:r>
                          <a:r>
                            <a:rPr lang="zh-CN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出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7999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3_90373"/>
                            </a:rPr>
                            <a:t>任意闭</a:t>
                          </a:r>
                          <a:b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合电路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P</a:t>
                          </a:r>
                          <a:r>
                            <a:rPr lang="zh-CN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总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EI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P</a:t>
                          </a:r>
                          <a:r>
                            <a:rPr lang="zh-CN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热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I</a:t>
                          </a:r>
                          <a:r>
                            <a:rPr lang="en-US" altLang="zh-CN" sz="2800" b="0" i="0" u="none" baseline="30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P</a:t>
                          </a:r>
                          <a:r>
                            <a:rPr lang="zh-CN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出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U</a:t>
                          </a:r>
                          <a:r>
                            <a:rPr lang="zh-CN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外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I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67999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3_af162"/>
                            </a:rPr>
                            <a:t>纯电阻</a:t>
                          </a:r>
                          <a:b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外电路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P</a:t>
                          </a:r>
                          <a:r>
                            <a:rPr lang="zh-CN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总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E</m:t>
                                      </m:r>
                                    </m:e>
                                    <m:sup>
                                      <m: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R</m:t>
                                  </m:r>
                                  <m:r>
                                    <a:rPr lang="zh-CN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＋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r</m:t>
                                  </m:r>
                                </m:den>
                              </m:f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I</a:t>
                          </a:r>
                          <a:r>
                            <a:rPr lang="en-US" altLang="zh-CN" sz="2800" b="0" i="0" u="none" baseline="30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（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＋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）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P</a:t>
                          </a:r>
                          <a:r>
                            <a:rPr lang="zh-CN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热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I</a:t>
                          </a:r>
                          <a:r>
                            <a:rPr lang="en-US" altLang="zh-CN" sz="2800" b="0" i="0" u="none" baseline="30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P</a:t>
                          </a:r>
                          <a:r>
                            <a:rPr lang="zh-CN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出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I</a:t>
                          </a:r>
                          <a:r>
                            <a:rPr lang="en-US" altLang="zh-CN" sz="2800" b="0" i="0" u="none" baseline="30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  <a:sym typeface="_⨹_1_0aa49"/>
                            </a:rPr>
                            <a:t>＝</a:t>
                          </a:r>
                          <a:b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</a:b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2800" b="0" i="1">
                                        <a:solidFill>
                                          <a:srgbClr val="01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56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altLang="zh-CN" sz="2800" b="0" i="1">
                                            <a:solidFill>
                                              <a:srgbClr val="01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56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800" b="0" i="0">
                                            <a:solidFill>
                                              <a:srgbClr val="010000"/>
                                            </a:solidFill>
                                            <a:effectLst/>
                                            <a:latin typeface="Cambria Math" panose="02040503050406030204" pitchFamily="56" charset="0"/>
                                            <a:ea typeface="Cambria Math" panose="02040503050406030204" pitchFamily="56" charset="0"/>
                                          </a:rPr>
                                          <m:t>E</m:t>
                                        </m:r>
                                      </m:e>
                                      <m:sup>
                                        <m:r>
                                          <a:rPr lang="en-US" altLang="zh-CN" sz="2800" b="0" i="0">
                                            <a:solidFill>
                                              <a:srgbClr val="010000"/>
                                            </a:solidFill>
                                            <a:effectLst/>
                                            <a:latin typeface="Cambria Math" panose="02040503050406030204" pitchFamily="56" charset="0"/>
                                            <a:ea typeface="Cambria Math" panose="02040503050406030204" pitchFamily="56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US" altLang="zh-CN" sz="2800" b="0" i="0">
                                        <a:solidFill>
                                          <a:srgbClr val="010000"/>
                                        </a:solidFill>
                                        <a:effectLst/>
                                        <a:latin typeface="Cambria Math" panose="02040503050406030204" pitchFamily="56" charset="0"/>
                                        <a:ea typeface="Cambria Math" panose="02040503050406030204" pitchFamily="56" charset="0"/>
                                      </a:rPr>
                                      <m:t>R</m:t>
                                    </m:r>
                                  </m:num>
                                  <m:den>
                                    <m:r>
                                      <a:rPr lang="zh-CN" altLang="zh-CN" sz="2800" b="0" i="1">
                                        <a:solidFill>
                                          <a:srgbClr val="010000"/>
                                        </a:solidFill>
                                        <a:effectLst/>
                                        <a:latin typeface="Cambria Math" panose="02040503050406030204" pitchFamily="56" charset="0"/>
                                        <a:ea typeface="Cambria Math" panose="02040503050406030204" pitchFamily="56" charset="0"/>
                                      </a:rPr>
                                      <m:t>（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 sz="2800" b="0" i="0">
                                        <a:solidFill>
                                          <a:srgbClr val="010000"/>
                                        </a:solidFill>
                                        <a:effectLst/>
                                        <a:latin typeface="Cambria Math" panose="02040503050406030204" pitchFamily="56" charset="0"/>
                                        <a:ea typeface="Cambria Math" panose="02040503050406030204" pitchFamily="56" charset="0"/>
                                      </a:rPr>
                                      <m:t>R</m:t>
                                    </m:r>
                                    <m:r>
                                      <a:rPr lang="zh-CN" altLang="zh-CN" sz="2800" b="0" i="0">
                                        <a:solidFill>
                                          <a:srgbClr val="010000"/>
                                        </a:solidFill>
                                        <a:effectLst/>
                                        <a:latin typeface="Cambria Math" panose="02040503050406030204" pitchFamily="56" charset="0"/>
                                        <a:ea typeface="Cambria Math" panose="02040503050406030204" pitchFamily="56" charset="0"/>
                                      </a:rPr>
                                      <m:t>＋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 sz="2800" b="0" i="0">
                                        <a:solidFill>
                                          <a:srgbClr val="010000"/>
                                        </a:solidFill>
                                        <a:effectLst/>
                                        <a:latin typeface="Cambria Math" panose="02040503050406030204" pitchFamily="56" charset="0"/>
                                        <a:ea typeface="Cambria Math" panose="02040503050406030204" pitchFamily="56" charset="0"/>
                                      </a:rPr>
                                      <m:t>r</m:t>
                                    </m:r>
                                    <m:sSup>
                                      <m:sSupPr>
                                        <m:ctrlPr>
                                          <a:rPr lang="en-US" altLang="zh-CN" sz="2800" b="0" i="1">
                                            <a:solidFill>
                                              <a:srgbClr val="01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56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zh-CN" sz="2800" b="0" i="1">
                                            <a:solidFill>
                                              <a:srgbClr val="010000"/>
                                            </a:solidFill>
                                            <a:effectLst/>
                                            <a:latin typeface="Cambria Math" panose="02040503050406030204" pitchFamily="56" charset="0"/>
                                            <a:ea typeface="Cambria Math" panose="02040503050406030204" pitchFamily="56" charset="0"/>
                                          </a:rPr>
                                          <m:t>）</m:t>
                                        </m:r>
                                      </m:e>
                                      <m:sup>
                                        <m:r>
                                          <a:rPr lang="en-US" altLang="zh-CN" sz="2800" b="0" i="0">
                                            <a:solidFill>
                                              <a:srgbClr val="010000"/>
                                            </a:solidFill>
                                            <a:effectLst/>
                                            <a:latin typeface="Cambria Math" panose="02040503050406030204" pitchFamily="56" charset="0"/>
                                            <a:ea typeface="Cambria Math" panose="02040503050406030204" pitchFamily="56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zh-CN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宋体" pitchFamily="28"/>
                            <a:ea typeface="宋体" pitchFamily="28"/>
                          </a:endParaRP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67999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联系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P</a:t>
                          </a:r>
                          <a:r>
                            <a:rPr lang="zh-CN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总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P</a:t>
                          </a:r>
                          <a:r>
                            <a:rPr lang="zh-CN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热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＋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P</a:t>
                          </a:r>
                          <a:r>
                            <a:rPr lang="zh-CN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出</a:t>
                          </a:r>
                          <a:r>
                            <a:rPr lang="zh-CN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　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效率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η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P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zh-CN" altLang="zh-CN" sz="2800" b="0" i="0" baseline="-200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宋体" panose="02040503050406030204" pitchFamily="56" charset="0"/>
                                        </a:rPr>
                                        <m:t>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P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zh-CN" altLang="zh-CN" sz="2800" b="0" i="0" baseline="-200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宋体" panose="02040503050406030204" pitchFamily="56" charset="0"/>
                                        </a:rPr>
                                        <m:t>总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×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100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％＝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U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E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×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100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％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>
                            <a:lnSpc>
                              <a:spcPct val="140000"/>
                            </a:lnSpc>
                          </a:pPr>
                          <a:endParaRPr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>
                            <a:lnSpc>
                              <a:spcPct val="140000"/>
                            </a:lnSpc>
                          </a:pPr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 xmlns:p15="http://schemas.microsoft.com/office/powerpoint/2012/main" xmlns:p14="http://schemas.microsoft.com/office/powerpoint/2010/main" xmlns:a16="http://schemas.microsoft.com/office/drawing/2014/main">
          <p:graphicFrame>
            <p:nvGraphicFramePr>
              <p:cNvPr id="16570" name="yt_table_16570" title="H_362.4401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5054837"/>
                  </p:ext>
                </p:extLst>
              </p:nvPr>
            </p:nvGraphicFramePr>
            <p:xfrm>
              <a:off x="324000" y="1193300"/>
              <a:ext cx="11543998" cy="490251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47112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99871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2093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25322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618490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项目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电源的总功率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P</a:t>
                          </a:r>
                          <a:r>
                            <a:rPr lang="zh-CN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总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电源的热功率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P</a:t>
                          </a:r>
                          <a:r>
                            <a:rPr lang="zh-CN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热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电源的输出功率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P</a:t>
                          </a:r>
                          <a:r>
                            <a:rPr lang="zh-CN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出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215898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3_90373"/>
                            </a:rPr>
                            <a:t>任意闭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/>
                          </a:r>
                          <a:b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合电路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P</a:t>
                          </a:r>
                          <a:r>
                            <a:rPr lang="zh-CN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总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EI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P</a:t>
                          </a:r>
                          <a:r>
                            <a:rPr lang="zh-CN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热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I</a:t>
                          </a:r>
                          <a:r>
                            <a:rPr lang="en-US" altLang="zh-CN" sz="2800" b="0" i="0" u="none" baseline="30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P</a:t>
                          </a:r>
                          <a:r>
                            <a:rPr lang="zh-CN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出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U</a:t>
                          </a:r>
                          <a:r>
                            <a:rPr lang="zh-CN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外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I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901063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3_af162"/>
                            </a:rPr>
                            <a:t>纯电阻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/>
                          </a:r>
                          <a:b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外电路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  <a:blipFill>
                          <a:blip r:embed="rId2"/>
                          <a:stretch>
                            <a:fillRect l="-36890" t="-96795" r="-152287" b="-621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P</a:t>
                          </a:r>
                          <a:r>
                            <a:rPr lang="zh-CN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热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I</a:t>
                          </a:r>
                          <a:r>
                            <a:rPr lang="en-US" altLang="zh-CN" sz="2800" b="0" i="0" u="none" baseline="30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  <a:blipFill>
                          <a:blip r:embed="rId2"/>
                          <a:stretch>
                            <a:fillRect l="-254869" t="-96795" r="-375" b="-621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167067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联系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 grid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  <a:blipFill>
                          <a:blip r:embed="rId2"/>
                          <a:stretch>
                            <a:fillRect l="-14640" t="-319792" r="-121" b="-104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>
                            <a:lnSpc>
                              <a:spcPct val="140000"/>
                            </a:lnSpc>
                          </a:pPr>
                          <a:endParaRPr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>
                            <a:lnSpc>
                              <a:spcPct val="140000"/>
                            </a:lnSpc>
                          </a:pPr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2" name="yt_shape_16572"/>
          <p:cNvSpPr txBox="1"/>
          <p:nvPr/>
        </p:nvSpPr>
        <p:spPr>
          <a:xfrm>
            <a:off x="324000" y="467999"/>
            <a:ext cx="8348439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纯电阻电路中电源的输出功率随外电阻的变化规律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573" name="yt_shape_16573"/>
              <p:cNvSpPr txBox="1"/>
              <p:nvPr/>
            </p:nvSpPr>
            <p:spPr>
              <a:xfrm>
                <a:off x="324071" y="1052010"/>
                <a:ext cx="11924914" cy="236616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电源的输出功率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出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30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zh-CN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（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𝑅</m:t>
                        </m:r>
                        <m:r>
                          <a:rPr lang="zh-CN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𝑟</m:t>
                        </m:r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zh-CN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）</m:t>
                            </m:r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𝑅</m:t>
                        </m:r>
                      </m:num>
                      <m:den>
                        <m:r>
                          <a:rPr lang="zh-CN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（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𝑅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𝑟</m:t>
                        </m:r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zh-CN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）</m:t>
                            </m:r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+4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𝑅𝑟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  <a:sym typeface="_⨹_1_c89cb"/>
                  </a:rPr>
                  <a:t>＝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0" i="1">
                              <a:solidFill>
                                <a:srgbClr val="01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56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56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 pitchFamily="56" charset="0"/>
                                  <a:ea typeface="Cambria Math" panose="02040503050406030204" pitchFamily="56" charset="0"/>
                                </a:rPr>
                                <m:t>𝐸</m:t>
                              </m:r>
                            </m:e>
                            <m:sup>
                              <m:r>
                                <a:rPr lang="en-US" altLang="zh-CN" sz="2800" b="0" i="0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 pitchFamily="56" charset="0"/>
                                  <a:ea typeface="Cambria Math" panose="02040503050406030204" pitchFamily="56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f>
                            <m:fPr>
                              <m:ctrlPr>
                                <a:rPr lang="en-US" altLang="zh-CN" sz="28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56" charset="0"/>
                                </a:rPr>
                              </m:ctrlPr>
                            </m:fPr>
                            <m:num>
                              <m:r>
                                <a:rPr lang="zh-CN" altLang="zh-CN" sz="28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 pitchFamily="56" charset="0"/>
                                  <a:ea typeface="Cambria Math" panose="02040503050406030204" pitchFamily="56" charset="0"/>
                                </a:rPr>
                                <m:t>（</m:t>
                              </m:r>
                              <m:r>
                                <a:rPr lang="en-US" altLang="zh-CN" sz="28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 pitchFamily="56" charset="0"/>
                                  <a:ea typeface="Cambria Math" panose="02040503050406030204" pitchFamily="56" charset="0"/>
                                </a:rPr>
                                <m:t>𝑅</m:t>
                              </m:r>
                              <m:r>
                                <a:rPr lang="en-US" altLang="zh-CN" sz="28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 pitchFamily="56" charset="0"/>
                                  <a:ea typeface="Cambria Math" panose="02040503050406030204" pitchFamily="56" charset="0"/>
                                </a:rPr>
                                <m:t>−</m:t>
                              </m:r>
                              <m:r>
                                <a:rPr lang="en-US" altLang="zh-CN" sz="28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 pitchFamily="56" charset="0"/>
                                  <a:ea typeface="Cambria Math" panose="02040503050406030204" pitchFamily="56" charset="0"/>
                                </a:rPr>
                                <m:t>𝑟</m:t>
                              </m:r>
                              <m:sSup>
                                <m:sSup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）</m:t>
                                  </m:r>
                                </m:e>
                                <m:sup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8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 pitchFamily="56" charset="0"/>
                                  <a:ea typeface="Cambria Math" panose="02040503050406030204" pitchFamily="56" charset="0"/>
                                </a:rPr>
                                <m:t>𝑅</m:t>
                              </m:r>
                            </m:den>
                          </m:f>
                          <m:r>
                            <a:rPr lang="en-US" altLang="zh-CN" sz="2800" b="0" i="0">
                              <a:solidFill>
                                <a:srgbClr val="010000"/>
                              </a:solidFill>
                              <a:effectLst/>
                              <a:latin typeface="Cambria Math" panose="02040503050406030204" pitchFamily="56" charset="0"/>
                              <a:ea typeface="Cambria Math" panose="02040503050406030204" pitchFamily="56" charset="0"/>
                            </a:rPr>
                            <m:t>+4</m:t>
                          </m:r>
                          <m:r>
                            <a:rPr lang="en-US" altLang="zh-CN" sz="2800" b="0" i="1">
                              <a:solidFill>
                                <a:srgbClr val="010000"/>
                              </a:solidFill>
                              <a:effectLst/>
                              <a:latin typeface="Cambria Math" panose="02040503050406030204" pitchFamily="56" charset="0"/>
                              <a:ea typeface="Cambria Math" panose="02040503050406030204" pitchFamily="56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zh-CN" altLang="zh-CN" sz="2800" b="0" i="0" u="none">
                  <a:solidFill>
                    <a:srgbClr val="000000"/>
                  </a:solidFill>
                  <a:effectLst/>
                  <a:latin typeface="宋体" pitchFamily="28"/>
                  <a:ea typeface="宋体" pitchFamily="28"/>
                </a:endParaRPr>
              </a:p>
            </p:txBody>
          </p:sp>
        </mc:Choice>
        <mc:Fallback xmlns="" xmlns:m="http://schemas.openxmlformats.org/officeDocument/2006/math" xmlns:a16="http://schemas.microsoft.com/office/drawing/2014/main" xmlns:p14="http://schemas.microsoft.com/office/powerpoint/2010/main" xmlns:p15="http://schemas.microsoft.com/office/powerpoint/2012/main">
          <p:sp>
            <p:nvSpPr>
              <p:cNvPr id="16573" name="yt_shape_16573" descr="{&quot;rangeId&quot;:91,&quot;color&quot;:&quot;B&quot;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1052010"/>
                <a:ext cx="11543998" cy="2366161"/>
              </a:xfrm>
              <a:prstGeom prst="rect">
                <a:avLst/>
              </a:prstGeom>
              <a:blipFill>
                <a:blip r:embed="rId2"/>
                <a:stretch>
                  <a:fillRect l="-18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75" name="yt_shape_16575"/>
              <p:cNvSpPr txBox="1"/>
              <p:nvPr/>
            </p:nvSpPr>
            <p:spPr>
              <a:xfrm>
                <a:off x="324000" y="3468959"/>
                <a:ext cx="8848769" cy="870431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由上式可知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当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时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电源有最大输出功率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max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。</a:t>
                </a:r>
              </a:p>
            </p:txBody>
          </p:sp>
        </mc:Choice>
        <mc:Fallback xmlns="" xmlns:m="http://schemas.openxmlformats.org/officeDocument/2006/math" xmlns:a16="http://schemas.microsoft.com/office/drawing/2014/main" xmlns:p14="http://schemas.microsoft.com/office/powerpoint/2010/main" xmlns:p15="http://schemas.microsoft.com/office/powerpoint/2012/main">
          <p:sp>
            <p:nvSpPr>
              <p:cNvPr id="16575" name="yt_shape_16575" descr="{&quot;rangeId&quot;:91,&quot;color&quot;:&quot;B&quot;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00" y="3468959"/>
                <a:ext cx="8848769" cy="870431"/>
              </a:xfrm>
              <a:prstGeom prst="rect">
                <a:avLst/>
              </a:prstGeom>
              <a:blipFill>
                <a:blip r:embed="rId3"/>
                <a:stretch>
                  <a:fillRect l="-2410" r="-1171" b="-132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4="http://schemas.microsoft.com/office/drawing/2010/main" xmlns:m="http://schemas.openxmlformats.org/officeDocument/2006/math" xmlns:a16="http://schemas.microsoft.com/office/drawing/2014/main" xmlns:p14="http://schemas.microsoft.com/office/powerpoint/2010/main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7" name="yt_shape_16577"/>
          <p:cNvSpPr txBox="1"/>
          <p:nvPr/>
        </p:nvSpPr>
        <p:spPr>
          <a:xfrm>
            <a:off x="324000" y="467999"/>
            <a:ext cx="9565119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电源的输出功率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随外电阻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变化的图像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pic>
        <p:nvPicPr>
          <p:cNvPr id="16578" name="yt_image_16578">
            <a:extLst>
              <a:ext uri="">
                <a16:creationId xmlns="" xmlns:m="http://schemas.openxmlformats.org/officeDocument/2006/math" xmlns:mc="http://schemas.openxmlformats.org/markup-compatibility/2006" xmlns:a14="http://schemas.microsoft.com/office/drawing/2010/main" xmlns:p15="http://schemas.microsoft.com/office/powerpoint/2012/main" xmlns:p14="http://schemas.microsoft.com/office/powerpoint/2010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35232" y="1386584"/>
            <a:ext cx="2864222" cy="2254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580" name="yt_shape_16580"/>
          <p:cNvSpPr txBox="1"/>
          <p:nvPr/>
        </p:nvSpPr>
        <p:spPr>
          <a:xfrm>
            <a:off x="410316" y="1461375"/>
            <a:ext cx="2154436" cy="51302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由图像可得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</a:p>
        </p:txBody>
      </p:sp>
      <p:sp>
        <p:nvSpPr>
          <p:cNvPr id="16581" name="yt_shape_16581"/>
          <p:cNvSpPr txBox="1"/>
          <p:nvPr/>
        </p:nvSpPr>
        <p:spPr>
          <a:xfrm>
            <a:off x="410316" y="2025189"/>
            <a:ext cx="5705088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①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＜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若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增大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增大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</a:p>
        </p:txBody>
      </p:sp>
      <p:sp>
        <p:nvSpPr>
          <p:cNvPr id="16582" name="yt_shape_16582"/>
          <p:cNvSpPr txBox="1"/>
          <p:nvPr/>
        </p:nvSpPr>
        <p:spPr>
          <a:xfrm>
            <a:off x="410316" y="2666230"/>
            <a:ext cx="5705088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②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＞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若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增大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减小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583" name="yt_shape_16583"/>
              <p:cNvSpPr txBox="1"/>
              <p:nvPr/>
            </p:nvSpPr>
            <p:spPr>
              <a:xfrm>
                <a:off x="410316" y="3162130"/>
                <a:ext cx="7053406" cy="870431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③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当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时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电源的输出功率最大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max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。</a:t>
                </a:r>
              </a:p>
            </p:txBody>
          </p:sp>
        </mc:Choice>
        <mc:Fallback xmlns="" xmlns:m="http://schemas.openxmlformats.org/officeDocument/2006/math" xmlns:p15="http://schemas.microsoft.com/office/powerpoint/2012/main" xmlns:p14="http://schemas.microsoft.com/office/powerpoint/2010/main" xmlns:a16="http://schemas.microsoft.com/office/drawing/2014/main">
          <p:sp>
            <p:nvSpPr>
              <p:cNvPr id="16583" name="yt_shape_165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316" y="3162130"/>
                <a:ext cx="7053406" cy="870431"/>
              </a:xfrm>
              <a:prstGeom prst="rect">
                <a:avLst/>
              </a:prstGeom>
              <a:blipFill>
                <a:blip r:embed="rId3"/>
                <a:stretch>
                  <a:fillRect l="-3025" r="-1729" b="-125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yt_shape_16585"/>
          <p:cNvSpPr txBox="1"/>
          <p:nvPr/>
        </p:nvSpPr>
        <p:spPr>
          <a:xfrm>
            <a:off x="343405" y="4141297"/>
            <a:ext cx="11543998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综合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①②③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可得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：｜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越大时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越小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；｜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越小时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  <a:sym typeface="_⨹_1_5a3f1"/>
              </a:rPr>
              <a:t>越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；｜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｜＝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最大。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sp>
        <p:nvSpPr>
          <p:cNvPr id="9" name="yt_shape_16586"/>
          <p:cNvSpPr txBox="1"/>
          <p:nvPr/>
        </p:nvSpPr>
        <p:spPr>
          <a:xfrm>
            <a:off x="343405" y="5472667"/>
            <a:ext cx="11543998" cy="53219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④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＜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max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每个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对应两个可能的外电阻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而且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587" name="yt_shape_16587"/>
              <p:cNvSpPr txBox="1"/>
              <p:nvPr/>
            </p:nvSpPr>
            <p:spPr>
              <a:xfrm>
                <a:off x="194515" y="422925"/>
                <a:ext cx="11924914" cy="1231703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电源的效率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en-US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η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𝑃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zh-CN" sz="2800" b="0" i="0" baseline="-200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宋体" panose="02040503050406030204" pitchFamily="56" charset="0"/>
                              </a:rPr>
                              <m:t>出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𝑃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zh-CN" sz="2800" b="0" i="0" baseline="-200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宋体" panose="02040503050406030204" pitchFamily="56" charset="0"/>
                              </a:rPr>
                              <m:t>总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100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％＝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𝑈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𝐸</m:t>
                        </m:r>
                      </m:den>
                    </m:f>
                  </m:oMath>
                </a14:m>
                <a:r>
                  <a:rPr lang="en-US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100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％＝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𝑅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𝑅</m:t>
                        </m:r>
                        <m:r>
                          <a:rPr lang="zh-CN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en-US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100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％＝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  <m:r>
                          <a:rPr lang="zh-CN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3_0e380"/>
                  </a:rPr>
                  <a:t>100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％。</a:t>
                </a:r>
              </a:p>
            </p:txBody>
          </p:sp>
        </mc:Choice>
        <mc:Fallback xmlns="" xmlns:p14="http://schemas.microsoft.com/office/powerpoint/2010/main" xmlns:p15="http://schemas.microsoft.com/office/powerpoint/2012/main">
          <p:sp>
            <p:nvSpPr>
              <p:cNvPr id="16587" name="yt_shape_165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15" y="422925"/>
                <a:ext cx="11924914" cy="1231703"/>
              </a:xfrm>
              <a:prstGeom prst="rect">
                <a:avLst/>
              </a:prstGeom>
              <a:blipFill>
                <a:blip r:embed="rId2"/>
                <a:stretch>
                  <a:fillRect l="-1840" r="-13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589" name="yt_shape_16589"/>
          <p:cNvSpPr txBox="1"/>
          <p:nvPr/>
        </p:nvSpPr>
        <p:spPr>
          <a:xfrm>
            <a:off x="267086" y="1704457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由上式可知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外电阻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越大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电源的效率越高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6_214e3"/>
              </a:rPr>
              <a:t>电源的输出功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率最大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电源效率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％。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4="http://schemas.microsoft.com/office/drawing/2010/main" xmlns:p14="http://schemas.microsoft.com/office/powerpoint/2010/main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0" name="yt_shape_16590"/>
          <p:cNvSpPr txBox="1"/>
          <p:nvPr/>
        </p:nvSpPr>
        <p:spPr>
          <a:xfrm>
            <a:off x="324000" y="467999"/>
            <a:ext cx="6463308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类型一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｜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闭合电路中有关功率的计算问题</a:t>
            </a:r>
          </a:p>
        </p:txBody>
      </p:sp>
      <p:sp>
        <p:nvSpPr>
          <p:cNvPr id="16591" name="yt_shape_16591"/>
          <p:cNvSpPr txBox="1"/>
          <p:nvPr/>
        </p:nvSpPr>
        <p:spPr>
          <a:xfrm>
            <a:off x="324071" y="1052010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【例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1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】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电源的电动势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内电阻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电动机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ccf95"/>
              </a:rPr>
              <a:t>的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线圈电阻为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定值电阻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若电压表的示数为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</a:p>
        </p:txBody>
      </p:sp>
      <p:pic>
        <p:nvPicPr>
          <p:cNvPr id="16592" name="yt_image_16592">
            <a:extLst>
              <a:ext uri="">
                <a16:creationId xmlns=""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5634" y="2390601"/>
            <a:ext cx="2460730" cy="169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594" name="yt_shape_16594"/>
          <p:cNvSpPr txBox="1"/>
          <p:nvPr/>
        </p:nvSpPr>
        <p:spPr>
          <a:xfrm>
            <a:off x="324000" y="4139639"/>
            <a:ext cx="6283771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电源的总功率和电源的输出功率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</a:p>
        </p:txBody>
      </p:sp>
      <p:sp>
        <p:nvSpPr>
          <p:cNvPr id="16595" name="yt_shape_16595"/>
          <p:cNvSpPr txBox="1"/>
          <p:nvPr/>
        </p:nvSpPr>
        <p:spPr>
          <a:xfrm>
            <a:off x="324000" y="4722624"/>
            <a:ext cx="2997487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答案：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W</a:t>
            </a:r>
            <a:r>
              <a:rPr lang="zh-CN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W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6="http://schemas.microsoft.com/office/drawing/2014/main" xmlns:a14="http://schemas.microsoft.com/office/drawing/2010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95" grpId="0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596" name="yt_shape_16596"/>
              <p:cNvSpPr txBox="1"/>
              <p:nvPr/>
            </p:nvSpPr>
            <p:spPr>
              <a:xfrm>
                <a:off x="324071" y="613142"/>
                <a:ext cx="11924914" cy="3876702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在串联电路中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电压表测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两端的电压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由部分电路欧姆定律得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3775c"/>
                  </a:rPr>
                  <a:t>＝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𝑈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电源的总功率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总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EI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W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W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由能量守恒定律得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输出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总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源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W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W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W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>
          <p:sp>
            <p:nvSpPr>
              <p:cNvPr id="16596" name="yt_shape_165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613142"/>
                <a:ext cx="11924914" cy="3876702"/>
              </a:xfrm>
              <a:prstGeom prst="rect">
                <a:avLst/>
              </a:prstGeom>
              <a:blipFill>
                <a:blip r:embed="rId2"/>
                <a:stretch>
                  <a:fillRect l="-1789" t="-629" b="-47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0" name="yt_shape_16600"/>
          <p:cNvSpPr txBox="1"/>
          <p:nvPr/>
        </p:nvSpPr>
        <p:spPr>
          <a:xfrm>
            <a:off x="267086" y="1832342"/>
            <a:ext cx="11924914" cy="29451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解析：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电源的输出功率为电动机和定值电阻获得功率之和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即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输出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  <a:sym typeface="_⨹_1_a2dac"/>
              </a:rPr>
              <a:t>＋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0" i="0" u="none" baseline="30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输出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输出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0" i="0" u="none" baseline="30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W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W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W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由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机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en-US" altLang="zh-CN" sz="2800" b="0" i="0" u="none" baseline="-25000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1" u="none" baseline="-25000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得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机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en-US" altLang="zh-CN" sz="2800" b="0" i="0" u="none" baseline="-25000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1" u="none" baseline="-25000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0" i="0" u="none" baseline="30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机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W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 baseline="30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×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W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W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。</a:t>
            </a:r>
          </a:p>
        </p:txBody>
      </p:sp>
      <p:sp>
        <p:nvSpPr>
          <p:cNvPr id="3" name="yt_shape_16598"/>
          <p:cNvSpPr txBox="1"/>
          <p:nvPr/>
        </p:nvSpPr>
        <p:spPr>
          <a:xfrm>
            <a:off x="267086" y="514746"/>
            <a:ext cx="8079135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电动机消耗的功率和电动机输出的机械功率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4" name="yt_shape_16599"/>
          <p:cNvSpPr txBox="1"/>
          <p:nvPr/>
        </p:nvSpPr>
        <p:spPr>
          <a:xfrm>
            <a:off x="267086" y="1097731"/>
            <a:ext cx="2997487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答案：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W</a:t>
            </a:r>
            <a:r>
              <a:rPr lang="zh-CN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6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00" grpId="0"/>
      <p:bldP spid="4" grpId="0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1" name="yt_shape_16601"/>
          <p:cNvSpPr txBox="1"/>
          <p:nvPr/>
        </p:nvSpPr>
        <p:spPr>
          <a:xfrm>
            <a:off x="324071" y="467999"/>
            <a:ext cx="11924914" cy="242034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类型二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｜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闭合电路中功率与图像的综合问题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【例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2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】　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浙江绍兴期中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在如图所示的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-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图像中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51a31"/>
              </a:rPr>
              <a:t>直线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为某电源的路端电压与电流的关系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直线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为某电阻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8_3290c"/>
              </a:rPr>
              <a:t>的电压与电流的关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系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现用该电源直接与电阻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连接成闭合电路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9_14546"/>
              </a:rPr>
              <a:t>则下列说法正确的是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pic>
        <p:nvPicPr>
          <p:cNvPr id="16603" name="yt_image_16603" title="H_208.75">
            <a:extLst>
              <a:ext uri="">
                <a16:creationId xmlns="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66319" y="2888343"/>
            <a:ext cx="3303475" cy="265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yt_table_16605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9224198"/>
              </p:ext>
            </p:extLst>
          </p:nvPr>
        </p:nvGraphicFramePr>
        <p:xfrm>
          <a:off x="324137" y="2900508"/>
          <a:ext cx="7146862" cy="2389632"/>
        </p:xfrm>
        <a:graphic>
          <a:graphicData uri="http://schemas.openxmlformats.org/drawingml/2006/table">
            <a:tbl>
              <a:tblPr/>
              <a:tblGrid>
                <a:gridCol w="7146862">
                  <a:extLst>
                    <a:ext uri="{9D8B030D-6E8A-4147-A177-3AD203B41FA5}">
                      <a16:colId xmlns:a16="http://schemas.microsoft.com/office/drawing/2014/main" val="10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该电源的电动势为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6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电源内阻为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某电阻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的阻值为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该电源的输出功率为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W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内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外电路消耗的电功率之比为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∶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74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61421" y="2938604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1421" y="3548323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1421" y="4114600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6="http://schemas.microsoft.com/office/drawing/2014/main" xmlns:a14="http://schemas.microsoft.com/office/drawing/2010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608" name="yt_shape_16608"/>
              <p:cNvSpPr txBox="1"/>
              <p:nvPr/>
            </p:nvSpPr>
            <p:spPr>
              <a:xfrm>
                <a:off x="324071" y="467999"/>
                <a:ext cx="11924914" cy="4097084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根据闭合电路欧姆定律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Ir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可知该电源的电动势为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9dbf1"/>
                  </a:rPr>
                  <a:t>电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源的内阻为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Δ</m:t>
                            </m:r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𝑈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Δ</m:t>
                            </m:r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𝐼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6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.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0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.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根据图像可得电阻为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𝑈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𝐼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f136f"/>
                  </a:rPr>
                  <a:t>＝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.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0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.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交点坐标表示回路电流和电压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8_dac18"/>
                  </a:rPr>
                  <a:t>其对应的面积表示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电源的输出功率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电源的输出功率为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出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UI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W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W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ed45a"/>
                  </a:rPr>
                  <a:t>C</a:t>
                </a:r>
                <a:b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内阻消耗电功率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W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4_f199a"/>
                  </a:rPr>
                  <a:t>内、外电路消耗的电功率之比为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∶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错误。</a:t>
                </a:r>
              </a:p>
            </p:txBody>
          </p:sp>
        </mc:Choice>
        <mc:Fallback xmlns="">
          <p:sp>
            <p:nvSpPr>
              <p:cNvPr id="16608" name="yt_shape_166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4097084"/>
              </a:xfrm>
              <a:prstGeom prst="rect">
                <a:avLst/>
              </a:prstGeom>
              <a:blipFill>
                <a:blip r:embed="rId2"/>
                <a:stretch>
                  <a:fillRect l="-1789" t="-595" b="-44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2" name="yt_shape_16612"/>
          <p:cNvSpPr txBox="1"/>
          <p:nvPr/>
        </p:nvSpPr>
        <p:spPr>
          <a:xfrm>
            <a:off x="440186" y="1367885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【例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3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】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电路中电源电动势为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内阻为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7_56fd1"/>
              </a:rPr>
              <a:t>滑动变阻器阻值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闭合开关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pic>
        <p:nvPicPr>
          <p:cNvPr id="16613" name="yt_image_16613">
            <a:extLst>
              <a:ext uri="">
                <a16:creationId xmlns=""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16228" y="2706476"/>
            <a:ext cx="1991772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615" name="yt_shape_16615"/>
          <p:cNvSpPr txBox="1"/>
          <p:nvPr/>
        </p:nvSpPr>
        <p:spPr>
          <a:xfrm>
            <a:off x="440115" y="4547569"/>
            <a:ext cx="11150488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当满足什么条件时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电源的输出功率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最大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？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最大值为多少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616" name="yt_shape_16616"/>
              <p:cNvSpPr txBox="1"/>
              <p:nvPr/>
            </p:nvSpPr>
            <p:spPr>
              <a:xfrm>
                <a:off x="440115" y="5130554"/>
                <a:ext cx="2831096" cy="870431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答案：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　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zh-CN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　</a:t>
                </a:r>
              </a:p>
            </p:txBody>
          </p:sp>
        </mc:Choice>
        <mc:Fallback xmlns="" xmlns:p15="http://schemas.microsoft.com/office/powerpoint/2012/main" xmlns:p14="http://schemas.microsoft.com/office/powerpoint/2010/main" xmlns:a16="http://schemas.microsoft.com/office/drawing/2014/main">
          <p:sp>
            <p:nvSpPr>
              <p:cNvPr id="16616" name="yt_shape_166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115" y="5130554"/>
                <a:ext cx="2831096" cy="870431"/>
              </a:xfrm>
              <a:prstGeom prst="rect">
                <a:avLst/>
              </a:prstGeom>
              <a:blipFill>
                <a:blip r:embed="rId3"/>
                <a:stretch>
                  <a:fillRect l="-7527" b="-133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yt_shape_16610"/>
              <p:cNvSpPr txBox="1"/>
              <p:nvPr/>
            </p:nvSpPr>
            <p:spPr>
              <a:xfrm>
                <a:off x="585258" y="698692"/>
                <a:ext cx="8450840" cy="537904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>
                    <a:solidFill>
                      <a:srgbClr val="000000"/>
                    </a:solidFill>
                    <a:effectLst/>
                    <a:latin typeface="微软雅黑" pitchFamily="28"/>
                    <a:ea typeface="微软雅黑" pitchFamily="28"/>
                  </a:rPr>
                  <a:t>类型三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"/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dPr>
                      <m:e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zh-CN" altLang="zh-CN" sz="2800" b="1" i="0" u="none">
                    <a:solidFill>
                      <a:srgbClr val="000000"/>
                    </a:solidFill>
                    <a:effectLst/>
                    <a:latin typeface="微软雅黑" pitchFamily="28"/>
                    <a:ea typeface="微软雅黑" pitchFamily="28"/>
                  </a:rPr>
                  <a:t>纯电阻电路中电源输出功率的分析与计算问题</a:t>
                </a:r>
              </a:p>
            </p:txBody>
          </p:sp>
        </mc:Choice>
        <mc:Fallback xmlns="" xmlns:p15="http://schemas.microsoft.com/office/powerpoint/2012/main" xmlns:p14="http://schemas.microsoft.com/office/powerpoint/2010/main" xmlns:a16="http://schemas.microsoft.com/office/drawing/2014/main">
          <p:sp>
            <p:nvSpPr>
              <p:cNvPr id="6" name="yt_shape_166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258" y="698692"/>
                <a:ext cx="8450840" cy="537904"/>
              </a:xfrm>
              <a:prstGeom prst="rect">
                <a:avLst/>
              </a:prstGeom>
              <a:blipFill>
                <a:blip r:embed="rId4"/>
                <a:stretch>
                  <a:fillRect l="-2525" r="-1299" b="-397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6="http://schemas.microsoft.com/office/drawing/2014/main" xmlns:a14="http://schemas.microsoft.com/office/drawing/2010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6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16" grpId="0" build="allAtOnce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618" name="yt_shape_16618"/>
              <p:cNvSpPr txBox="1"/>
              <p:nvPr/>
            </p:nvSpPr>
            <p:spPr>
              <a:xfrm>
                <a:off x="396571" y="1077599"/>
                <a:ext cx="6827382" cy="2847383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电源的输出功率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出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𝐸</m:t>
                                </m:r>
                              </m:num>
                              <m:den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𝑅</m:t>
                                </m:r>
                                <m:r>
                                  <a:rPr lang="zh-CN" altLang="zh-CN" sz="2800" b="0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＋</m:t>
                                </m:r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Times New Roman" pitchFamily="28"/>
                  </a:rPr>
                  <a:t>·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zh-CN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（</m:t>
                            </m:r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−</m:t>
                            </m:r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𝑟</m:t>
                            </m:r>
                            <m:sSup>
                              <m:sSup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）</m:t>
                                </m:r>
                              </m:e>
                              <m:sup>
                                <m:r>
                                  <a:rPr lang="en-US" altLang="zh-CN" sz="2800" b="0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den>
                        </m:f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+4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电源的输出功率最大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>
          <p:sp>
            <p:nvSpPr>
              <p:cNvPr id="16618" name="yt_shape_166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571" y="1077599"/>
                <a:ext cx="6827382" cy="2847383"/>
              </a:xfrm>
              <a:prstGeom prst="rect">
                <a:avLst/>
              </a:prstGeom>
              <a:blipFill>
                <a:blip r:embed="rId2"/>
                <a:stretch>
                  <a:fillRect l="-3125" t="-857" r="-1875" b="-32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622" name="yt_shape_16622"/>
              <p:cNvSpPr txBox="1"/>
              <p:nvPr/>
            </p:nvSpPr>
            <p:spPr>
              <a:xfrm>
                <a:off x="382128" y="1817826"/>
                <a:ext cx="11924914" cy="319395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不是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对于纯电阻电路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电源的效率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η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𝑃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zh-CN" sz="2800" b="0" i="0" baseline="-200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宋体" panose="02040503050406030204" pitchFamily="56" charset="0"/>
                              </a:rPr>
                              <m:t>出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𝑃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zh-CN" sz="2800" b="0" i="0" baseline="-200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宋体" panose="02040503050406030204" pitchFamily="56" charset="0"/>
                              </a:rPr>
                              <m:t>总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2_57b8a"/>
                  </a:rPr>
                  <a:t>％＝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𝑅</m:t>
                        </m:r>
                      </m:num>
                      <m:den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（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𝑅</m:t>
                        </m:r>
                        <m:r>
                          <a:rPr lang="zh-CN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𝑟</m:t>
                        </m:r>
                        <m:r>
                          <a:rPr lang="zh-CN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）</m:t>
                        </m:r>
                      </m:den>
                    </m:f>
                  </m:oMath>
                </a14:m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％＝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𝑅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𝑅</m:t>
                        </m:r>
                        <m:r>
                          <a:rPr lang="zh-CN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％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越大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效率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η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越高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即电源有最大的输出功率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6_0caec"/>
                  </a:rPr>
                  <a:t>但电源的效率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仅为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％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>
          <p:sp>
            <p:nvSpPr>
              <p:cNvPr id="16622" name="yt_shape_166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28" y="1817826"/>
                <a:ext cx="11924914" cy="3193951"/>
              </a:xfrm>
              <a:prstGeom prst="rect">
                <a:avLst/>
              </a:prstGeom>
              <a:blipFill>
                <a:blip r:embed="rId2"/>
                <a:stretch>
                  <a:fillRect l="-1840" b="-6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yt_shape_16620"/>
          <p:cNvSpPr txBox="1"/>
          <p:nvPr/>
        </p:nvSpPr>
        <p:spPr>
          <a:xfrm>
            <a:off x="382128" y="679757"/>
            <a:ext cx="10770577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当电源的输出功率最大时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电源的效率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也是最大吗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？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为什么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？</a:t>
            </a:r>
          </a:p>
        </p:txBody>
      </p:sp>
      <p:sp>
        <p:nvSpPr>
          <p:cNvPr id="4" name="yt_shape_16621"/>
          <p:cNvSpPr txBox="1"/>
          <p:nvPr/>
        </p:nvSpPr>
        <p:spPr>
          <a:xfrm>
            <a:off x="382128" y="1349827"/>
            <a:ext cx="2154436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答案：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见解析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6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22" grpId="0"/>
      <p:bldP spid="4" grpId="0" build="allAtOnce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4" name="yt_shape_16624"/>
          <p:cNvSpPr txBox="1"/>
          <p:nvPr/>
        </p:nvSpPr>
        <p:spPr>
          <a:xfrm>
            <a:off x="324071" y="467999"/>
            <a:ext cx="11924914" cy="17195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【变式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】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电路中电源电动势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内阻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4_79e68"/>
              </a:rPr>
              <a:t>定值电阻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滑动变阻器阻值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的调节范围为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～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8_90e8f"/>
              </a:rPr>
              <a:t>当滑片从最右端滑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至最左端过程中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pic>
        <p:nvPicPr>
          <p:cNvPr id="16625" name="yt_image_16625">
            <a:extLst>
              <a:ext uri="">
                <a16:creationId xmlns=""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38201" y="1737200"/>
            <a:ext cx="1907813" cy="1599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627" name="yt_shape_16627"/>
          <p:cNvSpPr txBox="1"/>
          <p:nvPr/>
        </p:nvSpPr>
        <p:spPr>
          <a:xfrm>
            <a:off x="222400" y="2472878"/>
            <a:ext cx="9715801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当滑动变阻器阻值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多大时定值电阻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消耗的功率最大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？</a:t>
            </a:r>
          </a:p>
        </p:txBody>
      </p:sp>
      <p:sp>
        <p:nvSpPr>
          <p:cNvPr id="16628" name="yt_shape_16628"/>
          <p:cNvSpPr txBox="1"/>
          <p:nvPr/>
        </p:nvSpPr>
        <p:spPr>
          <a:xfrm>
            <a:off x="222400" y="3055863"/>
            <a:ext cx="1705595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答案：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0</a:t>
            </a:r>
            <a:r>
              <a:rPr lang="zh-CN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yt_shape_16629"/>
              <p:cNvSpPr txBox="1"/>
              <p:nvPr/>
            </p:nvSpPr>
            <p:spPr>
              <a:xfrm>
                <a:off x="222400" y="3668455"/>
                <a:ext cx="11543998" cy="2088777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是定值电阻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知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最大时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9_76051"/>
                  </a:rPr>
                  <a:t>最大。根据闭合电路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欧姆定律知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𝐸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𝑅</m:t>
                        </m:r>
                        <m:r>
                          <a:rPr lang="zh-CN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故当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最大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定值电阻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5_abf8a"/>
                  </a:rPr>
                  <a:t>消耗的功率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最大。</a:t>
                </a:r>
              </a:p>
            </p:txBody>
          </p:sp>
        </mc:Choice>
        <mc:Fallback xmlns="" xmlns:p15="http://schemas.microsoft.com/office/powerpoint/2012/main" xmlns:p14="http://schemas.microsoft.com/office/powerpoint/2010/main" xmlns:a16="http://schemas.microsoft.com/office/drawing/2014/main">
          <p:sp>
            <p:nvSpPr>
              <p:cNvPr id="6" name="yt_shape_166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00" y="3668455"/>
                <a:ext cx="11543998" cy="2088777"/>
              </a:xfrm>
              <a:prstGeom prst="rect">
                <a:avLst/>
              </a:prstGeom>
              <a:blipFill>
                <a:blip r:embed="rId3"/>
                <a:stretch>
                  <a:fillRect l="-1848" t="-1170" b="-84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6="http://schemas.microsoft.com/office/drawing/2014/main" xmlns:a14="http://schemas.microsoft.com/office/drawing/2010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28" grpId="0" build="allAtOnce"/>
      <p:bldP spid="6" grpId="0" build="allAtOnce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633" name="yt_shape_16633"/>
              <p:cNvSpPr txBox="1"/>
              <p:nvPr/>
            </p:nvSpPr>
            <p:spPr>
              <a:xfrm>
                <a:off x="267086" y="1730742"/>
                <a:ext cx="11924914" cy="3450858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2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电路的外电阻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外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电源的输出功率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出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30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外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𝐸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sz="2800" b="0" i="1">
                                        <a:solidFill>
                                          <a:srgbClr val="C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56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>
                                        <a:solidFill>
                                          <a:srgbClr val="C00000"/>
                                        </a:solidFill>
                                        <a:effectLst/>
                                        <a:latin typeface="Cambria Math" panose="02040503050406030204" pitchFamily="56" charset="0"/>
                                        <a:ea typeface="Cambria Math" panose="02040503050406030204" pitchFamily="56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zh-CN" altLang="zh-CN" sz="2800" b="0" i="0" baseline="-2000">
                                        <a:solidFill>
                                          <a:srgbClr val="C00000"/>
                                        </a:solidFill>
                                        <a:effectLst/>
                                        <a:latin typeface="Cambria Math" panose="02040503050406030204" pitchFamily="56" charset="0"/>
                                        <a:ea typeface="宋体" panose="02040503050406030204" pitchFamily="56" charset="0"/>
                                      </a:rPr>
                                      <m:t>外</m:t>
                                    </m:r>
                                  </m:sub>
                                </m:sSub>
                                <m:r>
                                  <a:rPr lang="zh-CN" altLang="zh-CN" sz="2800" b="0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＋</m:t>
                                </m:r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Times New Roman" pitchFamily="28"/>
                  </a:rPr>
                  <a:t>·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063eb"/>
                  </a:rPr>
                  <a:t>R</a:t>
                </a:r>
                <a:b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外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zh-CN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（</m:t>
                            </m:r>
                            <m:sSub>
                              <m:sSub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zh-CN" altLang="zh-CN" sz="2800" b="0" i="0" baseline="-200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宋体" panose="02040503050406030204" pitchFamily="56" charset="0"/>
                                  </a:rPr>
                                  <m:t>外</m:t>
                                </m:r>
                              </m:sub>
                            </m:sSub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−</m:t>
                            </m:r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𝑟</m:t>
                            </m:r>
                            <m:sSup>
                              <m:sSup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）</m:t>
                                </m:r>
                              </m:e>
                              <m:sup>
                                <m:r>
                                  <a:rPr lang="en-US" altLang="zh-CN" sz="2800" b="0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>
                              <m:sSub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zh-CN" altLang="zh-CN" sz="2800" b="0" i="0" baseline="-200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宋体" panose="02040503050406030204" pitchFamily="56" charset="0"/>
                                  </a:rPr>
                                  <m:t>外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+4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𝑟</m:t>
                        </m:r>
                      </m:den>
                    </m:f>
                  </m:oMath>
                </a14:m>
                <a:endParaRPr lang="zh-CN" altLang="zh-CN" sz="2800" b="0" i="0" u="none" dirty="0">
                  <a:solidFill>
                    <a:srgbClr val="C00000"/>
                  </a:solidFill>
                  <a:effectLst/>
                  <a:latin typeface="宋体" pitchFamily="28"/>
                  <a:ea typeface="宋体" pitchFamily="28"/>
                </a:endParaRPr>
              </a:p>
              <a:p>
                <a:pPr algn="l" eaLnBrk="1" latinLnBrk="0" hangingPunct="0">
                  <a:lnSpc>
                    <a:spcPct val="120000"/>
                  </a:lnSpc>
                </a:pP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外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即当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出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最大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</a:p>
            </p:txBody>
          </p:sp>
        </mc:Choice>
        <mc:Fallback xmlns="">
          <p:sp>
            <p:nvSpPr>
              <p:cNvPr id="16633" name="yt_shape_166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86" y="1730742"/>
                <a:ext cx="11924914" cy="3450858"/>
              </a:xfrm>
              <a:prstGeom prst="rect">
                <a:avLst/>
              </a:prstGeom>
              <a:blipFill>
                <a:blip r:embed="rId2"/>
                <a:stretch>
                  <a:fillRect l="-18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35" name="yt_shape_16635"/>
              <p:cNvSpPr txBox="1"/>
              <p:nvPr/>
            </p:nvSpPr>
            <p:spPr>
              <a:xfrm>
                <a:off x="267015" y="5195231"/>
                <a:ext cx="4555863" cy="1378364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20000"/>
                  </a:lnSpc>
                </a:pP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</a:p>
              <a:p>
                <a:pPr algn="l" eaLnBrk="1" latinLnBrk="0" hangingPunct="0">
                  <a:lnSpc>
                    <a:spcPct val="120000"/>
                  </a:lnSpc>
                </a:pP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最大输出功率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W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>
          <p:sp>
            <p:nvSpPr>
              <p:cNvPr id="16635" name="yt_shape_166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15" y="5195231"/>
                <a:ext cx="4555863" cy="1378364"/>
              </a:xfrm>
              <a:prstGeom prst="rect">
                <a:avLst/>
              </a:prstGeom>
              <a:blipFill>
                <a:blip r:embed="rId3"/>
                <a:stretch>
                  <a:fillRect l="-4819" t="-6637" r="-3748" b="-17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yt_shape_16631"/>
          <p:cNvSpPr txBox="1"/>
          <p:nvPr/>
        </p:nvSpPr>
        <p:spPr>
          <a:xfrm>
            <a:off x="267086" y="517401"/>
            <a:ext cx="11924914" cy="10620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2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当滑动变阻器阻值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多大时电源的输出功率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最大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？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6_b0bf1"/>
              </a:rPr>
              <a:t>最大输出功率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为多少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？</a:t>
            </a:r>
          </a:p>
        </p:txBody>
      </p:sp>
      <p:sp>
        <p:nvSpPr>
          <p:cNvPr id="5" name="yt_shape_16632"/>
          <p:cNvSpPr txBox="1"/>
          <p:nvPr/>
        </p:nvSpPr>
        <p:spPr>
          <a:xfrm>
            <a:off x="267015" y="1529456"/>
            <a:ext cx="3021596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答案：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1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6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33" grpId="0"/>
      <p:bldP spid="16635" grpId="0"/>
      <p:bldP spid="5" grpId="0" build="allAtOnce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7" name="yt_shape_16637"/>
          <p:cNvSpPr txBox="1"/>
          <p:nvPr/>
        </p:nvSpPr>
        <p:spPr>
          <a:xfrm>
            <a:off x="324071" y="467999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当滑动变阻器阻值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多大时滑动变阻器消耗的功率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最大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？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4_11a4a"/>
              </a:rPr>
              <a:t>滑动变阻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器消耗的最大功率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'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为多少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yt_shape_16639"/>
              <p:cNvSpPr txBox="1"/>
              <p:nvPr/>
            </p:nvSpPr>
            <p:spPr>
              <a:xfrm>
                <a:off x="324071" y="2274534"/>
                <a:ext cx="11924914" cy="4373008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25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滑动变阻器是可变电阻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将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和电源等效为一新电源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5_7c26f"/>
                  </a:rPr>
                  <a:t>则新电源内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阻为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。滑动变阻器消耗的功率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en-US" altLang="zh-CN" sz="2800" b="0" i="1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30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𝐸</m:t>
                                </m:r>
                              </m:num>
                              <m:den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𝑅</m:t>
                                </m:r>
                                <m:r>
                                  <a:rPr lang="zh-CN" altLang="zh-CN" sz="2800" b="0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＋</m:t>
                                </m:r>
                                <m:sSub>
                                  <m:sSubPr>
                                    <m:ctrlPr>
                                      <a:rPr lang="en-US" altLang="zh-CN" sz="2800" b="0" i="1">
                                        <a:solidFill>
                                          <a:srgbClr val="C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56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>
                                        <a:solidFill>
                                          <a:srgbClr val="C00000"/>
                                        </a:solidFill>
                                        <a:effectLst/>
                                        <a:latin typeface="Cambria Math" panose="02040503050406030204" pitchFamily="56" charset="0"/>
                                        <a:ea typeface="Cambria Math" panose="02040503050406030204" pitchFamily="56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sz="2800" b="0" i="0">
                                        <a:solidFill>
                                          <a:srgbClr val="C00000"/>
                                        </a:solidFill>
                                        <a:effectLst/>
                                        <a:latin typeface="Cambria Math" panose="02040503050406030204" pitchFamily="56" charset="0"/>
                                        <a:ea typeface="Cambria Math" panose="02040503050406030204" pitchFamily="56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zh-CN" altLang="zh-CN" sz="2800" b="0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＋</m:t>
                                </m:r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Times New Roman" pitchFamily="28"/>
                  </a:rPr>
                  <a:t>·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b1cd0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[</m:t>
                            </m:r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−（</m:t>
                            </m:r>
                            <m:sSub>
                              <m:sSub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2800" b="0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zh-CN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＋</m:t>
                            </m:r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𝑟</m:t>
                            </m:r>
                            <m:r>
                              <a:rPr lang="zh-CN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）</m:t>
                            </m:r>
                            <m:sSup>
                              <m:sSup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]</m:t>
                                </m:r>
                              </m:e>
                              <m:sup>
                                <m:r>
                                  <a:rPr lang="en-US" altLang="zh-CN" sz="2800" b="0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den>
                        </m:f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+4</m:t>
                        </m:r>
                        <m:r>
                          <a:rPr lang="zh-CN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（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𝑟</m:t>
                        </m:r>
                        <m:r>
                          <a:rPr lang="zh-CN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）</m:t>
                        </m:r>
                      </m:den>
                    </m:f>
                  </m:oMath>
                </a14:m>
                <a:endParaRPr lang="zh-CN" altLang="zh-CN" sz="2800" b="0" i="0" u="none" dirty="0">
                  <a:solidFill>
                    <a:srgbClr val="C00000"/>
                  </a:solidFill>
                  <a:effectLst/>
                  <a:latin typeface="宋体" pitchFamily="28"/>
                  <a:ea typeface="宋体" pitchFamily="28"/>
                </a:endParaRPr>
              </a:p>
              <a:p>
                <a:pPr algn="l" eaLnBrk="1" latinLnBrk="0" hangingPunct="0">
                  <a:lnSpc>
                    <a:spcPct val="125000"/>
                  </a:lnSpc>
                </a:pP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en-US" altLang="zh-CN" sz="2800" b="0" i="1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最大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</a:p>
              <a:p>
                <a:pPr algn="l" eaLnBrk="1" latinLnBrk="0" hangingPunct="0">
                  <a:lnSpc>
                    <a:spcPct val="125000"/>
                  </a:lnSpc>
                </a:pP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滑动变阻器消耗的最大功率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'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  <m:r>
                          <a:rPr lang="zh-CN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（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𝑟</m:t>
                        </m:r>
                        <m:r>
                          <a:rPr lang="zh-CN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）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W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>
          <p:sp>
            <p:nvSpPr>
              <p:cNvPr id="4" name="yt_shape_166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2274534"/>
                <a:ext cx="11924914" cy="4373008"/>
              </a:xfrm>
              <a:prstGeom prst="rect">
                <a:avLst/>
              </a:prstGeom>
              <a:blipFill>
                <a:blip r:embed="rId2"/>
                <a:stretch>
                  <a:fillRect l="-1789" t="-16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638" name="yt_shape_16638"/>
          <p:cNvSpPr txBox="1"/>
          <p:nvPr/>
        </p:nvSpPr>
        <p:spPr>
          <a:xfrm>
            <a:off x="324000" y="1654226"/>
            <a:ext cx="3380669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答案：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2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6638" grpId="0" build="allAtOnce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1" name="yt_shape_16641"/>
          <p:cNvSpPr txBox="1"/>
          <p:nvPr/>
        </p:nvSpPr>
        <p:spPr>
          <a:xfrm>
            <a:off x="324071" y="467999"/>
            <a:ext cx="11543998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【变式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】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若【变式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】中定值电阻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其他条件不变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5_d55ca"/>
              </a:rPr>
              <a:t>当滑动变阻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器的滑片从最右端滑至最左端过程中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多大时电源的输出功率最大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6d604"/>
              </a:rPr>
              <a:t>？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最大输出功率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为多少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？（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结果保留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位有效数字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）。</a:t>
            </a:r>
          </a:p>
        </p:txBody>
      </p:sp>
      <p:sp>
        <p:nvSpPr>
          <p:cNvPr id="16642" name="yt_shape_16642"/>
          <p:cNvSpPr txBox="1"/>
          <p:nvPr/>
        </p:nvSpPr>
        <p:spPr>
          <a:xfrm>
            <a:off x="324000" y="2257468"/>
            <a:ext cx="2575962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答案：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8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643" name="yt_shape_16643"/>
              <p:cNvSpPr txBox="1"/>
              <p:nvPr/>
            </p:nvSpPr>
            <p:spPr>
              <a:xfrm>
                <a:off x="324071" y="2841479"/>
                <a:ext cx="11924914" cy="366369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电源的输出功率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出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外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zh-CN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（</m:t>
                            </m:r>
                            <m:sSub>
                              <m:sSub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zh-CN" altLang="zh-CN" sz="2800" b="0" i="0" baseline="-200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宋体" panose="02040503050406030204" pitchFamily="56" charset="0"/>
                                  </a:rPr>
                                  <m:t>外</m:t>
                                </m:r>
                              </m:sub>
                            </m:sSub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−</m:t>
                            </m:r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𝑟</m:t>
                            </m:r>
                            <m:sSup>
                              <m:sSup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）</m:t>
                                </m:r>
                              </m:e>
                              <m:sup>
                                <m:r>
                                  <a:rPr lang="en-US" altLang="zh-CN" sz="2800" b="0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>
                              <m:sSub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zh-CN" altLang="zh-CN" sz="2800" b="0" i="0" baseline="-200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宋体" panose="02040503050406030204" pitchFamily="56" charset="0"/>
                                  </a:rPr>
                                  <m:t>外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+4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𝑟</m:t>
                        </m:r>
                      </m:den>
                    </m:f>
                  </m:oMath>
                </a14:m>
                <a:endParaRPr lang="zh-CN" altLang="zh-CN" sz="2800" b="0" i="0" u="none">
                  <a:solidFill>
                    <a:srgbClr val="C00000"/>
                  </a:solidFill>
                  <a:effectLst/>
                  <a:latin typeface="宋体" pitchFamily="28"/>
                  <a:ea typeface="宋体" pitchFamily="28"/>
                </a:endParaRP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又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外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＞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故当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出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最大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𝐸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sz="2800" b="0" i="1">
                                        <a:solidFill>
                                          <a:srgbClr val="C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56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>
                                        <a:solidFill>
                                          <a:srgbClr val="C00000"/>
                                        </a:solidFill>
                                        <a:effectLst/>
                                        <a:latin typeface="Cambria Math" panose="02040503050406030204" pitchFamily="56" charset="0"/>
                                        <a:ea typeface="Cambria Math" panose="02040503050406030204" pitchFamily="56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sz="2800" b="0" i="0">
                                        <a:solidFill>
                                          <a:srgbClr val="C00000"/>
                                        </a:solidFill>
                                        <a:effectLst/>
                                        <a:latin typeface="Cambria Math" panose="02040503050406030204" pitchFamily="56" charset="0"/>
                                        <a:ea typeface="Cambria Math" panose="02040503050406030204" pitchFamily="56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zh-CN" altLang="zh-CN" sz="2800" b="0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＋</m:t>
                                </m:r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Times New Roman" pitchFamily="28"/>
                  </a:rPr>
                  <a:t>·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b="0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US" altLang="zh-CN" sz="2800" b="0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W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d32a6"/>
                  </a:rPr>
                  <a:t>＝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16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W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8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W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 xmlns:p15="http://schemas.microsoft.com/office/powerpoint/2012/main" xmlns:p14="http://schemas.microsoft.com/office/powerpoint/2010/main">
          <p:sp>
            <p:nvSpPr>
              <p:cNvPr id="16643" name="yt_shape_166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2841479"/>
                <a:ext cx="11924914" cy="3663695"/>
              </a:xfrm>
              <a:prstGeom prst="rect">
                <a:avLst/>
              </a:prstGeom>
              <a:blipFill>
                <a:blip r:embed="rId2"/>
                <a:stretch>
                  <a:fillRect l="-1789" b="-23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4="http://schemas.microsoft.com/office/drawing/2010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6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42" grpId="0" build="allAtOnce"/>
      <p:bldP spid="16643" grpId="0" build="allAtOnce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5" name="yt_shape_16645"/>
          <p:cNvSpPr txBox="1"/>
          <p:nvPr/>
        </p:nvSpPr>
        <p:spPr>
          <a:xfrm>
            <a:off x="324000" y="467999"/>
            <a:ext cx="1436291" cy="53790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31849B"/>
                </a:solidFill>
                <a:effectLst/>
                <a:latin typeface="微软雅黑" pitchFamily="28"/>
                <a:ea typeface="微软雅黑" pitchFamily="28"/>
              </a:rPr>
              <a:t>方法技巧</a:t>
            </a:r>
          </a:p>
        </p:txBody>
      </p:sp>
      <p:sp>
        <p:nvSpPr>
          <p:cNvPr id="16646" name="yt_shape_16646"/>
          <p:cNvSpPr txBox="1"/>
          <p:nvPr/>
        </p:nvSpPr>
        <p:spPr>
          <a:xfrm>
            <a:off x="4300637" y="1056691"/>
            <a:ext cx="3590727" cy="53790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功率最大值的求解方法</a:t>
            </a:r>
          </a:p>
        </p:txBody>
      </p:sp>
      <p:sp>
        <p:nvSpPr>
          <p:cNvPr id="16647" name="yt_shape_16647"/>
          <p:cNvSpPr txBox="1"/>
          <p:nvPr/>
        </p:nvSpPr>
        <p:spPr>
          <a:xfrm>
            <a:off x="324000" y="1645383"/>
            <a:ext cx="9117881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对于定值电阻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由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0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可知电流最大时功率最大。</a:t>
            </a:r>
          </a:p>
        </p:txBody>
      </p:sp>
      <p:sp>
        <p:nvSpPr>
          <p:cNvPr id="16648" name="yt_shape_16648"/>
          <p:cNvSpPr txBox="1"/>
          <p:nvPr/>
        </p:nvSpPr>
        <p:spPr>
          <a:xfrm>
            <a:off x="324071" y="2228368"/>
            <a:ext cx="11543998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对于纯电阻电路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当外电阻等于内阻时电源的输出功率最大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  <a:sym typeface="_⨹_2_17b3f"/>
              </a:rPr>
              <a:t>若外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电阻与内阻不能相等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则外电阻越接近内阻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电源的输出功率越大。</a:t>
            </a:r>
          </a:p>
        </p:txBody>
      </p:sp>
      <p:sp>
        <p:nvSpPr>
          <p:cNvPr id="16649" name="yt_shape_16649"/>
          <p:cNvSpPr txBox="1"/>
          <p:nvPr/>
        </p:nvSpPr>
        <p:spPr>
          <a:xfrm>
            <a:off x="324071" y="3414595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对于可变电阻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求解滑动变阻器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消耗的最大功率时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  <a:sym typeface="_⨹_1_8606c"/>
              </a:rPr>
              <a:t>可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把定值电阻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等效为电源内阻的一部分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则当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  <a:sym typeface="_⨹_4_66962"/>
              </a:rPr>
              <a:t>滑动变阻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器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消耗的功率最大。</a:t>
            </a:r>
          </a:p>
        </p:txBody>
      </p:sp>
      <p:pic>
        <p:nvPicPr>
          <p:cNvPr id="16650" name="yt_image_16650">
            <a:extLst>
              <a:ext uri="">
                <a16:creationId xmlns=""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34659" y="5016353"/>
            <a:ext cx="2522680" cy="157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6="http://schemas.microsoft.com/office/drawing/2014/main" xmlns:a14="http://schemas.microsoft.com/office/drawing/2010/main" xmlns:p14="http://schemas.microsoft.com/office/powerpoint/2010/main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428750"/>
            <a:ext cx="12192000" cy="367030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3953061" y="2060475"/>
            <a:ext cx="0" cy="595635"/>
          </a:xfrm>
          <a:prstGeom prst="line">
            <a:avLst/>
          </a:prstGeom>
          <a:ln w="22225">
            <a:solidFill>
              <a:srgbClr val="22252A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644576" y="3302066"/>
            <a:ext cx="0" cy="595635"/>
          </a:xfrm>
          <a:prstGeom prst="line">
            <a:avLst/>
          </a:prstGeom>
          <a:ln w="22225">
            <a:solidFill>
              <a:srgbClr val="C00000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948306" y="2068901"/>
            <a:ext cx="1798820" cy="1798820"/>
            <a:chOff x="2329306" y="2634955"/>
            <a:chExt cx="1798820" cy="1798820"/>
          </a:xfrm>
        </p:grpSpPr>
        <p:sp>
          <p:nvSpPr>
            <p:cNvPr id="13" name="矩形 12"/>
            <p:cNvSpPr/>
            <p:nvPr/>
          </p:nvSpPr>
          <p:spPr>
            <a:xfrm>
              <a:off x="2329306" y="2634955"/>
              <a:ext cx="1798820" cy="17988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>
              <a:outerShdw blurRad="101600" dist="381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797975" y="2969317"/>
              <a:ext cx="864339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600" dirty="0">
                  <a:solidFill>
                    <a:schemeClr val="bg1"/>
                  </a:solidFill>
                  <a:latin typeface="Aparajita" panose="020B0604020202020204" pitchFamily="34" charset="0"/>
                  <a:cs typeface="Aparajita" panose="020B0604020202020204" pitchFamily="34" charset="0"/>
                </a:rPr>
                <a:t>02</a:t>
              </a:r>
              <a:endParaRPr lang="zh-CN" altLang="en-US" sz="6600" dirty="0">
                <a:solidFill>
                  <a:schemeClr val="bg1"/>
                </a:solidFill>
                <a:latin typeface="Aparajita" panose="020B0604020202020204" pitchFamily="34" charset="0"/>
                <a:cs typeface="Aparajita" panose="020B0604020202020204" pitchFamily="34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814911" y="3723965"/>
              <a:ext cx="8178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Aparajita" panose="020B0604020202020204" pitchFamily="34" charset="0"/>
                  <a:cs typeface="Aparajita" panose="020B0604020202020204" pitchFamily="34" charset="0"/>
                </a:rPr>
                <a:t>PART</a:t>
              </a:r>
              <a:endParaRPr lang="zh-CN" altLang="en-US" sz="2400" dirty="0">
                <a:solidFill>
                  <a:schemeClr val="bg1"/>
                </a:solidFill>
                <a:latin typeface="Aparajita" panose="020B0604020202020204" pitchFamily="34" charset="0"/>
                <a:cs typeface="Aparajita" panose="020B0604020202020204" pitchFamily="34" charset="0"/>
              </a:endParaRPr>
            </a:p>
          </p:txBody>
        </p:sp>
      </p:grpSp>
      <p:sp>
        <p:nvSpPr>
          <p:cNvPr id="17" name="文本框 16">
            <a:hlinkClick r:id="rId2" action="ppaction://hlinksldjump"/>
          </p:cNvPr>
          <p:cNvSpPr txBox="1"/>
          <p:nvPr/>
        </p:nvSpPr>
        <p:spPr>
          <a:xfrm>
            <a:off x="4553834" y="1942793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强化点二</a:t>
            </a:r>
          </a:p>
        </p:txBody>
      </p:sp>
      <p:sp>
        <p:nvSpPr>
          <p:cNvPr id="16" name="文本框 15">
            <a:hlinkClick r:id="rId3" action="ppaction://hlinksldjump"/>
          </p:cNvPr>
          <p:cNvSpPr txBox="1"/>
          <p:nvPr/>
        </p:nvSpPr>
        <p:spPr>
          <a:xfrm>
            <a:off x="4545213" y="3007725"/>
            <a:ext cx="52629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闭合电路的动态分析</a:t>
            </a:r>
          </a:p>
        </p:txBody>
      </p:sp>
    </p:spTree>
    <p:extLst>
      <p:ext uri="{BB962C8B-B14F-4D97-AF65-F5344CB8AC3E}">
        <p14:creationId xmlns:p14="http://schemas.microsoft.com/office/powerpoint/2010/main" val="3130972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1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 tmFilter="0,0; .5, 1; 1, 1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1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 tmFilter="0,0; .5, 1; 1, 1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3" name="yt_shape_16653"/>
          <p:cNvSpPr txBox="1"/>
          <p:nvPr/>
        </p:nvSpPr>
        <p:spPr>
          <a:xfrm>
            <a:off x="324000" y="776238"/>
            <a:ext cx="6194003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纯电阻电路中总电阻变化的几个结论</a:t>
            </a:r>
          </a:p>
        </p:txBody>
      </p:sp>
      <p:sp>
        <p:nvSpPr>
          <p:cNvPr id="16654" name="yt_shape_16654"/>
          <p:cNvSpPr txBox="1"/>
          <p:nvPr/>
        </p:nvSpPr>
        <p:spPr>
          <a:xfrm>
            <a:off x="324071" y="1360249"/>
            <a:ext cx="11543998" cy="17195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串联电路中任意一个电阻增大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或减小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总电阻一定增大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  <a:sym typeface="_⨹_1_96844"/>
              </a:rPr>
              <a:t>或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减小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串联电阻的个数增加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或减少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总电阻一定增大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  <a:sym typeface="_⨹_2_1f3fa"/>
              </a:rPr>
              <a:t>或减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）。</a:t>
            </a:r>
          </a:p>
        </p:txBody>
      </p:sp>
      <p:sp>
        <p:nvSpPr>
          <p:cNvPr id="16655" name="yt_shape_16655"/>
          <p:cNvSpPr txBox="1"/>
          <p:nvPr/>
        </p:nvSpPr>
        <p:spPr>
          <a:xfrm>
            <a:off x="324071" y="3130547"/>
            <a:ext cx="11543998" cy="17195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并联电路中任意一个电阻增大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或减小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总电阻一定增大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  <a:sym typeface="_⨹_1_0cb83"/>
              </a:rPr>
              <a:t>或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减小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并联支路的条数增加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或减少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总电阻一定减小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  <a:sym typeface="_⨹_2_778e5"/>
              </a:rPr>
              <a:t>或增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）。</a:t>
            </a:r>
          </a:p>
        </p:txBody>
      </p:sp>
      <p:sp>
        <p:nvSpPr>
          <p:cNvPr id="16656" name="yt_shape_16656"/>
          <p:cNvSpPr txBox="1"/>
          <p:nvPr/>
        </p:nvSpPr>
        <p:spPr>
          <a:xfrm>
            <a:off x="324071" y="4900845"/>
            <a:ext cx="11924914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混联电路的任何一个电阻增大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或减小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9_42887"/>
              </a:rPr>
              <a:t>电路的总电阻一定增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或减小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）。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6="http://schemas.microsoft.com/office/drawing/2014/main" xmlns:a14="http://schemas.microsoft.com/office/drawing/2010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6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55" grpId="0"/>
      <p:bldP spid="1665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7" name="yt_shape_16657"/>
          <p:cNvSpPr txBox="1"/>
          <p:nvPr/>
        </p:nvSpPr>
        <p:spPr>
          <a:xfrm>
            <a:off x="324071" y="467999"/>
            <a:ext cx="11924914" cy="23227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涉及滑动变阻器分压式接法的局部电路中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5_4cce1"/>
              </a:rPr>
              <a:t>滑动变阻器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可看成由两段电阻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串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构成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其中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这段与用电器并联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另一段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72626"/>
              </a:rPr>
              <a:t>R</a:t>
            </a:r>
            <a:b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串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与并联部分串联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串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增大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或减小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1_d19ee"/>
              </a:rPr>
              <a:t>两点间的总电阻一定增大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或减小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）。</a:t>
            </a:r>
          </a:p>
        </p:txBody>
      </p:sp>
      <p:pic>
        <p:nvPicPr>
          <p:cNvPr id="16658" name="yt_image_16658">
            <a:extLst>
              <a:ext uri="">
                <a16:creationId xmlns=""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20632" y="2993903"/>
            <a:ext cx="2750735" cy="102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0" name="yt_shape_16660"/>
          <p:cNvSpPr txBox="1"/>
          <p:nvPr/>
        </p:nvSpPr>
        <p:spPr>
          <a:xfrm>
            <a:off x="324071" y="467999"/>
            <a:ext cx="11543998" cy="17195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闭合电路的动态分析问题的常用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黑体" pitchFamily="28"/>
                <a:ea typeface="黑体" pitchFamily="28"/>
              </a:rPr>
              <a:t>“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三法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黑体" pitchFamily="28"/>
                <a:ea typeface="黑体" pitchFamily="28"/>
              </a:rPr>
              <a:t>”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程序判断法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遵循</a:t>
            </a:r>
            <a:r>
              <a:rPr lang="en-US" altLang="zh-CN" sz="2800" b="0" i="0" u="none" spc="15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“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局部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→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整体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→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部分</a:t>
            </a:r>
            <a:r>
              <a:rPr lang="en-US" altLang="zh-CN" sz="2800" b="0" i="0" u="none" spc="15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”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的思路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6_c3e1e"/>
              </a:rPr>
              <a:t>按以下步骤分</a:t>
            </a:r>
            <a:b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析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</a:p>
        </p:txBody>
      </p:sp>
      <p:pic>
        <p:nvPicPr>
          <p:cNvPr id="16662" name="yt_image_16662" title="H_78">
            <a:extLst>
              <a:ext uri="">
                <a16:creationId xmlns=""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08104" y="2371430"/>
            <a:ext cx="697579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64" name="yt_image_16664" title="H_82.12496">
            <a:extLst>
              <a:ext uri="">
                <a16:creationId xmlns=""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24902" y="3564963"/>
            <a:ext cx="7142195" cy="1042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6="http://schemas.microsoft.com/office/drawing/2014/main" xmlns:a14="http://schemas.microsoft.com/office/drawing/2010/main" xmlns:p14="http://schemas.microsoft.com/office/powerpoint/2010/main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8" name="yt_shape_16668"/>
          <p:cNvSpPr txBox="1"/>
          <p:nvPr/>
        </p:nvSpPr>
        <p:spPr>
          <a:xfrm>
            <a:off x="267086" y="2267772"/>
            <a:ext cx="11924914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②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所谓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并同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”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即某一电阻增大时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5_41e64"/>
              </a:rPr>
              <a:t>与它并联或间接并联的电阻中的电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两端电压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电功率都将增大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反之则减小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3" name="yt_shape_16666"/>
          <p:cNvSpPr txBox="1"/>
          <p:nvPr/>
        </p:nvSpPr>
        <p:spPr>
          <a:xfrm>
            <a:off x="267086" y="391309"/>
            <a:ext cx="11924914" cy="17195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串反并同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”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结论法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应用条件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电源内阻不为零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①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所谓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串反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”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即某一电阻增大时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5_5a021"/>
              </a:rPr>
              <a:t>与它串联或间接串联的电阻中的电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两端电压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电功率都将减小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反之则增大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yt_shape_16669"/>
              <p:cNvSpPr txBox="1"/>
              <p:nvPr/>
            </p:nvSpPr>
            <p:spPr>
              <a:xfrm>
                <a:off x="267086" y="3051543"/>
                <a:ext cx="11924914" cy="3349956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即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eqArr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&amp;</m:t>
                            </m:r>
                            <m:sSub>
                              <m:sSubPr>
                                <m:ctrlPr>
                                  <a:rPr lang="en-US" altLang="zh-CN" sz="2800" b="0" i="1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zh-CN" altLang="zh-CN" sz="2800" b="0" i="0" baseline="-2000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宋体" panose="02040503050406030204" pitchFamily="56" charset="0"/>
                                  </a:rPr>
                                  <m:t>串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宋体" panose="02040503050406030204" pitchFamily="56" charset="0"/>
                              </a:rPr>
                              <m:t>↓</m:t>
                            </m:r>
                          </m:e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&amp;</m:t>
                            </m:r>
                            <m:sSub>
                              <m:sSubPr>
                                <m:ctrlPr>
                                  <a:rPr lang="en-US" altLang="zh-CN" sz="2800" b="0" i="1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zh-CN" altLang="zh-CN" sz="2800" b="0" i="0" baseline="-2000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宋体" panose="02040503050406030204" pitchFamily="56" charset="0"/>
                                  </a:rPr>
                                  <m:t>串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宋体" panose="02040503050406030204" pitchFamily="56" charset="0"/>
                              </a:rPr>
                              <m:t>↓</m:t>
                            </m:r>
                          </m:e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&amp;</m:t>
                            </m:r>
                            <m:sSub>
                              <m:sSubPr>
                                <m:ctrlPr>
                                  <a:rPr lang="en-US" altLang="zh-CN" sz="2800" b="0" i="1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zh-CN" altLang="zh-CN" sz="2800" b="0" i="0" baseline="-2000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宋体" panose="02040503050406030204" pitchFamily="56" charset="0"/>
                                  </a:rPr>
                                  <m:t>串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宋体" panose="02040503050406030204" pitchFamily="56" charset="0"/>
                              </a:rPr>
                              <m:t>↓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Times New Roman" pitchFamily="28"/>
                  </a:rPr>
                  <a:t>←</a:t>
                </a:r>
                <a:r>
                  <a:rPr lang="en-US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Times New Roman" pitchFamily="28"/>
                  </a:rPr>
                  <a:t>↑→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eqArr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&amp;</m:t>
                            </m:r>
                            <m:sSub>
                              <m:sSubPr>
                                <m:ctrlPr>
                                  <a:rPr lang="en-US" altLang="zh-CN" sz="2800" b="0" i="1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zh-CN" altLang="zh-CN" sz="2800" b="0" i="0" baseline="-2000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宋体" panose="02040503050406030204" pitchFamily="56" charset="0"/>
                                  </a:rPr>
                                  <m:t>并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宋体" panose="02040503050406030204" pitchFamily="56" charset="0"/>
                              </a:rPr>
                              <m:t>↑</m:t>
                            </m:r>
                          </m:e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&amp;</m:t>
                            </m:r>
                            <m:sSub>
                              <m:sSubPr>
                                <m:ctrlPr>
                                  <a:rPr lang="en-US" altLang="zh-CN" sz="2800" b="0" i="1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zh-CN" altLang="zh-CN" sz="2800" b="0" i="0" baseline="-2000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宋体" panose="02040503050406030204" pitchFamily="56" charset="0"/>
                                  </a:rPr>
                                  <m:t>并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宋体" panose="02040503050406030204" pitchFamily="56" charset="0"/>
                              </a:rPr>
                              <m:t>↑</m:t>
                            </m:r>
                          </m:e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&amp;</m:t>
                            </m:r>
                            <m:sSub>
                              <m:sSubPr>
                                <m:ctrlPr>
                                  <a:rPr lang="en-US" altLang="zh-CN" sz="2800" b="0" i="1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zh-CN" altLang="zh-CN" sz="2800" b="0" i="0" baseline="-2000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宋体" panose="02040503050406030204" pitchFamily="56" charset="0"/>
                                  </a:rPr>
                                  <m:t>并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宋体" panose="02040503050406030204" pitchFamily="56" charset="0"/>
                              </a:rPr>
                              <m:t>↑</m:t>
                            </m:r>
                          </m:e>
                        </m:eqArr>
                      </m:e>
                    </m:d>
                  </m:oMath>
                </a14:m>
                <a:endParaRPr lang="zh-CN" altLang="zh-CN" sz="2800" b="0" i="0" u="none" dirty="0">
                  <a:solidFill>
                    <a:srgbClr val="000000"/>
                  </a:solidFill>
                  <a:effectLst/>
                  <a:latin typeface="Times New Roman" pitchFamily="28"/>
                  <a:ea typeface="Times New Roman" pitchFamily="28"/>
                </a:endParaRP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极限法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因滑动变阻器滑片滑动引起的电路变化问题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5_8b241"/>
                  </a:rPr>
                  <a:t>可将滑动变</a:t>
                </a:r>
                <a:b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阻器的滑片分别滑至两个极端去讨论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。</a:t>
                </a:r>
              </a:p>
            </p:txBody>
          </p:sp>
        </mc:Choice>
        <mc:Fallback xmlns="" xmlns:p14="http://schemas.microsoft.com/office/powerpoint/2010/main" xmlns:p15="http://schemas.microsoft.com/office/powerpoint/2012/main">
          <p:sp>
            <p:nvSpPr>
              <p:cNvPr id="4" name="yt_shape_166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86" y="3051543"/>
                <a:ext cx="11924914" cy="3349956"/>
              </a:xfrm>
              <a:prstGeom prst="rect">
                <a:avLst/>
              </a:prstGeom>
              <a:blipFill>
                <a:blip r:embed="rId2"/>
                <a:stretch>
                  <a:fillRect l="-1840" b="-54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p14="http://schemas.microsoft.com/office/powerpoint/2010/main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2" name="yt_shape_16672"/>
          <p:cNvSpPr txBox="1"/>
          <p:nvPr/>
        </p:nvSpPr>
        <p:spPr>
          <a:xfrm>
            <a:off x="324071" y="467999"/>
            <a:ext cx="11924914" cy="17195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【例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4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】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动态电路中电表示数的变化分析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如图所示电路中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9472b"/>
              </a:rPr>
              <a:t>电源内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不可忽略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电流表和电压表均为理想电表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当滑动变阻器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的滑片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67771"/>
              </a:rPr>
              <a:t>向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上滑动时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下列说法正确的是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pic>
        <p:nvPicPr>
          <p:cNvPr id="16673" name="yt_image_16673">
            <a:extLst>
              <a:ext uri="">
                <a16:creationId xmlns="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37718" y="2388676"/>
            <a:ext cx="4428562" cy="2278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yt_table_16675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825734"/>
              </p:ext>
            </p:extLst>
          </p:nvPr>
        </p:nvGraphicFramePr>
        <p:xfrm>
          <a:off x="324071" y="2383884"/>
          <a:ext cx="6845237" cy="2389632"/>
        </p:xfrm>
        <a:graphic>
          <a:graphicData uri="http://schemas.openxmlformats.org/drawingml/2006/table">
            <a:tbl>
              <a:tblPr/>
              <a:tblGrid>
                <a:gridCol w="6845237">
                  <a:extLst>
                    <a:ext uri="{9D8B030D-6E8A-4147-A177-3AD203B41FA5}">
                      <a16:colId xmlns:a16="http://schemas.microsoft.com/office/drawing/2014/main" val="105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A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和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的示数均变大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V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和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的示数均变小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A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示数的变化量小于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示数的变化量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V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示数的变化量大于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示数的变化量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78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55661" y="3540191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6="http://schemas.microsoft.com/office/drawing/2014/main" xmlns:a14="http://schemas.microsoft.com/office/drawing/2010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678" name="yt_shape_16678"/>
              <p:cNvSpPr txBox="1"/>
              <p:nvPr/>
            </p:nvSpPr>
            <p:spPr>
              <a:xfrm>
                <a:off x="324071" y="467999"/>
                <a:ext cx="11924914" cy="3349956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当滑片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向上滑动时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滑动变阻器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增大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0_a3492"/>
                  </a:rPr>
                  <a:t>电路中的总电阻的阻值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增大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总电流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𝐸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zh-CN" sz="2800" b="0" i="0" baseline="-200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宋体" panose="02040503050406030204" pitchFamily="56" charset="0"/>
                              </a:rPr>
                              <m:t>总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减小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知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增大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知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88224"/>
                  </a:rPr>
                  <a:t>增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大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再由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知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减小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且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变化量大于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变化量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选项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023ab"/>
                  </a:rPr>
                  <a:t>正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Ir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知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都增大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且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4_7f0f4"/>
                  </a:rPr>
                  <a:t>的变化量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大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选项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错误。</a:t>
                </a:r>
              </a:p>
            </p:txBody>
          </p:sp>
        </mc:Choice>
        <mc:Fallback xmlns="">
          <p:sp>
            <p:nvSpPr>
              <p:cNvPr id="16678" name="yt_shape_166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3349956"/>
              </a:xfrm>
              <a:prstGeom prst="rect">
                <a:avLst/>
              </a:prstGeom>
              <a:blipFill>
                <a:blip r:embed="rId2"/>
                <a:stretch>
                  <a:fillRect l="-1789" t="-729" b="-56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0" name="yt_shape_16680"/>
          <p:cNvSpPr txBox="1"/>
          <p:nvPr/>
        </p:nvSpPr>
        <p:spPr>
          <a:xfrm>
            <a:off x="324000" y="467999"/>
            <a:ext cx="1436291" cy="53790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31849B"/>
                </a:solidFill>
                <a:effectLst/>
                <a:latin typeface="微软雅黑" pitchFamily="28"/>
                <a:ea typeface="微软雅黑" pitchFamily="28"/>
              </a:rPr>
              <a:t>方法技巧</a:t>
            </a:r>
          </a:p>
        </p:txBody>
      </p:sp>
      <p:sp>
        <p:nvSpPr>
          <p:cNvPr id="16681" name="yt_shape_16681"/>
          <p:cNvSpPr txBox="1"/>
          <p:nvPr/>
        </p:nvSpPr>
        <p:spPr>
          <a:xfrm>
            <a:off x="4480173" y="1056691"/>
            <a:ext cx="3231654" cy="53790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动态电路分析的步骤</a:t>
            </a:r>
          </a:p>
        </p:txBody>
      </p:sp>
      <p:pic>
        <p:nvPicPr>
          <p:cNvPr id="16682" name="yt_image_16682">
            <a:extLst>
              <a:ext uri="">
                <a16:creationId xmlns=""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12334" y="2248630"/>
            <a:ext cx="7567330" cy="3668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6="http://schemas.microsoft.com/office/drawing/2014/main" xmlns:a14="http://schemas.microsoft.com/office/drawing/2010/main" xmlns:p14="http://schemas.microsoft.com/office/powerpoint/2010/main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684" name="yt_shape_16684"/>
              <p:cNvSpPr txBox="1"/>
              <p:nvPr/>
            </p:nvSpPr>
            <p:spPr>
              <a:xfrm>
                <a:off x="324071" y="467999"/>
                <a:ext cx="11924914" cy="2609048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微软雅黑" pitchFamily="28"/>
                  </a:rPr>
                  <a:t>【例</a:t>
                </a:r>
                <a:r>
                  <a:rPr lang="en-US" altLang="zh-CN" sz="2800" b="1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微软雅黑" pitchFamily="28"/>
                  </a:rPr>
                  <a:t>5</a:t>
                </a:r>
                <a:r>
                  <a:rPr lang="zh-CN" altLang="zh-CN" sz="2800" b="1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微软雅黑" pitchFamily="28"/>
                  </a:rPr>
                  <a:t>】　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Times New Roman" pitchFamily="28"/>
                  </a:rPr>
                  <a:t>（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动态电路中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𝑈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𝐼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Δ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𝑈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Δ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𝐼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的变化分析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Times New Roman" pitchFamily="28"/>
                  </a:rPr>
                  <a:t>）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隶书" pitchFamily="28"/>
                  </a:rPr>
                  <a:t>〔多选〕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8_6f0b9"/>
                  </a:rPr>
                  <a:t>在如图所示的电路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中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闭合开关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当滑动变阻器的滑片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向下滑动时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9_765e5"/>
                  </a:rPr>
                  <a:t>四个理想电表的示数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都发生变化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电表的示数分别用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、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、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和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表示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8_f32c1"/>
                  </a:rPr>
                  <a:t>电表示数的变化量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分别用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、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、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和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表示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。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下列说法正确的是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　　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</a:p>
            </p:txBody>
          </p:sp>
        </mc:Choice>
        <mc:Fallback xmlns="" xmlns:p14="http://schemas.microsoft.com/office/powerpoint/2010/main" xmlns:p15="http://schemas.microsoft.com/office/powerpoint/2012/main" xmlns:a16="http://schemas.microsoft.com/office/drawing/2014/main">
          <p:sp>
            <p:nvSpPr>
              <p:cNvPr id="16684" name="yt_shape_16684" descr="{&quot;rangeId&quot;:63,&quot;color&quot;:&quot;B&quot;,&quot;pageBreak&quot;:true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543998" cy="2609048"/>
              </a:xfrm>
              <a:prstGeom prst="rect">
                <a:avLst/>
              </a:prstGeom>
              <a:blipFill>
                <a:blip r:embed="rId2"/>
                <a:stretch>
                  <a:fillRect l="-1848" r="-528" b="-74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686" name="yt_image_16686">
            <a:extLst>
              <a:ext uri="">
                <a16:creationId xmlns=""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06375" y="3142124"/>
            <a:ext cx="2689950" cy="2033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yt_table_16688" title="H_130.11008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9444267"/>
                  </p:ext>
                </p:extLst>
              </p:nvPr>
            </p:nvGraphicFramePr>
            <p:xfrm>
              <a:off x="324071" y="3396313"/>
              <a:ext cx="8782304" cy="1652398"/>
            </p:xfrm>
            <a:graphic>
              <a:graphicData uri="http://schemas.openxmlformats.org/drawingml/2006/table">
                <a:tbl>
                  <a:tblPr/>
                  <a:tblGrid>
                    <a:gridCol w="4857242">
                      <a:extLst>
                        <a:ext uri="{9D8B030D-6E8A-4147-A177-3AD203B41FA5}">
                          <a16:colId xmlns:a16="http://schemas.microsoft.com/office/drawing/2014/main" val="10590"/>
                        </a:ext>
                      </a:extLst>
                    </a:gridCol>
                    <a:gridCol w="3925062">
                      <a:extLst>
                        <a:ext uri="{9D8B030D-6E8A-4147-A177-3AD203B41FA5}">
                          <a16:colId xmlns:a16="http://schemas.microsoft.com/office/drawing/2014/main" val="1059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𝐼</m:t>
                                  </m:r>
                                </m:den>
                              </m:f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不变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Δ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800" b="0" i="1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56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0" i="1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56" charset="0"/>
                                              <a:ea typeface="Cambria Math" panose="02040503050406030204" pitchFamily="56" charset="0"/>
                                            </a:rPr>
                                            <m:t>𝑈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0" i="0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56" charset="0"/>
                                              <a:ea typeface="Cambria Math" panose="02040503050406030204" pitchFamily="56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𝐼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不变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𝐼</m:t>
                                  </m:r>
                                </m:den>
                              </m:f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变大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Δ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800" b="0" i="1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56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0" i="1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56" charset="0"/>
                                              <a:ea typeface="Cambria Math" panose="02040503050406030204" pitchFamily="56" charset="0"/>
                                            </a:rPr>
                                            <m:t>𝑈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0" i="0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56" charset="0"/>
                                              <a:ea typeface="Cambria Math" panose="02040503050406030204" pitchFamily="56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𝐼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变大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4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𝐼</m:t>
                                  </m:r>
                                </m:den>
                              </m:f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变大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Δ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800" b="0" i="1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56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0" i="1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56" charset="0"/>
                                              <a:ea typeface="Cambria Math" panose="02040503050406030204" pitchFamily="56" charset="0"/>
                                            </a:rPr>
                                            <m:t>𝑈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0" i="0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56" charset="0"/>
                                              <a:ea typeface="Cambria Math" panose="02040503050406030204" pitchFamily="56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𝐼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不变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𝐼</m:t>
                                  </m:r>
                                </m:den>
                              </m:f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不变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Δ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800" b="0" i="1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56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0" i="1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56" charset="0"/>
                                              <a:ea typeface="Cambria Math" panose="02040503050406030204" pitchFamily="56" charset="0"/>
                                            </a:rPr>
                                            <m:t>𝑈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0" i="0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56" charset="0"/>
                                              <a:ea typeface="Cambria Math" panose="02040503050406030204" pitchFamily="56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𝐼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不变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480"/>
                      </a:ext>
                    </a:extLst>
                  </a:tr>
                </a:tbl>
              </a:graphicData>
            </a:graphic>
          </p:graphicFrame>
        </mc:Choice>
        <mc:Fallback xmlns="" xmlns:p14="http://schemas.microsoft.com/office/powerpoint/2010/main" xmlns:p15="http://schemas.microsoft.com/office/powerpoint/2012/main" xmlns:a16="http://schemas.microsoft.com/office/drawing/2014/main">
          <p:graphicFrame>
            <p:nvGraphicFramePr>
              <p:cNvPr id="4" name="yt_table_16688" title="H_130.11008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9444267"/>
                  </p:ext>
                </p:extLst>
              </p:nvPr>
            </p:nvGraphicFramePr>
            <p:xfrm>
              <a:off x="324071" y="3396313"/>
              <a:ext cx="8782304" cy="1779398"/>
            </p:xfrm>
            <a:graphic>
              <a:graphicData uri="http://schemas.openxmlformats.org/drawingml/2006/table">
                <a:tbl>
                  <a:tblPr/>
                  <a:tblGrid>
                    <a:gridCol w="4857242">
                      <a:extLst>
                        <a:ext uri="{9D8B030D-6E8A-4147-A177-3AD203B41FA5}">
                          <a16:colId xmlns:a16="http://schemas.microsoft.com/office/drawing/2014/main" val="10590"/>
                        </a:ext>
                      </a:extLst>
                    </a:gridCol>
                    <a:gridCol w="3925062">
                      <a:extLst>
                        <a:ext uri="{9D8B030D-6E8A-4147-A177-3AD203B41FA5}">
                          <a16:colId xmlns:a16="http://schemas.microsoft.com/office/drawing/2014/main" val="10591"/>
                        </a:ext>
                      </a:extLst>
                    </a:gridCol>
                  </a:tblGrid>
                  <a:tr h="889699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4"/>
                          <a:stretch>
                            <a:fillRect r="-80803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4"/>
                          <a:stretch>
                            <a:fillRect l="-123758" b="-1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79"/>
                      </a:ext>
                    </a:extLst>
                  </a:tr>
                  <a:tr h="889699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4"/>
                          <a:stretch>
                            <a:fillRect t="-100685" r="-80803" b="-47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4"/>
                          <a:stretch>
                            <a:fillRect l="-123758" t="-100685" b="-47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矩形 5"/>
          <p:cNvSpPr/>
          <p:nvPr/>
        </p:nvSpPr>
        <p:spPr>
          <a:xfrm>
            <a:off x="59284" y="3479255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9284" y="4363375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690" name="yt_shape_16690"/>
              <p:cNvSpPr txBox="1"/>
              <p:nvPr/>
            </p:nvSpPr>
            <p:spPr>
              <a:xfrm>
                <a:off x="267086" y="596627"/>
                <a:ext cx="11924914" cy="263104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由题图可知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𝐼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Δ</m:t>
                            </m:r>
                            <m:sSub>
                              <m:sSub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sz="2800" b="0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Δ</m:t>
                            </m:r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𝐼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𝐼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随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5_a9da1"/>
                  </a:rPr>
                  <a:t>向下移动而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变大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而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Δ</m:t>
                            </m:r>
                            <m:sSub>
                              <m:sSub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sz="2800" b="0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Δ</m:t>
                            </m:r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𝐼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不变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因为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𝐼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所以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𝐼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461e5"/>
                  </a:rPr>
                  <a:t>增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大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而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Δ</m:t>
                            </m:r>
                            <m:sSub>
                              <m:sSub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sz="2800" b="0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3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Δ</m:t>
                            </m:r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𝐼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为电源的内阻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Δ</m:t>
                            </m:r>
                            <m:sSub>
                              <m:sSub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sz="2800" b="0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3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Δ</m:t>
                            </m:r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𝐼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不变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错误。</a:t>
                </a:r>
              </a:p>
            </p:txBody>
          </p:sp>
        </mc:Choice>
        <mc:Fallback xmlns="">
          <p:sp>
            <p:nvSpPr>
              <p:cNvPr id="16690" name="yt_shape_166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86" y="596627"/>
                <a:ext cx="11924914" cy="2631041"/>
              </a:xfrm>
              <a:prstGeom prst="rect">
                <a:avLst/>
              </a:prstGeom>
              <a:blipFill>
                <a:blip r:embed="rId2"/>
                <a:stretch>
                  <a:fillRect l="-1840" b="-32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2" name="yt_shape_16692"/>
          <p:cNvSpPr txBox="1"/>
          <p:nvPr/>
        </p:nvSpPr>
        <p:spPr>
          <a:xfrm>
            <a:off x="324000" y="467999"/>
            <a:ext cx="1436291" cy="53790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31849B"/>
                </a:solidFill>
                <a:effectLst/>
                <a:latin typeface="微软雅黑" pitchFamily="28"/>
                <a:ea typeface="微软雅黑" pitchFamily="28"/>
              </a:rPr>
              <a:t>方法总结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693" name="yt_shape_16693"/>
              <p:cNvSpPr txBox="1"/>
              <p:nvPr/>
            </p:nvSpPr>
            <p:spPr>
              <a:xfrm>
                <a:off x="2850465" y="1056691"/>
                <a:ext cx="6491071" cy="808235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ctr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>
                    <a:solidFill>
                      <a:srgbClr val="000000"/>
                    </a:solidFill>
                    <a:effectLst/>
                    <a:latin typeface="微软雅黑" pitchFamily="28"/>
                    <a:ea typeface="微软雅黑" pitchFamily="28"/>
                  </a:rPr>
                  <a:t>利用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1" i="0" u="none">
                    <a:solidFill>
                      <a:srgbClr val="000000"/>
                    </a:solidFill>
                    <a:effectLst/>
                    <a:latin typeface="微软雅黑" pitchFamily="28"/>
                    <a:ea typeface="微软雅黑" pitchFamily="28"/>
                  </a:rPr>
                  <a:t>-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1" i="0" u="none">
                    <a:solidFill>
                      <a:srgbClr val="000000"/>
                    </a:solidFill>
                    <a:effectLst/>
                    <a:latin typeface="微软雅黑" pitchFamily="28"/>
                    <a:ea typeface="微软雅黑" pitchFamily="28"/>
                  </a:rPr>
                  <a:t>图像理解动态电路中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𝑈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𝐼</m:t>
                        </m:r>
                      </m:den>
                    </m:f>
                  </m:oMath>
                </a14:m>
                <a:r>
                  <a:rPr lang="zh-CN" altLang="zh-CN" sz="2800" b="1" i="0" u="none">
                    <a:solidFill>
                      <a:srgbClr val="000000"/>
                    </a:solidFill>
                    <a:effectLst/>
                    <a:latin typeface="微软雅黑" pitchFamily="28"/>
                    <a:ea typeface="微软雅黑" pitchFamily="28"/>
                  </a:rPr>
                  <a:t>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Δ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𝑈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Δ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𝐼</m:t>
                        </m:r>
                      </m:den>
                    </m:f>
                  </m:oMath>
                </a14:m>
                <a:r>
                  <a:rPr lang="zh-CN" altLang="zh-CN" sz="2800" b="1" i="0" u="none">
                    <a:solidFill>
                      <a:srgbClr val="000000"/>
                    </a:solidFill>
                    <a:effectLst/>
                    <a:latin typeface="微软雅黑" pitchFamily="28"/>
                    <a:ea typeface="微软雅黑" pitchFamily="28"/>
                  </a:rPr>
                  <a:t>的意义</a:t>
                </a:r>
              </a:p>
            </p:txBody>
          </p:sp>
        </mc:Choice>
        <mc:Fallback xmlns="" xmlns:p15="http://schemas.microsoft.com/office/powerpoint/2012/main" xmlns:p14="http://schemas.microsoft.com/office/powerpoint/2010/main" xmlns:a16="http://schemas.microsoft.com/office/drawing/2014/main">
          <p:sp>
            <p:nvSpPr>
              <p:cNvPr id="16693" name="yt_shape_16693" descr="{&quot;rangeId&quot;:101,&quot;color&quot;:&quot;B&quot;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0465" y="1056691"/>
                <a:ext cx="6491071" cy="808235"/>
              </a:xfrm>
              <a:prstGeom prst="rect">
                <a:avLst/>
              </a:prstGeom>
              <a:blipFill>
                <a:blip r:embed="rId2"/>
                <a:stretch>
                  <a:fillRect l="-2632" r="-2632"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695" name="yt_shape_16695"/>
          <p:cNvSpPr txBox="1"/>
          <p:nvPr/>
        </p:nvSpPr>
        <p:spPr>
          <a:xfrm>
            <a:off x="324071" y="1915714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图甲、乙、丙为三个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-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图像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其中图丙对应的电路如图丁所示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  <a:sym typeface="_⨹_2_88980"/>
              </a:rPr>
              <a:t>电源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的等效内阻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。</a:t>
            </a:r>
          </a:p>
        </p:txBody>
      </p:sp>
      <p:pic>
        <p:nvPicPr>
          <p:cNvPr id="16696" name="yt_image_16696">
            <a:extLst>
              <a:ext uri="">
                <a16:creationId xmlns="" xmlns:mc="http://schemas.openxmlformats.org/markup-compatibility/2006" xmlns:a14="http://schemas.microsoft.com/office/drawing/2010/main" xmlns:p15="http://schemas.microsoft.com/office/powerpoint/2012/main" xmlns:p14="http://schemas.microsoft.com/office/powerpoint/2010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946" y="3254305"/>
            <a:ext cx="7160107" cy="211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698" name="yt_shape_16698"/>
              <p:cNvSpPr txBox="1"/>
              <p:nvPr/>
            </p:nvSpPr>
            <p:spPr>
              <a:xfrm>
                <a:off x="324071" y="468103"/>
                <a:ext cx="11543998" cy="130811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30000"/>
                  </a:lnSpc>
                </a:pP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在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-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图像中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𝑈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𝐼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为图像上任意一点的纵坐标和横坐标的比值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Δ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𝑈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Δ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𝐼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  <a:sym typeface="_⨹_1_8e485"/>
                  </a:rPr>
                  <a:t>为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直线的斜率。</a:t>
                </a:r>
              </a:p>
            </p:txBody>
          </p:sp>
        </mc:Choice>
        <mc:Fallback xmlns="" xmlns:a16="http://schemas.microsoft.com/office/drawing/2014/main">
          <p:sp>
            <p:nvSpPr>
              <p:cNvPr id="16698" name="yt_shape_16698" descr="{&quot;rangeId&quot;:102,&quot;color&quot;:&quot;B&quot;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8103"/>
                <a:ext cx="11543998" cy="1308115"/>
              </a:xfrm>
              <a:prstGeom prst="rect">
                <a:avLst/>
              </a:prstGeom>
              <a:blipFill>
                <a:blip r:embed="rId2"/>
                <a:stretch>
                  <a:fillRect l="-1848" b="-144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00" name="yt_shape_16700"/>
              <p:cNvSpPr txBox="1"/>
              <p:nvPr/>
            </p:nvSpPr>
            <p:spPr>
              <a:xfrm>
                <a:off x="324071" y="1827018"/>
                <a:ext cx="11543998" cy="155401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30000"/>
                  </a:lnSpc>
                </a:pP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图甲为定值电阻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的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-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图像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图线为过原点的直线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IR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则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𝑈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𝐼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  <a:sym typeface="_⨹_1_89987"/>
                  </a:rPr>
                  <a:t>＝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Δ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𝑈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Δ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𝐼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。</a:t>
                </a:r>
              </a:p>
            </p:txBody>
          </p:sp>
        </mc:Choice>
        <mc:Fallback xmlns="" xmlns:a16="http://schemas.microsoft.com/office/drawing/2014/main">
          <p:sp>
            <p:nvSpPr>
              <p:cNvPr id="16700" name="yt_shape_16700" descr="{&quot;rangeId&quot;:103,&quot;color&quot;:&quot;B&quot;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1827018"/>
                <a:ext cx="11543998" cy="1554015"/>
              </a:xfrm>
              <a:prstGeom prst="rect">
                <a:avLst/>
              </a:prstGeom>
              <a:blipFill>
                <a:blip r:embed="rId3"/>
                <a:stretch>
                  <a:fillRect l="-1848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02" name="yt_shape_16702"/>
              <p:cNvSpPr txBox="1"/>
              <p:nvPr/>
            </p:nvSpPr>
            <p:spPr>
              <a:xfrm>
                <a:off x="324071" y="3431833"/>
                <a:ext cx="11543998" cy="155401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30000"/>
                  </a:lnSpc>
                </a:pP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图乙为电源的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-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图像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图线为向下倾斜的直线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Ir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则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𝑈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𝐼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1_f034e"/>
                  </a:rPr>
                  <a:t>R</a:t>
                </a:r>
                <a:b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外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，｜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Δ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𝑈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Δ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𝐼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｜＝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。</a:t>
                </a:r>
              </a:p>
            </p:txBody>
          </p:sp>
        </mc:Choice>
        <mc:Fallback xmlns="" xmlns:a16="http://schemas.microsoft.com/office/drawing/2014/main">
          <p:sp>
            <p:nvSpPr>
              <p:cNvPr id="16702" name="yt_shape_16702" descr="{&quot;rangeId&quot;:104,&quot;color&quot;:&quot;B&quot;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3431833"/>
                <a:ext cx="11543998" cy="1554015"/>
              </a:xfrm>
              <a:prstGeom prst="rect">
                <a:avLst/>
              </a:prstGeom>
              <a:blipFill>
                <a:blip r:embed="rId4"/>
                <a:stretch>
                  <a:fillRect l="-1848" r="-528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yt_shape_16704">
                <a:extLst>
                  <a:ext uri="{FF2B5EF4-FFF2-40B4-BE49-F238E27FC236}">
                    <a16:creationId xmlns:a16="http://schemas.microsoft.com/office/drawing/2014/main" id="{1A1AF725-45B7-5ED6-FAFD-DF1209330FD3}"/>
                  </a:ext>
                </a:extLst>
              </p:cNvPr>
              <p:cNvSpPr txBox="1"/>
              <p:nvPr/>
            </p:nvSpPr>
            <p:spPr>
              <a:xfrm>
                <a:off x="324071" y="5036648"/>
                <a:ext cx="11924914" cy="130811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30000"/>
                  </a:lnSpc>
                </a:pP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图丙为可变电阻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的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-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图线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则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𝑈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𝐼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，｜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Δ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𝑈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Δ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𝐼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  <a:sym typeface="_⨹_1_bf9e9"/>
                  </a:rPr>
                  <a:t>｜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。</a:t>
                </a:r>
              </a:p>
            </p:txBody>
          </p:sp>
        </mc:Choice>
        <mc:Fallback xmlns="" xmlns:a16="http://schemas.microsoft.com/office/drawing/2014/main">
          <p:sp>
            <p:nvSpPr>
              <p:cNvPr id="2" name="yt_shape_16704" descr="{&quot;rangeId&quot;:105,&quot;color&quot;:&quot;B&quot;}">
                <a:extLst>
                  <a:ext uri="{FF2B5EF4-FFF2-40B4-BE49-F238E27FC236}">
                    <a16:creationId xmlns:a16="http://schemas.microsoft.com/office/drawing/2014/main" id="{1A1AF725-45B7-5ED6-FAFD-DF1209330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5036648"/>
                <a:ext cx="11543998" cy="1308115"/>
              </a:xfrm>
              <a:prstGeom prst="rect">
                <a:avLst/>
              </a:prstGeom>
              <a:blipFill>
                <a:blip r:embed="rId5"/>
                <a:stretch>
                  <a:fillRect l="-1848" b="-16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6" name="yt_shape_16706"/>
          <p:cNvSpPr txBox="1"/>
          <p:nvPr/>
        </p:nvSpPr>
        <p:spPr>
          <a:xfrm>
            <a:off x="324071" y="467999"/>
            <a:ext cx="11924914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【例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6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】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外电路电阻动态变化中的极值问题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13cb5"/>
              </a:rPr>
              <a:t>电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源电动势为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内阻不计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滑动变阻器最大阻值为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定值电阻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89244"/>
              </a:rPr>
              <a:t>＝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三只电流表都是理想电流表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滑动变阻器的滑片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从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22393"/>
              </a:rPr>
              <a:t>向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移动过程中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下列说法正确的是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pic>
        <p:nvPicPr>
          <p:cNvPr id="16707" name="yt_image_16707">
            <a:extLst>
              <a:ext uri="">
                <a16:creationId xmlns="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74129" y="3392647"/>
            <a:ext cx="3275054" cy="186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yt_table_16709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974004"/>
              </p:ext>
            </p:extLst>
          </p:nvPr>
        </p:nvGraphicFramePr>
        <p:xfrm>
          <a:off x="324071" y="2993485"/>
          <a:ext cx="6732588" cy="2389632"/>
        </p:xfrm>
        <a:graphic>
          <a:graphicData uri="http://schemas.openxmlformats.org/drawingml/2006/table">
            <a:tbl>
              <a:tblPr/>
              <a:tblGrid>
                <a:gridCol w="6732588">
                  <a:extLst>
                    <a:ext uri="{9D8B030D-6E8A-4147-A177-3AD203B41FA5}">
                      <a16:colId xmlns:a16="http://schemas.microsoft.com/office/drawing/2014/main" val="105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电流表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的示数先增大后减小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电流表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的示数先增大后减小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电流表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的示数逐渐增大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滑片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P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移到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端时电流表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的示数最大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84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43542" y="4115587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42" y="4830248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6="http://schemas.microsoft.com/office/drawing/2014/main" xmlns:a14="http://schemas.microsoft.com/office/drawing/2010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712" name="yt_shape_16712"/>
              <p:cNvSpPr txBox="1"/>
              <p:nvPr/>
            </p:nvSpPr>
            <p:spPr>
              <a:xfrm>
                <a:off x="324071" y="467999"/>
                <a:ext cx="11924914" cy="4852803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当满足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1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1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外电路的电阻最大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7_972fc"/>
                  </a:rPr>
                  <a:t>则滑动变阻器的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滑片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从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向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移动过程中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电路的总电阻先增大后减小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7_43e5c"/>
                  </a:rPr>
                  <a:t>电流先减小后增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大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电流表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的示数先减小后增大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选项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因电源的内阻不计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_c7c98"/>
                  </a:rPr>
                  <a:t>可知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电流表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的示数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𝐸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P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则随着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1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的增加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电流表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示数减小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_b0e7b"/>
                  </a:rPr>
                  <a:t>选项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电流表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的示数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𝐸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P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则随着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1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的减小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电流表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3_a0d6e"/>
                  </a:rPr>
                  <a:t>示数逐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渐增大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选项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由数学知识可知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当滑片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移到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8_73a9e"/>
                  </a:rPr>
                  <a:t>端时电路的总电阻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最小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此时电流表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的示数最大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选项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正确。</a:t>
                </a:r>
              </a:p>
            </p:txBody>
          </p:sp>
        </mc:Choice>
        <mc:Fallback xmlns="">
          <p:sp>
            <p:nvSpPr>
              <p:cNvPr id="16712" name="yt_shape_167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4852803"/>
              </a:xfrm>
              <a:prstGeom prst="rect">
                <a:avLst/>
              </a:prstGeom>
              <a:blipFill>
                <a:blip r:embed="rId2"/>
                <a:stretch>
                  <a:fillRect l="-1789" t="-503" b="-35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18" name="yt_image_16718">
            <a:extLst>
              <a:ext uri="">
                <a16:creationId xmlns="" xmlns:mc="http://schemas.openxmlformats.org/markup-compatibility/2006" xmlns:a14="http://schemas.microsoft.com/office/drawing/2010/main" xmlns:p15="http://schemas.microsoft.com/office/powerpoint/2012/main" xmlns:p14="http://schemas.microsoft.com/office/powerpoint/2010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1948" y="2176357"/>
            <a:ext cx="3333835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714" name="yt_shape_16714"/>
          <p:cNvSpPr txBox="1"/>
          <p:nvPr/>
        </p:nvSpPr>
        <p:spPr>
          <a:xfrm>
            <a:off x="324000" y="467999"/>
            <a:ext cx="1436291" cy="53790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31849B"/>
                </a:solidFill>
                <a:effectLst/>
                <a:latin typeface="微软雅黑" pitchFamily="28"/>
                <a:ea typeface="微软雅黑" pitchFamily="28"/>
              </a:rPr>
              <a:t>方法技巧</a:t>
            </a:r>
          </a:p>
        </p:txBody>
      </p:sp>
      <p:sp>
        <p:nvSpPr>
          <p:cNvPr id="16715" name="yt_shape_16715"/>
          <p:cNvSpPr txBox="1"/>
          <p:nvPr/>
        </p:nvSpPr>
        <p:spPr>
          <a:xfrm>
            <a:off x="324000" y="1056691"/>
            <a:ext cx="6104235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一个典型的电阻变化中的极值电路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716" name="yt_shape_16716"/>
              <p:cNvSpPr txBox="1"/>
              <p:nvPr/>
            </p:nvSpPr>
            <p:spPr>
              <a:xfrm>
                <a:off x="324071" y="1640702"/>
                <a:ext cx="11543998" cy="2066912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　　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如图所示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、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间的总电阻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1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AB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zh-CN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（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𝑅</m:t>
                        </m:r>
                        <m:r>
                          <a:rPr lang="zh-CN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P</m:t>
                            </m:r>
                          </m:sub>
                        </m:sSub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)(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𝑅</m:t>
                        </m:r>
                        <m:r>
                          <a:rPr lang="zh-CN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P</m:t>
                            </m:r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𝑏</m:t>
                            </m:r>
                          </m:sub>
                        </m:sSub>
                        <m:r>
                          <a:rPr lang="zh-CN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）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𝑅</m:t>
                        </m:r>
                        <m:r>
                          <a:rPr lang="zh-CN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𝑅</m:t>
                        </m:r>
                        <m:r>
                          <a:rPr lang="zh-CN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P</m:t>
                            </m:r>
                          </m:sub>
                        </m:sSub>
                        <m:r>
                          <a:rPr lang="zh-CN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P</m:t>
                            </m:r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𝑏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  <a:sym typeface="_⨹_1_b1431"/>
                  </a:rPr>
                  <a:t>＝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zh-CN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（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𝑅</m:t>
                        </m:r>
                        <m:r>
                          <a:rPr lang="zh-CN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P</m:t>
                            </m:r>
                          </m:sub>
                        </m:sSub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)(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𝑅</m:t>
                        </m:r>
                        <m:r>
                          <a:rPr lang="zh-CN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P</m:t>
                            </m:r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𝑏</m:t>
                            </m:r>
                          </m:sub>
                        </m:sSub>
                        <m:r>
                          <a:rPr lang="zh-CN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）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𝑅</m:t>
                        </m:r>
                        <m:r>
                          <a:rPr lang="zh-CN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𝑅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′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由此式及数学知识可得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</a:p>
            </p:txBody>
          </p:sp>
        </mc:Choice>
        <mc:Fallback xmlns="" xmlns:p15="http://schemas.microsoft.com/office/powerpoint/2012/main" xmlns:p14="http://schemas.microsoft.com/office/powerpoint/2010/main" xmlns:a16="http://schemas.microsoft.com/office/drawing/2014/main">
          <p:sp>
            <p:nvSpPr>
              <p:cNvPr id="16716" name="yt_shape_16716" descr="{&quot;rangeId&quot;:80,&quot;color&quot;:&quot;B&quot;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1640702"/>
                <a:ext cx="11543998" cy="2066912"/>
              </a:xfrm>
              <a:prstGeom prst="rect">
                <a:avLst/>
              </a:prstGeom>
              <a:blipFill>
                <a:blip r:embed="rId3"/>
                <a:stretch>
                  <a:fillRect b="-29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720" name="yt_shape_16720"/>
          <p:cNvSpPr txBox="1"/>
          <p:nvPr/>
        </p:nvSpPr>
        <p:spPr>
          <a:xfrm>
            <a:off x="324000" y="4011984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当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的值最大。故当滑动变阻器的滑片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从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端滑向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  <a:sym typeface="_⨹_3_2fe57"/>
              </a:rPr>
              <a:t>端的过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程中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的值先增大后减小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当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滑至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R'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的中点时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的值最大。</a:t>
            </a:r>
          </a:p>
        </p:txBody>
      </p:sp>
      <p:sp>
        <p:nvSpPr>
          <p:cNvPr id="7" name="yt_shape_16721"/>
          <p:cNvSpPr txBox="1"/>
          <p:nvPr/>
        </p:nvSpPr>
        <p:spPr>
          <a:xfrm>
            <a:off x="160869" y="5343535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提醒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仿宋" pitchFamily="28"/>
              </a:rPr>
              <a:t>上图中如果两个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仿宋" pitchFamily="28"/>
              </a:rPr>
              <a:t>换成两个不相等的电阻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仿宋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仿宋" pitchFamily="28"/>
              </a:rPr>
              <a:t>则当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deb51"/>
              </a:rPr>
              <a:t>P</a:t>
            </a:r>
            <a:b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仿宋" pitchFamily="28"/>
              </a:rPr>
              <a:t>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仿宋" pitchFamily="28"/>
              </a:rPr>
              <a:t>的值最大。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428750"/>
            <a:ext cx="12192000" cy="367030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3953061" y="2060475"/>
            <a:ext cx="0" cy="595635"/>
          </a:xfrm>
          <a:prstGeom prst="line">
            <a:avLst/>
          </a:prstGeom>
          <a:ln w="22225">
            <a:solidFill>
              <a:srgbClr val="22252A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644576" y="3302066"/>
            <a:ext cx="0" cy="595635"/>
          </a:xfrm>
          <a:prstGeom prst="line">
            <a:avLst/>
          </a:prstGeom>
          <a:ln w="22225">
            <a:solidFill>
              <a:srgbClr val="C00000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948306" y="2068901"/>
            <a:ext cx="1798820" cy="1798820"/>
            <a:chOff x="2329306" y="2634955"/>
            <a:chExt cx="1798820" cy="1798820"/>
          </a:xfrm>
        </p:grpSpPr>
        <p:sp>
          <p:nvSpPr>
            <p:cNvPr id="13" name="矩形 12"/>
            <p:cNvSpPr/>
            <p:nvPr/>
          </p:nvSpPr>
          <p:spPr>
            <a:xfrm>
              <a:off x="2329306" y="2634955"/>
              <a:ext cx="1798820" cy="17988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>
              <a:outerShdw blurRad="101600" dist="381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666528" y="2969317"/>
              <a:ext cx="1127233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600" dirty="0">
                  <a:solidFill>
                    <a:schemeClr val="bg1"/>
                  </a:solidFill>
                  <a:latin typeface="Aparajita" panose="020B0604020202020204" pitchFamily="34" charset="0"/>
                  <a:cs typeface="Aparajita" panose="020B0604020202020204" pitchFamily="34" charset="0"/>
                </a:rPr>
                <a:t>03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814911" y="3723965"/>
              <a:ext cx="8178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Aparajita" panose="020B0604020202020204" pitchFamily="34" charset="0"/>
                  <a:cs typeface="Aparajita" panose="020B0604020202020204" pitchFamily="34" charset="0"/>
                </a:rPr>
                <a:t>PART</a:t>
              </a:r>
              <a:endParaRPr lang="zh-CN" altLang="en-US" sz="2400" dirty="0">
                <a:solidFill>
                  <a:schemeClr val="bg1"/>
                </a:solidFill>
                <a:latin typeface="Aparajita" panose="020B0604020202020204" pitchFamily="34" charset="0"/>
                <a:cs typeface="Aparajita" panose="020B0604020202020204" pitchFamily="34" charset="0"/>
              </a:endParaRPr>
            </a:p>
          </p:txBody>
        </p:sp>
      </p:grpSp>
      <p:sp>
        <p:nvSpPr>
          <p:cNvPr id="17" name="文本框 16">
            <a:hlinkClick r:id="rId2" action="ppaction://hlinksldjump"/>
          </p:cNvPr>
          <p:cNvSpPr txBox="1"/>
          <p:nvPr/>
        </p:nvSpPr>
        <p:spPr>
          <a:xfrm>
            <a:off x="5122776" y="2635593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课时作业</a:t>
            </a:r>
          </a:p>
        </p:txBody>
      </p:sp>
    </p:spTree>
    <p:extLst>
      <p:ext uri="{BB962C8B-B14F-4D97-AF65-F5344CB8AC3E}">
        <p14:creationId xmlns:p14="http://schemas.microsoft.com/office/powerpoint/2010/main" val="877388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1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 tmFilter="0,0; .5, 1; 1, 1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9" name="yt_shape_12119"/>
          <p:cNvSpPr txBox="1"/>
          <p:nvPr/>
        </p:nvSpPr>
        <p:spPr>
          <a:xfrm>
            <a:off x="324071" y="1075877"/>
            <a:ext cx="11924914" cy="17195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一款微型机器人的内部有一个直流电动机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6_6093c"/>
              </a:rPr>
              <a:t>其额定电压为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额定电流为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线圈电阻为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将它接在电动势为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内阻为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4_d49cf"/>
              </a:rPr>
              <a:t>的直流电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源的两极间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电动机恰好能正常工作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下列说法正确的是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121" name="yt_table_12121_skip" title="H_208.35008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24066" y="2846175"/>
              <a:ext cx="5106988" cy="2646046"/>
            </p:xfrm>
            <a:graphic>
              <a:graphicData uri="http://schemas.openxmlformats.org/drawingml/2006/table">
                <a:tbl>
                  <a:tblPr/>
                  <a:tblGrid>
                    <a:gridCol w="5106988">
                      <a:extLst>
                        <a:ext uri="{9D8B030D-6E8A-4147-A177-3AD203B41FA5}">
                          <a16:colId xmlns:a16="http://schemas.microsoft.com/office/drawing/2014/main" val="1029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1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1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1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1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电动机消耗的总功率为</a:t>
                          </a:r>
                          <a:r>
                            <a:rPr lang="en-US" altLang="zh-CN" sz="2800" b="1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EI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1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1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1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1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电动机的效率为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1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𝑼</m:t>
                                  </m:r>
                                </m:num>
                                <m:den>
                                  <m:r>
                                    <a:rPr lang="en-US" altLang="zh-CN" sz="2800" b="1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𝑬</m:t>
                                  </m:r>
                                </m:den>
                              </m:f>
                            </m:oMath>
                          </a14:m>
                          <a:endParaRPr lang="zh-CN" altLang="zh-CN" sz="2800" b="1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1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</a:t>
                          </a:r>
                          <a:r>
                            <a:rPr lang="en-US" altLang="zh-CN" sz="2800" b="1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1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1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电源的输出功率为</a:t>
                          </a:r>
                          <a:r>
                            <a:rPr lang="en-US" altLang="zh-CN" sz="2800" b="1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EI</a:t>
                          </a:r>
                          <a:r>
                            <a:rPr lang="zh-CN" altLang="zh-CN" sz="2800" b="1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－</a:t>
                          </a:r>
                          <a:r>
                            <a:rPr lang="en-US" altLang="zh-CN" sz="2800" b="1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I</a:t>
                          </a:r>
                          <a:r>
                            <a:rPr lang="en-US" altLang="zh-CN" sz="2800" b="1" i="0" u="none" baseline="30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en-US" altLang="zh-CN" sz="2800" b="1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1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</a:t>
                          </a:r>
                          <a:r>
                            <a:rPr lang="en-US" altLang="zh-CN" sz="2800" b="1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1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1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电源的效率为</a:t>
                          </a:r>
                          <a:r>
                            <a:rPr lang="en-US" altLang="zh-CN" sz="2800" b="1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1</a:t>
                          </a:r>
                          <a:r>
                            <a:rPr lang="zh-CN" altLang="zh-CN" sz="2800" b="1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－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1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𝑰𝑹</m:t>
                                  </m:r>
                                </m:num>
                                <m:den>
                                  <m:r>
                                    <a:rPr lang="en-US" altLang="zh-CN" sz="2800" b="1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𝑬</m:t>
                                  </m:r>
                                </m:den>
                              </m:f>
                            </m:oMath>
                          </a14:m>
                          <a:endParaRPr lang="zh-CN" altLang="zh-CN" sz="2800" b="1" i="0" u="none">
                            <a:solidFill>
                              <a:srgbClr val="000000"/>
                            </a:solidFill>
                            <a:effectLst/>
                            <a:latin typeface="宋体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76"/>
                      </a:ext>
                    </a:extLst>
                  </a:tr>
                </a:tbl>
              </a:graphicData>
            </a:graphic>
          </p:graphicFrame>
        </mc:Choice>
        <mc:Fallback xmlns="" xmlns:p15="http://schemas.microsoft.com/office/powerpoint/2012/main" xmlns:p14="http://schemas.microsoft.com/office/powerpoint/2010/main" xmlns:a16="http://schemas.microsoft.com/office/drawing/2014/main" xmlns:m="http://schemas.openxmlformats.org/officeDocument/2006/math">
          <p:graphicFrame>
            <p:nvGraphicFramePr>
              <p:cNvPr id="12121" name="yt_table_12121_skip" descr="{&quot;rangeId&quot;:21,&quot;type&quot;:&quot;Option&quot;,&quot;drawing&quot;:[&quot;yt_image_12120&quot;]}" title="H_208.35008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1970474"/>
                  </p:ext>
                </p:extLst>
              </p:nvPr>
            </p:nvGraphicFramePr>
            <p:xfrm>
              <a:off x="324066" y="2846175"/>
              <a:ext cx="5106988" cy="2646046"/>
            </p:xfrm>
            <a:graphic>
              <a:graphicData uri="http://schemas.openxmlformats.org/drawingml/2006/table">
                <a:tbl>
                  <a:tblPr/>
                  <a:tblGrid>
                    <a:gridCol w="5106988">
                      <a:extLst>
                        <a:ext uri="{9D8B030D-6E8A-4147-A177-3AD203B41FA5}">
                          <a16:colId xmlns:a16="http://schemas.microsoft.com/office/drawing/2014/main" val="10291"/>
                        </a:ext>
                      </a:extLst>
                    </a:gridCol>
                  </a:tblGrid>
                  <a:tr h="52705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1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1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1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1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电动机消耗的总功率为</a:t>
                          </a:r>
                          <a:r>
                            <a:rPr lang="en-US" altLang="zh-CN" sz="2800" b="1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EI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73"/>
                      </a:ext>
                    </a:extLst>
                  </a:tr>
                  <a:tr h="79597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3"/>
                          <a:stretch>
                            <a:fillRect t="-68702" b="-1809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74"/>
                      </a:ext>
                    </a:extLst>
                  </a:tr>
                  <a:tr h="52705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1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</a:t>
                          </a:r>
                          <a:r>
                            <a:rPr lang="en-US" altLang="zh-CN" sz="2800" b="1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1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1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电源的输出功率为</a:t>
                          </a:r>
                          <a:r>
                            <a:rPr lang="en-US" altLang="zh-CN" sz="2800" b="1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EI</a:t>
                          </a:r>
                          <a:r>
                            <a:rPr lang="zh-CN" altLang="zh-CN" sz="2800" b="1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－</a:t>
                          </a:r>
                          <a:r>
                            <a:rPr lang="en-US" altLang="zh-CN" sz="2800" b="1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I</a:t>
                          </a:r>
                          <a:r>
                            <a:rPr lang="en-US" altLang="zh-CN" sz="2800" b="1" i="0" u="none" baseline="30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en-US" altLang="zh-CN" sz="2800" b="1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75"/>
                      </a:ext>
                    </a:extLst>
                  </a:tr>
                  <a:tr h="79597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3"/>
                          <a:stretch>
                            <a:fillRect t="-234351" b="-152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7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2120" name="yt_image_12120_skip" title="H_163.75">
            <a:extLst>
              <a:ext uri="">
                <a16:creationId xmlns="" xmlns:p14="http://schemas.microsoft.com/office/powerpoint/2010/main" xmlns:a14="http://schemas.microsoft.com/office/drawing/2010/main" xmlns:mc="http://schemas.openxmlformats.org/markup-compatibility/2006" xmlns:p15="http://schemas.microsoft.com/office/powerpoint/2012/main" xmlns:a16="http://schemas.microsoft.com/office/drawing/2014/main" xmlns:m="http://schemas.openxmlformats.org/officeDocument/2006/math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249691" y="2846175"/>
            <a:ext cx="2616300" cy="207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3E09BB5-4CF1-49BD-93CC-7B2292F4DD2B}"/>
              </a:ext>
            </a:extLst>
          </p:cNvPr>
          <p:cNvSpPr/>
          <p:nvPr/>
        </p:nvSpPr>
        <p:spPr>
          <a:xfrm>
            <a:off x="197944" y="4533385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7" name="yt_image_10628" title="H_47.87496">
            <a:extLst>
              <a:ext uri="">
                <a16:creationId xmlns="" xmlns:m="http://schemas.openxmlformats.org/officeDocument/2006/math"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rgbClr val="4BACC6">
                <a:shade val="45000"/>
                <a:satMod val="135000"/>
              </a:srgbClr>
              <a:prstClr val="white"/>
            </a:duotone>
          </a:blip>
          <a:srcRect/>
          <a:stretch>
            <a:fillRect/>
          </a:stretch>
        </p:blipFill>
        <p:spPr bwMode="auto">
          <a:xfrm>
            <a:off x="4452019" y="467999"/>
            <a:ext cx="2308195" cy="608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组合 15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9" name="de8f0623-445e-49af-99e2-987a64a23d1e" descr="{&quot;SlideID&quot;:&quot;328&quot;,&quot;SlideNumber&quot;:&quot;3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25194109-0919-4b6d-b877-4b0706c79b2b" descr="{&quot;SlideID&quot;:&quot;330&quot;,&quot;SlideNumber&quot;:&quot;40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25665813-f391-4490-adf8-c3e71159ec20" descr="{&quot;SlideID&quot;:&quot;332&quot;,&quot;SlideNumber&quot;:&quot;42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f76fd163-09f4-4cc3-8cc2-2e217169ed74" descr="{&quot;SlideID&quot;:&quot;334&quot;,&quot;SlideNumber&quot;:&quot;44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d861912a-9a3f-4931-ac86-22cfad49019d" descr="{&quot;SlideID&quot;:&quot;336&quot;,&quot;SlideNumber&quot;:&quot;46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aba7a9ef-bc29-4881-a418-f6fce39bf119" descr="{&quot;SlideID&quot;:&quot;338&quot;,&quot;SlideNumber&quot;:&quot;48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2043f72c-7814-4d9b-a664-5a66e61239dc" descr="{&quot;SlideID&quot;:&quot;340&quot;,&quot;SlideNumber&quot;:&quot;50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c3b0a9bd-91fb-415d-87b7-3d9e245d5fee" descr="{&quot;SlideID&quot;:&quot;342&quot;,&quot;SlideNumber&quot;:&quot;52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03f83554-2842-4f6e-9176-7d9abe0f826b" descr="{&quot;SlideID&quot;:&quot;344&quot;,&quot;SlideNumber&quot;:&quot;54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484d2190-c41e-46f3-808c-5a79337bc8c7" descr="{&quot;SlideID&quot;:&quot;347&quot;,&quot;SlideNumber&quot;:&quot;57&quot;}">
              <a:hlinkClick r:id="rId1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1ca650d1-fca5-41d2-924e-602745e867b8" descr="{&quot;SlideID&quot;:&quot;349&quot;,&quot;SlideNumber&quot;:&quot;59&quot;}">
              <a:hlinkClick r:id="rId1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459047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6="http://schemas.microsoft.com/office/drawing/2014/main" xmlns:a14="http://schemas.microsoft.com/office/drawing/2010/main" xmlns:p14="http://schemas.microsoft.com/office/powerpoint/2010/main" xmlns:m="http://schemas.openxmlformats.org/officeDocument/2006/math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122" name="yt_shape_12122"/>
              <p:cNvSpPr txBox="1"/>
              <p:nvPr/>
            </p:nvSpPr>
            <p:spPr>
              <a:xfrm>
                <a:off x="324071" y="467999"/>
                <a:ext cx="11924914" cy="236834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电动机消耗的总功率为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UI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电动机的效率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η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6bbb3"/>
                  </a:rPr>
                  <a:t>＝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𝑼𝑰</m:t>
                        </m:r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𝑰</m:t>
                            </m:r>
                          </m:e>
                          <m:sup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𝑹</m:t>
                        </m:r>
                      </m:num>
                      <m:den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𝑼𝑰</m:t>
                        </m:r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𝑰𝑹</m:t>
                        </m:r>
                      </m:num>
                      <m:den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𝑼</m:t>
                        </m:r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电源的输出功率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P'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EI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1" i="0" u="none" baseline="30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_feaf4"/>
                  </a:rPr>
                  <a:t>电源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的效率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η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'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𝑼𝑰</m:t>
                        </m:r>
                      </m:num>
                      <m:den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𝑬𝑰</m:t>
                        </m:r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𝑼</m:t>
                        </m:r>
                      </m:num>
                      <m:den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𝑬</m:t>
                        </m:r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𝑬</m:t>
                        </m:r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𝑰𝒓</m:t>
                        </m:r>
                      </m:num>
                      <m:den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𝑬</m:t>
                        </m:r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𝑰𝒓</m:t>
                        </m:r>
                      </m:num>
                      <m:den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𝑬</m:t>
                        </m:r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错误。</a:t>
                </a:r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2122" name="yt_shape_12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2368341"/>
              </a:xfrm>
              <a:prstGeom prst="rect">
                <a:avLst/>
              </a:prstGeom>
              <a:blipFill>
                <a:blip r:embed="rId2"/>
                <a:stretch>
                  <a:fillRect l="-1789" t="-1031" b="-4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9" name="91de3886-3cbe-4478-bbea-371e0c90cd31" descr="{&quot;SlideID&quot;:&quot;328&quot;,&quot;SlideNumber&quot;:&quot;38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def8461a-b59b-40c4-b536-60049ebc5003" descr="{&quot;SlideID&quot;:&quot;330&quot;,&quot;SlideNumber&quot;:&quot;40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7bb77e3b-e8a6-40a8-b1e5-7b0d0108c871" descr="{&quot;SlideID&quot;:&quot;332&quot;,&quot;SlideNumber&quot;:&quot;4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12eb9fad-8128-4ce6-ad74-d83098fe8fbc" descr="{&quot;SlideID&quot;:&quot;334&quot;,&quot;SlideNumber&quot;:&quot;4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85f43aad-1ad7-4bb3-ab21-5c3746a60dfa" descr="{&quot;SlideID&quot;:&quot;336&quot;,&quot;SlideNumber&quot;:&quot;4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77f59f01-f9e7-47db-be8c-e9243edf6a13" descr="{&quot;SlideID&quot;:&quot;338&quot;,&quot;SlideNumber&quot;:&quot;4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6dae7a67-c1ea-4b9a-b189-e00dca2a00fe" descr="{&quot;SlideID&quot;:&quot;340&quot;,&quot;SlideNumber&quot;:&quot;5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87500966-f3d2-4275-ae8a-2e69755da857" descr="{&quot;SlideID&quot;:&quot;342&quot;,&quot;SlideNumber&quot;:&quot;52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190891d6-2377-4e37-8572-568db7f3a5a9" descr="{&quot;SlideID&quot;:&quot;344&quot;,&quot;SlideNumber&quot;:&quot;54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25ef72f5-360c-4755-a29d-3c1890e02b8a" descr="{&quot;SlideID&quot;:&quot;347&quot;,&quot;SlideNumber&quot;:&quot;57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46c09287-4021-4081-b11f-9d4c5536b2c7" descr="{&quot;SlideID&quot;:&quot;349&quot;,&quot;SlideNumber&quot;:&quot;59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60229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22" grpId="0" build="allAtOnce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4" name="yt_shape_12124"/>
          <p:cNvSpPr txBox="1"/>
          <p:nvPr/>
        </p:nvSpPr>
        <p:spPr>
          <a:xfrm>
            <a:off x="324071" y="467999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广东肇庆期末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直线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表示某电源路端电压与电流的关系图像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aad22"/>
              </a:rPr>
              <a:t>，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直线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和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分别为两定值电阻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和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-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图像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由图像可知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2126" name="yt_table_12126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66" y="1654226"/>
          <a:ext cx="7451662" cy="2389632"/>
        </p:xfrm>
        <a:graphic>
          <a:graphicData uri="http://schemas.openxmlformats.org/drawingml/2006/table">
            <a:tbl>
              <a:tblPr/>
              <a:tblGrid>
                <a:gridCol w="7451662">
                  <a:extLst>
                    <a:ext uri="{9D8B030D-6E8A-4147-A177-3AD203B41FA5}">
                      <a16:colId xmlns:a16="http://schemas.microsoft.com/office/drawing/2014/main" val="102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的阻值大于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的阻值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电源电动势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E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为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内阻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为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电源只接入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时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电源的输出功率为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W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电源只接入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时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电源的输出功率为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W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0"/>
                  </a:ext>
                </a:extLst>
              </a:tr>
            </a:tbl>
          </a:graphicData>
        </a:graphic>
      </p:graphicFrame>
      <p:pic>
        <p:nvPicPr>
          <p:cNvPr id="12125" name="yt_image_12125_skip" title="H_193.12495">
            <a:extLst>
              <a:ext uri="">
                <a16:creationId xmlns=""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54676" y="1654226"/>
            <a:ext cx="2911380" cy="2452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3E09BB5-4CF1-49BD-93CC-7B2292F4DD2B}"/>
              </a:ext>
            </a:extLst>
          </p:cNvPr>
          <p:cNvSpPr/>
          <p:nvPr/>
        </p:nvSpPr>
        <p:spPr>
          <a:xfrm>
            <a:off x="158755" y="3651443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28360957-73f8-44fa-9167-0d59908a8f8a" descr="{&quot;SlideID&quot;:&quot;328&quot;,&quot;SlideNumber&quot;:&quot;38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0e00f4be-a9a8-466f-a4c5-9731499d669a" descr="{&quot;SlideID&quot;:&quot;330&quot;,&quot;SlideNumber&quot;:&quot;40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415d537e-fc1c-40a8-b125-de404966ca56" descr="{&quot;SlideID&quot;:&quot;332&quot;,&quot;SlideNumber&quot;:&quot;4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f8f3445b-4189-4c9e-b35c-cb1d38006830" descr="{&quot;SlideID&quot;:&quot;334&quot;,&quot;SlideNumber&quot;:&quot;4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e539e932-6973-45fd-a7cd-cf7b120c5ea7" descr="{&quot;SlideID&quot;:&quot;336&quot;,&quot;SlideNumber&quot;:&quot;4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132e0fa7-0d71-41b3-8d36-9e53bdd6c0aa" descr="{&quot;SlideID&quot;:&quot;338&quot;,&quot;SlideNumber&quot;:&quot;4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3c9edda0-a25b-4a81-ab78-112b625e6831" descr="{&quot;SlideID&quot;:&quot;340&quot;,&quot;SlideNumber&quot;:&quot;5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98a99ad3-f346-427a-bdc2-c9c193162a56" descr="{&quot;SlideID&quot;:&quot;342&quot;,&quot;SlideNumber&quot;:&quot;52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6776b741-6f07-4fdc-ab11-f697e569744f" descr="{&quot;SlideID&quot;:&quot;344&quot;,&quot;SlideNumber&quot;:&quot;54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1cc746bd-f3af-4031-93d5-ffd7067667e5" descr="{&quot;SlideID&quot;:&quot;347&quot;,&quot;SlideNumber&quot;:&quot;57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24d9bb62-bedf-4afd-90f8-1a026d6d9efe" descr="{&quot;SlideID&quot;:&quot;349&quot;,&quot;SlideNumber&quot;:&quot;59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7126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128" name="yt_shape_12128"/>
              <p:cNvSpPr txBox="1"/>
              <p:nvPr/>
            </p:nvSpPr>
            <p:spPr>
              <a:xfrm>
                <a:off x="324071" y="467999"/>
                <a:ext cx="11924914" cy="5368842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　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电阻的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-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图像斜率表示电阻阻值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所以有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𝟑</m:t>
                        </m:r>
                        <m:r>
                          <m:rPr>
                            <m:nor/>
                          </m:rP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.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𝟎</m:t>
                        </m:r>
                      </m:num>
                      <m:den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𝟎</m:t>
                        </m:r>
                        <m:r>
                          <m:rPr>
                            <m:nor/>
                          </m:rP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.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b58bf"/>
                  </a:rPr>
                  <a:t>1</a:t>
                </a:r>
                <a:b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𝟐</m:t>
                        </m:r>
                        <m:r>
                          <m:rPr>
                            <m:nor/>
                          </m:rP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.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𝟎</m:t>
                        </m:r>
                      </m:num>
                      <m:den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𝟏</m:t>
                        </m:r>
                        <m:r>
                          <m:rPr>
                            <m:nor/>
                          </m:rP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.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𝟎</m:t>
                        </m:r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由闭合电路欧姆定律有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1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Ir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5_ff59b"/>
                  </a:rPr>
                  <a:t>所以电源路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端电压与电流的关系图像斜率绝对值表示内阻大小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9_75eeb"/>
                  </a:rPr>
                  <a:t>纵轴截距表示电动势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大小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即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𝟒</m:t>
                        </m:r>
                        <m:r>
                          <m:rPr>
                            <m:nor/>
                          </m:rP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.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𝟎</m:t>
                        </m:r>
                      </m:num>
                      <m:den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𝟐</m:t>
                        </m:r>
                        <m:r>
                          <m:rPr>
                            <m:nor/>
                          </m:rP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.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𝟎</m:t>
                        </m:r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电源只接入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3_f9265"/>
                  </a:rPr>
                  <a:t>电源的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输出功率为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800" b="1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b="1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𝑬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sz="2800" b="1" i="1">
                                        <a:solidFill>
                                          <a:srgbClr val="C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56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>
                                        <a:solidFill>
                                          <a:srgbClr val="C00000"/>
                                        </a:solidFill>
                                        <a:effectLst/>
                                        <a:latin typeface="Cambria Math" panose="02040503050406030204" pitchFamily="56" charset="0"/>
                                        <a:ea typeface="Cambria Math" panose="02040503050406030204" pitchFamily="56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US" altLang="zh-CN" sz="2800" b="1" i="0">
                                        <a:solidFill>
                                          <a:srgbClr val="C00000"/>
                                        </a:solidFill>
                                        <a:effectLst/>
                                        <a:latin typeface="Cambria Math" panose="02040503050406030204" pitchFamily="56" charset="0"/>
                                        <a:ea typeface="Cambria Math" panose="02040503050406030204" pitchFamily="56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zh-CN" altLang="zh-CN" sz="2800" b="1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＋</m:t>
                                </m:r>
                                <m:r>
                                  <a:rPr lang="en-US" altLang="zh-CN" sz="2800" b="1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𝒓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𝟑</m:t>
                        </m:r>
                      </m:num>
                      <m:den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W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电源只接入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4_cd4af"/>
                  </a:rPr>
                  <a:t>电源的输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出功率为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800" b="1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b="1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𝑬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sz="2800" b="1" i="1">
                                        <a:solidFill>
                                          <a:srgbClr val="C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56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>
                                        <a:solidFill>
                                          <a:srgbClr val="C00000"/>
                                        </a:solidFill>
                                        <a:effectLst/>
                                        <a:latin typeface="Cambria Math" panose="02040503050406030204" pitchFamily="56" charset="0"/>
                                        <a:ea typeface="Cambria Math" panose="02040503050406030204" pitchFamily="56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US" altLang="zh-CN" sz="2800" b="1" i="0">
                                        <a:solidFill>
                                          <a:srgbClr val="C00000"/>
                                        </a:solidFill>
                                        <a:effectLst/>
                                        <a:latin typeface="Cambria Math" panose="02040503050406030204" pitchFamily="56" charset="0"/>
                                        <a:ea typeface="Cambria Math" panose="02040503050406030204" pitchFamily="56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zh-CN" altLang="zh-CN" sz="2800" b="1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＋</m:t>
                                </m:r>
                                <m:r>
                                  <a:rPr lang="en-US" altLang="zh-CN" sz="2800" b="1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𝒓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W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正确。</a:t>
                </a:r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2128" name="yt_shape_121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5368842"/>
              </a:xfrm>
              <a:prstGeom prst="rect">
                <a:avLst/>
              </a:prstGeom>
              <a:blipFill>
                <a:blip r:embed="rId2"/>
                <a:stretch>
                  <a:fillRect l="-1789" b="-1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f4dfbd38-3cd8-4f40-a2b4-786f831ca17b" descr="{&quot;SlideID&quot;:&quot;328&quot;,&quot;SlideNumber&quot;:&quot;38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2c4bdb23-6566-403c-a79a-21049f4192bd" descr="{&quot;SlideID&quot;:&quot;330&quot;,&quot;SlideNumber&quot;:&quot;40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b8d5f85c-6da6-4edb-847b-f2235d9f6a5b" descr="{&quot;SlideID&quot;:&quot;332&quot;,&quot;SlideNumber&quot;:&quot;4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dbcdc099-4e94-46f0-86f5-495ce6eb55a4" descr="{&quot;SlideID&quot;:&quot;334&quot;,&quot;SlideNumber&quot;:&quot;4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aad04374-f056-4ab7-851f-d8a4894a719d" descr="{&quot;SlideID&quot;:&quot;336&quot;,&quot;SlideNumber&quot;:&quot;4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2536a5e7-d1fd-4700-91d4-5050ab479873" descr="{&quot;SlideID&quot;:&quot;338&quot;,&quot;SlideNumber&quot;:&quot;4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35ba9cc9-4fba-4c20-9338-96b56b3ed877" descr="{&quot;SlideID&quot;:&quot;340&quot;,&quot;SlideNumber&quot;:&quot;5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d5b4bc40-40b9-4a52-b479-025ee733577e" descr="{&quot;SlideID&quot;:&quot;342&quot;,&quot;SlideNumber&quot;:&quot;52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77e62391-2330-4ebf-8ca3-3a161bdabc27" descr="{&quot;SlideID&quot;:&quot;344&quot;,&quot;SlideNumber&quot;:&quot;54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a21da6f1-6e8d-4c98-bec9-04d8bdf88a98" descr="{&quot;SlideID&quot;:&quot;347&quot;,&quot;SlideNumber&quot;:&quot;57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d7b64328-8657-4549-916d-2773cdd8b133" descr="{&quot;SlideID&quot;:&quot;349&quot;,&quot;SlideNumber&quot;:&quot;59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1631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28" grpId="0" build="allAtOnce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0" name="yt_shape_12130"/>
          <p:cNvSpPr txBox="1"/>
          <p:nvPr/>
        </p:nvSpPr>
        <p:spPr>
          <a:xfrm>
            <a:off x="324071" y="467999"/>
            <a:ext cx="11924914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为定值电阻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为可变电阻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为电源的电动势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ce4b7"/>
              </a:rPr>
              <a:t>为电源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的内阻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以下说法正确的是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2132" name="yt_table_12132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66" y="1635055"/>
          <a:ext cx="7013575" cy="2389632"/>
        </p:xfrm>
        <a:graphic>
          <a:graphicData uri="http://schemas.openxmlformats.org/drawingml/2006/table">
            <a:tbl>
              <a:tblPr/>
              <a:tblGrid>
                <a:gridCol w="7013575">
                  <a:extLst>
                    <a:ext uri="{9D8B030D-6E8A-4147-A177-3AD203B41FA5}">
                      <a16:colId xmlns:a16="http://schemas.microsoft.com/office/drawing/2014/main" val="10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当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＋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时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消耗的功率最大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当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＋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时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消耗的功率最大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当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增大时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电源的效率变小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当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时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电源的输出功率一定最小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4"/>
                  </a:ext>
                </a:extLst>
              </a:tr>
            </a:tbl>
          </a:graphicData>
        </a:graphic>
      </p:graphicFrame>
      <p:pic>
        <p:nvPicPr>
          <p:cNvPr id="12131" name="yt_image_12131_skip" title="H_103.12496">
            <a:extLst>
              <a:ext uri="">
                <a16:creationId xmlns=""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16403" y="1635055"/>
            <a:ext cx="1649375" cy="1309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3E09BB5-4CF1-49BD-93CC-7B2292F4DD2B}"/>
              </a:ext>
            </a:extLst>
          </p:cNvPr>
          <p:cNvSpPr/>
          <p:nvPr/>
        </p:nvSpPr>
        <p:spPr>
          <a:xfrm>
            <a:off x="132629" y="1897483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77fa163a-8849-4e50-9ee9-3ddc71b6803b" descr="{&quot;SlideID&quot;:&quot;328&quot;,&quot;SlideNumber&quot;:&quot;38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6ae5410f-650c-4cdc-8602-2f6c8566be15" descr="{&quot;SlideID&quot;:&quot;330&quot;,&quot;SlideNumber&quot;:&quot;40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0aad9fae-035d-4849-a461-5e08cdfe445b" descr="{&quot;SlideID&quot;:&quot;332&quot;,&quot;SlideNumber&quot;:&quot;4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49a638c0-63fa-47f4-9912-ba9a491b7483" descr="{&quot;SlideID&quot;:&quot;334&quot;,&quot;SlideNumber&quot;:&quot;4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a9fd75f8-aea7-462f-8c4b-e0e08708057c" descr="{&quot;SlideID&quot;:&quot;336&quot;,&quot;SlideNumber&quot;:&quot;4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667292ed-2183-444c-af7e-b88ce3771681" descr="{&quot;SlideID&quot;:&quot;338&quot;,&quot;SlideNumber&quot;:&quot;4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b3443043-c691-485a-a637-6e825c932bbc" descr="{&quot;SlideID&quot;:&quot;340&quot;,&quot;SlideNumber&quot;:&quot;5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1f792d76-ecd6-49b7-bd6b-a22109b3c1c2" descr="{&quot;SlideID&quot;:&quot;342&quot;,&quot;SlideNumber&quot;:&quot;52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09999756-7f2f-4d03-8ae4-9b819e289a4d" descr="{&quot;SlideID&quot;:&quot;344&quot;,&quot;SlideNumber&quot;:&quot;54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e3ed4c12-0016-4d86-8a7c-0b5c08c55ec7" descr="{&quot;SlideID&quot;:&quot;347&quot;,&quot;SlideNumber&quot;:&quot;57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33c6291b-e542-4f25-96ee-003ce3fb1a7d" descr="{&quot;SlideID&quot;:&quot;349&quot;,&quot;SlideNumber&quot;:&quot;59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22611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134" name="yt_shape_12134"/>
              <p:cNvSpPr txBox="1"/>
              <p:nvPr/>
            </p:nvSpPr>
            <p:spPr>
              <a:xfrm>
                <a:off x="324071" y="467999"/>
                <a:ext cx="11924914" cy="584159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 spc="150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1" i="0" u="none" spc="150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　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将</a:t>
                </a:r>
                <a:r>
                  <a:rPr lang="en-US" altLang="zh-CN" sz="2800" b="1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spc="150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也看成电源的内阻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spc="150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3_552cc"/>
                  </a:rPr>
                  <a:t>消耗的功率等于等效电源的输</a:t>
                </a:r>
                <a:b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出功率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当外电阻等于内阻时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即</a:t>
                </a:r>
                <a:r>
                  <a:rPr lang="en-US" altLang="zh-CN" sz="2800" b="1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spc="150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spc="150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1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9_1c171"/>
                  </a:rPr>
                  <a:t>等效电源的输出功率</a:t>
                </a:r>
                <a:b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最大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即</a:t>
                </a:r>
                <a:r>
                  <a:rPr lang="en-US" altLang="zh-CN" sz="2800" b="1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spc="150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消耗的功率最大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由于</a:t>
                </a:r>
                <a:r>
                  <a:rPr lang="en-US" altLang="zh-CN" sz="2800" b="1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spc="150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的阻值不变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</a:t>
                </a:r>
                <a:r>
                  <a:rPr lang="en-US" altLang="zh-CN" sz="2800" b="1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a623c"/>
                  </a:rPr>
                  <a:t>＝</a:t>
                </a:r>
                <a:b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1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1" i="0" u="none" spc="150" baseline="30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1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电流最大时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spc="150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消耗的功率最大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当外电阻最小时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即</a:t>
                </a:r>
                <a:r>
                  <a:rPr lang="en-US" altLang="zh-CN" sz="2800" b="1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spc="150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a80b0"/>
                  </a:rPr>
                  <a:t>0</a:t>
                </a:r>
                <a:br>
                  <a:rPr lang="en-US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电流最大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spc="150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消耗的功率最大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电源的效率</a:t>
                </a:r>
                <a:r>
                  <a:rPr lang="en-US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η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10406"/>
                  </a:rPr>
                  <a:t>＝</a:t>
                </a:r>
                <a:b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pc="15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1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𝑼𝑰</m:t>
                        </m:r>
                      </m:num>
                      <m:den>
                        <m:r>
                          <a:rPr lang="en-US" altLang="zh-CN" sz="2800" b="1" i="1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𝑬𝑰</m:t>
                        </m:r>
                      </m:den>
                    </m:f>
                  </m:oMath>
                </a14:m>
                <a:r>
                  <a:rPr lang="en-US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100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％＝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pc="15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1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𝟏</m:t>
                            </m:r>
                          </m:sub>
                        </m:sSub>
                        <m:r>
                          <a:rPr lang="zh-CN" altLang="zh-CN" sz="2800" b="1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1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b="1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𝟏</m:t>
                            </m:r>
                          </m:sub>
                        </m:sSub>
                        <m:r>
                          <a:rPr lang="zh-CN" altLang="zh-CN" sz="2800" b="1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1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𝟐</m:t>
                            </m:r>
                          </m:sub>
                        </m:sSub>
                        <m:r>
                          <a:rPr lang="zh-CN" altLang="zh-CN" sz="2800" b="1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r>
                          <a:rPr lang="en-US" altLang="zh-CN" sz="2800" b="1" i="1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𝒓</m:t>
                        </m:r>
                      </m:den>
                    </m:f>
                  </m:oMath>
                </a14:m>
                <a:r>
                  <a:rPr lang="en-US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100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％，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</a:t>
                </a:r>
                <a:r>
                  <a:rPr lang="en-US" altLang="zh-CN" sz="2800" b="1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spc="150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增大时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电源的效率增大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c57bd"/>
                  </a:rPr>
                  <a:t>C</a:t>
                </a:r>
                <a:br>
                  <a:rPr lang="en-US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当外电阻等于内阻时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电源的输出功率最大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7_881bd"/>
                  </a:rPr>
                  <a:t>外电阻与内电阻</a:t>
                </a:r>
                <a:b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越接近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电源的输出功率越大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由于</a:t>
                </a:r>
                <a:r>
                  <a:rPr lang="en-US" altLang="zh-CN" sz="2800" b="1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spc="150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与</a:t>
                </a:r>
                <a:r>
                  <a:rPr lang="en-US" altLang="zh-CN" sz="2800" b="1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的关系未知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故当</a:t>
                </a:r>
                <a:r>
                  <a:rPr lang="en-US" altLang="zh-CN" sz="2800" b="1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spc="150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d2891"/>
                  </a:rPr>
                  <a:t>0</a:t>
                </a:r>
                <a:br>
                  <a:rPr lang="en-US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电源的输出功率不一定最小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错误。</a:t>
                </a:r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2134" name="yt_shape_121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5841599"/>
              </a:xfrm>
              <a:prstGeom prst="rect">
                <a:avLst/>
              </a:prstGeom>
              <a:blipFill>
                <a:blip r:embed="rId2"/>
                <a:stretch>
                  <a:fillRect l="-1789" t="-418" b="-2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f8021f13-7512-4267-bc3a-e04c4af5a163" descr="{&quot;SlideID&quot;:&quot;328&quot;,&quot;SlideNumber&quot;:&quot;38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56d60adf-6c7c-4293-a699-add841954880" descr="{&quot;SlideID&quot;:&quot;330&quot;,&quot;SlideNumber&quot;:&quot;40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23889f05-9689-4756-829c-4c2e7f665d1c" descr="{&quot;SlideID&quot;:&quot;332&quot;,&quot;SlideNumber&quot;:&quot;4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58a9db0a-4209-495d-ad8b-8a4d7d3ffbec" descr="{&quot;SlideID&quot;:&quot;334&quot;,&quot;SlideNumber&quot;:&quot;4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dd8936f2-d272-4940-9045-14d3110581f1" descr="{&quot;SlideID&quot;:&quot;336&quot;,&quot;SlideNumber&quot;:&quot;4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9b2684e6-9770-47c1-8d3b-f844cdafe8b8" descr="{&quot;SlideID&quot;:&quot;338&quot;,&quot;SlideNumber&quot;:&quot;4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56c9720c-6b64-4d87-bfc4-4c660c298978" descr="{&quot;SlideID&quot;:&quot;340&quot;,&quot;SlideNumber&quot;:&quot;5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22b1cb0b-a72c-4492-8f05-91f605d5eb65" descr="{&quot;SlideID&quot;:&quot;342&quot;,&quot;SlideNumber&quot;:&quot;52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e3a000d4-4e9c-4d18-b785-21e4500f8242" descr="{&quot;SlideID&quot;:&quot;344&quot;,&quot;SlideNumber&quot;:&quot;54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3177a114-d700-4b0f-b5a1-bc5ea0ad285d" descr="{&quot;SlideID&quot;:&quot;347&quot;,&quot;SlideNumber&quot;:&quot;57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fc04f1cf-dd25-4cf0-9195-d1410bccfc9a" descr="{&quot;SlideID&quot;:&quot;349&quot;,&quot;SlideNumber&quot;:&quot;59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3427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34" grpId="0" build="allAtOnce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6" name="yt_shape_12136"/>
          <p:cNvSpPr txBox="1"/>
          <p:nvPr/>
        </p:nvSpPr>
        <p:spPr>
          <a:xfrm>
            <a:off x="324071" y="467999"/>
            <a:ext cx="11924914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浙江金华期末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在如图所示的电路中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电源电动势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12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b4f38"/>
              </a:rPr>
              <a:t>电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源内阻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电路中的电阻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小型直流电动机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的内阻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2e7f3"/>
              </a:rPr>
              <a:t>＝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电流表内阻不计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闭合开关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后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电动机转动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电流表的示数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0ffe7"/>
              </a:rPr>
              <a:t>＝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则以下判断正确的是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2138" name="yt_table_12138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66" y="2860710"/>
          <a:ext cx="5854700" cy="2389632"/>
        </p:xfrm>
        <a:graphic>
          <a:graphicData uri="http://schemas.openxmlformats.org/drawingml/2006/table">
            <a:tbl>
              <a:tblPr/>
              <a:tblGrid>
                <a:gridCol w="5854700">
                  <a:extLst>
                    <a:ext uri="{9D8B030D-6E8A-4147-A177-3AD203B41FA5}">
                      <a16:colId xmlns:a16="http://schemas.microsoft.com/office/drawing/2014/main" val="10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电动机两端的电压为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电动机的输出功率为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14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W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电源的效率约为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33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％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电动机的机械效率约为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85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7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％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8"/>
                  </a:ext>
                </a:extLst>
              </a:tr>
            </a:tbl>
          </a:graphicData>
        </a:graphic>
      </p:graphicFrame>
      <p:pic>
        <p:nvPicPr>
          <p:cNvPr id="12137" name="yt_image_12137_skip" title="H_131.37495">
            <a:extLst>
              <a:ext uri="">
                <a16:creationId xmlns=""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56621" y="2860710"/>
            <a:ext cx="2309302" cy="1668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3E09BB5-4CF1-49BD-93CC-7B2292F4DD2B}"/>
              </a:ext>
            </a:extLst>
          </p:cNvPr>
          <p:cNvSpPr/>
          <p:nvPr/>
        </p:nvSpPr>
        <p:spPr>
          <a:xfrm>
            <a:off x="132630" y="4857927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c61e7fda-4d70-4014-b180-c826ee170a3d" descr="{&quot;SlideID&quot;:&quot;328&quot;,&quot;SlideNumber&quot;:&quot;38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5ce40b57-75aa-4f46-acdc-bfc0320c8df6" descr="{&quot;SlideID&quot;:&quot;330&quot;,&quot;SlideNumber&quot;:&quot;40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175efe85-79a5-48e6-96c5-68a7d901e085" descr="{&quot;SlideID&quot;:&quot;332&quot;,&quot;SlideNumber&quot;:&quot;4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2519c7a7-6ba5-4010-a875-c165dc1c2523" descr="{&quot;SlideID&quot;:&quot;334&quot;,&quot;SlideNumber&quot;:&quot;4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9c8504d4-de8f-4d71-984b-ca560ee643ae" descr="{&quot;SlideID&quot;:&quot;336&quot;,&quot;SlideNumber&quot;:&quot;4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e32cfe32-cc4d-4eda-b384-b147715fbf3c" descr="{&quot;SlideID&quot;:&quot;338&quot;,&quot;SlideNumber&quot;:&quot;4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8c012d17-4b57-4bf5-a801-d89f2071d009" descr="{&quot;SlideID&quot;:&quot;340&quot;,&quot;SlideNumber&quot;:&quot;5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35bd41c2-4c09-4294-a695-679239d1eb79" descr="{&quot;SlideID&quot;:&quot;342&quot;,&quot;SlideNumber&quot;:&quot;52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acb95734-042c-4e16-a716-f121c1c23ecb" descr="{&quot;SlideID&quot;:&quot;344&quot;,&quot;SlideNumber&quot;:&quot;54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b3ccfba0-90a0-4830-ac06-05ba5df1d495" descr="{&quot;SlideID&quot;:&quot;347&quot;,&quot;SlideNumber&quot;:&quot;57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58a01c77-4d1e-48ba-aac4-171c0e08afc0" descr="{&quot;SlideID&quot;:&quot;349&quot;,&quot;SlideNumber&quot;:&quot;59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47838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140" name="yt_shape_12140"/>
              <p:cNvSpPr txBox="1"/>
              <p:nvPr/>
            </p:nvSpPr>
            <p:spPr>
              <a:xfrm>
                <a:off x="324071" y="467999"/>
                <a:ext cx="11924914" cy="303813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　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根据题意可知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电动机两端的电压为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7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74242"/>
                  </a:rPr>
                  <a:t> 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电动机的输出功率为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1" i="0" u="none" baseline="30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W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_b7894"/>
                  </a:rPr>
                  <a:t>电源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的效率为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η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𝑬𝑰</m:t>
                        </m:r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𝑰</m:t>
                            </m:r>
                          </m:e>
                          <m:sup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𝒓</m:t>
                        </m:r>
                      </m:num>
                      <m:den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𝑬𝑰</m:t>
                        </m:r>
                      </m:den>
                    </m:f>
                  </m:oMath>
                </a14:m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100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％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≈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83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％，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电动机的机械效率为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η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'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f724a"/>
                  </a:rPr>
                  <a:t>＝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𝑷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𝑼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𝐌</m:t>
                            </m:r>
                          </m:sub>
                        </m:sSub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𝑰</m:t>
                        </m:r>
                      </m:den>
                    </m:f>
                  </m:oMath>
                </a14:m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100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％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≈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85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7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％，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正确。</a:t>
                </a:r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2140" name="yt_shape_121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3038139"/>
              </a:xfrm>
              <a:prstGeom prst="rect">
                <a:avLst/>
              </a:prstGeom>
              <a:blipFill>
                <a:blip r:embed="rId2"/>
                <a:stretch>
                  <a:fillRect l="-1789" t="-803" b="-14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f16de1b2-0360-40a3-9ff7-bdee2dae7a6d" descr="{&quot;SlideID&quot;:&quot;328&quot;,&quot;SlideNumber&quot;:&quot;38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ab646665-c879-42f4-ba76-702aeeb839e7" descr="{&quot;SlideID&quot;:&quot;330&quot;,&quot;SlideNumber&quot;:&quot;40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dfc4c906-c077-4cb1-8447-71d7cf30a0c5" descr="{&quot;SlideID&quot;:&quot;332&quot;,&quot;SlideNumber&quot;:&quot;4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6b0f3f35-3e43-4bfc-8e26-906b3d213155" descr="{&quot;SlideID&quot;:&quot;334&quot;,&quot;SlideNumber&quot;:&quot;4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f6d5ed52-f63d-4b33-a2a1-278f01e655df" descr="{&quot;SlideID&quot;:&quot;336&quot;,&quot;SlideNumber&quot;:&quot;4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64bf1a48-cfb6-473b-8d5b-e2cd2b0733e5" descr="{&quot;SlideID&quot;:&quot;338&quot;,&quot;SlideNumber&quot;:&quot;4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5d8adf3a-db6a-4713-a587-44523a1f74b8" descr="{&quot;SlideID&quot;:&quot;340&quot;,&quot;SlideNumber&quot;:&quot;5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a4cd51c4-76f3-4cdb-b27c-eb9a160d2042" descr="{&quot;SlideID&quot;:&quot;342&quot;,&quot;SlideNumber&quot;:&quot;52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6262c81d-f632-4b4f-806d-df7f9ee833a7" descr="{&quot;SlideID&quot;:&quot;344&quot;,&quot;SlideNumber&quot;:&quot;54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17ec80f0-f59c-4356-bd2b-d6b0f1a78355" descr="{&quot;SlideID&quot;:&quot;347&quot;,&quot;SlideNumber&quot;:&quot;57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b940ca2a-35db-4792-8f86-51b1e137cda0" descr="{&quot;SlideID&quot;:&quot;349&quot;,&quot;SlideNumber&quot;:&quot;59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6094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40" grpId="0" build="allAtOnce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2" name="yt_shape_12142"/>
          <p:cNvSpPr txBox="1"/>
          <p:nvPr/>
        </p:nvSpPr>
        <p:spPr>
          <a:xfrm>
            <a:off x="324071" y="467999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如图所示的电路中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电源的电动势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和内电阻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恒定不变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灯泡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62b3c"/>
              </a:rPr>
              <a:t>恰能正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常发光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如果滑动变阻器的滑片向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端滑动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2144" name="yt_table_12144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66" y="1654226"/>
          <a:ext cx="6002338" cy="2389632"/>
        </p:xfrm>
        <a:graphic>
          <a:graphicData uri="http://schemas.openxmlformats.org/drawingml/2006/table">
            <a:tbl>
              <a:tblPr/>
              <a:tblGrid>
                <a:gridCol w="6002338">
                  <a:extLst>
                    <a:ext uri="{9D8B030D-6E8A-4147-A177-3AD203B41FA5}">
                      <a16:colId xmlns:a16="http://schemas.microsoft.com/office/drawing/2014/main" val="10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灯泡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L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更亮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电流表的示数减小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定值电阻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消耗的功率增大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灯泡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L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变暗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电源的总功率减小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灯泡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L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变暗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电流表的示数增大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2"/>
                  </a:ext>
                </a:extLst>
              </a:tr>
            </a:tbl>
          </a:graphicData>
        </a:graphic>
      </p:graphicFrame>
      <p:pic>
        <p:nvPicPr>
          <p:cNvPr id="12143" name="yt_image_12143_skip" title="H_201.5">
            <a:extLst>
              <a:ext uri="">
                <a16:creationId xmlns=""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62895" y="1654226"/>
            <a:ext cx="2703115" cy="255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3E09BB5-4CF1-49BD-93CC-7B2292F4DD2B}"/>
              </a:ext>
            </a:extLst>
          </p:cNvPr>
          <p:cNvSpPr/>
          <p:nvPr/>
        </p:nvSpPr>
        <p:spPr>
          <a:xfrm>
            <a:off x="106505" y="1813803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c6340316-b034-46ba-868d-632974bf689c" descr="{&quot;SlideID&quot;:&quot;328&quot;,&quot;SlideNumber&quot;:&quot;38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8cfeb506-cd42-405e-96c0-f42792453db3" descr="{&quot;SlideID&quot;:&quot;330&quot;,&quot;SlideNumber&quot;:&quot;40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8d1208ac-309a-4668-a5a7-d943378bb2be" descr="{&quot;SlideID&quot;:&quot;332&quot;,&quot;SlideNumber&quot;:&quot;4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18d343f0-6186-4f07-947b-cba0a730ae6e" descr="{&quot;SlideID&quot;:&quot;334&quot;,&quot;SlideNumber&quot;:&quot;4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5e94a635-cc46-4f17-8024-e5ddd9f1fabb" descr="{&quot;SlideID&quot;:&quot;336&quot;,&quot;SlideNumber&quot;:&quot;4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8cd3afa2-3c43-4387-9f68-a531a6e16778" descr="{&quot;SlideID&quot;:&quot;338&quot;,&quot;SlideNumber&quot;:&quot;4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accc65ea-ab8d-4ab7-a8b3-802c7967405c" descr="{&quot;SlideID&quot;:&quot;340&quot;,&quot;SlideNumber&quot;:&quot;5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23acfae9-7ed1-4331-9b81-09174830cd05" descr="{&quot;SlideID&quot;:&quot;342&quot;,&quot;SlideNumber&quot;:&quot;52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e15d6e16-11bd-4c71-afba-2f8d48aa12a1" descr="{&quot;SlideID&quot;:&quot;344&quot;,&quot;SlideNumber&quot;:&quot;54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80d3ae88-cecc-41ba-aad1-4eacaf75fc52" descr="{&quot;SlideID&quot;:&quot;347&quot;,&quot;SlideNumber&quot;:&quot;57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b65eabb8-e099-4ea8-8551-adf65a613de6" descr="{&quot;SlideID&quot;:&quot;349&quot;,&quot;SlideNumber&quot;:&quot;59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47706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146" name="yt_shape_12146"/>
              <p:cNvSpPr txBox="1"/>
              <p:nvPr/>
            </p:nvSpPr>
            <p:spPr>
              <a:xfrm>
                <a:off x="324071" y="467999"/>
                <a:ext cx="11924914" cy="283366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　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滑片向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端滑动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变大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电路中总电阻变大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𝑬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zh-CN" sz="2800" b="1" i="0" baseline="-200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宋体" panose="02040503050406030204" pitchFamily="56" charset="0"/>
                              </a:rPr>
                              <m:t>总</m:t>
                            </m:r>
                          </m:sub>
                        </m:sSub>
                        <m:r>
                          <a:rPr lang="zh-CN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𝒓</m:t>
                        </m:r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3ec37"/>
                  </a:rPr>
                  <a:t>可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知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减小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电流表示数减小。根据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外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1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Ir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可知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外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变大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5_978b3"/>
                  </a:rPr>
                  <a:t>灯泡两端电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压变大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故灯泡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L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更亮。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减小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L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变大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变小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再根据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𝟐</m:t>
                            </m:r>
                          </m:sub>
                        </m:sSub>
                      </m:e>
                      <m:sup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4ea47"/>
                  </a:rPr>
                  <a:t>可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知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消耗的功率变小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正确。</a:t>
                </a:r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2146" name="yt_shape_121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2833661"/>
              </a:xfrm>
              <a:prstGeom prst="rect">
                <a:avLst/>
              </a:prstGeom>
              <a:blipFill>
                <a:blip r:embed="rId2"/>
                <a:stretch>
                  <a:fillRect l="-1789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3b4123b1-72d8-4151-92ef-6c41f5ab451e" descr="{&quot;SlideID&quot;:&quot;328&quot;,&quot;SlideNumber&quot;:&quot;38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11ceb451-8e33-43c6-9d43-1d79b459b0bd" descr="{&quot;SlideID&quot;:&quot;330&quot;,&quot;SlideNumber&quot;:&quot;40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7444fa22-734a-4ffd-8077-2437b7db9fbd" descr="{&quot;SlideID&quot;:&quot;332&quot;,&quot;SlideNumber&quot;:&quot;4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533ea122-513b-4c2c-8696-82cf3903e536" descr="{&quot;SlideID&quot;:&quot;334&quot;,&quot;SlideNumber&quot;:&quot;4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ce166db6-25c1-4a28-9aa9-f788346dd42d" descr="{&quot;SlideID&quot;:&quot;336&quot;,&quot;SlideNumber&quot;:&quot;4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190fcbe8-cd57-476c-a96b-d021a504a58f" descr="{&quot;SlideID&quot;:&quot;338&quot;,&quot;SlideNumber&quot;:&quot;4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56e5a472-4649-497e-97db-c7246ee522a6" descr="{&quot;SlideID&quot;:&quot;340&quot;,&quot;SlideNumber&quot;:&quot;5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c861b109-0618-4691-a7cb-b11a358cc25c" descr="{&quot;SlideID&quot;:&quot;342&quot;,&quot;SlideNumber&quot;:&quot;52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595b253d-587c-44ac-99b4-39a813183033" descr="{&quot;SlideID&quot;:&quot;344&quot;,&quot;SlideNumber&quot;:&quot;54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49ee61c1-23e6-49f6-9b5f-694517db0dea" descr="{&quot;SlideID&quot;:&quot;347&quot;,&quot;SlideNumber&quot;:&quot;57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f8debfc5-89a6-49c2-bcdc-1af6e9882063" descr="{&quot;SlideID&quot;:&quot;349&quot;,&quot;SlideNumber&quot;:&quot;59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60630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46" grpId="0" build="allAtOnce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8" name="yt_shape_12148"/>
          <p:cNvSpPr txBox="1"/>
          <p:nvPr/>
        </p:nvSpPr>
        <p:spPr>
          <a:xfrm>
            <a:off x="324071" y="467999"/>
            <a:ext cx="11924914" cy="17195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是两只完全相同的小灯泡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为光敏电阻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4_1c678"/>
              </a:rPr>
              <a:t>当光照越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强时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阻值越小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开关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闭合后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随着光照强度逐渐增大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6_3ca64"/>
              </a:rPr>
              <a:t>两灯的亮度变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化情况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2150" name="yt_table_12150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66" y="2238297"/>
          <a:ext cx="5048250" cy="2389632"/>
        </p:xfrm>
        <a:graphic>
          <a:graphicData uri="http://schemas.openxmlformats.org/drawingml/2006/table">
            <a:tbl>
              <a:tblPr/>
              <a:tblGrid>
                <a:gridCol w="5048250">
                  <a:extLst>
                    <a:ext uri="{9D8B030D-6E8A-4147-A177-3AD203B41FA5}">
                      <a16:colId xmlns:a16="http://schemas.microsoft.com/office/drawing/2014/main" val="102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L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逐渐变亮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L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逐渐变暗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L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逐渐变亮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L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逐渐变亮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L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逐渐变暗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L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逐渐变亮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L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逐渐变暗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L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逐渐变暗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6"/>
                  </a:ext>
                </a:extLst>
              </a:tr>
            </a:tbl>
          </a:graphicData>
        </a:graphic>
      </p:graphicFrame>
      <p:pic>
        <p:nvPicPr>
          <p:cNvPr id="12149" name="yt_image_12149_skip" title="H_143.37495">
            <a:extLst>
              <a:ext uri="">
                <a16:creationId xmlns=""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479854" y="2238297"/>
            <a:ext cx="2386087" cy="1820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3E09BB5-4CF1-49BD-93CC-7B2292F4DD2B}"/>
              </a:ext>
            </a:extLst>
          </p:cNvPr>
          <p:cNvSpPr/>
          <p:nvPr/>
        </p:nvSpPr>
        <p:spPr>
          <a:xfrm>
            <a:off x="145693" y="3666744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43c97db1-eee5-494f-97e1-80ecfafbf2f1" descr="{&quot;SlideID&quot;:&quot;328&quot;,&quot;SlideNumber&quot;:&quot;38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e915296d-728c-404c-a0eb-3c64ac473635" descr="{&quot;SlideID&quot;:&quot;330&quot;,&quot;SlideNumber&quot;:&quot;40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dabd6d50-d726-42d0-917f-e266740fb7b8" descr="{&quot;SlideID&quot;:&quot;332&quot;,&quot;SlideNumber&quot;:&quot;4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83a11f89-9bde-43dc-b6a8-5d7ef31bd758" descr="{&quot;SlideID&quot;:&quot;334&quot;,&quot;SlideNumber&quot;:&quot;4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c5dd195f-e9aa-4ba7-bf42-9c1aabcd2b1c" descr="{&quot;SlideID&quot;:&quot;336&quot;,&quot;SlideNumber&quot;:&quot;4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ff8042fc-898e-4cc4-9bd0-502b51af440c" descr="{&quot;SlideID&quot;:&quot;338&quot;,&quot;SlideNumber&quot;:&quot;4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aa4d94bf-d57b-49f8-ab08-c740ebdc3b6f" descr="{&quot;SlideID&quot;:&quot;340&quot;,&quot;SlideNumber&quot;:&quot;5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58026e1-752c-4fc2-adcc-c56b4f422dd2" descr="{&quot;SlideID&quot;:&quot;342&quot;,&quot;SlideNumber&quot;:&quot;52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bef60436-b2ae-442d-97a8-98bff4845b7e" descr="{&quot;SlideID&quot;:&quot;344&quot;,&quot;SlideNumber&quot;:&quot;54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1c9729d7-2ff1-4559-9653-130ee70bcae6" descr="{&quot;SlideID&quot;:&quot;347&quot;,&quot;SlideNumber&quot;:&quot;57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8fd4819c-e830-4fb5-ab62-b1ef34513351" descr="{&quot;SlideID&quot;:&quot;349&quot;,&quot;SlideNumber&quot;:&quot;59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63257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2" name="yt_shape_12152"/>
          <p:cNvSpPr txBox="1"/>
          <p:nvPr/>
        </p:nvSpPr>
        <p:spPr>
          <a:xfrm>
            <a:off x="324071" y="467999"/>
            <a:ext cx="11924914" cy="354840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</a:t>
            </a:r>
            <a:r>
              <a:rPr lang="zh-CN" altLang="zh-CN" sz="2800" b="1" i="0" u="none" dirty="0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灯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与光敏电阻并联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然后与灯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串联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当闭合开关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4_f1436"/>
              </a:rPr>
              <a:t>且逐渐增</a:t>
            </a:r>
            <a:b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大光照强度时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光敏电阻阻值减小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则电路中总电阻减小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6_e9a51"/>
              </a:rPr>
              <a:t>根据闭合电路</a:t>
            </a:r>
            <a:b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欧姆定律可知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电路中总电流将增大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内阻分压增大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路端电压减小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_0b0ef"/>
              </a:rPr>
              <a:t>而</a:t>
            </a:r>
            <a:b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灯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在干路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根据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L2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zh-CN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总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可知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灯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两端的电压增大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路端电压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  <a:sym typeface="_⨹_1_80e27"/>
              </a:rPr>
              <a:t>＝</a:t>
            </a:r>
            <a:b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L2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L1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可知灯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两端的电压一定减小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由此可知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开关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闭合后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_4b9e9"/>
              </a:rPr>
              <a:t>随</a:t>
            </a:r>
            <a:b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着光照强度逐渐增大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逐渐变暗、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逐渐变亮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故选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。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43a52704-4b0b-45b0-b5bd-06823a7750f4" descr="{&quot;SlideID&quot;:&quot;328&quot;,&quot;SlideNumber&quot;:&quot;38&quot;}">
              <a:hlinkClick r:id="rId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09fdaa2b-159d-43f5-9749-dc33410b7890" descr="{&quot;SlideID&quot;:&quot;330&quot;,&quot;SlideNumber&quot;:&quot;40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c06ceec3-dcba-4ab4-bef5-1bc24fbe2446" descr="{&quot;SlideID&quot;:&quot;332&quot;,&quot;SlideNumber&quot;:&quot;4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fcb48865-a58b-4104-834e-c06f61ead948" descr="{&quot;SlideID&quot;:&quot;334&quot;,&quot;SlideNumber&quot;:&quot;4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c563a378-bb6e-48c9-b64e-8ea330901d41" descr="{&quot;SlideID&quot;:&quot;336&quot;,&quot;SlideNumber&quot;:&quot;4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75c94e66-5a15-4d18-879e-ae337465b676" descr="{&quot;SlideID&quot;:&quot;338&quot;,&quot;SlideNumber&quot;:&quot;4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2523d79b-7f42-498c-8a49-b2d9dd7c5429" descr="{&quot;SlideID&quot;:&quot;340&quot;,&quot;SlideNumber&quot;:&quot;5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22876159-47b4-4359-9f7c-094ef1881691" descr="{&quot;SlideID&quot;:&quot;342&quot;,&quot;SlideNumber&quot;:&quot;5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2ac56d71-5748-44e4-8a8f-069b5b3d01d9" descr="{&quot;SlideID&quot;:&quot;344&quot;,&quot;SlideNumber&quot;:&quot;5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264be57d-554d-4fad-9519-8e971d3fe64d" descr="{&quot;SlideID&quot;:&quot;347&quot;,&quot;SlideNumber&quot;:&quot;57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fdfd63d2-507f-4a3d-9afb-3b59c7fae0e3" descr="{&quot;SlideID&quot;:&quot;349&quot;,&quot;SlideNumber&quot;:&quot;59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1366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52" grpId="0" build="allAtOnce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3" name="yt_shape_12153"/>
          <p:cNvSpPr txBox="1"/>
          <p:nvPr/>
        </p:nvSpPr>
        <p:spPr>
          <a:xfrm>
            <a:off x="324071" y="467999"/>
            <a:ext cx="11543998" cy="292599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7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浙江湖州期末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0_f4759"/>
              </a:rPr>
              <a:t>交警使用的某型号酒精测试仪工作原理如图所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示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图中电源电动势为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内阻为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已知传感器电阻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8_cbdfc"/>
              </a:rPr>
              <a:t>的阻值随酒精气体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浓度的增大而减小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电路中的电压表为理想电表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0_4a3c0"/>
              </a:rPr>
              <a:t>测试仪可根据电压表读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数变化判断驾驶员饮酒情况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当一位饮酒后的人员对着测试仪吹气时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a9bcf"/>
              </a:rPr>
              <a:t>下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列说法正确的是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2155" name="yt_table_12155_skip" title="H_235.2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66" y="3444781"/>
          <a:ext cx="8761799" cy="2987040"/>
        </p:xfrm>
        <a:graphic>
          <a:graphicData uri="http://schemas.openxmlformats.org/drawingml/2006/table">
            <a:tbl>
              <a:tblPr/>
              <a:tblGrid>
                <a:gridCol w="8761799">
                  <a:extLst>
                    <a:ext uri="{9D8B030D-6E8A-4147-A177-3AD203B41FA5}">
                      <a16:colId xmlns:a16="http://schemas.microsoft.com/office/drawing/2014/main" val="102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酒精气体浓度越大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电压表读数越大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酒精气体浓度越大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电压表指针偏转角越小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酒精气体浓度越大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电源输出功率越大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随酒精气体浓度增大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13_bb0bb"/>
                        </a:rPr>
                        <a:t>电压表示数变化量与电路中电</a:t>
                      </a:r>
                      <a:b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流变化量的比值变大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00"/>
                  </a:ext>
                </a:extLst>
              </a:tr>
            </a:tbl>
          </a:graphicData>
        </a:graphic>
      </p:graphicFrame>
      <p:pic>
        <p:nvPicPr>
          <p:cNvPr id="12154" name="yt_image_12154_skip" title="H_174.5">
            <a:extLst>
              <a:ext uri="">
                <a16:creationId xmlns=""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83908" y="3444781"/>
            <a:ext cx="2782120" cy="1994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3E09BB5-4CF1-49BD-93CC-7B2292F4DD2B}"/>
              </a:ext>
            </a:extLst>
          </p:cNvPr>
          <p:cNvSpPr/>
          <p:nvPr/>
        </p:nvSpPr>
        <p:spPr>
          <a:xfrm>
            <a:off x="132631" y="4153471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ba90a3b3-4ee4-4b89-887d-fe3ae8e152f9" descr="{&quot;SlideID&quot;:&quot;328&quot;,&quot;SlideNumber&quot;:&quot;38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ffc2089e-fd15-456b-b919-fca374987608" descr="{&quot;SlideID&quot;:&quot;330&quot;,&quot;SlideNumber&quot;:&quot;40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9b3ff5f4-6a5c-45e7-b190-d560cc5b0343" descr="{&quot;SlideID&quot;:&quot;332&quot;,&quot;SlideNumber&quot;:&quot;4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372afd35-4a2c-4134-96f9-09a9085893a5" descr="{&quot;SlideID&quot;:&quot;334&quot;,&quot;SlideNumber&quot;:&quot;4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c5a7def1-0633-4a60-96e9-b18f1bc6bdf2" descr="{&quot;SlideID&quot;:&quot;336&quot;,&quot;SlideNumber&quot;:&quot;4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92a81496-38be-47bc-ae2f-bf05b447e350" descr="{&quot;SlideID&quot;:&quot;338&quot;,&quot;SlideNumber&quot;:&quot;4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4040f071-c20d-4288-b887-88ebfb0829a0" descr="{&quot;SlideID&quot;:&quot;340&quot;,&quot;SlideNumber&quot;:&quot;5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84f552c-ee36-4dda-9387-db72d26f2c01" descr="{&quot;SlideID&quot;:&quot;342&quot;,&quot;SlideNumber&quot;:&quot;52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5595300b-0803-42bd-b725-fbb30f86cfcf" descr="{&quot;SlideID&quot;:&quot;344&quot;,&quot;SlideNumber&quot;:&quot;54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c33edd9d-0702-4549-b607-0cdf952db3f2" descr="{&quot;SlideID&quot;:&quot;347&quot;,&quot;SlideNumber&quot;:&quot;57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de8e2052-fbcd-4ecc-872f-a269fa3c3b05" descr="{&quot;SlideID&quot;:&quot;349&quot;,&quot;SlideNumber&quot;:&quot;59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64184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157" name="yt_shape_12157"/>
              <p:cNvSpPr txBox="1"/>
              <p:nvPr/>
            </p:nvSpPr>
            <p:spPr>
              <a:xfrm>
                <a:off x="324071" y="467999"/>
                <a:ext cx="11924914" cy="3812326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　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根据题意可知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酒精气体浓度越大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阻值越小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5_6175d"/>
                  </a:rPr>
                  <a:t>电路总电阻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减小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由闭合电路欧姆定律可得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总电流增大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a4a79"/>
                  </a:rPr>
                  <a:t>可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知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电压表读数减小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即电压表指针偏转角越小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由上式可知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4_70d56"/>
                  </a:rPr>
                  <a:t>电压表示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数变化量与电路中电流变化量的比值为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𝚫</m:t>
                        </m:r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𝑼</m:t>
                        </m:r>
                      </m:num>
                      <m:den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𝚫</m:t>
                        </m:r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𝑰</m:t>
                        </m:r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0_df63b"/>
                  </a:rPr>
                  <a:t>则电压表示数变化量与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电路中电流变化量的比值不变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8_521f7"/>
                  </a:rPr>
                  <a:t>由于外电路总电阻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与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的关系未知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则无法判断电源的输出功率变化情况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错误。</a:t>
                </a:r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2157" name="yt_shape_121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3812326"/>
              </a:xfrm>
              <a:prstGeom prst="rect">
                <a:avLst/>
              </a:prstGeom>
              <a:blipFill>
                <a:blip r:embed="rId2"/>
                <a:stretch>
                  <a:fillRect l="-1789" t="-640" b="-48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41196ff7-ac3e-4107-9124-1e9ced4f81c9" descr="{&quot;SlideID&quot;:&quot;328&quot;,&quot;SlideNumber&quot;:&quot;38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78132058-2984-49a9-952b-f79739a6c17b" descr="{&quot;SlideID&quot;:&quot;330&quot;,&quot;SlideNumber&quot;:&quot;40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28118836-b9d3-4872-8c83-82956be90ef1" descr="{&quot;SlideID&quot;:&quot;332&quot;,&quot;SlideNumber&quot;:&quot;4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ff053866-509b-4b39-8dad-387051354e95" descr="{&quot;SlideID&quot;:&quot;334&quot;,&quot;SlideNumber&quot;:&quot;4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cbee7e43-41c0-4906-bc59-c5102f84be69" descr="{&quot;SlideID&quot;:&quot;336&quot;,&quot;SlideNumber&quot;:&quot;4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17392733-3638-46d4-9a85-a9d1a03af1d8" descr="{&quot;SlideID&quot;:&quot;338&quot;,&quot;SlideNumber&quot;:&quot;4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dd09a9d8-1fb9-4690-8d9f-3fb476bdaa3e" descr="{&quot;SlideID&quot;:&quot;340&quot;,&quot;SlideNumber&quot;:&quot;5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c95a8989-bda5-4632-ba38-36ffad9e64bc" descr="{&quot;SlideID&quot;:&quot;342&quot;,&quot;SlideNumber&quot;:&quot;52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2f1b1274-edfc-4d75-be1c-485a332e8d98" descr="{&quot;SlideID&quot;:&quot;344&quot;,&quot;SlideNumber&quot;:&quot;54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e4d4d31b-fadf-4e21-84fd-6acb690cf48c" descr="{&quot;SlideID&quot;:&quot;347&quot;,&quot;SlideNumber&quot;:&quot;57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ee7a5799-ca60-4085-8991-36220c39f545" descr="{&quot;SlideID&quot;:&quot;349&quot;,&quot;SlideNumber&quot;:&quot;59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3885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57" grpId="0" build="allAtOnce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1" name="yt_shape_12161"/>
          <p:cNvSpPr txBox="1"/>
          <p:nvPr/>
        </p:nvSpPr>
        <p:spPr>
          <a:xfrm>
            <a:off x="324071" y="1378542"/>
            <a:ext cx="11924914" cy="17195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8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河北唐山期末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曲线</a:t>
            </a:r>
            <a:r>
              <a:rPr lang="en-US" altLang="zh-CN" sz="2800" b="1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en-US" altLang="zh-CN" sz="2800" b="1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1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en-US" altLang="zh-CN" sz="2800" b="1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6_9db77"/>
              </a:rPr>
              <a:t>分别是纯电阻</a:t>
            </a:r>
            <a:b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直流电路中内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外电路消耗的电功率随电流变化的图线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7_479fc"/>
              </a:rPr>
              <a:t>下列说法中正确</a:t>
            </a:r>
            <a:b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的是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2163" name="yt_table_12163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71" y="3213022"/>
          <a:ext cx="8702612" cy="2389632"/>
        </p:xfrm>
        <a:graphic>
          <a:graphicData uri="http://schemas.openxmlformats.org/drawingml/2006/table">
            <a:tbl>
              <a:tblPr/>
              <a:tblGrid>
                <a:gridCol w="8702612">
                  <a:extLst>
                    <a:ext uri="{9D8B030D-6E8A-4147-A177-3AD203B41FA5}">
                      <a16:colId xmlns:a16="http://schemas.microsoft.com/office/drawing/2014/main" val="10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电源输出功率最大值为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8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W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电源的电动势</a:t>
                      </a:r>
                      <a:r>
                        <a:rPr lang="en-US" altLang="zh-CN" sz="2800" b="1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E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为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电源的内电阻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为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电源被短路时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电源内电路消耗的功率可达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16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W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04"/>
                  </a:ext>
                </a:extLst>
              </a:tr>
            </a:tbl>
          </a:graphicData>
        </a:graphic>
      </p:graphicFrame>
      <p:pic>
        <p:nvPicPr>
          <p:cNvPr id="12162" name="yt_image_12162_skip" title="H_153.5">
            <a:extLst>
              <a:ext uri="">
                <a16:creationId xmlns=""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22947" y="2799999"/>
            <a:ext cx="3183017" cy="2307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3E09BB5-4CF1-49BD-93CC-7B2292F4DD2B}"/>
              </a:ext>
            </a:extLst>
          </p:cNvPr>
          <p:cNvSpPr/>
          <p:nvPr/>
        </p:nvSpPr>
        <p:spPr>
          <a:xfrm>
            <a:off x="132557" y="5201937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3E09BB5-4CF1-49BD-93CC-7B2292F4DD2B}"/>
              </a:ext>
            </a:extLst>
          </p:cNvPr>
          <p:cNvSpPr/>
          <p:nvPr/>
        </p:nvSpPr>
        <p:spPr>
          <a:xfrm>
            <a:off x="134771" y="4461172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3E09BB5-4CF1-49BD-93CC-7B2292F4DD2B}"/>
              </a:ext>
            </a:extLst>
          </p:cNvPr>
          <p:cNvSpPr/>
          <p:nvPr/>
        </p:nvSpPr>
        <p:spPr>
          <a:xfrm>
            <a:off x="136985" y="3953787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9" name="yt_image_10672" title="H_47.87496">
            <a:extLst>
              <a:ext uri="">
                <a16:creationId xmlns=""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rgbClr val="4BACC6">
                <a:shade val="45000"/>
                <a:satMod val="135000"/>
              </a:srgbClr>
              <a:prstClr val="white"/>
            </a:duotone>
          </a:blip>
          <a:srcRect/>
          <a:stretch>
            <a:fillRect/>
          </a:stretch>
        </p:blipFill>
        <p:spPr bwMode="auto">
          <a:xfrm>
            <a:off x="4576956" y="589785"/>
            <a:ext cx="2308195" cy="608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组合 17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3f9812be-6ac0-4cdf-8209-623ce7d66380" descr="{&quot;SlideID&quot;:&quot;328&quot;,&quot;SlideNumber&quot;:&quot;38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6639b0bf-58a0-47b8-af04-77d3a1921e93" descr="{&quot;SlideID&quot;:&quot;330&quot;,&quot;SlideNumber&quot;:&quot;40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e23fe488-bc17-4b3a-beb6-68c52516d8c8" descr="{&quot;SlideID&quot;:&quot;332&quot;,&quot;SlideNumber&quot;:&quot;42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f5a91c25-38a0-4013-895f-cc1c91b691f1" descr="{&quot;SlideID&quot;:&quot;334&quot;,&quot;SlideNumber&quot;:&quot;44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5e13b516-451c-494a-9cb0-34be59387e5d" descr="{&quot;SlideID&quot;:&quot;336&quot;,&quot;SlideNumber&quot;:&quot;46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3e576dbc-3478-4333-ae94-cfc19989fc77" descr="{&quot;SlideID&quot;:&quot;338&quot;,&quot;SlideNumber&quot;:&quot;48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2bc9a670-6c05-4274-85fd-03bfa530e503" descr="{&quot;SlideID&quot;:&quot;340&quot;,&quot;SlideNumber&quot;:&quot;50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41d8dad3-6183-447b-9fe3-8c1b182f356d" descr="{&quot;SlideID&quot;:&quot;342&quot;,&quot;SlideNumber&quot;:&quot;52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3b9b46f2-e83e-4b4f-994d-b22d01c062b0" descr="{&quot;SlideID&quot;:&quot;344&quot;,&quot;SlideNumber&quot;:&quot;54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97054d25-86f7-4a34-9b4a-548460a6333f" descr="{&quot;SlideID&quot;:&quot;347&quot;,&quot;SlideNumber&quot;:&quot;57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1902fc20-fbd8-4f29-af62-28012cbe2c4f" descr="{&quot;SlideID&quot;:&quot;349&quot;,&quot;SlideNumber&quot;:&quot;59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88494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165" name="yt_shape_12165"/>
              <p:cNvSpPr txBox="1"/>
              <p:nvPr/>
            </p:nvSpPr>
            <p:spPr>
              <a:xfrm>
                <a:off x="324071" y="467999"/>
                <a:ext cx="11924914" cy="363381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　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当内电阻等于外电阻时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电源的输出功率最大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最大值为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f1932"/>
                  </a:rPr>
                  <a:t> 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W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选项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UI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可得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外电压为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4_2057c"/>
                  </a:rPr>
                  <a:t>内电压也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为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电源的电动势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为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选项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电源的内阻为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𝑼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zh-CN" sz="2800" b="1" i="0" baseline="-200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宋体" panose="02040503050406030204" pitchFamily="56" charset="0"/>
                              </a:rPr>
                              <m:t>内</m:t>
                            </m:r>
                          </m:sub>
                        </m:sSub>
                      </m:num>
                      <m:den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𝑰</m:t>
                        </m:r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8782e"/>
                  </a:rPr>
                  <a:t>，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选项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电源被短路时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电源内电路消耗的功率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𝑬</m:t>
                            </m:r>
                          </m:e>
                          <m:sup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𝒓</m:t>
                        </m:r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16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W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选项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38243"/>
                  </a:rPr>
                  <a:t>D</a:t>
                </a:r>
                <a:b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正确。</a:t>
                </a:r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2165" name="yt_shape_121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3633815"/>
              </a:xfrm>
              <a:prstGeom prst="rect">
                <a:avLst/>
              </a:prstGeom>
              <a:blipFill>
                <a:blip r:embed="rId2"/>
                <a:stretch>
                  <a:fillRect l="-1789" t="-671" b="-43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246b4fc5-05f2-4373-ba02-3fc440ee72a9" descr="{&quot;SlideID&quot;:&quot;328&quot;,&quot;SlideNumber&quot;:&quot;38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9144f37c-151c-4ecb-b6f5-29991c6e1642" descr="{&quot;SlideID&quot;:&quot;330&quot;,&quot;SlideNumber&quot;:&quot;40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a6a5245e-1af6-4116-a3e1-6e97b2369080" descr="{&quot;SlideID&quot;:&quot;332&quot;,&quot;SlideNumber&quot;:&quot;4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efdd58a3-df31-4d21-9738-87da0d1a767d" descr="{&quot;SlideID&quot;:&quot;334&quot;,&quot;SlideNumber&quot;:&quot;4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4196ae7f-f694-4f15-8912-3e0ef5f65a25" descr="{&quot;SlideID&quot;:&quot;336&quot;,&quot;SlideNumber&quot;:&quot;4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d4ea9ccf-6539-41fa-8027-4288a284077e" descr="{&quot;SlideID&quot;:&quot;338&quot;,&quot;SlideNumber&quot;:&quot;4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b4c03327-2bf7-4a99-bf74-4dc231b6d9dd" descr="{&quot;SlideID&quot;:&quot;340&quot;,&quot;SlideNumber&quot;:&quot;5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533ff95f-406f-4833-8abf-ce516ee1e38b" descr="{&quot;SlideID&quot;:&quot;342&quot;,&quot;SlideNumber&quot;:&quot;52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de210da1-f4cc-4ffb-a814-8f214d1d2847" descr="{&quot;SlideID&quot;:&quot;344&quot;,&quot;SlideNumber&quot;:&quot;54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03dbc57a-496f-44c0-9e90-9dcc6dba8e8a" descr="{&quot;SlideID&quot;:&quot;347&quot;,&quot;SlideNumber&quot;:&quot;57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fa4860d3-b9b1-4b81-b675-95b1f62bf9c9" descr="{&quot;SlideID&quot;:&quot;349&quot;,&quot;SlideNumber&quot;:&quot;59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46642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65" grpId="0" build="allAtOnce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7" name="yt_shape_12167"/>
          <p:cNvSpPr txBox="1"/>
          <p:nvPr/>
        </p:nvSpPr>
        <p:spPr>
          <a:xfrm>
            <a:off x="324071" y="467999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9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浙江金华期末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某同学设计了如图所示的输液提示器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5a7bd"/>
              </a:rPr>
              <a:t>灯泡的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电阻可视为不变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已知弹簧始终在弹性限度内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滑动变阻器的滑片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a6b66"/>
              </a:rPr>
              <a:t>不会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超出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端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对于该装置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闭合开关后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下列说法正确的是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2169" name="yt_table_12169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454694" y="3313981"/>
          <a:ext cx="8266114" cy="2389632"/>
        </p:xfrm>
        <a:graphic>
          <a:graphicData uri="http://schemas.openxmlformats.org/drawingml/2006/table">
            <a:tbl>
              <a:tblPr/>
              <a:tblGrid>
                <a:gridCol w="8266114">
                  <a:extLst>
                    <a:ext uri="{9D8B030D-6E8A-4147-A177-3AD203B41FA5}">
                      <a16:colId xmlns:a16="http://schemas.microsoft.com/office/drawing/2014/main" val="10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当药液减少时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电源的效率减小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当药液减少时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电源的输出功率减小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当向药液袋内注射液体时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灯泡变亮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当向药液袋内注射液体时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电压表的示数减小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08"/>
                  </a:ext>
                </a:extLst>
              </a:tr>
            </a:tbl>
          </a:graphicData>
        </a:graphic>
      </p:graphicFrame>
      <p:pic>
        <p:nvPicPr>
          <p:cNvPr id="12168" name="yt_image_12168_skip" title="H_223.12495">
            <a:extLst>
              <a:ext uri="">
                <a16:creationId xmlns=""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47659" y="2376499"/>
            <a:ext cx="4395069" cy="2691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3E09BB5-4CF1-49BD-93CC-7B2292F4DD2B}"/>
              </a:ext>
            </a:extLst>
          </p:cNvPr>
          <p:cNvSpPr/>
          <p:nvPr/>
        </p:nvSpPr>
        <p:spPr>
          <a:xfrm>
            <a:off x="324071" y="3538100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8645aea6-67aa-48f5-a5c7-405877cdf2cb" descr="{&quot;SlideID&quot;:&quot;328&quot;,&quot;SlideNumber&quot;:&quot;38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cf55c08a-f74d-4d0e-a7e8-cc16dc196916" descr="{&quot;SlideID&quot;:&quot;330&quot;,&quot;SlideNumber&quot;:&quot;40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4ab7738f-4901-418c-9a92-e37238a9771f" descr="{&quot;SlideID&quot;:&quot;332&quot;,&quot;SlideNumber&quot;:&quot;4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ab607e13-60f0-4f3d-9b8b-3018b1068414" descr="{&quot;SlideID&quot;:&quot;334&quot;,&quot;SlideNumber&quot;:&quot;4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bf48e33a-06c6-4ca0-a0da-db2c9df1d9d4" descr="{&quot;SlideID&quot;:&quot;336&quot;,&quot;SlideNumber&quot;:&quot;4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dfe8cdd4-8940-4444-b692-384ddc621442" descr="{&quot;SlideID&quot;:&quot;338&quot;,&quot;SlideNumber&quot;:&quot;4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3fc7cb07-5bed-4dd5-a822-fa4b5564a6d3" descr="{&quot;SlideID&quot;:&quot;340&quot;,&quot;SlideNumber&quot;:&quot;5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6c7146b3-3ebb-4d2a-8a07-e10437f99584" descr="{&quot;SlideID&quot;:&quot;342&quot;,&quot;SlideNumber&quot;:&quot;52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e76b69f8-1e6f-432e-8d9c-e4ab7ca8d8ac" descr="{&quot;SlideID&quot;:&quot;344&quot;,&quot;SlideNumber&quot;:&quot;54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0fca0e14-f9ac-4790-ae63-7ed4f2cc928b" descr="{&quot;SlideID&quot;:&quot;347&quot;,&quot;SlideNumber&quot;:&quot;57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7d355f95-a1e8-4f71-bc41-43c55b5a29d7" descr="{&quot;SlideID&quot;:&quot;349&quot;,&quot;SlideNumber&quot;:&quot;59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73220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171" name="yt_shape_12171"/>
              <p:cNvSpPr txBox="1"/>
              <p:nvPr/>
            </p:nvSpPr>
            <p:spPr>
              <a:xfrm>
                <a:off x="324071" y="467999"/>
                <a:ext cx="11924914" cy="5431092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 spc="150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1" i="0" u="none" spc="150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　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当向药液袋内注射液体时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滑动变阻器的滑片向下滑动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323ab"/>
                  </a:rPr>
                  <a:t>，</a:t>
                </a:r>
                <a:b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滑动变阻器接入电路的阻值变大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电路总电阻变大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7_fd6db"/>
                  </a:rPr>
                  <a:t>根据闭合电路欧</a:t>
                </a:r>
                <a:b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姆定律可知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电路总电流减小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路端电压增大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9_54cc0"/>
                  </a:rPr>
                  <a:t>则通过灯泡的电流减</a:t>
                </a:r>
                <a:b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小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灯泡变暗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由于灯泡两端电压减小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1_a525b"/>
                  </a:rPr>
                  <a:t>则滑动变阻器两端电压增</a:t>
                </a:r>
                <a:b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大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即电压表示数增大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电源的效率为</a:t>
                </a:r>
                <a:r>
                  <a:rPr lang="en-US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η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4c097"/>
                  </a:rPr>
                  <a:t>＝</a:t>
                </a:r>
                <a:b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pc="15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b="1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1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𝑰</m:t>
                            </m:r>
                          </m:e>
                          <m:sup>
                            <m:r>
                              <a:rPr lang="en-US" altLang="zh-CN" sz="2800" b="1" i="0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𝟐</m:t>
                            </m:r>
                          </m:sup>
                        </m:sSup>
                        <m:sSub>
                          <m:sSubPr>
                            <m:ctrlPr>
                              <a:rPr lang="en-US" altLang="zh-CN" sz="2800" b="1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zh-CN" sz="2800" b="1" i="0" spc="150" baseline="-200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宋体" panose="02040503050406030204" pitchFamily="56" charset="0"/>
                              </a:rPr>
                              <m:t>外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zh-CN" sz="2800" b="1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1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𝑰</m:t>
                            </m:r>
                          </m:e>
                          <m:sup>
                            <m:r>
                              <a:rPr lang="en-US" altLang="zh-CN" sz="2800" b="1" i="0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𝟐</m:t>
                            </m:r>
                          </m:sup>
                        </m:sSup>
                        <m:r>
                          <a:rPr lang="zh-CN" altLang="zh-CN" sz="2800" b="1" i="1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（</m:t>
                        </m:r>
                        <m:sSub>
                          <m:sSubPr>
                            <m:ctrlPr>
                              <a:rPr lang="en-US" altLang="zh-CN" sz="2800" b="1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zh-CN" sz="2800" b="1" i="0" spc="150" baseline="-200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宋体" panose="02040503050406030204" pitchFamily="56" charset="0"/>
                              </a:rPr>
                              <m:t>外</m:t>
                            </m:r>
                          </m:sub>
                        </m:sSub>
                        <m:r>
                          <a:rPr lang="zh-CN" altLang="zh-CN" sz="2800" b="1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r>
                          <a:rPr lang="en-US" altLang="zh-CN" sz="2800" b="1" i="1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𝒓</m:t>
                        </m:r>
                        <m:r>
                          <a:rPr lang="zh-CN" altLang="zh-CN" sz="2800" b="1" i="1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）</m:t>
                        </m:r>
                      </m:den>
                    </m:f>
                  </m:oMath>
                </a14:m>
                <a:r>
                  <a:rPr lang="en-US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100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％＝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pc="15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1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zh-CN" sz="2800" b="1" i="0" spc="150" baseline="-200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宋体" panose="02040503050406030204" pitchFamily="56" charset="0"/>
                              </a:rPr>
                              <m:t>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b="1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zh-CN" sz="2800" b="1" i="0" spc="150" baseline="-200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宋体" panose="02040503050406030204" pitchFamily="56" charset="0"/>
                              </a:rPr>
                              <m:t>外</m:t>
                            </m:r>
                          </m:sub>
                        </m:sSub>
                        <m:r>
                          <a:rPr lang="zh-CN" altLang="zh-CN" sz="2800" b="1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r>
                          <a:rPr lang="en-US" altLang="zh-CN" sz="2800" b="1" i="1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𝒓</m:t>
                        </m:r>
                      </m:den>
                    </m:f>
                  </m:oMath>
                </a14:m>
                <a:r>
                  <a:rPr lang="en-US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100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％＝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pc="15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2800" b="1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𝟏</m:t>
                        </m:r>
                        <m:r>
                          <a:rPr lang="en-US" altLang="zh-CN" sz="2800" b="1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800" b="1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en-US" altLang="zh-CN" sz="2800" b="1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𝒓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800" b="1" i="1" spc="15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spc="15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zh-CN" altLang="zh-CN" sz="2800" b="1" i="0" spc="150" baseline="-200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宋体" panose="02040503050406030204" pitchFamily="56" charset="0"/>
                                  </a:rPr>
                                  <m:t>外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r>
                  <a:rPr lang="en-US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100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％，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5_8fd96"/>
                  </a:rPr>
                  <a:t>当药液减少</a:t>
                </a:r>
                <a:b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滑动变阻器的滑片向上滑动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滑动变阻器接入电路的阻值减小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98dc0"/>
                  </a:rPr>
                  <a:t>R</a:t>
                </a:r>
                <a:br>
                  <a:rPr lang="en-US" altLang="zh-CN" sz="2800" b="1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1" i="0" u="none" spc="150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外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减小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则电源的效率减小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endParaRPr lang="zh-CN" altLang="zh-CN" sz="2800" b="1" i="0" u="none" spc="150" dirty="0">
                  <a:solidFill>
                    <a:srgbClr val="C00000"/>
                  </a:solidFill>
                  <a:effectLst/>
                  <a:latin typeface="Times New Roman" pitchFamily="28"/>
                  <a:ea typeface="仿宋" pitchFamily="28"/>
                </a:endParaRPr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2171" name="yt_shape_121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5431092"/>
              </a:xfrm>
              <a:prstGeom prst="rect">
                <a:avLst/>
              </a:prstGeom>
              <a:blipFill>
                <a:blip r:embed="rId2"/>
                <a:stretch>
                  <a:fillRect l="-1789" t="-449" b="-26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63cc4c4a-d930-4312-8239-a0089b1eae28" descr="{&quot;SlideID&quot;:&quot;328&quot;,&quot;SlideNumber&quot;:&quot;38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ac9a999b-b288-4ad9-ac4f-7a77334172e7" descr="{&quot;SlideID&quot;:&quot;330&quot;,&quot;SlideNumber&quot;:&quot;40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1636b8c7-f7bb-4e88-998b-623f038c1eb3" descr="{&quot;SlideID&quot;:&quot;332&quot;,&quot;SlideNumber&quot;:&quot;4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02ba5e25-59ec-4c14-ae11-0bdfb8573238" descr="{&quot;SlideID&quot;:&quot;334&quot;,&quot;SlideNumber&quot;:&quot;4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22f157cd-5c13-4d85-b66e-a72f9abeded9" descr="{&quot;SlideID&quot;:&quot;336&quot;,&quot;SlideNumber&quot;:&quot;4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99e7d88f-d301-466d-addf-1ff2b6505716" descr="{&quot;SlideID&quot;:&quot;338&quot;,&quot;SlideNumber&quot;:&quot;4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325b2e95-be2b-4b58-b3c3-43601f31b1c1" descr="{&quot;SlideID&quot;:&quot;340&quot;,&quot;SlideNumber&quot;:&quot;5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d2a0d1b0-1832-40df-b48a-2173e41a2207" descr="{&quot;SlideID&quot;:&quot;342&quot;,&quot;SlideNumber&quot;:&quot;52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012feefa-6e52-4c40-8978-459f08cf7bb0" descr="{&quot;SlideID&quot;:&quot;344&quot;,&quot;SlideNumber&quot;:&quot;54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84fccc4a-976d-4dd0-ae59-55d4264e7025" descr="{&quot;SlideID&quot;:&quot;347&quot;,&quot;SlideNumber&quot;:&quot;57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3d8be47e-3f7c-49f9-bf5a-4486dc454d69" descr="{&quot;SlideID&quot;:&quot;349&quot;,&quot;SlideNumber&quot;:&quot;59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0590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71" grpId="0" build="allAtOnce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yt_shape_2">
                <a:extLst>
                  <a:ext uri="{FF2B5EF4-FFF2-40B4-BE49-F238E27FC236}">
                    <a16:creationId xmlns:a16="http://schemas.microsoft.com/office/drawing/2014/main" id="{153AC87D-D74C-D5EC-5F02-09D1F7CAF4B4}"/>
                  </a:ext>
                </a:extLst>
              </p:cNvPr>
              <p:cNvSpPr txBox="1"/>
              <p:nvPr/>
            </p:nvSpPr>
            <p:spPr>
              <a:xfrm>
                <a:off x="324071" y="467999"/>
                <a:ext cx="11927459" cy="3454151"/>
              </a:xfrm>
              <a:prstGeom prst="rect">
                <a:avLst/>
              </a:prstGeom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0" tIns="0" rIns="0" bIns="0" rtlCol="0">
                <a:noAutofit/>
              </a:bodyPr>
              <a:lstStyle/>
              <a:p>
                <a:pPr>
                  <a:lnSpc>
                    <a:spcPct val="140000"/>
                  </a:lnSpc>
                </a:pPr>
                <a:r>
                  <a:rPr lang="zh-CN" altLang="zh-CN" sz="2800" b="1" spc="15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电源的输出功率为</a:t>
                </a:r>
                <a:r>
                  <a:rPr lang="en-US" altLang="zh-CN" sz="2800" b="1" i="1" spc="15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1" spc="150" baseline="-250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出</a:t>
                </a:r>
                <a:r>
                  <a:rPr lang="zh-CN" altLang="zh-CN" sz="2800" b="1" spc="15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1" i="1" spc="15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800" b="1" i="1" spc="15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800" b="1" i="1" spc="15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b="1" i="1" spc="15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𝑬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sz="2800" b="1" i="1" spc="15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56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pc="15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56" charset="0"/>
                                        <a:ea typeface="Cambria Math" panose="02040503050406030204" pitchFamily="56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zh-CN" altLang="zh-CN" sz="2800" b="1" spc="150" baseline="-200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56" charset="0"/>
                                        <a:ea typeface="宋体" panose="02040503050406030204" pitchFamily="56" charset="0"/>
                                      </a:rPr>
                                      <m:t>外</m:t>
                                    </m:r>
                                  </m:sub>
                                </m:sSub>
                                <m:r>
                                  <a:rPr lang="zh-CN" altLang="zh-CN" sz="2800" b="1" spc="15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＋</m:t>
                                </m:r>
                                <m:r>
                                  <a:rPr lang="en-US" altLang="zh-CN" sz="2800" b="1" i="1" spc="15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𝒓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2800" b="1" spc="15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800" b="1" i="1" spc="15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1" spc="150" baseline="-250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外</a:t>
                </a:r>
                <a:r>
                  <a:rPr lang="zh-CN" altLang="zh-CN" sz="2800" b="1" spc="15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pc="15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b="1" i="1" spc="15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1" i="1" spc="150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𝑬</m:t>
                            </m:r>
                          </m:e>
                          <m:sup>
                            <m:r>
                              <a:rPr lang="en-US" altLang="zh-CN" sz="2800" b="1" spc="150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f>
                          <m:fPr>
                            <m:ctrlPr>
                              <a:rPr lang="en-US" altLang="zh-CN" sz="2800" b="1" i="1" spc="15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800" b="1" i="1" spc="15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zh-CN" sz="2800" b="1" i="1" spc="15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（</m:t>
                                </m:r>
                                <m:sSub>
                                  <m:sSubPr>
                                    <m:ctrlPr>
                                      <a:rPr lang="en-US" altLang="zh-CN" sz="2800" b="1" i="1" spc="15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56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pc="15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56" charset="0"/>
                                        <a:ea typeface="Cambria Math" panose="02040503050406030204" pitchFamily="56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zh-CN" altLang="zh-CN" sz="2800" b="1" spc="150" baseline="-200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56" charset="0"/>
                                        <a:ea typeface="宋体" panose="02040503050406030204" pitchFamily="56" charset="0"/>
                                      </a:rPr>
                                      <m:t>外</m:t>
                                    </m:r>
                                  </m:sub>
                                </m:sSub>
                                <m:r>
                                  <a:rPr lang="en-US" altLang="zh-CN" sz="2800" b="1" i="1" spc="15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−</m:t>
                                </m:r>
                                <m:r>
                                  <a:rPr lang="en-US" altLang="zh-CN" sz="2800" b="1" i="1" spc="15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𝒓</m:t>
                                </m:r>
                                <m:r>
                                  <a:rPr lang="zh-CN" altLang="zh-CN" sz="2800" b="1" i="1" spc="15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）</m:t>
                                </m:r>
                              </m:e>
                              <m:sup>
                                <m:r>
                                  <a:rPr lang="en-US" altLang="zh-CN" sz="2800" b="1" spc="15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𝟐</m:t>
                                </m:r>
                              </m:sup>
                            </m:sSup>
                          </m:num>
                          <m:den>
                            <m:sSub>
                              <m:sSubPr>
                                <m:ctrlPr>
                                  <a:rPr lang="en-US" altLang="zh-CN" sz="2800" b="1" i="1" spc="15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spc="15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zh-CN" altLang="zh-CN" sz="2800" b="1" spc="150" baseline="-20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宋体" panose="02040503050406030204" pitchFamily="56" charset="0"/>
                                  </a:rPr>
                                  <m:t>外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800" b="1" spc="15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+</m:t>
                        </m:r>
                        <m:r>
                          <a:rPr lang="en-US" altLang="zh-CN" sz="2800" b="1" spc="15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𝟒</m:t>
                        </m:r>
                        <m:r>
                          <a:rPr lang="en-US" altLang="zh-CN" sz="2800" b="1" i="1" spc="15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𝒓</m:t>
                        </m:r>
                      </m:den>
                    </m:f>
                  </m:oMath>
                </a14:m>
                <a:r>
                  <a:rPr lang="zh-CN" altLang="zh-CN" sz="2800" b="1" spc="15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spc="15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当</a:t>
                </a:r>
                <a:r>
                  <a:rPr lang="en-US" altLang="zh-CN" sz="2800" b="1" i="1" spc="15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1" spc="150" baseline="-250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外</a:t>
                </a:r>
                <a:r>
                  <a:rPr lang="zh-CN" altLang="zh-CN" sz="2800" b="1" spc="15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1" spc="15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1" spc="15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1" spc="15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spc="150">
                    <a:solidFill>
                      <a:srgbClr val="C00000"/>
                    </a:solidFill>
                    <a:latin typeface="Times New Roman" pitchFamily="28"/>
                    <a:ea typeface="仿宋" pitchFamily="28"/>
                    <a:sym typeface="_⨹_1_7d050"/>
                  </a:rPr>
                  <a:t>输</a:t>
                </a:r>
                <a:br>
                  <a:rPr lang="zh-CN" altLang="zh-CN" sz="2800" b="1" spc="15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spc="15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出功率最大</a:t>
                </a:r>
                <a:r>
                  <a:rPr lang="zh-CN" altLang="zh-CN" sz="2800" b="1" spc="15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spc="15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但由于不知道外电路总电阻与电源内阻的关系</a:t>
                </a:r>
                <a:r>
                  <a:rPr lang="zh-CN" altLang="zh-CN" sz="2800" b="1" spc="15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spc="150">
                    <a:solidFill>
                      <a:srgbClr val="C00000"/>
                    </a:solidFill>
                    <a:latin typeface="Times New Roman" pitchFamily="28"/>
                    <a:ea typeface="仿宋" pitchFamily="28"/>
                    <a:sym typeface="_⨹_3_3c334"/>
                  </a:rPr>
                  <a:t>所以当</a:t>
                </a:r>
                <a:br>
                  <a:rPr lang="zh-CN" altLang="zh-CN" sz="2800" b="1" spc="15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spc="15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药液减少时</a:t>
                </a:r>
                <a:r>
                  <a:rPr lang="zh-CN" altLang="zh-CN" sz="2800" b="1" spc="15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spc="15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滑动变阻器接入电路的电阻减小</a:t>
                </a:r>
                <a:r>
                  <a:rPr lang="zh-CN" altLang="zh-CN" sz="2800" b="1" spc="15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spc="150">
                    <a:solidFill>
                      <a:srgbClr val="C00000"/>
                    </a:solidFill>
                    <a:latin typeface="Times New Roman" pitchFamily="28"/>
                    <a:ea typeface="仿宋" pitchFamily="28"/>
                    <a:sym typeface="_⨹_9_d9086"/>
                  </a:rPr>
                  <a:t>无法确定电源输出功</a:t>
                </a:r>
                <a:br>
                  <a:rPr lang="zh-CN" altLang="zh-CN" sz="2800" b="1" spc="15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spc="15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率的变化</a:t>
                </a:r>
                <a:r>
                  <a:rPr lang="zh-CN" altLang="zh-CN" sz="2800" b="1" spc="15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spc="15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 spc="15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1" spc="15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错误。</a:t>
                </a:r>
                <a:endParaRPr lang="zh-CN" altLang="en-US">
                  <a:solidFill>
                    <a:srgbClr val="C00000"/>
                  </a:solidFill>
                </a:endParaRPr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2" name="yt_shape_2">
                <a:extLst>
                  <a:ext uri="{FF2B5EF4-FFF2-40B4-BE49-F238E27FC236}">
                    <a16:creationId xmlns:a16="http://schemas.microsoft.com/office/drawing/2014/main" id="{153AC87D-D74C-D5EC-5F02-09D1F7CAF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7459" cy="3454151"/>
              </a:xfrm>
              <a:prstGeom prst="rect">
                <a:avLst/>
              </a:prstGeom>
              <a:blipFill>
                <a:blip r:embed="rId2"/>
                <a:stretch>
                  <a:fillRect l="-1788" b="-5300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bdee4e03-b91d-4bcb-a684-8e5487212196" descr="{&quot;SlideID&quot;:&quot;328&quot;,&quot;SlideNumber&quot;:&quot;38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498d9073-c157-4b71-be3f-0fae81dd048e" descr="{&quot;SlideID&quot;:&quot;330&quot;,&quot;SlideNumber&quot;:&quot;40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bb99ae18-6f7f-407e-88c4-c2a428b37cfb" descr="{&quot;SlideID&quot;:&quot;332&quot;,&quot;SlideNumber&quot;:&quot;4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42ff4a4c-8dcd-4dd2-9ae2-1a6821eb5102" descr="{&quot;SlideID&quot;:&quot;334&quot;,&quot;SlideNumber&quot;:&quot;4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9c45dbe5-aad8-4ed1-aa35-9f39f53055dd" descr="{&quot;SlideID&quot;:&quot;336&quot;,&quot;SlideNumber&quot;:&quot;4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f546ae3c-b89d-43b4-a67c-a5d0b485404f" descr="{&quot;SlideID&quot;:&quot;338&quot;,&quot;SlideNumber&quot;:&quot;4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5c194057-ca7b-4be8-bb9e-8a2b2b6669d2" descr="{&quot;SlideID&quot;:&quot;340&quot;,&quot;SlideNumber&quot;:&quot;5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8d3e498a-4f0a-488b-bd05-f6819320b482" descr="{&quot;SlideID&quot;:&quot;342&quot;,&quot;SlideNumber&quot;:&quot;52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3f0c294f-435a-4fd4-9504-b7a0e91de2d7" descr="{&quot;SlideID&quot;:&quot;344&quot;,&quot;SlideNumber&quot;:&quot;54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08fdf6c1-82e3-4fa6-8d12-479f9793ab95" descr="{&quot;SlideID&quot;:&quot;347&quot;,&quot;SlideNumber&quot;:&quot;57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0120f145-2fb6-4326-b6d6-7f524854441c" descr="{&quot;SlideID&quot;:&quot;349&quot;,&quot;SlideNumber&quot;:&quot;59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3296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3" name="yt_shape_12173"/>
          <p:cNvSpPr txBox="1"/>
          <p:nvPr/>
        </p:nvSpPr>
        <p:spPr>
          <a:xfrm>
            <a:off x="324071" y="467999"/>
            <a:ext cx="11924914" cy="17195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浙江衢州期末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如图所示一电子测力计的原理图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5_f7532"/>
              </a:rPr>
              <a:t>对测量台施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加力的作用时电压表和电流表示数会发生变化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1_d2cf8"/>
              </a:rPr>
              <a:t>两次分别施加大小不同的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力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当施加的力较小时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2175" name="yt_table_12175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715951" y="3305699"/>
          <a:ext cx="8980488" cy="2389632"/>
        </p:xfrm>
        <a:graphic>
          <a:graphicData uri="http://schemas.openxmlformats.org/drawingml/2006/table">
            <a:tbl>
              <a:tblPr/>
              <a:tblGrid>
                <a:gridCol w="8980488">
                  <a:extLst>
                    <a:ext uri="{9D8B030D-6E8A-4147-A177-3AD203B41FA5}">
                      <a16:colId xmlns:a16="http://schemas.microsoft.com/office/drawing/2014/main" val="103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电源的效率较高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1" i="0" u="none" baseline="-25000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消耗的功率较小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电压表示数与电流表示数的比值较小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电压表示数变化量与电流表示数变化量的比值较小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12"/>
                  </a:ext>
                </a:extLst>
              </a:tr>
            </a:tbl>
          </a:graphicData>
        </a:graphic>
      </p:graphicFrame>
      <p:pic>
        <p:nvPicPr>
          <p:cNvPr id="12174" name="yt_image_12174_skip" title="H_181.12495">
            <a:extLst>
              <a:ext uri="">
                <a16:creationId xmlns=""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29427" y="2187509"/>
            <a:ext cx="4093714" cy="2436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3E09BB5-4CF1-49BD-93CC-7B2292F4DD2B}"/>
              </a:ext>
            </a:extLst>
          </p:cNvPr>
          <p:cNvSpPr/>
          <p:nvPr/>
        </p:nvSpPr>
        <p:spPr>
          <a:xfrm>
            <a:off x="459202" y="4624436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5e4793a3-563a-44fa-aac2-37e29529a55d" descr="{&quot;SlideID&quot;:&quot;328&quot;,&quot;SlideNumber&quot;:&quot;38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e7a96c12-d2e6-4e71-84ee-ca4a44f32444" descr="{&quot;SlideID&quot;:&quot;330&quot;,&quot;SlideNumber&quot;:&quot;40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08d2d780-6e74-4671-b14b-e2c99016ea45" descr="{&quot;SlideID&quot;:&quot;332&quot;,&quot;SlideNumber&quot;:&quot;4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bd285dc8-5038-4cc0-97b2-ef075c5614af" descr="{&quot;SlideID&quot;:&quot;334&quot;,&quot;SlideNumber&quot;:&quot;4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baa8f727-c321-41a0-9845-c83fe4796ee9" descr="{&quot;SlideID&quot;:&quot;336&quot;,&quot;SlideNumber&quot;:&quot;4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f0a97a70-df95-4866-8752-51100ff5e29a" descr="{&quot;SlideID&quot;:&quot;338&quot;,&quot;SlideNumber&quot;:&quot;4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96d45a1-8ac9-45c5-8f41-8de7d47efab7" descr="{&quot;SlideID&quot;:&quot;340&quot;,&quot;SlideNumber&quot;:&quot;5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4a428b97-e51e-4a43-b683-87e2e52d67d0" descr="{&quot;SlideID&quot;:&quot;342&quot;,&quot;SlideNumber&quot;:&quot;52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f9986678-0b37-4d14-a903-63fbcaef08b3" descr="{&quot;SlideID&quot;:&quot;344&quot;,&quot;SlideNumber&quot;:&quot;54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43b88f15-333a-4f34-a61a-be176a0016f1" descr="{&quot;SlideID&quot;:&quot;347&quot;,&quot;SlideNumber&quot;:&quot;57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0365e96b-72b4-45f4-af47-43b934f3172f" descr="{&quot;SlideID&quot;:&quot;349&quot;,&quot;SlideNumber&quot;:&quot;59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98065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177" name="yt_shape_12177"/>
              <p:cNvSpPr txBox="1"/>
              <p:nvPr/>
            </p:nvSpPr>
            <p:spPr>
              <a:xfrm>
                <a:off x="324071" y="467999"/>
                <a:ext cx="11924914" cy="5183278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　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当施加的力较小时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弹簧压缩量较小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接入电路部分较小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fa41b"/>
                  </a:rPr>
                  <a:t>，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电源的效率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η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zh-CN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（</m:t>
                        </m:r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𝟏</m:t>
                            </m:r>
                          </m:sub>
                        </m:sSub>
                        <m:r>
                          <a:rPr lang="zh-CN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𝟐</m:t>
                            </m:r>
                          </m:sub>
                        </m:sSub>
                        <m:r>
                          <a:rPr lang="zh-CN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）</m:t>
                        </m:r>
                        <m:sSup>
                          <m:sSup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𝑰</m:t>
                            </m:r>
                          </m:e>
                          <m:sup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zh-CN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（</m:t>
                        </m:r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𝟏</m:t>
                            </m:r>
                          </m:sub>
                        </m:sSub>
                        <m:r>
                          <a:rPr lang="zh-CN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𝟐</m:t>
                            </m:r>
                          </m:sub>
                        </m:sSub>
                        <m:r>
                          <a:rPr lang="zh-CN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𝒓</m:t>
                        </m:r>
                        <m:r>
                          <a:rPr lang="zh-CN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）</m:t>
                        </m:r>
                        <m:sSup>
                          <m:sSup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𝑰</m:t>
                            </m:r>
                          </m:e>
                          <m:sup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100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％＝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𝟏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𝒓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800" b="1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altLang="zh-CN" sz="2800" b="1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zh-CN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＋</m:t>
                            </m:r>
                            <m:sSub>
                              <m:sSubPr>
                                <m:ctrlPr>
                                  <a:rPr lang="en-US" altLang="zh-CN" sz="2800" b="1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altLang="zh-CN" sz="2800" b="1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𝟐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100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％，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6_5e74c"/>
                  </a:rPr>
                  <a:t>故电源的效率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较低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较小时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根据闭合电路欧姆定律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𝑬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𝟏</m:t>
                            </m:r>
                          </m:sub>
                        </m:sSub>
                        <m:r>
                          <a:rPr lang="zh-CN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𝟐</m:t>
                            </m:r>
                          </m:sub>
                        </m:sSub>
                        <m:r>
                          <a:rPr lang="zh-CN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𝒓</m:t>
                        </m:r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知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_1dda6"/>
                  </a:rPr>
                  <a:t>电流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表示数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较大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消耗的功率较大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项分析知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4_81db0"/>
                  </a:rPr>
                  <a:t>电流表示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数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较大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电压表示数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较小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1_f52f7"/>
                  </a:rPr>
                  <a:t>故电压表示数与电流表示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数的比值较小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知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8_ea12e"/>
                  </a:rPr>
                  <a:t>电压表示数变化量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与电流表示数变化量的比值等于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是定值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错误。</a:t>
                </a:r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2177" name="yt_shape_121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5183278"/>
              </a:xfrm>
              <a:prstGeom prst="rect">
                <a:avLst/>
              </a:prstGeom>
              <a:blipFill>
                <a:blip r:embed="rId2"/>
                <a:stretch>
                  <a:fillRect l="-1789" t="-471" b="-32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1c5454b4-f548-490a-99be-3e88a9c76606" descr="{&quot;SlideID&quot;:&quot;328&quot;,&quot;SlideNumber&quot;:&quot;38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6979e419-fb7a-4838-9efe-ad982a00217b" descr="{&quot;SlideID&quot;:&quot;330&quot;,&quot;SlideNumber&quot;:&quot;40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c03eedce-9ebf-4962-be24-7e530dfc9f60" descr="{&quot;SlideID&quot;:&quot;332&quot;,&quot;SlideNumber&quot;:&quot;4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25c1b751-5d97-4450-b698-5d671a9486be" descr="{&quot;SlideID&quot;:&quot;334&quot;,&quot;SlideNumber&quot;:&quot;4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f22aa19e-cb44-4743-93fd-e4a5183732b8" descr="{&quot;SlideID&quot;:&quot;336&quot;,&quot;SlideNumber&quot;:&quot;4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807ddf5d-9897-40b7-80f7-12a28532a6ef" descr="{&quot;SlideID&quot;:&quot;338&quot;,&quot;SlideNumber&quot;:&quot;4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29fac5ea-c332-487e-889f-3ed799f9976a" descr="{&quot;SlideID&quot;:&quot;340&quot;,&quot;SlideNumber&quot;:&quot;5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177facc6-cd19-4c50-8226-8339de2ca4e8" descr="{&quot;SlideID&quot;:&quot;342&quot;,&quot;SlideNumber&quot;:&quot;52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c674a223-de61-4493-8ca5-50aebd799d3e" descr="{&quot;SlideID&quot;:&quot;344&quot;,&quot;SlideNumber&quot;:&quot;54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554ec6a5-3cd4-4543-b4ff-683566009bec" descr="{&quot;SlideID&quot;:&quot;347&quot;,&quot;SlideNumber&quot;:&quot;57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41c0316b-353c-4a1d-9d88-1af789a5981f" descr="{&quot;SlideID&quot;:&quot;349&quot;,&quot;SlideNumber&quot;:&quot;59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5164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77" grpId="0" build="allAtOnce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9" name="yt_shape_12179"/>
          <p:cNvSpPr txBox="1"/>
          <p:nvPr/>
        </p:nvSpPr>
        <p:spPr>
          <a:xfrm>
            <a:off x="324071" y="467999"/>
            <a:ext cx="11543998" cy="23227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11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福建福州月考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在如图甲所示的电路中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4_a85c4"/>
              </a:rPr>
              <a:t>闭合开关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在滑动变阻器的滑片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向上滑动的过程中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2_1d1e6"/>
              </a:rPr>
              <a:t>四个理想电表的示数都发生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变化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9_0787a"/>
              </a:rPr>
              <a:t>图乙中的三条图线分别表示了三个电压表示数随电流表示数变化的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情况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以下说法正确的有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2181" name="yt_table_12181_skip" title="H_235.2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150" y="4073535"/>
          <a:ext cx="11543919" cy="2048256"/>
        </p:xfrm>
        <a:graphic>
          <a:graphicData uri="http://schemas.openxmlformats.org/drawingml/2006/table">
            <a:tbl>
              <a:tblPr/>
              <a:tblGrid>
                <a:gridCol w="11543919">
                  <a:extLst>
                    <a:ext uri="{9D8B030D-6E8A-4147-A177-3AD203B41FA5}">
                      <a16:colId xmlns:a16="http://schemas.microsoft.com/office/drawing/2014/main" val="103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4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4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4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4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图线</a:t>
                      </a:r>
                      <a:r>
                        <a:rPr lang="en-US" altLang="zh-CN" sz="2400" b="1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4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表示的是电压表</a:t>
                      </a:r>
                      <a:r>
                        <a:rPr lang="en-US" altLang="zh-CN" sz="24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  <a:r>
                        <a:rPr lang="en-US" altLang="zh-CN" sz="2400" b="1" i="0" u="none" baseline="-25000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4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的示数随电流表</a:t>
                      </a:r>
                      <a:r>
                        <a:rPr lang="en-US" altLang="zh-CN" sz="24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4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示数变化的情况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4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4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4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4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图线</a:t>
                      </a:r>
                      <a:r>
                        <a:rPr lang="en-US" altLang="zh-CN" sz="2400" b="1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zh-CN" altLang="zh-CN" sz="24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表示的是电压表</a:t>
                      </a:r>
                      <a:r>
                        <a:rPr lang="en-US" altLang="zh-CN" sz="24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  <a:r>
                        <a:rPr lang="en-US" altLang="zh-CN" sz="2400" b="1" i="0" u="none" baseline="-25000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zh-CN" altLang="zh-CN" sz="24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的示数随电流表</a:t>
                      </a:r>
                      <a:r>
                        <a:rPr lang="en-US" altLang="zh-CN" sz="24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4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示数变化的情况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4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4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4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4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此过程中电压表</a:t>
                      </a:r>
                      <a:r>
                        <a:rPr lang="en-US" altLang="zh-CN" sz="24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  <a:r>
                        <a:rPr lang="en-US" altLang="zh-CN" sz="2400" b="1" i="0" u="none" baseline="-25000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zh-CN" altLang="zh-CN" sz="24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示数的减小量</a:t>
                      </a:r>
                      <a:r>
                        <a:rPr lang="en-US" altLang="zh-CN" sz="24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Δ</a:t>
                      </a:r>
                      <a:r>
                        <a:rPr lang="en-US" altLang="zh-CN" sz="2400" b="1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U</a:t>
                      </a:r>
                      <a:r>
                        <a:rPr lang="en-US" altLang="zh-CN" sz="2400" b="1" i="0" u="none" baseline="-25000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zh-CN" altLang="zh-CN" sz="24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大于电压表</a:t>
                      </a:r>
                      <a:r>
                        <a:rPr lang="en-US" altLang="zh-CN" sz="24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  <a:r>
                        <a:rPr lang="en-US" altLang="zh-CN" sz="2400" b="1" i="0" u="none" baseline="-25000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4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示数的增大量</a:t>
                      </a:r>
                      <a:r>
                        <a:rPr lang="en-US" altLang="zh-CN" sz="24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Δ</a:t>
                      </a:r>
                      <a:r>
                        <a:rPr lang="en-US" altLang="zh-CN" sz="2400" b="1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U</a:t>
                      </a:r>
                      <a:r>
                        <a:rPr lang="en-US" altLang="zh-CN" sz="2400" b="1" i="0" u="none" baseline="-25000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4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4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4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4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此过程中电压表</a:t>
                      </a:r>
                      <a:r>
                        <a:rPr lang="en-US" altLang="zh-CN" sz="24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  <a:r>
                        <a:rPr lang="en-US" altLang="zh-CN" sz="2400" b="1" i="0" u="none" baseline="-25000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zh-CN" altLang="zh-CN" sz="24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示数的变化量</a:t>
                      </a:r>
                      <a:r>
                        <a:rPr lang="en-US" altLang="zh-CN" sz="24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Δ</a:t>
                      </a:r>
                      <a:r>
                        <a:rPr lang="en-US" altLang="zh-CN" sz="2400" b="1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U</a:t>
                      </a:r>
                      <a:r>
                        <a:rPr lang="en-US" altLang="zh-CN" sz="2400" b="1" i="0" u="none" baseline="-25000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zh-CN" altLang="zh-CN" sz="24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和电流表</a:t>
                      </a:r>
                      <a:r>
                        <a:rPr lang="en-US" altLang="zh-CN" sz="24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4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示数的变化量</a:t>
                      </a:r>
                      <a:r>
                        <a:rPr lang="en-US" altLang="zh-CN" sz="24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Δ</a:t>
                      </a:r>
                      <a:r>
                        <a:rPr lang="en-US" altLang="zh-CN" sz="2400" b="1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I</a:t>
                      </a:r>
                      <a:r>
                        <a:rPr lang="zh-CN" altLang="zh-CN" sz="24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3_f80a5"/>
                        </a:rPr>
                        <a:t>的比值</a:t>
                      </a:r>
                      <a:r>
                        <a:rPr lang="zh-CN" altLang="zh-CN" sz="24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不变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16"/>
                  </a:ext>
                </a:extLst>
              </a:tr>
            </a:tbl>
          </a:graphicData>
        </a:graphic>
      </p:graphicFrame>
      <p:pic>
        <p:nvPicPr>
          <p:cNvPr id="12180" name="yt_image_12180_skip" title="H_185.37495">
            <a:extLst>
              <a:ext uri="">
                <a16:creationId xmlns=""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43535" y="2266437"/>
            <a:ext cx="4806752" cy="191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3E09BB5-4CF1-49BD-93CC-7B2292F4DD2B}"/>
              </a:ext>
            </a:extLst>
          </p:cNvPr>
          <p:cNvSpPr/>
          <p:nvPr/>
        </p:nvSpPr>
        <p:spPr>
          <a:xfrm>
            <a:off x="141338" y="5787446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E09BB5-4CF1-49BD-93CC-7B2292F4DD2B}"/>
              </a:ext>
            </a:extLst>
          </p:cNvPr>
          <p:cNvSpPr/>
          <p:nvPr/>
        </p:nvSpPr>
        <p:spPr>
          <a:xfrm>
            <a:off x="141339" y="5202166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5b811c60-1449-41d4-902a-f571ee2d533a" descr="{&quot;SlideID&quot;:&quot;328&quot;,&quot;SlideNumber&quot;:&quot;38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ae60e42b-6aee-4bab-9104-f4da7a500e45" descr="{&quot;SlideID&quot;:&quot;330&quot;,&quot;SlideNumber&quot;:&quot;40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8141d350-30e0-4402-9e65-aabaa2b987c9" descr="{&quot;SlideID&quot;:&quot;332&quot;,&quot;SlideNumber&quot;:&quot;4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c38c9a6b-5bba-480a-93d0-7ab702d00011" descr="{&quot;SlideID&quot;:&quot;334&quot;,&quot;SlideNumber&quot;:&quot;4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9e3a9d0f-49ec-4dff-9a67-6db7fdaf20e6" descr="{&quot;SlideID&quot;:&quot;336&quot;,&quot;SlideNumber&quot;:&quot;4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a7a8c71f-53a1-4b34-9d29-f089e3fc5132" descr="{&quot;SlideID&quot;:&quot;338&quot;,&quot;SlideNumber&quot;:&quot;4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d8586d18-1344-46fd-b9cf-87313651f031" descr="{&quot;SlideID&quot;:&quot;340&quot;,&quot;SlideNumber&quot;:&quot;5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65332851-ff5c-411c-91bd-c5449c0d60b6" descr="{&quot;SlideID&quot;:&quot;342&quot;,&quot;SlideNumber&quot;:&quot;52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3b119d9b-c88f-46d0-95e6-46b1842f31f4" descr="{&quot;SlideID&quot;:&quot;344&quot;,&quot;SlideNumber&quot;:&quot;54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7181c3b8-8655-411a-b036-fd88d22ca4a8" descr="{&quot;SlideID&quot;:&quot;347&quot;,&quot;SlideNumber&quot;:&quot;57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64536895-ecd1-4665-8970-34afd22663f9" descr="{&quot;SlideID&quot;:&quot;349&quot;,&quot;SlideNumber&quot;:&quot;59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68085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3" name="yt_shape_12183"/>
          <p:cNvSpPr txBox="1"/>
          <p:nvPr/>
        </p:nvSpPr>
        <p:spPr>
          <a:xfrm>
            <a:off x="324071" y="468103"/>
            <a:ext cx="11543998" cy="46040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20000"/>
              </a:lnSpc>
            </a:pPr>
            <a:r>
              <a:rPr lang="zh-CN" altLang="zh-CN" sz="2800" b="1" i="0" u="none" dirty="0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</a:t>
            </a:r>
            <a:r>
              <a:rPr lang="zh-CN" altLang="zh-CN" sz="2800" b="1" i="0" u="none" dirty="0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当滑动变阻器的滑片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向上滑动的过程中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8_f79dd"/>
              </a:rPr>
              <a:t>变阻器接入电路的</a:t>
            </a:r>
            <a:b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电阻变小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外电路总电阻变小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电流变大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可知路端电压变小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4_093b6"/>
              </a:rPr>
              <a:t>则电压表</a:t>
            </a:r>
            <a:b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示数变小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两端的电压变大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电压表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的示数变大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则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5_34978"/>
              </a:rPr>
              <a:t>两端电压变</a:t>
            </a:r>
            <a:b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小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直至为零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即电压表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20_efa2e"/>
              </a:rPr>
              <a:t>的示数变小且可以减小到电压为零。则知图线</a:t>
            </a:r>
            <a:b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表示的是电压表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的示数随电流表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示数变化的情况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图线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5_608ba"/>
              </a:rPr>
              <a:t>表示的是电</a:t>
            </a:r>
            <a:b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压表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的示数随电流表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示数变化的情况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、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7_baafb"/>
              </a:rPr>
              <a:t>由闭合电路欧姆</a:t>
            </a:r>
            <a:b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定律得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en-US" altLang="zh-CN" sz="2800" b="1" i="1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电流变大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则内电压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en-US" altLang="zh-CN" sz="2800" b="1" i="1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变大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8_ea100"/>
              </a:rPr>
              <a:t>可见此过程中电压</a:t>
            </a:r>
            <a:b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表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示数的减小量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应等于电压表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示数的增大量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7_a0164"/>
              </a:rPr>
              <a:t>和内电压增大量</a:t>
            </a:r>
            <a:b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en-US" altLang="zh-CN" sz="2800" b="1" i="0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1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en-US" altLang="zh-CN" sz="2800" b="1" i="1" u="none" baseline="-25000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之和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endParaRPr lang="zh-CN" altLang="zh-CN" sz="2800" b="1" i="0" u="none" dirty="0">
              <a:solidFill>
                <a:srgbClr val="C00000"/>
              </a:solidFill>
              <a:effectLst/>
              <a:latin typeface="Times New Roman" pitchFamily="28"/>
              <a:ea typeface="仿宋" pitchFamily="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yt_shape_2">
                <a:extLst>
                  <a:ext uri="{FF2B5EF4-FFF2-40B4-BE49-F238E27FC236}">
                    <a16:creationId xmlns:a16="http://schemas.microsoft.com/office/drawing/2014/main" id="{DD923A83-4DD7-B277-A97C-2C4AB9ECDE7E}"/>
                  </a:ext>
                </a:extLst>
              </p:cNvPr>
              <p:cNvSpPr txBox="1"/>
              <p:nvPr/>
            </p:nvSpPr>
            <p:spPr>
              <a:xfrm>
                <a:off x="324071" y="5122984"/>
                <a:ext cx="11927459" cy="1246560"/>
              </a:xfrm>
              <a:prstGeom prst="rect">
                <a:avLst/>
              </a:prstGeom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0" tIns="0" rIns="0" bIns="0" rtlCol="0"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zh-CN" sz="2800" b="1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由闭合电路欧姆定律得</a:t>
                </a:r>
                <a:r>
                  <a:rPr lang="en-US" altLang="zh-CN" sz="2800" b="1" i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U</a:t>
                </a:r>
                <a:r>
                  <a:rPr lang="en-US" altLang="zh-CN" sz="2800" b="1" baseline="-250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1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E</a:t>
                </a:r>
                <a:r>
                  <a:rPr lang="zh-CN" altLang="zh-CN" sz="2800" b="1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1" i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1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1" i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1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1" i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baseline="-250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），</a:t>
                </a:r>
                <a:r>
                  <a:rPr lang="zh-CN" altLang="zh-CN" sz="2800" b="1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则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en-US" altLang="zh-CN" sz="2800" b="1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𝚫</m:t>
                            </m:r>
                            <m:sSub>
                              <m:sSubPr>
                                <m:ctrlPr>
                                  <a:rPr lang="en-US" altLang="zh-CN" sz="28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𝑼</m:t>
                                </m:r>
                              </m:e>
                              <m:sub>
                                <m:r>
                                  <a:rPr lang="en-US" altLang="zh-CN" sz="2800" b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𝟑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800" b="1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𝚫</m:t>
                            </m:r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𝑰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zh-CN" sz="2800" b="1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1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1" i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baseline="-250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电压表</a:t>
                </a:r>
                <a:r>
                  <a:rPr lang="en-US" altLang="zh-CN" sz="2800" b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1" baseline="-250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1">
                    <a:solidFill>
                      <a:srgbClr val="C00000"/>
                    </a:solidFill>
                    <a:latin typeface="Times New Roman" pitchFamily="28"/>
                    <a:ea typeface="仿宋" pitchFamily="28"/>
                    <a:sym typeface="_⨹_1_07077"/>
                  </a:rPr>
                  <a:t>示</a:t>
                </a:r>
                <a:br>
                  <a:rPr lang="zh-CN" altLang="zh-CN" sz="2800" b="1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数的变化量</a:t>
                </a:r>
                <a:r>
                  <a:rPr lang="en-US" altLang="zh-CN" sz="2800" b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1" i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U</a:t>
                </a:r>
                <a:r>
                  <a:rPr lang="en-US" altLang="zh-CN" sz="2800" b="1" baseline="-250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1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和电流表</a:t>
                </a:r>
                <a:r>
                  <a:rPr lang="en-US" altLang="zh-CN" sz="2800" b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示数变化量的比值保持不变</a:t>
                </a:r>
                <a:r>
                  <a:rPr lang="zh-CN" altLang="zh-CN" sz="2800" b="1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1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正确。</a:t>
                </a:r>
                <a:endParaRPr lang="zh-CN" altLang="en-US">
                  <a:solidFill>
                    <a:srgbClr val="C00000"/>
                  </a:solidFill>
                </a:endParaRPr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2" name="yt_shape_2">
                <a:extLst>
                  <a:ext uri="{FF2B5EF4-FFF2-40B4-BE49-F238E27FC236}">
                    <a16:creationId xmlns:a16="http://schemas.microsoft.com/office/drawing/2014/main" id="{DD923A83-4DD7-B277-A97C-2C4AB9ECD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5122984"/>
                <a:ext cx="11927459" cy="1246560"/>
              </a:xfrm>
              <a:prstGeom prst="rect">
                <a:avLst/>
              </a:prstGeom>
              <a:blipFill>
                <a:blip r:embed="rId2"/>
                <a:stretch>
                  <a:fillRect l="-1788" b="-16098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1ffe9608-a534-481f-8b74-24c6e3b61602" descr="{&quot;SlideID&quot;:&quot;328&quot;,&quot;SlideNumber&quot;:&quot;38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d92c8ddc-9601-4f88-8d02-bf6b5655b78d" descr="{&quot;SlideID&quot;:&quot;330&quot;,&quot;SlideNumber&quot;:&quot;40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d7a7d004-a3fa-4bcd-9a41-69d708ed412b" descr="{&quot;SlideID&quot;:&quot;332&quot;,&quot;SlideNumber&quot;:&quot;4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6378d4be-31ae-4086-b074-bd1776b14db8" descr="{&quot;SlideID&quot;:&quot;334&quot;,&quot;SlideNumber&quot;:&quot;4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d1d2e8a2-f6e0-4b45-8711-e3494adc6cc2" descr="{&quot;SlideID&quot;:&quot;336&quot;,&quot;SlideNumber&quot;:&quot;4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6afd6d75-b947-46d4-b97f-d98db8c16ab8" descr="{&quot;SlideID&quot;:&quot;338&quot;,&quot;SlideNumber&quot;:&quot;4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c0f9f86b-b029-4f06-9fea-5c0222dbacfa" descr="{&quot;SlideID&quot;:&quot;340&quot;,&quot;SlideNumber&quot;:&quot;5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21539e46-3587-49bf-838f-bf6ca5ebf5cb" descr="{&quot;SlideID&quot;:&quot;342&quot;,&quot;SlideNumber&quot;:&quot;52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d9314231-cd15-4bfd-b493-5bccc786da30" descr="{&quot;SlideID&quot;:&quot;344&quot;,&quot;SlideNumber&quot;:&quot;54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8b43c90e-25cd-44e0-866c-6b479d999c5d" descr="{&quot;SlideID&quot;:&quot;347&quot;,&quot;SlideNumber&quot;:&quot;57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3df77f2b-23b4-4494-a567-f8124fd968e7" descr="{&quot;SlideID&quot;:&quot;349&quot;,&quot;SlideNumber&quot;:&quot;59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7789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3" grpId="0"/>
      <p:bldP spid="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0250"/>
            <a:ext cx="12211050" cy="29718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C2CE74F-02DD-4AC0-A86F-3C8DF00FACEC}"/>
              </a:ext>
            </a:extLst>
          </p:cNvPr>
          <p:cNvSpPr txBox="1"/>
          <p:nvPr/>
        </p:nvSpPr>
        <p:spPr>
          <a:xfrm>
            <a:off x="3348171" y="1981200"/>
            <a:ext cx="671296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13800" b="1" i="0" u="none" strike="noStrike" kern="1200" normalizeH="0" baseline="0" noProof="0" dirty="0">
                <a:ln w="10160">
                  <a:solidFill>
                    <a:schemeClr val="bg2"/>
                  </a:solidFill>
                  <a:prstDash val="solid"/>
                </a:ln>
                <a:gradFill flip="none" rotWithShape="1">
                  <a:gsLst>
                    <a:gs pos="0">
                      <a:srgbClr val="FFFFFF">
                        <a:shade val="30000"/>
                        <a:satMod val="115000"/>
                      </a:srgbClr>
                    </a:gs>
                    <a:gs pos="50000">
                      <a:srgbClr val="FFFFFF">
                        <a:shade val="67500"/>
                        <a:satMod val="115000"/>
                      </a:srgbClr>
                    </a:gs>
                    <a:gs pos="100000">
                      <a:srgbClr val="FFFFFF">
                        <a:shade val="100000"/>
                        <a:satMod val="115000"/>
                      </a:srgbClr>
                    </a:gs>
                  </a:gsLst>
                  <a:lin ang="0" scaled="1"/>
                  <a:tileRect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Impact" panose="020B0806030902050204" pitchFamily="34" charset="0"/>
                <a:ea typeface="宋体" pitchFamily="2" charset="-122"/>
                <a:cs typeface="+mn-cs"/>
              </a:rPr>
              <a:t>THANKS</a:t>
            </a:r>
            <a:endParaRPr kumimoji="0" lang="zh-CN" altLang="en-US" sz="13800" b="1" i="0" u="none" strike="noStrike" kern="1200" normalizeH="0" baseline="0" noProof="0" dirty="0">
              <a:ln w="10160">
                <a:solidFill>
                  <a:schemeClr val="bg2"/>
                </a:solidFill>
                <a:prstDash val="solid"/>
              </a:ln>
              <a:gradFill flip="none" rotWithShape="1">
                <a:gsLst>
                  <a:gs pos="0">
                    <a:srgbClr val="FFFFFF">
                      <a:shade val="30000"/>
                      <a:satMod val="115000"/>
                    </a:srgbClr>
                  </a:gs>
                  <a:gs pos="50000">
                    <a:srgbClr val="FFFFFF">
                      <a:shade val="67500"/>
                      <a:satMod val="115000"/>
                    </a:srgbClr>
                  </a:gs>
                  <a:gs pos="100000">
                    <a:srgbClr val="FFFFFF">
                      <a:shade val="100000"/>
                      <a:satMod val="115000"/>
                    </a:srgbClr>
                  </a:gs>
                </a:gsLst>
                <a:lin ang="0" scaled="1"/>
                <a:tileRect/>
              </a:gra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Impact" panose="020B080603090205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78DE397-53CD-43DF-B436-EAF0D0085C34}"/>
              </a:ext>
            </a:extLst>
          </p:cNvPr>
          <p:cNvSpPr/>
          <p:nvPr/>
        </p:nvSpPr>
        <p:spPr>
          <a:xfrm>
            <a:off x="3280974" y="3089196"/>
            <a:ext cx="593143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5400" b="1" i="0" u="none" strike="noStrike" kern="1200" normalizeH="0" baseline="0" noProof="0" dirty="0">
                <a:ln w="6600">
                  <a:solidFill>
                    <a:schemeClr val="accent4">
                      <a:lumMod val="20000"/>
                      <a:lumOff val="80000"/>
                    </a:schemeClr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dist="38100" dir="2700000" algn="tl" rotWithShape="0">
                    <a:schemeClr val="accent2"/>
                  </a:outerShdw>
                  <a:reflection blurRad="6350" stA="55000" endA="300" endPos="45500" dir="5400000" sy="-100000" algn="bl" rotWithShape="0"/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 Light" panose="020B0502040204020203" pitchFamily="34" charset="-122"/>
              </a:rPr>
              <a:t>演示完毕 感谢观看</a:t>
            </a:r>
          </a:p>
        </p:txBody>
      </p:sp>
    </p:spTree>
    <p:extLst>
      <p:ext uri="{BB962C8B-B14F-4D97-AF65-F5344CB8AC3E}">
        <p14:creationId xmlns:p14="http://schemas.microsoft.com/office/powerpoint/2010/main" val="39472864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 xmlns:a16="http://schemas.microsoft.com/office/drawing/2014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</TotalTime>
  <Words>6525</Words>
  <Application>Microsoft Macintosh PowerPoint</Application>
  <PresentationFormat>Widescreen</PresentationFormat>
  <Paragraphs>486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71" baseType="lpstr">
      <vt:lpstr>方正新报宋_GBK</vt:lpstr>
      <vt:lpstr>楷体</vt:lpstr>
      <vt:lpstr>微软雅黑</vt:lpstr>
      <vt:lpstr>黑体</vt:lpstr>
      <vt:lpstr>宋体</vt:lpstr>
      <vt:lpstr>华文细黑</vt:lpstr>
      <vt:lpstr>Aparajita</vt:lpstr>
      <vt:lpstr>Arial</vt:lpstr>
      <vt:lpstr>Cambria Math</vt:lpstr>
      <vt:lpstr>Impact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三维设计;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三维设计</dc:creator>
  <cp:lastModifiedBy>Xingyu Shu</cp:lastModifiedBy>
  <cp:revision>7</cp:revision>
  <dcterms:created xsi:type="dcterms:W3CDTF">2025-04-22T02:39:12Z</dcterms:created>
  <dcterms:modified xsi:type="dcterms:W3CDTF">2026-08-29T05:18:07Z</dcterms:modified>
</cp:coreProperties>
</file>