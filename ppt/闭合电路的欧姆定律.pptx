
<file path=[Content_Types].xml><?xml version="1.0" encoding="utf-8"?>
<Types xmlns="http://schemas.openxmlformats.org/package/2006/content-types">
  <Default Extension="bin" ContentType="image/png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348" r:id="rId5"/>
    <p:sldId id="349" r:id="rId6"/>
    <p:sldId id="351" r:id="rId7"/>
    <p:sldId id="352" r:id="rId8"/>
    <p:sldId id="278" r:id="rId9"/>
    <p:sldId id="279" r:id="rId10"/>
    <p:sldId id="350" r:id="rId11"/>
    <p:sldId id="353" r:id="rId12"/>
    <p:sldId id="354" r:id="rId13"/>
    <p:sldId id="260" r:id="rId14"/>
    <p:sldId id="356" r:id="rId15"/>
    <p:sldId id="262" r:id="rId16"/>
    <p:sldId id="261" r:id="rId17"/>
    <p:sldId id="264" r:id="rId18"/>
    <p:sldId id="265" r:id="rId19"/>
    <p:sldId id="263" r:id="rId20"/>
    <p:sldId id="266" r:id="rId21"/>
    <p:sldId id="267" r:id="rId22"/>
    <p:sldId id="268" r:id="rId23"/>
    <p:sldId id="269" r:id="rId24"/>
    <p:sldId id="270" r:id="rId25"/>
    <p:sldId id="355" r:id="rId26"/>
    <p:sldId id="288" r:id="rId27"/>
    <p:sldId id="319" r:id="rId28"/>
    <p:sldId id="320" r:id="rId29"/>
    <p:sldId id="289" r:id="rId30"/>
    <p:sldId id="321" r:id="rId31"/>
    <p:sldId id="291" r:id="rId32"/>
    <p:sldId id="338" r:id="rId33"/>
    <p:sldId id="339" r:id="rId34"/>
    <p:sldId id="34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1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6"/>
          <p:cNvSpPr txBox="1"/>
          <p:nvPr userDrawn="1"/>
        </p:nvSpPr>
        <p:spPr>
          <a:xfrm>
            <a:off x="706382" y="28047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物理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必修第三册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0" y="8758"/>
            <a:ext cx="508986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580369" y="14429"/>
            <a:ext cx="90025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圆角矩形 1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26">
            <a:hlinkClick r:id="rId3" action="ppaction://hlinksldjump"/>
          </p:cNvPr>
          <p:cNvSpPr txBox="1"/>
          <p:nvPr userDrawn="1"/>
        </p:nvSpPr>
        <p:spPr>
          <a:xfrm>
            <a:off x="11519592" y="6454003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78991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tags" Target="../tags/tag42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3.xml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48.xml"/><Relationship Id="rId10" Type="http://schemas.openxmlformats.org/officeDocument/2006/relationships/tags" Target="../tags/tag53.xml"/><Relationship Id="rId4" Type="http://schemas.openxmlformats.org/officeDocument/2006/relationships/tags" Target="../tags/tag47.xml"/><Relationship Id="rId9" Type="http://schemas.openxmlformats.org/officeDocument/2006/relationships/tags" Target="../tags/tag5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bin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FED727-C749-6985-5E49-442C5E78D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闭合电路的欧姆定律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F1FC1F-DA74-6FFD-F065-E0423FF5C8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Ohm's law for closed circuits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483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CD803-053F-B32C-B75D-EEA567CB4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4000" dirty="0"/>
              <a:t>电池为什么会发热？发热量的表达式是什么？</a:t>
            </a:r>
          </a:p>
        </p:txBody>
      </p:sp>
      <p:pic>
        <p:nvPicPr>
          <p:cNvPr id="7" name="Picture 2" descr="Here's what happens when a lithium-ion battery overheats">
            <a:extLst>
              <a:ext uri="{FF2B5EF4-FFF2-40B4-BE49-F238E27FC236}">
                <a16:creationId xmlns:a16="http://schemas.microsoft.com/office/drawing/2014/main" id="{9B0434B8-5CB2-69AA-7BF3-18C74C8DA14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60"/>
          <a:stretch>
            <a:fillRect/>
          </a:stretch>
        </p:blipFill>
        <p:spPr bwMode="auto">
          <a:xfrm>
            <a:off x="1543164" y="2362994"/>
            <a:ext cx="3771671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Phone Fire GIFs | Tenor">
            <a:extLst>
              <a:ext uri="{FF2B5EF4-FFF2-40B4-BE49-F238E27FC236}">
                <a16:creationId xmlns:a16="http://schemas.microsoft.com/office/drawing/2014/main" id="{EBFC5812-9F3F-0C86-579F-AF59C50FC2D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0" y="2604294"/>
            <a:ext cx="27940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3099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004F8BE-175E-DE4D-AB64-D59874B2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 闭合电路</a:t>
            </a:r>
            <a:endParaRPr lang="en-US" dirty="0"/>
          </a:p>
        </p:txBody>
      </p:sp>
      <p:pic>
        <p:nvPicPr>
          <p:cNvPr id="4" name="内容占位符 3" descr="图示&#10;&#10;描述已自动生成">
            <a:extLst>
              <a:ext uri="{FF2B5EF4-FFF2-40B4-BE49-F238E27FC236}">
                <a16:creationId xmlns:a16="http://schemas.microsoft.com/office/drawing/2014/main" id="{082C0BED-3D5D-C24E-C7B6-C03DDB7025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78048" y="1825625"/>
            <a:ext cx="3901904" cy="4351338"/>
          </a:xfrm>
          <a:prstGeom prst="rect">
            <a:avLst/>
          </a:prstGeom>
          <a:noFill/>
        </p:spPr>
      </p:pic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8B480EB-3723-F700-A4BE-DCB5C25A59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914522"/>
            <a:ext cx="5181600" cy="417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0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E9333-0EFE-B8E6-E3FB-9051F116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电源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DF61CAC-08CA-241B-9DC9-CDC470808D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96465" y="2536285"/>
            <a:ext cx="4065070" cy="2930018"/>
          </a:xfrm>
          <a:prstGeom prst="rect">
            <a:avLst/>
          </a:prstGeom>
        </p:spPr>
      </p:pic>
      <p:pic>
        <p:nvPicPr>
          <p:cNvPr id="2050" name="Picture 2" descr="Schematic representation of the movement of ions and electrons during... |  Download Scientific Diagram">
            <a:extLst>
              <a:ext uri="{FF2B5EF4-FFF2-40B4-BE49-F238E27FC236}">
                <a16:creationId xmlns:a16="http://schemas.microsoft.com/office/drawing/2014/main" id="{7A2D9BCE-5BFC-A6E4-9D2A-939423E9130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998" y="2047088"/>
            <a:ext cx="6997002" cy="3832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525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518C7-4138-F9B9-6CE1-5D1F516F2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电动势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377CAE-9ABA-B075-ED03-1B586CF91C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zh-CN" altLang="en-US" dirty="0"/>
                  <a:t>物理意义：反映电源把其他形式的能转化为电势能本领强弱的物理量。</a:t>
                </a:r>
                <a:endParaRPr kumimoji="1" lang="en-US" altLang="zh-CN" dirty="0"/>
              </a:p>
              <a:p>
                <a:r>
                  <a:rPr lang="zh-CN" altLang="en-US" dirty="0">
                    <a:sym typeface="+mn-ea"/>
                  </a:rPr>
                  <a:t>定义：用</a:t>
                </a:r>
                <a:r>
                  <a:rPr lang="zh-CN" altLang="en-US" b="1" dirty="0">
                    <a:solidFill>
                      <a:srgbClr val="FF0000"/>
                    </a:solidFill>
                    <a:sym typeface="+mn-ea"/>
                  </a:rPr>
                  <a:t>非静电力所做的功与所移动的电荷量之比</a:t>
                </a:r>
                <a:endParaRPr lang="en-US" altLang="zh-CN" b="1" dirty="0">
                  <a:solidFill>
                    <a:srgbClr val="FF0000"/>
                  </a:solidFill>
                  <a:sym typeface="+mn-ea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kumimoji="1" lang="en-US" altLang="zh-CN" dirty="0">
                  <a:solidFill>
                    <a:srgbClr val="FF0000"/>
                  </a:solidFill>
                </a:endParaRPr>
              </a:p>
              <a:p>
                <a:r>
                  <a:rPr kumimoji="1" lang="zh-CN" altLang="en-US" dirty="0"/>
                  <a:t>单位：</a:t>
                </a:r>
                <a:r>
                  <a:rPr kumimoji="1" lang="en-US" altLang="zh-CN" dirty="0"/>
                  <a:t>Volt (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V</a:t>
                </a:r>
                <a:r>
                  <a:rPr kumimoji="1" lang="en-US" altLang="zh-CN" dirty="0"/>
                  <a:t>)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377CAE-9ABA-B075-ED03-1B586CF91C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0466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F613B7-7B34-C573-8A77-36A177663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kumimoji="1" lang="zh-CN" altLang="en-US" dirty="0"/>
              <a:t>电动势和电压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8601BB2-7900-529C-FCB8-60166576F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7526" y="1825625"/>
            <a:ext cx="5596948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8989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7FA4D7-4204-E0C3-1274-2529E1C8F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电动势和电压</a:t>
            </a:r>
          </a:p>
        </p:txBody>
      </p:sp>
      <p:pic>
        <p:nvPicPr>
          <p:cNvPr id="1026" name="Picture 2" descr="Electric - Hydraulic Analogy: Charge, Voltage, and Current (introduction)">
            <a:extLst>
              <a:ext uri="{FF2B5EF4-FFF2-40B4-BE49-F238E27FC236}">
                <a16:creationId xmlns:a16="http://schemas.microsoft.com/office/drawing/2014/main" id="{73885D81-4056-0BC7-2925-B0674F0DACD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43969"/>
            <a:ext cx="5181600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lectric current « KaiserScience">
            <a:extLst>
              <a:ext uri="{FF2B5EF4-FFF2-40B4-BE49-F238E27FC236}">
                <a16:creationId xmlns:a16="http://schemas.microsoft.com/office/drawing/2014/main" id="{B2382B35-22C0-0141-FED4-5CD7689855E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450" y="2547144"/>
            <a:ext cx="3975100" cy="290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9942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4" name="yt_shape_16144"/>
          <p:cNvSpPr txBox="1"/>
          <p:nvPr/>
        </p:nvSpPr>
        <p:spPr>
          <a:xfrm>
            <a:off x="149829" y="482514"/>
            <a:ext cx="10951716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电动势的理解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下列有关电动势的说法正确的是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6145" name="yt_table_16145" title="H_235.2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149895" y="1066525"/>
          <a:ext cx="11737305" cy="2389632"/>
        </p:xfrm>
        <a:graphic>
          <a:graphicData uri="http://schemas.openxmlformats.org/drawingml/2006/table">
            <a:tbl>
              <a:tblPr/>
              <a:tblGrid>
                <a:gridCol w="11737305">
                  <a:extLst>
                    <a:ext uri="{9D8B030D-6E8A-4147-A177-3AD203B41FA5}">
                      <a16:colId xmlns:a16="http://schemas.microsoft.com/office/drawing/2014/main" val="105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电源的电动势跟电源内非静电力做的功成正比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9_f29fa"/>
                        </a:rPr>
                        <a:t>跟通过的电荷量成反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比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电动势的单位跟电压的单位一致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所以电动势就是电源两极间的电压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非静电力做的功越多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电动势越大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电动势的大小由电源内非静电力的特性决定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7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-174171" y="2790141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yt_shape_16148"/>
              <p:cNvSpPr txBox="1"/>
              <p:nvPr/>
            </p:nvSpPr>
            <p:spPr>
              <a:xfrm>
                <a:off x="149829" y="3456157"/>
                <a:ext cx="11924914" cy="326474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𝑊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是电动势的定义式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不能说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成正比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成反比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6e2d3"/>
                  </a:rPr>
                  <a:t>电动势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的大小由电源内非静电力的特性决定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与非静电力做功的多少无关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1ef9d"/>
                  </a:rPr>
                  <a:t>故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虽然电动势的单位跟电压的单位一致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b58cb"/>
                  </a:rPr>
                  <a:t>但电动势是和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非静电力做的功所对应的物理量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7_c9486"/>
                  </a:rPr>
                  <a:t>而电压是和静电力做的功所对应的物理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量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6" name="yt_shape_16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29" y="3456157"/>
                <a:ext cx="11924914" cy="3264740"/>
              </a:xfrm>
              <a:prstGeom prst="rect">
                <a:avLst/>
              </a:prstGeom>
              <a:blipFill>
                <a:blip r:embed="rId2"/>
                <a:stretch>
                  <a:fillRect l="-1840" b="-55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0" name="yt_shape_16150"/>
          <p:cNvSpPr txBox="1"/>
          <p:nvPr/>
        </p:nvSpPr>
        <p:spPr>
          <a:xfrm>
            <a:off x="324071" y="46799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两个不同电池的电动势的比较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铅蓄电池的电动势为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d6a17"/>
              </a:rPr>
              <a:t>干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电池的电动势为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6151" name="yt_table_16151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1654226"/>
          <a:ext cx="11543919" cy="2389632"/>
        </p:xfrm>
        <a:graphic>
          <a:graphicData uri="http://schemas.openxmlformats.org/drawingml/2006/table">
            <a:tbl>
              <a:tblPr/>
              <a:tblGrid>
                <a:gridCol w="11543919">
                  <a:extLst>
                    <a:ext uri="{9D8B030D-6E8A-4147-A177-3AD203B41FA5}">
                      <a16:colId xmlns:a16="http://schemas.microsoft.com/office/drawing/2014/main" val="105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铅蓄电池两极间的电压为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干电池能在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内将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J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的化学能转化成电能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铅蓄电池接入不同电路中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电动势会发生变化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电路中通过相同的电荷量时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铅蓄电池比干电池中非静电力做的功多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1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58058" y="3327170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3A6CBD-CAF0-CCF7-67E9-D901F091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kumimoji="1" lang="zh-CN" altLang="en-US" dirty="0"/>
              <a:t>写出电路中电压，电流，电阻之间的关系</a:t>
            </a:r>
          </a:p>
        </p:txBody>
      </p:sp>
      <p:pic>
        <p:nvPicPr>
          <p:cNvPr id="7" name="内容占位符 3" descr="墙上的钟表&#10;&#10;AI 生成的内容可能不正确。">
            <a:extLst>
              <a:ext uri="{FF2B5EF4-FFF2-40B4-BE49-F238E27FC236}">
                <a16:creationId xmlns:a16="http://schemas.microsoft.com/office/drawing/2014/main" id="{D085FBB0-3C9F-2438-9632-7F13775B63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7526" y="1825625"/>
            <a:ext cx="5596948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9593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4FD66-E3DB-1AFD-7880-7E5CA37CA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电势是如何变化的？</a:t>
            </a:r>
            <a:endParaRPr 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D518C37-FFB3-6EC3-D9CE-DE1C30ED03F9}"/>
              </a:ext>
            </a:extLst>
          </p:cNvPr>
          <p:cNvGrpSpPr/>
          <p:nvPr/>
        </p:nvGrpSpPr>
        <p:grpSpPr>
          <a:xfrm>
            <a:off x="3476445" y="2205637"/>
            <a:ext cx="5239110" cy="3591314"/>
            <a:chOff x="13058" y="3699"/>
            <a:chExt cx="4846" cy="340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14A4EA9-DEF1-FE21-FED0-E096D9BD6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3058" y="3699"/>
              <a:ext cx="4846" cy="3402"/>
            </a:xfrm>
            <a:prstGeom prst="rect">
              <a:avLst/>
            </a:prstGeom>
          </p:spPr>
        </p:pic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B2A32A4-D40A-1470-EFF1-4CC619CD16F8}"/>
                </a:ext>
              </a:extLst>
            </p:cNvPr>
            <p:cNvGrpSpPr/>
            <p:nvPr/>
          </p:nvGrpSpPr>
          <p:grpSpPr>
            <a:xfrm>
              <a:off x="15610" y="6670"/>
              <a:ext cx="227" cy="227"/>
              <a:chOff x="14759" y="2021"/>
              <a:chExt cx="283" cy="283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5365D03C-9486-720A-5EF4-EA79E22DB6FF}"/>
                  </a:ext>
                </a:extLst>
              </p:cNvPr>
              <p:cNvSpPr/>
              <p:nvPr/>
            </p:nvSpPr>
            <p:spPr>
              <a:xfrm>
                <a:off x="14759" y="2021"/>
                <a:ext cx="283" cy="283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5A718FC7-73FB-C069-DF43-1B8681C1BDDA}"/>
                  </a:ext>
                </a:extLst>
              </p:cNvPr>
              <p:cNvCxnSpPr/>
              <p:nvPr/>
            </p:nvCxnSpPr>
            <p:spPr>
              <a:xfrm>
                <a:off x="14793" y="2163"/>
                <a:ext cx="227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56FCDD5-B10D-62F6-1A68-E13CF99C560D}"/>
                </a:ext>
              </a:extLst>
            </p:cNvPr>
            <p:cNvGrpSpPr/>
            <p:nvPr/>
          </p:nvGrpSpPr>
          <p:grpSpPr>
            <a:xfrm>
              <a:off x="17538" y="6392"/>
              <a:ext cx="227" cy="227"/>
              <a:chOff x="14759" y="2021"/>
              <a:chExt cx="283" cy="283"/>
            </a:xfrm>
          </p:grpSpPr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3EDBCC9A-4B43-E5EE-4797-FE794101D9E2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14759" y="2021"/>
                <a:ext cx="283" cy="283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838132CF-17A2-279A-8331-5C816CB825DD}"/>
                  </a:ext>
                </a:extLst>
              </p:cNvPr>
              <p:cNvCxnSpPr/>
              <p:nvPr>
                <p:custDataLst>
                  <p:tags r:id="rId20"/>
                </p:custDataLst>
              </p:nvPr>
            </p:nvCxnSpPr>
            <p:spPr>
              <a:xfrm>
                <a:off x="14793" y="2163"/>
                <a:ext cx="227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8539BDC5-79A8-0A53-BFFC-1D81E219BC78}"/>
                </a:ext>
              </a:extLst>
            </p:cNvPr>
            <p:cNvGrpSpPr/>
            <p:nvPr/>
          </p:nvGrpSpPr>
          <p:grpSpPr>
            <a:xfrm>
              <a:off x="17191" y="3724"/>
              <a:ext cx="227" cy="227"/>
              <a:chOff x="14759" y="2021"/>
              <a:chExt cx="283" cy="283"/>
            </a:xfrm>
          </p:grpSpPr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3E083161-DDE1-FB49-EB0B-FC9E4D7B83FC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14759" y="2021"/>
                <a:ext cx="283" cy="283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1CF9A1D8-E59D-870D-06FD-6E4FA31B23F7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>
              <a:xfrm>
                <a:off x="14793" y="2163"/>
                <a:ext cx="227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71F8FDF3-C5B1-F9F9-163F-1984493FDE5D}"/>
                </a:ext>
              </a:extLst>
            </p:cNvPr>
            <p:cNvGrpSpPr/>
            <p:nvPr/>
          </p:nvGrpSpPr>
          <p:grpSpPr>
            <a:xfrm>
              <a:off x="15627" y="6670"/>
              <a:ext cx="227" cy="227"/>
              <a:chOff x="14759" y="2021"/>
              <a:chExt cx="283" cy="283"/>
            </a:xfrm>
          </p:grpSpPr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A4AF2C9A-04E2-D822-AEDA-D5EEC4BFE1AF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14759" y="2021"/>
                <a:ext cx="283" cy="283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B2418662-8F5A-AD37-F973-06B52021D3BA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>
              <a:xfrm>
                <a:off x="14793" y="2163"/>
                <a:ext cx="227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F1BE336-B45A-D690-3A93-06F577B314E6}"/>
                </a:ext>
              </a:extLst>
            </p:cNvPr>
            <p:cNvGrpSpPr/>
            <p:nvPr/>
          </p:nvGrpSpPr>
          <p:grpSpPr>
            <a:xfrm>
              <a:off x="14534" y="3724"/>
              <a:ext cx="227" cy="227"/>
              <a:chOff x="14759" y="2021"/>
              <a:chExt cx="283" cy="283"/>
            </a:xfrm>
          </p:grpSpPr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A07C2D69-CA03-E89D-1816-5FB7F44A1F7A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14759" y="2021"/>
                <a:ext cx="283" cy="283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F078D0BB-21DB-3088-7665-35D20444CE47}"/>
                  </a:ext>
                </a:extLst>
              </p:cNvPr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14793" y="2163"/>
                <a:ext cx="227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06E332BA-C0E2-E139-4A92-1E06BBF5D08D}"/>
                </a:ext>
              </a:extLst>
            </p:cNvPr>
            <p:cNvGrpSpPr/>
            <p:nvPr/>
          </p:nvGrpSpPr>
          <p:grpSpPr>
            <a:xfrm>
              <a:off x="13126" y="4037"/>
              <a:ext cx="227" cy="227"/>
              <a:chOff x="14759" y="2021"/>
              <a:chExt cx="283" cy="283"/>
            </a:xfrm>
          </p:grpSpPr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8C19A08D-A7A5-2D9C-D365-5C5D6FF89308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14759" y="2021"/>
                <a:ext cx="283" cy="283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610ADADB-69CF-4D2D-89C4-65F6455F54BF}"/>
                  </a:ext>
                </a:extLst>
              </p:cNvPr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14793" y="2163"/>
                <a:ext cx="227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4AD8D7B-2C7C-3BA1-0D16-52B38413DB15}"/>
                </a:ext>
              </a:extLst>
            </p:cNvPr>
            <p:cNvGrpSpPr/>
            <p:nvPr/>
          </p:nvGrpSpPr>
          <p:grpSpPr>
            <a:xfrm>
              <a:off x="13110" y="5202"/>
              <a:ext cx="227" cy="227"/>
              <a:chOff x="14759" y="2021"/>
              <a:chExt cx="283" cy="283"/>
            </a:xfrm>
          </p:grpSpPr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342F7200-191B-F0A5-11E7-E96A612B0DCF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14759" y="2021"/>
                <a:ext cx="283" cy="283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9A5EEAE6-A0B5-12A0-13F4-6D181AA8105E}"/>
                  </a:ext>
                </a:extLst>
              </p:cNvPr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14793" y="2163"/>
                <a:ext cx="227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3F1C0169-A076-11EE-40EA-932F0E5D2DCE}"/>
                </a:ext>
              </a:extLst>
            </p:cNvPr>
            <p:cNvGrpSpPr/>
            <p:nvPr/>
          </p:nvGrpSpPr>
          <p:grpSpPr>
            <a:xfrm>
              <a:off x="13404" y="6670"/>
              <a:ext cx="227" cy="227"/>
              <a:chOff x="14759" y="2021"/>
              <a:chExt cx="283" cy="283"/>
            </a:xfrm>
          </p:grpSpPr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8541060B-5E5E-AAE9-3364-86D10C625EA3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14759" y="2021"/>
                <a:ext cx="283" cy="283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F4D61273-CC2A-ECB7-5321-1EA98580052A}"/>
                  </a:ext>
                </a:extLst>
              </p:cNvPr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14793" y="2163"/>
                <a:ext cx="227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DAF83D5B-B63F-CE69-FAE1-B93598036C3D}"/>
                </a:ext>
              </a:extLst>
            </p:cNvPr>
            <p:cNvCxnSpPr/>
            <p:nvPr/>
          </p:nvCxnSpPr>
          <p:spPr>
            <a:xfrm>
              <a:off x="15854" y="6784"/>
              <a:ext cx="158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8F1B81D3-DC0F-381E-A60B-D614D530984D}"/>
                </a:ext>
              </a:extLst>
            </p:cNvPr>
            <p:cNvCxnSpPr/>
            <p:nvPr>
              <p:custDataLst>
                <p:tags r:id="rId1"/>
              </p:custDataLst>
            </p:nvPr>
          </p:nvCxnSpPr>
          <p:spPr>
            <a:xfrm rot="16200000">
              <a:off x="17264" y="6024"/>
              <a:ext cx="73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F2CAD8BE-B94C-9407-FA32-00AF1962EF02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 flipH="1">
              <a:off x="15857" y="3830"/>
              <a:ext cx="1361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6E01BD9B-0E83-ABCA-230F-36A11191EE72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>
            <a:xfrm flipH="1">
              <a:off x="13431" y="3838"/>
              <a:ext cx="113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D2C8CE45-A694-6CCB-34E3-529279776CA4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 rot="5400000" flipV="1">
              <a:off x="12813" y="4689"/>
              <a:ext cx="85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6C2C364E-8F33-B64B-1D7A-6007F5A01981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>
            <a:xfrm rot="5400000" flipV="1">
              <a:off x="12671" y="5996"/>
              <a:ext cx="113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EF71F1BB-4D54-63FA-DCF4-7DC5EC9A77EC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13631" y="6784"/>
              <a:ext cx="147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026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BF0F0-8388-0A5A-B271-ADB6E765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电源内部</a:t>
            </a:r>
            <a:endParaRPr 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8EBA2EA-B283-D7F7-7E40-179D6324EA8B}"/>
              </a:ext>
            </a:extLst>
          </p:cNvPr>
          <p:cNvGrpSpPr/>
          <p:nvPr/>
        </p:nvGrpSpPr>
        <p:grpSpPr>
          <a:xfrm>
            <a:off x="4614862" y="3281204"/>
            <a:ext cx="2962275" cy="1440180"/>
            <a:chOff x="11842" y="4915"/>
            <a:chExt cx="4665" cy="2268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07B16571-CD9B-8817-3DBF-223F56930374}"/>
                </a:ext>
              </a:extLst>
            </p:cNvPr>
            <p:cNvCxnSpPr/>
            <p:nvPr/>
          </p:nvCxnSpPr>
          <p:spPr>
            <a:xfrm flipH="1">
              <a:off x="12978" y="4915"/>
              <a:ext cx="0" cy="226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AF7D7A8-34BB-5261-1E05-9EEF304A30D2}"/>
                </a:ext>
              </a:extLst>
            </p:cNvPr>
            <p:cNvCxnSpPr/>
            <p:nvPr>
              <p:custDataLst>
                <p:tags r:id="rId1"/>
              </p:custDataLst>
            </p:nvPr>
          </p:nvCxnSpPr>
          <p:spPr>
            <a:xfrm rot="16200000" flipH="1">
              <a:off x="12409" y="5482"/>
              <a:ext cx="0" cy="11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84296F5A-A1CD-EEC9-ACEC-663BC85CDF99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 flipH="1">
              <a:off x="15373" y="5199"/>
              <a:ext cx="0" cy="170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EAB7D37E-B467-7ECC-0E9B-B388A2C7B5D3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>
            <a:xfrm rot="16200000" flipH="1">
              <a:off x="15940" y="5482"/>
              <a:ext cx="0" cy="11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3DE7595-5AF5-4FE4-6919-A97256EAB7C4}"/>
                </a:ext>
              </a:extLst>
            </p:cNvPr>
            <p:cNvSpPr txBox="1"/>
            <p:nvPr/>
          </p:nvSpPr>
          <p:spPr>
            <a:xfrm>
              <a:off x="12413" y="5295"/>
              <a:ext cx="58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/>
                <a:t>+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1794322-6CA7-0D5C-A4A3-ABD784F9176C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15373" y="5244"/>
              <a:ext cx="58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/>
                <a:t>-</a:t>
              </a: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A1AEE950-BADA-81AF-2A8E-08712C3C7C79}"/>
                </a:ext>
              </a:extLst>
            </p:cNvPr>
            <p:cNvGrpSpPr/>
            <p:nvPr/>
          </p:nvGrpSpPr>
          <p:grpSpPr>
            <a:xfrm>
              <a:off x="13020" y="5924"/>
              <a:ext cx="226" cy="226"/>
              <a:chOff x="12186" y="8172"/>
              <a:chExt cx="226" cy="226"/>
            </a:xfrm>
          </p:grpSpPr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EFAA7C47-9CA4-D91E-2C53-F1D54CC4E811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12186" y="8172"/>
                <a:ext cx="227" cy="227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E1A8AF12-ED38-A7F4-16C4-F220E3EDEBB6}"/>
                  </a:ext>
                </a:extLst>
              </p:cNvPr>
              <p:cNvCxnSpPr/>
              <p:nvPr>
                <p:custDataLst>
                  <p:tags r:id="rId9"/>
                </p:custDataLst>
              </p:nvPr>
            </p:nvCxnSpPr>
            <p:spPr>
              <a:xfrm>
                <a:off x="12214" y="8280"/>
                <a:ext cx="18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171A702-CCE6-92D7-91CA-E1A6E45080FE}"/>
                </a:ext>
              </a:extLst>
            </p:cNvPr>
            <p:cNvGrpSpPr/>
            <p:nvPr/>
          </p:nvGrpSpPr>
          <p:grpSpPr>
            <a:xfrm>
              <a:off x="15095" y="5924"/>
              <a:ext cx="226" cy="226"/>
              <a:chOff x="12186" y="8172"/>
              <a:chExt cx="226" cy="226"/>
            </a:xfrm>
          </p:grpSpPr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A3389AB7-5B34-0DB4-38C8-71EF2AA43A10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12186" y="8172"/>
                <a:ext cx="227" cy="227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00E631C1-462B-0221-11F6-791BAEBC5965}"/>
                  </a:ext>
                </a:extLst>
              </p:cNvPr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12214" y="8280"/>
                <a:ext cx="18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C020661F-6C46-F43C-0702-673677ED0F35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>
            <a:xfrm>
              <a:off x="13288" y="6032"/>
              <a:ext cx="175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763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49EABA-FE21-2226-BDC6-2246BC977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非静电力</a:t>
            </a:r>
            <a:endParaRPr lang="en-US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5D0A65F-95BB-CE75-9593-0651325B95D0}"/>
              </a:ext>
            </a:extLst>
          </p:cNvPr>
          <p:cNvGrpSpPr/>
          <p:nvPr/>
        </p:nvGrpSpPr>
        <p:grpSpPr>
          <a:xfrm>
            <a:off x="4614862" y="3282758"/>
            <a:ext cx="2962275" cy="1440180"/>
            <a:chOff x="8288020" y="2195830"/>
            <a:chExt cx="2962275" cy="1440180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B7BC9739-3AD3-10A4-ECA4-AF4E4D2EB945}"/>
                </a:ext>
              </a:extLst>
            </p:cNvPr>
            <p:cNvGrpSpPr/>
            <p:nvPr/>
          </p:nvGrpSpPr>
          <p:grpSpPr>
            <a:xfrm>
              <a:off x="8288020" y="2195830"/>
              <a:ext cx="2962275" cy="1440180"/>
              <a:chOff x="11842" y="4915"/>
              <a:chExt cx="4665" cy="2268"/>
            </a:xfrm>
          </p:grpSpPr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299DEE1E-C0AC-3CE0-D433-12B7E4132D87}"/>
                  </a:ext>
                </a:extLst>
              </p:cNvPr>
              <p:cNvCxnSpPr/>
              <p:nvPr>
                <p:custDataLst>
                  <p:tags r:id="rId6"/>
                </p:custDataLst>
              </p:nvPr>
            </p:nvCxnSpPr>
            <p:spPr>
              <a:xfrm flipH="1">
                <a:off x="12978" y="4915"/>
                <a:ext cx="0" cy="226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F4D54938-795E-7A05-14FD-E36837350064}"/>
                  </a:ext>
                </a:extLst>
              </p:cNvPr>
              <p:cNvCxnSpPr/>
              <p:nvPr>
                <p:custDataLst>
                  <p:tags r:id="rId7"/>
                </p:custDataLst>
              </p:nvPr>
            </p:nvCxnSpPr>
            <p:spPr>
              <a:xfrm rot="16200000" flipH="1">
                <a:off x="12409" y="5482"/>
                <a:ext cx="0" cy="113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1EAA644F-BE82-CBB3-BB06-43C1A6F9D9A9}"/>
                  </a:ext>
                </a:extLst>
              </p:cNvPr>
              <p:cNvCxnSpPr/>
              <p:nvPr>
                <p:custDataLst>
                  <p:tags r:id="rId8"/>
                </p:custDataLst>
              </p:nvPr>
            </p:nvCxnSpPr>
            <p:spPr>
              <a:xfrm flipH="1">
                <a:off x="15373" y="4915"/>
                <a:ext cx="0" cy="226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17650AD2-9914-A3C6-FB9F-6FB9949792FF}"/>
                  </a:ext>
                </a:extLst>
              </p:cNvPr>
              <p:cNvCxnSpPr/>
              <p:nvPr>
                <p:custDataLst>
                  <p:tags r:id="rId9"/>
                </p:custDataLst>
              </p:nvPr>
            </p:nvCxnSpPr>
            <p:spPr>
              <a:xfrm rot="16200000" flipH="1">
                <a:off x="15940" y="5482"/>
                <a:ext cx="0" cy="113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549836F2-2FFA-8938-40D1-A1D013945FB7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2413" y="5295"/>
                <a:ext cx="580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/>
                  <a:t>+</a:t>
                </a: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1D82524F-ABB5-4611-C684-E59EC5E0DB29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5373" y="5244"/>
                <a:ext cx="580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/>
                  <a:t>-</a:t>
                </a:r>
              </a:p>
            </p:txBody>
          </p: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B5CCE438-CFFE-D053-67D4-EA5FA2CCAF5F}"/>
                  </a:ext>
                </a:extLst>
              </p:cNvPr>
              <p:cNvGrpSpPr/>
              <p:nvPr/>
            </p:nvGrpSpPr>
            <p:grpSpPr>
              <a:xfrm>
                <a:off x="13955" y="5941"/>
                <a:ext cx="227" cy="227"/>
                <a:chOff x="13121" y="8189"/>
                <a:chExt cx="227" cy="227"/>
              </a:xfrm>
            </p:grpSpPr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584E269F-2142-5F25-9CBE-488CDA594546}"/>
                    </a:ext>
                  </a:extLst>
                </p:cNvPr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3121" y="8189"/>
                  <a:ext cx="227" cy="227"/>
                </a:xfrm>
                <a:prstGeom prst="ellipse">
                  <a:avLst/>
                </a:prstGeom>
                <a:noFill/>
                <a:ln w="19050">
                  <a:solidFill>
                    <a:srgbClr val="FFC0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701FE47F-036D-FBFA-2A10-F2EFC6AF6FDD}"/>
                    </a:ext>
                  </a:extLst>
                </p:cNvPr>
                <p:cNvCxnSpPr/>
                <p:nvPr>
                  <p:custDataLst>
                    <p:tags r:id="rId13"/>
                  </p:custDataLst>
                </p:nvPr>
              </p:nvCxnSpPr>
              <p:spPr>
                <a:xfrm>
                  <a:off x="13149" y="8297"/>
                  <a:ext cx="182" cy="0"/>
                </a:xfrm>
                <a:prstGeom prst="line">
                  <a:avLst/>
                </a:prstGeom>
                <a:ln w="190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30F122AB-6161-562B-C918-1B1AD25CB38A}"/>
                </a:ext>
              </a:extLst>
            </p:cNvPr>
            <p:cNvGrpSpPr/>
            <p:nvPr/>
          </p:nvGrpSpPr>
          <p:grpSpPr>
            <a:xfrm>
              <a:off x="9018270" y="2254250"/>
              <a:ext cx="1502410" cy="1334770"/>
              <a:chOff x="14202" y="3941"/>
              <a:chExt cx="2366" cy="2102"/>
            </a:xfrm>
          </p:grpSpPr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8FEDC7D9-8D66-16D6-5014-7D7254519914}"/>
                  </a:ext>
                </a:extLst>
              </p:cNvPr>
              <p:cNvCxnSpPr/>
              <p:nvPr/>
            </p:nvCxnSpPr>
            <p:spPr>
              <a:xfrm>
                <a:off x="14202" y="3941"/>
                <a:ext cx="2367" cy="23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A6E49F26-0A76-8F79-4C0B-1AF971D63761}"/>
                  </a:ext>
                </a:extLst>
              </p:cNvPr>
              <p:cNvCxnSpPr/>
              <p:nvPr>
                <p:custDataLst>
                  <p:tags r:id="rId3"/>
                </p:custDataLst>
              </p:nvPr>
            </p:nvCxnSpPr>
            <p:spPr>
              <a:xfrm>
                <a:off x="14202" y="4635"/>
                <a:ext cx="2367" cy="2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1255823B-B2D8-7F59-E66B-2120286445E8}"/>
                  </a:ext>
                </a:extLst>
              </p:cNvPr>
              <p:cNvCxnSpPr/>
              <p:nvPr>
                <p:custDataLst>
                  <p:tags r:id="rId4"/>
                </p:custDataLst>
              </p:nvPr>
            </p:nvCxnSpPr>
            <p:spPr>
              <a:xfrm>
                <a:off x="14202" y="5328"/>
                <a:ext cx="2367" cy="2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48C5B25C-5FDF-B9F2-BC3F-E210E6066453}"/>
                  </a:ext>
                </a:extLst>
              </p:cNvPr>
              <p:cNvCxnSpPr/>
              <p:nvPr>
                <p:custDataLst>
                  <p:tags r:id="rId5"/>
                </p:custDataLst>
              </p:nvPr>
            </p:nvCxnSpPr>
            <p:spPr>
              <a:xfrm>
                <a:off x="14202" y="6021"/>
                <a:ext cx="2367" cy="2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344270D2-19FB-9922-E301-D3CF6918A6FB}"/>
                </a:ext>
              </a:extLst>
            </p:cNvPr>
            <p:cNvGrpSpPr/>
            <p:nvPr/>
          </p:nvGrpSpPr>
          <p:grpSpPr>
            <a:xfrm>
              <a:off x="8976995" y="2500630"/>
              <a:ext cx="647700" cy="420370"/>
              <a:chOff x="14139" y="4330"/>
              <a:chExt cx="1020" cy="662"/>
            </a:xfrm>
          </p:grpSpPr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5937EFAC-A4F7-FA05-FFC3-E7E7E5DD90A4}"/>
                  </a:ext>
                </a:extLst>
              </p:cNvPr>
              <p:cNvCxnSpPr/>
              <p:nvPr>
                <p:custDataLst>
                  <p:tags r:id="rId2"/>
                </p:custDataLst>
              </p:nvPr>
            </p:nvCxnSpPr>
            <p:spPr>
              <a:xfrm flipH="1">
                <a:off x="14309" y="4992"/>
                <a:ext cx="850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620ED0F-6FED-B389-2D0A-A1168069DD71}"/>
                  </a:ext>
                </a:extLst>
              </p:cNvPr>
              <p:cNvSpPr txBox="1"/>
              <p:nvPr/>
            </p:nvSpPr>
            <p:spPr>
              <a:xfrm>
                <a:off x="14139" y="4330"/>
                <a:ext cx="78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solidFill>
                      <a:srgbClr val="FF0000"/>
                    </a:solidFill>
                  </a:rPr>
                  <a:t>F</a:t>
                </a:r>
                <a:r>
                  <a:rPr lang="zh-CN" altLang="en-US" b="1" baseline="-25000">
                    <a:solidFill>
                      <a:srgbClr val="FF0000"/>
                    </a:solidFill>
                  </a:rPr>
                  <a:t>静</a:t>
                </a:r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EF5E22D4-996B-EC96-596B-08D2C0C5C1E0}"/>
                </a:ext>
              </a:extLst>
            </p:cNvPr>
            <p:cNvGrpSpPr/>
            <p:nvPr/>
          </p:nvGrpSpPr>
          <p:grpSpPr>
            <a:xfrm>
              <a:off x="9778365" y="2510790"/>
              <a:ext cx="805180" cy="412115"/>
              <a:chOff x="15193" y="8008"/>
              <a:chExt cx="1268" cy="649"/>
            </a:xfrm>
          </p:grpSpPr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A450E0B8-9889-4D57-D262-CF55CF4AD3D5}"/>
                  </a:ext>
                </a:extLst>
              </p:cNvPr>
              <p:cNvCxnSpPr/>
              <p:nvPr>
                <p:custDataLst>
                  <p:tags r:id="rId1"/>
                </p:custDataLst>
              </p:nvPr>
            </p:nvCxnSpPr>
            <p:spPr>
              <a:xfrm>
                <a:off x="15193" y="8657"/>
                <a:ext cx="1134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0109615-C0B3-84A0-6AA8-1BBF0655660B}"/>
                  </a:ext>
                </a:extLst>
              </p:cNvPr>
              <p:cNvSpPr txBox="1"/>
              <p:nvPr/>
            </p:nvSpPr>
            <p:spPr>
              <a:xfrm>
                <a:off x="15643" y="8008"/>
                <a:ext cx="81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solidFill>
                      <a:srgbClr val="FF0000"/>
                    </a:solidFill>
                  </a:rPr>
                  <a:t>F</a:t>
                </a:r>
                <a:r>
                  <a:rPr lang="zh-CN" altLang="en-US" b="1" baseline="-25000">
                    <a:solidFill>
                      <a:srgbClr val="FF0000"/>
                    </a:solidFill>
                  </a:rPr>
                  <a:t>非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83064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A8E3FC9-70EB-4FE5-3A0D-2F570F6BA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76400"/>
            <a:ext cx="105156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864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CE137A-EF16-59B9-DE0E-171CD31FF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能量转化</a:t>
            </a:r>
            <a:endParaRPr 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FCAAE2E-A9AA-826E-F748-C2F86E89BE45}"/>
              </a:ext>
            </a:extLst>
          </p:cNvPr>
          <p:cNvGrpSpPr/>
          <p:nvPr/>
        </p:nvGrpSpPr>
        <p:grpSpPr>
          <a:xfrm>
            <a:off x="989965" y="2804319"/>
            <a:ext cx="4878070" cy="2393950"/>
            <a:chOff x="1669" y="3718"/>
            <a:chExt cx="7682" cy="3770"/>
          </a:xfrm>
        </p:grpSpPr>
        <p:pic>
          <p:nvPicPr>
            <p:cNvPr id="6" name="图片 2">
              <a:extLst>
                <a:ext uri="{FF2B5EF4-FFF2-40B4-BE49-F238E27FC236}">
                  <a16:creationId xmlns:a16="http://schemas.microsoft.com/office/drawing/2014/main" id="{7D7FCAD7-0856-AF10-F06C-17F1A8ABA385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3526" y="3718"/>
              <a:ext cx="3969" cy="13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B4B118A-C9D0-F61F-4FF4-0C201E81C7F8}"/>
                </a:ext>
              </a:extLst>
            </p:cNvPr>
            <p:cNvSpPr txBox="1"/>
            <p:nvPr/>
          </p:nvSpPr>
          <p:spPr>
            <a:xfrm>
              <a:off x="1669" y="5018"/>
              <a:ext cx="7682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fontAlgn="auto">
                <a:lnSpc>
                  <a:spcPct val="200000"/>
                </a:lnSpc>
              </a:pPr>
              <a:r>
                <a:rPr lang="zh-CN" altLang="en-US" sz="2400" dirty="0"/>
                <a:t>在化学电池中，非静电力是化学作用，它使</a:t>
              </a:r>
              <a:r>
                <a:rPr lang="zh-CN" altLang="en-US" sz="2400" dirty="0">
                  <a:solidFill>
                    <a:srgbClr val="FF0000"/>
                  </a:solidFill>
                </a:rPr>
                <a:t>化学能转化为电势能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5CD23A4-D0AD-5F6C-4A3B-845DEFADCD22}"/>
              </a:ext>
            </a:extLst>
          </p:cNvPr>
          <p:cNvGrpSpPr/>
          <p:nvPr/>
        </p:nvGrpSpPr>
        <p:grpSpPr>
          <a:xfrm>
            <a:off x="6381115" y="2088674"/>
            <a:ext cx="4763770" cy="3825240"/>
            <a:chOff x="9917" y="1464"/>
            <a:chExt cx="7502" cy="6024"/>
          </a:xfrm>
        </p:grpSpPr>
        <p:pic>
          <p:nvPicPr>
            <p:cNvPr id="9" name="图片 8" descr="3db18b9931198256fd02fad6c405ec2">
              <a:extLst>
                <a:ext uri="{FF2B5EF4-FFF2-40B4-BE49-F238E27FC236}">
                  <a16:creationId xmlns:a16="http://schemas.microsoft.com/office/drawing/2014/main" id="{915E3AB0-6BB9-FC0F-550F-C1E7C1493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84" y="1464"/>
              <a:ext cx="3969" cy="3554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B6164DB-FD19-33D5-CC17-3A2AF7FA26B7}"/>
                </a:ext>
              </a:extLst>
            </p:cNvPr>
            <p:cNvSpPr txBox="1"/>
            <p:nvPr/>
          </p:nvSpPr>
          <p:spPr>
            <a:xfrm>
              <a:off x="9917" y="5018"/>
              <a:ext cx="7502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fontAlgn="auto">
                <a:lnSpc>
                  <a:spcPct val="200000"/>
                </a:lnSpc>
              </a:pPr>
              <a:r>
                <a:rPr lang="zh-CN" altLang="en-US" sz="2400">
                  <a:sym typeface="+mn-ea"/>
                </a:rPr>
                <a:t>在发电机中，非静电力是电磁作用，它使</a:t>
              </a:r>
              <a:r>
                <a:rPr lang="zh-CN" altLang="en-US" sz="2400">
                  <a:solidFill>
                    <a:srgbClr val="FF0000"/>
                  </a:solidFill>
                  <a:sym typeface="+mn-ea"/>
                </a:rPr>
                <a:t>机械能转化为电势能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294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7536E5-B05C-F7A3-06EC-85239055B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电动势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91BBF38-D36A-BA42-DB77-51E5BCCCA7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物理意义：反映电源把其他形式的能转化为电势能本领强弱的物理量。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单位：</a:t>
                </a:r>
                <a:r>
                  <a:rPr lang="en-US" altLang="zh-CN" dirty="0"/>
                  <a:t>V</a:t>
                </a:r>
              </a:p>
              <a:p>
                <a:r>
                  <a:rPr lang="zh-CN" altLang="en-US" dirty="0"/>
                  <a:t>电源电动势</a:t>
                </a:r>
                <a:r>
                  <a:rPr lang="en-US" altLang="zh-CN" dirty="0"/>
                  <a:t>E</a:t>
                </a:r>
                <a:r>
                  <a:rPr lang="zh-CN" altLang="en-US" dirty="0"/>
                  <a:t>的大小由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电源本身</a:t>
                </a:r>
                <a:r>
                  <a:rPr lang="zh-CN" altLang="en-US" dirty="0"/>
                  <a:t>的性质决定，与非静电力做功</a:t>
                </a:r>
                <a:r>
                  <a:rPr lang="en-US" altLang="zh-CN" dirty="0"/>
                  <a:t>W</a:t>
                </a:r>
                <a:r>
                  <a:rPr lang="zh-CN" altLang="en-US" dirty="0"/>
                  <a:t>非、移动的电荷量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无关，与外电路无关。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91BBF38-D36A-BA42-DB77-51E5BCCCA7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5714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175A14-333B-F892-2CF8-A447C740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下列关于电动势的说法正确的是（      ）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DD70D9-5645-B08A-114D-D662F86DA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A. </a:t>
            </a:r>
            <a:r>
              <a:rPr lang="zh-CN" altLang="en-US" dirty="0"/>
              <a:t>电动势就是电压，单位是</a:t>
            </a:r>
            <a:r>
              <a:rPr lang="en-US" altLang="zh-CN" dirty="0"/>
              <a:t>V</a:t>
            </a:r>
          </a:p>
          <a:p>
            <a:r>
              <a:rPr lang="en-US" altLang="zh-CN" dirty="0"/>
              <a:t>B. </a:t>
            </a:r>
            <a:r>
              <a:rPr lang="zh-CN" altLang="en-US" dirty="0"/>
              <a:t>电动势大的电源做功一定多</a:t>
            </a:r>
          </a:p>
          <a:p>
            <a:r>
              <a:rPr lang="en-US" altLang="zh-CN" dirty="0"/>
              <a:t>C. </a:t>
            </a:r>
            <a:r>
              <a:rPr lang="zh-CN" altLang="en-US" dirty="0"/>
              <a:t>电动势大的电源做功一定快</a:t>
            </a:r>
          </a:p>
          <a:p>
            <a:r>
              <a:rPr lang="en-US" altLang="zh-CN" dirty="0"/>
              <a:t>D. </a:t>
            </a:r>
            <a:r>
              <a:rPr lang="zh-CN" altLang="en-US" dirty="0"/>
              <a:t>电动势的大小等于电路中通过单位电荷时电源所提供的能量</a:t>
            </a:r>
          </a:p>
        </p:txBody>
      </p:sp>
    </p:spTree>
    <p:extLst>
      <p:ext uri="{BB962C8B-B14F-4D97-AF65-F5344CB8AC3E}">
        <p14:creationId xmlns:p14="http://schemas.microsoft.com/office/powerpoint/2010/main" val="3210582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07F6EC-B2B2-05E9-F24D-4116A6A94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CN" altLang="en-US" dirty="0"/>
              <a:t>铅蓄电池的电动势为</a:t>
            </a:r>
            <a:r>
              <a:rPr lang="en-US" altLang="zh-CN" dirty="0"/>
              <a:t>2V</a:t>
            </a:r>
            <a:r>
              <a:rPr lang="zh-CN" altLang="en-US" dirty="0"/>
              <a:t>，一节干电池的电动势为</a:t>
            </a:r>
            <a:r>
              <a:rPr lang="en-US" altLang="zh-CN" dirty="0"/>
              <a:t>1.5V</a:t>
            </a:r>
            <a:r>
              <a:rPr lang="zh-CN" altLang="en-US" dirty="0"/>
              <a:t>，将两电池分别接入电路中，两电路中的电流分别为</a:t>
            </a:r>
            <a:r>
              <a:rPr lang="en-US" altLang="zh-CN" dirty="0"/>
              <a:t>0.1A</a:t>
            </a:r>
            <a:r>
              <a:rPr lang="zh-CN" altLang="en-US" dirty="0"/>
              <a:t>和</a:t>
            </a:r>
            <a:r>
              <a:rPr lang="en-US" altLang="zh-CN" dirty="0"/>
              <a:t>0.2A</a:t>
            </a:r>
            <a:r>
              <a:rPr lang="zh-CN" altLang="en-US" dirty="0"/>
              <a:t>。两电路都工作</a:t>
            </a:r>
            <a:r>
              <a:rPr lang="en-US" altLang="zh-CN" dirty="0"/>
              <a:t>20s</a:t>
            </a:r>
            <a:r>
              <a:rPr lang="zh-CN" altLang="en-US" dirty="0"/>
              <a:t>，电源所消耗的化学能分别为多少？哪个电池把化学能转化为电能的本领更强？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371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8D5C66A-52F9-6820-4F0A-D48FFEE0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电源电动势反映了电源把其他形式的能量转化为电能的能力，因此（      ）</a:t>
            </a:r>
            <a:endParaRPr 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871E2F5-967F-110B-C380-06E18E1FC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A. </a:t>
            </a:r>
            <a:r>
              <a:rPr lang="zh-CN" altLang="en-US" dirty="0"/>
              <a:t>电动势是一种非静电力</a:t>
            </a:r>
          </a:p>
          <a:p>
            <a:r>
              <a:rPr lang="en-US" altLang="zh-CN" dirty="0"/>
              <a:t>B. </a:t>
            </a:r>
            <a:r>
              <a:rPr lang="zh-CN" altLang="en-US" dirty="0"/>
              <a:t>电动势越大，表明电源存储的电能越多</a:t>
            </a:r>
          </a:p>
          <a:p>
            <a:r>
              <a:rPr lang="en-US" altLang="zh-CN" dirty="0"/>
              <a:t>C. </a:t>
            </a:r>
            <a:r>
              <a:rPr lang="zh-CN" altLang="en-US" dirty="0"/>
              <a:t>电动势的大小是非静电力做功能力的反映</a:t>
            </a:r>
          </a:p>
          <a:p>
            <a:r>
              <a:rPr lang="en-US" altLang="zh-CN" dirty="0"/>
              <a:t>D. </a:t>
            </a:r>
            <a:r>
              <a:rPr lang="zh-CN" altLang="en-US" dirty="0"/>
              <a:t>电动势就是闭合电路中电源两端的电压</a:t>
            </a:r>
          </a:p>
        </p:txBody>
      </p:sp>
    </p:spTree>
    <p:extLst>
      <p:ext uri="{BB962C8B-B14F-4D97-AF65-F5344CB8AC3E}">
        <p14:creationId xmlns:p14="http://schemas.microsoft.com/office/powerpoint/2010/main" val="653870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44B13-9786-BBE4-B96A-C20609CEA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仔细观察电源</a:t>
            </a:r>
            <a:endParaRPr lang="en-US" dirty="0"/>
          </a:p>
        </p:txBody>
      </p:sp>
      <p:pic>
        <p:nvPicPr>
          <p:cNvPr id="24" name="内容占位符 3" descr="图示&#10;&#10;描述已自动生成">
            <a:extLst>
              <a:ext uri="{FF2B5EF4-FFF2-40B4-BE49-F238E27FC236}">
                <a16:creationId xmlns:a16="http://schemas.microsoft.com/office/drawing/2014/main" id="{576E2998-3D40-7B91-B818-904167573B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3087" y="2648674"/>
            <a:ext cx="2425825" cy="27052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0622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C4A5E-AC74-2766-B25E-ACCFF5E0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有内阻的电源可以看作一个没有电阻的理想电源与电阻</a:t>
            </a:r>
            <a:r>
              <a:rPr lang="en-US" altLang="zh-CN" dirty="0"/>
              <a:t>r</a:t>
            </a:r>
            <a:r>
              <a:rPr lang="zh-CN" altLang="en-US" dirty="0"/>
              <a:t>的串联</a:t>
            </a:r>
            <a:endParaRPr 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28E758F-3F3A-BB22-4157-A98615EC4C99}"/>
              </a:ext>
            </a:extLst>
          </p:cNvPr>
          <p:cNvGrpSpPr/>
          <p:nvPr/>
        </p:nvGrpSpPr>
        <p:grpSpPr>
          <a:xfrm>
            <a:off x="3151888" y="3576955"/>
            <a:ext cx="1634400" cy="1080000"/>
            <a:chOff x="3433" y="6972"/>
            <a:chExt cx="2574" cy="1701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C5F521A-08A7-77BB-80B7-9CAEAC06B043}"/>
                </a:ext>
              </a:extLst>
            </p:cNvPr>
            <p:cNvCxnSpPr/>
            <p:nvPr/>
          </p:nvCxnSpPr>
          <p:spPr>
            <a:xfrm>
              <a:off x="3433" y="7823"/>
              <a:ext cx="113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20513D05-71F2-1955-7D86-BDAD1106DA84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 rot="5400000">
              <a:off x="3717" y="7822"/>
              <a:ext cx="170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37C62C1-84B1-1F8F-F136-E9C7BC3B1596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 rot="5400000">
              <a:off x="4300" y="7823"/>
              <a:ext cx="113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B30AAB1-ECA5-15DF-C0E4-5F4C50730D8C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4873" y="7823"/>
              <a:ext cx="113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78D8BD5-6F23-C72F-82B5-2D4864342A35}"/>
                </a:ext>
              </a:extLst>
            </p:cNvPr>
            <p:cNvSpPr txBox="1"/>
            <p:nvPr/>
          </p:nvSpPr>
          <p:spPr>
            <a:xfrm>
              <a:off x="3813" y="7103"/>
              <a:ext cx="51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/>
                <a:t>E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A7F0DB-D12C-E078-BE23-ED8048A616F1}"/>
                </a:ext>
              </a:extLst>
            </p:cNvPr>
            <p:cNvSpPr txBox="1"/>
            <p:nvPr/>
          </p:nvSpPr>
          <p:spPr>
            <a:xfrm>
              <a:off x="4993" y="7083"/>
              <a:ext cx="45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/>
                <a:t>r</a:t>
              </a:r>
            </a:p>
          </p:txBody>
        </p:sp>
      </p:grpSp>
      <p:sp>
        <p:nvSpPr>
          <p:cNvPr id="11" name="右箭头 19">
            <a:extLst>
              <a:ext uri="{FF2B5EF4-FFF2-40B4-BE49-F238E27FC236}">
                <a16:creationId xmlns:a16="http://schemas.microsoft.com/office/drawing/2014/main" id="{1B652F64-09A5-85CA-7E0F-493CBD53FDA5}"/>
              </a:ext>
            </a:extLst>
          </p:cNvPr>
          <p:cNvSpPr/>
          <p:nvPr/>
        </p:nvSpPr>
        <p:spPr>
          <a:xfrm>
            <a:off x="5416298" y="3938905"/>
            <a:ext cx="558800" cy="3556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643483E-FFC1-B90A-231D-5E8F95142909}"/>
              </a:ext>
            </a:extLst>
          </p:cNvPr>
          <p:cNvGrpSpPr/>
          <p:nvPr/>
        </p:nvGrpSpPr>
        <p:grpSpPr>
          <a:xfrm>
            <a:off x="6627878" y="3429000"/>
            <a:ext cx="2895600" cy="1332000"/>
            <a:chOff x="10641" y="7023"/>
            <a:chExt cx="4560" cy="2098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95406A62-0DD4-4B1E-BCA0-922EDE598DF4}"/>
                </a:ext>
              </a:extLst>
            </p:cNvPr>
            <p:cNvGrpSpPr/>
            <p:nvPr/>
          </p:nvGrpSpPr>
          <p:grpSpPr>
            <a:xfrm>
              <a:off x="10641" y="7256"/>
              <a:ext cx="4560" cy="1701"/>
              <a:chOff x="11487" y="7261"/>
              <a:chExt cx="4560" cy="1701"/>
            </a:xfrm>
          </p:grpSpPr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E8412465-C8E0-6C1F-183F-A5B5847FF155}"/>
                  </a:ext>
                </a:extLst>
              </p:cNvPr>
              <p:cNvGrpSpPr/>
              <p:nvPr/>
            </p:nvGrpSpPr>
            <p:grpSpPr>
              <a:xfrm>
                <a:off x="11487" y="7261"/>
                <a:ext cx="3235" cy="1701"/>
                <a:chOff x="3433" y="6972"/>
                <a:chExt cx="3235" cy="1701"/>
              </a:xfrm>
            </p:grpSpPr>
            <p:cxnSp>
              <p:nvCxnSpPr>
                <p:cNvPr id="18" name="直接连接符 17">
                  <a:extLst>
                    <a:ext uri="{FF2B5EF4-FFF2-40B4-BE49-F238E27FC236}">
                      <a16:creationId xmlns:a16="http://schemas.microsoft.com/office/drawing/2014/main" id="{4EB57B56-964F-C3A6-33CB-9F053CF6093A}"/>
                    </a:ext>
                  </a:extLst>
                </p:cNvPr>
                <p:cNvCxnSpPr/>
                <p:nvPr>
                  <p:custDataLst>
                    <p:tags r:id="rId2"/>
                  </p:custDataLst>
                </p:nvPr>
              </p:nvCxnSpPr>
              <p:spPr>
                <a:xfrm>
                  <a:off x="3433" y="7823"/>
                  <a:ext cx="1134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>
                  <a:extLst>
                    <a:ext uri="{FF2B5EF4-FFF2-40B4-BE49-F238E27FC236}">
                      <a16:creationId xmlns:a16="http://schemas.microsoft.com/office/drawing/2014/main" id="{1CCB6EA2-B7E4-DFFE-A576-AFAC2F2D4ABA}"/>
                    </a:ext>
                  </a:extLst>
                </p:cNvPr>
                <p:cNvCxnSpPr/>
                <p:nvPr>
                  <p:custDataLst>
                    <p:tags r:id="rId3"/>
                  </p:custDataLst>
                </p:nvPr>
              </p:nvCxnSpPr>
              <p:spPr>
                <a:xfrm rot="5400000">
                  <a:off x="3717" y="7822"/>
                  <a:ext cx="1701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>
                  <a:extLst>
                    <a:ext uri="{FF2B5EF4-FFF2-40B4-BE49-F238E27FC236}">
                      <a16:creationId xmlns:a16="http://schemas.microsoft.com/office/drawing/2014/main" id="{BBB8E662-97F2-DE30-FCAE-C268637FF768}"/>
                    </a:ext>
                  </a:extLst>
                </p:cNvPr>
                <p:cNvCxnSpPr/>
                <p:nvPr>
                  <p:custDataLst>
                    <p:tags r:id="rId4"/>
                  </p:custDataLst>
                </p:nvPr>
              </p:nvCxnSpPr>
              <p:spPr>
                <a:xfrm rot="5400000">
                  <a:off x="4300" y="7823"/>
                  <a:ext cx="1134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>
                  <a:extLst>
                    <a:ext uri="{FF2B5EF4-FFF2-40B4-BE49-F238E27FC236}">
                      <a16:creationId xmlns:a16="http://schemas.microsoft.com/office/drawing/2014/main" id="{20FD2C6C-7592-F004-0FD3-C757E90534F4}"/>
                    </a:ext>
                  </a:extLst>
                </p:cNvPr>
                <p:cNvCxnSpPr/>
                <p:nvPr>
                  <p:custDataLst>
                    <p:tags r:id="rId5"/>
                  </p:custDataLst>
                </p:nvPr>
              </p:nvCxnSpPr>
              <p:spPr>
                <a:xfrm>
                  <a:off x="4873" y="7823"/>
                  <a:ext cx="1134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EE8B22D1-5F69-1FE3-8171-AD0F24F070F2}"/>
                    </a:ext>
                  </a:extLst>
                </p:cNvPr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3813" y="7103"/>
                  <a:ext cx="514" cy="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/>
                    <a:t>E</a:t>
                  </a:r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CC1BC51-E0D4-73C7-5820-539B181214DD}"/>
                    </a:ext>
                  </a:extLst>
                </p:cNvPr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6213" y="6983"/>
                  <a:ext cx="455" cy="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/>
                    <a:t>r</a:t>
                  </a:r>
                </a:p>
              </p:txBody>
            </p:sp>
          </p:grp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3ED4521-70D6-655B-C0D5-57D6CE547EC8}"/>
                  </a:ext>
                </a:extLst>
              </p:cNvPr>
              <p:cNvSpPr/>
              <p:nvPr/>
            </p:nvSpPr>
            <p:spPr>
              <a:xfrm>
                <a:off x="14067" y="7923"/>
                <a:ext cx="840" cy="3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287E708E-6200-A0BB-3A60-32FD3C53C228}"/>
                  </a:ext>
                </a:extLst>
              </p:cNvPr>
              <p:cNvCxnSpPr/>
              <p:nvPr>
                <p:custDataLst>
                  <p:tags r:id="rId1"/>
                </p:custDataLst>
              </p:nvPr>
            </p:nvCxnSpPr>
            <p:spPr>
              <a:xfrm>
                <a:off x="14913" y="8097"/>
                <a:ext cx="11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DD9CA81-8857-84D4-7214-6FAFE4AB096E}"/>
                </a:ext>
              </a:extLst>
            </p:cNvPr>
            <p:cNvSpPr/>
            <p:nvPr/>
          </p:nvSpPr>
          <p:spPr>
            <a:xfrm>
              <a:off x="10924" y="7023"/>
              <a:ext cx="3660" cy="209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037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D7685-EC00-0402-5A45-DA574880B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尝试写出其中物理量之间的关系</a:t>
            </a:r>
            <a:endParaRPr 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387985A-D796-C690-F17C-0CD94CA167F3}"/>
              </a:ext>
            </a:extLst>
          </p:cNvPr>
          <p:cNvGrpSpPr/>
          <p:nvPr/>
        </p:nvGrpSpPr>
        <p:grpSpPr>
          <a:xfrm>
            <a:off x="4656455" y="2825909"/>
            <a:ext cx="2879090" cy="2350770"/>
            <a:chOff x="12701" y="4487"/>
            <a:chExt cx="4534" cy="370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6385786F-6259-2B5B-4237-D246D1FE0D92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2701" y="4487"/>
              <a:ext cx="4535" cy="3526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BE480C6-E236-13FE-163F-DD4BB965495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3693" y="6659"/>
              <a:ext cx="2381" cy="153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77263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C6E291-8C57-3374-C54B-01BC706AC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路端电压（</a:t>
            </a:r>
            <a:r>
              <a:rPr lang="en-US" altLang="zh-CN" dirty="0"/>
              <a:t>Terminal Voltage</a:t>
            </a:r>
            <a:r>
              <a:rPr lang="zh-CN" altLang="en-US" dirty="0"/>
              <a:t>）</a:t>
            </a:r>
            <a:endParaRPr 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65DCF654-EFF9-A530-13B2-5E21D325E4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7526" y="1825625"/>
            <a:ext cx="5596948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53163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C7C618-4A9A-E622-1FB7-939A87EF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zh-CN" altLang="en-US" sz="3400" dirty="0"/>
              <a:t>在如图所示的电路中，电阻</a:t>
            </a:r>
            <a:r>
              <a:rPr lang="en-US" altLang="zh-CN" sz="3400" dirty="0"/>
              <a:t>R=2.0</a:t>
            </a:r>
            <a:r>
              <a:rPr lang="zh-CN" altLang="en-US" sz="3400" dirty="0"/>
              <a:t>𝛺，电源的电动势</a:t>
            </a:r>
            <a:r>
              <a:rPr lang="en-US" altLang="zh-CN" sz="3400" dirty="0"/>
              <a:t>3.0V</a:t>
            </a:r>
            <a:r>
              <a:rPr lang="zh-CN" altLang="en-US" sz="3400" dirty="0"/>
              <a:t>，内电阻</a:t>
            </a:r>
            <a:r>
              <a:rPr lang="en-US" altLang="zh-CN" sz="3400" dirty="0"/>
              <a:t>r=1.0</a:t>
            </a:r>
            <a:r>
              <a:rPr lang="zh-CN" altLang="en-US" sz="3400" dirty="0"/>
              <a:t>𝛺，闭合开关</a:t>
            </a:r>
            <a:r>
              <a:rPr lang="en-US" altLang="zh-CN" sz="3400" dirty="0"/>
              <a:t>S</a:t>
            </a:r>
            <a:r>
              <a:rPr lang="zh-CN" altLang="en-US" sz="3400" dirty="0"/>
              <a:t>后，路端电压为</a:t>
            </a:r>
            <a:endParaRPr lang="en-US" sz="3400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ADC1458F-B095-7E92-4E0F-2D0091B887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7526" y="1825625"/>
            <a:ext cx="5596948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5873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12FED0-16B4-431C-9736-08C7EE519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zh-CN" altLang="en-US" sz="2800" dirty="0"/>
              <a:t>如图所示的电路中，当</a:t>
            </a:r>
            <a:r>
              <a:rPr lang="en-US" altLang="zh-CN" sz="2800" dirty="0"/>
              <a:t>S</a:t>
            </a:r>
            <a:r>
              <a:rPr lang="zh-CN" altLang="en-US" sz="2800" dirty="0"/>
              <a:t>闭合时，电压表和电流表（均为理想电表）的示数各为</a:t>
            </a:r>
            <a:r>
              <a:rPr lang="en-US" altLang="zh-CN" sz="2800" dirty="0"/>
              <a:t>1.6V</a:t>
            </a:r>
            <a:r>
              <a:rPr lang="zh-CN" altLang="en-US" sz="2800" dirty="0"/>
              <a:t>和</a:t>
            </a:r>
            <a:r>
              <a:rPr lang="en-US" altLang="zh-CN" sz="2800"/>
              <a:t>0.4A</a:t>
            </a:r>
            <a:r>
              <a:rPr lang="zh-CN" altLang="en-US" sz="2800"/>
              <a:t>。</a:t>
            </a:r>
            <a:r>
              <a:rPr lang="zh-CN" altLang="en-US" sz="2800" dirty="0"/>
              <a:t>当</a:t>
            </a:r>
            <a:r>
              <a:rPr lang="en-US" altLang="zh-CN" sz="2800" dirty="0"/>
              <a:t>S</a:t>
            </a:r>
            <a:r>
              <a:rPr lang="zh-CN" altLang="en-US" sz="2800" dirty="0"/>
              <a:t>断开时，它们的示数各改变</a:t>
            </a:r>
            <a:r>
              <a:rPr lang="en-US" altLang="zh-CN" sz="2800" dirty="0"/>
              <a:t>0.1V</a:t>
            </a:r>
            <a:r>
              <a:rPr lang="zh-CN" altLang="en-US" sz="2800" dirty="0"/>
              <a:t>和</a:t>
            </a:r>
            <a:r>
              <a:rPr lang="en-US" altLang="zh-CN" sz="2800" dirty="0"/>
              <a:t>0.1A</a:t>
            </a:r>
            <a:r>
              <a:rPr lang="zh-CN" altLang="en-US" sz="2800" dirty="0"/>
              <a:t>，求电源的电动势和内阻。</a:t>
            </a:r>
            <a:endParaRPr lang="en-US" sz="2800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CCD8D0F-F280-A78C-A2A3-3D89CCE05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3604" y="1825625"/>
            <a:ext cx="5164792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82953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4" name="yt_shape_16214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4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含电动机的闭合电路欧姆定律的应用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1b4a1"/>
              </a:rPr>
              <a:t>电源电动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势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小灯泡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的规格为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9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开关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接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023f2"/>
              </a:rPr>
              <a:t>滑动变阻器接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入电路的电阻为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小灯泡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正常发光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开关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接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小灯泡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9ef8f"/>
              </a:rPr>
              <a:t>和电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动机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均正常工作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已知电动机的线圈电阻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pic>
        <p:nvPicPr>
          <p:cNvPr id="16215" name="yt_image_16215">
            <a:extLst>
              <a:ext uri="">
                <a16:creationId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19072" y="3013074"/>
            <a:ext cx="2553855" cy="197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217" name="yt_shape_16217"/>
          <p:cNvSpPr txBox="1"/>
          <p:nvPr/>
        </p:nvSpPr>
        <p:spPr>
          <a:xfrm>
            <a:off x="324000" y="5036689"/>
            <a:ext cx="305211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电源的内阻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6218" name="yt_shape_16218"/>
          <p:cNvSpPr txBox="1"/>
          <p:nvPr/>
        </p:nvSpPr>
        <p:spPr>
          <a:xfrm>
            <a:off x="324000" y="5619674"/>
            <a:ext cx="1702389" cy="53764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18" grpId="0" build="allAtOnce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219" name="yt_shape_16219"/>
              <p:cNvSpPr txBox="1"/>
              <p:nvPr/>
            </p:nvSpPr>
            <p:spPr>
              <a:xfrm>
                <a:off x="324000" y="467999"/>
                <a:ext cx="7762574" cy="2816733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小灯泡正常发光时的电阻为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L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zh-CN" sz="2800" b="0" i="0" baseline="-200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宋体" panose="02040503050406030204" pitchFamily="56" charset="0"/>
                                  </a:rPr>
                                  <m:t>额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额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流过小灯泡的电流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额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当开关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时有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L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</p:txBody>
          </p:sp>
        </mc:Choice>
        <mc:Fallback xmlns="">
          <p:sp>
            <p:nvSpPr>
              <p:cNvPr id="16219" name="yt_shape_162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467999"/>
                <a:ext cx="7762574" cy="2816733"/>
              </a:xfrm>
              <a:prstGeom prst="rect">
                <a:avLst/>
              </a:prstGeom>
              <a:blipFill>
                <a:blip r:embed="rId2"/>
                <a:stretch>
                  <a:fillRect l="-2747" r="-1805" b="-6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21" name="yt_shape_16221"/>
          <p:cNvSpPr txBox="1"/>
          <p:nvPr/>
        </p:nvSpPr>
        <p:spPr>
          <a:xfrm>
            <a:off x="324000" y="3335520"/>
            <a:ext cx="354744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解得电源内阻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224" name="yt_shape_16224"/>
              <p:cNvSpPr txBox="1"/>
              <p:nvPr/>
            </p:nvSpPr>
            <p:spPr>
              <a:xfrm>
                <a:off x="267086" y="1803315"/>
                <a:ext cx="11924914" cy="409144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当开关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灯泡正常发光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电路中的电流与开关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ca2b4"/>
                  </a:rPr>
                  <a:t>时的电流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相同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所以电动机的正常工作电压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机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L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电动机的输入功率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入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72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电动机的发热功率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热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18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则电动机的输出功率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机出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入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热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54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电动机的效率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η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机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机出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入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％＝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54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％＝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75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％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6224" name="yt_shape_162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1803315"/>
                <a:ext cx="11924914" cy="4091441"/>
              </a:xfrm>
              <a:prstGeom prst="rect">
                <a:avLst/>
              </a:prstGeom>
              <a:blipFill>
                <a:blip r:embed="rId2"/>
                <a:stretch>
                  <a:fillRect l="-1840" t="-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yt_shape_16222"/>
          <p:cNvSpPr txBox="1"/>
          <p:nvPr/>
        </p:nvSpPr>
        <p:spPr>
          <a:xfrm>
            <a:off x="267086" y="543775"/>
            <a:ext cx="700191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电动机的输入功率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输出功率及效率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4" name="yt_shape_16223"/>
          <p:cNvSpPr txBox="1"/>
          <p:nvPr/>
        </p:nvSpPr>
        <p:spPr>
          <a:xfrm>
            <a:off x="267086" y="1126760"/>
            <a:ext cx="4882619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0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72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75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24" grpId="0"/>
      <p:bldP spid="4" grpId="0" build="allAtOnce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9" name="yt_shape_16229"/>
          <p:cNvSpPr txBox="1"/>
          <p:nvPr/>
        </p:nvSpPr>
        <p:spPr>
          <a:xfrm>
            <a:off x="4989753" y="545874"/>
            <a:ext cx="2154436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7030A0"/>
                </a:solidFill>
                <a:effectLst/>
                <a:latin typeface="微软雅黑" pitchFamily="28"/>
                <a:ea typeface="微软雅黑" pitchFamily="28"/>
              </a:rPr>
              <a:t>电阻表的原理</a:t>
            </a:r>
          </a:p>
        </p:txBody>
      </p:sp>
      <p:sp>
        <p:nvSpPr>
          <p:cNvPr id="16230" name="yt_shape_16230"/>
          <p:cNvSpPr txBox="1"/>
          <p:nvPr/>
        </p:nvSpPr>
        <p:spPr>
          <a:xfrm>
            <a:off x="294971" y="1134566"/>
            <a:ext cx="2603277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电阻表的原理</a:t>
            </a:r>
          </a:p>
        </p:txBody>
      </p:sp>
      <p:sp>
        <p:nvSpPr>
          <p:cNvPr id="16231" name="yt_shape_16231"/>
          <p:cNvSpPr txBox="1"/>
          <p:nvPr/>
        </p:nvSpPr>
        <p:spPr>
          <a:xfrm>
            <a:off x="294971" y="1718577"/>
            <a:ext cx="448840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电路结构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16232" name="yt_image_16232">
            <a:extLst>
              <a:ext uri="">
                <a16:creationId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6027" y="2453926"/>
            <a:ext cx="6561887" cy="2620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234" name="yt_shape_16234"/>
          <p:cNvSpPr txBox="1"/>
          <p:nvPr/>
        </p:nvSpPr>
        <p:spPr>
          <a:xfrm>
            <a:off x="294971" y="5125098"/>
            <a:ext cx="628377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测量原理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闭合电路的欧姆定律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3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235" name="yt_shape_16235"/>
              <p:cNvSpPr txBox="1"/>
              <p:nvPr/>
            </p:nvSpPr>
            <p:spPr>
              <a:xfrm>
                <a:off x="324071" y="467999"/>
                <a:ext cx="11543998" cy="213193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电阻表由电流表改装而成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通过表头的电流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g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  <a:sym typeface="_⨹_7_fb413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  <a:sym typeface="_⨹_7_fb413"/>
                          </a:rPr>
                          <m:t>𝐸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  <a:sym typeface="_⨹_7_fb413"/>
                          </a:rPr>
                          <m:t>𝐼</m:t>
                        </m:r>
                      </m:den>
                    </m:f>
                  </m:oMath>
                </a14:m>
                <a:br>
                  <a:rPr lang="en-US" altLang="zh-CN" sz="2800" b="0" i="1">
                    <a:solidFill>
                      <a:srgbClr val="010000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56" charset="0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－（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与电流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一一对应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4_e0337"/>
                  </a:rPr>
                  <a:t>如果将表盘上的电流值改为电阻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值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就可以从表盘上直接读出电阻的数值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这样就制成了一个电阻表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6235" name="yt_shape_16235" descr="{&quot;rangeId&quot;:93,&quot;color&quot;:&quot;B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543998" cy="2131930"/>
              </a:xfrm>
              <a:prstGeom prst="rect">
                <a:avLst/>
              </a:prstGeom>
              <a:blipFill>
                <a:blip r:embed="rId2"/>
                <a:stretch>
                  <a:fillRect l="-1848" b="-94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37" name="yt_shape_16237"/>
          <p:cNvSpPr txBox="1"/>
          <p:nvPr/>
        </p:nvSpPr>
        <p:spPr>
          <a:xfrm>
            <a:off x="324000" y="2650717"/>
            <a:ext cx="600484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电阻表的内阻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6238" name="yt_shape_16238"/>
          <p:cNvSpPr txBox="1"/>
          <p:nvPr/>
        </p:nvSpPr>
        <p:spPr>
          <a:xfrm>
            <a:off x="324071" y="3233702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欧姆调零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式中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为变阻器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也叫调零电阻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通过调节它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2aea4"/>
              </a:rPr>
              <a:t>可以使电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阻表指针指向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位置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37" grpId="0"/>
      <p:bldP spid="1623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9" name="yt_shape_16239"/>
          <p:cNvSpPr txBox="1"/>
          <p:nvPr/>
        </p:nvSpPr>
        <p:spPr>
          <a:xfrm>
            <a:off x="324000" y="467999"/>
            <a:ext cx="2962349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刻度标注的特点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240" name="yt_table_16240" title="H_452.11505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80457" y="1015688"/>
              <a:ext cx="11543996" cy="5144453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17245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5340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374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刻度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标注方法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标注位置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“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0Ω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”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红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、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黑表笔相接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调节调零旋钮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4_98139"/>
                            </a:rPr>
                            <a:t>使指针满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偏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被测电阻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1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满偏电流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I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处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“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∞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”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红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、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黑表笔不接触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表头指针不偏转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3_dafc6"/>
                            </a:rPr>
                            <a:t>被测电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阻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1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∞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电流为零处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3_8d3df"/>
                            </a:rPr>
                            <a:t>中值电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阻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1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＋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＋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刻度盘正中央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“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1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”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红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、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黑表笔接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1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1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E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I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－（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＋</a:t>
                          </a:r>
                          <a:r>
                            <a:rPr lang="en-US" altLang="zh-CN" sz="2800" b="0" i="1" u="none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0" u="none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＋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），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1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1_86800"/>
                            </a:rPr>
                            <a:t>与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I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一一对应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与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1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对应的电流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1_287ad"/>
                            </a:rPr>
                            <a:t>I</a:t>
                          </a:r>
                          <a:b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处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:a16="http://schemas.microsoft.com/office/drawing/2014/main" xmlns:p14="http://schemas.microsoft.com/office/powerpoint/2010/main" xmlns:p15="http://schemas.microsoft.com/office/powerpoint/2012/main" xmlns="">
          <p:graphicFrame>
            <p:nvGraphicFramePr>
              <p:cNvPr id="16240" name="yt_table_16240" title="H_452.11505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002460"/>
                  </p:ext>
                </p:extLst>
              </p:nvPr>
            </p:nvGraphicFramePr>
            <p:xfrm>
              <a:off x="280457" y="1015688"/>
              <a:ext cx="11543996" cy="5355527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17245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5340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374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88848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刻度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标注方法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标注位置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86256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“</a:t>
                          </a:r>
                          <a:r>
                            <a:rPr lang="en-US" altLang="zh-CN" sz="2800" b="0" i="0" u="non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0Ω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”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红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、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黑表笔相接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调节调零旋钮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4_98139"/>
                            </a:rPr>
                            <a:t>使指针</a:t>
                          </a:r>
                          <a:r>
                            <a:rPr lang="zh-CN" altLang="zh-CN" sz="2800" b="0" i="0" u="non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4_98139"/>
                            </a:rPr>
                            <a:t>满</a:t>
                          </a:r>
                          <a:r>
                            <a:rPr lang="zh-CN" altLang="zh-CN" sz="2800" b="0" i="0" u="non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偏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被测电阻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1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满偏电流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I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处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15898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“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∞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”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红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、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黑表笔不接触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表头指针不偏转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3_dafc6"/>
                            </a:rPr>
                            <a:t>被测</a:t>
                          </a:r>
                          <a:r>
                            <a:rPr lang="zh-CN" altLang="zh-CN" sz="2800" b="0" i="0" u="non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3_dafc6"/>
                            </a:rPr>
                            <a:t>电</a:t>
                          </a:r>
                          <a:r>
                            <a:rPr lang="zh-CN" altLang="zh-CN" sz="2800" b="0" i="0" u="non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阻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1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∞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电流为零处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8848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3_8d3df"/>
                            </a:rPr>
                            <a:t>中值</a:t>
                          </a:r>
                          <a:r>
                            <a:rPr lang="zh-CN" altLang="zh-CN" sz="2800" b="0" i="0" u="non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3_8d3df"/>
                            </a:rPr>
                            <a:t>电</a:t>
                          </a:r>
                          <a:r>
                            <a:rPr lang="zh-CN" altLang="zh-CN" sz="2800" b="0" i="0" u="non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阻</a:t>
                          </a:r>
                          <a:endParaRPr lang="zh-CN" altLang="zh-CN" sz="2800" b="0" i="0" u="none" dirty="0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1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＋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＋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刻度盘正中央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475677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“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1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”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33302" t="-264050" r="-43657" b="-115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与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1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对应的电流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1_287ad"/>
                            </a:rPr>
                            <a:t>I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/>
                          </a:r>
                          <a:b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处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2" name="yt_shape_16242"/>
          <p:cNvSpPr txBox="1"/>
          <p:nvPr/>
        </p:nvSpPr>
        <p:spPr>
          <a:xfrm>
            <a:off x="324000" y="467999"/>
            <a:ext cx="7181453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【典例】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如图所示为电阻表的工作原理图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16243" name="yt_image_16243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62423" y="1204374"/>
            <a:ext cx="3267152" cy="198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245" name="yt_shape_16245"/>
          <p:cNvSpPr txBox="1"/>
          <p:nvPr/>
        </p:nvSpPr>
        <p:spPr>
          <a:xfrm>
            <a:off x="324071" y="3242273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若表头的满偏电流为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500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μA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干电池的电动势为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1613d"/>
              </a:rPr>
              <a:t>把灵敏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电流表的电流刻度值对应的电阻表电阻值填在下表中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graphicFrame>
        <p:nvGraphicFramePr>
          <p:cNvPr id="16246" name="yt_table_16246" title="H_108.4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00" y="4561693"/>
          <a:ext cx="11543995" cy="14203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2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4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,isEnd"/>
                        </a:rPr>
                        <a:t>电流刻度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,isEnd"/>
                        </a:rPr>
                        <a:t>0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200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,isEnd"/>
                        </a:rPr>
                        <a:t>μA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300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,isEnd"/>
                        </a:rPr>
                        <a:t>μA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500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,isEnd"/>
                        </a:rPr>
                        <a:t>μA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,isEnd"/>
                        </a:rPr>
                        <a:t>电阻刻度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  <a:sym typeface=",isEnd"/>
                        </a:rPr>
                        <a:t>∞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sz="3000" u="sng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</a:rPr>
                        <a:t> </a:t>
                      </a:r>
                      <a:r>
                        <a:rPr sz="2000" u="sng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</a:rPr>
                        <a:t>                         </a:t>
                      </a:r>
                      <a:r>
                        <a:rPr sz="1300" u="sng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</a:rPr>
                        <a:t> </a:t>
                      </a:r>
                      <a:r>
                        <a:rPr sz="100" spc="-100">
                          <a:latin typeface="Times New Roman"/>
                        </a:rPr>
                        <a:t>⁠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sz="3000" u="sng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</a:rPr>
                        <a:t> </a:t>
                      </a:r>
                      <a:r>
                        <a:rPr sz="2000" u="sng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</a:rPr>
                        <a:t>                    </a:t>
                      </a:r>
                      <a:r>
                        <a:rPr sz="100" u="sng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</a:rPr>
                        <a:t> </a:t>
                      </a:r>
                      <a:r>
                        <a:rPr sz="100" spc="-100">
                          <a:latin typeface="Times New Roman"/>
                        </a:rPr>
                        <a:t>⁠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sz="3000" u="sng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</a:rPr>
                        <a:t> </a:t>
                      </a:r>
                      <a:r>
                        <a:rPr sz="2000" u="sng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</a:rPr>
                        <a:t> </a:t>
                      </a:r>
                      <a:r>
                        <a:rPr sz="800" u="sng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</a:rPr>
                        <a:t> </a:t>
                      </a:r>
                      <a:r>
                        <a:rPr sz="100" spc="-100">
                          <a:latin typeface="Times New Roman"/>
                        </a:rPr>
                        <a:t>⁠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62E4F650-D994-E792-D677-67453374F6A7}"/>
              </a:ext>
            </a:extLst>
          </p:cNvPr>
          <p:cNvSpPr txBox="1"/>
          <p:nvPr/>
        </p:nvSpPr>
        <p:spPr>
          <a:xfrm>
            <a:off x="4417844" y="5390374"/>
            <a:ext cx="1896174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4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  <a:cs typeface="+mn-cs"/>
              </a:rPr>
              <a:t>.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5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  <a:cs typeface="+mn-cs"/>
              </a:rPr>
              <a:t>×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10</a:t>
            </a:r>
            <a:r>
              <a:rPr kumimoji="0" lang="en-US" altLang="zh-CN" sz="2800" b="0" i="0" strike="noStrike" kern="1200" cap="none" spc="0" normalizeH="0" baseline="30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3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 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Ω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FCFF05-FD5F-8D36-96ED-18450A3C7965}"/>
              </a:ext>
            </a:extLst>
          </p:cNvPr>
          <p:cNvSpPr txBox="1"/>
          <p:nvPr/>
        </p:nvSpPr>
        <p:spPr>
          <a:xfrm>
            <a:off x="6904232" y="5390374"/>
            <a:ext cx="1540574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2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  <a:cs typeface="+mn-cs"/>
              </a:rPr>
              <a:t>×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10</a:t>
            </a:r>
            <a:r>
              <a:rPr kumimoji="0" lang="en-US" altLang="zh-CN" sz="2800" b="0" i="0" strike="noStrike" kern="1200" cap="none" spc="0" normalizeH="0" baseline="30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3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 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Ω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F052E1-4349-1650-9553-66C3E210F212}"/>
              </a:ext>
            </a:extLst>
          </p:cNvPr>
          <p:cNvSpPr txBox="1"/>
          <p:nvPr/>
        </p:nvSpPr>
        <p:spPr>
          <a:xfrm>
            <a:off x="9381096" y="5466574"/>
            <a:ext cx="357886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0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3" grpId="0" build="allAtOnce"/>
      <p:bldP spid="4" grpId="0" build="allAtOnce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248" name="yt_shape_16248"/>
              <p:cNvSpPr txBox="1"/>
              <p:nvPr/>
            </p:nvSpPr>
            <p:spPr>
              <a:xfrm>
                <a:off x="324071" y="468000"/>
                <a:ext cx="11924914" cy="213938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对应电流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仿宋" pitchFamily="28"/>
                    <a:ea typeface="仿宋" pitchFamily="28"/>
                  </a:rPr>
                  <a:t>“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仿宋" pitchFamily="28"/>
                    <a:ea typeface="仿宋" pitchFamily="28"/>
                  </a:rPr>
                  <a:t>”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刻度的电阻刻度为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仿宋" pitchFamily="28"/>
                    <a:ea typeface="仿宋" pitchFamily="28"/>
                  </a:rPr>
                  <a:t>“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∞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仿宋" pitchFamily="28"/>
                    <a:ea typeface="仿宋" pitchFamily="28"/>
                  </a:rPr>
                  <a:t>”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对应满偏电流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仿宋" pitchFamily="28"/>
                    <a:ea typeface="仿宋" pitchFamily="28"/>
                  </a:rPr>
                  <a:t>“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500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e3530"/>
                  </a:rPr>
                  <a:t> 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μA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仿宋" pitchFamily="28"/>
                    <a:ea typeface="仿宋" pitchFamily="28"/>
                  </a:rPr>
                  <a:t>”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刻度的电阻刻度为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仿宋" pitchFamily="28"/>
                    <a:ea typeface="仿宋" pitchFamily="28"/>
                  </a:rPr>
                  <a:t>“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仿宋" pitchFamily="28"/>
                    <a:ea typeface="仿宋" pitchFamily="28"/>
                  </a:rPr>
                  <a:t>”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所以调零时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由闭合电路欧姆定律有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15ebc"/>
                  </a:rPr>
                  <a:t>＝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g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</p:txBody>
          </p:sp>
        </mc:Choice>
        <mc:Fallback xmlns="">
          <p:sp>
            <p:nvSpPr>
              <p:cNvPr id="16248" name="yt_shape_162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8000"/>
                <a:ext cx="11924914" cy="2139380"/>
              </a:xfrm>
              <a:prstGeom prst="rect">
                <a:avLst/>
              </a:prstGeom>
              <a:blipFill>
                <a:blip r:embed="rId2"/>
                <a:stretch>
                  <a:fillRect l="-1789" t="-2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yt_shape_16250"/>
              <p:cNvSpPr txBox="1"/>
              <p:nvPr/>
            </p:nvSpPr>
            <p:spPr>
              <a:xfrm>
                <a:off x="236913" y="2398400"/>
                <a:ext cx="8785675" cy="4401544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解得电阻表总内阻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g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000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测量电阻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时有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内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μA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V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200×1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</m:t>
                            </m:r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000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300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μA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V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300×1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</m:t>
                            </m:r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000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3" name="yt_shape_162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13" y="2398400"/>
                <a:ext cx="8785675" cy="4401544"/>
              </a:xfrm>
              <a:prstGeom prst="rect">
                <a:avLst/>
              </a:prstGeom>
              <a:blipFill>
                <a:blip r:embed="rId3"/>
                <a:stretch>
                  <a:fillRect l="-2498" r="-2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252" name="yt_shape_16252"/>
              <p:cNvSpPr txBox="1"/>
              <p:nvPr/>
            </p:nvSpPr>
            <p:spPr>
              <a:xfrm>
                <a:off x="324071" y="467999"/>
                <a:ext cx="11543998" cy="138698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这只电阻表的总内阻为</a:t>
                </a:r>
                <a:r>
                  <a:rPr sz="4000" u="sng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/>
                  </a:rPr>
                  <a:t> </a:t>
                </a:r>
                <a:r>
                  <a:rPr sz="2000" u="sng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/>
                  </a:rPr>
                  <a:t>                     </a:t>
                </a:r>
                <a:r>
                  <a:rPr sz="1600" u="sng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/>
                  </a:rPr>
                  <a:t> 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表针偏转到满刻度的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2_34bf2,isEnd"/>
                  </a:rPr>
                  <a:t>待测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电阻为</a:t>
                </a:r>
                <a:r>
                  <a:rPr sz="2500" u="sng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/>
                  </a:rPr>
                  <a:t> </a:t>
                </a:r>
                <a:r>
                  <a:rPr sz="2000" u="sng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/>
                  </a:rPr>
                  <a:t>                      </a:t>
                </a:r>
                <a:r>
                  <a:rPr sz="1100" u="sng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/>
                  </a:rPr>
                  <a:t>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  <a:sym typeface=",isEnd"/>
                  </a:rPr>
                  <a:t>。</a:t>
                </a:r>
              </a:p>
            </p:txBody>
          </p:sp>
        </mc:Choice>
        <mc:Fallback xmlns:a16="http://schemas.microsoft.com/office/drawing/2014/main" xmlns="">
          <p:sp>
            <p:nvSpPr>
              <p:cNvPr id="16252" name="yt_shape_162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543998" cy="1386983"/>
              </a:xfrm>
              <a:prstGeom prst="rect">
                <a:avLst/>
              </a:prstGeom>
              <a:blipFill>
                <a:blip r:embed="rId2"/>
                <a:stretch>
                  <a:fillRect l="-1848" b="-149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54" name="yt_shape_16254"/>
              <p:cNvSpPr txBox="1"/>
              <p:nvPr/>
            </p:nvSpPr>
            <p:spPr>
              <a:xfrm>
                <a:off x="324071" y="1905770"/>
                <a:ext cx="11924914" cy="233371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可知这只电阻表的总内阻为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000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0_dcfb8"/>
                  </a:rPr>
                  <a:t>。当表针偏转到满刻度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处时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通过电阻表的电流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″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500</m:t>
                        </m:r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μA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5×1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</m:t>
                            </m:r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″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  <m:r>
                          <m:rPr>
                            <m:nor/>
                          </m:rP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″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000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a16="http://schemas.microsoft.com/office/drawing/2014/main" xmlns="">
          <p:sp>
            <p:nvSpPr>
              <p:cNvPr id="16254" name="yt_shape_162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1905770"/>
                <a:ext cx="11924914" cy="2333716"/>
              </a:xfrm>
              <a:prstGeom prst="rect">
                <a:avLst/>
              </a:prstGeom>
              <a:blipFill>
                <a:blip r:embed="rId3"/>
                <a:stretch>
                  <a:fillRect l="-1789" t="-1047" b="-44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AA6A8762-E2B6-722C-7BF3-9E79387081E2}"/>
              </a:ext>
            </a:extLst>
          </p:cNvPr>
          <p:cNvSpPr txBox="1"/>
          <p:nvPr/>
        </p:nvSpPr>
        <p:spPr>
          <a:xfrm>
            <a:off x="5034660" y="421193"/>
            <a:ext cx="980186" cy="940131"/>
          </a:xfrm>
          <a:prstGeom prst="rect">
            <a:avLst/>
          </a:prstGeom>
          <a:noFill/>
        </p:spPr>
        <p:txBody>
          <a:bodyPr vert="horz" wrap="none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3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 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00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0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AAD4F6-A1FC-7499-7D6B-1936896E0BD4}"/>
              </a:ext>
            </a:extLst>
          </p:cNvPr>
          <p:cNvSpPr txBox="1"/>
          <p:nvPr/>
        </p:nvSpPr>
        <p:spPr>
          <a:xfrm>
            <a:off x="1656460" y="1267712"/>
            <a:ext cx="980186" cy="620662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6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 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00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0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54" grpId="0" build="allAtOnce"/>
      <p:bldP spid="2" grpId="0" build="allAtOnce"/>
      <p:bldP spid="3" grpId="0" build="allAtOnce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19</TotalTime>
  <Words>1713</Words>
  <Application>Microsoft Macintosh PowerPoint</Application>
  <PresentationFormat>Widescreen</PresentationFormat>
  <Paragraphs>127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方正新报宋_GBK</vt:lpstr>
      <vt:lpstr>仿宋</vt:lpstr>
      <vt:lpstr>微软雅黑</vt:lpstr>
      <vt:lpstr>宋体</vt:lpstr>
      <vt:lpstr>华文细黑</vt:lpstr>
      <vt:lpstr>Arial</vt:lpstr>
      <vt:lpstr>Cambria Math</vt:lpstr>
      <vt:lpstr>Times New Roman</vt:lpstr>
      <vt:lpstr>Office 主题​​</vt:lpstr>
      <vt:lpstr>闭合电路的欧姆定律</vt:lpstr>
      <vt:lpstr>电池为什么会发热？发热量的表达式是什么？</vt:lpstr>
      <vt:lpstr> 闭合电路</vt:lpstr>
      <vt:lpstr>电源</vt:lpstr>
      <vt:lpstr>电动势</vt:lpstr>
      <vt:lpstr>电动势和电压</vt:lpstr>
      <vt:lpstr>电动势和电压</vt:lpstr>
      <vt:lpstr>PowerPoint Presentation</vt:lpstr>
      <vt:lpstr>PowerPoint Presentation</vt:lpstr>
      <vt:lpstr>写出电路中电压，电流，电阻之间的关系</vt:lpstr>
      <vt:lpstr>电势是如何变化的？</vt:lpstr>
      <vt:lpstr>电源内部</vt:lpstr>
      <vt:lpstr>非静电力</vt:lpstr>
      <vt:lpstr>PowerPoint Presentation</vt:lpstr>
      <vt:lpstr>能量转化</vt:lpstr>
      <vt:lpstr>电动势</vt:lpstr>
      <vt:lpstr>下列关于电动势的说法正确的是（      ）</vt:lpstr>
      <vt:lpstr>PowerPoint Presentation</vt:lpstr>
      <vt:lpstr>电源电动势反映了电源把其他形式的能量转化为电能的能力，因此（      ）</vt:lpstr>
      <vt:lpstr>仔细观察电源</vt:lpstr>
      <vt:lpstr>有内阻的电源可以看作一个没有电阻的理想电源与电阻r的串联</vt:lpstr>
      <vt:lpstr>尝试写出其中物理量之间的关系</vt:lpstr>
      <vt:lpstr>路端电压（Terminal Voltage）</vt:lpstr>
      <vt:lpstr>在如图所示的电路中，电阻R=2.0𝛺，电源的电动势3.0V，内电阻r=1.0𝛺，闭合开关S后，路端电压为</vt:lpstr>
      <vt:lpstr>如图所示的电路中，当S闭合时，电压表和电流表（均为理想电表）的示数各为1.6V和0.4A。当S断开时，它们的示数各改变0.1V和0.1A，求电源的电动势和内阻。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2</cp:revision>
  <dcterms:created xsi:type="dcterms:W3CDTF">2026-06-11T00:51:34Z</dcterms:created>
  <dcterms:modified xsi:type="dcterms:W3CDTF">2026-06-11T01:11:27Z</dcterms:modified>
</cp:coreProperties>
</file>