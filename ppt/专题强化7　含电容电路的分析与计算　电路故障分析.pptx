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1" r:id="rId4"/>
    <p:sldId id="294" r:id="rId5"/>
    <p:sldId id="272" r:id="rId6"/>
    <p:sldId id="312" r:id="rId7"/>
    <p:sldId id="262" r:id="rId8"/>
    <p:sldId id="275" r:id="rId9"/>
    <p:sldId id="276" r:id="rId10"/>
    <p:sldId id="277" r:id="rId11"/>
    <p:sldId id="296" r:id="rId12"/>
    <p:sldId id="278" r:id="rId13"/>
    <p:sldId id="267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261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3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72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6">
            <a:hlinkClick r:id="rId4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251467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必修第三册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32761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26">
            <a:hlinkClick r:id="rId3" action="ppaction://hlinksldjump"/>
          </p:cNvPr>
          <p:cNvSpPr txBox="1"/>
          <p:nvPr userDrawn="1"/>
        </p:nvSpPr>
        <p:spPr>
          <a:xfrm>
            <a:off x="11508077" y="645995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0298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53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36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1" r:id="rId3"/>
    <p:sldLayoutId id="2147483650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2.xml"/><Relationship Id="rId3" Type="http://schemas.openxmlformats.org/officeDocument/2006/relationships/image" Target="../media/image12.png"/><Relationship Id="rId7" Type="http://schemas.openxmlformats.org/officeDocument/2006/relationships/slide" Target="slide20.xml"/><Relationship Id="rId12" Type="http://schemas.openxmlformats.org/officeDocument/2006/relationships/slide" Target="slide3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11" Type="http://schemas.openxmlformats.org/officeDocument/2006/relationships/slide" Target="slide28.xml"/><Relationship Id="rId5" Type="http://schemas.openxmlformats.org/officeDocument/2006/relationships/slide" Target="slide16.xml"/><Relationship Id="rId10" Type="http://schemas.openxmlformats.org/officeDocument/2006/relationships/slide" Target="slide26.xml"/><Relationship Id="rId4" Type="http://schemas.openxmlformats.org/officeDocument/2006/relationships/slide" Target="slide14.xml"/><Relationship Id="rId9" Type="http://schemas.openxmlformats.org/officeDocument/2006/relationships/slide" Target="slide24.xml"/><Relationship Id="rId14" Type="http://schemas.openxmlformats.org/officeDocument/2006/relationships/slide" Target="slide3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16.xml"/><Relationship Id="rId7" Type="http://schemas.openxmlformats.org/officeDocument/2006/relationships/slide" Target="slide24.xml"/><Relationship Id="rId12" Type="http://schemas.openxmlformats.org/officeDocument/2006/relationships/slide" Target="slide34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2.xml"/><Relationship Id="rId5" Type="http://schemas.openxmlformats.org/officeDocument/2006/relationships/slide" Target="slide20.xml"/><Relationship Id="rId10" Type="http://schemas.openxmlformats.org/officeDocument/2006/relationships/slide" Target="slide30.xml"/><Relationship Id="rId4" Type="http://schemas.openxmlformats.org/officeDocument/2006/relationships/slide" Target="slide18.xml"/><Relationship Id="rId9" Type="http://schemas.openxmlformats.org/officeDocument/2006/relationships/slide" Target="slide2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16.xml"/><Relationship Id="rId7" Type="http://schemas.openxmlformats.org/officeDocument/2006/relationships/slide" Target="slide24.xml"/><Relationship Id="rId12" Type="http://schemas.openxmlformats.org/officeDocument/2006/relationships/slide" Target="slide34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2.xml"/><Relationship Id="rId5" Type="http://schemas.openxmlformats.org/officeDocument/2006/relationships/slide" Target="slide20.xml"/><Relationship Id="rId10" Type="http://schemas.openxmlformats.org/officeDocument/2006/relationships/slide" Target="slide30.xml"/><Relationship Id="rId4" Type="http://schemas.openxmlformats.org/officeDocument/2006/relationships/slide" Target="slide18.xml"/><Relationship Id="rId9" Type="http://schemas.openxmlformats.org/officeDocument/2006/relationships/slide" Target="slide2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2.xml"/><Relationship Id="rId3" Type="http://schemas.openxmlformats.org/officeDocument/2006/relationships/image" Target="../media/image15.png"/><Relationship Id="rId7" Type="http://schemas.openxmlformats.org/officeDocument/2006/relationships/slide" Target="slide20.xml"/><Relationship Id="rId12" Type="http://schemas.openxmlformats.org/officeDocument/2006/relationships/slide" Target="slide30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11" Type="http://schemas.openxmlformats.org/officeDocument/2006/relationships/slide" Target="slide28.xml"/><Relationship Id="rId5" Type="http://schemas.openxmlformats.org/officeDocument/2006/relationships/slide" Target="slide16.xml"/><Relationship Id="rId10" Type="http://schemas.openxmlformats.org/officeDocument/2006/relationships/slide" Target="slide26.xml"/><Relationship Id="rId4" Type="http://schemas.openxmlformats.org/officeDocument/2006/relationships/slide" Target="slide14.xml"/><Relationship Id="rId9" Type="http://schemas.openxmlformats.org/officeDocument/2006/relationships/slide" Target="slide24.xml"/><Relationship Id="rId14" Type="http://schemas.openxmlformats.org/officeDocument/2006/relationships/slide" Target="slide3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2.xml"/><Relationship Id="rId3" Type="http://schemas.openxmlformats.org/officeDocument/2006/relationships/image" Target="../media/image16.png"/><Relationship Id="rId7" Type="http://schemas.openxmlformats.org/officeDocument/2006/relationships/slide" Target="slide20.xml"/><Relationship Id="rId12" Type="http://schemas.openxmlformats.org/officeDocument/2006/relationships/slide" Target="slide30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11" Type="http://schemas.openxmlformats.org/officeDocument/2006/relationships/slide" Target="slide28.xml"/><Relationship Id="rId5" Type="http://schemas.openxmlformats.org/officeDocument/2006/relationships/slide" Target="slide16.xml"/><Relationship Id="rId10" Type="http://schemas.openxmlformats.org/officeDocument/2006/relationships/slide" Target="slide26.xml"/><Relationship Id="rId4" Type="http://schemas.openxmlformats.org/officeDocument/2006/relationships/slide" Target="slide14.xml"/><Relationship Id="rId9" Type="http://schemas.openxmlformats.org/officeDocument/2006/relationships/slide" Target="slide24.xml"/><Relationship Id="rId14" Type="http://schemas.openxmlformats.org/officeDocument/2006/relationships/slide" Target="slide3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16.xml"/><Relationship Id="rId7" Type="http://schemas.openxmlformats.org/officeDocument/2006/relationships/slide" Target="slide24.xml"/><Relationship Id="rId12" Type="http://schemas.openxmlformats.org/officeDocument/2006/relationships/slide" Target="slide34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2.xml"/><Relationship Id="rId5" Type="http://schemas.openxmlformats.org/officeDocument/2006/relationships/slide" Target="slide20.xml"/><Relationship Id="rId10" Type="http://schemas.openxmlformats.org/officeDocument/2006/relationships/slide" Target="slide30.xml"/><Relationship Id="rId4" Type="http://schemas.openxmlformats.org/officeDocument/2006/relationships/slide" Target="slide18.xml"/><Relationship Id="rId9" Type="http://schemas.openxmlformats.org/officeDocument/2006/relationships/slide" Target="slide2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2.xml"/><Relationship Id="rId3" Type="http://schemas.openxmlformats.org/officeDocument/2006/relationships/image" Target="../media/image23.png"/><Relationship Id="rId7" Type="http://schemas.openxmlformats.org/officeDocument/2006/relationships/slide" Target="slide20.xml"/><Relationship Id="rId12" Type="http://schemas.openxmlformats.org/officeDocument/2006/relationships/slide" Target="slide30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11" Type="http://schemas.openxmlformats.org/officeDocument/2006/relationships/slide" Target="slide28.xml"/><Relationship Id="rId5" Type="http://schemas.openxmlformats.org/officeDocument/2006/relationships/slide" Target="slide16.xml"/><Relationship Id="rId10" Type="http://schemas.openxmlformats.org/officeDocument/2006/relationships/slide" Target="slide26.xml"/><Relationship Id="rId4" Type="http://schemas.openxmlformats.org/officeDocument/2006/relationships/slide" Target="slide14.xml"/><Relationship Id="rId9" Type="http://schemas.openxmlformats.org/officeDocument/2006/relationships/slide" Target="slide24.xml"/><Relationship Id="rId14" Type="http://schemas.openxmlformats.org/officeDocument/2006/relationships/slide" Target="slide3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26.bin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slide" Target="slide14.xml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slide" Target="slide18.xml"/><Relationship Id="rId10" Type="http://schemas.openxmlformats.org/officeDocument/2006/relationships/slide" Target="slide28.xml"/><Relationship Id="rId4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16.xml"/><Relationship Id="rId7" Type="http://schemas.openxmlformats.org/officeDocument/2006/relationships/slide" Target="slide24.xml"/><Relationship Id="rId12" Type="http://schemas.openxmlformats.org/officeDocument/2006/relationships/slide" Target="slide34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2.xml"/><Relationship Id="rId11" Type="http://schemas.openxmlformats.org/officeDocument/2006/relationships/slide" Target="slide32.xml"/><Relationship Id="rId5" Type="http://schemas.openxmlformats.org/officeDocument/2006/relationships/slide" Target="slide20.xml"/><Relationship Id="rId10" Type="http://schemas.openxmlformats.org/officeDocument/2006/relationships/slide" Target="slide30.xml"/><Relationship Id="rId4" Type="http://schemas.openxmlformats.org/officeDocument/2006/relationships/slide" Target="slide18.xml"/><Relationship Id="rId9" Type="http://schemas.openxmlformats.org/officeDocument/2006/relationships/slide" Target="slide2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2.xml"/><Relationship Id="rId3" Type="http://schemas.openxmlformats.org/officeDocument/2006/relationships/image" Target="../media/image38.png"/><Relationship Id="rId7" Type="http://schemas.openxmlformats.org/officeDocument/2006/relationships/slide" Target="slide20.xml"/><Relationship Id="rId12" Type="http://schemas.openxmlformats.org/officeDocument/2006/relationships/slide" Target="slide30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11" Type="http://schemas.openxmlformats.org/officeDocument/2006/relationships/slide" Target="slide28.xml"/><Relationship Id="rId5" Type="http://schemas.openxmlformats.org/officeDocument/2006/relationships/slide" Target="slide16.xml"/><Relationship Id="rId10" Type="http://schemas.openxmlformats.org/officeDocument/2006/relationships/slide" Target="slide26.xml"/><Relationship Id="rId4" Type="http://schemas.openxmlformats.org/officeDocument/2006/relationships/slide" Target="slide14.xml"/><Relationship Id="rId9" Type="http://schemas.openxmlformats.org/officeDocument/2006/relationships/slide" Target="slide24.xml"/><Relationship Id="rId14" Type="http://schemas.openxmlformats.org/officeDocument/2006/relationships/slide" Target="slide3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0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" y="2144142"/>
            <a:ext cx="12208713" cy="290410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050" y="2152649"/>
            <a:ext cx="12192000" cy="2895600"/>
          </a:xfrm>
          <a:prstGeom prst="rect">
            <a:avLst/>
          </a:prstGeom>
          <a:solidFill>
            <a:schemeClr val="tx1">
              <a:lumMod val="50000"/>
              <a:lumOff val="5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050" y="2325319"/>
            <a:ext cx="12192000" cy="2264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 hangingPunct="0">
              <a:lnSpc>
                <a:spcPct val="150000"/>
              </a:lnSpc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专题强化7</a:t>
            </a:r>
            <a:endParaRPr lang="en-US" altLang="zh-CN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latinLnBrk="0" hangingPunct="0">
              <a:lnSpc>
                <a:spcPct val="150000"/>
              </a:lnSpc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含电容电路的分析与计算　电路故障分析</a:t>
            </a:r>
          </a:p>
        </p:txBody>
      </p:sp>
    </p:spTree>
    <p:extLst>
      <p:ext uri="{BB962C8B-B14F-4D97-AF65-F5344CB8AC3E}">
        <p14:creationId xmlns:p14="http://schemas.microsoft.com/office/powerpoint/2010/main" val="35294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01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6" name="文本框 15">
            <a:hlinkClick r:id="rId2" action="ppaction://hlinksldjump"/>
          </p:cNvPr>
          <p:cNvSpPr txBox="1"/>
          <p:nvPr/>
        </p:nvSpPr>
        <p:spPr>
          <a:xfrm>
            <a:off x="4543575" y="1942793"/>
            <a:ext cx="2646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强化点一</a:t>
            </a:r>
          </a:p>
        </p:txBody>
      </p: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553834" y="3037082"/>
            <a:ext cx="63914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含电容电路的分析与计算</a:t>
            </a:r>
          </a:p>
        </p:txBody>
      </p:sp>
    </p:spTree>
    <p:extLst>
      <p:ext uri="{BB962C8B-B14F-4D97-AF65-F5344CB8AC3E}">
        <p14:creationId xmlns:p14="http://schemas.microsoft.com/office/powerpoint/2010/main" val="35588560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804" name="yt_shape_16804"/>
              <p:cNvSpPr txBox="1"/>
              <p:nvPr/>
            </p:nvSpPr>
            <p:spPr>
              <a:xfrm>
                <a:off x="324071" y="467999"/>
                <a:ext cx="11924914" cy="173868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类型一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电路中电容器的电荷量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或变化量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的计算问题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【例</a:t>
                </a: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1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】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如图所示电路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已知电源电动势为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内阻不计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6_28d91"/>
                  </a:rPr>
                  <a:t>电容器电容为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闭合开关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待电路稳定后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电容器所带的电荷量为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="" xmlns:p14="http://schemas.microsoft.com/office/powerpoint/2010/main" xmlns:p15="http://schemas.microsoft.com/office/powerpoint/2012/main" xmlns:a16="http://schemas.microsoft.com/office/drawing/2014/main">
          <p:sp>
            <p:nvSpPr>
              <p:cNvPr id="16804" name="yt_shape_16804" descr="{&quot;rangeId&quot;:61,&quot;color&quot;:&quot;B&quot;,&quot;pageBreak&quot;:true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1738681"/>
              </a:xfrm>
              <a:prstGeom prst="rect">
                <a:avLst/>
              </a:prstGeom>
              <a:blipFill>
                <a:blip r:embed="rId2"/>
                <a:stretch>
                  <a:fillRect l="-1848" t="-1404" r="-528" b="-11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807" name="yt_image_16807" title="H_219.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13422" y="2206680"/>
            <a:ext cx="3045555" cy="278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yt_table_16809" title="H_123.71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6268654"/>
                  </p:ext>
                </p:extLst>
              </p:nvPr>
            </p:nvGraphicFramePr>
            <p:xfrm>
              <a:off x="324137" y="2390601"/>
              <a:ext cx="4362768" cy="1571181"/>
            </p:xfrm>
            <a:graphic>
              <a:graphicData uri="http://schemas.openxmlformats.org/drawingml/2006/table">
                <a:tbl>
                  <a:tblPr/>
                  <a:tblGrid>
                    <a:gridCol w="2637155">
                      <a:extLst>
                        <a:ext uri="{9D8B030D-6E8A-4147-A177-3AD203B41FA5}">
                          <a16:colId xmlns:a16="http://schemas.microsoft.com/office/drawing/2014/main" val="10605"/>
                        </a:ext>
                      </a:extLst>
                    </a:gridCol>
                    <a:gridCol w="1725613">
                      <a:extLst>
                        <a:ext uri="{9D8B030D-6E8A-4147-A177-3AD203B41FA5}">
                          <a16:colId xmlns:a16="http://schemas.microsoft.com/office/drawing/2014/main" val="106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CE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CE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CE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CE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34"/>
                      </a:ext>
                    </a:extLst>
                  </a:tr>
                </a:tbl>
              </a:graphicData>
            </a:graphic>
          </p:graphicFrame>
        </mc:Choice>
        <mc:Fallback xmlns="" xmlns:p14="http://schemas.microsoft.com/office/powerpoint/2010/main" xmlns:p15="http://schemas.microsoft.com/office/powerpoint/2012/main" xmlns:a16="http://schemas.microsoft.com/office/drawing/2014/main">
          <p:graphicFrame>
            <p:nvGraphicFramePr>
              <p:cNvPr id="4" name="yt_table_16809" title="H_123.71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6268654"/>
                  </p:ext>
                </p:extLst>
              </p:nvPr>
            </p:nvGraphicFramePr>
            <p:xfrm>
              <a:off x="324137" y="2390601"/>
              <a:ext cx="4362768" cy="1691958"/>
            </p:xfrm>
            <a:graphic>
              <a:graphicData uri="http://schemas.openxmlformats.org/drawingml/2006/table">
                <a:tbl>
                  <a:tblPr/>
                  <a:tblGrid>
                    <a:gridCol w="2637155">
                      <a:extLst>
                        <a:ext uri="{9D8B030D-6E8A-4147-A177-3AD203B41FA5}">
                          <a16:colId xmlns:a16="http://schemas.microsoft.com/office/drawing/2014/main" val="10605"/>
                        </a:ext>
                      </a:extLst>
                    </a:gridCol>
                    <a:gridCol w="1725613">
                      <a:extLst>
                        <a:ext uri="{9D8B030D-6E8A-4147-A177-3AD203B41FA5}">
                          <a16:colId xmlns:a16="http://schemas.microsoft.com/office/drawing/2014/main" val="10606"/>
                        </a:ext>
                      </a:extLst>
                    </a:gridCol>
                  </a:tblGrid>
                  <a:tr h="843471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CE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4"/>
                          <a:stretch>
                            <a:fillRect l="-153004" b="-106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33"/>
                      </a:ext>
                    </a:extLst>
                  </a:tr>
                  <a:tr h="84848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4"/>
                          <a:stretch>
                            <a:fillRect t="-100000" r="-65358" b="-6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4"/>
                          <a:stretch>
                            <a:fillRect l="-153004" t="-100000" b="-6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矩形 5"/>
          <p:cNvSpPr/>
          <p:nvPr/>
        </p:nvSpPr>
        <p:spPr>
          <a:xfrm>
            <a:off x="108248" y="3236580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811" name="yt_shape_16811"/>
              <p:cNvSpPr txBox="1"/>
              <p:nvPr/>
            </p:nvSpPr>
            <p:spPr>
              <a:xfrm>
                <a:off x="438371" y="455557"/>
                <a:ext cx="11924914" cy="371627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电路稳定后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由于电源内阻不计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则整个回路可看成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24abe"/>
                  </a:rPr>
                  <a:t>的串联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部分与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的串联部分并联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若取电源负极为零电势点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2ec6b"/>
                  </a:rPr>
                  <a:t>则电容器上极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板的电势为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φ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电容器下极板的电势为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φ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下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39590"/>
                  </a:rPr>
                  <a:t>则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电容器两极板间的电压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下上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则电容器上的电荷量为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CU</a:t>
                </a:r>
                <a:r>
                  <a:rPr lang="zh-CN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上下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276e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6811" name="yt_shape_168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1" y="455557"/>
                <a:ext cx="11924914" cy="3716274"/>
              </a:xfrm>
              <a:prstGeom prst="rect">
                <a:avLst/>
              </a:prstGeom>
              <a:blipFill>
                <a:blip r:embed="rId2"/>
                <a:stretch>
                  <a:fillRect l="-1840" t="-657" b="-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4" name="yt_shape_16814"/>
          <p:cNvSpPr txBox="1"/>
          <p:nvPr/>
        </p:nvSpPr>
        <p:spPr>
          <a:xfrm>
            <a:off x="324000" y="467999"/>
            <a:ext cx="2457789" cy="5653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950" b="0" i="0" u="none" spc="-2950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2950" b="0" i="0" u="none" spc="18428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</a:p>
        </p:txBody>
      </p:sp>
      <p:pic>
        <p:nvPicPr>
          <p:cNvPr id="16813" name="yt_image_16813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467999"/>
            <a:ext cx="2431845" cy="63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16" name="yt_shape_16816"/>
          <p:cNvSpPr txBox="1"/>
          <p:nvPr/>
        </p:nvSpPr>
        <p:spPr>
          <a:xfrm>
            <a:off x="324071" y="1107620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如图所示的电路中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已知电容器电容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bfb83"/>
              </a:rPr>
              <a:t>电源电动势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当开关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由闭合状态断开时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6818" name="yt_table_16818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350501"/>
              </p:ext>
            </p:extLst>
          </p:nvPr>
        </p:nvGraphicFramePr>
        <p:xfrm>
          <a:off x="324066" y="2293847"/>
          <a:ext cx="7521575" cy="2389632"/>
        </p:xfrm>
        <a:graphic>
          <a:graphicData uri="http://schemas.openxmlformats.org/drawingml/2006/table">
            <a:tbl>
              <a:tblPr/>
              <a:tblGrid>
                <a:gridCol w="7521575">
                  <a:extLst>
                    <a:ext uri="{9D8B030D-6E8A-4147-A177-3AD203B41FA5}">
                      <a16:colId xmlns:a16="http://schemas.microsoft.com/office/drawing/2014/main" val="10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的电荷量增多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的电荷量减少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的电荷量减少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的电荷量增多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的电荷量都增多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的电荷量都减少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8"/>
                  </a:ext>
                </a:extLst>
              </a:tr>
            </a:tbl>
          </a:graphicData>
        </a:graphic>
      </p:graphicFrame>
      <p:pic>
        <p:nvPicPr>
          <p:cNvPr id="16817" name="yt_image_16817_skip" title="H_162.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58729" y="2293847"/>
            <a:ext cx="2807305" cy="206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3524555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6820"/>
          <p:cNvSpPr txBox="1"/>
          <p:nvPr/>
        </p:nvSpPr>
        <p:spPr>
          <a:xfrm>
            <a:off x="387571" y="695667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开关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闭合时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电容器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两端电压与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两端电压相等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cb945"/>
              </a:rPr>
              <a:t>两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端电压与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两端电压相等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开关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断开时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电路断路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电容器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a19a3"/>
              </a:rPr>
              <a:t>两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端电压均等于电源电动势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CU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知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电容器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dc866"/>
              </a:rPr>
              <a:t>的电荷量都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增多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</p:spTree>
    <p:extLst>
      <p:ext uri="{BB962C8B-B14F-4D97-AF65-F5344CB8AC3E}">
        <p14:creationId xmlns:p14="http://schemas.microsoft.com/office/powerpoint/2010/main" val="312694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02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553834" y="19427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强化点二</a:t>
            </a:r>
          </a:p>
        </p:txBody>
      </p:sp>
      <p:sp>
        <p:nvSpPr>
          <p:cNvPr id="16" name="文本框 15">
            <a:hlinkClick r:id="rId3" action="ppaction://hlinksldjump"/>
          </p:cNvPr>
          <p:cNvSpPr txBox="1"/>
          <p:nvPr/>
        </p:nvSpPr>
        <p:spPr>
          <a:xfrm>
            <a:off x="4553834" y="3037082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电路故障分析</a:t>
            </a:r>
          </a:p>
        </p:txBody>
      </p:sp>
    </p:spTree>
    <p:extLst>
      <p:ext uri="{BB962C8B-B14F-4D97-AF65-F5344CB8AC3E}">
        <p14:creationId xmlns:p14="http://schemas.microsoft.com/office/powerpoint/2010/main" val="313097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1" name="yt_shape_16831"/>
          <p:cNvSpPr txBox="1"/>
          <p:nvPr/>
        </p:nvSpPr>
        <p:spPr>
          <a:xfrm>
            <a:off x="324000" y="886910"/>
            <a:ext cx="260327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常见电路故障</a:t>
            </a:r>
          </a:p>
        </p:txBody>
      </p:sp>
      <p:sp>
        <p:nvSpPr>
          <p:cNvPr id="16832" name="yt_shape_16832"/>
          <p:cNvSpPr txBox="1"/>
          <p:nvPr/>
        </p:nvSpPr>
        <p:spPr>
          <a:xfrm>
            <a:off x="324000" y="1470921"/>
            <a:ext cx="161582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断路</a:t>
            </a:r>
          </a:p>
        </p:txBody>
      </p:sp>
      <p:sp>
        <p:nvSpPr>
          <p:cNvPr id="16833" name="yt_shape_16833"/>
          <p:cNvSpPr txBox="1"/>
          <p:nvPr/>
        </p:nvSpPr>
        <p:spPr>
          <a:xfrm>
            <a:off x="324071" y="2053906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由于导线没有连接好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用电器烧坏或未安装好等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33ee6"/>
              </a:rPr>
              <a:t>使整个电路在某处断开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的状态就是断路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发生断路时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用电器不工作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6834" name="yt_shape_16834"/>
          <p:cNvSpPr txBox="1"/>
          <p:nvPr/>
        </p:nvSpPr>
        <p:spPr>
          <a:xfrm>
            <a:off x="324000" y="3220962"/>
            <a:ext cx="161582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短路</a:t>
            </a:r>
          </a:p>
        </p:txBody>
      </p:sp>
      <p:sp>
        <p:nvSpPr>
          <p:cNvPr id="16835" name="yt_shape_16835"/>
          <p:cNvSpPr txBox="1"/>
          <p:nvPr/>
        </p:nvSpPr>
        <p:spPr>
          <a:xfrm>
            <a:off x="324071" y="3803947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短路是指电路或电路的一部分被短接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a46d5"/>
              </a:rPr>
              <a:t>如负载或电源的两端被导线连接起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发生短路时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电路中的电流往往很大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严重时会烧坏电源或设备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34" grpId="0"/>
      <p:bldP spid="168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6" name="yt_shape_16836"/>
          <p:cNvSpPr txBox="1"/>
          <p:nvPr/>
        </p:nvSpPr>
        <p:spPr>
          <a:xfrm>
            <a:off x="324071" y="467999"/>
            <a:ext cx="11924914" cy="3529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电路故障的判断方法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断路故障的判断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用电压表与电源并联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若电压表有示数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28d88"/>
              </a:rPr>
              <a:t>再逐段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与电路并联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若电压表示数等于电源电动势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则该段电路中有断路点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短路故障的判断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用电压表与电源并联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若电压表有示数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bfd3f"/>
              </a:rPr>
              <a:t>再逐段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与电路并联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若电压表示数为零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则该并联段电路被短路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e7e06"/>
              </a:rPr>
              <a:t>若电压表示数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不为零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则该并联段电路没有被短路或不完全被短路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9" name="yt_shape_16839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在如图所示的闭合电路中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两个灯泡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均发光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8807f"/>
              </a:rPr>
              <a:t>由于电路故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灯泡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灯泡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两个灯泡均不被烧坏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若电源电压恒定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ad42a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不计电源内阻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则可能出现的故障是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6840" name="yt_image_16840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3412" y="2477480"/>
            <a:ext cx="26395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6842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921752"/>
              </p:ext>
            </p:extLst>
          </p:nvPr>
        </p:nvGraphicFramePr>
        <p:xfrm>
          <a:off x="324071" y="2245263"/>
          <a:ext cx="6416675" cy="2389632"/>
        </p:xfrm>
        <a:graphic>
          <a:graphicData uri="http://schemas.openxmlformats.org/drawingml/2006/table">
            <a:tbl>
              <a:tblPr/>
              <a:tblGrid>
                <a:gridCol w="6416675">
                  <a:extLst>
                    <a:ext uri="{9D8B030D-6E8A-4147-A177-3AD203B41FA5}">
                      <a16:colId xmlns:a16="http://schemas.microsoft.com/office/drawing/2014/main" val="1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滑动变阻器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发生断路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定值电阻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出现短路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定值电阻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发生断路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定值电阻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可能同时发生短路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6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2070" y="3361043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5" name="yt_shape_16845"/>
          <p:cNvSpPr txBox="1"/>
          <p:nvPr/>
        </p:nvSpPr>
        <p:spPr>
          <a:xfrm>
            <a:off x="324071" y="467999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断路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所在的支路没有影响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9_8d868"/>
              </a:rPr>
              <a:t>则两灯泡的亮度均不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短路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所在的支路电阻变小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8_16c09"/>
              </a:rPr>
              <a:t>所在支路的电流增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通过灯泡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的电流增大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通过灯泡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的电流也增大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66e88"/>
              </a:rPr>
              <a:t>则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也变亮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断路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所在支路的电阻增大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f74c0"/>
              </a:rPr>
              <a:t>所在支路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的电流减小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通过灯泡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的电流减小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两端电压减小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5bb3a"/>
              </a:rPr>
              <a:t>2</a:t>
            </a:r>
            <a:b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两端电压增大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变暗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同时短路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b5c0d"/>
              </a:rPr>
              <a:t>2</a:t>
            </a:r>
            <a:b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7" name="yt_shape_16847"/>
          <p:cNvSpPr txBox="1"/>
          <p:nvPr/>
        </p:nvSpPr>
        <p:spPr>
          <a:xfrm>
            <a:off x="324000" y="467999"/>
            <a:ext cx="2457789" cy="5653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950" b="0" i="0" u="none" spc="-2950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2950" b="0" i="0" u="none" spc="18428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</a:p>
        </p:txBody>
      </p:sp>
      <p:pic>
        <p:nvPicPr>
          <p:cNvPr id="16846" name="yt_image_16846" title="H_50.37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467999"/>
            <a:ext cx="2431845" cy="63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49" name="yt_shape_16849"/>
          <p:cNvSpPr txBox="1"/>
          <p:nvPr/>
        </p:nvSpPr>
        <p:spPr>
          <a:xfrm>
            <a:off x="279786" y="1107761"/>
            <a:ext cx="11924914" cy="21307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5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在如图所示的电路中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干电池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开关和额定电压为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98476"/>
              </a:rPr>
              <a:t>的灯泡组成闭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合电路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当闭合开关时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发现灯泡不发光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在闭合开关的情况下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83ca7"/>
              </a:rPr>
              <a:t>某同学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用多用电表直流电压挡进行检测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检测结果如下表所示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3b59e"/>
              </a:rPr>
              <a:t>已知电路仅有一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处故障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由此做出的判断中正确的是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6850" name="yt_image_16850" title="H_161.37495">
            <a:extLst>
              <a:ext uri="">
                <a16:creationId xmlns="" xmlns:a14="http://schemas.microsoft.com/office/drawing/2010/main" xmlns:p14="http://schemas.microsoft.com/office/powerpoint/2010/main" xmlns:mc="http://schemas.openxmlformats.org/markup-compatibility/2006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77331" y="2910627"/>
            <a:ext cx="3844637" cy="204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852" name="yt_table_16852" title="H_108.4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353843"/>
              </p:ext>
            </p:extLst>
          </p:nvPr>
        </p:nvGraphicFramePr>
        <p:xfrm>
          <a:off x="311300" y="3204274"/>
          <a:ext cx="7283300" cy="13776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测试点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多用表示数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yt_table_16854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03568"/>
              </p:ext>
            </p:extLst>
          </p:nvPr>
        </p:nvGraphicFramePr>
        <p:xfrm>
          <a:off x="298600" y="4632215"/>
          <a:ext cx="8348980" cy="1024128"/>
        </p:xfrm>
        <a:graphic>
          <a:graphicData uri="http://schemas.openxmlformats.org/drawingml/2006/table">
            <a:tbl>
              <a:tblPr/>
              <a:tblGrid>
                <a:gridCol w="3867000">
                  <a:extLst>
                    <a:ext uri="{9D8B030D-6E8A-4147-A177-3AD203B41FA5}">
                      <a16:colId xmlns:a16="http://schemas.microsoft.com/office/drawing/2014/main" val="10610"/>
                    </a:ext>
                  </a:extLst>
                </a:gridCol>
                <a:gridCol w="4481980">
                  <a:extLst>
                    <a:ext uri="{9D8B030D-6E8A-4147-A177-3AD203B41FA5}">
                      <a16:colId xmlns:a16="http://schemas.microsoft.com/office/drawing/2014/main" val="10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2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间导线断路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2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间导线断路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2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灯泡断路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2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间导线断路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8"/>
                  </a:ext>
                </a:extLst>
              </a:tr>
            </a:tbl>
          </a:graphicData>
        </a:graphic>
      </p:graphicFrame>
      <p:sp>
        <p:nvSpPr>
          <p:cNvPr id="8" name="yt_shape_16856"/>
          <p:cNvSpPr txBox="1"/>
          <p:nvPr/>
        </p:nvSpPr>
        <p:spPr>
          <a:xfrm>
            <a:off x="216286" y="5629880"/>
            <a:ext cx="11924914" cy="10415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5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间电压值为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间导线、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间导线、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8592"/>
              </a:rPr>
              <a:t>间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导线均没有断路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所以灯泡断路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sp>
        <p:nvSpPr>
          <p:cNvPr id="9" name="矩形 8"/>
          <p:cNvSpPr/>
          <p:nvPr/>
        </p:nvSpPr>
        <p:spPr>
          <a:xfrm>
            <a:off x="29036" y="4967626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666528" y="2969317"/>
              <a:ext cx="1127233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03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5122776" y="26355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87738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7" name="yt_shape_12187"/>
          <p:cNvSpPr txBox="1"/>
          <p:nvPr/>
        </p:nvSpPr>
        <p:spPr>
          <a:xfrm>
            <a:off x="324071" y="1075877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如图所示的电路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两接线柱接有电压恒为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的电源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b0e55"/>
              </a:rPr>
              <a:t>发现电路接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通后两小灯泡均不发光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小明用一只电压表分别接在两接线柱上时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e5947"/>
              </a:rPr>
              <a:t>电压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表的示数分别为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db820"/>
              </a:rPr>
              <a:t>则下列说法正确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89" name="yt_table_12189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3449417"/>
          <a:ext cx="7194550" cy="2389632"/>
        </p:xfrm>
        <a:graphic>
          <a:graphicData uri="http://schemas.openxmlformats.org/drawingml/2006/table">
            <a:tbl>
              <a:tblPr/>
              <a:tblGrid>
                <a:gridCol w="7194550">
                  <a:extLst>
                    <a:ext uri="{9D8B030D-6E8A-4147-A177-3AD203B41FA5}">
                      <a16:colId xmlns:a16="http://schemas.microsoft.com/office/drawing/2014/main" val="10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由以上数据可知小灯泡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发生了断路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由以上数据可知小灯泡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发生了断路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由以上数据可知滑动变阻器发生了断路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由以上数据可知电源发生了断路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0"/>
                  </a:ext>
                </a:extLst>
              </a:tr>
            </a:tbl>
          </a:graphicData>
        </a:graphic>
      </p:graphicFrame>
      <p:pic>
        <p:nvPicPr>
          <p:cNvPr id="12188" name="yt_image_12188_skip" title="H_76.12496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2551" y="3449417"/>
            <a:ext cx="2443402" cy="96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06504" y="477907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7" name="yt_image_10628" title="H_47.87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634899" y="417077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9" name="451cae76-30a5-4f45-a5cd-d671ef28d6ab" descr="{&quot;SlideID&quot;:&quot;313&quot;,&quot;SlideNumber&quot;:&quot;2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62d0965-9b6b-4c05-9a81-3dfdbf874f7f" descr="{&quot;SlideID&quot;:&quot;315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76d7c77-6d16-447b-955a-41965d404da2" descr="{&quot;SlideID&quot;:&quot;317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f57126b-5ff5-4b11-8e58-8fccf01c0f5a" descr="{&quot;SlideID&quot;:&quot;319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1379471-42f0-4c30-afe8-0a9b54198399" descr="{&quot;SlideID&quot;:&quot;321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743bed4-0124-4f3f-a069-711d496355e8" descr="{&quot;SlideID&quot;:&quot;323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96eb570-0db5-4da8-a9d6-d275011ee77b" descr="{&quot;SlideID&quot;:&quot;325&quot;,&quot;SlideNumber&quot;:&quot;3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88c20a2-7912-4ad4-8ca9-6d8bee6b4473" descr="{&quot;SlideID&quot;:&quot;327&quot;,&quot;SlideNumber&quot;:&quot;3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d25784e-fd38-44f8-8bee-5ff959836ff9" descr="{&quot;SlideID&quot;:&quot;329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e327f312-96f4-4ba2-be3c-ece588e5e24f" descr="{&quot;SlideID&quot;:&quot;331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6a9c18fc-999d-4047-8828-a42d1fda64a8" descr="{&quot;SlideID&quot;:&quot;333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59746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4="http://schemas.microsoft.com/office/drawing/2010/main" xmlns:a16="http://schemas.microsoft.com/office/drawing/2014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1" name="yt_shape_12191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spc="150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spc="150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若灯泡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发生断路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电路中没有电流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34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23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2_40f98"/>
              </a:rPr>
              <a:t>12</a:t>
            </a:r>
            <a:b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若灯泡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发生断路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电路中没有电流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23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a25be"/>
              </a:rPr>
              <a:t>＝</a:t>
            </a:r>
            <a:b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34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若滑动变阻器发生了断路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电路中没有电流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c56d9"/>
              </a:rPr>
              <a:t>，</a:t>
            </a:r>
            <a:b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34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23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若电源发生断路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14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845fc"/>
              </a:rPr>
              <a:t>＝</a:t>
            </a:r>
            <a:b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23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34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1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9" name="efef63cf-8f21-4bfd-9036-b0ae1a10f448" descr="{&quot;SlideID&quot;:&quot;313&quot;,&quot;SlideNumber&quot;:&quot;2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57cfd38-11f4-48a0-a784-288fde0f0cab" descr="{&quot;SlideID&quot;:&quot;315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7d790a2-b929-4722-8739-e13a709288c5" descr="{&quot;SlideID&quot;:&quot;317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9fafee5-3433-45c2-8631-d94c7cedcb0b" descr="{&quot;SlideID&quot;:&quot;319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53a11b5-ebf3-49d2-ba60-2a96bf2bf6c8" descr="{&quot;SlideID&quot;:&quot;321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669614c-80fb-40b0-be7a-5a574447f32b" descr="{&quot;SlideID&quot;:&quot;323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35ad6be-e5d1-46cf-b8d8-29daf0395019" descr="{&quot;SlideID&quot;:&quot;325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5cd1ef1-cbf9-4005-b270-e3680ea88564" descr="{&quot;SlideID&quot;:&quot;327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e780000-9a29-44ab-ba0b-da4a2c25062a" descr="{&quot;SlideID&quot;:&quot;329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87f99ec-c4c1-46a4-bdc7-73852074ecfc" descr="{&quot;SlideID&quot;:&quot;331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b7edd08-8bdf-4cc1-9db7-c3ff205722f0" descr="{&quot;SlideID&quot;:&quot;333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52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1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2" name="yt_shape_12192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浙江温州联考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电源电动势为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69afe"/>
              </a:rPr>
              <a:t>三个灯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泡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原来都是正常发光的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电路突然发生了故障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结果灯泡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bb36a"/>
              </a:rPr>
              <a:t>比原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来暗了些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灯泡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比原来亮了些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8b992"/>
              </a:rPr>
              <a:t>假设三个灯泡灯丝的电阻恒定不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则电路中出现的故障可能是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94" name="yt_table_12194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841539"/>
          <a:ext cx="5316856" cy="1194816"/>
        </p:xfrm>
        <a:graphic>
          <a:graphicData uri="http://schemas.openxmlformats.org/drawingml/2006/table">
            <a:tbl>
              <a:tblPr/>
              <a:tblGrid>
                <a:gridCol w="3124518">
                  <a:extLst>
                    <a:ext uri="{9D8B030D-6E8A-4147-A177-3AD203B41FA5}">
                      <a16:colId xmlns:a16="http://schemas.microsoft.com/office/drawing/2014/main" val="10303"/>
                    </a:ext>
                  </a:extLst>
                </a:gridCol>
                <a:gridCol w="2192338">
                  <a:extLst>
                    <a:ext uri="{9D8B030D-6E8A-4147-A177-3AD203B41FA5}">
                      <a16:colId xmlns:a16="http://schemas.microsoft.com/office/drawing/2014/main" val="10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2"/>
                  </a:ext>
                </a:extLst>
              </a:tr>
            </a:tbl>
          </a:graphicData>
        </a:graphic>
      </p:graphicFrame>
      <p:pic>
        <p:nvPicPr>
          <p:cNvPr id="12193" name="yt_image_12193_skip" title="H_217.12495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33115" y="2841539"/>
            <a:ext cx="3132990" cy="275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71818" y="304653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51a56d9c-deb2-4bb8-9102-869b4dbb8e1d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2bc42db5-8a6f-42b5-a0f1-8298ebd42a6b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d651f5e-555b-472d-bef7-64c22415836c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61a574d-eb93-45ea-9025-7828d455d6b0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efe0aa5-d0ab-4f2e-82a4-4e3e6b25881a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e1dea06c-364b-4637-9d3b-b9303b66d961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64312caf-d6f9-494c-9ce2-7f569ae8f3bc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b3a495b-e59c-4e6e-a825-5dcfef378e22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63fcf62-0fb2-4698-8944-c0a671750696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11e3d8e-bf82-4095-9312-1d7e7d1dc8fa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86117ad-4416-420c-a0fc-ef03b8559cc4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0009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6" name="yt_shape_12196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外电路总电阻减小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路端电压减小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db8eb"/>
              </a:rPr>
              <a:t>干路电流增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中的电流减小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通过灯泡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和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的电流增大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fdd0f"/>
              </a:rPr>
              <a:t>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不会亮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d3fe4"/>
              </a:rPr>
              <a:t>外电路总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电阻增大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干路电流减小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路端电压增大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中的电流增大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dffb8"/>
              </a:rPr>
              <a:t>C</a:t>
            </a:r>
            <a:b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不符合题意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不符合题意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5e23c"/>
              </a:rPr>
              <a:t>D</a:t>
            </a:r>
            <a:b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b2cd5f3-2dfe-4afb-b517-198623286077" descr="{&quot;SlideID&quot;:&quot;313&quot;,&quot;SlideNumber&quot;:&quot;2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9e19f7c4-bd0a-4c65-8fba-620c62c31be3" descr="{&quot;SlideID&quot;:&quot;315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ef06b9e-10be-42be-afee-bc656847dfcb" descr="{&quot;SlideID&quot;:&quot;317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228d779-128a-4d1b-b396-195de022b740" descr="{&quot;SlideID&quot;:&quot;319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6ed0e210-6c72-40af-af5d-b13b39812057" descr="{&quot;SlideID&quot;:&quot;321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98e0002-6df2-4778-ae19-5c5ba787d94b" descr="{&quot;SlideID&quot;:&quot;323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3d20788-b9d4-4fab-9dc2-282082d368f7" descr="{&quot;SlideID&quot;:&quot;325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4372126-a1b7-47b3-a00b-1403410dae3b" descr="{&quot;SlideID&quot;:&quot;327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d923dae-1783-4d58-9efd-f08a528a4f86" descr="{&quot;SlideID&quot;:&quot;329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181bd66-5e53-414d-8001-d7919cb16359" descr="{&quot;SlideID&quot;:&quot;331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11b1e3a-8ca8-4a5f-abac-3bd47ea55da6" descr="{&quot;SlideID&quot;:&quot;333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141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6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7" name="yt_shape_12197"/>
          <p:cNvSpPr txBox="1"/>
          <p:nvPr/>
        </p:nvSpPr>
        <p:spPr>
          <a:xfrm>
            <a:off x="324071" y="467999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如图所示的电路中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电源电动势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cc98d"/>
              </a:rPr>
              <a:t>＝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电容器的电容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μF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199" name="yt_table_12199_skip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654226"/>
          <a:ext cx="8524997" cy="4181856"/>
        </p:xfrm>
        <a:graphic>
          <a:graphicData uri="http://schemas.openxmlformats.org/drawingml/2006/table">
            <a:tbl>
              <a:tblPr/>
              <a:tblGrid>
                <a:gridCol w="8524997">
                  <a:extLst>
                    <a:ext uri="{9D8B030D-6E8A-4147-A177-3AD203B41FA5}">
                      <a16:colId xmlns:a16="http://schemas.microsoft.com/office/drawing/2014/main" val="1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闭合开关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电路稳定后电容器两端的电压为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闭合开关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4_154a6"/>
                        </a:rPr>
                        <a:t>电路稳定后电容器所带电荷量为</a:t>
                      </a:r>
                      <a:b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1" i="0" u="none" baseline="3000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－</a:t>
                      </a:r>
                      <a:r>
                        <a:rPr lang="en-US" altLang="zh-CN" sz="2800" b="1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闭合开关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4_45d06"/>
                        </a:rPr>
                        <a:t>电路稳定后电容器所带电荷量为</a:t>
                      </a:r>
                      <a:b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1" i="0" u="none" baseline="3000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－</a:t>
                      </a:r>
                      <a:r>
                        <a:rPr lang="en-US" altLang="zh-CN" sz="2800" b="1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先闭合开关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电路稳定后断开开关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通过电阻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dde6e"/>
                        </a:rPr>
                        <a:t>1</a:t>
                      </a:r>
                      <a:b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的电荷量为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1" i="0" u="none" baseline="3000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－</a:t>
                      </a:r>
                      <a:r>
                        <a:rPr lang="en-US" altLang="zh-CN" sz="2800" b="1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6"/>
                  </a:ext>
                </a:extLst>
              </a:tr>
            </a:tbl>
          </a:graphicData>
        </a:graphic>
      </p:graphicFrame>
      <p:pic>
        <p:nvPicPr>
          <p:cNvPr id="12198" name="yt_image_12198_skip" title="H_212.37495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7159" y="1654226"/>
            <a:ext cx="3018921" cy="242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58756" y="357728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a6b58533-0a32-4c33-8d11-ae5aa9bbace3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6d2ff83-ab6b-4c3f-8cc2-3498803ff432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ab97241-e67a-41e3-acd9-068faad5f3af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f3d0d19-06db-46b3-bd0d-3192504bed60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7cb4d88-1690-43fe-b192-4fb79ca27b6c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5643bb4-5387-4a91-bbdf-8cc2d8daa56e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db9e684-7f17-4b54-beaa-b135f8df74d2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556363c-32b8-41d7-8903-331395ed8abe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c1a08af-56ef-4089-a7a0-10ba46de793a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873e4cd-ecf0-4ffd-ada2-8b4ff7733cd6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aa632e1-0871-4803-a3f6-feb4e543b2d3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3308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01" name="yt_shape_12201"/>
              <p:cNvSpPr txBox="1"/>
              <p:nvPr/>
            </p:nvSpPr>
            <p:spPr>
              <a:xfrm>
                <a:off x="324071" y="467999"/>
                <a:ext cx="11924914" cy="330404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闭合开关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电路稳定后电流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56b95"/>
                  </a:rPr>
                  <a:t>电容器两端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的电压为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闭合开关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e8dd8"/>
                  </a:rPr>
                  <a:t>电路稳定后电容器所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带电荷量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1" i="0" u="none" baseline="3000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1" i="0" u="none" baseline="3000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d27d"/>
                  </a:rPr>
                  <a:t>正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先闭合开关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电路稳定后断开开关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放电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通过电阻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2f2b7"/>
                  </a:rPr>
                  <a:t>的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电荷量为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1" i="0" u="none" baseline="3000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01" name="yt_shape_122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304046"/>
              </a:xfrm>
              <a:prstGeom prst="rect">
                <a:avLst/>
              </a:prstGeom>
              <a:blipFill>
                <a:blip r:embed="rId2"/>
                <a:stretch>
                  <a:fillRect l="-1789" b="-57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86e5655d-99b0-49e6-87a9-db7342735e2a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17a6a2f-c235-4bd4-aa20-70ba6c46bf33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d798a24-512d-4092-a89c-21204c262b25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a9c943f-146f-4745-ba15-f01db5bbd428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843b282-5372-4301-9564-e251f7e20e37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d9dc3cc-cef5-4a50-85bd-65b3c7aca705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2b82bf2-0190-4045-a5a4-4b54eecfd7b0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a6d009c-f6f7-43e6-8478-037d793cc5e2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c20b363-0050-4a84-9d99-715849de386a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573a417-8118-42ef-89cb-634e041ca2cf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f7105b5-5e24-4735-aee2-9b99ab4cc16f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576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1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3" name="yt_shape_12203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阻值相等的四个定值电阻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电容器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及电池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内阻可忽略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bfeb7"/>
              </a:rPr>
              <a:t>连接成如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图所示电路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断开且电流稳定时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电容器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所带的电荷量为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2be28"/>
              </a:rPr>
              <a:t>闭合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电流再次稳定后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电容器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所带的电荷量为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da799"/>
              </a:rPr>
              <a:t>的比值为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205" name="yt_table_12205_skip" title="H_126.1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066" y="2841539"/>
              <a:ext cx="3488056" cy="1602486"/>
            </p:xfrm>
            <a:graphic>
              <a:graphicData uri="http://schemas.openxmlformats.org/drawingml/2006/table">
                <a:tbl>
                  <a:tblPr/>
                  <a:tblGrid>
                    <a:gridCol w="2210118">
                      <a:extLst>
                        <a:ext uri="{9D8B030D-6E8A-4147-A177-3AD203B41FA5}">
                          <a16:colId xmlns:a16="http://schemas.microsoft.com/office/drawing/2014/main" val="10306"/>
                        </a:ext>
                      </a:extLst>
                    </a:gridCol>
                    <a:gridCol w="1277938">
                      <a:extLst>
                        <a:ext uri="{9D8B030D-6E8A-4147-A177-3AD203B41FA5}">
                          <a16:colId xmlns:a16="http://schemas.microsoft.com/office/drawing/2014/main" val="103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𝟓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1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1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𝟓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1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1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altLang="zh-CN" sz="2800" b="1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1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28"/>
                      </a:ext>
                    </a:extLst>
                  </a:tr>
                </a:tbl>
              </a:graphicData>
            </a:graphic>
          </p:graphicFrame>
        </mc:Choice>
        <mc:Fallback xmlns="" xmlns:a16="http://schemas.microsoft.com/office/drawing/2014/main" xmlns:p14="http://schemas.microsoft.com/office/powerpoint/2010/main" xmlns:p15="http://schemas.microsoft.com/office/powerpoint/2012/main">
          <p:graphicFrame>
            <p:nvGraphicFramePr>
              <p:cNvPr id="12205" name="yt_table_12205_skip" descr="{&quot;rangeId&quot;:35,&quot;type&quot;:&quot;Option&quot;,&quot;drawing&quot;:[&quot;yt_image_12204&quot;]}" title="H_126.1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2528996"/>
                  </p:ext>
                </p:extLst>
              </p:nvPr>
            </p:nvGraphicFramePr>
            <p:xfrm>
              <a:off x="324066" y="2841539"/>
              <a:ext cx="3488056" cy="1602486"/>
            </p:xfrm>
            <a:graphic>
              <a:graphicData uri="http://schemas.openxmlformats.org/drawingml/2006/table">
                <a:tbl>
                  <a:tblPr/>
                  <a:tblGrid>
                    <a:gridCol w="2210118">
                      <a:extLst>
                        <a:ext uri="{9D8B030D-6E8A-4147-A177-3AD203B41FA5}">
                          <a16:colId xmlns:a16="http://schemas.microsoft.com/office/drawing/2014/main" val="10306"/>
                        </a:ext>
                      </a:extLst>
                    </a:gridCol>
                    <a:gridCol w="1277938">
                      <a:extLst>
                        <a:ext uri="{9D8B030D-6E8A-4147-A177-3AD203B41FA5}">
                          <a16:colId xmlns:a16="http://schemas.microsoft.com/office/drawing/2014/main" val="10307"/>
                        </a:ext>
                      </a:extLst>
                    </a:gridCol>
                  </a:tblGrid>
                  <a:tr h="8012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r="-57851" b="-114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72857" b="-1143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27"/>
                      </a:ext>
                    </a:extLst>
                  </a:tr>
                  <a:tr h="8012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00000" r="-57851" b="-14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72857" t="-100000" b="-143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204" name="yt_image_12204_skip" title="H_157.75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51677" y="2841539"/>
            <a:ext cx="3514512" cy="200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32630" y="406013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ca9b235-2982-41a5-97f3-95ae5dd7b874" descr="{&quot;SlideID&quot;:&quot;313&quot;,&quot;SlideNumber&quot;:&quot;2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6ea3864-da87-40f1-a00d-e066e2ff7cd4" descr="{&quot;SlideID&quot;:&quot;315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c24a793-33dc-4c66-b27c-331f861a3759" descr="{&quot;SlideID&quot;:&quot;317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b5fc3790-cfb3-448c-a862-4df38a3ec56b" descr="{&quot;SlideID&quot;:&quot;319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3fc9007-238b-47bc-a687-ded26aa16f76" descr="{&quot;SlideID&quot;:&quot;321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52058a7-35c4-4adc-89e9-0323dead78b5" descr="{&quot;SlideID&quot;:&quot;323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064f502c-c796-4d3d-bfec-5f65d5faafa4" descr="{&quot;SlideID&quot;:&quot;325&quot;,&quot;SlideNumber&quot;:&quot;3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a0fbc53-f0f0-4745-875d-5d84dbd6e5d1" descr="{&quot;SlideID&quot;:&quot;327&quot;,&quot;SlideNumber&quot;:&quot;3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34d3467-7aed-461a-b873-3a09748d32df" descr="{&quot;SlideID&quot;:&quot;329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a7c70cd-1b44-46cf-8d35-a3e53ac61c72" descr="{&quot;SlideID&quot;:&quot;331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a6f339e-da61-4719-8632-4ecd871c7ec9" descr="{&quot;SlideID&quot;:&quot;333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89277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p14="http://schemas.microsoft.com/office/powerpoint/2010/main" xmlns:a16="http://schemas.microsoft.com/office/drawing/2014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06" name="yt_shape_12206"/>
              <p:cNvSpPr txBox="1"/>
              <p:nvPr/>
            </p:nvSpPr>
            <p:spPr>
              <a:xfrm>
                <a:off x="324071" y="467999"/>
                <a:ext cx="6987459" cy="579998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开关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84f3a"/>
                  </a:rPr>
                  <a:t>断开时等效电路如图甲所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示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两端电压为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f>
                          <m:fPr>
                            <m:ctrlP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𝟑</m:t>
                            </m:r>
                          </m:den>
                        </m:f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ca02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开关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闭合时等效电路如图乙所示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两端电压为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f>
                          <m:fPr>
                            <m:ctrlP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故选项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06" name="yt_shape_12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6987459" cy="5799986"/>
              </a:xfrm>
              <a:prstGeom prst="rect">
                <a:avLst/>
              </a:prstGeom>
              <a:blipFill>
                <a:blip r:embed="rId2"/>
                <a:stretch>
                  <a:fillRect l="-3054" t="-421" r="-3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28B870EB-5B90-AC19-5B4C-AF7F3D819FE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630" y="467999"/>
            <a:ext cx="4865297" cy="226745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062687aa-143a-4035-9c4a-f35d95a1a7f2" descr="{&quot;SlideID&quot;:&quot;313&quot;,&quot;SlideNumber&quot;:&quot;2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6bb3e7f-b4ea-4fe3-a742-effa0319a2ac" descr="{&quot;SlideID&quot;:&quot;315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9b83e1a-c016-4840-aa8c-29fefe84ab50" descr="{&quot;SlideID&quot;:&quot;317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2877d16-d5df-4388-b14b-8dcb6bfba459" descr="{&quot;SlideID&quot;:&quot;319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51e59ac-5bf6-4abc-986c-201b532a764a" descr="{&quot;SlideID&quot;:&quot;321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4573e8e-df05-48c8-9445-5208685e12e3" descr="{&quot;SlideID&quot;:&quot;323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66c90cf-aa4b-488c-bdfc-69e574fc09bc" descr="{&quot;SlideID&quot;:&quot;325&quot;,&quot;SlideNumber&quot;:&quot;3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0ef9541-b56c-4e12-9897-a0c571059c60" descr="{&quot;SlideID&quot;:&quot;327&quot;,&quot;SlideNumber&quot;:&quot;3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9129177-df34-487d-bb08-13116b2bd877" descr="{&quot;SlideID&quot;:&quot;329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231d4ac-bde4-4611-ba77-04283fa33406" descr="{&quot;SlideID&quot;:&quot;331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80db149d-03b3-4111-8b8f-e2a6bec9ee84" descr="{&quot;SlideID&quot;:&quot;333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913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6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8" name="yt_shape_12208"/>
          <p:cNvSpPr txBox="1"/>
          <p:nvPr/>
        </p:nvSpPr>
        <p:spPr>
          <a:xfrm>
            <a:off x="324071" y="467999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浙江温州开学考试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如图所示的电路中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电源电动势为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775f6"/>
              </a:rPr>
              <a:t>内阻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为定值电阻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为滑动变阻器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开关闭合后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9e0ec"/>
              </a:rPr>
              <a:t>下列说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210" name="yt_table_12210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38297"/>
          <a:ext cx="8896407" cy="2987040"/>
        </p:xfrm>
        <a:graphic>
          <a:graphicData uri="http://schemas.openxmlformats.org/drawingml/2006/table">
            <a:tbl>
              <a:tblPr/>
              <a:tblGrid>
                <a:gridCol w="8896407">
                  <a:extLst>
                    <a:ext uri="{9D8B030D-6E8A-4147-A177-3AD203B41FA5}">
                      <a16:colId xmlns:a16="http://schemas.microsoft.com/office/drawing/2014/main" val="10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此时电容器左极板带正电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仅将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的滑片向下滑动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电源的效率增大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仅将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的滑片向下滑动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电容器的带电荷量增大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仅将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的滑片向上滑动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2_fe723"/>
                        </a:rPr>
                        <a:t>电源的输出功率可能先增大</a:t>
                      </a:r>
                      <a:b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后减小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2"/>
                  </a:ext>
                </a:extLst>
              </a:tr>
            </a:tbl>
          </a:graphicData>
        </a:graphic>
      </p:graphicFrame>
      <p:pic>
        <p:nvPicPr>
          <p:cNvPr id="12209" name="yt_image_12209_skip" title="H_172.75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18486" y="2238297"/>
            <a:ext cx="2647512" cy="19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58755" y="373181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c67fc481-8675-49b1-9231-0d1fd3172e48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2b87303-db32-4fb5-9e13-b23e7565d942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eb681ab-218d-4653-ba93-ee1571b8d2e2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86e17a3-cdf0-4f6c-a7d4-087a85f765f4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b939446c-ff0a-4f3d-8fe5-48c0e316402b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e93fdd9c-4c4c-4d86-8f47-5ad05c7e4f75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2044222-1eaf-4302-8404-70ae30c431f2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6e54c06-7d5e-4d88-8444-3829b18afa0d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b2fa7a7-f31b-4ead-889d-5ee527888fe3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a24b7ed-5823-4ca5-a13f-6566fd939028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156c6f0-784b-416e-a944-1165e5e486a2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241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12" name="yt_shape_12212"/>
              <p:cNvSpPr txBox="1"/>
              <p:nvPr/>
            </p:nvSpPr>
            <p:spPr>
              <a:xfrm>
                <a:off x="209006" y="468000"/>
                <a:ext cx="11495313" cy="60111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hangingPunct="0">
                  <a:lnSpc>
                    <a:spcPct val="140000"/>
                  </a:lnSpc>
                </a:pPr>
                <a:r>
                  <a:rPr lang="zh-CN" altLang="zh-CN" sz="24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4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电容器左极板比右极板电势低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左极板带负电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6fa6c"/>
                  </a:rPr>
                  <a:t>仅将</a:t>
                </a:r>
                <a:r>
                  <a:rPr lang="en-US" altLang="zh-CN" sz="24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的滑片向下滑动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4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接入电路的阻值减小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电路中总电阻减小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b52be"/>
                  </a:rPr>
                  <a:t>电流增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电源内电压增大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外电压减小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η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</m:den>
                    </m:f>
                  </m:oMath>
                </a14:m>
                <a:r>
                  <a:rPr lang="en-US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％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56936"/>
                  </a:rPr>
                  <a:t>电源的效率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4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4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4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en-US" altLang="zh-CN" sz="24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电阻</a:t>
                </a:r>
                <a:r>
                  <a:rPr lang="en-US" altLang="zh-CN" sz="24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两端的电压增大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9f538"/>
                  </a:rPr>
                  <a:t>电容器两端电压增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4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4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CU</a:t>
                </a:r>
                <a:r>
                  <a:rPr lang="en-US" altLang="zh-CN" sz="24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电容器的带电荷量增大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4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电源的输出功率为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400" b="1" baseline="30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）＝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𝑬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2400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zh-CN" altLang="zh-CN" sz="24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sSub>
                                  <m:sSubPr>
                                    <m:ctrlPr>
                                      <a:rPr lang="en-US" altLang="zh-CN" sz="2400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2400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56" charset="0"/>
                                        <a:ea typeface="Cambria Math" panose="02040503050406030204" pitchFamily="56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zh-CN" altLang="zh-CN" sz="24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＋</m:t>
                                </m:r>
                                <m: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𝒓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  <a:sym typeface="_⨹_2_1019c"/>
                  </a:rPr>
                  <a:t>）＝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zh-CN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zh-CN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（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4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zh-CN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4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𝒓</m:t>
                            </m:r>
                            <m:sSup>
                              <m:sSupPr>
                                <m:ctrlPr>
                                  <a:rPr lang="zh-CN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）</m:t>
                                </m:r>
                              </m:e>
                              <m:sup>
                                <m:r>
                                  <a:rPr lang="en-US" altLang="zh-CN" sz="24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（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4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zh-CN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400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zh-CN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den>
                        </m:f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电源的输出功率最大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由于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1_0f8f1"/>
                  </a:rPr>
                  <a:t>仅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将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的滑片向上滑动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接入电路的阻值增大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400" b="1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4_370cd"/>
                  </a:rPr>
                  <a:t>电源的输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出功率减小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400" b="1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错误。</a:t>
                </a:r>
                <a:endParaRPr lang="zh-CN" altLang="en-US" sz="1600" dirty="0">
                  <a:solidFill>
                    <a:srgbClr val="C00000"/>
                  </a:solidFill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endParaRPr lang="zh-CN" altLang="zh-CN" sz="2400" b="1" i="0" u="none" dirty="0">
                  <a:solidFill>
                    <a:srgbClr val="FF0000"/>
                  </a:solidFill>
                  <a:effectLst/>
                  <a:latin typeface="Times New Roman" pitchFamily="28"/>
                  <a:ea typeface="仿宋" pitchFamily="28"/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12" name="yt_shape_122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06" y="468000"/>
                <a:ext cx="11495313" cy="6011177"/>
              </a:xfrm>
              <a:prstGeom prst="rect">
                <a:avLst/>
              </a:prstGeom>
              <a:blipFill>
                <a:blip r:embed="rId2"/>
                <a:stretch>
                  <a:fillRect l="-1591" t="-507" r="-6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2ea25590-abaa-4286-b018-76980e2a1004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6a08918-7afd-42c0-bf45-2fa58a42161d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2d7961f-7988-426b-8754-115fa6437bd1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697e965-3dfa-4e30-afa3-4d6743e1203d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baa9a285-6b13-45aa-9d74-dffaa3713a8a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3c716faa-b107-4a5d-a79a-672028467ef2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3ce8927-d236-4929-b3ac-e7df7fb5592f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4583dc7-c4be-4d61-bf82-63e20d5d0725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bc7a182-869c-48a2-abec-39507e082386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599f9c43-2216-4a67-b686-55bbce25051e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8d342ad-fec7-4609-8f32-5719a28d10f5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758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12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4" name="yt_shape_12214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如图所示的电路中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灯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都能发光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bce3a"/>
              </a:rPr>
              <a:t>后来由于某种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故障使灯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突然变亮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未烧坏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电压表的读数增大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由此可推断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aa34d"/>
              </a:rPr>
              <a:t>这故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障可能是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216" name="yt_table_12216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38297"/>
          <a:ext cx="4692650" cy="2389632"/>
        </p:xfrm>
        <a:graphic>
          <a:graphicData uri="http://schemas.openxmlformats.org/drawingml/2006/table">
            <a:tbl>
              <a:tblPr/>
              <a:tblGrid>
                <a:gridCol w="4692650">
                  <a:extLst>
                    <a:ext uri="{9D8B030D-6E8A-4147-A177-3AD203B41FA5}">
                      <a16:colId xmlns:a16="http://schemas.microsoft.com/office/drawing/2014/main" val="10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灯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L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上两接线柱间短路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断路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6"/>
                  </a:ext>
                </a:extLst>
              </a:tr>
            </a:tbl>
          </a:graphicData>
        </a:graphic>
      </p:graphicFrame>
      <p:pic>
        <p:nvPicPr>
          <p:cNvPr id="12215" name="yt_image_12215_skip" title="H_184.12495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19779" y="2238297"/>
            <a:ext cx="2046087" cy="233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19566" y="428630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693b195-a3af-4cd9-9c50-63c4fb88c868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a4627d4-0246-4372-a726-549c9cdc89fb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0fa43c3-72e0-452d-89a7-ed9071eecefc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8c93f22-6671-4e36-9d2f-8ffdf6eedfea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88c1374-0250-409d-97fa-ce73f79ac7e2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0f1032f-e8ce-4b66-9386-636db67cf2df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b7874a4-8ef0-4735-806d-1362d3ecfb9a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8d08a41-18b4-4b90-9039-7e1baff10790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bceddcb-f104-4af6-9ff6-523dc98327c1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e5245fb-3419-4a88-b45d-ef12f3bc0662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956f5f0-7b85-4707-8266-9f8023defe36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052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8" name="yt_shape_12218"/>
          <p:cNvSpPr txBox="1"/>
          <p:nvPr/>
        </p:nvSpPr>
        <p:spPr>
          <a:xfrm>
            <a:off x="324071" y="467999"/>
            <a:ext cx="11924914" cy="53581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根据题设条件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电路中的某种故障产生两个后果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一是灯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63fc0"/>
              </a:rPr>
              <a:t>突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然变亮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8_578b4"/>
              </a:rPr>
              <a:t>二是电压表的读数增大。只有同时符合这两个条件的故障才是可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能的故障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因为电压表的读数增大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所以路端电压增大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d79fa"/>
              </a:rPr>
              <a:t>电源内阻上的电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压减小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说明总电流减小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电路总电阻增大。若电阻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a6566"/>
              </a:rPr>
              <a:t>会导致总电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阻增大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总电流减小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而此时灯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两端电压会减小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致使灯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变暗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8b1d4"/>
              </a:rPr>
              <a:t>若电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阻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将不亮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上两接线柱间短路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电路的总电阻减小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a8f30"/>
              </a:rPr>
              <a:t>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总电流增大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电压表读数减小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若电阻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断路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电路的总电阻增大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55974"/>
              </a:rPr>
              <a:t>总电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流减小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电压表的读数增大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而总电流减小导致内电压和灯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b2399"/>
              </a:rPr>
              <a:t>并联部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分电压减小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两端电压增大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灯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变亮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故选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f7bd028-f70e-49a4-b9fc-4c42f2ed1a1d" descr="{&quot;SlideID&quot;:&quot;313&quot;,&quot;SlideNumber&quot;:&quot;2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512fec5-c340-44f4-a6c5-14e6ce0d6c6e" descr="{&quot;SlideID&quot;:&quot;315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da20b82-e6fd-4ee5-b5bb-200a861bd6fe" descr="{&quot;SlideID&quot;:&quot;317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0e169bc-98d5-4d08-bf58-9a153d29b6d6" descr="{&quot;SlideID&quot;:&quot;319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1d96ba6-dd5b-4d14-987c-5d2f5720e713" descr="{&quot;SlideID&quot;:&quot;321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707d98f9-d45e-4ddc-ba59-8de92812f195" descr="{&quot;SlideID&quot;:&quot;323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55bae03-214d-4d60-b2ec-450b6fb1661c" descr="{&quot;SlideID&quot;:&quot;325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8d20165-04ac-46b1-b5d8-b95514b1da31" descr="{&quot;SlideID&quot;:&quot;327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e1ba7fd-77d2-460f-b4e4-64c39c3ffc30" descr="{&quot;SlideID&quot;:&quot;329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80aba19-b925-4f4e-a4c3-859d0095712d" descr="{&quot;SlideID&quot;:&quot;331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789a65c-ed33-469a-a92c-e0dc12cf70ee" descr="{&quot;SlideID&quot;:&quot;333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377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18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9" name="yt_shape_12219"/>
          <p:cNvSpPr txBox="1"/>
          <p:nvPr/>
        </p:nvSpPr>
        <p:spPr>
          <a:xfrm>
            <a:off x="324071" y="467999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如图为一电源电动势为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的闭合电路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1625b"/>
              </a:rPr>
              <a:t>电压表的内阻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为静电计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分别是两个电容器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5a570"/>
              </a:rPr>
              <a:t>闭合一段时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间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221" name="yt_table_12221_skip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38297"/>
          <a:ext cx="9262142" cy="4181856"/>
        </p:xfrm>
        <a:graphic>
          <a:graphicData uri="http://schemas.openxmlformats.org/drawingml/2006/table">
            <a:tbl>
              <a:tblPr/>
              <a:tblGrid>
                <a:gridCol w="9262142">
                  <a:extLst>
                    <a:ext uri="{9D8B030D-6E8A-4147-A177-3AD203B41FA5}">
                      <a16:colId xmlns:a16="http://schemas.microsoft.com/office/drawing/2014/main" val="10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9_95823"/>
                        </a:rPr>
                        <a:t>则电压表两端的电势差大于静电计两端的电</a:t>
                      </a:r>
                      <a:b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势差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若将滑动变阻器滑片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向右滑动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则电容器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4_788c5"/>
                        </a:rPr>
                        <a:t>上带电荷</a:t>
                      </a:r>
                      <a:b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上带电荷量为零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再将开关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断开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然后使电容器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两极板间距离增大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_⨹_1_919b6"/>
                        </a:rPr>
                        <a:t>，</a:t>
                      </a:r>
                      <a:b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</a:b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则静电计张角也增大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0"/>
                  </a:ext>
                </a:extLst>
              </a:tr>
            </a:tbl>
          </a:graphicData>
        </a:graphic>
      </p:graphicFrame>
      <p:pic>
        <p:nvPicPr>
          <p:cNvPr id="12220" name="yt_image_12220_skip" title="H_168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84141" y="2238297"/>
            <a:ext cx="2281776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03999" y="474110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03999" y="552593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9be2691b-3008-4e0b-abb2-1e610cb93139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5706ab4-9967-48a3-9d1e-c090cd271194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751ccb0-8a85-44d8-9f2f-69628d3cc869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1295a70-837f-4976-9ebf-6f99bcf6e9be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e860211-b51f-4c56-acb1-1dcc11caf66a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eba0fe1-d183-4b07-a21b-351a7160814f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4126bb1-2b2d-4318-a1ac-972abffafa47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968b01b-082c-4013-9124-b498b72eca04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9acc206-d6bd-4a3d-9942-300654c42374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391d96e-d036-4223-a2b5-79f4a276007c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ba4b30a5-ace1-4ce3-9461-a01ae711b183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3184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23" name="yt_shape_12223"/>
              <p:cNvSpPr txBox="1"/>
              <p:nvPr/>
            </p:nvSpPr>
            <p:spPr>
              <a:xfrm>
                <a:off x="324071" y="467999"/>
                <a:ext cx="11924914" cy="562615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spc="150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spc="150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由于静电计的两个电极是彼此绝缘的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9b461"/>
                  </a:rPr>
                  <a:t>电压表是由电流表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改装成的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电路稳定后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电路中没有电流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电压表示数为零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21154"/>
                  </a:rPr>
                  <a:t>而电容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器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充电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5_359b2"/>
                  </a:rPr>
                  <a:t>两端存在电压。所以电压表两端的电势差小于静电计两端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的电势差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电路稳定后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47bf6"/>
                  </a:rPr>
                  <a:t>的电压等于电源的电动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势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保持不变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将滑动变阻器滑片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向右滑动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的电压不变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95c6"/>
                  </a:rPr>
                  <a:t>，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带电荷量不变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由于电压表示数为零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46470"/>
                  </a:rPr>
                  <a:t>没有被充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带电荷量为零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将开关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断开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en-US" altLang="zh-CN" sz="2800" b="1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的带电荷量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76d58"/>
                  </a:rPr>
                  <a:t>Q</a:t>
                </a:r>
                <a:b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不变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板间距离增大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由公式</a:t>
                </a:r>
                <a:r>
                  <a:rPr lang="en-US" altLang="zh-CN" sz="2800" b="1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𝑸</m:t>
                        </m:r>
                      </m:num>
                      <m:den>
                        <m:r>
                          <a:rPr lang="en-US" altLang="zh-CN" sz="2800" b="1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</m:t>
                        </m:r>
                      </m:den>
                    </m:f>
                  </m:oMath>
                </a14:m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分析可知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6be2b"/>
                  </a:rPr>
                  <a:t>板间电压</a:t>
                </a:r>
                <a:b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增大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静电计张角增大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23" name="yt_shape_122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626156"/>
              </a:xfrm>
              <a:prstGeom prst="rect">
                <a:avLst/>
              </a:prstGeom>
              <a:blipFill>
                <a:blip r:embed="rId2"/>
                <a:stretch>
                  <a:fillRect l="-1789" t="-433" b="-2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10d4c119-fff3-4345-80bd-f0fb0782de71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663bd5a-03a0-4814-a8fb-a10b89e40690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3ed673b-748b-4cb5-8d91-a1ced753a005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432206e-d496-47e9-aba5-6d109cd61f15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5130bf0-f10b-4bd4-938e-d154ffc09be1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bcbfac2-9422-408b-90f9-5e23e14a0888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225cd334-ad07-48e4-bb3f-0c608240cc39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b8b0c21-43fc-4da6-a347-7575b293e73f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efe50ac-4961-4abe-943b-7fe78f337942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83d9107-667c-4aaf-bae8-e413b4da6ec6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d7fcb29-031b-4a93-8ecc-1462ed3e8239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769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23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7" name="yt_shape_12227"/>
          <p:cNvSpPr txBox="1"/>
          <p:nvPr/>
        </p:nvSpPr>
        <p:spPr>
          <a:xfrm>
            <a:off x="324071" y="1452152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电源电动势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内阻不计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2ac9f"/>
              </a:rPr>
              <a:t>，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电容器电容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μF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229" name="yt_table_12229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2842946"/>
          <a:ext cx="9124638" cy="2389632"/>
        </p:xfrm>
        <a:graphic>
          <a:graphicData uri="http://schemas.openxmlformats.org/drawingml/2006/table">
            <a:tbl>
              <a:tblPr/>
              <a:tblGrid>
                <a:gridCol w="9124638">
                  <a:extLst>
                    <a:ext uri="{9D8B030D-6E8A-4147-A177-3AD203B41FA5}">
                      <a16:colId xmlns:a16="http://schemas.microsoft.com/office/drawing/2014/main" val="10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S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断开时电容器的电压为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断开时电容器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极板带负电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S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闭合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电路稳定后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极板带负电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S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闭合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电路稳定后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电容器所带电荷量为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1" i="0" u="none" baseline="30000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－</a:t>
                      </a:r>
                      <a:r>
                        <a:rPr lang="en-US" altLang="zh-CN" sz="2800" b="1" i="0" u="none" baseline="30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4"/>
                  </a:ext>
                </a:extLst>
              </a:tr>
            </a:tbl>
          </a:graphicData>
        </a:graphic>
      </p:graphicFrame>
      <p:pic>
        <p:nvPicPr>
          <p:cNvPr id="12228" name="yt_image_12228_skip" title="H_188.37495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42164" y="2842946"/>
            <a:ext cx="2419281" cy="215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45693" y="484016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7" name="yt_image_10672" title="H_47.87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472454" y="588785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84e81290-8913-4f04-a897-e5767b20304d" descr="{&quot;SlideID&quot;:&quot;313&quot;,&quot;SlideNumber&quot;:&quot;2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827fa0d-8074-4f10-aa0c-780546684592" descr="{&quot;SlideID&quot;:&quot;315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02b5419-b989-4430-8189-de6a6d35bd6c" descr="{&quot;SlideID&quot;:&quot;317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1c9a5e5-19d7-4321-bddf-d26d8a69bdac" descr="{&quot;SlideID&quot;:&quot;319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cfb92f2-973f-4d5e-90ed-7135f59de75d" descr="{&quot;SlideID&quot;:&quot;321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4f4165c-1710-427c-9e73-2ea19170dec9" descr="{&quot;SlideID&quot;:&quot;323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29c5e52-210e-44b7-9ae2-8fdaf9604f2c" descr="{&quot;SlideID&quot;:&quot;325&quot;,&quot;SlideNumber&quot;:&quot;3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d19ebfb2-2cbf-4015-a761-b30288936d8f" descr="{&quot;SlideID&quot;:&quot;327&quot;,&quot;SlideNumber&quot;:&quot;3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63360be-4b74-42bb-8a45-b068742e0ce4" descr="{&quot;SlideID&quot;:&quot;329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91244f7a-c12a-4cf5-893c-202093af3155" descr="{&quot;SlideID&quot;:&quot;331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700d956e-23bc-47d3-bbc1-e16a90f94812" descr="{&quot;SlideID&quot;:&quot;333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3643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31" name="yt_shape_12231"/>
              <p:cNvSpPr txBox="1"/>
              <p:nvPr/>
            </p:nvSpPr>
            <p:spPr>
              <a:xfrm>
                <a:off x="324071" y="467999"/>
                <a:ext cx="11924914" cy="390728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断开时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相当于断路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中无电流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两端电压等于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eca56"/>
                  </a:rPr>
                  <a:t>两端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极板的电势比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极板的电势高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所以电容器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极板带正电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97502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电容器的电压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闭合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电路稳定后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5f2b"/>
                  </a:rPr>
                  <a:t>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先串联再与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并联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极板的电势比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极板电势高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4ef97"/>
                  </a:rPr>
                  <a:t>极板带正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电容器两端电压即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两端电压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电容器所带电荷量为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6a51"/>
                  </a:rPr>
                  <a:t>＝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1" i="0" u="none" baseline="3000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31" name="yt_shape_122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907288"/>
              </a:xfrm>
              <a:prstGeom prst="rect">
                <a:avLst/>
              </a:prstGeom>
              <a:blipFill>
                <a:blip r:embed="rId2"/>
                <a:stretch>
                  <a:fillRect l="-1789" t="-624" b="-4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7d99fffa-5928-42e2-9f63-84c824d07201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488f03c-ecdd-4345-a7f5-f6b761a652a1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8d21084-c2c2-41ba-b267-9e7bb8d12ba9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7d0567c-394a-4998-80b1-fc07a8597582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87cbc15-03b8-4262-925c-1239a200e7f7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eaa1bd0-abbe-4c25-b6dc-1bdd6973b091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6b7814d0-9ac2-4f3a-9b28-491688110225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fd97f24-3756-41c5-8f56-c93f161aaa7c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e4aa068-dd7d-4a8f-90f4-26594d469707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f43e260-75e8-493c-8bfe-58e119ceb0b4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bffad4d-5396-4765-b5a3-f4605f4b69b6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49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1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3" name="yt_shape_12233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在如图所示的电路中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为电容器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99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6371f"/>
              </a:rPr>
              <a:t>的电阻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箱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电源内阻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现闭合开关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47a04"/>
              </a:rPr>
              <a:t>，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调节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使其电阻从零逐渐增至最大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在此过程中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235" name="yt_table_12235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57468"/>
          <a:ext cx="6837363" cy="2389632"/>
        </p:xfrm>
        <a:graphic>
          <a:graphicData uri="http://schemas.openxmlformats.org/drawingml/2006/table">
            <a:tbl>
              <a:tblPr/>
              <a:tblGrid>
                <a:gridCol w="6837363">
                  <a:extLst>
                    <a:ext uri="{9D8B030D-6E8A-4147-A177-3AD203B41FA5}">
                      <a16:colId xmlns:a16="http://schemas.microsoft.com/office/drawing/2014/main" val="10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电容器的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极板先带正电后带负电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电容器的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极板先带负电后带正电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电源的输出功率先增大后减小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电容器两极板间的电压先增大后减小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"/>
                  </a:ext>
                </a:extLst>
              </a:tr>
            </a:tbl>
          </a:graphicData>
        </a:graphic>
      </p:graphicFrame>
      <p:pic>
        <p:nvPicPr>
          <p:cNvPr id="12234" name="yt_image_12234_skip" title="H_240.5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28284" y="2257468"/>
            <a:ext cx="3137822" cy="30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02148" y="352055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02149" y="239400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77db4fb3-200c-4a8d-a52d-ff8841de8930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9dc3a04-5702-4007-bc13-fcbc225e6e1d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4c332e1-926f-4aa8-b5e3-13ecfef242df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39eb15b-05d6-4adb-8e85-df438fa63d46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76f77b73-9d23-4606-996a-091a770757c4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46ed079-7740-4d13-b6b6-d3e93739d134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6ec0168-c84e-4d7d-95cf-d85e2fff529d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3e06007-eb70-4d29-b2e2-1a77e20e1234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b71a825-85ba-46eb-bbb6-735ea349fe49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814bad7e-6633-4d5c-b455-0cca47116418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686cf853-95f3-468c-aad4-7c7e2f712831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2058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37" name="yt_shape_12237"/>
              <p:cNvSpPr txBox="1"/>
              <p:nvPr/>
            </p:nvSpPr>
            <p:spPr>
              <a:xfrm>
                <a:off x="324071" y="467999"/>
                <a:ext cx="11924914" cy="515474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为零时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极板接电源正极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电势最高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带正电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7a1f"/>
                  </a:rPr>
                  <a:t>＝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电容器两极板电势相等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不带电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32d52"/>
                  </a:rPr>
                  <a:t>极板电势较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高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极板带负电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即电容器两极板间的电压先减小后增大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eb28"/>
                  </a:rPr>
                  <a:t>、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为零时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外电阻最小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最小值为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min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𝟑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𝟒</m:t>
                            </m:r>
                          </m:sub>
                        </m:sSub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𝟑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67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117f"/>
                  </a:rPr>
                  <a:t> 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外电阻最大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最大值为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max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𝟑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𝟒</m:t>
                            </m:r>
                          </m:sub>
                        </m:sSub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𝟑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571b3"/>
                  </a:rPr>
                  <a:t> 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当外电阻等于内阻时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电源的输出功率最大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18437"/>
                  </a:rPr>
                  <a:t>所以电源的输出功率先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增大后减小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37" name="yt_shape_122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154744"/>
              </a:xfrm>
              <a:prstGeom prst="rect">
                <a:avLst/>
              </a:prstGeom>
              <a:blipFill>
                <a:blip r:embed="rId2"/>
                <a:stretch>
                  <a:fillRect l="-1789" t="-473" b="-3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d40107f2-be7b-4e7a-b7d5-4be15b423c73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62379a4-6d51-4d47-ba35-ffa30fcb91bf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61fba42-0dc4-4e5e-8696-ed2898c9f6b7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54017e7-b138-4102-b88f-48d6f9d8f3d7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39e7861-e61d-46f3-94fa-4c985f47dc18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3edd39e4-0c9f-46a3-95d9-dab556ec7ede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3a185cb-c8df-4923-a1af-b03e2a57a15c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dab8dc4-2fac-4ab0-bcfd-aa6cddc9d991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b4f66ff3-abf5-4a3f-ba9d-1148ef7c2ef0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90b76a2-82e2-4bc5-ae28-0db8a2a3dd9e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d2f8a38-1811-491e-9a47-ef18684024b6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622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7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9" name="yt_shape_12239"/>
          <p:cNvSpPr txBox="1"/>
          <p:nvPr/>
        </p:nvSpPr>
        <p:spPr>
          <a:xfrm>
            <a:off x="324071" y="467999"/>
            <a:ext cx="11171243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高中联盟期中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如图所示的电路中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71023"/>
              </a:rPr>
              <a:t>两平行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金属板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水平放置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极板长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80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cm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两板间的距离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40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cm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ed956"/>
              </a:rPr>
              <a:t>电源电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动势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40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内电阻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63e59"/>
              </a:rPr>
              <a:t>待电路稳定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将带负电的小球从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板左端且非常靠近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板的位置以初速度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4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a095a"/>
              </a:rPr>
              <a:t>m/s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水平向右射入两板间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该小球可视为质点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若小球带电荷量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400" b="1" i="0" u="none" baseline="3000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400" b="1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911a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400" b="1" i="0" u="none" baseline="3000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400" b="1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不考虑空气阻力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电路中电压表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10791"/>
              </a:rPr>
              <a:t>电流表均是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理想电表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若小球恰好从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板右边缘射出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4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400" b="1" i="0" u="none" baseline="30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4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3" name="yt_table_12241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3956186"/>
          <a:ext cx="6494463" cy="2389632"/>
        </p:xfrm>
        <a:graphic>
          <a:graphicData uri="http://schemas.openxmlformats.org/drawingml/2006/table">
            <a:tbl>
              <a:tblPr/>
              <a:tblGrid>
                <a:gridCol w="6494463">
                  <a:extLst>
                    <a:ext uri="{9D8B030D-6E8A-4147-A177-3AD203B41FA5}">
                      <a16:colId xmlns:a16="http://schemas.microsoft.com/office/drawing/2014/main" val="10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滑动变阻器接入电路的阻值为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24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小球飞行的加速度大小为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1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电压表的示数为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16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电源的输出功率为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40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W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2"/>
                  </a:ext>
                </a:extLst>
              </a:tr>
            </a:tbl>
          </a:graphicData>
        </a:graphic>
      </p:graphicFrame>
      <p:pic>
        <p:nvPicPr>
          <p:cNvPr id="4" name="yt_image_12240_skip" title="H_198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8856" y="3642273"/>
            <a:ext cx="4491692" cy="28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82381" y="475858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E09BB5-4CF1-49BD-93CC-7B2292F4DD2B}"/>
              </a:ext>
            </a:extLst>
          </p:cNvPr>
          <p:cNvSpPr/>
          <p:nvPr/>
        </p:nvSpPr>
        <p:spPr>
          <a:xfrm>
            <a:off x="175832" y="414966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751f1cb3-2d45-4f26-8c22-c98100acc917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c1863fc-62b3-4f33-890a-6239e7880487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b8158db-bda0-4ad6-b6fb-54d2cf8ef7a7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2c703a2-d8ef-4999-b3ac-7c0529004819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d6454f8-ae11-474b-8a18-9d77d3219218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6540398-f0f3-4103-97b0-6e5cf73086af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634bd6f6-d02a-43cc-b722-93fd4031b296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02979e6e-4d09-4357-b1f6-e67e7ecedadc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9641bbe5-69f4-484a-8e75-7fac8f31599b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74d40bd3-0492-4ea6-967c-0bf78c88cb3d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e5fa7d57-33b7-4ffc-96c5-570a15e5b883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9518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43" name="yt_shape_12243"/>
              <p:cNvSpPr txBox="1"/>
              <p:nvPr/>
            </p:nvSpPr>
            <p:spPr>
              <a:xfrm>
                <a:off x="324071" y="467999"/>
                <a:ext cx="11924914" cy="570957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设小球在板间飞行时间为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则在水平方向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𝒍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518fa"/>
                  </a:rPr>
                  <a:t>根据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小球飞行的加速度为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1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8d671"/>
                  </a:rPr>
                  <a:t>对小球根据牛顿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第二定律得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𝐀𝐁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𝒅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所以滑动变阻器两端电压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aca1"/>
                  </a:rPr>
                  <a:t>U</a:t>
                </a:r>
                <a:b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设通过滑动变阻器的电流为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由欧姆定律得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滑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9db6a"/>
                  </a:rPr>
                  <a:t>＝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𝟒𝟎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𝟐𝟒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𝟏𝟓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1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滑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电压表测量的路端电压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6f4e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根据闭合电路欧姆定律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39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电源的输出功率为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df79"/>
                  </a:rPr>
                  <a:t>出</a:t>
                </a:r>
                <a:br>
                  <a:rPr lang="zh-CN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39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43" name="yt_shape_122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709576"/>
              </a:xfrm>
              <a:prstGeom prst="rect">
                <a:avLst/>
              </a:prstGeom>
              <a:blipFill>
                <a:blip r:embed="rId2"/>
                <a:stretch>
                  <a:fillRect l="-1789" b="-2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ed12465-a443-4649-ad53-b186219f3750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a8831c7-090b-409f-b5da-1a93897904cb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bd304a3-f30e-4ddd-bcca-5b3387d1cd8d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809a801-3a2d-4423-ab24-e19295f9d01f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95544a1-a5e0-4141-90eb-e170e21e7c03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dec81a39-483b-4a94-984e-c4aaacd7d156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7705b20c-b159-4fa9-9c10-b09c8728af06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7beb027-786e-4a25-8064-2d55c8a70395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97846f7-4b04-4ae5-99c7-eb8bd72213d4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e631058-b8a9-4d95-8cc7-5d4d01ae07c2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40475c3-c76c-4f7e-9530-6bd6eac71e2a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141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43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5" name="yt_shape_12245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浙江绍兴期末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电源电动势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ec4c"/>
              </a:rPr>
              <a:t> 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电容器的电容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1" i="0" u="none" baseline="3000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1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f1da2"/>
              </a:rPr>
              <a:t>电动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机线圈的电阻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电压表为理想电表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2246" name="yt_image_12246">
            <a:extLst>
              <a:ext uri="">
                <a16:creationId xmlns=""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2409832"/>
            <a:ext cx="3420025" cy="314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235f07b8-e684-468b-81da-f3813f8010b9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438c7c6-5831-410b-aa03-66eaf43804bc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388b052-7d8d-469c-903a-b19a3c5496ee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32a3331-f5e6-43a0-9fe3-63eb0ad7ffb6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505cda2-667c-4024-a77c-1e5b7458c09b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e40975b9-fc8a-49d2-b6d1-5e1ebc71a4a4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ef0c2e41-9844-491b-acd1-d24a8f0bf31a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679b02e-6439-4d88-8794-07b4a955c8ba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9de1aae-b0d9-49fd-b9a5-45a3f4dce493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2c501d5-ed82-4c9c-9802-08d035fb5a94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31ea0be-db3d-4968-b230-cb82af263066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8315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4="http://schemas.microsoft.com/office/drawing/2010/main" xmlns:a16="http://schemas.microsoft.com/office/drawing/2014/main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8" name="yt_shape_12248"/>
          <p:cNvSpPr txBox="1"/>
          <p:nvPr/>
        </p:nvSpPr>
        <p:spPr>
          <a:xfrm>
            <a:off x="324000" y="467999"/>
            <a:ext cx="937596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断开开关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求稳定后电压表的示数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249" name="yt_shape_12249"/>
          <p:cNvSpPr txBox="1"/>
          <p:nvPr/>
        </p:nvSpPr>
        <p:spPr>
          <a:xfrm>
            <a:off x="324000" y="1050984"/>
            <a:ext cx="196521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50" name="yt_shape_12250"/>
              <p:cNvSpPr txBox="1"/>
              <p:nvPr/>
            </p:nvSpPr>
            <p:spPr>
              <a:xfrm>
                <a:off x="324000" y="1633969"/>
                <a:ext cx="8132867" cy="1494320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根据闭合电路欧姆定律可知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代入数据解得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250" name="yt_shape_122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633969"/>
                <a:ext cx="8132867" cy="1494320"/>
              </a:xfrm>
              <a:prstGeom prst="rect">
                <a:avLst/>
              </a:prstGeom>
              <a:blipFill>
                <a:blip r:embed="rId2"/>
                <a:stretch>
                  <a:fillRect l="-2624" r="-1949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9c24be4-c440-4243-8ce7-ddf6999784d1" descr="{&quot;SlideID&quot;:&quot;313&quot;,&quot;SlideNumber&quot;:&quot;20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2967c8e-b4fa-4266-8479-d823c8f5d9e0" descr="{&quot;SlideID&quot;:&quot;315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fd9d27d-2544-4134-8019-23715a5af20d" descr="{&quot;SlideID&quot;:&quot;317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6170897-f857-4b44-8f4b-b0bd420c871c" descr="{&quot;SlideID&quot;:&quot;319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ef1d43f-e290-4f05-8004-290b8344e8df" descr="{&quot;SlideID&quot;:&quot;321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a911757-7f29-4494-beb9-db522bf9005e" descr="{&quot;SlideID&quot;:&quot;323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012488a-6602-4b0f-910e-d4dfcd367323" descr="{&quot;SlideID&quot;:&quot;325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f059ebd-1f03-400d-833a-1607fd9df8df" descr="{&quot;SlideID&quot;:&quot;327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83e8912-3081-4fe1-a369-4f77a5fa6299" descr="{&quot;SlideID&quot;:&quot;329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58a18dd-0fb1-477e-a943-1a4822d0e92b" descr="{&quot;SlideID&quot;:&quot;331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4ba1576-8a7c-4591-93d5-8b97c859e46c" descr="{&quot;SlideID&quot;:&quot;333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239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49" grpId="0" build="allAtOnce"/>
      <p:bldP spid="12250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2" name="yt_shape_12252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同时闭合开关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稳定后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电动机正常工作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流过电阻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58e29"/>
              </a:rPr>
              <a:t>的电流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</p:txBody>
      </p:sp>
      <p:sp>
        <p:nvSpPr>
          <p:cNvPr id="12253" name="yt_shape_12253"/>
          <p:cNvSpPr txBox="1"/>
          <p:nvPr/>
        </p:nvSpPr>
        <p:spPr>
          <a:xfrm>
            <a:off x="324000" y="1654226"/>
            <a:ext cx="414696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求电容器的带电荷量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2254" name="yt_shape_12254"/>
          <p:cNvSpPr txBox="1"/>
          <p:nvPr/>
        </p:nvSpPr>
        <p:spPr>
          <a:xfrm>
            <a:off x="324000" y="2237211"/>
            <a:ext cx="418704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求电动机的输出功率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1eeb527-0182-45e4-a56d-8f700a187a82" descr="{&quot;SlideID&quot;:&quot;313&quot;,&quot;SlideNumber&quot;:&quot;20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db615c5-a98f-45c2-8a1d-c1f4fc54d680" descr="{&quot;SlideID&quot;:&quot;315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572be9e-b6cf-4e18-a160-fc4aba669ad1" descr="{&quot;SlideID&quot;:&quot;317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c5753e0-48ff-4a2a-8c4a-941c85ad379c" descr="{&quot;SlideID&quot;:&quot;319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dc63209-f58a-474d-accb-4f6ed835f1a9" descr="{&quot;SlideID&quot;:&quot;321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33e56a0-2c44-43ee-b680-7ae2be39e99a" descr="{&quot;SlideID&quot;:&quot;323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737a67a-b441-407f-bfe3-1b4be62a8fa1" descr="{&quot;SlideID&quot;:&quot;325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b127c85-bed0-42a1-8ee6-b1309f0aa68e" descr="{&quot;SlideID&quot;:&quot;327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d1b7504-3431-4693-8a8f-11c0223ef511" descr="{&quot;SlideID&quot;:&quot;329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147b766-e765-4120-82e1-adb0055b0475" descr="{&quot;SlideID&quot;:&quot;331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04a7232f-bb1c-4080-80fa-88ec926a52ca" descr="{&quot;SlideID&quot;:&quot;333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4074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5" name="yt_shape_12255"/>
          <p:cNvSpPr txBox="1"/>
          <p:nvPr/>
        </p:nvSpPr>
        <p:spPr>
          <a:xfrm>
            <a:off x="324000" y="467999"/>
            <a:ext cx="529625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1" i="0" u="none" baseline="3000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1" i="0" u="none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04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56" name="yt_shape_12256"/>
              <p:cNvSpPr txBox="1"/>
              <p:nvPr/>
            </p:nvSpPr>
            <p:spPr>
              <a:xfrm>
                <a:off x="324000" y="1050984"/>
                <a:ext cx="9834359" cy="1565365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①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设电阻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的两端的电压为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设电阻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的两端的电压为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2256" name="yt_shape_122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050984"/>
                <a:ext cx="9834359" cy="1565365"/>
              </a:xfrm>
              <a:prstGeom prst="rect">
                <a:avLst/>
              </a:prstGeom>
              <a:blipFill>
                <a:blip r:embed="rId2"/>
                <a:stretch>
                  <a:fillRect l="-2170" t="-1556" r="-1302" b="-2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58" name="yt_shape_12258"/>
          <p:cNvSpPr txBox="1"/>
          <p:nvPr/>
        </p:nvSpPr>
        <p:spPr>
          <a:xfrm>
            <a:off x="324000" y="2667137"/>
            <a:ext cx="6735818" cy="113543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1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电容器的带电荷量</a:t>
            </a:r>
            <a:r>
              <a:rPr lang="en-US" altLang="zh-CN" sz="2800" b="1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1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1" i="0" u="none" baseline="3000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1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59" name="yt_shape_12259"/>
              <p:cNvSpPr txBox="1"/>
              <p:nvPr/>
            </p:nvSpPr>
            <p:spPr>
              <a:xfrm>
                <a:off x="324000" y="3853364"/>
                <a:ext cx="8602355" cy="1536639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②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设流过电动机的电流为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𝑬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电动机的输出功率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e>
                      <m:sup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2259" name="yt_shape_122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3853364"/>
                <a:ext cx="8602355" cy="1536639"/>
              </a:xfrm>
              <a:prstGeom prst="rect">
                <a:avLst/>
              </a:prstGeom>
              <a:blipFill>
                <a:blip r:embed="rId3"/>
                <a:stretch>
                  <a:fillRect l="-2481" r="-1630" b="-13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61" name="yt_shape_12261"/>
          <p:cNvSpPr txBox="1"/>
          <p:nvPr/>
        </p:nvSpPr>
        <p:spPr>
          <a:xfrm>
            <a:off x="324000" y="5440791"/>
            <a:ext cx="282442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1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04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1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bd14c6b-9609-44a6-b64d-4527ae4b92ef" descr="{&quot;SlideID&quot;:&quot;313&quot;,&quot;SlideNumber&quot;:&quot;20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85d02d4-b02b-4bf4-939c-f553ce060133" descr="{&quot;SlideID&quot;:&quot;315&quot;,&quot;SlideNumber&quot;:&quot;2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a350b3b-a566-4f6f-93ce-d0e4cc407d49" descr="{&quot;SlideID&quot;:&quot;317&quot;,&quot;SlideNumber&quot;:&quot;2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59da2bf-fe86-4b76-8774-51409c8c93b0" descr="{&quot;SlideID&quot;:&quot;319&quot;,&quot;SlideNumber&quot;:&quot;2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a53a5c3-e9b2-4451-8170-0b01815772db" descr="{&quot;SlideID&quot;:&quot;321&quot;,&quot;SlideNumber&quot;:&quot;2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d57408c-c263-43f8-9374-ebe5096a36a5" descr="{&quot;SlideID&quot;:&quot;323&quot;,&quot;SlideNumber&quot;:&quot;3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fab480d-03ab-4295-8088-29057fa123fd" descr="{&quot;SlideID&quot;:&quot;325&quot;,&quot;SlideNumber&quot;:&quot;3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9ea72cc-2b9b-4cb5-947e-87ada35dfae9" descr="{&quot;SlideID&quot;:&quot;327&quot;,&quot;SlideNumber&quot;:&quot;3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ec89fdf-fb3a-4bd9-bae0-b4bc5263704a" descr="{&quot;SlideID&quot;:&quot;329&quot;,&quot;SlideNumber&quot;:&quot;3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4e1ab38-3943-4976-acf6-19fca265ab83" descr="{&quot;SlideID&quot;:&quot;331&quot;,&quot;SlideNumber&quot;:&quot;3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1e36620f-32ae-428b-8e1b-4df337ded87a" descr="{&quot;SlideID&quot;:&quot;333&quot;,&quot;SlideNumber&quot;:&quot;4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33303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55" grpId="0" build="allAtOnce"/>
      <p:bldP spid="12256" grpId="0"/>
      <p:bldP spid="12258" grpId="0"/>
      <p:bldP spid="12259" grpId="0"/>
      <p:bldP spid="1226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0"/>
            <a:ext cx="12211050" cy="29718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3348171" y="1981200"/>
            <a:ext cx="67129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38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gradFill flip="none" rotWithShape="1">
                  <a:gsLst>
                    <a:gs pos="0">
                      <a:srgbClr val="FFFFFF">
                        <a:shade val="30000"/>
                        <a:satMod val="115000"/>
                      </a:srgbClr>
                    </a:gs>
                    <a:gs pos="50000">
                      <a:srgbClr val="FFFFFF">
                        <a:shade val="67500"/>
                        <a:satMod val="115000"/>
                      </a:srgbClr>
                    </a:gs>
                    <a:gs pos="100000">
                      <a:srgbClr val="FFFFFF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38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gradFill flip="none" rotWithShape="1">
                <a:gsLst>
                  <a:gs pos="0">
                    <a:srgbClr val="FFFFFF">
                      <a:shade val="30000"/>
                      <a:satMod val="115000"/>
                    </a:srgbClr>
                  </a:gs>
                  <a:gs pos="50000">
                    <a:srgbClr val="FFFFFF">
                      <a:shade val="67500"/>
                      <a:satMod val="115000"/>
                    </a:srgbClr>
                  </a:gs>
                  <a:gs pos="100000">
                    <a:srgbClr val="FFFFFF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8DE397-53CD-43DF-B436-EAF0D0085C34}"/>
              </a:ext>
            </a:extLst>
          </p:cNvPr>
          <p:cNvSpPr/>
          <p:nvPr/>
        </p:nvSpPr>
        <p:spPr>
          <a:xfrm>
            <a:off x="3280974" y="3089196"/>
            <a:ext cx="593143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5400" b="1" i="0" u="none" strike="noStrike" kern="1200" normalizeH="0" baseline="0" noProof="0" dirty="0">
                <a:ln w="6600">
                  <a:solidFill>
                    <a:schemeClr val="accent4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 Light" panose="020B0502040204020203" pitchFamily="34" charset="-122"/>
              </a:rPr>
              <a:t>演示完毕 感谢观看</a:t>
            </a:r>
          </a:p>
        </p:txBody>
      </p:sp>
    </p:spTree>
    <p:extLst>
      <p:ext uri="{BB962C8B-B14F-4D97-AF65-F5344CB8AC3E}">
        <p14:creationId xmlns:p14="http://schemas.microsoft.com/office/powerpoint/2010/main" val="3878300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4329</Words>
  <Application>Microsoft Macintosh PowerPoint</Application>
  <PresentationFormat>Widescreen</PresentationFormat>
  <Paragraphs>421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方正新报宋_GBK</vt:lpstr>
      <vt:lpstr>楷体</vt:lpstr>
      <vt:lpstr>微软雅黑</vt:lpstr>
      <vt:lpstr>宋体</vt:lpstr>
      <vt:lpstr>华文细黑</vt:lpstr>
      <vt:lpstr>Aparajita</vt:lpstr>
      <vt:lpstr>Arial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三维设计;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三维设计</dc:creator>
  <cp:lastModifiedBy>Xingyu Shu</cp:lastModifiedBy>
  <cp:revision>9</cp:revision>
  <dcterms:created xsi:type="dcterms:W3CDTF">2025-04-22T02:39:12Z</dcterms:created>
  <dcterms:modified xsi:type="dcterms:W3CDTF">2026-08-31T12:59:59Z</dcterms:modified>
</cp:coreProperties>
</file>