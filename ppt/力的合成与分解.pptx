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1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2.xml" ContentType="application/vnd.openxmlformats-officedocument.presentationml.notesSl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627" r:id="rId3"/>
    <p:sldId id="630" r:id="rId4"/>
    <p:sldId id="1683" r:id="rId5"/>
    <p:sldId id="631" r:id="rId6"/>
    <p:sldId id="632" r:id="rId7"/>
    <p:sldId id="633" r:id="rId8"/>
    <p:sldId id="1687" r:id="rId9"/>
    <p:sldId id="676" r:id="rId10"/>
    <p:sldId id="677" r:id="rId11"/>
    <p:sldId id="259" r:id="rId12"/>
    <p:sldId id="260" r:id="rId13"/>
    <p:sldId id="261" r:id="rId14"/>
    <p:sldId id="258" r:id="rId15"/>
    <p:sldId id="1815" r:id="rId16"/>
    <p:sldId id="304" r:id="rId17"/>
    <p:sldId id="262" r:id="rId18"/>
    <p:sldId id="288" r:id="rId19"/>
    <p:sldId id="354" r:id="rId20"/>
    <p:sldId id="1817" r:id="rId21"/>
    <p:sldId id="263" r:id="rId22"/>
    <p:sldId id="264" r:id="rId23"/>
    <p:sldId id="265" r:id="rId24"/>
    <p:sldId id="267" r:id="rId25"/>
    <p:sldId id="26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3F0361-FE1F-4A40-8596-ECA60B6BCE38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EE185-8720-7C4A-B303-6F29A25444E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254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slide" Target="../slides/slide8.xml"/><Relationship Id="rId4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4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988A3845-7983-F64E-B67A-2ADDDC38058A}"/>
              </a:ext>
            </a:extLst>
          </p:cNvPr>
          <p:cNvSpPr>
            <a:spLocks noGrp="1" noRot="1" noChangeAspect="1" noTextEdit="1"/>
          </p:cNvSpPr>
          <p:nvPr>
            <p:ph type="sldImg"/>
            <p:custDataLst>
              <p:tags r:id="rId1"/>
            </p:custDataLst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A215B230-07D7-3D64-83CC-A149C4AF9129}"/>
              </a:ext>
            </a:extLst>
          </p:cNvPr>
          <p:cNvSpPr txBox="1">
            <a:spLocks noGrp="1"/>
          </p:cNvSpPr>
          <p:nvPr>
            <p:ph type="body" idx="1"/>
            <p:custDataLst>
              <p:tags r:id="rId2"/>
            </p:custDataLst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/>
              <a:t>[zhoubin]</a:t>
            </a:r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B9E8ADA7-B2DF-DD32-652A-5C8D2A0E3BAB}"/>
              </a:ext>
            </a:extLst>
          </p:cNvPr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85385DF-B5DA-4674-B07F-88781454A37F}" type="slidenum">
              <a:rPr lang="zh-CN" altLang="en-US"/>
              <a:pPr eaLnBrk="1" hangingPunct="1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TextEdi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20483" name="Rectangle 3"/>
          <p:cNvSpPr txBox="1">
            <a:spLocks noGrp="1" noRot="1"/>
          </p:cNvSpPr>
          <p:nvPr>
            <p:ph type="body" idx="1"/>
            <p:custDataLst>
              <p:tags r:id="rId2"/>
            </p:custDataLst>
          </p:nvPr>
        </p:nvSpPr>
        <p:spPr>
          <a:ln w="9525">
            <a:miter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20000"/>
              </a:spcBef>
              <a:buClr>
                <a:srgbClr val="FF6600"/>
              </a:buClr>
              <a:buSzPct val="70000"/>
              <a:buFont typeface="Wingdings 2" pitchFamily="18" charset="2"/>
              <a:buChar char="•"/>
            </a:pPr>
            <a:r>
              <a:rPr lang="zh-CN" altLang="en-US" b="1"/>
              <a:t>力的分解遵守平行四边形定则：把已知力作为平行四边形的对角线，平行四边形的两个邻边就是这个已知力的两个分力。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C390EF03-7F97-4582-A03C-C645FC7FE5B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FFB3A4-B047-4A42-BBDD-4777F49F9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56946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>
            <a:extLst>
              <a:ext uri="{FF2B5EF4-FFF2-40B4-BE49-F238E27FC236}">
                <a16:creationId xmlns:a16="http://schemas.microsoft.com/office/drawing/2014/main" id="{AD3492AC-2023-4442-AF40-53B11C2EF8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8724" y="457200"/>
            <a:ext cx="11274552" cy="5943600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5966" y="1008063"/>
            <a:ext cx="5120640" cy="2054388"/>
          </a:xfrm>
        </p:spPr>
        <p:txBody>
          <a:bodyPr rtlCol="0" anchor="b">
            <a:normAutofit/>
          </a:bodyPr>
          <a:lstStyle>
            <a:lvl1pPr algn="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98970" y="3105163"/>
            <a:ext cx="3167636" cy="647673"/>
          </a:xfrm>
        </p:spPr>
        <p:txBody>
          <a:bodyPr rtlCol="0">
            <a:normAutofit/>
          </a:bodyPr>
          <a:lstStyle>
            <a:lvl1pPr marL="0" indent="0" algn="l">
              <a:buNone/>
              <a:defRPr sz="18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21550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  <p:sldLayoutId id="2147483657" r:id="rId7"/>
    <p:sldLayoutId id="214748365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image" Target="../media/image2.png"/><Relationship Id="rId5" Type="http://schemas.openxmlformats.org/officeDocument/2006/relationships/tags" Target="../tags/tag8.xml"/><Relationship Id="rId10" Type="http://schemas.openxmlformats.org/officeDocument/2006/relationships/image" Target="../media/image1.png"/><Relationship Id="rId4" Type="http://schemas.openxmlformats.org/officeDocument/2006/relationships/tags" Target="../tags/tag7.xml"/><Relationship Id="rId9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14.xml"/><Relationship Id="rId21" Type="http://schemas.openxmlformats.org/officeDocument/2006/relationships/image" Target="../media/image5.png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image" Target="../media/image4.pn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10" Type="http://schemas.openxmlformats.org/officeDocument/2006/relationships/tags" Target="../tags/tag21.xml"/><Relationship Id="rId19" Type="http://schemas.openxmlformats.org/officeDocument/2006/relationships/image" Target="../media/image3.png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image" Target="../media/image3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image" Target="../media/image6.jpeg"/><Relationship Id="rId5" Type="http://schemas.openxmlformats.org/officeDocument/2006/relationships/tags" Target="../tags/tag43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2.xml"/><Relationship Id="rId9" Type="http://schemas.openxmlformats.org/officeDocument/2006/relationships/tags" Target="../tags/tag4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image" Target="../media/image7.jpeg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71.xml"/><Relationship Id="rId18" Type="http://schemas.openxmlformats.org/officeDocument/2006/relationships/tags" Target="../tags/tag76.xml"/><Relationship Id="rId26" Type="http://schemas.openxmlformats.org/officeDocument/2006/relationships/tags" Target="../tags/tag84.xml"/><Relationship Id="rId21" Type="http://schemas.openxmlformats.org/officeDocument/2006/relationships/tags" Target="../tags/tag79.xml"/><Relationship Id="rId34" Type="http://schemas.openxmlformats.org/officeDocument/2006/relationships/notesSlide" Target="../notesSlides/notesSlide1.xml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17" Type="http://schemas.openxmlformats.org/officeDocument/2006/relationships/tags" Target="../tags/tag75.xml"/><Relationship Id="rId25" Type="http://schemas.openxmlformats.org/officeDocument/2006/relationships/tags" Target="../tags/tag83.xml"/><Relationship Id="rId3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6" Type="http://schemas.openxmlformats.org/officeDocument/2006/relationships/tags" Target="../tags/tag74.xml"/><Relationship Id="rId20" Type="http://schemas.openxmlformats.org/officeDocument/2006/relationships/tags" Target="../tags/tag78.xml"/><Relationship Id="rId29" Type="http://schemas.openxmlformats.org/officeDocument/2006/relationships/tags" Target="../tags/tag87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24" Type="http://schemas.openxmlformats.org/officeDocument/2006/relationships/tags" Target="../tags/tag82.xml"/><Relationship Id="rId32" Type="http://schemas.openxmlformats.org/officeDocument/2006/relationships/tags" Target="../tags/tag90.xml"/><Relationship Id="rId37" Type="http://schemas.openxmlformats.org/officeDocument/2006/relationships/image" Target="../media/image10.png"/><Relationship Id="rId5" Type="http://schemas.openxmlformats.org/officeDocument/2006/relationships/tags" Target="../tags/tag63.xml"/><Relationship Id="rId15" Type="http://schemas.openxmlformats.org/officeDocument/2006/relationships/tags" Target="../tags/tag73.xml"/><Relationship Id="rId23" Type="http://schemas.openxmlformats.org/officeDocument/2006/relationships/tags" Target="../tags/tag81.xml"/><Relationship Id="rId28" Type="http://schemas.openxmlformats.org/officeDocument/2006/relationships/tags" Target="../tags/tag86.xml"/><Relationship Id="rId36" Type="http://schemas.openxmlformats.org/officeDocument/2006/relationships/image" Target="../media/image9.png"/><Relationship Id="rId10" Type="http://schemas.openxmlformats.org/officeDocument/2006/relationships/tags" Target="../tags/tag68.xml"/><Relationship Id="rId19" Type="http://schemas.openxmlformats.org/officeDocument/2006/relationships/tags" Target="../tags/tag77.xml"/><Relationship Id="rId31" Type="http://schemas.openxmlformats.org/officeDocument/2006/relationships/tags" Target="../tags/tag89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Relationship Id="rId22" Type="http://schemas.openxmlformats.org/officeDocument/2006/relationships/tags" Target="../tags/tag80.xml"/><Relationship Id="rId27" Type="http://schemas.openxmlformats.org/officeDocument/2006/relationships/tags" Target="../tags/tag85.xml"/><Relationship Id="rId30" Type="http://schemas.openxmlformats.org/officeDocument/2006/relationships/tags" Target="../tags/tag88.xml"/><Relationship Id="rId35" Type="http://schemas.openxmlformats.org/officeDocument/2006/relationships/image" Target="../media/image8.png"/><Relationship Id="rId8" Type="http://schemas.openxmlformats.org/officeDocument/2006/relationships/tags" Target="../tags/tag66.xml"/><Relationship Id="rId3" Type="http://schemas.openxmlformats.org/officeDocument/2006/relationships/tags" Target="../tags/tag6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01.xml"/><Relationship Id="rId3" Type="http://schemas.openxmlformats.org/officeDocument/2006/relationships/tags" Target="../tags/tag96.xml"/><Relationship Id="rId7" Type="http://schemas.openxmlformats.org/officeDocument/2006/relationships/tags" Target="../tags/tag100.xml"/><Relationship Id="rId12" Type="http://schemas.openxmlformats.org/officeDocument/2006/relationships/image" Target="../media/image11.png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98.xml"/><Relationship Id="rId10" Type="http://schemas.openxmlformats.org/officeDocument/2006/relationships/tags" Target="../tags/tag103.xml"/><Relationship Id="rId4" Type="http://schemas.openxmlformats.org/officeDocument/2006/relationships/tags" Target="../tags/tag97.xml"/><Relationship Id="rId9" Type="http://schemas.openxmlformats.org/officeDocument/2006/relationships/tags" Target="../tags/tag10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tags" Target="../tags/tag121.xml"/><Relationship Id="rId5" Type="http://schemas.openxmlformats.org/officeDocument/2006/relationships/tags" Target="../tags/tag115.xml"/><Relationship Id="rId10" Type="http://schemas.openxmlformats.org/officeDocument/2006/relationships/tags" Target="../tags/tag120.xml"/><Relationship Id="rId4" Type="http://schemas.openxmlformats.org/officeDocument/2006/relationships/tags" Target="../tags/tag114.xml"/><Relationship Id="rId9" Type="http://schemas.openxmlformats.org/officeDocument/2006/relationships/tags" Target="../tags/tag11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3" Type="http://schemas.openxmlformats.org/officeDocument/2006/relationships/tags" Target="../tags/tag124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20" Type="http://schemas.openxmlformats.org/officeDocument/2006/relationships/tags" Target="../tags/tag141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19" Type="http://schemas.openxmlformats.org/officeDocument/2006/relationships/tags" Target="../tags/tag140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Relationship Id="rId22" Type="http://schemas.openxmlformats.org/officeDocument/2006/relationships/notesSlide" Target="../notesSlides/notesSlide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13" Type="http://schemas.openxmlformats.org/officeDocument/2006/relationships/tags" Target="../tags/tag156.xml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12" Type="http://schemas.openxmlformats.org/officeDocument/2006/relationships/tags" Target="../tags/tag155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45.xml"/><Relationship Id="rId16" Type="http://schemas.openxmlformats.org/officeDocument/2006/relationships/tags" Target="../tags/tag159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tags" Target="../tags/tag154.xml"/><Relationship Id="rId5" Type="http://schemas.openxmlformats.org/officeDocument/2006/relationships/tags" Target="../tags/tag148.xml"/><Relationship Id="rId15" Type="http://schemas.openxmlformats.org/officeDocument/2006/relationships/tags" Target="../tags/tag158.xml"/><Relationship Id="rId10" Type="http://schemas.openxmlformats.org/officeDocument/2006/relationships/tags" Target="../tags/tag153.xml"/><Relationship Id="rId4" Type="http://schemas.openxmlformats.org/officeDocument/2006/relationships/tags" Target="../tags/tag147.xml"/><Relationship Id="rId9" Type="http://schemas.openxmlformats.org/officeDocument/2006/relationships/tags" Target="../tags/tag152.xml"/><Relationship Id="rId14" Type="http://schemas.openxmlformats.org/officeDocument/2006/relationships/tags" Target="../tags/tag15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13" Type="http://schemas.openxmlformats.org/officeDocument/2006/relationships/tags" Target="../tags/tag172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tags" Target="../tags/tag171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61.xml"/><Relationship Id="rId16" Type="http://schemas.openxmlformats.org/officeDocument/2006/relationships/tags" Target="../tags/tag175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5" Type="http://schemas.openxmlformats.org/officeDocument/2006/relationships/tags" Target="../tags/tag17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Relationship Id="rId14" Type="http://schemas.openxmlformats.org/officeDocument/2006/relationships/tags" Target="../tags/tag17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9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13" Type="http://schemas.openxmlformats.org/officeDocument/2006/relationships/tags" Target="../tags/tag195.xml"/><Relationship Id="rId18" Type="http://schemas.openxmlformats.org/officeDocument/2006/relationships/tags" Target="../tags/tag200.xml"/><Relationship Id="rId3" Type="http://schemas.openxmlformats.org/officeDocument/2006/relationships/tags" Target="../tags/tag185.xml"/><Relationship Id="rId21" Type="http://schemas.openxmlformats.org/officeDocument/2006/relationships/tags" Target="../tags/tag203.xml"/><Relationship Id="rId7" Type="http://schemas.openxmlformats.org/officeDocument/2006/relationships/tags" Target="../tags/tag189.xml"/><Relationship Id="rId12" Type="http://schemas.openxmlformats.org/officeDocument/2006/relationships/tags" Target="../tags/tag194.xml"/><Relationship Id="rId17" Type="http://schemas.openxmlformats.org/officeDocument/2006/relationships/tags" Target="../tags/tag199.xml"/><Relationship Id="rId2" Type="http://schemas.openxmlformats.org/officeDocument/2006/relationships/tags" Target="../tags/tag184.xml"/><Relationship Id="rId16" Type="http://schemas.openxmlformats.org/officeDocument/2006/relationships/tags" Target="../tags/tag198.xml"/><Relationship Id="rId20" Type="http://schemas.openxmlformats.org/officeDocument/2006/relationships/tags" Target="../tags/tag202.xml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11" Type="http://schemas.openxmlformats.org/officeDocument/2006/relationships/tags" Target="../tags/tag193.xml"/><Relationship Id="rId24" Type="http://schemas.openxmlformats.org/officeDocument/2006/relationships/slideLayout" Target="../slideLayouts/slideLayout2.xml"/><Relationship Id="rId5" Type="http://schemas.openxmlformats.org/officeDocument/2006/relationships/tags" Target="../tags/tag187.xml"/><Relationship Id="rId15" Type="http://schemas.openxmlformats.org/officeDocument/2006/relationships/tags" Target="../tags/tag197.xml"/><Relationship Id="rId23" Type="http://schemas.openxmlformats.org/officeDocument/2006/relationships/tags" Target="../tags/tag205.xml"/><Relationship Id="rId10" Type="http://schemas.openxmlformats.org/officeDocument/2006/relationships/tags" Target="../tags/tag192.xml"/><Relationship Id="rId19" Type="http://schemas.openxmlformats.org/officeDocument/2006/relationships/tags" Target="../tags/tag201.xml"/><Relationship Id="rId4" Type="http://schemas.openxmlformats.org/officeDocument/2006/relationships/tags" Target="../tags/tag186.xml"/><Relationship Id="rId9" Type="http://schemas.openxmlformats.org/officeDocument/2006/relationships/tags" Target="../tags/tag191.xml"/><Relationship Id="rId14" Type="http://schemas.openxmlformats.org/officeDocument/2006/relationships/tags" Target="../tags/tag196.xml"/><Relationship Id="rId22" Type="http://schemas.openxmlformats.org/officeDocument/2006/relationships/tags" Target="../tags/tag204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218.xml"/><Relationship Id="rId18" Type="http://schemas.openxmlformats.org/officeDocument/2006/relationships/tags" Target="../tags/tag223.xml"/><Relationship Id="rId26" Type="http://schemas.openxmlformats.org/officeDocument/2006/relationships/tags" Target="../tags/tag231.xml"/><Relationship Id="rId39" Type="http://schemas.openxmlformats.org/officeDocument/2006/relationships/tags" Target="../tags/tag244.xml"/><Relationship Id="rId21" Type="http://schemas.openxmlformats.org/officeDocument/2006/relationships/tags" Target="../tags/tag226.xml"/><Relationship Id="rId34" Type="http://schemas.openxmlformats.org/officeDocument/2006/relationships/tags" Target="../tags/tag239.xml"/><Relationship Id="rId42" Type="http://schemas.openxmlformats.org/officeDocument/2006/relationships/slideLayout" Target="../slideLayouts/slideLayout2.xml"/><Relationship Id="rId7" Type="http://schemas.openxmlformats.org/officeDocument/2006/relationships/tags" Target="../tags/tag212.xml"/><Relationship Id="rId2" Type="http://schemas.openxmlformats.org/officeDocument/2006/relationships/tags" Target="../tags/tag207.xml"/><Relationship Id="rId16" Type="http://schemas.openxmlformats.org/officeDocument/2006/relationships/tags" Target="../tags/tag221.xml"/><Relationship Id="rId20" Type="http://schemas.openxmlformats.org/officeDocument/2006/relationships/tags" Target="../tags/tag225.xml"/><Relationship Id="rId29" Type="http://schemas.openxmlformats.org/officeDocument/2006/relationships/tags" Target="../tags/tag234.xml"/><Relationship Id="rId41" Type="http://schemas.openxmlformats.org/officeDocument/2006/relationships/tags" Target="../tags/tag246.xml"/><Relationship Id="rId1" Type="http://schemas.openxmlformats.org/officeDocument/2006/relationships/tags" Target="../tags/tag206.xml"/><Relationship Id="rId6" Type="http://schemas.openxmlformats.org/officeDocument/2006/relationships/tags" Target="../tags/tag211.xml"/><Relationship Id="rId11" Type="http://schemas.openxmlformats.org/officeDocument/2006/relationships/tags" Target="../tags/tag216.xml"/><Relationship Id="rId24" Type="http://schemas.openxmlformats.org/officeDocument/2006/relationships/tags" Target="../tags/tag229.xml"/><Relationship Id="rId32" Type="http://schemas.openxmlformats.org/officeDocument/2006/relationships/tags" Target="../tags/tag237.xml"/><Relationship Id="rId37" Type="http://schemas.openxmlformats.org/officeDocument/2006/relationships/tags" Target="../tags/tag242.xml"/><Relationship Id="rId40" Type="http://schemas.openxmlformats.org/officeDocument/2006/relationships/tags" Target="../tags/tag245.xml"/><Relationship Id="rId5" Type="http://schemas.openxmlformats.org/officeDocument/2006/relationships/tags" Target="../tags/tag210.xml"/><Relationship Id="rId15" Type="http://schemas.openxmlformats.org/officeDocument/2006/relationships/tags" Target="../tags/tag220.xml"/><Relationship Id="rId23" Type="http://schemas.openxmlformats.org/officeDocument/2006/relationships/tags" Target="../tags/tag228.xml"/><Relationship Id="rId28" Type="http://schemas.openxmlformats.org/officeDocument/2006/relationships/tags" Target="../tags/tag233.xml"/><Relationship Id="rId36" Type="http://schemas.openxmlformats.org/officeDocument/2006/relationships/tags" Target="../tags/tag241.xml"/><Relationship Id="rId10" Type="http://schemas.openxmlformats.org/officeDocument/2006/relationships/tags" Target="../tags/tag215.xml"/><Relationship Id="rId19" Type="http://schemas.openxmlformats.org/officeDocument/2006/relationships/tags" Target="../tags/tag224.xml"/><Relationship Id="rId31" Type="http://schemas.openxmlformats.org/officeDocument/2006/relationships/tags" Target="../tags/tag236.xml"/><Relationship Id="rId4" Type="http://schemas.openxmlformats.org/officeDocument/2006/relationships/tags" Target="../tags/tag209.xml"/><Relationship Id="rId9" Type="http://schemas.openxmlformats.org/officeDocument/2006/relationships/tags" Target="../tags/tag214.xml"/><Relationship Id="rId14" Type="http://schemas.openxmlformats.org/officeDocument/2006/relationships/tags" Target="../tags/tag219.xml"/><Relationship Id="rId22" Type="http://schemas.openxmlformats.org/officeDocument/2006/relationships/tags" Target="../tags/tag227.xml"/><Relationship Id="rId27" Type="http://schemas.openxmlformats.org/officeDocument/2006/relationships/tags" Target="../tags/tag232.xml"/><Relationship Id="rId30" Type="http://schemas.openxmlformats.org/officeDocument/2006/relationships/tags" Target="../tags/tag235.xml"/><Relationship Id="rId35" Type="http://schemas.openxmlformats.org/officeDocument/2006/relationships/tags" Target="../tags/tag240.xml"/><Relationship Id="rId8" Type="http://schemas.openxmlformats.org/officeDocument/2006/relationships/tags" Target="../tags/tag213.xml"/><Relationship Id="rId3" Type="http://schemas.openxmlformats.org/officeDocument/2006/relationships/tags" Target="../tags/tag208.xml"/><Relationship Id="rId12" Type="http://schemas.openxmlformats.org/officeDocument/2006/relationships/tags" Target="../tags/tag217.xml"/><Relationship Id="rId17" Type="http://schemas.openxmlformats.org/officeDocument/2006/relationships/tags" Target="../tags/tag222.xml"/><Relationship Id="rId25" Type="http://schemas.openxmlformats.org/officeDocument/2006/relationships/tags" Target="../tags/tag230.xml"/><Relationship Id="rId33" Type="http://schemas.openxmlformats.org/officeDocument/2006/relationships/tags" Target="../tags/tag238.xml"/><Relationship Id="rId38" Type="http://schemas.openxmlformats.org/officeDocument/2006/relationships/tags" Target="../tags/tag24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54.xml"/><Relationship Id="rId13" Type="http://schemas.openxmlformats.org/officeDocument/2006/relationships/tags" Target="../tags/tag259.xml"/><Relationship Id="rId18" Type="http://schemas.openxmlformats.org/officeDocument/2006/relationships/tags" Target="../tags/tag264.xml"/><Relationship Id="rId26" Type="http://schemas.openxmlformats.org/officeDocument/2006/relationships/image" Target="../media/image13.wmf"/><Relationship Id="rId3" Type="http://schemas.openxmlformats.org/officeDocument/2006/relationships/tags" Target="../tags/tag249.xml"/><Relationship Id="rId21" Type="http://schemas.openxmlformats.org/officeDocument/2006/relationships/tags" Target="../tags/tag267.xml"/><Relationship Id="rId7" Type="http://schemas.openxmlformats.org/officeDocument/2006/relationships/tags" Target="../tags/tag253.xml"/><Relationship Id="rId12" Type="http://schemas.openxmlformats.org/officeDocument/2006/relationships/tags" Target="../tags/tag258.xml"/><Relationship Id="rId17" Type="http://schemas.openxmlformats.org/officeDocument/2006/relationships/tags" Target="../tags/tag263.xml"/><Relationship Id="rId25" Type="http://schemas.openxmlformats.org/officeDocument/2006/relationships/oleObject" Target="../embeddings/oleObject1.bin"/><Relationship Id="rId2" Type="http://schemas.openxmlformats.org/officeDocument/2006/relationships/tags" Target="../tags/tag248.xml"/><Relationship Id="rId16" Type="http://schemas.openxmlformats.org/officeDocument/2006/relationships/tags" Target="../tags/tag262.xml"/><Relationship Id="rId20" Type="http://schemas.openxmlformats.org/officeDocument/2006/relationships/tags" Target="../tags/tag266.xml"/><Relationship Id="rId29" Type="http://schemas.openxmlformats.org/officeDocument/2006/relationships/image" Target="../media/image15.png"/><Relationship Id="rId1" Type="http://schemas.openxmlformats.org/officeDocument/2006/relationships/tags" Target="../tags/tag247.xml"/><Relationship Id="rId6" Type="http://schemas.openxmlformats.org/officeDocument/2006/relationships/tags" Target="../tags/tag252.xml"/><Relationship Id="rId11" Type="http://schemas.openxmlformats.org/officeDocument/2006/relationships/tags" Target="../tags/tag257.xml"/><Relationship Id="rId24" Type="http://schemas.openxmlformats.org/officeDocument/2006/relationships/slideLayout" Target="../slideLayouts/slideLayout2.xml"/><Relationship Id="rId5" Type="http://schemas.openxmlformats.org/officeDocument/2006/relationships/tags" Target="../tags/tag251.xml"/><Relationship Id="rId15" Type="http://schemas.openxmlformats.org/officeDocument/2006/relationships/tags" Target="../tags/tag261.xml"/><Relationship Id="rId23" Type="http://schemas.openxmlformats.org/officeDocument/2006/relationships/tags" Target="../tags/tag269.xml"/><Relationship Id="rId28" Type="http://schemas.openxmlformats.org/officeDocument/2006/relationships/image" Target="../media/image14.wmf"/><Relationship Id="rId10" Type="http://schemas.openxmlformats.org/officeDocument/2006/relationships/tags" Target="../tags/tag256.xml"/><Relationship Id="rId19" Type="http://schemas.openxmlformats.org/officeDocument/2006/relationships/tags" Target="../tags/tag265.xml"/><Relationship Id="rId4" Type="http://schemas.openxmlformats.org/officeDocument/2006/relationships/tags" Target="../tags/tag250.xml"/><Relationship Id="rId9" Type="http://schemas.openxmlformats.org/officeDocument/2006/relationships/tags" Target="../tags/tag255.xml"/><Relationship Id="rId14" Type="http://schemas.openxmlformats.org/officeDocument/2006/relationships/tags" Target="../tags/tag260.xml"/><Relationship Id="rId22" Type="http://schemas.openxmlformats.org/officeDocument/2006/relationships/tags" Target="../tags/tag268.xml"/><Relationship Id="rId27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" Type="http://schemas.openxmlformats.org/officeDocument/2006/relationships/tags" Target="../tags/tag270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7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34013A-D7DF-1E29-EFEF-88A29928CE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力的合成与分解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2401C4-1EC8-A367-8316-640AAE6917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477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056619" y="2420939"/>
            <a:ext cx="4606318" cy="38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871" tIns="54435" rIns="108871" bIns="54435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endParaRPr lang="zh-CN" altLang="en-US">
              <a:latin typeface="Arial" panose="020B0604020202020204" pitchFamily="34" charset="0"/>
              <a:ea typeface="宋体" pitchFamily="2" charset="-122"/>
            </a:endParaRPr>
          </a:p>
        </p:txBody>
      </p:sp>
      <p:grpSp>
        <p:nvGrpSpPr>
          <p:cNvPr id="218125" name="Group 13"/>
          <p:cNvGrpSpPr/>
          <p:nvPr>
            <p:custDataLst>
              <p:tags r:id="rId2"/>
            </p:custDataLst>
          </p:nvPr>
        </p:nvGrpSpPr>
        <p:grpSpPr>
          <a:xfrm>
            <a:off x="5449294" y="3644974"/>
            <a:ext cx="1726576" cy="990600"/>
            <a:chOff x="2208" y="2496"/>
            <a:chExt cx="1104" cy="816"/>
          </a:xfrm>
        </p:grpSpPr>
        <p:sp>
          <p:nvSpPr>
            <p:cNvPr id="218126" name="AutoShape 1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208" y="2496"/>
              <a:ext cx="1104" cy="816"/>
            </a:xfrm>
            <a:prstGeom prst="leftRightArrow">
              <a:avLst>
                <a:gd name="adj1" fmla="val 50000"/>
                <a:gd name="adj2" fmla="val 27059"/>
              </a:avLst>
            </a:prstGeom>
            <a:gradFill rotWithShape="1">
              <a:gsLst>
                <a:gs pos="0">
                  <a:srgbClr val="666699"/>
                </a:gs>
                <a:gs pos="50000">
                  <a:srgbClr val="666699">
                    <a:gamma/>
                    <a:shade val="69804"/>
                    <a:invGamma/>
                  </a:srgbClr>
                </a:gs>
                <a:gs pos="100000">
                  <a:srgbClr val="666699"/>
                </a:gs>
              </a:gsLst>
              <a:lin ang="0" scaled="1"/>
            </a:gradFill>
            <a:ln w="9525">
              <a:miter lim="800000"/>
            </a:ln>
            <a:effectLst/>
            <a:scene3d>
              <a:camera prst="legacyObliqueTopLeft"/>
              <a:lightRig rig="legacyFlat2" dir="t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66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218127" name="WordArt 15"/>
            <p:cNvSpPr>
              <a:spLocks noChangeArrowheads="1" noChangeShapeType="1" noTextEdit="1"/>
            </p:cNvSpPr>
            <p:nvPr>
              <p:custDataLst>
                <p:tags r:id="rId8"/>
              </p:custDataLst>
            </p:nvPr>
          </p:nvSpPr>
          <p:spPr bwMode="auto">
            <a:xfrm>
              <a:off x="2400" y="2706"/>
              <a:ext cx="672" cy="3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Font typeface="Wingdings" pitchFamily="2" charset="2"/>
                <a:buNone/>
              </a:pPr>
              <a:r>
                <a:rPr lang="zh-CN" altLang="en-US" sz="4299" kern="10">
                  <a:ln w="19050">
                    <a:solidFill>
                      <a:schemeClr val="bg1"/>
                    </a:solidFill>
                    <a:rou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/>
                  <a:ea typeface="黑体"/>
                </a:rPr>
                <a:t>等效</a:t>
              </a:r>
            </a:p>
          </p:txBody>
        </p:sp>
      </p:grpSp>
      <p:pic>
        <p:nvPicPr>
          <p:cNvPr id="15" name="图片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00589" y="1557225"/>
            <a:ext cx="3671558" cy="507494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895784" y="1269260"/>
            <a:ext cx="2556009" cy="456565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Text Box 12"/>
          <p:cNvSpPr txBox="1"/>
          <p:nvPr>
            <p:custDataLst>
              <p:tags r:id="rId5"/>
            </p:custDataLst>
          </p:nvPr>
        </p:nvSpPr>
        <p:spPr>
          <a:xfrm>
            <a:off x="3144356" y="5804715"/>
            <a:ext cx="5709233" cy="46026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 eaLnBrk="1" fontAlgn="auto" latinLnBrk="0" hangingPunct="1">
              <a:spcBef>
                <a:spcPct val="0"/>
              </a:spcBef>
            </a:pPr>
            <a:r>
              <a:rPr lang="zh-CN" altLang="en-US" sz="2400">
                <a:latin typeface="Arial" panose="020B0604020202020204" pitchFamily="34" charset="0"/>
                <a:ea typeface="黑体" pitchFamily="49" charset="-122"/>
              </a:rPr>
              <a:t>两个力的作用效果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黑体" pitchFamily="49" charset="-122"/>
              </a:rPr>
              <a:t>＝</a:t>
            </a:r>
            <a:r>
              <a:rPr lang="zh-CN" altLang="en-US" sz="2400">
                <a:latin typeface="Arial" panose="020B0604020202020204" pitchFamily="34" charset="0"/>
                <a:ea typeface="黑体" pitchFamily="49" charset="-122"/>
              </a:rPr>
              <a:t>一个力的作用效果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8C0BF82-1702-F9D6-237B-9CB067CBF3FA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2505" y="491453"/>
            <a:ext cx="14899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8D5E5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导入</a:t>
            </a:r>
          </a:p>
        </p:txBody>
      </p:sp>
    </p:spTree>
    <p:extLst>
      <p:ext uri="{BB962C8B-B14F-4D97-AF65-F5344CB8AC3E}">
        <p14:creationId xmlns:p14="http://schemas.microsoft.com/office/powerpoint/2010/main" val="200176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100" fill="hold"/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0" dur="100" fill="hold"/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100" fill="hold"/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" fill="hold"/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33" name="Rectangle 2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344011" y="4193913"/>
            <a:ext cx="1712407" cy="55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8871" tIns="54435" rIns="108871" bIns="5443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9pPr>
          </a:lstStyle>
          <a:p>
            <a:pPr algn="l">
              <a:spcBef>
                <a:spcPct val="20000"/>
              </a:spcBef>
              <a:buFont typeface="Wingdings" pitchFamily="2" charset="2"/>
              <a:buNone/>
            </a:pPr>
            <a:r>
              <a:rPr kumimoji="1" lang="zh-CN" altLang="en-US" sz="2899">
                <a:latin typeface="Times New Roman" pitchFamily="18" charset="0"/>
              </a:rPr>
              <a:t>等效代替</a:t>
            </a:r>
          </a:p>
        </p:txBody>
      </p:sp>
      <p:sp>
        <p:nvSpPr>
          <p:cNvPr id="222234" name="AutoShape 2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440060" y="5033701"/>
            <a:ext cx="1421886" cy="3048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FFFFFF"/>
          </a:solidFill>
          <a:ln w="38100" algn="ctr">
            <a:solidFill>
              <a:schemeClr val="accent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8871" tIns="54435" rIns="108871" bIns="54435" anchor="ctr"/>
          <a:lstStyle/>
          <a:p>
            <a:endParaRPr lang="zh-CN" altLang="en-US"/>
          </a:p>
        </p:txBody>
      </p:sp>
      <p:sp>
        <p:nvSpPr>
          <p:cNvPr id="222235" name="Rectangle 2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728440" y="5509581"/>
            <a:ext cx="2831917" cy="55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8871" tIns="54435" rIns="108871" bIns="5443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9pPr>
          </a:lstStyle>
          <a:p>
            <a:pPr algn="l">
              <a:spcBef>
                <a:spcPct val="20000"/>
              </a:spcBef>
              <a:buFont typeface="Wingdings" pitchFamily="2" charset="2"/>
              <a:buNone/>
            </a:pPr>
            <a:r>
              <a:rPr kumimoji="1" lang="zh-CN" altLang="en-US" sz="2899">
                <a:latin typeface="Times New Roman" pitchFamily="18" charset="0"/>
              </a:rPr>
              <a:t>不是多了一个力</a:t>
            </a:r>
          </a:p>
        </p:txBody>
      </p:sp>
      <p:grpSp>
        <p:nvGrpSpPr>
          <p:cNvPr id="222239" name="Group 31"/>
          <p:cNvGrpSpPr/>
          <p:nvPr>
            <p:custDataLst>
              <p:tags r:id="rId4"/>
            </p:custDataLst>
          </p:nvPr>
        </p:nvGrpSpPr>
        <p:grpSpPr>
          <a:xfrm>
            <a:off x="529063" y="1481520"/>
            <a:ext cx="3102582" cy="2666247"/>
            <a:chOff x="192" y="576"/>
            <a:chExt cx="2064" cy="1824"/>
          </a:xfrm>
        </p:grpSpPr>
        <p:pic>
          <p:nvPicPr>
            <p:cNvPr id="222212" name="Picture 4"/>
            <p:cNvPicPr>
              <a:picLocks noChangeAspect="1" noChangeArrowheads="1"/>
            </p:cNvPicPr>
            <p:nvPr>
              <p:custDataLst>
                <p:tags r:id="rId15"/>
              </p:custDataLst>
            </p:nvPr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92" y="576"/>
              <a:ext cx="2064" cy="18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2236" name="Text Box 2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40" y="720"/>
              <a:ext cx="288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9pPr>
            </a:lstStyle>
            <a:p>
              <a:pPr algn="l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 i="1">
                  <a:latin typeface="Times New Roman" pitchFamily="18" charset="0"/>
                </a:rPr>
                <a:t>F</a:t>
              </a:r>
              <a:r>
                <a:rPr lang="en-US" altLang="zh-CN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2237" name="Text Box 29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36" y="642"/>
              <a:ext cx="282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9pPr>
            </a:lstStyle>
            <a:p>
              <a:pPr algn="l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 i="1">
                  <a:latin typeface="Times New Roman" pitchFamily="18" charset="0"/>
                </a:rPr>
                <a:t>F</a:t>
              </a:r>
              <a:r>
                <a:rPr lang="en-US" altLang="zh-CN" baseline="-25000"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222240" name="Group 32"/>
          <p:cNvGrpSpPr/>
          <p:nvPr>
            <p:custDataLst>
              <p:tags r:id="rId5"/>
            </p:custDataLst>
          </p:nvPr>
        </p:nvGrpSpPr>
        <p:grpSpPr>
          <a:xfrm>
            <a:off x="790302" y="4364054"/>
            <a:ext cx="1905951" cy="2449372"/>
            <a:chOff x="432" y="2208"/>
            <a:chExt cx="1152" cy="1968"/>
          </a:xfrm>
        </p:grpSpPr>
        <p:grpSp>
          <p:nvGrpSpPr>
            <p:cNvPr id="222216" name="Group 8"/>
            <p:cNvGrpSpPr/>
            <p:nvPr>
              <p:custDataLst>
                <p:tags r:id="rId11"/>
              </p:custDataLst>
            </p:nvPr>
          </p:nvGrpSpPr>
          <p:grpSpPr>
            <a:xfrm>
              <a:off x="480" y="2208"/>
              <a:ext cx="1104" cy="1968"/>
              <a:chOff x="3101" y="436"/>
              <a:chExt cx="2659" cy="3220"/>
            </a:xfrm>
          </p:grpSpPr>
          <p:pic>
            <p:nvPicPr>
              <p:cNvPr id="222217" name="Picture 9"/>
              <p:cNvPicPr>
                <a:picLocks noChangeAspect="1" noChangeArrowheads="1"/>
              </p:cNvPicPr>
              <p:nvPr>
                <p:custDataLst>
                  <p:tags r:id="rId13"/>
                </p:custDataLst>
              </p:nvPr>
            </p:nvPicPr>
            <p:blipFill>
              <a:blip r:embed="rId2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3101" y="436"/>
                <a:ext cx="2659" cy="32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2218" name="Picture 10"/>
              <p:cNvPicPr>
                <a:picLocks noChangeAspect="1" noChangeArrowheads="1"/>
              </p:cNvPicPr>
              <p:nvPr>
                <p:custDataLst>
                  <p:tags r:id="rId14"/>
                </p:custDataLst>
              </p:nvPr>
            </p:nvPicPr>
            <p:blipFill>
              <a:blip r:embed="rId2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3334" y="981"/>
                <a:ext cx="144" cy="2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22238" name="Text Box 30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32" y="2400"/>
              <a:ext cx="240" cy="1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9pPr>
            </a:lstStyle>
            <a:p>
              <a:pPr algn="l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 i="1">
                  <a:latin typeface="Times New Roman" pitchFamily="18" charset="0"/>
                </a:rPr>
                <a:t>   F</a:t>
              </a:r>
              <a:endParaRPr lang="en-US" altLang="zh-CN" baseline="-25000">
                <a:latin typeface="Times New Roman" pitchFamily="18" charset="0"/>
              </a:endParaRPr>
            </a:p>
          </p:txBody>
        </p:sp>
      </p:grpSp>
      <p:sp>
        <p:nvSpPr>
          <p:cNvPr id="222210" name="Text Box 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056619" y="2420939"/>
            <a:ext cx="4606318" cy="38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871" tIns="54435" rIns="108871" bIns="54435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endParaRPr lang="zh-CN" altLang="en-US">
              <a:latin typeface="Times New Roman" pitchFamily="18" charset="0"/>
            </a:endParaRPr>
          </a:p>
        </p:txBody>
      </p:sp>
      <p:sp>
        <p:nvSpPr>
          <p:cNvPr id="222224" name="Rectangle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845548" y="1123401"/>
            <a:ext cx="7094594" cy="2723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08871" tIns="54435" rIns="108871" bIns="5443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kumimoji="1" lang="en-US" altLang="zh-CN" sz="2899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kumimoji="1" lang="zh-CN" altLang="en-US" sz="2899">
                <a:latin typeface="华文楷体" panose="02010600040101010101" pitchFamily="2" charset="-122"/>
                <a:ea typeface="华文楷体" panose="02010600040101010101" pitchFamily="2" charset="-122"/>
              </a:rPr>
              <a:t>、定义：一个力</a:t>
            </a:r>
            <a:r>
              <a:rPr kumimoji="1" lang="en-US" altLang="zh-CN" sz="2899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kumimoji="1" lang="en-US" altLang="zh-CN" sz="2899" i="1">
                <a:latin typeface="华文楷体" panose="02010600040101010101" pitchFamily="2" charset="-122"/>
                <a:ea typeface="华文楷体" panose="02010600040101010101" pitchFamily="2" charset="-122"/>
              </a:rPr>
              <a:t>F</a:t>
            </a:r>
            <a:r>
              <a:rPr kumimoji="1" lang="en-US" altLang="zh-CN" sz="2899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kumimoji="1" lang="zh-CN" altLang="en-US" sz="2899">
                <a:latin typeface="华文楷体" panose="02010600040101010101" pitchFamily="2" charset="-122"/>
                <a:ea typeface="华文楷体" panose="02010600040101010101" pitchFamily="2" charset="-122"/>
              </a:rPr>
              <a:t>作用的效果跟几个力</a:t>
            </a:r>
            <a:r>
              <a:rPr kumimoji="1" lang="en-US" altLang="zh-CN" sz="2899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kumimoji="1" lang="en-US" altLang="zh-CN" sz="2899" i="1">
                <a:latin typeface="华文楷体" panose="02010600040101010101" pitchFamily="2" charset="-122"/>
                <a:ea typeface="华文楷体" panose="02010600040101010101" pitchFamily="2" charset="-122"/>
              </a:rPr>
              <a:t>F</a:t>
            </a:r>
            <a:r>
              <a:rPr kumimoji="1" lang="en-US" altLang="zh-CN" sz="2899" baseline="-2500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kumimoji="1" lang="zh-CN" altLang="en-US" sz="2899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kumimoji="1" lang="en-US" altLang="zh-CN" sz="2899" i="1">
                <a:latin typeface="华文楷体" panose="02010600040101010101" pitchFamily="2" charset="-122"/>
                <a:ea typeface="华文楷体" panose="02010600040101010101" pitchFamily="2" charset="-122"/>
              </a:rPr>
              <a:t>F</a:t>
            </a:r>
            <a:r>
              <a:rPr kumimoji="1" lang="en-US" altLang="zh-CN" sz="2899" baseline="-2500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en-US" altLang="zh-CN" sz="2899">
                <a:latin typeface="华文楷体" panose="02010600040101010101" pitchFamily="2" charset="-122"/>
                <a:ea typeface="华文楷体" panose="02010600040101010101" pitchFamily="2" charset="-122"/>
              </a:rPr>
              <a:t>……)</a:t>
            </a:r>
            <a:r>
              <a:rPr kumimoji="1" lang="zh-CN" altLang="en-US" sz="2899">
                <a:latin typeface="华文楷体" panose="02010600040101010101" pitchFamily="2" charset="-122"/>
                <a:ea typeface="华文楷体" panose="02010600040101010101" pitchFamily="2" charset="-122"/>
              </a:rPr>
              <a:t>共同作用的效果相同，这个力</a:t>
            </a:r>
            <a:r>
              <a:rPr kumimoji="1" lang="en-US" altLang="zh-CN" sz="2899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kumimoji="1" lang="en-US" altLang="zh-CN" sz="2899" i="1">
                <a:latin typeface="华文楷体" panose="02010600040101010101" pitchFamily="2" charset="-122"/>
                <a:ea typeface="华文楷体" panose="02010600040101010101" pitchFamily="2" charset="-122"/>
              </a:rPr>
              <a:t>F</a:t>
            </a:r>
            <a:r>
              <a:rPr kumimoji="1" lang="en-US" altLang="zh-CN" sz="2899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kumimoji="1" lang="zh-CN" altLang="en-US" sz="2899">
                <a:latin typeface="华文楷体" panose="02010600040101010101" pitchFamily="2" charset="-122"/>
                <a:ea typeface="华文楷体" panose="02010600040101010101" pitchFamily="2" charset="-122"/>
              </a:rPr>
              <a:t>叫做那几个力的合力</a:t>
            </a:r>
            <a:r>
              <a:rPr kumimoji="1" lang="en-US" altLang="zh-CN" sz="2899">
                <a:latin typeface="华文楷体" panose="02010600040101010101" pitchFamily="2" charset="-122"/>
                <a:ea typeface="华文楷体" panose="02010600040101010101" pitchFamily="2" charset="-122"/>
              </a:rPr>
              <a:t>. </a:t>
            </a:r>
            <a:r>
              <a:rPr kumimoji="1" lang="zh-CN" altLang="en-US" sz="2899">
                <a:latin typeface="华文楷体" panose="02010600040101010101" pitchFamily="2" charset="-122"/>
                <a:ea typeface="华文楷体" panose="02010600040101010101" pitchFamily="2" charset="-122"/>
              </a:rPr>
              <a:t>那几个力叫做这个力的分力 。</a:t>
            </a:r>
            <a:endParaRPr kumimoji="1" lang="en-US" altLang="zh-CN" sz="2899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BC0C639-A2B3-02E8-87F3-518FAF6D121C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1671" y="383886"/>
            <a:ext cx="37469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8D5E5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一、合力与分力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FB71F9-8108-F0AD-5CAD-BE7A70498C8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052131" y="4737032"/>
            <a:ext cx="27758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/>
              <a:t>合力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776915-660A-71ED-F724-9CB995453FD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183262" y="4786721"/>
            <a:ext cx="27758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/>
              <a:t>分力</a:t>
            </a:r>
          </a:p>
        </p:txBody>
      </p:sp>
    </p:spTree>
    <p:extLst>
      <p:ext uri="{BB962C8B-B14F-4D97-AF65-F5344CB8AC3E}">
        <p14:creationId xmlns:p14="http://schemas.microsoft.com/office/powerpoint/2010/main" val="7768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33" grpId="0"/>
      <p:bldP spid="222234" grpId="0" animBg="1"/>
      <p:bldP spid="222235" grpId="0"/>
      <p:bldP spid="2222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E54E9D9-F462-A3CF-25D1-1CFD607831E4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86064" y="1284151"/>
            <a:ext cx="10580206" cy="4694646"/>
          </a:xfrm>
          <a:prstGeom prst="rect">
            <a:avLst/>
          </a:prstGeom>
          <a:noFill/>
          <a:ln>
            <a:miter lim="800000"/>
          </a:ln>
        </p:spPr>
        <p:txBody>
          <a:bodyPr vert="horz" lIns="108871" tIns="54435" rIns="108871" bIns="54435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199" b="1">
                <a:ea typeface="宋体"/>
                <a:cs typeface="Times New Roman" pitchFamily="18" charset="0"/>
              </a:rPr>
              <a:t>	(1)</a:t>
            </a:r>
            <a:r>
              <a:rPr lang="zh-CN" altLang="en-US" sz="3199" b="1">
                <a:solidFill>
                  <a:srgbClr val="FF0000"/>
                </a:solidFill>
                <a:ea typeface="宋体"/>
                <a:cs typeface="Times New Roman" pitchFamily="18" charset="0"/>
              </a:rPr>
              <a:t>等效性</a:t>
            </a:r>
            <a:r>
              <a:rPr lang="zh-CN" altLang="en-US" sz="3199">
                <a:ea typeface="宋体"/>
                <a:cs typeface="Times New Roman" pitchFamily="18" charset="0"/>
              </a:rPr>
              <a:t>：</a:t>
            </a:r>
            <a:r>
              <a:rPr lang="zh-CN" altLang="en-US" sz="3199" b="1">
                <a:ea typeface="宋体"/>
                <a:cs typeface="Times New Roman" pitchFamily="18" charset="0"/>
              </a:rPr>
              <a:t>合力的作用效果与分力的共同作用效果相同，它们在效果上可以相互替代。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199">
                <a:ea typeface="宋体"/>
                <a:cs typeface="Times New Roman" pitchFamily="18" charset="0"/>
              </a:rPr>
              <a:t>	</a:t>
            </a:r>
            <a:r>
              <a:rPr lang="en-US" altLang="zh-CN" sz="3199" b="1">
                <a:ea typeface="宋体"/>
                <a:cs typeface="Times New Roman" pitchFamily="18" charset="0"/>
              </a:rPr>
              <a:t>(2)</a:t>
            </a:r>
            <a:r>
              <a:rPr lang="zh-CN" altLang="en-US" sz="3199" b="1">
                <a:solidFill>
                  <a:srgbClr val="FF0000"/>
                </a:solidFill>
                <a:ea typeface="宋体"/>
                <a:cs typeface="Times New Roman" pitchFamily="18" charset="0"/>
              </a:rPr>
              <a:t>同体性</a:t>
            </a:r>
            <a:r>
              <a:rPr lang="zh-CN" altLang="en-US" sz="3199">
                <a:ea typeface="宋体"/>
                <a:cs typeface="Times New Roman" pitchFamily="18" charset="0"/>
              </a:rPr>
              <a:t>：</a:t>
            </a:r>
            <a:r>
              <a:rPr lang="zh-CN" altLang="en-US" sz="3199" b="1">
                <a:ea typeface="宋体"/>
                <a:cs typeface="Times New Roman" pitchFamily="18" charset="0"/>
              </a:rPr>
              <a:t>各个分力是作用在同一物体上的，分力与合力为同一物体，作用在不同物体上的力不能求合力。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199" b="1">
                <a:ea typeface="宋体"/>
                <a:cs typeface="Times New Roman" pitchFamily="18" charset="0"/>
              </a:rPr>
              <a:t>	(3)</a:t>
            </a:r>
            <a:r>
              <a:rPr lang="zh-CN" altLang="en-US" sz="3199" b="1">
                <a:solidFill>
                  <a:srgbClr val="FF0000"/>
                </a:solidFill>
                <a:ea typeface="宋体"/>
                <a:cs typeface="Times New Roman" pitchFamily="18" charset="0"/>
              </a:rPr>
              <a:t>瞬时性</a:t>
            </a:r>
            <a:r>
              <a:rPr lang="zh-CN" altLang="en-US" sz="3199">
                <a:ea typeface="宋体"/>
                <a:cs typeface="Times New Roman" pitchFamily="18" charset="0"/>
              </a:rPr>
              <a:t>：</a:t>
            </a:r>
            <a:r>
              <a:rPr lang="zh-CN" altLang="en-US" sz="3199" b="1">
                <a:ea typeface="宋体"/>
                <a:cs typeface="Times New Roman" pitchFamily="18" charset="0"/>
              </a:rPr>
              <a:t>各个分力与合力具有瞬时对应关系，某个分力变化了，合力也同时发生变化。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8BD4B7-46C9-5E75-C0D9-45385514248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8497" y="418572"/>
            <a:ext cx="428712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8D5E5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合力与分力的相关性</a:t>
            </a:r>
          </a:p>
        </p:txBody>
      </p:sp>
    </p:spTree>
    <p:extLst>
      <p:ext uri="{BB962C8B-B14F-4D97-AF65-F5344CB8AC3E}">
        <p14:creationId xmlns:p14="http://schemas.microsoft.com/office/powerpoint/2010/main" val="1655975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52" name="Text Box 2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812" y="1771366"/>
            <a:ext cx="8753140" cy="663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8871" tIns="54435" rIns="108871" bIns="54435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3600"/>
              <a:t>求几个力的合力的过程，叫做</a:t>
            </a:r>
            <a:r>
              <a:rPr lang="zh-CN" altLang="en-US" sz="3600">
                <a:solidFill>
                  <a:schemeClr val="accent2"/>
                </a:solidFill>
              </a:rPr>
              <a:t>力的合成</a:t>
            </a:r>
          </a:p>
        </p:txBody>
      </p:sp>
      <p:sp>
        <p:nvSpPr>
          <p:cNvPr id="223253" name="AutoShape 2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389210" y="55273"/>
            <a:ext cx="3180715" cy="1508955"/>
          </a:xfrm>
          <a:prstGeom prst="cloudCallout">
            <a:avLst>
              <a:gd name="adj1" fmla="val -88024"/>
              <a:gd name="adj2" fmla="val 48197"/>
            </a:avLst>
          </a:prstGeom>
          <a:solidFill>
            <a:srgbClr val="FFFFFF"/>
          </a:solidFill>
          <a:ln w="38100">
            <a:solidFill>
              <a:schemeClr val="accent2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08871" tIns="54435" rIns="108871" bIns="54435"/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9pPr>
          </a:lstStyle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kumimoji="1" lang="zh-CN" altLang="en-US" sz="2899">
                <a:solidFill>
                  <a:srgbClr val="FF0000"/>
                </a:solidFill>
                <a:latin typeface="Times New Roman" pitchFamily="18" charset="0"/>
              </a:rPr>
              <a:t>什么力都可以合成吗</a:t>
            </a:r>
            <a:r>
              <a:rPr kumimoji="1" lang="en-US" altLang="zh-CN" sz="2899">
                <a:solidFill>
                  <a:srgbClr val="FF0000"/>
                </a:solidFill>
                <a:latin typeface="Times New Roman" pitchFamily="18" charset="0"/>
              </a:rPr>
              <a:t>?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31C468-4A47-7952-72AA-12A608976E7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47403" y="651946"/>
            <a:ext cx="61068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200" b="1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kumimoji="1" lang="zh-CN" altLang="en-US" sz="3200" b="1">
                <a:latin typeface="华文楷体" panose="02010600040101010101" pitchFamily="2" charset="-122"/>
                <a:ea typeface="华文楷体" panose="02010600040101010101" pitchFamily="2" charset="-122"/>
              </a:rPr>
              <a:t>、力的合成</a:t>
            </a:r>
            <a:endParaRPr lang="zh-CN" altLang="en-US" sz="3200" b="1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2AC44C-B310-BA15-75BF-AAE1A856D9C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58812" y="2661333"/>
            <a:ext cx="811713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</a:rPr>
              <a:t>注意：</a:t>
            </a:r>
            <a:r>
              <a:rPr lang="zh-CN" altLang="en-US" sz="3200" noProof="1">
                <a:ea typeface="楷体_GB2312" pitchFamily="49" charset="-122"/>
              </a:rPr>
              <a:t>在实际问题中，就可以用这个力来代替那几个力，这就是力的</a:t>
            </a:r>
            <a:r>
              <a:rPr lang="zh-CN" altLang="en-US" sz="3200" noProof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等效代替</a:t>
            </a:r>
            <a:r>
              <a:rPr lang="zh-CN" altLang="en-US" sz="3200" noProof="1">
                <a:ea typeface="楷体_GB2312" pitchFamily="49" charset="-122"/>
              </a:rPr>
              <a:t>。</a:t>
            </a:r>
            <a:r>
              <a:rPr lang="zh-CN" altLang="en-US" sz="3200" b="1" noProof="1">
                <a:ea typeface="黑体" pitchFamily="49" charset="-122"/>
              </a:rPr>
              <a:t>即</a:t>
            </a:r>
            <a:r>
              <a:rPr lang="zh-CN" altLang="en-US" sz="3200" b="1" noProof="1"/>
              <a:t>合力与分力的关系是“等效替代”。</a:t>
            </a:r>
            <a:r>
              <a:rPr lang="zh-CN" altLang="en-US" sz="3200" b="1" noProof="1">
                <a:ea typeface="黑体" pitchFamily="49" charset="-122"/>
              </a:rPr>
              <a:t>而不是物体又多受了一个合力。</a:t>
            </a:r>
            <a:endParaRPr lang="en-US" altLang="zh-CN" sz="3200" b="1" noProof="1">
              <a:ea typeface="黑体" pitchFamily="49" charset="-122"/>
            </a:endParaRPr>
          </a:p>
          <a:p>
            <a:r>
              <a:rPr lang="zh-CN" altLang="en-US" sz="3200" b="1" noProof="1"/>
              <a:t>在分析同一个问题时，合力和分力不能同时使用。也就是说，在分析问题时，考虑了合力就不能再考虑分力；考虑了分力就不能再考虑合力。</a:t>
            </a:r>
            <a:r>
              <a:rPr lang="zh-CN" altLang="en-US" sz="3200" noProof="1"/>
              <a:t> </a:t>
            </a:r>
            <a:endParaRPr lang="zh-CN" altLang="en-US" sz="3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4BFD70-0471-99F8-BECF-D2439E41B134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237117" y="959179"/>
            <a:ext cx="38512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CN" sz="2800">
                <a:solidFill>
                  <a:srgbClr val="0000FF"/>
                </a:solidFill>
                <a:latin typeface="Arial"/>
                <a:ea typeface="黑体" pitchFamily="2" charset="-122"/>
              </a:rPr>
              <a:t>①</a:t>
            </a:r>
            <a:r>
              <a:rPr lang="zh-CN" altLang="en-US" sz="2800">
                <a:solidFill>
                  <a:srgbClr val="0000FF"/>
                </a:solidFill>
                <a:latin typeface="Arial"/>
                <a:ea typeface="黑体" pitchFamily="2" charset="-122"/>
              </a:rPr>
              <a:t>等效关系</a:t>
            </a:r>
            <a:endParaRPr lang="en-US" altLang="zh-CN" sz="2800">
              <a:solidFill>
                <a:srgbClr val="0000FF"/>
              </a:solidFill>
              <a:latin typeface="Arial"/>
              <a:ea typeface="黑体" pitchFamily="2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034FDE-DC22-B9E8-0881-774E12F474D7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341620" y="2532366"/>
            <a:ext cx="274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CN" sz="2800">
                <a:solidFill>
                  <a:srgbClr val="33CC33"/>
                </a:solidFill>
                <a:latin typeface="Arial"/>
                <a:ea typeface="黑体" pitchFamily="2" charset="-122"/>
              </a:rPr>
              <a:t>②</a:t>
            </a:r>
            <a:r>
              <a:rPr lang="zh-CN" altLang="en-US" sz="2800">
                <a:solidFill>
                  <a:srgbClr val="33CC33"/>
                </a:solidFill>
                <a:latin typeface="Arial"/>
                <a:ea typeface="黑体" pitchFamily="2" charset="-122"/>
              </a:rPr>
              <a:t>替代关系</a:t>
            </a:r>
            <a:endParaRPr lang="en-US" altLang="zh-CN" sz="2800">
              <a:solidFill>
                <a:srgbClr val="33CC33"/>
              </a:solidFill>
              <a:latin typeface="Arial"/>
              <a:ea typeface="黑体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6CF155-5A23-A89C-ED37-683B6D1AA5FD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770280" y="3299319"/>
            <a:ext cx="3556772" cy="224676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rgbClr val="33CC33"/>
                </a:solidFill>
                <a:latin typeface="Arial"/>
                <a:ea typeface="黑体" pitchFamily="2" charset="-122"/>
              </a:rPr>
              <a:t>力的作用效果可以用合力或分力代替，但力在被其分力或合力代替后，就不能再参与力的计算。	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5534A1-CA04-C76C-75AE-97C929CD03A9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958308" y="1545330"/>
            <a:ext cx="3180716" cy="95410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rgbClr val="0000FF"/>
                </a:solidFill>
                <a:latin typeface="Arial"/>
                <a:ea typeface="黑体" pitchFamily="2" charset="-122"/>
              </a:rPr>
              <a:t>合力与分力具相同的作用效果</a:t>
            </a:r>
            <a:r>
              <a:rPr lang="en-US" altLang="zh-CN" sz="2800">
                <a:solidFill>
                  <a:srgbClr val="0000FF"/>
                </a:solidFill>
                <a:latin typeface="Arial"/>
                <a:ea typeface="黑体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728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52" grpId="0"/>
      <p:bldP spid="223253" grpId="0" animBg="1"/>
      <p:bldP spid="5" grpId="0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6" name="Rectangle 2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83496" y="1905003"/>
            <a:ext cx="5687542" cy="2430032"/>
          </a:xfrm>
          <a:prstGeom prst="rect">
            <a:avLst/>
          </a:prstGeom>
          <a:solidFill>
            <a:srgbClr val="FFFFFF">
              <a:alpha val="70000"/>
            </a:srgbClr>
          </a:solidFill>
          <a:ln w="19050">
            <a:solidFill>
              <a:schemeClr val="bg1"/>
            </a:solidFill>
            <a:prstDash val="lg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871" tIns="54435" rIns="108871" bIns="54435"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899"/>
              <a:t>共点力：几个力如果都作用在物体的</a:t>
            </a:r>
            <a:r>
              <a:rPr kumimoji="1" lang="zh-CN" altLang="en-US" sz="2899">
                <a:solidFill>
                  <a:srgbClr val="0000FF"/>
                </a:solidFill>
              </a:rPr>
              <a:t>同一点上</a:t>
            </a:r>
            <a:r>
              <a:rPr kumimoji="1" lang="zh-CN" altLang="en-US" sz="2899"/>
              <a:t>，或者它们的作用线</a:t>
            </a:r>
            <a:r>
              <a:rPr kumimoji="1" lang="zh-CN" altLang="en-US" sz="2899">
                <a:solidFill>
                  <a:srgbClr val="0000FF"/>
                </a:solidFill>
              </a:rPr>
              <a:t>相交于同一点</a:t>
            </a:r>
            <a:r>
              <a:rPr kumimoji="1" lang="zh-CN" altLang="en-US" sz="2899"/>
              <a:t>上，这几个力叫做共点力 </a:t>
            </a:r>
            <a:r>
              <a:rPr kumimoji="1" lang="en-US" altLang="zh-CN" sz="2899"/>
              <a:t>.</a:t>
            </a:r>
          </a:p>
        </p:txBody>
      </p:sp>
      <p:pic>
        <p:nvPicPr>
          <p:cNvPr id="183318" name="Picture 2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8459" y="3534793"/>
            <a:ext cx="4367220" cy="2989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3319" name="Line 23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5080368" y="762001"/>
            <a:ext cx="0" cy="5867401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08871" tIns="54435" rIns="108871" bIns="54435"/>
          <a:lstStyle/>
          <a:p>
            <a:endParaRPr lang="zh-CN" altLang="en-US"/>
          </a:p>
        </p:txBody>
      </p:sp>
      <p:sp>
        <p:nvSpPr>
          <p:cNvPr id="183320" name="AutoShape 2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751801" y="4652853"/>
            <a:ext cx="2519697" cy="1295844"/>
          </a:xfrm>
          <a:prstGeom prst="cloudCallout">
            <a:avLst>
              <a:gd name="adj1" fmla="val -76602"/>
              <a:gd name="adj2" fmla="val -99299"/>
            </a:avLst>
          </a:prstGeom>
          <a:solidFill>
            <a:srgbClr val="FFFFFF"/>
          </a:solidFill>
          <a:ln w="38100">
            <a:solidFill>
              <a:schemeClr val="accent2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08871" tIns="54435" rIns="108871" bIns="54435"/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9pPr>
          </a:lstStyle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kumimoji="1" lang="zh-CN" altLang="en-US" sz="2899">
                <a:solidFill>
                  <a:srgbClr val="FF0000"/>
                </a:solidFill>
                <a:latin typeface="Times New Roman" pitchFamily="18" charset="0"/>
              </a:rPr>
              <a:t>合成</a:t>
            </a:r>
          </a:p>
        </p:txBody>
      </p:sp>
      <p:grpSp>
        <p:nvGrpSpPr>
          <p:cNvPr id="183321" name="Group 25"/>
          <p:cNvGrpSpPr/>
          <p:nvPr>
            <p:custDataLst>
              <p:tags r:id="rId5"/>
            </p:custDataLst>
          </p:nvPr>
        </p:nvGrpSpPr>
        <p:grpSpPr>
          <a:xfrm>
            <a:off x="408457" y="333373"/>
            <a:ext cx="4468784" cy="3486152"/>
            <a:chOff x="192" y="576"/>
            <a:chExt cx="2064" cy="1824"/>
          </a:xfrm>
        </p:grpSpPr>
        <p:pic>
          <p:nvPicPr>
            <p:cNvPr id="183322" name="Picture 26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92" y="576"/>
              <a:ext cx="2064" cy="18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3323" name="Text Box 2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40" y="720"/>
              <a:ext cx="288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9pPr>
            </a:lstStyle>
            <a:p>
              <a:pPr algn="l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 i="1">
                  <a:latin typeface="Times New Roman" pitchFamily="18" charset="0"/>
                </a:rPr>
                <a:t>F</a:t>
              </a:r>
              <a:r>
                <a:rPr lang="en-US" altLang="zh-CN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83324" name="Text Box 28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536" y="642"/>
              <a:ext cx="282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itchFamily="49" charset="-122"/>
                </a:defRPr>
              </a:lvl9pPr>
            </a:lstStyle>
            <a:p>
              <a:pPr algn="l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 i="1">
                  <a:latin typeface="Times New Roman" pitchFamily="18" charset="0"/>
                </a:rPr>
                <a:t>F</a:t>
              </a:r>
              <a:r>
                <a:rPr lang="en-US" altLang="zh-CN" baseline="-25000">
                  <a:latin typeface="Times New Roman" pitchFamily="18" charset="0"/>
                </a:rPr>
                <a:t>2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19FAB98-F812-344B-A434-7DEF48BB9DE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385058" y="1161319"/>
            <a:ext cx="61068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200" b="1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kumimoji="1" lang="zh-CN" altLang="en-US" sz="3200" b="1">
                <a:latin typeface="华文楷体" panose="02010600040101010101" pitchFamily="2" charset="-122"/>
                <a:ea typeface="华文楷体" panose="02010600040101010101" pitchFamily="2" charset="-122"/>
              </a:rPr>
              <a:t>、共点力</a:t>
            </a:r>
            <a:endParaRPr lang="zh-CN" altLang="en-US" sz="3200" b="1"/>
          </a:p>
        </p:txBody>
      </p:sp>
    </p:spTree>
    <p:extLst>
      <p:ext uri="{BB962C8B-B14F-4D97-AF65-F5344CB8AC3E}">
        <p14:creationId xmlns:p14="http://schemas.microsoft.com/office/powerpoint/2010/main" val="39499454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18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16" grpId="0" animBg="1"/>
      <p:bldP spid="1833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67" name="Line 11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H="1">
            <a:off x="5080368" y="762001"/>
            <a:ext cx="0" cy="5867401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08871" tIns="54435" rIns="108871" bIns="54435"/>
          <a:lstStyle/>
          <a:p>
            <a:endParaRPr lang="zh-CN" altLang="en-US"/>
          </a:p>
        </p:txBody>
      </p:sp>
      <p:pic>
        <p:nvPicPr>
          <p:cNvPr id="224276" name="Picture 20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77" t="22757" r="28073" b="63817"/>
          <a:stretch>
            <a:fillRect/>
          </a:stretch>
        </p:blipFill>
        <p:spPr bwMode="auto">
          <a:xfrm>
            <a:off x="330172" y="1752601"/>
            <a:ext cx="4547071" cy="3548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4277" name="Line 21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3861609" y="2233613"/>
            <a:ext cx="0" cy="9779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69696"/>
                  </a:outerShdw>
                </a:effectLst>
              </a14:hiddenEffects>
            </a:ext>
          </a:extLst>
        </p:spPr>
        <p:txBody>
          <a:bodyPr lIns="108871" tIns="54435" rIns="108871" bIns="54435"/>
          <a:lstStyle/>
          <a:p>
            <a:endParaRPr lang="zh-CN" altLang="en-US"/>
          </a:p>
        </p:txBody>
      </p:sp>
      <p:sp>
        <p:nvSpPr>
          <p:cNvPr id="224278" name="Line 22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H="1">
            <a:off x="1220963" y="2319339"/>
            <a:ext cx="0" cy="9810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69696"/>
                  </a:outerShdw>
                </a:effectLst>
              </a14:hiddenEffects>
            </a:ext>
          </a:extLst>
        </p:spPr>
        <p:txBody>
          <a:bodyPr lIns="108871" tIns="54435" rIns="108871" bIns="54435"/>
          <a:lstStyle/>
          <a:p>
            <a:endParaRPr lang="zh-CN" altLang="en-US"/>
          </a:p>
        </p:txBody>
      </p:sp>
      <p:sp>
        <p:nvSpPr>
          <p:cNvPr id="224279" name="Text Box 2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459" y="2743201"/>
            <a:ext cx="81462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69696"/>
                  </a:outerShdw>
                </a:effectLst>
              </a14:hiddenEffects>
            </a:ext>
          </a:extLst>
        </p:spPr>
        <p:txBody>
          <a:bodyPr lIns="40283" tIns="20140" rIns="40283" bIns="20140"/>
          <a:lstStyle/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99" i="1">
                <a:solidFill>
                  <a:srgbClr val="FF0000"/>
                </a:solidFill>
              </a:rPr>
              <a:t>F</a:t>
            </a:r>
            <a:r>
              <a:rPr lang="en-US" altLang="zh-CN" sz="2899" baseline="-25000">
                <a:solidFill>
                  <a:srgbClr val="FF0000"/>
                </a:solidFill>
              </a:rPr>
              <a:t>1</a:t>
            </a:r>
            <a:endParaRPr lang="en-US" altLang="zh-CN" sz="2899"/>
          </a:p>
        </p:txBody>
      </p:sp>
      <p:sp>
        <p:nvSpPr>
          <p:cNvPr id="224280" name="Text Box 2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136677" y="2662240"/>
            <a:ext cx="1045255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69696"/>
                  </a:outerShdw>
                </a:effectLst>
              </a14:hiddenEffects>
            </a:ext>
          </a:extLst>
        </p:spPr>
        <p:txBody>
          <a:bodyPr lIns="40283" tIns="20140" rIns="40283" bIns="20140"/>
          <a:lstStyle/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99" i="1">
                <a:solidFill>
                  <a:srgbClr val="FF0000"/>
                </a:solidFill>
              </a:rPr>
              <a:t>F</a:t>
            </a:r>
            <a:r>
              <a:rPr lang="en-US" altLang="zh-CN" sz="2899" baseline="-25000">
                <a:solidFill>
                  <a:srgbClr val="FF0000"/>
                </a:solidFill>
              </a:rPr>
              <a:t>2</a:t>
            </a:r>
            <a:endParaRPr lang="en-US" altLang="zh-CN" sz="2899"/>
          </a:p>
        </p:txBody>
      </p:sp>
      <p:sp>
        <p:nvSpPr>
          <p:cNvPr id="224281" name="Line 25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 flipV="1">
            <a:off x="2541286" y="1362738"/>
            <a:ext cx="0" cy="9144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08871" tIns="54435" rIns="108871" bIns="54435"/>
          <a:lstStyle/>
          <a:p>
            <a:endParaRPr lang="zh-CN" altLang="en-US"/>
          </a:p>
        </p:txBody>
      </p:sp>
      <p:sp>
        <p:nvSpPr>
          <p:cNvPr id="224282" name="Rectangle 2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744413" y="1203327"/>
            <a:ext cx="591294" cy="55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8871" tIns="54435" rIns="108871" bIns="5443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9pPr>
          </a:lstStyle>
          <a:p>
            <a:pPr algn="l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99" i="1">
                <a:solidFill>
                  <a:srgbClr val="FF0000"/>
                </a:solidFill>
                <a:latin typeface="Times New Roman" pitchFamily="18" charset="0"/>
              </a:rPr>
              <a:t>F</a:t>
            </a:r>
            <a:r>
              <a:rPr lang="en-US" altLang="zh-CN" sz="2899" baseline="-25000">
                <a:solidFill>
                  <a:srgbClr val="FF0000"/>
                </a:solidFill>
                <a:latin typeface="Times New Roman" pitchFamily="18" charset="0"/>
              </a:rPr>
              <a:t>3</a:t>
            </a:r>
            <a:endParaRPr lang="zh-CN" altLang="en-US" sz="2899" baseline="-2500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24283" name="Text Box 27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588184" y="2117726"/>
            <a:ext cx="5078163" cy="1930011"/>
          </a:xfrm>
          <a:prstGeom prst="rect">
            <a:avLst/>
          </a:prstGeom>
          <a:solidFill>
            <a:srgbClr val="FFFFFF">
              <a:alpha val="70000"/>
            </a:srgbClr>
          </a:solidFill>
          <a:ln w="19050">
            <a:solidFill>
              <a:schemeClr val="bg1"/>
            </a:solidFill>
            <a:prstDash val="lg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871" tIns="54435" rIns="108871" bIns="54435"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99"/>
              <a:t>非共点力：力不但没有作用在同一点上，它们的延长线也不能相交于一点 </a:t>
            </a:r>
            <a:r>
              <a:rPr lang="en-US" altLang="zh-CN" sz="3299"/>
              <a:t>.</a:t>
            </a:r>
          </a:p>
        </p:txBody>
      </p:sp>
      <p:sp>
        <p:nvSpPr>
          <p:cNvPr id="224284" name="AutoShape 28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721014" y="4648201"/>
            <a:ext cx="3250024" cy="1143000"/>
          </a:xfrm>
          <a:prstGeom prst="cloudCallout">
            <a:avLst>
              <a:gd name="adj1" fmla="val -22852"/>
              <a:gd name="adj2" fmla="val -138333"/>
            </a:avLst>
          </a:prstGeom>
          <a:solidFill>
            <a:srgbClr val="FFFFFF"/>
          </a:solidFill>
          <a:ln w="38100">
            <a:solidFill>
              <a:schemeClr val="accent2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08871" tIns="54435" rIns="108871" bIns="54435"/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itchFamily="49" charset="-122"/>
              </a:defRPr>
            </a:lvl9pPr>
          </a:lstStyle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kumimoji="1" lang="zh-CN" altLang="en-US" sz="2899">
                <a:solidFill>
                  <a:srgbClr val="FF0000"/>
                </a:solidFill>
                <a:latin typeface="Times New Roman" pitchFamily="18" charset="0"/>
              </a:rPr>
              <a:t>不能合成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47F0D3-B965-C952-20EE-7A3901E2427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385058" y="1161319"/>
            <a:ext cx="61068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200" b="1"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kumimoji="1" lang="zh-CN" altLang="en-US" sz="3200" b="1">
                <a:latin typeface="华文楷体" panose="02010600040101010101" pitchFamily="2" charset="-122"/>
                <a:ea typeface="华文楷体" panose="02010600040101010101" pitchFamily="2" charset="-122"/>
              </a:rPr>
              <a:t>、非共点力</a:t>
            </a:r>
            <a:endParaRPr lang="zh-CN" altLang="en-US" sz="3200" b="1"/>
          </a:p>
        </p:txBody>
      </p:sp>
    </p:spTree>
    <p:extLst>
      <p:ext uri="{BB962C8B-B14F-4D97-AF65-F5344CB8AC3E}">
        <p14:creationId xmlns:p14="http://schemas.microsoft.com/office/powerpoint/2010/main" val="27460506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77" grpId="0" animBg="1"/>
      <p:bldP spid="224278" grpId="0" animBg="1"/>
      <p:bldP spid="224279" grpId="0"/>
      <p:bldP spid="224280" grpId="0"/>
      <p:bldP spid="224281" grpId="0" animBg="1"/>
      <p:bldP spid="224282" grpId="0"/>
      <p:bldP spid="224283" grpId="0" animBg="1"/>
      <p:bldP spid="22428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3">
            <a:extLst>
              <a:ext uri="{FF2B5EF4-FFF2-40B4-BE49-F238E27FC236}">
                <a16:creationId xmlns:a16="http://schemas.microsoft.com/office/drawing/2014/main" id="{692638FD-11F1-0774-F1DE-6D8DDC2EA93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800850" y="1676400"/>
            <a:ext cx="2952750" cy="1017588"/>
            <a:chOff x="1356" y="1344"/>
            <a:chExt cx="1860" cy="641"/>
          </a:xfrm>
        </p:grpSpPr>
        <p:pic>
          <p:nvPicPr>
            <p:cNvPr id="13344" name="Picture 4" descr="12">
              <a:extLst>
                <a:ext uri="{FF2B5EF4-FFF2-40B4-BE49-F238E27FC236}">
                  <a16:creationId xmlns:a16="http://schemas.microsoft.com/office/drawing/2014/main" id="{1EE832AA-98C5-8026-439E-0FF71F635E8C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31"/>
              </p:custDataLst>
            </p:nvPr>
          </p:nvPicPr>
          <p:blipFill>
            <a:blip r:embed="rId35">
              <a:lum contras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872" y="1344"/>
              <a:ext cx="1344" cy="641"/>
            </a:xfrm>
            <a:prstGeom prst="rect">
              <a:avLst/>
            </a:prstGeom>
            <a:solidFill>
              <a:srgbClr val="FAB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5" name="Picture 5" descr="11">
              <a:extLst>
                <a:ext uri="{FF2B5EF4-FFF2-40B4-BE49-F238E27FC236}">
                  <a16:creationId xmlns:a16="http://schemas.microsoft.com/office/drawing/2014/main" id="{DA1A1299-8967-678A-2D93-496E2A4092F5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32"/>
              </p:custDataLst>
            </p:nvPr>
          </p:nvPicPr>
          <p:blipFill>
            <a:blip r:embed="rId36">
              <a:lum contras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356" y="1416"/>
              <a:ext cx="538" cy="547"/>
            </a:xfrm>
            <a:prstGeom prst="rect">
              <a:avLst/>
            </a:prstGeom>
            <a:solidFill>
              <a:srgbClr val="FAB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658" name="Line 10">
            <a:extLst>
              <a:ext uri="{FF2B5EF4-FFF2-40B4-BE49-F238E27FC236}">
                <a16:creationId xmlns:a16="http://schemas.microsoft.com/office/drawing/2014/main" id="{EACBD8BF-6350-A5F1-0360-E0A7314E4842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038600" y="2286000"/>
            <a:ext cx="609600" cy="0"/>
          </a:xfrm>
          <a:prstGeom prst="lin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/>
            </a:endParaRPr>
          </a:p>
        </p:txBody>
      </p:sp>
      <p:sp>
        <p:nvSpPr>
          <p:cNvPr id="27660" name="Text Box 12">
            <a:extLst>
              <a:ext uri="{FF2B5EF4-FFF2-40B4-BE49-F238E27FC236}">
                <a16:creationId xmlns:a16="http://schemas.microsoft.com/office/drawing/2014/main" id="{D505E4EB-99EF-C5EE-3307-7BE63A053168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114800" y="1828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itchFamily="18" charset="0"/>
              </a:rPr>
              <a:t>F</a:t>
            </a:r>
            <a:r>
              <a:rPr kumimoji="1" lang="en-US" altLang="zh-CN" sz="2400" b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27661" name="Text Box 13">
            <a:extLst>
              <a:ext uri="{FF2B5EF4-FFF2-40B4-BE49-F238E27FC236}">
                <a16:creationId xmlns:a16="http://schemas.microsoft.com/office/drawing/2014/main" id="{53BAED53-2977-D1AC-66BF-E3B9F2F5C1AF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953000" y="1828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itchFamily="18" charset="0"/>
              </a:rPr>
              <a:t>F</a:t>
            </a:r>
            <a:r>
              <a:rPr kumimoji="1" lang="en-US" altLang="zh-CN" sz="2400" b="1" baseline="-25000">
                <a:latin typeface="Times New Roman" pitchFamily="18" charset="0"/>
              </a:rPr>
              <a:t>1</a:t>
            </a:r>
          </a:p>
        </p:txBody>
      </p:sp>
      <p:grpSp>
        <p:nvGrpSpPr>
          <p:cNvPr id="27662" name="Group 14">
            <a:extLst>
              <a:ext uri="{FF2B5EF4-FFF2-40B4-BE49-F238E27FC236}">
                <a16:creationId xmlns:a16="http://schemas.microsoft.com/office/drawing/2014/main" id="{C451DD9C-B38B-4272-37CB-CE44CC01D13B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572000" y="2209800"/>
            <a:ext cx="1066800" cy="152400"/>
            <a:chOff x="1488" y="2784"/>
            <a:chExt cx="672" cy="96"/>
          </a:xfrm>
        </p:grpSpPr>
        <p:sp>
          <p:nvSpPr>
            <p:cNvPr id="13342" name="Oval 15">
              <a:extLst>
                <a:ext uri="{FF2B5EF4-FFF2-40B4-BE49-F238E27FC236}">
                  <a16:creationId xmlns:a16="http://schemas.microsoft.com/office/drawing/2014/main" id="{4C934D10-3ADF-C1B8-ABE7-E17288B5E5B7}"/>
                </a:ext>
              </a:extLst>
            </p:cNvPr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488" y="2784"/>
              <a:ext cx="96" cy="96"/>
            </a:xfrm>
            <a:prstGeom prst="ellipse">
              <a:avLst/>
            </a:prstGeom>
            <a:solidFill>
              <a:srgbClr val="0033CC"/>
            </a:solidFill>
            <a:ln w="9525">
              <a:solidFill>
                <a:schemeClr val="bg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sp>
          <p:nvSpPr>
            <p:cNvPr id="13343" name="Line 16">
              <a:extLst>
                <a:ext uri="{FF2B5EF4-FFF2-40B4-BE49-F238E27FC236}">
                  <a16:creationId xmlns:a16="http://schemas.microsoft.com/office/drawing/2014/main" id="{3337E2A7-3751-0999-F330-5767876B5C25}"/>
                </a:ext>
              </a:extLst>
            </p:cNvPr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1584" y="2832"/>
              <a:ext cx="576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665" name="Group 17">
            <a:extLst>
              <a:ext uri="{FF2B5EF4-FFF2-40B4-BE49-F238E27FC236}">
                <a16:creationId xmlns:a16="http://schemas.microsoft.com/office/drawing/2014/main" id="{A7E7B24F-E30C-84AD-7898-6C6E20D85E23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4038600" y="2438400"/>
            <a:ext cx="1600200" cy="152400"/>
            <a:chOff x="1104" y="3360"/>
            <a:chExt cx="1056" cy="96"/>
          </a:xfrm>
        </p:grpSpPr>
        <p:sp>
          <p:nvSpPr>
            <p:cNvPr id="13340" name="Line 18">
              <a:extLst>
                <a:ext uri="{FF2B5EF4-FFF2-40B4-BE49-F238E27FC236}">
                  <a16:creationId xmlns:a16="http://schemas.microsoft.com/office/drawing/2014/main" id="{7A56AC4F-2BE2-D36A-8EAC-448909188A2E}"/>
                </a:ext>
              </a:extLst>
            </p:cNvPr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1200" y="3408"/>
              <a:ext cx="9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1" name="Oval 19">
              <a:extLst>
                <a:ext uri="{FF2B5EF4-FFF2-40B4-BE49-F238E27FC236}">
                  <a16:creationId xmlns:a16="http://schemas.microsoft.com/office/drawing/2014/main" id="{60765259-6D82-E81D-7CF7-97EF9F303B26}"/>
                </a:ext>
              </a:extLst>
            </p:cNvPr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104" y="3360"/>
              <a:ext cx="96" cy="9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7668" name="Text Box 20">
            <a:extLst>
              <a:ext uri="{FF2B5EF4-FFF2-40B4-BE49-F238E27FC236}">
                <a16:creationId xmlns:a16="http://schemas.microsoft.com/office/drawing/2014/main" id="{77348434-1D81-ADB4-062F-C53E93C0BDD8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114800" y="27178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</a:rPr>
              <a:t>F</a:t>
            </a:r>
            <a:r>
              <a:rPr kumimoji="1" lang="zh-CN" altLang="en-US" sz="2400" b="1" baseline="-25000">
                <a:solidFill>
                  <a:srgbClr val="FF0000"/>
                </a:solidFill>
                <a:latin typeface="Times New Roman" pitchFamily="18" charset="0"/>
              </a:rPr>
              <a:t>合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</a:rPr>
              <a:t>=F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</a:rPr>
              <a:t>1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</a:rPr>
              <a:t>+ F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kumimoji="1" lang="zh-CN" altLang="en-US" sz="2400" b="1" baseline="-25000">
                <a:solidFill>
                  <a:srgbClr val="FF0000"/>
                </a:solidFill>
                <a:latin typeface="Times New Roman" pitchFamily="18" charset="0"/>
              </a:rPr>
              <a:t>，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</a:rPr>
              <a:t>方向与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</a:rPr>
              <a:t>F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</a:rPr>
              <a:t>和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</a:rPr>
              <a:t>F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</a:rPr>
              <a:t>相同</a:t>
            </a:r>
          </a:p>
        </p:txBody>
      </p:sp>
      <p:pic>
        <p:nvPicPr>
          <p:cNvPr id="13322" name="Picture 21">
            <a:extLst>
              <a:ext uri="{FF2B5EF4-FFF2-40B4-BE49-F238E27FC236}">
                <a16:creationId xmlns:a16="http://schemas.microsoft.com/office/drawing/2014/main" id="{7E1B9DED-3A7D-4A2F-9022-07E31FCDF527}"/>
              </a:ext>
            </a:extLst>
          </p:cNvPr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37">
            <a:lum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81800" y="3581401"/>
            <a:ext cx="3124200" cy="110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70" name="Group 22">
            <a:extLst>
              <a:ext uri="{FF2B5EF4-FFF2-40B4-BE49-F238E27FC236}">
                <a16:creationId xmlns:a16="http://schemas.microsoft.com/office/drawing/2014/main" id="{F8FD9C85-BB37-3B1F-701D-F6CF5DF75ECE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4038600" y="3733800"/>
            <a:ext cx="609600" cy="457200"/>
            <a:chOff x="1152" y="3168"/>
            <a:chExt cx="384" cy="288"/>
          </a:xfrm>
        </p:grpSpPr>
        <p:sp>
          <p:nvSpPr>
            <p:cNvPr id="13338" name="Line 23">
              <a:extLst>
                <a:ext uri="{FF2B5EF4-FFF2-40B4-BE49-F238E27FC236}">
                  <a16:creationId xmlns:a16="http://schemas.microsoft.com/office/drawing/2014/main" id="{87694D1D-B842-DAC0-8ADA-0763C0CD0226}"/>
                </a:ext>
              </a:extLst>
            </p:cNvPr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 flipH="1">
              <a:off x="1152" y="3456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Text Box 24">
              <a:extLst>
                <a:ext uri="{FF2B5EF4-FFF2-40B4-BE49-F238E27FC236}">
                  <a16:creationId xmlns:a16="http://schemas.microsoft.com/office/drawing/2014/main" id="{F0BEE57E-7B21-FD78-7441-37E0BB8A4857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200" y="316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kumimoji="1" lang="en-US" altLang="zh-CN" sz="2400" b="1">
                  <a:latin typeface="Times New Roman" pitchFamily="18" charset="0"/>
                </a:rPr>
                <a:t>F</a:t>
              </a:r>
              <a:r>
                <a:rPr kumimoji="1" lang="en-US" altLang="zh-CN" sz="2400" b="1" baseline="-25000"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27673" name="Group 25">
            <a:extLst>
              <a:ext uri="{FF2B5EF4-FFF2-40B4-BE49-F238E27FC236}">
                <a16:creationId xmlns:a16="http://schemas.microsoft.com/office/drawing/2014/main" id="{68F1C01F-CD27-CD81-913A-834A7132F04F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4572000" y="3733800"/>
            <a:ext cx="1066800" cy="533400"/>
            <a:chOff x="1488" y="3168"/>
            <a:chExt cx="672" cy="336"/>
          </a:xfrm>
        </p:grpSpPr>
        <p:sp>
          <p:nvSpPr>
            <p:cNvPr id="13334" name="Text Box 26">
              <a:extLst>
                <a:ext uri="{FF2B5EF4-FFF2-40B4-BE49-F238E27FC236}">
                  <a16:creationId xmlns:a16="http://schemas.microsoft.com/office/drawing/2014/main" id="{506E5FC2-2265-02D8-8FE6-8BA7F68FBED7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728" y="316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kumimoji="1" lang="en-US" altLang="zh-CN" sz="2400" b="1">
                  <a:latin typeface="Times New Roman" pitchFamily="18" charset="0"/>
                </a:rPr>
                <a:t>F</a:t>
              </a:r>
              <a:r>
                <a:rPr kumimoji="1" lang="en-US" altLang="zh-CN" sz="2400" b="1" baseline="-25000">
                  <a:latin typeface="Times New Roman" pitchFamily="18" charset="0"/>
                </a:rPr>
                <a:t>1</a:t>
              </a:r>
            </a:p>
          </p:txBody>
        </p:sp>
        <p:grpSp>
          <p:nvGrpSpPr>
            <p:cNvPr id="13335" name="Group 27">
              <a:extLst>
                <a:ext uri="{FF2B5EF4-FFF2-40B4-BE49-F238E27FC236}">
                  <a16:creationId xmlns:a16="http://schemas.microsoft.com/office/drawing/2014/main" id="{653A04B4-93FD-D1B6-3609-8BCDFC407E7F}"/>
                </a:ext>
              </a:extLst>
            </p:cNvPr>
            <p:cNvGrpSpPr/>
            <p:nvPr>
              <p:custDataLst>
                <p:tags r:id="rId22"/>
              </p:custDataLst>
            </p:nvPr>
          </p:nvGrpSpPr>
          <p:grpSpPr>
            <a:xfrm>
              <a:off x="1488" y="3408"/>
              <a:ext cx="672" cy="96"/>
              <a:chOff x="1488" y="2784"/>
              <a:chExt cx="672" cy="96"/>
            </a:xfrm>
          </p:grpSpPr>
          <p:sp>
            <p:nvSpPr>
              <p:cNvPr id="13336" name="Oval 28">
                <a:extLst>
                  <a:ext uri="{FF2B5EF4-FFF2-40B4-BE49-F238E27FC236}">
                    <a16:creationId xmlns:a16="http://schemas.microsoft.com/office/drawing/2014/main" id="{569A33E6-1BAF-6F74-3E4A-77CAEC250CF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488" y="2784"/>
                <a:ext cx="96" cy="9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37" name="Line 29">
                <a:extLst>
                  <a:ext uri="{FF2B5EF4-FFF2-40B4-BE49-F238E27FC236}">
                    <a16:creationId xmlns:a16="http://schemas.microsoft.com/office/drawing/2014/main" id="{2CF58A26-739F-1F58-4454-D0F572901FE5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1584" y="2832"/>
                <a:ext cx="57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7678" name="Group 30">
            <a:extLst>
              <a:ext uri="{FF2B5EF4-FFF2-40B4-BE49-F238E27FC236}">
                <a16:creationId xmlns:a16="http://schemas.microsoft.com/office/drawing/2014/main" id="{13CB0BBA-98AD-748B-809E-9DFDA6A76BDF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4572000" y="4343400"/>
            <a:ext cx="457200" cy="152400"/>
            <a:chOff x="1632" y="3696"/>
            <a:chExt cx="288" cy="96"/>
          </a:xfrm>
        </p:grpSpPr>
        <p:sp>
          <p:nvSpPr>
            <p:cNvPr id="13332" name="Oval 31">
              <a:extLst>
                <a:ext uri="{FF2B5EF4-FFF2-40B4-BE49-F238E27FC236}">
                  <a16:creationId xmlns:a16="http://schemas.microsoft.com/office/drawing/2014/main" id="{87B7038A-DF9D-012E-BF53-8B2831A9745C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632" y="3696"/>
              <a:ext cx="96" cy="9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3" name="Line 32">
              <a:extLst>
                <a:ext uri="{FF2B5EF4-FFF2-40B4-BE49-F238E27FC236}">
                  <a16:creationId xmlns:a16="http://schemas.microsoft.com/office/drawing/2014/main" id="{16412CEE-BBC2-C20B-6D6C-A41DEA491B22}"/>
                </a:ext>
              </a:extLst>
            </p:cNvPr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1728" y="3744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81" name="Text Box 33">
            <a:extLst>
              <a:ext uri="{FF2B5EF4-FFF2-40B4-BE49-F238E27FC236}">
                <a16:creationId xmlns:a16="http://schemas.microsoft.com/office/drawing/2014/main" id="{101C6621-2505-821C-CFE9-435404D03721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191000" y="4800600"/>
            <a:ext cx="533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</a:rPr>
              <a:t>F</a:t>
            </a:r>
            <a:r>
              <a:rPr kumimoji="1" lang="zh-CN" altLang="en-US" sz="2400" b="1" baseline="-25000">
                <a:solidFill>
                  <a:srgbClr val="FF0000"/>
                </a:solidFill>
                <a:latin typeface="Times New Roman" pitchFamily="18" charset="0"/>
              </a:rPr>
              <a:t>合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</a:rPr>
              <a:t>=F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</a:rPr>
              <a:t>1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</a:rPr>
              <a:t>- F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kumimoji="1" lang="zh-CN" altLang="en-US" sz="2400" b="1" baseline="-25000">
                <a:solidFill>
                  <a:srgbClr val="FF0000"/>
                </a:solidFill>
                <a:latin typeface="Times New Roman" pitchFamily="18" charset="0"/>
              </a:rPr>
              <a:t>，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</a:rPr>
              <a:t>方向与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</a:rPr>
              <a:t>F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</a:rPr>
              <a:t>、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</a:rPr>
              <a:t>F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</a:rPr>
              <a:t>大者相同</a:t>
            </a:r>
          </a:p>
        </p:txBody>
      </p:sp>
      <p:sp>
        <p:nvSpPr>
          <p:cNvPr id="13327" name="Text Box 35">
            <a:extLst>
              <a:ext uri="{FF2B5EF4-FFF2-40B4-BE49-F238E27FC236}">
                <a16:creationId xmlns:a16="http://schemas.microsoft.com/office/drawing/2014/main" id="{DC117F4F-5472-201D-C5F1-8BFEC3CFD73B}"/>
              </a:ext>
            </a:extLst>
          </p:cNvPr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209800" y="2133600"/>
            <a:ext cx="1447800" cy="457200"/>
          </a:xfrm>
          <a:prstGeom prst="rect">
            <a:avLst/>
          </a:prstGeom>
          <a:solidFill>
            <a:srgbClr val="FABA7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280BBB"/>
                </a:solidFill>
                <a:latin typeface="Times New Roman" pitchFamily="18" charset="0"/>
              </a:rPr>
              <a:t>二力同向</a:t>
            </a:r>
          </a:p>
        </p:txBody>
      </p:sp>
      <p:sp>
        <p:nvSpPr>
          <p:cNvPr id="13328" name="Text Box 36">
            <a:extLst>
              <a:ext uri="{FF2B5EF4-FFF2-40B4-BE49-F238E27FC236}">
                <a16:creationId xmlns:a16="http://schemas.microsoft.com/office/drawing/2014/main" id="{FF62B20D-804B-EEBF-ACF0-AFFD82D72D26}"/>
              </a:ext>
            </a:extLst>
          </p:cNvPr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209800" y="3962400"/>
            <a:ext cx="1447800" cy="457200"/>
          </a:xfrm>
          <a:prstGeom prst="rect">
            <a:avLst/>
          </a:prstGeom>
          <a:solidFill>
            <a:srgbClr val="FABA7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280BBB"/>
                </a:solidFill>
                <a:latin typeface="Times New Roman" pitchFamily="18" charset="0"/>
              </a:rPr>
              <a:t>二力反向</a:t>
            </a: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FDB6F5B4-4CD0-A3AC-B6FB-68CC240C010E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722689" y="5845175"/>
            <a:ext cx="4746625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zh-CN" altLang="en-US" sz="3600" b="1">
                <a:solidFill>
                  <a:srgbClr val="FF0000"/>
                </a:solidFill>
              </a:rPr>
              <a:t>同向相加，反向相减</a:t>
            </a:r>
          </a:p>
        </p:txBody>
      </p:sp>
      <p:sp>
        <p:nvSpPr>
          <p:cNvPr id="13331" name="Rectangle 6">
            <a:extLst>
              <a:ext uri="{FF2B5EF4-FFF2-40B4-BE49-F238E27FC236}">
                <a16:creationId xmlns:a16="http://schemas.microsoft.com/office/drawing/2014/main" id="{4DF66109-42D9-15B1-28E7-6CF50E50297C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464301" y="5845175"/>
            <a:ext cx="2162175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3600" b="1">
              <a:solidFill>
                <a:srgbClr val="FF0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9455F4E-F559-7127-BB8C-0E07BF53772C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-187334" y="264827"/>
            <a:ext cx="37469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8D5E5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二、力的合成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A0C0D2-6724-B5B7-59BB-ADF7437A1D07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253410" y="1061044"/>
            <a:ext cx="6844518" cy="616580"/>
          </a:xfrm>
          <a:prstGeom prst="rect">
            <a:avLst/>
          </a:prstGeom>
          <a:noFill/>
          <a:ln w="9525">
            <a:noFill/>
          </a:ln>
        </p:spPr>
        <p:txBody>
          <a:bodyPr wrap="square" lIns="120198" tIns="62639" rIns="120198" bIns="62639" anchor="t">
            <a:spAutoFit/>
          </a:bodyPr>
          <a:lstStyle/>
          <a:p>
            <a:pPr defTabSz="1220861">
              <a:tabLst>
                <a:tab pos="2525525" algn="l"/>
              </a:tabLst>
            </a:pPr>
            <a:r>
              <a:rPr lang="zh-CN" altLang="en-US" sz="3199" b="1">
                <a:latin typeface="楷体" charset="-122"/>
                <a:ea typeface="楷体" panose="02010609060101010101" charset="-122"/>
                <a:cs typeface="楷体" panose="02010609060101010101" charset="-122"/>
                <a:sym typeface="Arial" panose="020B0604020202020204" pitchFamily="34" charset="0"/>
              </a:rPr>
              <a:t>  </a:t>
            </a:r>
            <a:r>
              <a:rPr lang="en-US" altLang="zh-CN" sz="3199" b="1">
                <a:latin typeface="楷体" charset="-122"/>
                <a:ea typeface="楷体" panose="02010609060101010101" charset="-122"/>
                <a:cs typeface="楷体" panose="02010609060101010101" charset="-122"/>
                <a:sym typeface="Arial" panose="020B0604020202020204" pitchFamily="34" charset="0"/>
              </a:rPr>
              <a:t>1.</a:t>
            </a:r>
            <a:r>
              <a:rPr lang="zh-CN" altLang="en-US" sz="3199" b="1">
                <a:latin typeface="楷体" charset="-122"/>
                <a:ea typeface="楷体" panose="02010609060101010101" charset="-122"/>
                <a:cs typeface="楷体" panose="02010609060101010101" charset="-122"/>
                <a:sym typeface="Arial" panose="020B0604020202020204" pitchFamily="34" charset="0"/>
              </a:rPr>
              <a:t>同一直线上力的合成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7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0" grpId="0"/>
      <p:bldP spid="27661" grpId="0"/>
      <p:bldP spid="27668" grpId="0"/>
      <p:bldP spid="27681" grpId="0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8202"/>
          <p:cNvGrpSpPr/>
          <p:nvPr>
            <p:custDataLst>
              <p:tags r:id="rId1"/>
            </p:custDataLst>
          </p:nvPr>
        </p:nvGrpSpPr>
        <p:grpSpPr>
          <a:xfrm>
            <a:off x="716760" y="1735110"/>
            <a:ext cx="4975398" cy="3972560"/>
            <a:chOff x="0" y="0"/>
            <a:chExt cx="5401" cy="4601"/>
          </a:xfrm>
        </p:grpSpPr>
        <p:grpSp>
          <p:nvGrpSpPr>
            <p:cNvPr id="3" name="组合 8203"/>
            <p:cNvGrpSpPr/>
            <p:nvPr>
              <p:custDataLst>
                <p:tags r:id="rId6"/>
              </p:custDataLst>
            </p:nvPr>
          </p:nvGrpSpPr>
          <p:grpSpPr>
            <a:xfrm>
              <a:off x="0" y="0"/>
              <a:ext cx="5401" cy="4601"/>
              <a:chOff x="0" y="0"/>
              <a:chExt cx="5401" cy="4601"/>
            </a:xfrm>
          </p:grpSpPr>
          <p:pic>
            <p:nvPicPr>
              <p:cNvPr id="8205" name="图片 8204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0" y="0"/>
                <a:ext cx="5401" cy="460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8206" name="文本框 820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2" y="860"/>
                <a:ext cx="580" cy="5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r>
                  <a:rPr lang="zh-CN" altLang="en-US" sz="2400" b="1" i="1">
                    <a:solidFill>
                      <a:srgbClr val="0000FF"/>
                    </a:solidFill>
                    <a:latin typeface="Times New Roman" pitchFamily="2" charset="0"/>
                    <a:ea typeface="文鼎中楷体" charset="-122"/>
                    <a:sym typeface="Arial" panose="020B0604020202020204" pitchFamily="34" charset="0"/>
                  </a:rPr>
                  <a:t>F</a:t>
                </a:r>
              </a:p>
            </p:txBody>
          </p:sp>
        </p:grpSp>
        <p:sp>
          <p:nvSpPr>
            <p:cNvPr id="8207" name="文本框 8206"/>
            <p:cNvSpPr txBox="1"/>
            <p:nvPr>
              <p:custDataLst>
                <p:tags r:id="rId7"/>
              </p:custDataLst>
            </p:nvPr>
          </p:nvSpPr>
          <p:spPr>
            <a:xfrm>
              <a:off x="2756" y="851"/>
              <a:ext cx="735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400" b="1" i="1">
                  <a:solidFill>
                    <a:srgbClr val="0000FF"/>
                  </a:solidFill>
                  <a:latin typeface="Times New Roman" pitchFamily="2" charset="0"/>
                  <a:ea typeface="文鼎中楷体" charset="-122"/>
                  <a:sym typeface="Arial" panose="020B0604020202020204" pitchFamily="34" charset="0"/>
                </a:rPr>
                <a:t>F</a:t>
              </a:r>
              <a:r>
                <a:rPr lang="zh-CN" altLang="en-US" sz="2400" b="1" i="1" baseline="-25000">
                  <a:solidFill>
                    <a:srgbClr val="0000FF"/>
                  </a:solidFill>
                  <a:latin typeface="Times New Roman" pitchFamily="2" charset="0"/>
                  <a:ea typeface="文鼎中楷体" charset="-122"/>
                  <a:sym typeface="Arial" panose="020B0604020202020204" pitchFamily="34" charset="0"/>
                </a:rPr>
                <a:t>1</a:t>
              </a:r>
            </a:p>
          </p:txBody>
        </p:sp>
        <p:sp>
          <p:nvSpPr>
            <p:cNvPr id="8208" name="文本框 8207"/>
            <p:cNvSpPr txBox="1"/>
            <p:nvPr>
              <p:custDataLst>
                <p:tags r:id="rId8"/>
              </p:custDataLst>
            </p:nvPr>
          </p:nvSpPr>
          <p:spPr>
            <a:xfrm>
              <a:off x="4615" y="815"/>
              <a:ext cx="764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400" b="1" i="1">
                  <a:solidFill>
                    <a:srgbClr val="0000FF"/>
                  </a:solidFill>
                  <a:latin typeface="Times New Roman" pitchFamily="2" charset="0"/>
                  <a:ea typeface="文鼎中楷体" charset="-122"/>
                  <a:sym typeface="Arial" panose="020B0604020202020204" pitchFamily="34" charset="0"/>
                </a:rPr>
                <a:t>F</a:t>
              </a:r>
              <a:r>
                <a:rPr lang="en-US" altLang="zh-CN" sz="2400" b="1" i="1" baseline="-25000">
                  <a:solidFill>
                    <a:srgbClr val="0000FF"/>
                  </a:solidFill>
                  <a:latin typeface="Times New Roman" pitchFamily="2" charset="0"/>
                  <a:ea typeface="文鼎中楷体" charset="-122"/>
                  <a:sym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8209" name="文本框 8208"/>
          <p:cNvSpPr txBox="1"/>
          <p:nvPr>
            <p:custDataLst>
              <p:tags r:id="rId2"/>
            </p:custDataLst>
          </p:nvPr>
        </p:nvSpPr>
        <p:spPr>
          <a:xfrm>
            <a:off x="6167992" y="1989174"/>
            <a:ext cx="5156028" cy="208407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>
              <a:lnSpc>
                <a:spcPct val="135000"/>
              </a:lnSpc>
              <a:spcBef>
                <a:spcPct val="50000"/>
              </a:spcBef>
            </a:pPr>
            <a:r>
              <a:rPr lang="zh-CN" altLang="en-US" sz="3199" b="1">
                <a:latin typeface="Times New Roman" pitchFamily="2" charset="0"/>
                <a:ea typeface="黑体" pitchFamily="49" charset="-122"/>
              </a:rPr>
              <a:t>      </a:t>
            </a:r>
            <a:r>
              <a:rPr lang="zh-CN" altLang="en-US" sz="3199" b="1">
                <a:solidFill>
                  <a:srgbClr val="0000FF"/>
                </a:solidFill>
                <a:latin typeface="Times New Roman" pitchFamily="2" charset="0"/>
                <a:ea typeface="文鼎中楷体" charset="-122"/>
                <a:sym typeface="Arial" panose="020B0604020202020204" pitchFamily="34" charset="0"/>
              </a:rPr>
              <a:t>如图所示，当</a:t>
            </a:r>
            <a:r>
              <a:rPr lang="en-US" altLang="zh-CN" sz="3199" b="1" i="1">
                <a:solidFill>
                  <a:srgbClr val="0000FF"/>
                </a:solidFill>
                <a:latin typeface="Times New Roman" pitchFamily="2" charset="0"/>
                <a:ea typeface="楷体" panose="02010609060101010101" charset="-122"/>
                <a:sym typeface="Arial" panose="020B0604020202020204" pitchFamily="34" charset="0"/>
              </a:rPr>
              <a:t>F</a:t>
            </a:r>
            <a:r>
              <a:rPr lang="en-US" altLang="zh-CN" sz="3199" b="1" i="1" baseline="-25000">
                <a:solidFill>
                  <a:srgbClr val="0000FF"/>
                </a:solidFill>
                <a:latin typeface="Times New Roman" pitchFamily="2" charset="0"/>
                <a:ea typeface="楷体" panose="02010609060101010101" charset="-122"/>
                <a:sym typeface="Arial" panose="020B0604020202020204" pitchFamily="34" charset="0"/>
              </a:rPr>
              <a:t>1</a:t>
            </a:r>
            <a:r>
              <a:rPr lang="zh-CN" altLang="en-US" sz="3199" b="1">
                <a:solidFill>
                  <a:srgbClr val="0000FF"/>
                </a:solidFill>
                <a:latin typeface="楷体" charset="-122"/>
                <a:ea typeface="楷体" panose="02010609060101010101" charset="-122"/>
                <a:sym typeface="Arial" panose="020B0604020202020204" pitchFamily="34" charset="0"/>
              </a:rPr>
              <a:t>、</a:t>
            </a:r>
            <a:r>
              <a:rPr lang="en-US" altLang="zh-CN" sz="3199" b="1" i="1">
                <a:solidFill>
                  <a:srgbClr val="0000FF"/>
                </a:solidFill>
                <a:latin typeface="Times New Roman" pitchFamily="2" charset="0"/>
                <a:ea typeface="楷体" panose="02010609060101010101" charset="-122"/>
                <a:sym typeface="Arial" panose="020B0604020202020204" pitchFamily="34" charset="0"/>
              </a:rPr>
              <a:t>F</a:t>
            </a:r>
            <a:r>
              <a:rPr lang="en-US" altLang="zh-CN" sz="3199" b="1" i="1" baseline="-25000">
                <a:solidFill>
                  <a:srgbClr val="0000FF"/>
                </a:solidFill>
                <a:latin typeface="Times New Roman" pitchFamily="2" charset="0"/>
                <a:ea typeface="楷体" panose="02010609060101010101" charset="-122"/>
                <a:sym typeface="Arial" panose="020B0604020202020204" pitchFamily="34" charset="0"/>
              </a:rPr>
              <a:t>2</a:t>
            </a:r>
            <a:r>
              <a:rPr lang="en-US" altLang="zh-CN" sz="3199" b="1">
                <a:solidFill>
                  <a:srgbClr val="0000FF"/>
                </a:solidFill>
                <a:latin typeface="楷体" charset="-122"/>
                <a:ea typeface="楷体" panose="02010609060101010101" charset="-122"/>
                <a:sym typeface="Arial" panose="020B0604020202020204" pitchFamily="34" charset="0"/>
              </a:rPr>
              <a:t> </a:t>
            </a:r>
            <a:r>
              <a:rPr lang="zh-CN" altLang="en-US" sz="3199" b="1">
                <a:solidFill>
                  <a:srgbClr val="0000FF"/>
                </a:solidFill>
                <a:latin typeface="Times New Roman" pitchFamily="2" charset="0"/>
                <a:ea typeface="文鼎中楷体" charset="-122"/>
                <a:sym typeface="Arial" panose="020B0604020202020204" pitchFamily="34" charset="0"/>
              </a:rPr>
              <a:t>互成一定角度时</a:t>
            </a:r>
            <a:r>
              <a:rPr lang="zh-CN" altLang="en-US" sz="3199" b="1">
                <a:solidFill>
                  <a:srgbClr val="0000FF"/>
                </a:solidFill>
                <a:latin typeface="楷体" charset="-122"/>
                <a:ea typeface="楷体" panose="02010609060101010101" charset="-122"/>
                <a:sym typeface="Arial" panose="020B0604020202020204" pitchFamily="34" charset="0"/>
              </a:rPr>
              <a:t>，它们的合力大小还是</a:t>
            </a:r>
            <a:r>
              <a:rPr lang="en-US" altLang="zh-CN" sz="3199" b="1" i="1">
                <a:solidFill>
                  <a:srgbClr val="0000FF"/>
                </a:solidFill>
                <a:latin typeface="Times New Roman" pitchFamily="2" charset="0"/>
                <a:ea typeface="楷体" panose="02010609060101010101" charset="-122"/>
                <a:sym typeface="Arial" panose="020B0604020202020204" pitchFamily="34" charset="0"/>
              </a:rPr>
              <a:t>F</a:t>
            </a:r>
            <a:r>
              <a:rPr lang="en-US" altLang="zh-CN" sz="3199" b="1" i="1" baseline="-25000">
                <a:solidFill>
                  <a:srgbClr val="0000FF"/>
                </a:solidFill>
                <a:latin typeface="Times New Roman" pitchFamily="2" charset="0"/>
                <a:ea typeface="楷体" panose="02010609060101010101" charset="-122"/>
                <a:sym typeface="Arial" panose="020B0604020202020204" pitchFamily="34" charset="0"/>
              </a:rPr>
              <a:t>1</a:t>
            </a:r>
            <a:r>
              <a:rPr lang="zh-CN" altLang="en-US" sz="3199" b="1">
                <a:solidFill>
                  <a:srgbClr val="0000FF"/>
                </a:solidFill>
                <a:latin typeface="楷体" charset="-122"/>
                <a:ea typeface="楷体" panose="02010609060101010101" charset="-122"/>
                <a:sym typeface="Arial" panose="020B0604020202020204" pitchFamily="34" charset="0"/>
              </a:rPr>
              <a:t>+</a:t>
            </a:r>
            <a:r>
              <a:rPr lang="en-US" altLang="zh-CN" sz="3199" b="1" i="1">
                <a:solidFill>
                  <a:srgbClr val="0000FF"/>
                </a:solidFill>
                <a:latin typeface="Times New Roman" pitchFamily="2" charset="0"/>
                <a:ea typeface="楷体" panose="02010609060101010101" charset="-122"/>
                <a:sym typeface="Arial" panose="020B0604020202020204" pitchFamily="34" charset="0"/>
              </a:rPr>
              <a:t>F</a:t>
            </a:r>
            <a:r>
              <a:rPr lang="en-US" altLang="zh-CN" sz="3199" b="1" i="1" baseline="-25000">
                <a:solidFill>
                  <a:srgbClr val="0000FF"/>
                </a:solidFill>
                <a:latin typeface="Times New Roman" pitchFamily="2" charset="0"/>
                <a:ea typeface="楷体" panose="02010609060101010101" charset="-122"/>
                <a:sym typeface="Arial" panose="020B0604020202020204" pitchFamily="34" charset="0"/>
              </a:rPr>
              <a:t>2</a:t>
            </a:r>
            <a:r>
              <a:rPr lang="en-US" altLang="zh-CN" sz="3199" b="1">
                <a:solidFill>
                  <a:srgbClr val="0000FF"/>
                </a:solidFill>
                <a:latin typeface="楷体" charset="-122"/>
                <a:ea typeface="楷体" panose="02010609060101010101" charset="-122"/>
                <a:sym typeface="Arial" panose="020B0604020202020204" pitchFamily="34" charset="0"/>
              </a:rPr>
              <a:t> </a:t>
            </a:r>
            <a:r>
              <a:rPr lang="zh-CN" altLang="en-US" sz="3199" b="1">
                <a:solidFill>
                  <a:srgbClr val="0000FF"/>
                </a:solidFill>
                <a:latin typeface="楷体" charset="-122"/>
                <a:ea typeface="楷体" panose="02010609060101010101" charset="-122"/>
                <a:sym typeface="Arial" panose="020B0604020202020204" pitchFamily="34" charset="0"/>
              </a:rPr>
              <a:t>吗</a:t>
            </a:r>
            <a:r>
              <a:rPr lang="en-US" altLang="zh-CN" sz="3199" b="1">
                <a:solidFill>
                  <a:srgbClr val="0000FF"/>
                </a:solidFill>
                <a:latin typeface="楷体" charset="-122"/>
                <a:ea typeface="楷体" panose="02010609060101010101" charset="-122"/>
                <a:sym typeface="Arial" panose="020B0604020202020204" pitchFamily="34" charset="0"/>
              </a:rPr>
              <a:t>?</a:t>
            </a:r>
          </a:p>
        </p:txBody>
      </p:sp>
      <p:sp>
        <p:nvSpPr>
          <p:cNvPr id="8210" name="Text Box 147"/>
          <p:cNvSpPr txBox="1"/>
          <p:nvPr>
            <p:custDataLst>
              <p:tags r:id="rId3"/>
            </p:custDataLst>
          </p:nvPr>
        </p:nvSpPr>
        <p:spPr>
          <a:xfrm>
            <a:off x="6383966" y="4652853"/>
            <a:ext cx="5163150" cy="64618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599" b="1">
                <a:solidFill>
                  <a:srgbClr val="FF0000"/>
                </a:solidFill>
                <a:latin typeface="Times New Roman" pitchFamily="2" charset="0"/>
                <a:ea typeface="楷体" panose="02010609060101010101" charset="-122"/>
                <a:sym typeface="Arial" panose="020B0604020202020204" pitchFamily="34" charset="0"/>
              </a:rPr>
              <a:t>结论：</a:t>
            </a:r>
            <a:r>
              <a:rPr lang="zh-CN" altLang="en-US" sz="3599">
                <a:solidFill>
                  <a:srgbClr val="0000FF"/>
                </a:solidFill>
                <a:latin typeface="Tahoma" panose="020B0604030504040204" pitchFamily="2" charset="0"/>
                <a:ea typeface="黑体" pitchFamily="49" charset="-122"/>
              </a:rPr>
              <a:t>  </a:t>
            </a:r>
            <a:r>
              <a:rPr lang="en-US" altLang="zh-CN" sz="3599" b="1" i="1">
                <a:solidFill>
                  <a:srgbClr val="FF0000"/>
                </a:solidFill>
                <a:latin typeface="Times New Roman" pitchFamily="2" charset="0"/>
                <a:ea typeface="Times New Roman" panose="02020603050405020304" pitchFamily="2" charset="-122"/>
                <a:sym typeface="Arial" panose="020B0604020202020204" pitchFamily="34" charset="0"/>
              </a:rPr>
              <a:t>F</a:t>
            </a:r>
            <a:r>
              <a:rPr lang="en-US" altLang="zh-CN" sz="3599">
                <a:solidFill>
                  <a:srgbClr val="FF0000"/>
                </a:solidFill>
                <a:latin typeface="Times New Roman" pitchFamily="2" charset="0"/>
                <a:ea typeface="Times New Roman" panose="02020603050405020304" pitchFamily="2" charset="-122"/>
              </a:rPr>
              <a:t> </a:t>
            </a:r>
            <a:r>
              <a:rPr lang="zh-CN" altLang="en-US" sz="3599">
                <a:solidFill>
                  <a:srgbClr val="FF0000"/>
                </a:solidFill>
                <a:latin typeface="Times New Roman" pitchFamily="2" charset="0"/>
                <a:ea typeface="宋体" pitchFamily="2" charset="-122"/>
              </a:rPr>
              <a:t> </a:t>
            </a:r>
            <a:r>
              <a:rPr lang="en-US" altLang="zh-CN" sz="3599">
                <a:solidFill>
                  <a:srgbClr val="FF0000"/>
                </a:solidFill>
                <a:latin typeface="Times New Roman" pitchFamily="2" charset="0"/>
                <a:ea typeface="Times New Roman" panose="02020603050405020304" pitchFamily="2" charset="-122"/>
              </a:rPr>
              <a:t> </a:t>
            </a:r>
            <a:r>
              <a:rPr lang="zh-CN" altLang="en-US" sz="3599">
                <a:solidFill>
                  <a:srgbClr val="FF0000"/>
                </a:solidFill>
                <a:latin typeface="Times New Roman" pitchFamily="2" charset="0"/>
                <a:ea typeface="Times New Roman" panose="02020603050405020304" pitchFamily="2" charset="-122"/>
                <a:sym typeface="Arial" panose="020B0604020202020204" pitchFamily="34" charset="0"/>
              </a:rPr>
              <a:t>≠ </a:t>
            </a:r>
            <a:r>
              <a:rPr lang="en-US" altLang="zh-CN" sz="3599">
                <a:solidFill>
                  <a:srgbClr val="FF0000"/>
                </a:solidFill>
                <a:latin typeface="Times New Roman" pitchFamily="2" charset="0"/>
                <a:ea typeface="Times New Roman" panose="02020603050405020304" pitchFamily="2" charset="-122"/>
              </a:rPr>
              <a:t> </a:t>
            </a:r>
            <a:r>
              <a:rPr lang="en-US" altLang="zh-CN" sz="3599" b="1" i="1">
                <a:solidFill>
                  <a:srgbClr val="FF0000"/>
                </a:solidFill>
                <a:latin typeface="Times New Roman" pitchFamily="2" charset="0"/>
                <a:ea typeface="Times New Roman" panose="02020603050405020304" pitchFamily="2" charset="-122"/>
                <a:sym typeface="Arial" panose="020B0604020202020204" pitchFamily="34" charset="0"/>
              </a:rPr>
              <a:t>F</a:t>
            </a:r>
            <a:r>
              <a:rPr lang="en-US" altLang="zh-CN" sz="3599" b="1" i="1" baseline="-25000">
                <a:solidFill>
                  <a:srgbClr val="FF0000"/>
                </a:solidFill>
                <a:latin typeface="Times New Roman" pitchFamily="2" charset="0"/>
                <a:ea typeface="Times New Roman" panose="02020603050405020304" pitchFamily="2" charset="-122"/>
                <a:sym typeface="Arial" panose="020B0604020202020204" pitchFamily="34" charset="0"/>
              </a:rPr>
              <a:t>1</a:t>
            </a:r>
            <a:r>
              <a:rPr lang="en-US" altLang="zh-CN" sz="3599" baseline="-25000">
                <a:solidFill>
                  <a:srgbClr val="FF0000"/>
                </a:solidFill>
                <a:latin typeface="Times New Roman" pitchFamily="2" charset="0"/>
                <a:ea typeface="Times New Roman" panose="02020603050405020304" pitchFamily="2" charset="-122"/>
              </a:rPr>
              <a:t>  </a:t>
            </a:r>
            <a:r>
              <a:rPr lang="en-US" altLang="zh-CN" sz="3599">
                <a:solidFill>
                  <a:srgbClr val="FF0000"/>
                </a:solidFill>
                <a:latin typeface="Times New Roman" pitchFamily="2" charset="0"/>
                <a:ea typeface="Times New Roman" panose="02020603050405020304" pitchFamily="2" charset="-122"/>
              </a:rPr>
              <a:t>+  </a:t>
            </a:r>
            <a:r>
              <a:rPr lang="en-US" altLang="zh-CN" sz="3599" b="1" i="1">
                <a:solidFill>
                  <a:srgbClr val="FF0000"/>
                </a:solidFill>
                <a:latin typeface="Times New Roman" pitchFamily="2" charset="0"/>
                <a:ea typeface="Times New Roman" panose="02020603050405020304" pitchFamily="2" charset="-122"/>
                <a:sym typeface="Arial" panose="020B0604020202020204" pitchFamily="34" charset="0"/>
              </a:rPr>
              <a:t>F</a:t>
            </a:r>
            <a:r>
              <a:rPr lang="en-US" altLang="zh-CN" sz="3599" b="1" i="1" baseline="-25000">
                <a:solidFill>
                  <a:srgbClr val="FF0000"/>
                </a:solidFill>
                <a:latin typeface="Times New Roman" pitchFamily="2" charset="0"/>
                <a:ea typeface="Times New Roman" panose="02020603050405020304" pitchFamily="2" charset="-122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65" name="文本框 64"/>
          <p:cNvSpPr txBox="1"/>
          <p:nvPr>
            <p:custDataLst>
              <p:tags r:id="rId4"/>
            </p:custDataLst>
          </p:nvPr>
        </p:nvSpPr>
        <p:spPr>
          <a:xfrm>
            <a:off x="624513" y="586550"/>
            <a:ext cx="184507" cy="461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EFA51F-ECB7-B25B-8154-117B1AEE70D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08685" y="535750"/>
            <a:ext cx="7117046" cy="616373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120198" tIns="62639" rIns="120198" bIns="62639" anchor="t">
            <a:spAutoFit/>
          </a:bodyPr>
          <a:lstStyle/>
          <a:p>
            <a:pPr defTabSz="1220861">
              <a:tabLst>
                <a:tab pos="2525525" algn="l"/>
              </a:tabLst>
            </a:pPr>
            <a:r>
              <a:rPr lang="en-US" altLang="zh-CN" sz="3199" b="1">
                <a:latin typeface="楷体" charset="-122"/>
                <a:ea typeface="楷体" panose="02010609060101010101" charset="-122"/>
                <a:cs typeface="楷体" panose="02010609060101010101" charset="-122"/>
                <a:sym typeface="Arial" panose="020B0604020202020204" pitchFamily="34" charset="0"/>
              </a:rPr>
              <a:t>2.</a:t>
            </a:r>
            <a:r>
              <a:rPr lang="zh-CN" altLang="en-US" sz="3199" b="1">
                <a:latin typeface="楷体" charset="-122"/>
                <a:ea typeface="楷体" panose="02010609060101010101" charset="-122"/>
                <a:cs typeface="楷体" panose="02010609060101010101" charset="-122"/>
                <a:sym typeface="Arial" panose="020B0604020202020204" pitchFamily="34" charset="0"/>
              </a:rPr>
              <a:t>互成角度的两个力的合成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9" grpId="0"/>
      <p:bldP spid="82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7" name="Text 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91018" y="2438288"/>
            <a:ext cx="6093796" cy="1446540"/>
          </a:xfrm>
          <a:prstGeom prst="rect">
            <a:avLst/>
          </a:prstGeom>
          <a:solidFill>
            <a:srgbClr val="F7FC7E"/>
          </a:solidFill>
          <a:ln w="12700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08" tIns="45704" rIns="91408" bIns="45704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4399" b="1">
                <a:latin typeface="隶书" pitchFamily="49" charset="-122"/>
                <a:ea typeface="隶书" pitchFamily="49" charset="-122"/>
              </a:rPr>
              <a:t>　互成角度的力怎样求合力</a:t>
            </a:r>
            <a:r>
              <a:rPr kumimoji="1" lang="en-US" altLang="zh-CN" sz="4399" b="1">
                <a:latin typeface="隶书" pitchFamily="49" charset="-122"/>
                <a:ea typeface="隶书" pitchFamily="49" charset="-122"/>
              </a:rPr>
              <a:t>?</a:t>
            </a:r>
          </a:p>
        </p:txBody>
      </p:sp>
      <p:grpSp>
        <p:nvGrpSpPr>
          <p:cNvPr id="2" name="Group 4"/>
          <p:cNvGrpSpPr/>
          <p:nvPr>
            <p:custDataLst>
              <p:tags r:id="rId2"/>
            </p:custDataLst>
          </p:nvPr>
        </p:nvGrpSpPr>
        <p:grpSpPr>
          <a:xfrm>
            <a:off x="1017838" y="2438400"/>
            <a:ext cx="4062531" cy="1676400"/>
            <a:chOff x="1008" y="2256"/>
            <a:chExt cx="1920" cy="1056"/>
          </a:xfrm>
        </p:grpSpPr>
        <p:sp>
          <p:nvSpPr>
            <p:cNvPr id="226309" name="Line 5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 flipV="1">
              <a:off x="1008" y="2256"/>
              <a:ext cx="1920" cy="480"/>
            </a:xfrm>
            <a:prstGeom prst="line">
              <a:avLst/>
            </a:prstGeom>
            <a:noFill/>
            <a:ln w="57150" cap="sq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6310" name="Line 6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1008" y="2736"/>
              <a:ext cx="1680" cy="576"/>
            </a:xfrm>
            <a:prstGeom prst="line">
              <a:avLst/>
            </a:prstGeom>
            <a:noFill/>
            <a:ln w="57150" cap="sq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26311" name="Text Box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902064" y="2226862"/>
            <a:ext cx="1337249" cy="58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08" tIns="45704" rIns="91408" bIns="45704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3199" b="1" i="1">
                <a:latin typeface="隶书" pitchFamily="49" charset="-122"/>
                <a:ea typeface="隶书" pitchFamily="49" charset="-122"/>
              </a:rPr>
              <a:t>F</a:t>
            </a:r>
            <a:r>
              <a:rPr lang="en-US" altLang="zh-CN" sz="3199" b="1" baseline="-25000">
                <a:latin typeface="隶书" pitchFamily="49" charset="-122"/>
                <a:ea typeface="隶书" pitchFamily="49" charset="-122"/>
              </a:rPr>
              <a:t>1</a:t>
            </a:r>
          </a:p>
        </p:txBody>
      </p:sp>
      <p:sp>
        <p:nvSpPr>
          <p:cNvPr id="226312" name="Text Box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668619" y="3716741"/>
            <a:ext cx="1557304" cy="58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08" tIns="45704" rIns="91408" bIns="45704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3199" b="1" i="1">
                <a:latin typeface="隶书" pitchFamily="49" charset="-122"/>
                <a:ea typeface="隶书" pitchFamily="49" charset="-122"/>
              </a:rPr>
              <a:t>F</a:t>
            </a:r>
            <a:r>
              <a:rPr lang="en-US" altLang="zh-CN" sz="3199" b="1" baseline="-25000">
                <a:latin typeface="隶书" pitchFamily="49" charset="-122"/>
                <a:ea typeface="隶书" pitchFamily="49" charset="-122"/>
              </a:rPr>
              <a:t>2</a:t>
            </a:r>
          </a:p>
        </p:txBody>
      </p:sp>
      <p:sp>
        <p:nvSpPr>
          <p:cNvPr id="226313" name="Oval 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90458" y="906438"/>
            <a:ext cx="3859404" cy="914400"/>
          </a:xfrm>
          <a:prstGeom prst="ellipse">
            <a:avLst/>
          </a:prstGeom>
          <a:noFill/>
          <a:ln w="25400">
            <a:noFill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08" tIns="45704" rIns="91408" bIns="45704"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3599" b="1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力的合成：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32669" y="970757"/>
            <a:ext cx="9982200" cy="1143000"/>
          </a:xfrm>
          <a:prstGeom prst="roundRect">
            <a:avLst>
              <a:gd name="adj" fmla="val 16667"/>
            </a:avLst>
          </a:prstGeo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b="1"/>
              <a:t>已知两个力求合力，结果有几组解？</a:t>
            </a:r>
          </a:p>
        </p:txBody>
      </p:sp>
      <p:sp>
        <p:nvSpPr>
          <p:cNvPr id="7171" name="Line 3"/>
          <p:cNvSpPr/>
          <p:nvPr>
            <p:custDataLst>
              <p:tags r:id="rId2"/>
            </p:custDataLst>
          </p:nvPr>
        </p:nvSpPr>
        <p:spPr>
          <a:xfrm flipV="1">
            <a:off x="4224338" y="2736850"/>
            <a:ext cx="1223962" cy="1512888"/>
          </a:xfrm>
          <a:prstGeom prst="line">
            <a:avLst/>
          </a:prstGeom>
          <a:ln w="63500" cap="flat" cmpd="sng">
            <a:solidFill>
              <a:srgbClr val="00CC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2" name="Line 4"/>
          <p:cNvSpPr/>
          <p:nvPr>
            <p:custDataLst>
              <p:tags r:id="rId3"/>
            </p:custDataLst>
          </p:nvPr>
        </p:nvSpPr>
        <p:spPr>
          <a:xfrm>
            <a:off x="4224338" y="4249738"/>
            <a:ext cx="2447925" cy="0"/>
          </a:xfrm>
          <a:prstGeom prst="line">
            <a:avLst/>
          </a:prstGeom>
          <a:ln w="63500" cap="flat" cmpd="sng">
            <a:solidFill>
              <a:srgbClr val="00CC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3" name="Text Box 5"/>
          <p:cNvSpPr txBox="1"/>
          <p:nvPr>
            <p:custDataLst>
              <p:tags r:id="rId4"/>
            </p:custDataLst>
          </p:nvPr>
        </p:nvSpPr>
        <p:spPr>
          <a:xfrm>
            <a:off x="4656138" y="2117090"/>
            <a:ext cx="935037" cy="70104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en-US" altLang="zh-CN" sz="4000" b="1">
                <a:latin typeface="Arial" panose="020B0604020202020204" pitchFamily="34" charset="0"/>
                <a:ea typeface="宋体" pitchFamily="2" charset="-122"/>
              </a:rPr>
              <a:t>F</a:t>
            </a:r>
            <a:r>
              <a:rPr lang="en-US" altLang="zh-CN" sz="4000" b="1" baseline="-25000">
                <a:latin typeface="Arial" panose="020B0604020202020204" pitchFamily="34" charset="0"/>
                <a:ea typeface="宋体" pitchFamily="2" charset="-122"/>
              </a:rPr>
              <a:t>1</a:t>
            </a:r>
          </a:p>
        </p:txBody>
      </p:sp>
      <p:sp>
        <p:nvSpPr>
          <p:cNvPr id="7174" name="Text Box 6"/>
          <p:cNvSpPr txBox="1"/>
          <p:nvPr>
            <p:custDataLst>
              <p:tags r:id="rId5"/>
            </p:custDataLst>
          </p:nvPr>
        </p:nvSpPr>
        <p:spPr>
          <a:xfrm>
            <a:off x="5880100" y="4249738"/>
            <a:ext cx="1800225" cy="70104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en-US" altLang="zh-CN" sz="4000" b="1">
                <a:latin typeface="Arial" panose="020B0604020202020204" pitchFamily="34" charset="0"/>
                <a:ea typeface="宋体" pitchFamily="2" charset="-122"/>
              </a:rPr>
              <a:t>F</a:t>
            </a:r>
            <a:r>
              <a:rPr lang="en-US" altLang="zh-CN" sz="4000" b="1" baseline="-25000">
                <a:latin typeface="Arial" panose="020B0604020202020204" pitchFamily="34" charset="0"/>
                <a:ea typeface="宋体" pitchFamily="2" charset="-122"/>
              </a:rPr>
              <a:t>2</a:t>
            </a:r>
          </a:p>
        </p:txBody>
      </p:sp>
      <p:sp>
        <p:nvSpPr>
          <p:cNvPr id="9223" name="Line 7"/>
          <p:cNvSpPr/>
          <p:nvPr>
            <p:custDataLst>
              <p:tags r:id="rId6"/>
            </p:custDataLst>
          </p:nvPr>
        </p:nvSpPr>
        <p:spPr>
          <a:xfrm>
            <a:off x="5448300" y="2736850"/>
            <a:ext cx="2303463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4" name="Line 8"/>
          <p:cNvSpPr/>
          <p:nvPr>
            <p:custDataLst>
              <p:tags r:id="rId7"/>
            </p:custDataLst>
          </p:nvPr>
        </p:nvSpPr>
        <p:spPr>
          <a:xfrm flipV="1">
            <a:off x="6672263" y="2736850"/>
            <a:ext cx="1079500" cy="1512888"/>
          </a:xfrm>
          <a:prstGeom prst="line">
            <a:avLst/>
          </a:prstGeom>
          <a:ln w="381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5" name="Line 9"/>
          <p:cNvSpPr/>
          <p:nvPr>
            <p:custDataLst>
              <p:tags r:id="rId8"/>
            </p:custDataLst>
          </p:nvPr>
        </p:nvSpPr>
        <p:spPr>
          <a:xfrm flipV="1">
            <a:off x="4295775" y="2736850"/>
            <a:ext cx="3455988" cy="1512888"/>
          </a:xfrm>
          <a:prstGeom prst="line">
            <a:avLst/>
          </a:prstGeom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6" name="Text Box 10"/>
          <p:cNvSpPr txBox="1"/>
          <p:nvPr>
            <p:custDataLst>
              <p:tags r:id="rId9"/>
            </p:custDataLst>
          </p:nvPr>
        </p:nvSpPr>
        <p:spPr>
          <a:xfrm>
            <a:off x="7392988" y="2305050"/>
            <a:ext cx="1223962" cy="70104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en-US" altLang="zh-CN" sz="4000" b="1">
                <a:latin typeface="Arial" panose="020B0604020202020204" pitchFamily="34" charset="0"/>
                <a:ea typeface="宋体" pitchFamily="2" charset="-122"/>
              </a:rPr>
              <a:t>F</a:t>
            </a:r>
          </a:p>
        </p:txBody>
      </p:sp>
      <p:sp>
        <p:nvSpPr>
          <p:cNvPr id="10242" name="Text Box 2"/>
          <p:cNvSpPr txBox="1"/>
          <p:nvPr>
            <p:custDataLst>
              <p:tags r:id="rId10"/>
            </p:custDataLst>
          </p:nvPr>
        </p:nvSpPr>
        <p:spPr>
          <a:xfrm>
            <a:off x="387985" y="5333365"/>
            <a:ext cx="11536680" cy="640080"/>
          </a:xfrm>
          <a:prstGeom prst="rect">
            <a:avLst/>
          </a:prstGeom>
          <a:solidFill>
            <a:srgbClr val="CCECFF"/>
          </a:solidFill>
          <a:ln w="28575" cap="flat" cmpd="sng">
            <a:solidFill>
              <a:srgbClr val="FF0066"/>
            </a:solidFill>
            <a:prstDash val="lgDash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20000"/>
              </a:spcBef>
            </a:pPr>
            <a:r>
              <a:rPr lang="zh-CN" altLang="en-US" sz="36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二力合成时，当两分力大小和方向确定，合力唯一确定。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F611A02-E845-8EDC-71A7-F4B67B70969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-272244" y="360726"/>
            <a:ext cx="37469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8D5E5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三、力的分解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6" grpId="0"/>
      <p:bldP spid="1024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/>
          <p:nvPr>
            <p:custDataLst>
              <p:tags r:id="rId1"/>
            </p:custDataLst>
          </p:nvPr>
        </p:nvSpPr>
        <p:spPr>
          <a:xfrm>
            <a:off x="443865" y="5445125"/>
            <a:ext cx="11232515" cy="640080"/>
          </a:xfrm>
          <a:prstGeom prst="rect">
            <a:avLst/>
          </a:prstGeom>
          <a:solidFill>
            <a:srgbClr val="CCECFF"/>
          </a:solidFill>
          <a:ln w="28575" cap="flat" cmpd="sng">
            <a:solidFill>
              <a:srgbClr val="FF0066"/>
            </a:solidFill>
            <a:prstDash val="lgDash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20000"/>
              </a:spcBef>
            </a:pPr>
            <a:r>
              <a:rPr lang="en-US" altLang="zh-CN" sz="36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zh-CN" altLang="en-US" sz="36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如果没有其它限制，一个力可以分解为无数对分力．</a:t>
            </a:r>
          </a:p>
        </p:txBody>
      </p:sp>
      <p:sp>
        <p:nvSpPr>
          <p:cNvPr id="10243" name="Line 3"/>
          <p:cNvSpPr/>
          <p:nvPr>
            <p:custDataLst>
              <p:tags r:id="rId2"/>
            </p:custDataLst>
          </p:nvPr>
        </p:nvSpPr>
        <p:spPr>
          <a:xfrm flipV="1">
            <a:off x="4937125" y="2469515"/>
            <a:ext cx="2286000" cy="175260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0244" name="Group 4"/>
          <p:cNvGrpSpPr/>
          <p:nvPr>
            <p:custDataLst>
              <p:tags r:id="rId3"/>
            </p:custDataLst>
          </p:nvPr>
        </p:nvGrpSpPr>
        <p:grpSpPr>
          <a:xfrm>
            <a:off x="4937125" y="2469515"/>
            <a:ext cx="2286000" cy="1752600"/>
            <a:chOff x="0" y="0"/>
            <a:chExt cx="1440" cy="1104"/>
          </a:xfrm>
        </p:grpSpPr>
        <p:sp>
          <p:nvSpPr>
            <p:cNvPr id="8208" name="Line 5"/>
            <p:cNvSpPr/>
            <p:nvPr>
              <p:custDataLst>
                <p:tags r:id="rId17"/>
              </p:custDataLst>
            </p:nvPr>
          </p:nvSpPr>
          <p:spPr>
            <a:xfrm flipV="1">
              <a:off x="0" y="240"/>
              <a:ext cx="336" cy="864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9" name="Line 6"/>
            <p:cNvSpPr/>
            <p:nvPr>
              <p:custDataLst>
                <p:tags r:id="rId18"/>
              </p:custDataLst>
            </p:nvPr>
          </p:nvSpPr>
          <p:spPr>
            <a:xfrm flipV="1">
              <a:off x="1104" y="0"/>
              <a:ext cx="336" cy="864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0" name="Line 7"/>
            <p:cNvSpPr/>
            <p:nvPr>
              <p:custDataLst>
                <p:tags r:id="rId19"/>
              </p:custDataLst>
            </p:nvPr>
          </p:nvSpPr>
          <p:spPr>
            <a:xfrm flipV="1">
              <a:off x="0" y="864"/>
              <a:ext cx="1104" cy="24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1" name="Line 8"/>
            <p:cNvSpPr/>
            <p:nvPr>
              <p:custDataLst>
                <p:tags r:id="rId20"/>
              </p:custDataLst>
            </p:nvPr>
          </p:nvSpPr>
          <p:spPr>
            <a:xfrm flipV="1">
              <a:off x="320" y="0"/>
              <a:ext cx="1104" cy="24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49" name="Group 9"/>
          <p:cNvGrpSpPr/>
          <p:nvPr>
            <p:custDataLst>
              <p:tags r:id="rId4"/>
            </p:custDataLst>
          </p:nvPr>
        </p:nvGrpSpPr>
        <p:grpSpPr>
          <a:xfrm>
            <a:off x="4251325" y="2469515"/>
            <a:ext cx="3657600" cy="1752600"/>
            <a:chOff x="0" y="0"/>
            <a:chExt cx="2304" cy="1104"/>
          </a:xfrm>
        </p:grpSpPr>
        <p:sp>
          <p:nvSpPr>
            <p:cNvPr id="8204" name="Line 10"/>
            <p:cNvSpPr/>
            <p:nvPr>
              <p:custDataLst>
                <p:tags r:id="rId13"/>
              </p:custDataLst>
            </p:nvPr>
          </p:nvSpPr>
          <p:spPr>
            <a:xfrm>
              <a:off x="432" y="1104"/>
              <a:ext cx="1872" cy="0"/>
            </a:xfrm>
            <a:prstGeom prst="line">
              <a:avLst/>
            </a:prstGeom>
            <a:ln w="28575" cap="flat" cmpd="sng">
              <a:solidFill>
                <a:srgbClr val="CC3300"/>
              </a:solidFill>
              <a:prstDash val="solid"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" name="Line 11"/>
            <p:cNvSpPr/>
            <p:nvPr>
              <p:custDataLst>
                <p:tags r:id="rId14"/>
              </p:custDataLst>
            </p:nvPr>
          </p:nvSpPr>
          <p:spPr>
            <a:xfrm>
              <a:off x="0" y="8"/>
              <a:ext cx="1872" cy="0"/>
            </a:xfrm>
            <a:prstGeom prst="line">
              <a:avLst/>
            </a:prstGeom>
            <a:ln w="28575" cap="flat" cmpd="sng">
              <a:solidFill>
                <a:srgbClr val="CC3300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" name="Line 12"/>
            <p:cNvSpPr/>
            <p:nvPr>
              <p:custDataLst>
                <p:tags r:id="rId15"/>
              </p:custDataLst>
            </p:nvPr>
          </p:nvSpPr>
          <p:spPr>
            <a:xfrm flipH="1" flipV="1">
              <a:off x="0" y="0"/>
              <a:ext cx="432" cy="1104"/>
            </a:xfrm>
            <a:prstGeom prst="line">
              <a:avLst/>
            </a:prstGeom>
            <a:ln w="28575" cap="flat" cmpd="sng">
              <a:solidFill>
                <a:srgbClr val="CC3300"/>
              </a:solidFill>
              <a:prstDash val="solid"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" name="Line 13"/>
            <p:cNvSpPr/>
            <p:nvPr>
              <p:custDataLst>
                <p:tags r:id="rId16"/>
              </p:custDataLst>
            </p:nvPr>
          </p:nvSpPr>
          <p:spPr>
            <a:xfrm flipH="1" flipV="1">
              <a:off x="1856" y="0"/>
              <a:ext cx="432" cy="1104"/>
            </a:xfrm>
            <a:prstGeom prst="line">
              <a:avLst/>
            </a:prstGeom>
            <a:ln w="28575" cap="flat" cmpd="sng">
              <a:solidFill>
                <a:srgbClr val="CC3300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54" name="Group 14"/>
          <p:cNvGrpSpPr/>
          <p:nvPr>
            <p:custDataLst>
              <p:tags r:id="rId5"/>
            </p:custDataLst>
          </p:nvPr>
        </p:nvGrpSpPr>
        <p:grpSpPr>
          <a:xfrm>
            <a:off x="4937125" y="1685925"/>
            <a:ext cx="2286000" cy="3124200"/>
            <a:chOff x="0" y="0"/>
            <a:chExt cx="1440" cy="1968"/>
          </a:xfrm>
        </p:grpSpPr>
        <p:sp>
          <p:nvSpPr>
            <p:cNvPr id="8200" name="Line 15"/>
            <p:cNvSpPr/>
            <p:nvPr>
              <p:custDataLst>
                <p:tags r:id="rId9"/>
              </p:custDataLst>
            </p:nvPr>
          </p:nvSpPr>
          <p:spPr>
            <a:xfrm flipH="1" flipV="1">
              <a:off x="0" y="0"/>
              <a:ext cx="0" cy="1536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solid"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" name="Line 16"/>
            <p:cNvSpPr/>
            <p:nvPr>
              <p:custDataLst>
                <p:tags r:id="rId10"/>
              </p:custDataLst>
            </p:nvPr>
          </p:nvSpPr>
          <p:spPr>
            <a:xfrm flipH="1" flipV="1">
              <a:off x="1432" y="432"/>
              <a:ext cx="0" cy="1536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" name="Line 17"/>
            <p:cNvSpPr/>
            <p:nvPr>
              <p:custDataLst>
                <p:tags r:id="rId11"/>
              </p:custDataLst>
            </p:nvPr>
          </p:nvSpPr>
          <p:spPr>
            <a:xfrm>
              <a:off x="0" y="1536"/>
              <a:ext cx="1440" cy="432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solid"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" name="Line 18"/>
            <p:cNvSpPr/>
            <p:nvPr>
              <p:custDataLst>
                <p:tags r:id="rId12"/>
              </p:custDataLst>
            </p:nvPr>
          </p:nvSpPr>
          <p:spPr>
            <a:xfrm>
              <a:off x="0" y="16"/>
              <a:ext cx="1440" cy="432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59" name="Text Box 19"/>
          <p:cNvSpPr txBox="1"/>
          <p:nvPr>
            <p:custDataLst>
              <p:tags r:id="rId6"/>
            </p:custDataLst>
          </p:nvPr>
        </p:nvSpPr>
        <p:spPr>
          <a:xfrm>
            <a:off x="7261225" y="2217103"/>
            <a:ext cx="43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2400">
                <a:latin typeface="Times New Roman" pitchFamily="18" charset="0"/>
                <a:ea typeface="宋体" pitchFamily="2" charset="-122"/>
              </a:rPr>
              <a:t>F</a:t>
            </a:r>
          </a:p>
        </p:txBody>
      </p:sp>
      <p:sp>
        <p:nvSpPr>
          <p:cNvPr id="2" name="AutoShape 2"/>
          <p:cNvSpPr/>
          <p:nvPr>
            <p:custDataLst>
              <p:tags r:id="rId7"/>
            </p:custDataLst>
          </p:nvPr>
        </p:nvSpPr>
        <p:spPr>
          <a:xfrm>
            <a:off x="276859" y="583566"/>
            <a:ext cx="11566525" cy="1143000"/>
          </a:xfrm>
          <a:prstGeom prst="roundRect">
            <a:avLst>
              <a:gd name="adj" fmla="val 16667"/>
            </a:avLst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/>
              <a:t>已知某一个力求两分力，结果有几组解？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91A732-FA62-D1FB-E23B-04A6EC8FDE3F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-272244" y="291178"/>
            <a:ext cx="37469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8D5E5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三、力的分解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nimBg="1"/>
      <p:bldP spid="1025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/>
          <p:cNvSpPr/>
          <p:nvPr>
            <p:custDataLst>
              <p:tags r:id="rId1"/>
            </p:custDataLst>
          </p:nvPr>
        </p:nvSpPr>
        <p:spPr>
          <a:xfrm>
            <a:off x="3702050" y="3948113"/>
            <a:ext cx="4249738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9" name="Line 3"/>
          <p:cNvSpPr/>
          <p:nvPr>
            <p:custDataLst>
              <p:tags r:id="rId2"/>
            </p:custDataLst>
          </p:nvPr>
        </p:nvSpPr>
        <p:spPr>
          <a:xfrm flipV="1">
            <a:off x="3702050" y="2190750"/>
            <a:ext cx="1728788" cy="1728788"/>
          </a:xfrm>
          <a:prstGeom prst="line">
            <a:avLst/>
          </a:prstGeom>
          <a:ln w="38100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0" name="AutoShape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2024108" y="1045007"/>
            <a:ext cx="6541135" cy="1143000"/>
          </a:xfrm>
          <a:prstGeom prst="roundRect">
            <a:avLst>
              <a:gd name="adj" fmla="val 16667"/>
            </a:avLst>
          </a:prstGeo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b="1"/>
              <a:t>   </a:t>
            </a:r>
            <a:r>
              <a:rPr lang="zh-CN" altLang="en-US" b="1"/>
              <a:t>已知两分力方向分解力</a:t>
            </a:r>
          </a:p>
        </p:txBody>
      </p:sp>
      <p:sp>
        <p:nvSpPr>
          <p:cNvPr id="13317" name="Line 5"/>
          <p:cNvSpPr/>
          <p:nvPr>
            <p:custDataLst>
              <p:tags r:id="rId4"/>
            </p:custDataLst>
          </p:nvPr>
        </p:nvSpPr>
        <p:spPr>
          <a:xfrm flipV="1">
            <a:off x="6383338" y="2982913"/>
            <a:ext cx="919162" cy="939800"/>
          </a:xfrm>
          <a:prstGeom prst="line">
            <a:avLst/>
          </a:prstGeom>
          <a:ln w="28575" cap="flat" cmpd="sng">
            <a:solidFill>
              <a:srgbClr val="0000FF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18" name="Line 6"/>
          <p:cNvSpPr/>
          <p:nvPr>
            <p:custDataLst>
              <p:tags r:id="rId5"/>
            </p:custDataLst>
          </p:nvPr>
        </p:nvSpPr>
        <p:spPr>
          <a:xfrm>
            <a:off x="4668838" y="3000375"/>
            <a:ext cx="2665412" cy="0"/>
          </a:xfrm>
          <a:prstGeom prst="line">
            <a:avLst/>
          </a:prstGeom>
          <a:ln w="28575" cap="flat" cmpd="sng">
            <a:solidFill>
              <a:srgbClr val="0000FF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3" name="Line 7"/>
          <p:cNvSpPr/>
          <p:nvPr>
            <p:custDataLst>
              <p:tags r:id="rId6"/>
            </p:custDataLst>
          </p:nvPr>
        </p:nvSpPr>
        <p:spPr>
          <a:xfrm flipV="1">
            <a:off x="3748088" y="3030538"/>
            <a:ext cx="3529012" cy="881062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4" name="Text Box 8"/>
          <p:cNvSpPr txBox="1"/>
          <p:nvPr>
            <p:custDataLst>
              <p:tags r:id="rId7"/>
            </p:custDataLst>
          </p:nvPr>
        </p:nvSpPr>
        <p:spPr>
          <a:xfrm>
            <a:off x="7261225" y="2827338"/>
            <a:ext cx="523875" cy="36576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lvl="0" eaLnBrk="1" hangingPunct="1"/>
            <a:r>
              <a:rPr lang="en-US" altLang="zh-CN" b="1">
                <a:latin typeface="Arial" panose="020B0604020202020204" pitchFamily="34" charset="0"/>
                <a:ea typeface="宋体" pitchFamily="2" charset="-122"/>
              </a:rPr>
              <a:t>F</a:t>
            </a:r>
            <a:endParaRPr lang="en-US" altLang="zh-CN" b="1" baseline="-25000"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3321" name="Text Box 9"/>
          <p:cNvSpPr txBox="1"/>
          <p:nvPr>
            <p:custDataLst>
              <p:tags r:id="rId8"/>
            </p:custDataLst>
          </p:nvPr>
        </p:nvSpPr>
        <p:spPr>
          <a:xfrm>
            <a:off x="4322763" y="2660650"/>
            <a:ext cx="523875" cy="36576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lvl="0" eaLnBrk="1" hangingPunct="1"/>
            <a:r>
              <a:rPr lang="en-US" altLang="zh-CN" b="1">
                <a:latin typeface="Arial" panose="020B0604020202020204" pitchFamily="34" charset="0"/>
                <a:ea typeface="宋体" pitchFamily="2" charset="-122"/>
              </a:rPr>
              <a:t>F</a:t>
            </a:r>
            <a:r>
              <a:rPr lang="en-US" altLang="zh-CN" b="1" baseline="-25000">
                <a:latin typeface="Arial" panose="020B0604020202020204" pitchFamily="34" charset="0"/>
                <a:ea typeface="宋体" pitchFamily="2" charset="-122"/>
              </a:rPr>
              <a:t>2</a:t>
            </a:r>
          </a:p>
        </p:txBody>
      </p:sp>
      <p:sp>
        <p:nvSpPr>
          <p:cNvPr id="13322" name="Text Box 10"/>
          <p:cNvSpPr txBox="1"/>
          <p:nvPr>
            <p:custDataLst>
              <p:tags r:id="rId9"/>
            </p:custDataLst>
          </p:nvPr>
        </p:nvSpPr>
        <p:spPr>
          <a:xfrm>
            <a:off x="6248400" y="3886200"/>
            <a:ext cx="523875" cy="36576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lvl="0" eaLnBrk="1" hangingPunct="1"/>
            <a:r>
              <a:rPr lang="en-US" altLang="zh-CN" b="1">
                <a:latin typeface="Arial" panose="020B0604020202020204" pitchFamily="34" charset="0"/>
                <a:ea typeface="宋体" pitchFamily="2" charset="-122"/>
              </a:rPr>
              <a:t>F</a:t>
            </a:r>
            <a:r>
              <a:rPr lang="en-US" altLang="zh-CN" b="1" baseline="-25000">
                <a:latin typeface="Arial" panose="020B0604020202020204" pitchFamily="34" charset="0"/>
                <a:ea typeface="宋体" pitchFamily="2" charset="-122"/>
              </a:rPr>
              <a:t>1</a:t>
            </a:r>
          </a:p>
        </p:txBody>
      </p:sp>
      <p:sp>
        <p:nvSpPr>
          <p:cNvPr id="13323" name="Line 11"/>
          <p:cNvSpPr/>
          <p:nvPr>
            <p:custDataLst>
              <p:tags r:id="rId10"/>
            </p:custDataLst>
          </p:nvPr>
        </p:nvSpPr>
        <p:spPr>
          <a:xfrm>
            <a:off x="3689350" y="3957638"/>
            <a:ext cx="2665413" cy="0"/>
          </a:xfrm>
          <a:prstGeom prst="line">
            <a:avLst/>
          </a:prstGeom>
          <a:ln w="44450" cap="flat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24" name="Line 12"/>
          <p:cNvSpPr/>
          <p:nvPr>
            <p:custDataLst>
              <p:tags r:id="rId11"/>
            </p:custDataLst>
          </p:nvPr>
        </p:nvSpPr>
        <p:spPr>
          <a:xfrm flipV="1">
            <a:off x="3675063" y="3021013"/>
            <a:ext cx="936625" cy="936625"/>
          </a:xfrm>
          <a:prstGeom prst="line">
            <a:avLst/>
          </a:prstGeom>
          <a:ln w="44450" cap="flat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9" name="Text Box 13"/>
          <p:cNvSpPr txBox="1"/>
          <p:nvPr>
            <p:custDataLst>
              <p:tags r:id="rId12"/>
            </p:custDataLst>
          </p:nvPr>
        </p:nvSpPr>
        <p:spPr>
          <a:xfrm>
            <a:off x="3386138" y="3813175"/>
            <a:ext cx="523875" cy="36576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lvl="0" eaLnBrk="1" hangingPunct="1"/>
            <a:r>
              <a:rPr lang="en-US" altLang="zh-CN" b="1">
                <a:latin typeface="Arial" panose="020B0604020202020204" pitchFamily="34" charset="0"/>
                <a:ea typeface="宋体" pitchFamily="2" charset="-122"/>
              </a:rPr>
              <a:t>O</a:t>
            </a:r>
            <a:endParaRPr lang="en-US" altLang="zh-CN" b="1" baseline="-25000"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9230" name="Text Box 14"/>
          <p:cNvSpPr txBox="1"/>
          <p:nvPr>
            <p:custDataLst>
              <p:tags r:id="rId13"/>
            </p:custDataLst>
          </p:nvPr>
        </p:nvSpPr>
        <p:spPr>
          <a:xfrm>
            <a:off x="4422775" y="3630613"/>
            <a:ext cx="431800" cy="33528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en-US" altLang="zh-CN" sz="1600" b="1">
                <a:latin typeface="Arial" panose="020B0604020202020204" pitchFamily="34" charset="0"/>
                <a:ea typeface="宋体" pitchFamily="2" charset="-122"/>
              </a:rPr>
              <a:t>α</a:t>
            </a:r>
          </a:p>
        </p:txBody>
      </p:sp>
      <p:sp>
        <p:nvSpPr>
          <p:cNvPr id="9231" name="Text Box 15"/>
          <p:cNvSpPr txBox="1"/>
          <p:nvPr>
            <p:custDataLst>
              <p:tags r:id="rId14"/>
            </p:custDataLst>
          </p:nvPr>
        </p:nvSpPr>
        <p:spPr>
          <a:xfrm>
            <a:off x="4135438" y="3414713"/>
            <a:ext cx="431800" cy="33528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en-US" altLang="zh-CN" sz="1600" b="1">
                <a:latin typeface="Arial" panose="020B0604020202020204" pitchFamily="34" charset="0"/>
                <a:ea typeface="宋体" pitchFamily="2" charset="-122"/>
              </a:rPr>
              <a:t>β</a:t>
            </a:r>
          </a:p>
        </p:txBody>
      </p:sp>
      <p:sp>
        <p:nvSpPr>
          <p:cNvPr id="13328" name="Text Box 16"/>
          <p:cNvSpPr txBox="1"/>
          <p:nvPr>
            <p:custDataLst>
              <p:tags r:id="rId15"/>
            </p:custDataLst>
          </p:nvPr>
        </p:nvSpPr>
        <p:spPr>
          <a:xfrm>
            <a:off x="4489450" y="5006975"/>
            <a:ext cx="3024187" cy="6400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zh-CN" altLang="en-US" sz="3600" b="1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</a:rPr>
              <a:t>有唯一确定解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1D9EB9E-D948-A02B-5687-BBEA668DCC4C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-272244" y="360726"/>
            <a:ext cx="37469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8D5E5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三、力的分解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1" grpId="0"/>
      <p:bldP spid="13322" grpId="0"/>
      <p:bldP spid="133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/>
          <p:nvPr>
            <p:custDataLst>
              <p:tags r:id="rId1"/>
            </p:custDataLst>
          </p:nvPr>
        </p:nvSpPr>
        <p:spPr>
          <a:xfrm>
            <a:off x="2572430" y="2960687"/>
            <a:ext cx="1585912" cy="936625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 eaLnBrk="1" hangingPunct="1"/>
            <a:r>
              <a:rPr lang="zh-CN" altLang="en-US" sz="4000" b="1">
                <a:latin typeface="Arial" panose="020B0604020202020204" pitchFamily="34" charset="0"/>
                <a:ea typeface="宋体" pitchFamily="2" charset="-122"/>
              </a:rPr>
              <a:t>分力</a:t>
            </a:r>
          </a:p>
        </p:txBody>
      </p:sp>
      <p:sp>
        <p:nvSpPr>
          <p:cNvPr id="8195" name="Rectangle 3"/>
          <p:cNvSpPr/>
          <p:nvPr>
            <p:custDataLst>
              <p:tags r:id="rId2"/>
            </p:custDataLst>
          </p:nvPr>
        </p:nvSpPr>
        <p:spPr>
          <a:xfrm>
            <a:off x="7892142" y="2960687"/>
            <a:ext cx="1512888" cy="936625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 eaLnBrk="1" hangingPunct="1"/>
            <a:r>
              <a:rPr lang="zh-CN" altLang="en-US" sz="4000" b="1">
                <a:latin typeface="Arial" panose="020B0604020202020204" pitchFamily="34" charset="0"/>
                <a:ea typeface="宋体" pitchFamily="2" charset="-122"/>
              </a:rPr>
              <a:t>合力</a:t>
            </a:r>
          </a:p>
        </p:txBody>
      </p:sp>
      <p:sp>
        <p:nvSpPr>
          <p:cNvPr id="8196" name="Line 4"/>
          <p:cNvSpPr/>
          <p:nvPr>
            <p:custDataLst>
              <p:tags r:id="rId3"/>
            </p:custDataLst>
          </p:nvPr>
        </p:nvSpPr>
        <p:spPr>
          <a:xfrm>
            <a:off x="4609192" y="3176587"/>
            <a:ext cx="2808288" cy="0"/>
          </a:xfrm>
          <a:prstGeom prst="line">
            <a:avLst/>
          </a:prstGeom>
          <a:ln w="76200" cap="flat" cmpd="sng">
            <a:solidFill>
              <a:srgbClr val="2104FA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7" name="Line 5"/>
          <p:cNvSpPr/>
          <p:nvPr>
            <p:custDataLst>
              <p:tags r:id="rId4"/>
            </p:custDataLst>
          </p:nvPr>
        </p:nvSpPr>
        <p:spPr>
          <a:xfrm flipH="1">
            <a:off x="4609192" y="3609975"/>
            <a:ext cx="2808288" cy="0"/>
          </a:xfrm>
          <a:prstGeom prst="line">
            <a:avLst/>
          </a:prstGeom>
          <a:ln w="762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8" name="Text Box 6"/>
          <p:cNvSpPr txBox="1"/>
          <p:nvPr>
            <p:custDataLst>
              <p:tags r:id="rId5"/>
            </p:custDataLst>
          </p:nvPr>
        </p:nvSpPr>
        <p:spPr>
          <a:xfrm>
            <a:off x="5034642" y="2449512"/>
            <a:ext cx="1981200" cy="57912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2104FA"/>
                </a:solidFill>
                <a:latin typeface="Arial" panose="020B0604020202020204" pitchFamily="34" charset="0"/>
                <a:ea typeface="宋体" pitchFamily="2" charset="-122"/>
              </a:rPr>
              <a:t>力的合成</a:t>
            </a:r>
          </a:p>
        </p:txBody>
      </p:sp>
      <p:sp>
        <p:nvSpPr>
          <p:cNvPr id="8199" name="Text Box 7"/>
          <p:cNvSpPr txBox="1"/>
          <p:nvPr>
            <p:custDataLst>
              <p:tags r:id="rId6"/>
            </p:custDataLst>
          </p:nvPr>
        </p:nvSpPr>
        <p:spPr>
          <a:xfrm>
            <a:off x="5072742" y="3706812"/>
            <a:ext cx="2016125" cy="57912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</a:rPr>
              <a:t>力的分解</a:t>
            </a:r>
          </a:p>
        </p:txBody>
      </p:sp>
      <p:sp>
        <p:nvSpPr>
          <p:cNvPr id="3" name="Rectangle 2"/>
          <p:cNvSpPr/>
          <p:nvPr>
            <p:custDataLst>
              <p:tags r:id="rId7"/>
            </p:custDataLst>
          </p:nvPr>
        </p:nvSpPr>
        <p:spPr>
          <a:xfrm>
            <a:off x="2191747" y="1233487"/>
            <a:ext cx="2308225" cy="1101090"/>
          </a:xfrm>
          <a:prstGeom prst="rect">
            <a:avLst/>
          </a:prstGeom>
          <a:solidFill>
            <a:schemeClr val="bg1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 eaLnBrk="1" hangingPunct="1"/>
            <a:r>
              <a:rPr lang="zh-CN" altLang="en-US" sz="4000" b="1">
                <a:solidFill>
                  <a:srgbClr val="7030A0"/>
                </a:solidFill>
                <a:latin typeface="Arial" panose="020B0604020202020204" pitchFamily="34" charset="0"/>
                <a:ea typeface="宋体" pitchFamily="2" charset="-122"/>
              </a:rPr>
              <a:t>（若干力）</a:t>
            </a:r>
          </a:p>
        </p:txBody>
      </p:sp>
      <p:sp>
        <p:nvSpPr>
          <p:cNvPr id="5" name="Rectangle 2"/>
          <p:cNvSpPr/>
          <p:nvPr>
            <p:custDataLst>
              <p:tags r:id="rId8"/>
            </p:custDataLst>
          </p:nvPr>
        </p:nvSpPr>
        <p:spPr>
          <a:xfrm>
            <a:off x="7500347" y="1195387"/>
            <a:ext cx="2308225" cy="1101090"/>
          </a:xfrm>
          <a:prstGeom prst="rect">
            <a:avLst/>
          </a:prstGeom>
          <a:solidFill>
            <a:schemeClr val="bg1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 eaLnBrk="1" hangingPunct="1"/>
            <a:r>
              <a:rPr lang="zh-CN" altLang="en-US" sz="4000" b="1">
                <a:solidFill>
                  <a:srgbClr val="7030A0"/>
                </a:solidFill>
                <a:latin typeface="Arial" panose="020B0604020202020204" pitchFamily="34" charset="0"/>
                <a:ea typeface="宋体" pitchFamily="2" charset="-122"/>
              </a:rPr>
              <a:t>（某一力）</a:t>
            </a: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1363797" y="5624513"/>
            <a:ext cx="9674860" cy="640080"/>
          </a:xfrm>
          <a:prstGeom prst="rect">
            <a:avLst/>
          </a:prstGeom>
          <a:solidFill>
            <a:schemeClr val="accent1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0000FF"/>
                </a:solidFill>
                <a:latin typeface="黑体"/>
                <a:ea typeface="黑体"/>
              </a:rPr>
              <a:t>遵循基本法则：平行四边形定则、三角形定则。</a:t>
            </a:r>
          </a:p>
        </p:txBody>
      </p:sp>
      <p:sp>
        <p:nvSpPr>
          <p:cNvPr id="9" name="Text Box 6"/>
          <p:cNvSpPr txBox="1"/>
          <p:nvPr>
            <p:custDataLst>
              <p:tags r:id="rId10"/>
            </p:custDataLst>
          </p:nvPr>
        </p:nvSpPr>
        <p:spPr>
          <a:xfrm>
            <a:off x="4603477" y="1090612"/>
            <a:ext cx="2792730" cy="57912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7030A0"/>
                </a:solidFill>
                <a:latin typeface="Arial" panose="020B0604020202020204" pitchFamily="34" charset="0"/>
                <a:ea typeface="宋体" pitchFamily="2" charset="-122"/>
              </a:rPr>
              <a:t>作用效果相同</a:t>
            </a:r>
          </a:p>
        </p:txBody>
      </p:sp>
      <p:sp>
        <p:nvSpPr>
          <p:cNvPr id="10" name="下箭头 9"/>
          <p:cNvSpPr/>
          <p:nvPr>
            <p:custDataLst>
              <p:tags r:id="rId11"/>
            </p:custDataLst>
          </p:nvPr>
        </p:nvSpPr>
        <p:spPr>
          <a:xfrm>
            <a:off x="3218542" y="2183447"/>
            <a:ext cx="266065" cy="672465"/>
          </a:xfrm>
          <a:prstGeom prst="down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左右箭头 11"/>
          <p:cNvSpPr/>
          <p:nvPr>
            <p:custDataLst>
              <p:tags r:id="rId12"/>
            </p:custDataLst>
          </p:nvPr>
        </p:nvSpPr>
        <p:spPr>
          <a:xfrm>
            <a:off x="4539342" y="1573212"/>
            <a:ext cx="2933700" cy="304800"/>
          </a:xfrm>
          <a:prstGeom prst="leftRight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下箭头 12"/>
          <p:cNvSpPr/>
          <p:nvPr>
            <p:custDataLst>
              <p:tags r:id="rId13"/>
            </p:custDataLst>
          </p:nvPr>
        </p:nvSpPr>
        <p:spPr>
          <a:xfrm>
            <a:off x="8552542" y="2183447"/>
            <a:ext cx="266065" cy="672465"/>
          </a:xfrm>
          <a:prstGeom prst="down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4501242" y="4443412"/>
            <a:ext cx="3086100" cy="70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rgbClr val="002060"/>
                </a:solidFill>
              </a:rPr>
              <a:t>（互逆运算）</a:t>
            </a: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4907642" y="1890712"/>
            <a:ext cx="2273300" cy="51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7030A0"/>
                </a:solidFill>
              </a:rPr>
              <a:t>等效替代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49DE6C4-AC3C-8C72-640E-DE52EE1334C4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-272244" y="360726"/>
            <a:ext cx="37469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8D5E5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三、力的分解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nimBg="1"/>
      <p:bldP spid="8195" grpId="0" animBg="1"/>
      <p:bldP spid="8198" grpId="0"/>
      <p:bldP spid="8199" grpId="0"/>
      <p:bldP spid="3" grpId="0" animBg="1"/>
      <p:bldP spid="5" grpId="0" animBg="1"/>
      <p:bldP spid="6" grpId="0" animBg="1"/>
      <p:bldP spid="9" grpId="0"/>
      <p:bldP spid="10" grpId="0" animBg="1"/>
      <p:bldP spid="12" grpId="0" animBg="1"/>
      <p:bldP spid="13" grpId="0" animBg="1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D008AE9-9B6C-B54F-6B3E-9AD39A39932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91321" y="1000340"/>
            <a:ext cx="11409359" cy="553869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99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1.</a:t>
            </a:r>
            <a:r>
              <a:rPr lang="zh-CN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定义：求一个力的</a:t>
            </a:r>
            <a:r>
              <a:rPr lang="en-US" altLang="zh-CN" sz="2599" u="sng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          </a:t>
            </a:r>
            <a:r>
              <a:rPr lang="zh-CN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的过程</a:t>
            </a:r>
            <a:r>
              <a:rPr lang="en-US" altLang="zh-CN" sz="2599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.</a:t>
            </a:r>
            <a:endParaRPr lang="zh-CN" altLang="zh-CN" sz="2599" kern="100">
              <a:latin typeface="宋体" panose="02010600030101010101" pitchFamily="2" charset="-122"/>
              <a:ea typeface="宋体" pitchFamily="2" charset="-122"/>
              <a:cs typeface="Courier New" pitchFamily="49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力的分解是</a:t>
            </a:r>
            <a:r>
              <a:rPr lang="en-US" altLang="zh-CN" sz="2599" u="sng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                  </a:t>
            </a:r>
            <a:r>
              <a:rPr lang="zh-CN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的逆运算</a:t>
            </a:r>
            <a:r>
              <a:rPr lang="en-US" altLang="zh-CN" sz="2599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.</a:t>
            </a:r>
            <a:endParaRPr lang="zh-CN" altLang="zh-CN" sz="2599" kern="100">
              <a:latin typeface="宋体" panose="02010600030101010101" pitchFamily="2" charset="-122"/>
              <a:ea typeface="宋体" pitchFamily="2" charset="-122"/>
              <a:cs typeface="Courier New" pitchFamily="49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99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2.</a:t>
            </a:r>
            <a:r>
              <a:rPr lang="zh-CN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遵循的原则</a:t>
            </a:r>
            <a:endParaRPr lang="zh-CN" altLang="zh-CN" sz="2599" kern="100">
              <a:latin typeface="宋体" panose="02010600030101010101" pitchFamily="2" charset="-122"/>
              <a:ea typeface="宋体" pitchFamily="2" charset="-122"/>
              <a:cs typeface="Courier New" pitchFamily="49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99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(1)</a:t>
            </a:r>
            <a:r>
              <a:rPr lang="en-US" altLang="zh-CN" sz="2599" u="sng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                      </a:t>
            </a:r>
            <a:r>
              <a:rPr lang="zh-CN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定则</a:t>
            </a:r>
            <a:r>
              <a:rPr lang="en-US" altLang="zh-CN" sz="2599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.(2)</a:t>
            </a:r>
            <a:r>
              <a:rPr lang="zh-CN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三角形定则</a:t>
            </a:r>
            <a:r>
              <a:rPr lang="en-US" altLang="zh-CN" sz="2599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.</a:t>
            </a:r>
            <a:endParaRPr lang="zh-CN" altLang="zh-CN" sz="2599" kern="100">
              <a:latin typeface="宋体" panose="02010600030101010101" pitchFamily="2" charset="-122"/>
              <a:ea typeface="宋体" pitchFamily="2" charset="-122"/>
              <a:cs typeface="Courier New" pitchFamily="49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99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3.</a:t>
            </a:r>
            <a:r>
              <a:rPr lang="zh-CN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分解方法</a:t>
            </a:r>
            <a:endParaRPr lang="zh-CN" altLang="zh-CN" sz="2599" kern="100">
              <a:latin typeface="宋体" panose="02010600030101010101" pitchFamily="2" charset="-122"/>
              <a:ea typeface="宋体" pitchFamily="2" charset="-122"/>
              <a:cs typeface="Courier New" pitchFamily="49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99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(1)</a:t>
            </a:r>
            <a:r>
              <a:rPr lang="zh-CN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效果分解法</a:t>
            </a:r>
            <a:r>
              <a:rPr lang="en-US" altLang="zh-CN" sz="2599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.</a:t>
            </a:r>
            <a:r>
              <a:rPr lang="zh-CN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如图</a:t>
            </a:r>
            <a:r>
              <a:rPr lang="en-US" altLang="zh-CN" sz="2599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3</a:t>
            </a:r>
            <a:r>
              <a:rPr lang="zh-CN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所示，物体重力</a:t>
            </a:r>
            <a:r>
              <a:rPr lang="en-US" altLang="zh-CN" sz="2599" i="1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G</a:t>
            </a:r>
            <a:r>
              <a:rPr lang="zh-CN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的两个作用效果，一是使物体沿斜面下滑，二是使物体压紧斜面，这两个分力与合力间遵循平行四边形定则，其大小分别为</a:t>
            </a:r>
            <a:r>
              <a:rPr lang="en-US" altLang="zh-CN" sz="2599" i="1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G</a:t>
            </a:r>
            <a:r>
              <a:rPr lang="en-US" altLang="zh-CN" sz="2599" kern="100" baseline="-250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1</a:t>
            </a:r>
            <a:r>
              <a:rPr lang="zh-CN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＝</a:t>
            </a:r>
            <a:r>
              <a:rPr lang="en-US" altLang="zh-CN" sz="2599" i="1" kern="100" err="1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G</a:t>
            </a:r>
            <a:r>
              <a:rPr lang="en-US" altLang="zh-CN" sz="2599" kern="100" err="1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sin </a:t>
            </a:r>
            <a:r>
              <a:rPr lang="en-US" altLang="zh-CN" sz="2599" i="1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θ</a:t>
            </a:r>
            <a:r>
              <a:rPr lang="zh-CN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，</a:t>
            </a:r>
            <a:r>
              <a:rPr lang="en-US" altLang="zh-CN" sz="2599" i="1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G</a:t>
            </a:r>
            <a:r>
              <a:rPr lang="en-US" altLang="zh-CN" sz="2599" kern="100" baseline="-250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2</a:t>
            </a:r>
            <a:r>
              <a:rPr lang="zh-CN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＝</a:t>
            </a:r>
            <a:r>
              <a:rPr lang="en-US" altLang="zh-CN" sz="2599" i="1" kern="100" err="1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G</a:t>
            </a:r>
            <a:r>
              <a:rPr lang="en-US" altLang="zh-CN" sz="2599" kern="100" err="1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cos </a:t>
            </a:r>
            <a:r>
              <a:rPr lang="en-US" altLang="zh-CN" sz="2599" i="1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θ</a:t>
            </a:r>
            <a:r>
              <a:rPr lang="en-US" altLang="zh-CN" sz="2599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.</a:t>
            </a: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99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(2)</a:t>
            </a:r>
            <a:r>
              <a:rPr lang="zh-CN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正交分解法</a:t>
            </a:r>
            <a:r>
              <a:rPr lang="en-US" altLang="zh-CN" sz="2599" kern="100">
                <a:latin typeface="Times New Roman" pitchFamily="18" charset="0"/>
                <a:ea typeface="微软雅黑" panose="020B0503020204020204" pitchFamily="34" charset="-122"/>
                <a:cs typeface="Courier New" pitchFamily="49" charset="0"/>
              </a:rPr>
              <a:t>.</a:t>
            </a:r>
            <a:endParaRPr lang="zh-CN" altLang="zh-CN" sz="2599" kern="100">
              <a:latin typeface="宋体" panose="02010600030101010101" pitchFamily="2" charset="-122"/>
              <a:ea typeface="宋体" pitchFamily="2" charset="-122"/>
              <a:cs typeface="Courier New" pitchFamily="49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3ECFC4B-4D04-7178-ADCD-C1678529CB74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87126" y="1031921"/>
            <a:ext cx="3479522" cy="2699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21542AC-1096-DE77-332B-0EFBAD75A93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384564" y="3620056"/>
            <a:ext cx="684645" cy="492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599" b="1" kern="1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图</a:t>
            </a:r>
            <a:r>
              <a:rPr lang="en-US" altLang="zh-CN" sz="2599" b="1" kern="100">
                <a:latin typeface="Times New Roman" pitchFamily="18" charset="0"/>
                <a:ea typeface="楷体_GB2312" pitchFamily="49" charset="-122"/>
              </a:rPr>
              <a:t>3</a:t>
            </a:r>
            <a:endParaRPr lang="zh-CN" altLang="en-US" sz="2599" b="1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4356C2-036A-896A-E7F6-BDB99743C96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369853" y="1067695"/>
            <a:ext cx="851318" cy="492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599" kern="100">
                <a:solidFill>
                  <a:srgbClr val="C00000"/>
                </a:solidFill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分力</a:t>
            </a:r>
            <a:endParaRPr lang="zh-CN" altLang="en-US" sz="2599" kern="100">
              <a:solidFill>
                <a:srgbClr val="C00000"/>
              </a:solidFill>
              <a:latin typeface="Times New Roman" pitchFamily="18" charset="0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28C007-2EBE-2B94-1375-21EFE9CF77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112099" y="1674282"/>
            <a:ext cx="1518013" cy="492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599" kern="100">
                <a:solidFill>
                  <a:srgbClr val="C00000"/>
                </a:solidFill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力的合成</a:t>
            </a:r>
            <a:endParaRPr lang="zh-CN" altLang="en-US" sz="2599" kern="100">
              <a:solidFill>
                <a:srgbClr val="C00000"/>
              </a:solidFill>
              <a:latin typeface="Times New Roman" pitchFamily="18" charset="0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38E0D5-66C0-CC9F-6712-73BBEBF6984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08469" y="2840552"/>
            <a:ext cx="1851360" cy="492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599" kern="100">
                <a:solidFill>
                  <a:srgbClr val="C00000"/>
                </a:solidFill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平行四边形</a:t>
            </a:r>
            <a:endParaRPr lang="zh-CN" altLang="en-US" sz="2599" kern="100">
              <a:solidFill>
                <a:srgbClr val="C00000"/>
              </a:solidFill>
              <a:latin typeface="Times New Roman" pitchFamily="18" charset="0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60229FB-095B-FE88-4C9B-98560D2496A8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-272244" y="360726"/>
            <a:ext cx="37469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8D5E5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三、力的分解</a:t>
            </a:r>
          </a:p>
        </p:txBody>
      </p:sp>
    </p:spTree>
    <p:extLst>
      <p:ext uri="{BB962C8B-B14F-4D97-AF65-F5344CB8AC3E}">
        <p14:creationId xmlns:p14="http://schemas.microsoft.com/office/powerpoint/2010/main" val="186118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直角三角形 20484">
            <a:extLst>
              <a:ext uri="{FF2B5EF4-FFF2-40B4-BE49-F238E27FC236}">
                <a16:creationId xmlns:a16="http://schemas.microsoft.com/office/drawing/2014/main" id="{73CEEF65-A5DE-EF90-E330-89F5EC2B4A6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16725" y="981075"/>
            <a:ext cx="3505200" cy="21336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26" name="矩形 20485">
            <a:extLst>
              <a:ext uri="{FF2B5EF4-FFF2-40B4-BE49-F238E27FC236}">
                <a16:creationId xmlns:a16="http://schemas.microsoft.com/office/drawing/2014/main" id="{6D9EAC24-5A66-7A35-FBFB-331F6ACAA8C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888713" flipV="1">
            <a:off x="8375650" y="1425576"/>
            <a:ext cx="914400" cy="720725"/>
          </a:xfrm>
          <a:prstGeom prst="rect">
            <a:avLst/>
          </a:prstGeom>
          <a:solidFill>
            <a:srgbClr val="339933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0727" name="组合 20486">
            <a:extLst>
              <a:ext uri="{FF2B5EF4-FFF2-40B4-BE49-F238E27FC236}">
                <a16:creationId xmlns:a16="http://schemas.microsoft.com/office/drawing/2014/main" id="{A659C115-5E32-1EC4-60BA-24AAD0AA8DFC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8543926" y="1700214"/>
            <a:ext cx="728663" cy="2808287"/>
            <a:chOff x="0" y="0"/>
            <a:chExt cx="459" cy="1769"/>
          </a:xfrm>
        </p:grpSpPr>
        <p:sp>
          <p:nvSpPr>
            <p:cNvPr id="30747" name="直接连接符 20487">
              <a:extLst>
                <a:ext uri="{FF2B5EF4-FFF2-40B4-BE49-F238E27FC236}">
                  <a16:creationId xmlns:a16="http://schemas.microsoft.com/office/drawing/2014/main" id="{9CEAF29E-8C0E-9D81-DA6C-479E62496189}"/>
                </a:ext>
              </a:extLst>
            </p:cNvPr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153" y="0"/>
              <a:ext cx="0" cy="143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8" name="文本框 20488">
              <a:extLst>
                <a:ext uri="{FF2B5EF4-FFF2-40B4-BE49-F238E27FC236}">
                  <a16:creationId xmlns:a16="http://schemas.microsoft.com/office/drawing/2014/main" id="{25EBC6FD-ED1D-42C9-9544-4EE66C95830C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0" y="1404"/>
              <a:ext cx="45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>
                  <a:latin typeface="Times New Roman" pitchFamily="18" charset="0"/>
                </a:rPr>
                <a:t>G</a:t>
              </a:r>
            </a:p>
          </p:txBody>
        </p:sp>
      </p:grpSp>
      <p:grpSp>
        <p:nvGrpSpPr>
          <p:cNvPr id="30728" name="组合 20489">
            <a:extLst>
              <a:ext uri="{FF2B5EF4-FFF2-40B4-BE49-F238E27FC236}">
                <a16:creationId xmlns:a16="http://schemas.microsoft.com/office/drawing/2014/main" id="{82016132-BCC9-E68E-ACA5-B1CDE958B0C6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7302501" y="1676400"/>
            <a:ext cx="3114675" cy="2400300"/>
            <a:chOff x="0" y="0"/>
            <a:chExt cx="1962" cy="1512"/>
          </a:xfrm>
        </p:grpSpPr>
        <p:sp>
          <p:nvSpPr>
            <p:cNvPr id="30745" name="直接连接符 20490">
              <a:extLst>
                <a:ext uri="{FF2B5EF4-FFF2-40B4-BE49-F238E27FC236}">
                  <a16:creationId xmlns:a16="http://schemas.microsoft.com/office/drawing/2014/main" id="{5E33F718-62B8-9D64-D525-C384BB8116C9}"/>
                </a:ext>
              </a:extLst>
            </p:cNvPr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0" y="9"/>
              <a:ext cx="909" cy="15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6" name="直接连接符 20491">
              <a:extLst>
                <a:ext uri="{FF2B5EF4-FFF2-40B4-BE49-F238E27FC236}">
                  <a16:creationId xmlns:a16="http://schemas.microsoft.com/office/drawing/2014/main" id="{5D35EBDE-2910-6568-8912-9711C69B0E59}"/>
                </a:ext>
              </a:extLst>
            </p:cNvPr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927" y="0"/>
              <a:ext cx="1035" cy="6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729" name="组合 20492">
            <a:extLst>
              <a:ext uri="{FF2B5EF4-FFF2-40B4-BE49-F238E27FC236}">
                <a16:creationId xmlns:a16="http://schemas.microsoft.com/office/drawing/2014/main" id="{83DF5189-3CFC-825D-14F3-13CA2A28279F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7810500" y="2276475"/>
            <a:ext cx="1957388" cy="1671638"/>
            <a:chOff x="0" y="0"/>
            <a:chExt cx="1233" cy="1053"/>
          </a:xfrm>
        </p:grpSpPr>
        <p:sp>
          <p:nvSpPr>
            <p:cNvPr id="30743" name="直接连接符 20493">
              <a:extLst>
                <a:ext uri="{FF2B5EF4-FFF2-40B4-BE49-F238E27FC236}">
                  <a16:creationId xmlns:a16="http://schemas.microsoft.com/office/drawing/2014/main" id="{69F36014-6F70-DD5C-3393-75706141BDCD}"/>
                </a:ext>
              </a:extLst>
            </p:cNvPr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H="1" flipV="1">
              <a:off x="0" y="675"/>
              <a:ext cx="603" cy="3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4" name="直接连接符 20494">
              <a:extLst>
                <a:ext uri="{FF2B5EF4-FFF2-40B4-BE49-F238E27FC236}">
                  <a16:creationId xmlns:a16="http://schemas.microsoft.com/office/drawing/2014/main" id="{3191D801-3ED9-EE3D-7D35-AC0E028A39DA}"/>
                </a:ext>
              </a:extLst>
            </p:cNvPr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V="1">
              <a:off x="612" y="0"/>
              <a:ext cx="621" cy="10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730" name="组合 20495">
            <a:extLst>
              <a:ext uri="{FF2B5EF4-FFF2-40B4-BE49-F238E27FC236}">
                <a16:creationId xmlns:a16="http://schemas.microsoft.com/office/drawing/2014/main" id="{0917E3CD-D45A-CC36-9135-3D71FCFFB0C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7535863" y="1668463"/>
            <a:ext cx="2957512" cy="2265362"/>
            <a:chOff x="0" y="0"/>
            <a:chExt cx="1863" cy="1427"/>
          </a:xfrm>
        </p:grpSpPr>
        <p:sp>
          <p:nvSpPr>
            <p:cNvPr id="30739" name="直接连接符 20496">
              <a:extLst>
                <a:ext uri="{FF2B5EF4-FFF2-40B4-BE49-F238E27FC236}">
                  <a16:creationId xmlns:a16="http://schemas.microsoft.com/office/drawing/2014/main" id="{35FCD344-3396-9267-76D7-EFA89122F810}"/>
                </a:ext>
              </a:extLst>
            </p:cNvPr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flipH="1">
              <a:off x="135" y="0"/>
              <a:ext cx="630" cy="106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0" name="直接连接符 20497">
              <a:extLst>
                <a:ext uri="{FF2B5EF4-FFF2-40B4-BE49-F238E27FC236}">
                  <a16:creationId xmlns:a16="http://schemas.microsoft.com/office/drawing/2014/main" id="{2B5CA7C4-8814-9CA3-BD8A-5BDBC06E3F74}"/>
                </a:ext>
              </a:extLst>
            </p:cNvPr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774" y="0"/>
              <a:ext cx="612" cy="387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1" name="文本框 20498">
              <a:extLst>
                <a:ext uri="{FF2B5EF4-FFF2-40B4-BE49-F238E27FC236}">
                  <a16:creationId xmlns:a16="http://schemas.microsoft.com/office/drawing/2014/main" id="{2A63BCEB-4D3F-F919-807A-DCEDE8A77D8F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0" y="1062"/>
              <a:ext cx="4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>
                  <a:latin typeface="Times New Roman" pitchFamily="18" charset="0"/>
                </a:rPr>
                <a:t>G</a:t>
              </a:r>
              <a:r>
                <a:rPr lang="en-US" altLang="zh-CN" sz="3200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742" name="文本框 20499">
              <a:extLst>
                <a:ext uri="{FF2B5EF4-FFF2-40B4-BE49-F238E27FC236}">
                  <a16:creationId xmlns:a16="http://schemas.microsoft.com/office/drawing/2014/main" id="{9937718F-AC8A-ECB7-CF92-6EAE3A7A2CE9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332" y="81"/>
              <a:ext cx="53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>
                  <a:latin typeface="Times New Roman" pitchFamily="18" charset="0"/>
                </a:rPr>
                <a:t>G</a:t>
              </a:r>
              <a:r>
                <a:rPr lang="en-US" altLang="zh-CN" sz="3200" baseline="-25000">
                  <a:latin typeface="Times New Roman" pitchFamily="18" charset="0"/>
                </a:rPr>
                <a:t>1</a:t>
              </a:r>
            </a:p>
          </p:txBody>
        </p:sp>
      </p:grpSp>
      <p:sp>
        <p:nvSpPr>
          <p:cNvPr id="30731" name="文本框 20500">
            <a:extLst>
              <a:ext uri="{FF2B5EF4-FFF2-40B4-BE49-F238E27FC236}">
                <a16:creationId xmlns:a16="http://schemas.microsoft.com/office/drawing/2014/main" id="{7290185A-777E-4B88-57E9-3879FE5A7D56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9572626" y="2705100"/>
            <a:ext cx="771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>
                <a:latin typeface="Times New Roman" pitchFamily="18" charset="0"/>
              </a:rPr>
              <a:t>θ</a:t>
            </a:r>
          </a:p>
        </p:txBody>
      </p:sp>
      <p:sp>
        <p:nvSpPr>
          <p:cNvPr id="30733" name="文本框 20502">
            <a:extLst>
              <a:ext uri="{FF2B5EF4-FFF2-40B4-BE49-F238E27FC236}">
                <a16:creationId xmlns:a16="http://schemas.microsoft.com/office/drawing/2014/main" id="{5E6D44EC-C85E-FA80-10E2-D9FFF237037E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55953" y="747554"/>
            <a:ext cx="4685898" cy="492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lang="en-US" altLang="zh-CN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1</a:t>
            </a:r>
            <a:r>
              <a:rPr lang="zh-CN" altLang="en-US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）按实际作用效果分解力：</a:t>
            </a:r>
          </a:p>
        </p:txBody>
      </p:sp>
      <p:sp>
        <p:nvSpPr>
          <p:cNvPr id="30734" name="文本框 20503">
            <a:extLst>
              <a:ext uri="{FF2B5EF4-FFF2-40B4-BE49-F238E27FC236}">
                <a16:creationId xmlns:a16="http://schemas.microsoft.com/office/drawing/2014/main" id="{C82C00B6-AF51-2844-7F22-0B4FEB92AAEC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-391317" y="1302385"/>
            <a:ext cx="5830888" cy="492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599" kern="10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分解的步骤：</a:t>
            </a:r>
          </a:p>
        </p:txBody>
      </p:sp>
      <p:sp>
        <p:nvSpPr>
          <p:cNvPr id="20505" name="矩形 20504">
            <a:extLst>
              <a:ext uri="{FF2B5EF4-FFF2-40B4-BE49-F238E27FC236}">
                <a16:creationId xmlns:a16="http://schemas.microsoft.com/office/drawing/2014/main" id="{4186A77D-DD0C-83CC-8F76-92DBBA053106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344613" y="2036668"/>
            <a:ext cx="5218113" cy="492314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lang="zh-CN" altLang="en-US" sz="2599" kern="100" noProof="1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lang="en-US" altLang="zh-CN" sz="2599" kern="100" noProof="1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1</a:t>
            </a:r>
            <a:r>
              <a:rPr lang="zh-CN" altLang="en-US" sz="2599" kern="100" noProof="1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）分析力的作用效果</a:t>
            </a:r>
          </a:p>
        </p:txBody>
      </p:sp>
      <p:sp>
        <p:nvSpPr>
          <p:cNvPr id="20506" name="矩形 20505">
            <a:extLst>
              <a:ext uri="{FF2B5EF4-FFF2-40B4-BE49-F238E27FC236}">
                <a16:creationId xmlns:a16="http://schemas.microsoft.com/office/drawing/2014/main" id="{512BD0A0-B17D-0EBD-D82B-EDC204AD9EB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120775" y="2867698"/>
            <a:ext cx="5472113" cy="892296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algn="ctr">
              <a:buClr>
                <a:srgbClr val="000000"/>
              </a:buClr>
              <a:defRPr/>
            </a:pPr>
            <a:r>
              <a:rPr lang="zh-CN" altLang="en-US" sz="2599" kern="100" noProof="1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lang="en-US" altLang="zh-CN" sz="2599" kern="100" noProof="1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2</a:t>
            </a:r>
            <a:r>
              <a:rPr lang="zh-CN" altLang="en-US" sz="2599" kern="100" noProof="1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）据力的作用效果定分力的方向</a:t>
            </a:r>
            <a:r>
              <a:rPr lang="en-US" altLang="zh-CN" sz="2599" kern="100" noProof="1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;(</a:t>
            </a:r>
            <a:r>
              <a:rPr lang="zh-CN" altLang="en-US" sz="2599" kern="100" noProof="1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画两个分力的方向</a:t>
            </a:r>
            <a:r>
              <a:rPr lang="en-US" altLang="zh-CN" sz="2599" kern="100" noProof="1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)</a:t>
            </a:r>
          </a:p>
        </p:txBody>
      </p:sp>
      <p:sp>
        <p:nvSpPr>
          <p:cNvPr id="20507" name="矩形 20506">
            <a:extLst>
              <a:ext uri="{FF2B5EF4-FFF2-40B4-BE49-F238E27FC236}">
                <a16:creationId xmlns:a16="http://schemas.microsoft.com/office/drawing/2014/main" id="{CE1909A0-43FE-C6A8-47B2-D787688676F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343026" y="4164785"/>
            <a:ext cx="7200900" cy="492314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lang="zh-CN" altLang="en-US" sz="2599" kern="100" noProof="1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lang="en-US" altLang="zh-CN" sz="2599" kern="100" noProof="1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3</a:t>
            </a:r>
            <a:r>
              <a:rPr lang="zh-CN" altLang="en-US" sz="2599" kern="100" noProof="1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）用平行四边形定则定分力的大小</a:t>
            </a:r>
            <a:r>
              <a:rPr lang="en-US" altLang="zh-CN" sz="2599" kern="100" noProof="1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;</a:t>
            </a:r>
          </a:p>
        </p:txBody>
      </p:sp>
      <p:sp>
        <p:nvSpPr>
          <p:cNvPr id="20508" name="文本框 20507">
            <a:extLst>
              <a:ext uri="{FF2B5EF4-FFF2-40B4-BE49-F238E27FC236}">
                <a16:creationId xmlns:a16="http://schemas.microsoft.com/office/drawing/2014/main" id="{21CE54B0-6CA1-2955-EFBB-63153C32C93A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343026" y="4935443"/>
            <a:ext cx="8893175" cy="492314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lang="zh-CN" altLang="en-US" sz="2599" kern="100" noProof="1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lang="en-US" altLang="zh-CN" sz="2599" kern="100" noProof="1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4</a:t>
            </a:r>
            <a:r>
              <a:rPr lang="zh-CN" altLang="en-US" sz="2599" kern="100" noProof="1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）据数学知识求分力的大小和方向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5" grpId="0"/>
      <p:bldP spid="20506" grpId="0"/>
      <p:bldP spid="20507" grpId="0"/>
      <p:bldP spid="2050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直角三角形 21508">
            <a:extLst>
              <a:ext uri="{FF2B5EF4-FFF2-40B4-BE49-F238E27FC236}">
                <a16:creationId xmlns:a16="http://schemas.microsoft.com/office/drawing/2014/main" id="{1DE1CC20-CB10-5A1F-AC8A-B1D2BB248F4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032626" y="1052513"/>
            <a:ext cx="2589213" cy="17526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0" name="矩形 21509">
            <a:extLst>
              <a:ext uri="{FF2B5EF4-FFF2-40B4-BE49-F238E27FC236}">
                <a16:creationId xmlns:a16="http://schemas.microsoft.com/office/drawing/2014/main" id="{8D0BBDC9-BE1A-18E4-DFE8-061D7D708E2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048750" y="692151"/>
            <a:ext cx="88900" cy="1743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1" name="椭圆 21510">
            <a:extLst>
              <a:ext uri="{FF2B5EF4-FFF2-40B4-BE49-F238E27FC236}">
                <a16:creationId xmlns:a16="http://schemas.microsoft.com/office/drawing/2014/main" id="{9AAA4B9F-382E-135C-806B-B1A2B7EE85D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008938" y="890588"/>
            <a:ext cx="1039812" cy="109855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339933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1752" name="组合 21511">
            <a:extLst>
              <a:ext uri="{FF2B5EF4-FFF2-40B4-BE49-F238E27FC236}">
                <a16:creationId xmlns:a16="http://schemas.microsoft.com/office/drawing/2014/main" id="{9BDED016-4887-EEAD-44AB-C2488F1BA77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8256588" y="1557339"/>
            <a:ext cx="728662" cy="2808287"/>
            <a:chOff x="0" y="0"/>
            <a:chExt cx="459" cy="1769"/>
          </a:xfrm>
        </p:grpSpPr>
        <p:sp>
          <p:nvSpPr>
            <p:cNvPr id="31789" name="直接连接符 21512">
              <a:extLst>
                <a:ext uri="{FF2B5EF4-FFF2-40B4-BE49-F238E27FC236}">
                  <a16:creationId xmlns:a16="http://schemas.microsoft.com/office/drawing/2014/main" id="{6712FE3B-9A8B-6D35-5ADF-C261C20E9407}"/>
                </a:ext>
              </a:extLst>
            </p:cNvPr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 flipH="1">
              <a:off x="153" y="0"/>
              <a:ext cx="0" cy="143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90" name="文本框 21513">
              <a:extLst>
                <a:ext uri="{FF2B5EF4-FFF2-40B4-BE49-F238E27FC236}">
                  <a16:creationId xmlns:a16="http://schemas.microsoft.com/office/drawing/2014/main" id="{96E275D9-C37A-5D7B-7352-8F13134F4506}"/>
                </a:ext>
              </a:extLst>
            </p:cNvPr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0" y="1404"/>
              <a:ext cx="45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>
                  <a:latin typeface="Times New Roman" pitchFamily="18" charset="0"/>
                </a:rPr>
                <a:t>G</a:t>
              </a:r>
            </a:p>
          </p:txBody>
        </p:sp>
      </p:grpSp>
      <p:grpSp>
        <p:nvGrpSpPr>
          <p:cNvPr id="3" name="组合 21514">
            <a:extLst>
              <a:ext uri="{FF2B5EF4-FFF2-40B4-BE49-F238E27FC236}">
                <a16:creationId xmlns:a16="http://schemas.microsoft.com/office/drawing/2014/main" id="{ED48BFA0-D5B6-EE75-4D56-698C8106D258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672264" y="1557338"/>
            <a:ext cx="3857625" cy="2786062"/>
            <a:chOff x="0" y="0"/>
            <a:chExt cx="2430" cy="1755"/>
          </a:xfrm>
        </p:grpSpPr>
        <p:sp>
          <p:nvSpPr>
            <p:cNvPr id="31787" name="直接连接符 21515">
              <a:extLst>
                <a:ext uri="{FF2B5EF4-FFF2-40B4-BE49-F238E27FC236}">
                  <a16:creationId xmlns:a16="http://schemas.microsoft.com/office/drawing/2014/main" id="{85EB2A98-A46F-84DE-4B96-21695F5C7197}"/>
                </a:ext>
              </a:extLst>
            </p:cNvPr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>
              <a:off x="1143" y="0"/>
              <a:ext cx="12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8" name="直接连接符 21516">
              <a:extLst>
                <a:ext uri="{FF2B5EF4-FFF2-40B4-BE49-F238E27FC236}">
                  <a16:creationId xmlns:a16="http://schemas.microsoft.com/office/drawing/2014/main" id="{AC95FB77-0855-308F-5B6D-7E42C95EE8CE}"/>
                </a:ext>
              </a:extLst>
            </p:cNvPr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 flipH="1">
              <a:off x="0" y="9"/>
              <a:ext cx="1143" cy="17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21517">
            <a:extLst>
              <a:ext uri="{FF2B5EF4-FFF2-40B4-BE49-F238E27FC236}">
                <a16:creationId xmlns:a16="http://schemas.microsoft.com/office/drawing/2014/main" id="{FF87B372-C59D-BFDE-4468-A087134688F5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7032626" y="1557339"/>
            <a:ext cx="2900363" cy="2243137"/>
            <a:chOff x="0" y="0"/>
            <a:chExt cx="1827" cy="1413"/>
          </a:xfrm>
        </p:grpSpPr>
        <p:sp>
          <p:nvSpPr>
            <p:cNvPr id="31785" name="直接连接符 21518">
              <a:extLst>
                <a:ext uri="{FF2B5EF4-FFF2-40B4-BE49-F238E27FC236}">
                  <a16:creationId xmlns:a16="http://schemas.microsoft.com/office/drawing/2014/main" id="{C7043064-E6A9-69A2-46E2-9AC3CF02B1B5}"/>
                </a:ext>
              </a:extLst>
            </p:cNvPr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 flipH="1">
              <a:off x="0" y="1413"/>
              <a:ext cx="9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6" name="直接连接符 21519">
              <a:extLst>
                <a:ext uri="{FF2B5EF4-FFF2-40B4-BE49-F238E27FC236}">
                  <a16:creationId xmlns:a16="http://schemas.microsoft.com/office/drawing/2014/main" id="{441F6A6D-1051-B0E3-A08F-447238C4070D}"/>
                </a:ext>
              </a:extLst>
            </p:cNvPr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 flipV="1">
              <a:off x="936" y="0"/>
              <a:ext cx="891" cy="14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组合 21520">
            <a:extLst>
              <a:ext uri="{FF2B5EF4-FFF2-40B4-BE49-F238E27FC236}">
                <a16:creationId xmlns:a16="http://schemas.microsoft.com/office/drawing/2014/main" id="{CE9FEDF9-D602-3E45-538E-49EA75C8C7CF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400800" y="981076"/>
            <a:ext cx="4267200" cy="2955925"/>
            <a:chOff x="0" y="0"/>
            <a:chExt cx="2688" cy="1862"/>
          </a:xfrm>
        </p:grpSpPr>
        <p:sp>
          <p:nvSpPr>
            <p:cNvPr id="31781" name="直接连接符 21521">
              <a:extLst>
                <a:ext uri="{FF2B5EF4-FFF2-40B4-BE49-F238E27FC236}">
                  <a16:creationId xmlns:a16="http://schemas.microsoft.com/office/drawing/2014/main" id="{7212986A-C4A5-120B-D30C-B83F1F23A3C8}"/>
                </a:ext>
              </a:extLst>
            </p:cNvPr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>
              <a:off x="1323" y="354"/>
              <a:ext cx="918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2" name="直接连接符 21522">
              <a:extLst>
                <a:ext uri="{FF2B5EF4-FFF2-40B4-BE49-F238E27FC236}">
                  <a16:creationId xmlns:a16="http://schemas.microsoft.com/office/drawing/2014/main" id="{329A877F-FA28-33AB-EC03-9522E2C0EDC5}"/>
                </a:ext>
              </a:extLst>
            </p:cNvPr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 flipH="1">
              <a:off x="396" y="354"/>
              <a:ext cx="936" cy="142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3" name="文本框 21523">
              <a:extLst>
                <a:ext uri="{FF2B5EF4-FFF2-40B4-BE49-F238E27FC236}">
                  <a16:creationId xmlns:a16="http://schemas.microsoft.com/office/drawing/2014/main" id="{E16BB530-781A-B7F2-548B-B97F7C7FCA08}"/>
                </a:ext>
              </a:extLst>
            </p:cNvPr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0" y="1497"/>
              <a:ext cx="48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>
                  <a:latin typeface="Times New Roman" pitchFamily="18" charset="0"/>
                </a:rPr>
                <a:t>G</a:t>
              </a:r>
              <a:r>
                <a:rPr lang="en-US" altLang="zh-CN" sz="3200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1784" name="文本框 21524">
              <a:extLst>
                <a:ext uri="{FF2B5EF4-FFF2-40B4-BE49-F238E27FC236}">
                  <a16:creationId xmlns:a16="http://schemas.microsoft.com/office/drawing/2014/main" id="{671034FB-BC63-037D-DBE1-7F197B566DD5}"/>
                </a:ext>
              </a:extLst>
            </p:cNvPr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094" y="0"/>
              <a:ext cx="59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>
                  <a:latin typeface="Times New Roman" pitchFamily="18" charset="0"/>
                </a:rPr>
                <a:t>G</a:t>
              </a:r>
              <a:r>
                <a:rPr lang="en-US" altLang="zh-CN" sz="3200" baseline="-25000">
                  <a:latin typeface="Times New Roman" pitchFamily="18" charset="0"/>
                </a:rPr>
                <a:t>1</a:t>
              </a:r>
            </a:p>
          </p:txBody>
        </p:sp>
      </p:grpSp>
      <p:sp>
        <p:nvSpPr>
          <p:cNvPr id="21526" name="文本框 21525">
            <a:extLst>
              <a:ext uri="{FF2B5EF4-FFF2-40B4-BE49-F238E27FC236}">
                <a16:creationId xmlns:a16="http://schemas.microsoft.com/office/drawing/2014/main" id="{56EE0B01-A51D-EADD-0A22-57EDD172CEBF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511676" y="4581525"/>
            <a:ext cx="3040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0000CC"/>
                </a:solidFill>
              </a:rPr>
              <a:t>使物体紧压挡板</a:t>
            </a:r>
          </a:p>
        </p:txBody>
      </p:sp>
      <p:sp>
        <p:nvSpPr>
          <p:cNvPr id="21527" name="文本框 21526">
            <a:extLst>
              <a:ext uri="{FF2B5EF4-FFF2-40B4-BE49-F238E27FC236}">
                <a16:creationId xmlns:a16="http://schemas.microsoft.com/office/drawing/2014/main" id="{DB2A0CC6-AE0B-E7C6-26DC-BA4F54AC0C1E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511676" y="5300664"/>
            <a:ext cx="30400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0000CC"/>
                </a:solidFill>
              </a:rPr>
              <a:t>使物体紧压斜面</a:t>
            </a:r>
          </a:p>
        </p:txBody>
      </p:sp>
      <p:sp>
        <p:nvSpPr>
          <p:cNvPr id="31758" name="直角三角形 21527">
            <a:extLst>
              <a:ext uri="{FF2B5EF4-FFF2-40B4-BE49-F238E27FC236}">
                <a16:creationId xmlns:a16="http://schemas.microsoft.com/office/drawing/2014/main" id="{BDE02C0F-8BAA-627D-72F2-598F67BB9A77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208214" y="1484314"/>
            <a:ext cx="3000375" cy="1724025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9" name="椭圆 21528">
            <a:extLst>
              <a:ext uri="{FF2B5EF4-FFF2-40B4-BE49-F238E27FC236}">
                <a16:creationId xmlns:a16="http://schemas.microsoft.com/office/drawing/2014/main" id="{B8421867-7915-0D2E-0B76-E7880889073F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000376" y="1125539"/>
            <a:ext cx="1008063" cy="998537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339933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60" name="矩形 21529">
            <a:extLst>
              <a:ext uri="{FF2B5EF4-FFF2-40B4-BE49-F238E27FC236}">
                <a16:creationId xmlns:a16="http://schemas.microsoft.com/office/drawing/2014/main" id="{7171D427-6698-9A1F-5438-3D8A98B506D7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 rot="1919045">
            <a:off x="4008439" y="1125539"/>
            <a:ext cx="73025" cy="13096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1761" name="组合 21530">
            <a:extLst>
              <a:ext uri="{FF2B5EF4-FFF2-40B4-BE49-F238E27FC236}">
                <a16:creationId xmlns:a16="http://schemas.microsoft.com/office/drawing/2014/main" id="{66218ED8-FF4F-3C20-F18D-5C0A667D5B88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3216276" y="1628775"/>
            <a:ext cx="728663" cy="2808288"/>
            <a:chOff x="0" y="0"/>
            <a:chExt cx="459" cy="1769"/>
          </a:xfrm>
        </p:grpSpPr>
        <p:sp>
          <p:nvSpPr>
            <p:cNvPr id="31779" name="直接连接符 21531">
              <a:extLst>
                <a:ext uri="{FF2B5EF4-FFF2-40B4-BE49-F238E27FC236}">
                  <a16:creationId xmlns:a16="http://schemas.microsoft.com/office/drawing/2014/main" id="{4DB1442D-3201-85A0-43BA-AF8780E69A61}"/>
                </a:ext>
              </a:extLst>
            </p:cNvPr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flipH="1">
              <a:off x="153" y="0"/>
              <a:ext cx="0" cy="143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0" name="文本框 21532">
              <a:extLst>
                <a:ext uri="{FF2B5EF4-FFF2-40B4-BE49-F238E27FC236}">
                  <a16:creationId xmlns:a16="http://schemas.microsoft.com/office/drawing/2014/main" id="{4708D547-5FD0-0658-5FB0-754E0119280E}"/>
                </a:ext>
              </a:extLst>
            </p:cNvPr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0" y="1404"/>
              <a:ext cx="45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>
                  <a:latin typeface="Times New Roman" pitchFamily="18" charset="0"/>
                </a:rPr>
                <a:t>G</a:t>
              </a:r>
            </a:p>
          </p:txBody>
        </p:sp>
      </p:grpSp>
      <p:grpSp>
        <p:nvGrpSpPr>
          <p:cNvPr id="7" name="组合 21533">
            <a:extLst>
              <a:ext uri="{FF2B5EF4-FFF2-40B4-BE49-F238E27FC236}">
                <a16:creationId xmlns:a16="http://schemas.microsoft.com/office/drawing/2014/main" id="{BE2DFFEF-798E-CC26-2238-B8AA95358C76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1631950" y="1557338"/>
            <a:ext cx="3657600" cy="2786062"/>
            <a:chOff x="0" y="0"/>
            <a:chExt cx="2304" cy="1755"/>
          </a:xfrm>
        </p:grpSpPr>
        <p:sp>
          <p:nvSpPr>
            <p:cNvPr id="31777" name="直接连接符 21534">
              <a:extLst>
                <a:ext uri="{FF2B5EF4-FFF2-40B4-BE49-F238E27FC236}">
                  <a16:creationId xmlns:a16="http://schemas.microsoft.com/office/drawing/2014/main" id="{56E3C686-A564-1009-CD93-3B6769716CA8}"/>
                </a:ext>
              </a:extLst>
            </p:cNvPr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1143" y="0"/>
              <a:ext cx="1161" cy="6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8" name="直接连接符 21535">
              <a:extLst>
                <a:ext uri="{FF2B5EF4-FFF2-40B4-BE49-F238E27FC236}">
                  <a16:creationId xmlns:a16="http://schemas.microsoft.com/office/drawing/2014/main" id="{F67FAF4C-F071-C4F0-BD63-178AB102644F}"/>
                </a:ext>
              </a:extLst>
            </p:cNvPr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 flipH="1">
              <a:off x="0" y="9"/>
              <a:ext cx="1143" cy="17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组合 21536">
            <a:extLst>
              <a:ext uri="{FF2B5EF4-FFF2-40B4-BE49-F238E27FC236}">
                <a16:creationId xmlns:a16="http://schemas.microsoft.com/office/drawing/2014/main" id="{4A3AD15D-D860-1D03-8979-4AAB03832405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2424113" y="2133600"/>
            <a:ext cx="2100262" cy="1657350"/>
            <a:chOff x="0" y="0"/>
            <a:chExt cx="1323" cy="1044"/>
          </a:xfrm>
        </p:grpSpPr>
        <p:sp>
          <p:nvSpPr>
            <p:cNvPr id="31775" name="直接连接符 21537">
              <a:extLst>
                <a:ext uri="{FF2B5EF4-FFF2-40B4-BE49-F238E27FC236}">
                  <a16:creationId xmlns:a16="http://schemas.microsoft.com/office/drawing/2014/main" id="{4CA006C7-826F-1FB3-A87D-BA3C242B3A66}"/>
                </a:ext>
              </a:extLst>
            </p:cNvPr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 flipH="1" flipV="1">
              <a:off x="0" y="639"/>
              <a:ext cx="666" cy="4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6" name="直接连接符 21538">
              <a:extLst>
                <a:ext uri="{FF2B5EF4-FFF2-40B4-BE49-F238E27FC236}">
                  <a16:creationId xmlns:a16="http://schemas.microsoft.com/office/drawing/2014/main" id="{BC75E0BE-AC35-271E-C97D-BF5ACADDF783}"/>
                </a:ext>
              </a:extLst>
            </p:cNvPr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 flipV="1">
              <a:off x="675" y="0"/>
              <a:ext cx="648" cy="10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组合 21539">
            <a:extLst>
              <a:ext uri="{FF2B5EF4-FFF2-40B4-BE49-F238E27FC236}">
                <a16:creationId xmlns:a16="http://schemas.microsoft.com/office/drawing/2014/main" id="{32F29323-97C1-F9D1-7599-90BAFA307146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1774825" y="1557338"/>
            <a:ext cx="3367088" cy="1865312"/>
            <a:chOff x="0" y="0"/>
            <a:chExt cx="2121" cy="1175"/>
          </a:xfrm>
        </p:grpSpPr>
        <p:sp>
          <p:nvSpPr>
            <p:cNvPr id="31771" name="直接连接符 21540">
              <a:extLst>
                <a:ext uri="{FF2B5EF4-FFF2-40B4-BE49-F238E27FC236}">
                  <a16:creationId xmlns:a16="http://schemas.microsoft.com/office/drawing/2014/main" id="{93225B36-5258-4902-1069-253468CF8EC2}"/>
                </a:ext>
              </a:extLst>
            </p:cNvPr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1053" y="0"/>
              <a:ext cx="684" cy="387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2" name="直接连接符 21541">
              <a:extLst>
                <a:ext uri="{FF2B5EF4-FFF2-40B4-BE49-F238E27FC236}">
                  <a16:creationId xmlns:a16="http://schemas.microsoft.com/office/drawing/2014/main" id="{76134904-758D-9C08-C87C-59479A1726C2}"/>
                </a:ext>
              </a:extLst>
            </p:cNvPr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H="1">
              <a:off x="405" y="0"/>
              <a:ext cx="657" cy="1035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3" name="文本框 21542">
              <a:extLst>
                <a:ext uri="{FF2B5EF4-FFF2-40B4-BE49-F238E27FC236}">
                  <a16:creationId xmlns:a16="http://schemas.microsoft.com/office/drawing/2014/main" id="{DDBC7A81-220E-E074-4B27-6B67D9259FC1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0" y="810"/>
              <a:ext cx="48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>
                  <a:latin typeface="Times New Roman" pitchFamily="18" charset="0"/>
                </a:rPr>
                <a:t>G</a:t>
              </a:r>
              <a:r>
                <a:rPr lang="en-US" altLang="zh-CN" sz="3200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1774" name="文本框 21543">
              <a:extLst>
                <a:ext uri="{FF2B5EF4-FFF2-40B4-BE49-F238E27FC236}">
                  <a16:creationId xmlns:a16="http://schemas.microsoft.com/office/drawing/2014/main" id="{3A98B04D-CEA0-B708-958C-900B8F294EC0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527" y="6"/>
              <a:ext cx="59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>
                  <a:latin typeface="Times New Roman" pitchFamily="18" charset="0"/>
                </a:rPr>
                <a:t>G</a:t>
              </a:r>
              <a:r>
                <a:rPr lang="en-US" altLang="zh-CN" sz="3200" baseline="-25000">
                  <a:latin typeface="Times New Roman" pitchFamily="18" charset="0"/>
                </a:rPr>
                <a:t>1</a:t>
              </a:r>
            </a:p>
          </p:txBody>
        </p:sp>
      </p:grpSp>
      <p:sp>
        <p:nvSpPr>
          <p:cNvPr id="31765" name="文本框 21544">
            <a:extLst>
              <a:ext uri="{FF2B5EF4-FFF2-40B4-BE49-F238E27FC236}">
                <a16:creationId xmlns:a16="http://schemas.microsoft.com/office/drawing/2014/main" id="{96924390-6A96-FED4-7229-BA709A103361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667121" y="319972"/>
            <a:ext cx="44640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0">
                <a:solidFill>
                  <a:srgbClr val="FF0000"/>
                </a:solidFill>
                <a:ea typeface="楷体_GB2312"/>
                <a:cs typeface="楷体_GB2312"/>
              </a:rPr>
              <a:t>对重力的效果进行分解</a:t>
            </a:r>
          </a:p>
        </p:txBody>
      </p:sp>
      <p:sp>
        <p:nvSpPr>
          <p:cNvPr id="21547" name="矩形 21546">
            <a:extLst>
              <a:ext uri="{FF2B5EF4-FFF2-40B4-BE49-F238E27FC236}">
                <a16:creationId xmlns:a16="http://schemas.microsoft.com/office/drawing/2014/main" id="{75380159-EFA0-10B3-45A2-9E03E210A8C0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608888" y="4724400"/>
            <a:ext cx="2736850" cy="990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800" b="0">
                <a:solidFill>
                  <a:srgbClr val="FF0000"/>
                </a:solidFill>
              </a:rPr>
              <a:t>G</a:t>
            </a:r>
            <a:r>
              <a:rPr lang="en-US" altLang="zh-CN" sz="2800" b="0" baseline="-25000">
                <a:solidFill>
                  <a:srgbClr val="FF0000"/>
                </a:solidFill>
              </a:rPr>
              <a:t>1</a:t>
            </a:r>
            <a:r>
              <a:rPr lang="en-US" altLang="zh-CN" sz="2800" b="0">
                <a:solidFill>
                  <a:srgbClr val="FF0000"/>
                </a:solidFill>
              </a:rPr>
              <a:t>=G tanα           G</a:t>
            </a:r>
            <a:r>
              <a:rPr lang="en-US" altLang="zh-CN" sz="2800" b="0" baseline="-25000">
                <a:solidFill>
                  <a:srgbClr val="FF0000"/>
                </a:solidFill>
              </a:rPr>
              <a:t>2 </a:t>
            </a:r>
            <a:r>
              <a:rPr lang="en-US" altLang="zh-CN" sz="2800" b="0">
                <a:solidFill>
                  <a:srgbClr val="FF0000"/>
                </a:solidFill>
              </a:rPr>
              <a:t>= G/ cos</a:t>
            </a:r>
            <a:r>
              <a:rPr lang="en-US" altLang="zh-CN" sz="2400" b="0">
                <a:solidFill>
                  <a:srgbClr val="FF0000"/>
                </a:solidFill>
              </a:rPr>
              <a:t> α </a:t>
            </a:r>
            <a:endParaRPr lang="en-US" altLang="zh-CN" sz="2800" b="0">
              <a:solidFill>
                <a:srgbClr val="FF0000"/>
              </a:solidFill>
            </a:endParaRPr>
          </a:p>
        </p:txBody>
      </p:sp>
      <p:sp>
        <p:nvSpPr>
          <p:cNvPr id="21548" name="文本框 21547">
            <a:extLst>
              <a:ext uri="{FF2B5EF4-FFF2-40B4-BE49-F238E27FC236}">
                <a16:creationId xmlns:a16="http://schemas.microsoft.com/office/drawing/2014/main" id="{1D5B464F-2CE5-83EF-27CC-4438911A219D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9120188" y="24669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0000"/>
                </a:solidFill>
                <a:latin typeface="Times New Roman" pitchFamily="18" charset="0"/>
              </a:rPr>
              <a:t>α</a:t>
            </a:r>
          </a:p>
        </p:txBody>
      </p:sp>
      <p:sp>
        <p:nvSpPr>
          <p:cNvPr id="21549" name="文本框 21548">
            <a:extLst>
              <a:ext uri="{FF2B5EF4-FFF2-40B4-BE49-F238E27FC236}">
                <a16:creationId xmlns:a16="http://schemas.microsoft.com/office/drawing/2014/main" id="{BB02163B-D115-25FA-003B-796864FA62DF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 rot="10800000" flipV="1">
            <a:off x="4511676" y="2827338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0000"/>
                </a:solidFill>
                <a:latin typeface="Times New Roman" pitchFamily="18" charset="0"/>
              </a:rPr>
              <a:t>α</a:t>
            </a:r>
          </a:p>
        </p:txBody>
      </p:sp>
      <p:sp>
        <p:nvSpPr>
          <p:cNvPr id="21550" name="矩形 21549">
            <a:extLst>
              <a:ext uri="{FF2B5EF4-FFF2-40B4-BE49-F238E27FC236}">
                <a16:creationId xmlns:a16="http://schemas.microsoft.com/office/drawing/2014/main" id="{4A2BB4BC-965D-4EE9-731E-B616B8B46F6D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847850" y="4797425"/>
            <a:ext cx="2736850" cy="990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800" b="0">
                <a:solidFill>
                  <a:srgbClr val="FF0000"/>
                </a:solidFill>
              </a:rPr>
              <a:t>G</a:t>
            </a:r>
            <a:r>
              <a:rPr lang="en-US" altLang="zh-CN" sz="2800" b="0" baseline="-25000">
                <a:solidFill>
                  <a:srgbClr val="FF0000"/>
                </a:solidFill>
              </a:rPr>
              <a:t>2 </a:t>
            </a:r>
            <a:r>
              <a:rPr lang="en-US" altLang="zh-CN" sz="2800" b="0">
                <a:solidFill>
                  <a:srgbClr val="FF0000"/>
                </a:solidFill>
              </a:rPr>
              <a:t>= G cos</a:t>
            </a:r>
            <a:r>
              <a:rPr lang="en-US" altLang="zh-CN" sz="2400" b="0">
                <a:solidFill>
                  <a:srgbClr val="FF0000"/>
                </a:solidFill>
              </a:rPr>
              <a:t> </a:t>
            </a:r>
            <a:r>
              <a:rPr lang="en-US" altLang="zh-CN" sz="2400">
                <a:solidFill>
                  <a:srgbClr val="FF0000"/>
                </a:solidFill>
              </a:rPr>
              <a:t>α </a:t>
            </a:r>
            <a:r>
              <a:rPr lang="en-US" altLang="zh-CN" sz="2800" b="0">
                <a:solidFill>
                  <a:srgbClr val="FF0000"/>
                </a:solidFill>
              </a:rPr>
              <a:t>G</a:t>
            </a:r>
            <a:r>
              <a:rPr lang="en-US" altLang="zh-CN" sz="2800" b="0" baseline="-25000">
                <a:solidFill>
                  <a:srgbClr val="FF0000"/>
                </a:solidFill>
              </a:rPr>
              <a:t>1</a:t>
            </a:r>
            <a:r>
              <a:rPr lang="en-US" altLang="zh-CN" sz="2800" b="0">
                <a:solidFill>
                  <a:srgbClr val="FF0000"/>
                </a:solidFill>
              </a:rPr>
              <a:t>=G sin</a:t>
            </a:r>
            <a:r>
              <a:rPr lang="en-US" altLang="zh-CN" sz="2800">
                <a:solidFill>
                  <a:srgbClr val="FF0000"/>
                </a:solidFill>
              </a:rPr>
              <a:t>α</a:t>
            </a:r>
            <a:r>
              <a:rPr lang="en-US" altLang="zh-CN" sz="2800" b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1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1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6" grpId="0"/>
      <p:bldP spid="21527" grpId="0"/>
      <p:bldP spid="21547" grpId="0" build="p"/>
      <p:bldP spid="21548" grpId="0"/>
      <p:bldP spid="21549" grpId="0"/>
      <p:bldP spid="2155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文本框 23555">
            <a:extLst>
              <a:ext uri="{FF2B5EF4-FFF2-40B4-BE49-F238E27FC236}">
                <a16:creationId xmlns:a16="http://schemas.microsoft.com/office/drawing/2014/main" id="{2764B1AF-4C77-AB68-112B-F961EAF7B572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57793" y="1712847"/>
            <a:ext cx="99451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）原理：把一个已知力沿着两个互相垂直的方向进行分解。</a:t>
            </a:r>
          </a:p>
        </p:txBody>
      </p:sp>
      <p:sp>
        <p:nvSpPr>
          <p:cNvPr id="23557" name="文本框 23556">
            <a:extLst>
              <a:ext uri="{FF2B5EF4-FFF2-40B4-BE49-F238E27FC236}">
                <a16:creationId xmlns:a16="http://schemas.microsoft.com/office/drawing/2014/main" id="{943A48EC-79FC-E809-73B7-9063371781AC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6781" y="2282825"/>
            <a:ext cx="3597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）正交分解步骤：</a:t>
            </a:r>
          </a:p>
        </p:txBody>
      </p:sp>
      <p:sp>
        <p:nvSpPr>
          <p:cNvPr id="23558" name="文本框 23557">
            <a:extLst>
              <a:ext uri="{FF2B5EF4-FFF2-40B4-BE49-F238E27FC236}">
                <a16:creationId xmlns:a16="http://schemas.microsoft.com/office/drawing/2014/main" id="{D8E04771-A752-0108-A0FE-76212DE96437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637506" y="2846878"/>
            <a:ext cx="3656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/>
              <a:t>①</a:t>
            </a:r>
            <a:r>
              <a:rPr lang="zh-CN" altLang="en-US" sz="2800"/>
              <a:t>建立</a:t>
            </a:r>
            <a:r>
              <a:rPr lang="en-US" altLang="zh-CN" sz="2800"/>
              <a:t>xoy</a:t>
            </a:r>
            <a:r>
              <a:rPr lang="zh-CN" altLang="en-US" sz="2800"/>
              <a:t>直角坐标系</a:t>
            </a:r>
          </a:p>
        </p:txBody>
      </p:sp>
      <p:sp>
        <p:nvSpPr>
          <p:cNvPr id="23559" name="文本框 23558">
            <a:extLst>
              <a:ext uri="{FF2B5EF4-FFF2-40B4-BE49-F238E27FC236}">
                <a16:creationId xmlns:a16="http://schemas.microsoft.com/office/drawing/2014/main" id="{90F2EA4D-7DC9-E8FF-453C-74952FE6E22F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18750" y="3393784"/>
            <a:ext cx="4211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/>
              <a:t>②</a:t>
            </a:r>
            <a:r>
              <a:rPr lang="zh-CN" altLang="en-US" sz="2800"/>
              <a:t>沿</a:t>
            </a:r>
            <a:r>
              <a:rPr lang="en-US" altLang="zh-CN" sz="2800"/>
              <a:t>xoy</a:t>
            </a:r>
            <a:r>
              <a:rPr lang="zh-CN" altLang="en-US" sz="2800"/>
              <a:t>轴将各力分解</a:t>
            </a:r>
          </a:p>
        </p:txBody>
      </p:sp>
      <p:sp>
        <p:nvSpPr>
          <p:cNvPr id="23560" name="文本框 23559">
            <a:extLst>
              <a:ext uri="{FF2B5EF4-FFF2-40B4-BE49-F238E27FC236}">
                <a16:creationId xmlns:a16="http://schemas.microsoft.com/office/drawing/2014/main" id="{BCD4D963-1281-0B2B-F439-21E99011FBEA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85829" y="3962034"/>
            <a:ext cx="43685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/>
              <a:t>③</a:t>
            </a:r>
            <a:r>
              <a:rPr lang="zh-CN" altLang="en-US" sz="2800"/>
              <a:t>求</a:t>
            </a:r>
            <a:r>
              <a:rPr lang="en-US" altLang="zh-CN" sz="2800"/>
              <a:t>x</a:t>
            </a:r>
            <a:r>
              <a:rPr lang="zh-CN" altLang="en-US" sz="2800"/>
              <a:t>、</a:t>
            </a:r>
            <a:r>
              <a:rPr lang="en-US" altLang="zh-CN" sz="2800"/>
              <a:t>y</a:t>
            </a:r>
            <a:r>
              <a:rPr lang="zh-CN" altLang="en-US" sz="2800"/>
              <a:t>轴上的合力</a:t>
            </a:r>
            <a:r>
              <a:rPr lang="en-US" altLang="zh-CN" sz="2800" b="0" err="1"/>
              <a:t>Fx,Fy</a:t>
            </a:r>
            <a:endParaRPr lang="en-US" altLang="zh-CN" sz="2800" b="0"/>
          </a:p>
        </p:txBody>
      </p:sp>
      <p:sp>
        <p:nvSpPr>
          <p:cNvPr id="23561" name="文本框 23560">
            <a:extLst>
              <a:ext uri="{FF2B5EF4-FFF2-40B4-BE49-F238E27FC236}">
                <a16:creationId xmlns:a16="http://schemas.microsoft.com/office/drawing/2014/main" id="{A2E1D05D-AAA0-E4F8-0EE7-F72631F92D56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85829" y="4540839"/>
            <a:ext cx="40879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/>
              <a:t>④</a:t>
            </a:r>
            <a:r>
              <a:rPr lang="zh-CN" altLang="en-US" sz="2800"/>
              <a:t>最后求</a:t>
            </a:r>
            <a:r>
              <a:rPr lang="en-US" altLang="zh-CN" sz="2800" b="0" err="1"/>
              <a:t>Fx</a:t>
            </a:r>
            <a:r>
              <a:rPr lang="zh-CN" altLang="en-US" sz="2800"/>
              <a:t>和</a:t>
            </a:r>
            <a:r>
              <a:rPr lang="en-US" altLang="zh-CN" sz="2800" b="0" err="1"/>
              <a:t>Fy</a:t>
            </a:r>
            <a:r>
              <a:rPr lang="zh-CN" altLang="en-US" sz="2800"/>
              <a:t>的</a:t>
            </a:r>
            <a:r>
              <a:rPr lang="zh-CN" altLang="en-US" sz="2800">
                <a:solidFill>
                  <a:srgbClr val="FF0000"/>
                </a:solidFill>
              </a:rPr>
              <a:t>合力</a:t>
            </a:r>
            <a:r>
              <a:rPr lang="en-US" altLang="zh-CN" sz="2800" b="0">
                <a:solidFill>
                  <a:srgbClr val="FF0000"/>
                </a:solidFill>
              </a:rPr>
              <a:t>F</a:t>
            </a:r>
          </a:p>
        </p:txBody>
      </p:sp>
      <p:grpSp>
        <p:nvGrpSpPr>
          <p:cNvPr id="2" name="组合 23561">
            <a:extLst>
              <a:ext uri="{FF2B5EF4-FFF2-40B4-BE49-F238E27FC236}">
                <a16:creationId xmlns:a16="http://schemas.microsoft.com/office/drawing/2014/main" id="{8D7C1319-AEB6-D980-02AF-A5C02AB49CEE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2057400" y="5145837"/>
            <a:ext cx="4398963" cy="742950"/>
            <a:chOff x="0" y="0"/>
            <a:chExt cx="2771" cy="468"/>
          </a:xfrm>
        </p:grpSpPr>
        <p:sp>
          <p:nvSpPr>
            <p:cNvPr id="4122" name="文本框 23562">
              <a:extLst>
                <a:ext uri="{FF2B5EF4-FFF2-40B4-BE49-F238E27FC236}">
                  <a16:creationId xmlns:a16="http://schemas.microsoft.com/office/drawing/2014/main" id="{717AF32B-4F9E-5045-E825-EECDD3F2C6E1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0" y="50"/>
              <a:ext cx="88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200"/>
                <a:t>大小：</a:t>
              </a:r>
            </a:p>
          </p:txBody>
        </p:sp>
        <p:graphicFrame>
          <p:nvGraphicFramePr>
            <p:cNvPr id="4099" name="对象 23563">
              <a:extLst>
                <a:ext uri="{FF2B5EF4-FFF2-40B4-BE49-F238E27FC236}">
                  <a16:creationId xmlns:a16="http://schemas.microsoft.com/office/drawing/2014/main" id="{E1E5B101-9D91-6182-052E-44571E7DBEAC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23"/>
              </p:custDataLst>
            </p:nvPr>
          </p:nvGraphicFramePr>
          <p:xfrm>
            <a:off x="911" y="0"/>
            <a:ext cx="1860" cy="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5" imgW="927015" imgH="304985" progId="Equation.3">
                    <p:embed/>
                  </p:oleObj>
                </mc:Choice>
                <mc:Fallback>
                  <p:oleObj r:id="rId25" imgW="927015" imgH="304985" progId="Equation.3">
                    <p:embed/>
                    <p:pic>
                      <p:nvPicPr>
                        <p:cNvPr id="4099" name="对象 23563">
                          <a:extLst>
                            <a:ext uri="{FF2B5EF4-FFF2-40B4-BE49-F238E27FC236}">
                              <a16:creationId xmlns:a16="http://schemas.microsoft.com/office/drawing/2014/main" id="{E1E5B101-9D91-6182-052E-44571E7DBEA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11" y="0"/>
                          <a:ext cx="1860" cy="46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09" name="文本框 23564">
            <a:extLst>
              <a:ext uri="{FF2B5EF4-FFF2-40B4-BE49-F238E27FC236}">
                <a16:creationId xmlns:a16="http://schemas.microsoft.com/office/drawing/2014/main" id="{C8D1E57E-06A0-F306-8A0F-3A75D6490DF5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091488" y="2297113"/>
            <a:ext cx="565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0">
                <a:solidFill>
                  <a:schemeClr val="bg1"/>
                </a:solidFill>
              </a:rPr>
              <a:t>F2y</a:t>
            </a:r>
          </a:p>
        </p:txBody>
      </p:sp>
      <p:sp>
        <p:nvSpPr>
          <p:cNvPr id="4110" name="文本框 23565">
            <a:extLst>
              <a:ext uri="{FF2B5EF4-FFF2-40B4-BE49-F238E27FC236}">
                <a16:creationId xmlns:a16="http://schemas.microsoft.com/office/drawing/2014/main" id="{9732A927-89C7-B680-51F8-29C357BAA1BF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464425" y="1916113"/>
            <a:ext cx="565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0">
                <a:solidFill>
                  <a:schemeClr val="bg1"/>
                </a:solidFill>
              </a:rPr>
              <a:t>F1y</a:t>
            </a:r>
          </a:p>
        </p:txBody>
      </p:sp>
      <p:sp>
        <p:nvSpPr>
          <p:cNvPr id="4111" name="文本框 23566">
            <a:extLst>
              <a:ext uri="{FF2B5EF4-FFF2-40B4-BE49-F238E27FC236}">
                <a16:creationId xmlns:a16="http://schemas.microsoft.com/office/drawing/2014/main" id="{D4E1C3A7-A410-E887-C14F-855D840FC3BF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372350" y="3952876"/>
            <a:ext cx="56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0">
                <a:solidFill>
                  <a:schemeClr val="bg1"/>
                </a:solidFill>
              </a:rPr>
              <a:t>F3y</a:t>
            </a:r>
          </a:p>
        </p:txBody>
      </p:sp>
      <p:sp>
        <p:nvSpPr>
          <p:cNvPr id="4112" name="文本框 23567">
            <a:extLst>
              <a:ext uri="{FF2B5EF4-FFF2-40B4-BE49-F238E27FC236}">
                <a16:creationId xmlns:a16="http://schemas.microsoft.com/office/drawing/2014/main" id="{46779754-5BCD-4E59-EFA1-52B837BFAAFC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616950" y="3141663"/>
            <a:ext cx="565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0">
                <a:solidFill>
                  <a:schemeClr val="bg1"/>
                </a:solidFill>
              </a:rPr>
              <a:t>F3x</a:t>
            </a:r>
          </a:p>
        </p:txBody>
      </p:sp>
      <p:sp>
        <p:nvSpPr>
          <p:cNvPr id="4113" name="文本框 23568">
            <a:extLst>
              <a:ext uri="{FF2B5EF4-FFF2-40B4-BE49-F238E27FC236}">
                <a16:creationId xmlns:a16="http://schemas.microsoft.com/office/drawing/2014/main" id="{D5CE7358-10CD-C20F-A25A-AF21A2BD4A09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9317038" y="3160713"/>
            <a:ext cx="565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0">
                <a:solidFill>
                  <a:schemeClr val="bg1"/>
                </a:solidFill>
              </a:rPr>
              <a:t>F1x</a:t>
            </a:r>
          </a:p>
        </p:txBody>
      </p:sp>
      <p:sp>
        <p:nvSpPr>
          <p:cNvPr id="4114" name="文本框 23569">
            <a:extLst>
              <a:ext uri="{FF2B5EF4-FFF2-40B4-BE49-F238E27FC236}">
                <a16:creationId xmlns:a16="http://schemas.microsoft.com/office/drawing/2014/main" id="{9CD0A7A4-5BEE-9350-22A9-77C57B326139}"/>
              </a:ext>
            </a:extLst>
          </p:cNvPr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580188" y="3305176"/>
            <a:ext cx="60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0">
                <a:solidFill>
                  <a:schemeClr val="bg1"/>
                </a:solidFill>
              </a:rPr>
              <a:t>F2X</a:t>
            </a:r>
          </a:p>
        </p:txBody>
      </p:sp>
      <p:sp>
        <p:nvSpPr>
          <p:cNvPr id="4115" name="文本框 23570">
            <a:extLst>
              <a:ext uri="{FF2B5EF4-FFF2-40B4-BE49-F238E27FC236}">
                <a16:creationId xmlns:a16="http://schemas.microsoft.com/office/drawing/2014/main" id="{7901C10A-A924-3CC6-2F7E-68FF61C5906C}"/>
              </a:ext>
            </a:extLst>
          </p:cNvPr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24440" y="643738"/>
            <a:ext cx="5924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/>
              <a:t>（</a:t>
            </a:r>
            <a:r>
              <a:rPr lang="en-US" altLang="zh-CN" sz="3200"/>
              <a:t>2</a:t>
            </a:r>
            <a:r>
              <a:rPr lang="zh-CN" altLang="en-US" sz="3200"/>
              <a:t>）力的正交分解法</a:t>
            </a:r>
          </a:p>
        </p:txBody>
      </p:sp>
      <p:grpSp>
        <p:nvGrpSpPr>
          <p:cNvPr id="3" name="组合 23571">
            <a:extLst>
              <a:ext uri="{FF2B5EF4-FFF2-40B4-BE49-F238E27FC236}">
                <a16:creationId xmlns:a16="http://schemas.microsoft.com/office/drawing/2014/main" id="{271DB802-B7F3-98BA-8C6B-E8E0C529B21D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2036763" y="5836445"/>
            <a:ext cx="7562850" cy="935037"/>
            <a:chOff x="0" y="0"/>
            <a:chExt cx="4764" cy="589"/>
          </a:xfrm>
        </p:grpSpPr>
        <p:sp>
          <p:nvSpPr>
            <p:cNvPr id="4120" name="文本框 23572">
              <a:extLst>
                <a:ext uri="{FF2B5EF4-FFF2-40B4-BE49-F238E27FC236}">
                  <a16:creationId xmlns:a16="http://schemas.microsoft.com/office/drawing/2014/main" id="{BA48E060-742D-4A2E-4F97-B52223017E8B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0" y="50"/>
              <a:ext cx="88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200"/>
                <a:t>方向：</a:t>
              </a:r>
            </a:p>
          </p:txBody>
        </p:sp>
        <p:sp>
          <p:nvSpPr>
            <p:cNvPr id="4121" name="文本框 23573">
              <a:extLst>
                <a:ext uri="{FF2B5EF4-FFF2-40B4-BE49-F238E27FC236}">
                  <a16:creationId xmlns:a16="http://schemas.microsoft.com/office/drawing/2014/main" id="{CAA3CD50-DAF9-0B74-C8D2-83560362456C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748" y="181"/>
              <a:ext cx="2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>
                  <a:latin typeface="Times New Roman" pitchFamily="18" charset="0"/>
                </a:rPr>
                <a:t>（与</a:t>
              </a:r>
              <a:r>
                <a:rPr lang="en-US" altLang="zh-CN" sz="2800">
                  <a:latin typeface="Times New Roman" pitchFamily="18" charset="0"/>
                </a:rPr>
                <a:t>Y</a:t>
              </a:r>
              <a:r>
                <a:rPr lang="zh-CN" altLang="en-US" sz="2800">
                  <a:latin typeface="Times New Roman" pitchFamily="18" charset="0"/>
                </a:rPr>
                <a:t>轴的夹角）</a:t>
              </a:r>
            </a:p>
          </p:txBody>
        </p:sp>
        <p:graphicFrame>
          <p:nvGraphicFramePr>
            <p:cNvPr id="4098" name="内容占位符 23574">
              <a:extLst>
                <a:ext uri="{FF2B5EF4-FFF2-40B4-BE49-F238E27FC236}">
                  <a16:creationId xmlns:a16="http://schemas.microsoft.com/office/drawing/2014/main" id="{89C0D718-FCA7-B5FD-56A9-48D1BA340964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21"/>
              </p:custDataLst>
            </p:nvPr>
          </p:nvGraphicFramePr>
          <p:xfrm>
            <a:off x="889" y="0"/>
            <a:ext cx="1542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7" imgW="686117" imgH="444817" progId="Equation.3">
                    <p:embed/>
                  </p:oleObj>
                </mc:Choice>
                <mc:Fallback>
                  <p:oleObj r:id="rId27" imgW="686117" imgH="444817" progId="Equation.3">
                    <p:embed/>
                    <p:pic>
                      <p:nvPicPr>
                        <p:cNvPr id="4098" name="内容占位符 23574">
                          <a:extLst>
                            <a:ext uri="{FF2B5EF4-FFF2-40B4-BE49-F238E27FC236}">
                              <a16:creationId xmlns:a16="http://schemas.microsoft.com/office/drawing/2014/main" id="{89C0D718-FCA7-B5FD-56A9-48D1BA34096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89" y="0"/>
                          <a:ext cx="1542" cy="58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23575">
            <a:extLst>
              <a:ext uri="{FF2B5EF4-FFF2-40B4-BE49-F238E27FC236}">
                <a16:creationId xmlns:a16="http://schemas.microsoft.com/office/drawing/2014/main" id="{75BD794F-2C04-2127-BF80-6B632960AEEF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7372350" y="3081272"/>
            <a:ext cx="3505200" cy="1982787"/>
            <a:chOff x="0" y="0"/>
            <a:chExt cx="2208" cy="1249"/>
          </a:xfrm>
        </p:grpSpPr>
        <p:pic>
          <p:nvPicPr>
            <p:cNvPr id="4118" name="图片 23576">
              <a:extLst>
                <a:ext uri="{FF2B5EF4-FFF2-40B4-BE49-F238E27FC236}">
                  <a16:creationId xmlns:a16="http://schemas.microsoft.com/office/drawing/2014/main" id="{52687B6F-C7E0-4C4D-9871-B64C57B8AC1A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7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0" y="0"/>
              <a:ext cx="2208" cy="1249"/>
            </a:xfrm>
            <a:prstGeom prst="rect">
              <a:avLst/>
            </a:prstGeom>
            <a:solidFill>
              <a:srgbClr val="FF9933"/>
            </a:solidFill>
            <a:ln w="9525">
              <a:solidFill>
                <a:schemeClr val="hlink"/>
              </a:solidFill>
              <a:miter lim="800000"/>
            </a:ln>
          </p:spPr>
        </p:pic>
        <p:sp>
          <p:nvSpPr>
            <p:cNvPr id="4119" name="文本框 23577">
              <a:extLst>
                <a:ext uri="{FF2B5EF4-FFF2-40B4-BE49-F238E27FC236}">
                  <a16:creationId xmlns:a16="http://schemas.microsoft.com/office/drawing/2014/main" id="{0F6C12AA-0E14-43BA-AFD2-888E43864F54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451" y="137"/>
              <a:ext cx="36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/>
                <a:t>F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58" grpId="0"/>
      <p:bldP spid="23559" grpId="0"/>
      <p:bldP spid="23560" grpId="0"/>
      <p:bldP spid="2356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 Box 2">
            <a:extLst>
              <a:ext uri="{FF2B5EF4-FFF2-40B4-BE49-F238E27FC236}">
                <a16:creationId xmlns:a16="http://schemas.microsoft.com/office/drawing/2014/main" id="{91DDD0D0-1796-4561-CE48-84F735C474F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42795" y="1262745"/>
            <a:ext cx="7227888" cy="707886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4000">
                <a:solidFill>
                  <a:srgbClr val="FF0000"/>
                </a:solidFill>
                <a:latin typeface="Arial"/>
                <a:ea typeface="黑体" pitchFamily="2" charset="-122"/>
              </a:rPr>
              <a:t>矢量与标量的根本区别是什么？</a:t>
            </a:r>
          </a:p>
        </p:txBody>
      </p:sp>
      <p:sp>
        <p:nvSpPr>
          <p:cNvPr id="113675" name="Rectangle 11">
            <a:extLst>
              <a:ext uri="{FF2B5EF4-FFF2-40B4-BE49-F238E27FC236}">
                <a16:creationId xmlns:a16="http://schemas.microsoft.com/office/drawing/2014/main" id="{84254CA1-333D-856A-1C9F-258EF467E23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42795" y="2506755"/>
            <a:ext cx="8424863" cy="120032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CN" sz="3600">
                <a:latin typeface="Arial"/>
                <a:ea typeface="黑体" pitchFamily="2" charset="-122"/>
              </a:rPr>
              <a:t>①</a:t>
            </a:r>
            <a:r>
              <a:rPr lang="zh-CN" altLang="en-US" sz="3600">
                <a:latin typeface="Arial"/>
                <a:ea typeface="黑体" pitchFamily="2" charset="-122"/>
              </a:rPr>
              <a:t>物理意义不同</a:t>
            </a:r>
            <a:r>
              <a:rPr lang="en-US" altLang="zh-CN" sz="3600">
                <a:latin typeface="Arial"/>
                <a:ea typeface="黑体" pitchFamily="2" charset="-122"/>
              </a:rPr>
              <a:t>——</a:t>
            </a:r>
            <a:r>
              <a:rPr lang="zh-CN" altLang="en-US" sz="3600">
                <a:latin typeface="Arial"/>
                <a:ea typeface="黑体" pitchFamily="2" charset="-122"/>
              </a:rPr>
              <a:t>矢量既有大小，又有方向；而标量只有大小而没有方向。</a:t>
            </a:r>
          </a:p>
        </p:txBody>
      </p:sp>
      <p:sp>
        <p:nvSpPr>
          <p:cNvPr id="113676" name="Rectangle 12">
            <a:extLst>
              <a:ext uri="{FF2B5EF4-FFF2-40B4-BE49-F238E27FC236}">
                <a16:creationId xmlns:a16="http://schemas.microsoft.com/office/drawing/2014/main" id="{ABD9FEB5-21C1-B11E-1E94-F5A6103300AE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42795" y="4192178"/>
            <a:ext cx="8431213" cy="1754326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CN" sz="3600">
                <a:latin typeface="Arial"/>
                <a:ea typeface="黑体" pitchFamily="2" charset="-122"/>
              </a:rPr>
              <a:t>②</a:t>
            </a:r>
            <a:r>
              <a:rPr lang="zh-CN" altLang="en-US" sz="3600">
                <a:latin typeface="Arial"/>
                <a:ea typeface="黑体" pitchFamily="2" charset="-122"/>
              </a:rPr>
              <a:t>运算规则不同</a:t>
            </a:r>
            <a:r>
              <a:rPr lang="en-US" altLang="zh-CN" sz="3600">
                <a:latin typeface="Arial"/>
                <a:ea typeface="黑体" pitchFamily="2" charset="-122"/>
              </a:rPr>
              <a:t>——</a:t>
            </a:r>
            <a:r>
              <a:rPr lang="zh-CN" altLang="en-US" sz="3600">
                <a:latin typeface="Arial"/>
                <a:ea typeface="黑体" pitchFamily="2" charset="-122"/>
              </a:rPr>
              <a:t>矢量的合成和分解满足平行四边形定则定则；而标量满足代数运算。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248119B-78C4-1B06-C64B-06CEA811A527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-174272" y="485263"/>
            <a:ext cx="37469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8D5E5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四、矢量与标量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6" grpId="0"/>
      <p:bldP spid="113675" grpId="0"/>
      <p:bldP spid="11367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B8EA394-847F-A5FA-9132-2408C030A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" y="725155"/>
            <a:ext cx="11950700" cy="54076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77443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3985B78-048A-5830-C647-79E3C092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" y="1173307"/>
            <a:ext cx="11950700" cy="4511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16449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DA3E8E6-64A5-DDEA-60C3-23C8ECAB4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" y="1113552"/>
            <a:ext cx="11950700" cy="46308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61534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2AD7CCC-22AB-2743-28D3-D40D0259F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" y="1023921"/>
            <a:ext cx="11950700" cy="48101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14082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17B8D50-9A36-146A-E783-55A4D888F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6237"/>
            <a:ext cx="10515600" cy="34964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35468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A1E301B-40B8-BE42-0D5D-BBC36483A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" y="1218122"/>
            <a:ext cx="11950700" cy="44217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60124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6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7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9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9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7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7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9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9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6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7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5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6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7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5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8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9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6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7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8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9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3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4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03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04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05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0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07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08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09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1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1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1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17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18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19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2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29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34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3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3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3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3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3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25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26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27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28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2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2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2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23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1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15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37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38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39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4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4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4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43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44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45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46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47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48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49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5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5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53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54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55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56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57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58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59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6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6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6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63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64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65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66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67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69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7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7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72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73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74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76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77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78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8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84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87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9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93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94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95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96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97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98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88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89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9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9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85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86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8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83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79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8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0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0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0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03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06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09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1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17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18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19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2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2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22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25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28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3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36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37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38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39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4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32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33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34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35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29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3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26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27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23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24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13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14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15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16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1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1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07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08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04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0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42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43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44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45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46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47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48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5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52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53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54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55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56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57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58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62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63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64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59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6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6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49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50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66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67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68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470</TotalTime>
  <Words>1141</Words>
  <Application>Microsoft Macintosh PowerPoint</Application>
  <PresentationFormat>Widescreen</PresentationFormat>
  <Paragraphs>147</Paragraphs>
  <Slides>25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41" baseType="lpstr">
      <vt:lpstr>等线</vt:lpstr>
      <vt:lpstr>楷体</vt:lpstr>
      <vt:lpstr>楷体_GB2312</vt:lpstr>
      <vt:lpstr>隶书</vt:lpstr>
      <vt:lpstr>Microsoft YaHei UI</vt:lpstr>
      <vt:lpstr>Microsoft YaHei UI Light</vt:lpstr>
      <vt:lpstr>黑体</vt:lpstr>
      <vt:lpstr>宋体</vt:lpstr>
      <vt:lpstr>华文楷体</vt:lpstr>
      <vt:lpstr>Arial</vt:lpstr>
      <vt:lpstr>Tahoma</vt:lpstr>
      <vt:lpstr>Times New Roman</vt:lpstr>
      <vt:lpstr>Wingdings</vt:lpstr>
      <vt:lpstr>Wingdings 2</vt:lpstr>
      <vt:lpstr>Office 主题​​</vt:lpstr>
      <vt:lpstr>Equation.3</vt:lpstr>
      <vt:lpstr>力的合成与分解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已知两个力求合力，结果有几组解？</vt:lpstr>
      <vt:lpstr>PowerPoint Presentation</vt:lpstr>
      <vt:lpstr>   已知两分力方向分解力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2</cp:revision>
  <dcterms:created xsi:type="dcterms:W3CDTF">2025-09-24T02:50:21Z</dcterms:created>
  <dcterms:modified xsi:type="dcterms:W3CDTF">2026-10-21T06:52:51Z</dcterms:modified>
</cp:coreProperties>
</file>