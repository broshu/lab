
<file path=[Content_Types].xml><?xml version="1.0" encoding="utf-8"?>
<Types xmlns="http://schemas.openxmlformats.org/package/2006/content-types">
  <Default Extension="bin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98" r:id="rId2"/>
    <p:sldId id="301" r:id="rId3"/>
    <p:sldId id="316" r:id="rId4"/>
    <p:sldId id="351" r:id="rId5"/>
    <p:sldId id="317" r:id="rId6"/>
    <p:sldId id="320" r:id="rId7"/>
    <p:sldId id="352" r:id="rId8"/>
    <p:sldId id="353" r:id="rId9"/>
    <p:sldId id="387" r:id="rId10"/>
    <p:sldId id="324" r:id="rId11"/>
    <p:sldId id="325" r:id="rId12"/>
    <p:sldId id="326" r:id="rId13"/>
    <p:sldId id="356" r:id="rId14"/>
    <p:sldId id="357" r:id="rId15"/>
    <p:sldId id="388" r:id="rId16"/>
    <p:sldId id="328" r:id="rId17"/>
    <p:sldId id="333" r:id="rId18"/>
    <p:sldId id="360" r:id="rId19"/>
    <p:sldId id="361" r:id="rId20"/>
    <p:sldId id="334" r:id="rId21"/>
    <p:sldId id="363" r:id="rId22"/>
    <p:sldId id="389" r:id="rId23"/>
    <p:sldId id="335" r:id="rId24"/>
    <p:sldId id="338" r:id="rId25"/>
    <p:sldId id="340" r:id="rId26"/>
    <p:sldId id="364" r:id="rId27"/>
    <p:sldId id="36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513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71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07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357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2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2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选择性必修第二册</a:t>
            </a: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bin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7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1177119" y="3013407"/>
            <a:ext cx="997063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专题强化2　洛伦兹力与现代科技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927471" y="5508940"/>
            <a:ext cx="9220285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b="1" kern="0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ontserrat" charset="0"/>
              </a:rPr>
              <a:t>第一章  安培力与洛伦兹力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333430" y="5687599"/>
            <a:ext cx="494561" cy="86484"/>
            <a:chOff x="2307018" y="469980"/>
            <a:chExt cx="697897" cy="122042"/>
          </a:xfrm>
        </p:grpSpPr>
        <p:sp>
          <p:nvSpPr>
            <p:cNvPr id="11" name="椭圆 10"/>
            <p:cNvSpPr/>
            <p:nvPr/>
          </p:nvSpPr>
          <p:spPr>
            <a:xfrm>
              <a:off x="2307018" y="469980"/>
              <a:ext cx="122042" cy="12204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2252A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594945" y="469980"/>
              <a:ext cx="122042" cy="122042"/>
            </a:xfrm>
            <a:prstGeom prst="ellipse">
              <a:avLst/>
            </a:prstGeom>
            <a:solidFill>
              <a:srgbClr val="00B05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B05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882873" y="469980"/>
              <a:ext cx="122042" cy="122042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22252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强化点一　速度选择器</a:t>
            </a:r>
          </a:p>
        </p:txBody>
      </p:sp>
    </p:spTree>
    <p:extLst>
      <p:ext uri="{BB962C8B-B14F-4D97-AF65-F5344CB8AC3E}">
        <p14:creationId xmlns:p14="http://schemas.microsoft.com/office/powerpoint/2010/main" val="55837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7" name="yt_shape_10647"/>
          <p:cNvSpPr txBox="1"/>
          <p:nvPr/>
        </p:nvSpPr>
        <p:spPr>
          <a:xfrm>
            <a:off x="324071" y="1059105"/>
            <a:ext cx="215443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如图所示，</a:t>
            </a:r>
          </a:p>
        </p:txBody>
      </p:sp>
      <p:pic>
        <p:nvPicPr>
          <p:cNvPr id="10648" name="yt_image_10648" title="H_103.103935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979" y="1794454"/>
            <a:ext cx="3076041" cy="130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0" name="yt_shape_10650"/>
          <p:cNvSpPr txBox="1"/>
          <p:nvPr/>
        </p:nvSpPr>
        <p:spPr>
          <a:xfrm>
            <a:off x="324071" y="3154373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空间存在互相垂直的匀强磁场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b5a37"/>
              </a:rPr>
              <a:t>和匀强电场，一束具有不同速率的带正电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荷的粒子沿水平方向进入电场和磁场所在空间，粒子的重力忽略不计。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3_54680"/>
              </a:rPr>
              <a:t>活动1.要使带正电的粒子能够沿直线匀速通过此区域，其受力需要满足什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么条件？速度大小需要满足什么条件？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0652"/>
              <p:cNvSpPr txBox="1"/>
              <p:nvPr/>
            </p:nvSpPr>
            <p:spPr>
              <a:xfrm>
                <a:off x="324000" y="5469204"/>
                <a:ext cx="4941096" cy="79239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提示：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条件：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qE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，即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7" name="yt_shape_106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5469204"/>
                <a:ext cx="4941096" cy="792396"/>
              </a:xfrm>
              <a:prstGeom prst="rect">
                <a:avLst/>
              </a:prstGeom>
              <a:blipFill>
                <a:blip r:embed="rId3"/>
                <a:stretch>
                  <a:fillRect l="-4316" r="-3206" b="-1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yt_image_10238" title="H_46.36795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76" y="470232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4" name="yt_shape_10654"/>
          <p:cNvSpPr txBox="1"/>
          <p:nvPr/>
        </p:nvSpPr>
        <p:spPr>
          <a:xfrm>
            <a:off x="324071" y="396781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4_8cac2"/>
              </a:rPr>
              <a:t>活动2.在满足活动1中的速度条件下，若只改变带电粒子的电性或电荷量，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粒子能否匀速通过？</a:t>
            </a:r>
          </a:p>
        </p:txBody>
      </p:sp>
      <p:sp>
        <p:nvSpPr>
          <p:cNvPr id="10655" name="yt_shape_10655"/>
          <p:cNvSpPr txBox="1"/>
          <p:nvPr/>
        </p:nvSpPr>
        <p:spPr>
          <a:xfrm>
            <a:off x="324000" y="1583008"/>
            <a:ext cx="898162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提示：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粒子仍能匀速通过，与粒子的电性及电荷量无关。</a:t>
            </a:r>
          </a:p>
        </p:txBody>
      </p:sp>
      <p:sp>
        <p:nvSpPr>
          <p:cNvPr id="10656" name="yt_shape_10656"/>
          <p:cNvSpPr txBox="1"/>
          <p:nvPr/>
        </p:nvSpPr>
        <p:spPr>
          <a:xfrm>
            <a:off x="324071" y="2165993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4_a3bbe"/>
              </a:rPr>
              <a:t>活动3.在满足活动1中的速度大小的条件下，让带电粒子从右端射入，粒子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能否匀速通过？</a:t>
            </a:r>
          </a:p>
        </p:txBody>
      </p:sp>
      <p:sp>
        <p:nvSpPr>
          <p:cNvPr id="10657" name="yt_shape_10657"/>
          <p:cNvSpPr txBox="1"/>
          <p:nvPr/>
        </p:nvSpPr>
        <p:spPr>
          <a:xfrm>
            <a:off x="324000" y="3352220"/>
            <a:ext cx="107769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提示：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不能。此时，洛伦兹力和电场力同向，粒子不能做直线运动。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5" grpId="0" build="allAtOnce"/>
      <p:bldP spid="1065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0" name="yt_shape_10660"/>
          <p:cNvSpPr txBox="1"/>
          <p:nvPr/>
        </p:nvSpPr>
        <p:spPr>
          <a:xfrm>
            <a:off x="324000" y="953193"/>
            <a:ext cx="351378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速度选择器构造：</a:t>
            </a:r>
          </a:p>
        </p:txBody>
      </p:sp>
      <p:pic>
        <p:nvPicPr>
          <p:cNvPr id="10661" name="yt_image_10661" title="H_146.88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m="http://schemas.openxmlformats.org/officeDocument/2006/math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967" y="1203348"/>
            <a:ext cx="2798064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63" name="yt_shape_10663"/>
              <p:cNvSpPr txBox="1"/>
              <p:nvPr/>
            </p:nvSpPr>
            <p:spPr>
              <a:xfrm>
                <a:off x="324071" y="3119101"/>
                <a:ext cx="11924914" cy="264721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0_70d26"/>
                  </a:rPr>
                  <a:t>如图所示，两极板间存在匀强电场和匀强磁场，二者方向互相垂直，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带电粒子从左侧平行于极板射入，不计粒子重力。</a:t>
                </a:r>
              </a:p>
              <a:p>
                <a:pPr marL="621665" indent="-621587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．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工作原理：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5_1fc98"/>
                  </a:rPr>
                  <a:t>带电粒子沿虚线做匀速直线运动时，受到的静电力和洛伦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兹力大小相等，方向相反，有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qE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，可得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  <a:p>
                <a:pPr marL="621665" indent="-621587" algn="l" eaLnBrk="1" latinLnBrk="0" hangingPunct="0">
                  <a:lnSpc>
                    <a:spcPct val="140000"/>
                  </a:lnSpc>
                </a:pPr>
                <a:endParaRPr lang="zh-CN" altLang="zh-CN" sz="2800" b="0" i="0" u="none" dirty="0">
                  <a:solidFill>
                    <a:srgbClr val="000000"/>
                  </a:solidFill>
                  <a:effectLst/>
                  <a:latin typeface="Times New Roman" pitchFamily="28"/>
                  <a:ea typeface="宋体" pitchFamily="28"/>
                </a:endParaRPr>
              </a:p>
            </p:txBody>
          </p:sp>
        </mc:Choice>
        <mc:Fallback xmlns:p14="http://schemas.microsoft.com/office/powerpoint/2010/main" xmlns:a16="http://schemas.microsoft.com/office/drawing/2014/main" xmlns:p15="http://schemas.microsoft.com/office/powerpoint/2012/main" xmlns:m="http://schemas.openxmlformats.org/officeDocument/2006/math" xmlns="">
          <p:sp>
            <p:nvSpPr>
              <p:cNvPr id="10663" name="yt_shape_106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119101"/>
                <a:ext cx="11924914" cy="2647218"/>
              </a:xfrm>
              <a:prstGeom prst="rect">
                <a:avLst/>
              </a:prstGeom>
              <a:blipFill>
                <a:blip r:embed="rId3"/>
                <a:stretch>
                  <a:fillRect l="-1789" t="-922" b="-1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yt_image_10248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:m="http://schemas.openxmlformats.org/officeDocument/2006/math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55" y="435182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m="http://schemas.openxmlformats.org/officeDocument/2006/math" xmlns:p14="http://schemas.microsoft.com/office/powerpoint/2010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68" name="yt_shape_10668"/>
              <p:cNvSpPr txBox="1"/>
              <p:nvPr/>
            </p:nvSpPr>
            <p:spPr>
              <a:xfrm>
                <a:off x="324071" y="1139801"/>
                <a:ext cx="11924914" cy="138550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①当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时，粒子向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洛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方向偏转，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4_161c1"/>
                  </a:rPr>
                  <a:t>做负功，粒子的动能减小，电势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能增大。</a:t>
                </a:r>
              </a:p>
            </p:txBody>
          </p:sp>
        </mc:Choice>
        <mc:Fallback xmlns:m="http://schemas.openxmlformats.org/officeDocument/2006/math" xmlns:p15="http://schemas.microsoft.com/office/powerpoint/2012/main" xmlns="">
          <p:sp>
            <p:nvSpPr>
              <p:cNvPr id="10668" name="yt_shape_106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139801"/>
                <a:ext cx="11924914" cy="1385507"/>
              </a:xfrm>
              <a:prstGeom prst="rect">
                <a:avLst/>
              </a:prstGeom>
              <a:blipFill>
                <a:blip r:embed="rId2"/>
                <a:stretch>
                  <a:fillRect b="-13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70" name="yt_shape_10670"/>
              <p:cNvSpPr txBox="1"/>
              <p:nvPr/>
            </p:nvSpPr>
            <p:spPr>
              <a:xfrm>
                <a:off x="324000" y="2660073"/>
                <a:ext cx="8351645" cy="79239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②当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时，粒子向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方向偏转，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做正功，粒</a:t>
                </a:r>
              </a:p>
            </p:txBody>
          </p:sp>
        </mc:Choice>
        <mc:Fallback xmlns:m="http://schemas.openxmlformats.org/officeDocument/2006/math" xmlns:p15="http://schemas.microsoft.com/office/powerpoint/2012/main" xmlns="">
          <p:sp>
            <p:nvSpPr>
              <p:cNvPr id="10670" name="yt_shape_106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00" y="2660073"/>
                <a:ext cx="8351645" cy="792396"/>
              </a:xfrm>
              <a:prstGeom prst="rect">
                <a:avLst/>
              </a:prstGeom>
              <a:blipFill>
                <a:blip r:embed="rId3"/>
                <a:stretch>
                  <a:fillRect r="-1314" b="-1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06016" y="455329"/>
                <a:ext cx="8400662" cy="701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zh-CN" sz="2800" b="1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．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dirty="0">
                    <a:solidFill>
                      <a:srgbClr val="000000"/>
                    </a:solidFill>
                    <a:latin typeface="Times New Roman" pitchFamily="28"/>
                    <a:ea typeface="黑体" pitchFamily="28"/>
                  </a:rPr>
                  <a:t>特点：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（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黑体" pitchFamily="28"/>
                  </a:rPr>
                  <a:t>1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）速度选择器选择的速度大小</a:t>
                </a:r>
                <a:r>
                  <a:rPr lang="zh-CN" altLang="zh-CN" sz="2800" i="1" dirty="0">
                    <a:solidFill>
                      <a:srgbClr val="000000"/>
                    </a:solidFill>
                    <a:latin typeface="Times New Roman" pitchFamily="28"/>
                    <a:ea typeface="黑体" pitchFamily="28"/>
                  </a:rPr>
                  <a:t>v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solidFill>
                              <a:srgbClr val="01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rgbClr val="01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1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:m="http://schemas.openxmlformats.org/officeDocument/2006/math" xmlns:p15="http://schemas.microsoft.com/office/powerpoint/2012/main"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016" y="455329"/>
                <a:ext cx="8400662" cy="701859"/>
              </a:xfrm>
              <a:prstGeom prst="rect">
                <a:avLst/>
              </a:prstGeom>
              <a:blipFill>
                <a:blip r:embed="rId4"/>
                <a:stretch>
                  <a:fillRect l="-1524" t="-870" b="-10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yt_shape_10672"/>
          <p:cNvSpPr txBox="1"/>
          <p:nvPr/>
        </p:nvSpPr>
        <p:spPr>
          <a:xfrm>
            <a:off x="324071" y="3500447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子的动能增大，电势能减小。</a:t>
            </a:r>
          </a:p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cd534"/>
              </a:rPr>
              <a:t>（2）速度选择器选择的速度方向：只能选择单一速度方向，若粒子从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另一方向射入，则不能沿着直线穿出速度选择器。</a:t>
            </a:r>
          </a:p>
        </p:txBody>
      </p:sp>
      <p:sp>
        <p:nvSpPr>
          <p:cNvPr id="7" name="yt_shape_10674"/>
          <p:cNvSpPr txBox="1"/>
          <p:nvPr/>
        </p:nvSpPr>
        <p:spPr>
          <a:xfrm>
            <a:off x="324000" y="5385230"/>
            <a:ext cx="1122037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（3）速度选择器无法选择：粒子的质量、电性正负、电荷量大小。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5" name="yt_shape_10675"/>
          <p:cNvSpPr txBox="1"/>
          <p:nvPr/>
        </p:nvSpPr>
        <p:spPr>
          <a:xfrm>
            <a:off x="-11831" y="425831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51003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1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•湖北武汉期末）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9024c"/>
              </a:rPr>
              <a:t>速度选择器在现代科技中扮演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8_b1f00"/>
              </a:rPr>
              <a:t>着至关重要且不可替代的角色，它为许多高精尖仪器和设备的开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8_c5fb3"/>
              </a:rPr>
              <a:t>发打下基础。在如图所示的速度选择器中，两平行板间有电场强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度为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E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4_83aca"/>
              </a:rPr>
              <a:t>的匀强电场，方向向上，垂直纸面方向存在一匀强磁场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（方向未知），一带电荷量为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q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5c18e"/>
              </a:rPr>
              <a:t>的正离子（不计重力），垂直电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场方向以速度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从小孔S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飞入两板间，沿直线飞出小孔S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35dc7"/>
              </a:rPr>
              <a:t>，下列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说法中正确的是（　　）</a:t>
            </a:r>
          </a:p>
        </p:txBody>
      </p:sp>
      <p:pic>
        <p:nvPicPr>
          <p:cNvPr id="4" name="yt_image_10676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p14="http://schemas.microsoft.com/office/powerpoint/2010/main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705" y="4676105"/>
            <a:ext cx="5182819" cy="175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678" name="yt_table_10678" title="H_191.3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7941839"/>
                  </p:ext>
                </p:extLst>
              </p:nvPr>
            </p:nvGraphicFramePr>
            <p:xfrm>
              <a:off x="565154" y="385604"/>
              <a:ext cx="10823575" cy="2429764"/>
            </p:xfrm>
            <a:graphic>
              <a:graphicData uri="http://schemas.openxmlformats.org/drawingml/2006/table">
                <a:tbl>
                  <a:tblPr/>
                  <a:tblGrid>
                    <a:gridCol w="10823575">
                      <a:extLst>
                        <a:ext uri="{9D8B030D-6E8A-4147-A177-3AD203B41FA5}">
                          <a16:colId xmlns:a16="http://schemas.microsoft.com/office/drawing/2014/main" val="100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磁场方向垂直纸面向里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磁感应强度大小为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𝐸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𝑞𝑣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若该离子从小孔S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飞入也一定能从小孔S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若该离子的电荷量为2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q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，从小孔S</a:t>
                          </a:r>
                          <a:r>
                            <a:rPr lang="zh-CN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飞入也一定能从小孔S</a:t>
                          </a:r>
                          <a:r>
                            <a:rPr lang="zh-CN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4"/>
                      </a:ext>
                    </a:extLst>
                  </a:tr>
                </a:tbl>
              </a:graphicData>
            </a:graphic>
          </p:graphicFrame>
        </mc:Choice>
        <mc:Fallback xmlns:p14="http://schemas.microsoft.com/office/powerpoint/2010/main" xmlns:a16="http://schemas.microsoft.com/office/drawing/2014/main" xmlns="">
          <p:graphicFrame>
            <p:nvGraphicFramePr>
              <p:cNvPr id="10678" name="yt_table_10678" title="H_191.3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7941839"/>
                  </p:ext>
                </p:extLst>
              </p:nvPr>
            </p:nvGraphicFramePr>
            <p:xfrm>
              <a:off x="565154" y="385604"/>
              <a:ext cx="10823575" cy="2706116"/>
            </p:xfrm>
            <a:graphic>
              <a:graphicData uri="http://schemas.openxmlformats.org/drawingml/2006/table">
                <a:tbl>
                  <a:tblPr/>
                  <a:tblGrid>
                    <a:gridCol w="10823575">
                      <a:extLst>
                        <a:ext uri="{9D8B030D-6E8A-4147-A177-3AD203B41FA5}">
                          <a16:colId xmlns:a16="http://schemas.microsoft.com/office/drawing/2014/main" val="10056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磁场方向垂直纸面向里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1"/>
                      </a:ext>
                    </a:extLst>
                  </a:tr>
                  <a:tr h="9138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64901" b="-1496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62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若该离子从小孔S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飞入也一定能从小孔S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3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若该离子的电荷量为2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q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，从小孔S</a:t>
                          </a:r>
                          <a:r>
                            <a:rPr lang="zh-CN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飞入也一定能从小孔S</a:t>
                          </a:r>
                          <a:r>
                            <a:rPr lang="zh-CN" altLang="zh-CN" sz="2800" b="0" i="0" u="none" baseline="-25000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飞出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 4"/>
          <p:cNvSpPr/>
          <p:nvPr/>
        </p:nvSpPr>
        <p:spPr>
          <a:xfrm>
            <a:off x="324000" y="254202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yt_shape_10680"/>
              <p:cNvSpPr txBox="1"/>
              <p:nvPr/>
            </p:nvSpPr>
            <p:spPr>
              <a:xfrm>
                <a:off x="-963555" y="3267182"/>
                <a:ext cx="12421548" cy="3245586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510030" algn="l" eaLnBrk="1" latinLnBrk="0" hangingPunct="0">
                  <a:lnSpc>
                    <a:spcPct val="12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5_d45ad"/>
                  </a:rPr>
                  <a:t>正离子在速度选择器中所受静电力方向竖直向上，则所受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7_7a479"/>
                  </a:rPr>
                  <a:t>洛伦兹力方向竖直向下，由左手定则可知磁场方向垂直纸面向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外，故A错误；由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，可得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4a024"/>
                  </a:rPr>
                  <a:t>，故B错误；若该离子从小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孔S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6_a9013"/>
                  </a:rPr>
                  <a:t>飞入，所受静电力和洛伦兹力方向都竖直向上，不能从小孔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S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飞出，故C错误；若该离子的电荷量为2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b169a"/>
                  </a:rPr>
                  <a:t>，所受静电力与洛伦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兹力依然是一对平衡力，从小孔S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飞入也一定能从小孔S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07693"/>
                  </a:rPr>
                  <a:t>飞出，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故D正确。</a:t>
                </a:r>
              </a:p>
            </p:txBody>
          </p:sp>
        </mc:Choice>
        <mc:Fallback xmlns="">
          <p:sp>
            <p:nvSpPr>
              <p:cNvPr id="6" name="yt_shape_106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3555" y="3267182"/>
                <a:ext cx="12421548" cy="3245586"/>
              </a:xfrm>
              <a:prstGeom prst="rect">
                <a:avLst/>
              </a:prstGeom>
              <a:blipFill>
                <a:blip r:embed="rId3"/>
                <a:stretch>
                  <a:fillRect t="-2820" r="-1129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　磁流体发电机</a:t>
            </a:r>
          </a:p>
        </p:txBody>
      </p:sp>
    </p:spTree>
    <p:extLst>
      <p:ext uri="{BB962C8B-B14F-4D97-AF65-F5344CB8AC3E}">
        <p14:creationId xmlns:p14="http://schemas.microsoft.com/office/powerpoint/2010/main" val="198782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3" name="yt_shape_10683"/>
          <p:cNvSpPr txBox="1"/>
          <p:nvPr/>
        </p:nvSpPr>
        <p:spPr>
          <a:xfrm>
            <a:off x="324071" y="397838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结构及原理：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4_4af76"/>
              </a:rPr>
              <a:t>磁流体发电机的发电原理图如图甲所示，其平面图如图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乙所示。</a:t>
            </a:r>
          </a:p>
        </p:txBody>
      </p:sp>
      <p:pic>
        <p:nvPicPr>
          <p:cNvPr id="10684" name="yt_image_1068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296" y="1381865"/>
            <a:ext cx="5221406" cy="251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0686"/>
              <p:cNvSpPr txBox="1"/>
              <p:nvPr/>
            </p:nvSpPr>
            <p:spPr>
              <a:xfrm>
                <a:off x="324071" y="4050950"/>
                <a:ext cx="11924914" cy="200189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设带电粒子的运动速度为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，带电荷量为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2_f88d4"/>
                  </a:rPr>
                  <a:t>，匀强磁场的磁感应强度为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，M、N极板间距离为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，极板间电压为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，当粒子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（不计重力）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54a35"/>
                  </a:rPr>
                  <a:t>匀速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直线通过时，根据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F</a:t>
                </a:r>
                <a:r>
                  <a:rPr lang="zh-CN" altLang="zh-CN" sz="2800" b="0" i="1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F</a:t>
                </a:r>
                <a:r>
                  <a:rPr lang="zh-CN" altLang="zh-CN" sz="2800" b="0" i="1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，有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qE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𝑞𝑈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，可得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Bdv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:p15="http://schemas.microsoft.com/office/powerpoint/2012/main" xmlns="">
          <p:sp>
            <p:nvSpPr>
              <p:cNvPr id="5" name="yt_shape_106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050950"/>
                <a:ext cx="11924914" cy="2001895"/>
              </a:xfrm>
              <a:prstGeom prst="rect">
                <a:avLst/>
              </a:prstGeom>
              <a:blipFill>
                <a:blip r:embed="rId3"/>
                <a:stretch>
                  <a:fillRect t="-1220" b="-5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8" name="yt_shape_10688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电源的电动势</a:t>
            </a:r>
          </a:p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5d97c"/>
              </a:rPr>
              <a:t>（1）大小：外电路断开时，电源电动势的大小等于路端电压，故此磁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流体发电机的电动势为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Bdv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。</a:t>
            </a:r>
          </a:p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52db9"/>
              </a:rPr>
              <a:t>（2）正、负极的判断：根据左手定则可判断，正离子向M极板偏转，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7_e198a"/>
              </a:rPr>
              <a:t>M极板积聚正离子，电势高，为发电机正极，N极板积聚负离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子，电势低，为发电机负极。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91" name="yt_shape_10691"/>
              <p:cNvSpPr txBox="1"/>
              <p:nvPr/>
            </p:nvSpPr>
            <p:spPr>
              <a:xfrm>
                <a:off x="324071" y="467999"/>
                <a:ext cx="11924914" cy="527388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indent="-621587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．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电源的内阻：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【例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2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隶书" pitchFamily="28"/>
                  </a:rPr>
                  <a:t>〔多选〕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隶书" pitchFamily="28"/>
                  </a:rPr>
                  <a:t>2026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•浙江宁波期末）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2_1f479"/>
                  </a:rPr>
                  <a:t>在磁流体发电机燃烧室产生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0_10dc7"/>
                  </a:rPr>
                  <a:t>的高温燃气中加入钠盐，电离后的钠盐经喷管加速被高速喷入发电通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道，如图所示。若喷入发电通道的离子速度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000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0_b21a3"/>
                  </a:rPr>
                  <a:t> m/s，发电通道处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在磁感应强度大小为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2_80316"/>
                  </a:rPr>
                  <a:t>=6 T的匀强磁场中，发电通道的截面是边长为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=20 cm的正方形，长为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9_ca603"/>
                  </a:rPr>
                  <a:t> m，其内导电离子可视为均匀分布，等效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电阻率为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ρ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=2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•m，在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PQ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段接上阻值为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3_bc290"/>
                  </a:rPr>
                  <a:t>的电阻，忽略边缘效应，则下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列说法正确的是（　　）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691" name="yt_shape_10691" descr="{&quot;rangeId&quot;:40,&quot;color&quot;:&quot;B&quot;,&quot;hasSerialNum&quot;:1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5273880"/>
              </a:xfrm>
              <a:prstGeom prst="rect">
                <a:avLst/>
              </a:prstGeom>
              <a:blipFill>
                <a:blip r:embed="rId2"/>
                <a:stretch>
                  <a:fillRect l="-1848" r="-1267" b="-27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96" name="yt_table_10696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237997"/>
              </p:ext>
            </p:extLst>
          </p:nvPr>
        </p:nvGraphicFramePr>
        <p:xfrm>
          <a:off x="945753" y="3389777"/>
          <a:ext cx="9164574" cy="2389632"/>
        </p:xfrm>
        <a:graphic>
          <a:graphicData uri="http://schemas.openxmlformats.org/drawingml/2006/table">
            <a:tbl>
              <a:tblPr/>
              <a:tblGrid>
                <a:gridCol w="9164574">
                  <a:extLst>
                    <a:ext uri="{9D8B030D-6E8A-4147-A177-3AD203B41FA5}">
                      <a16:colId xmlns:a16="http://schemas.microsoft.com/office/drawing/2014/main" val="10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700952" indent="-70095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</a:t>
                      </a:r>
                      <a:r>
                        <a:rPr lang="zh-CN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中的电流方向为从</a:t>
                      </a:r>
                      <a:r>
                        <a:rPr lang="zh-CN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Q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到</a:t>
                      </a:r>
                      <a:r>
                        <a:rPr lang="zh-CN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P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1269" indent="-681269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洛伦兹力对高温离子做了正功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81269" indent="-681269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C．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磁流体发电机的电动势为1 200 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00952" indent="-70095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D．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当外接电阻为</a:t>
                      </a:r>
                      <a:r>
                        <a:rPr lang="zh-CN" altLang="zh-CN" sz="2800" b="0" i="1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R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=9 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Times New Roman" pitchFamily="28"/>
                        </a:rPr>
                        <a:t>Ω</a:t>
                      </a:r>
                      <a:r>
                        <a:rPr lang="zh-CN" altLang="zh-CN" sz="2800" b="0" i="0" u="none" dirty="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时，理想电压表的示数为900 V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8"/>
                  </a:ext>
                </a:extLst>
              </a:tr>
            </a:tbl>
          </a:graphicData>
        </a:graphic>
      </p:graphicFrame>
      <p:pic>
        <p:nvPicPr>
          <p:cNvPr id="10695" name="yt_image_10695_skip" title="H_230.11197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5937" y="467999"/>
            <a:ext cx="4498846" cy="292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737836" y="458459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7836" y="533589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99" name="yt_shape_10699"/>
              <p:cNvSpPr txBox="1"/>
              <p:nvPr/>
            </p:nvSpPr>
            <p:spPr>
              <a:xfrm>
                <a:off x="324071" y="467999"/>
                <a:ext cx="11924914" cy="528599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7_a5228"/>
                  </a:rPr>
                  <a:t>根据左手定则可知，高温正离子受到向上的洛伦兹力作用向上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0_36170"/>
                  </a:rPr>
                  <a:t>偏转，负离子受到向下的洛伦兹力作用向下偏转，故上极板为正极，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下极板为负极，因此电阻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中的电流方向为从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P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到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ef627"/>
                  </a:rPr>
                  <a:t>，故A错误；洛伦兹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9_5d175"/>
                  </a:rPr>
                  <a:t>力方向始终与速度方向垂直，只改变速度的方向，不改变速度的大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8_4a438"/>
                  </a:rPr>
                  <a:t>小，洛伦兹力永不做功，故B错误；磁流体发电机的等效内阻为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𝑑𝑎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=3 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Ω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，离子在发电通道中匀速运动时，由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c193"/>
                  </a:rPr>
                  <a:t>，可得磁流体发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电机的电动势为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Bva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=1 200 V，则流过电阻的电流为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𝐸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＋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0bd90"/>
                  </a:rPr>
                  <a:t>=100 A，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则理想电压表的示数为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=900 V，故C、D正确。</a:t>
                </a:r>
              </a:p>
            </p:txBody>
          </p:sp>
        </mc:Choice>
        <mc:Fallback xmlns="">
          <p:sp>
            <p:nvSpPr>
              <p:cNvPr id="10699" name="yt_shape_106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285999"/>
              </a:xfrm>
              <a:prstGeom prst="rect">
                <a:avLst/>
              </a:prstGeom>
              <a:blipFill>
                <a:blip r:embed="rId2"/>
                <a:stretch>
                  <a:fillRect t="-461" b="-3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强化点三　电磁流量计</a:t>
            </a:r>
          </a:p>
        </p:txBody>
      </p:sp>
    </p:spTree>
    <p:extLst>
      <p:ext uri="{BB962C8B-B14F-4D97-AF65-F5344CB8AC3E}">
        <p14:creationId xmlns:p14="http://schemas.microsoft.com/office/powerpoint/2010/main" val="83689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9" name="yt_shape_10709"/>
          <p:cNvSpPr txBox="1"/>
          <p:nvPr/>
        </p:nvSpPr>
        <p:spPr>
          <a:xfrm>
            <a:off x="324000" y="500476"/>
            <a:ext cx="63783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作用：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测量管道内带电液体的流量。</a:t>
            </a:r>
          </a:p>
        </p:txBody>
      </p:sp>
      <p:sp>
        <p:nvSpPr>
          <p:cNvPr id="10710" name="yt_shape_10710"/>
          <p:cNvSpPr txBox="1"/>
          <p:nvPr/>
        </p:nvSpPr>
        <p:spPr>
          <a:xfrm>
            <a:off x="324000" y="1083461"/>
            <a:ext cx="709649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构造：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图甲、乙是电磁流量计的示意图。</a:t>
            </a:r>
          </a:p>
        </p:txBody>
      </p:sp>
      <p:pic>
        <p:nvPicPr>
          <p:cNvPr id="10711" name="yt_image_10711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702" y="1666446"/>
            <a:ext cx="5676595" cy="202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13" name="yt_shape_10713"/>
              <p:cNvSpPr txBox="1"/>
              <p:nvPr/>
            </p:nvSpPr>
            <p:spPr>
              <a:xfrm>
                <a:off x="324071" y="467999"/>
                <a:ext cx="11924914" cy="346678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indent="-35492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.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原理：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设圆管的直径为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，磁感应强度为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、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10_c0050"/>
                  </a:rPr>
                  <a:t>两点间的电势差是由于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1_4d6ae"/>
                  </a:rPr>
                  <a:t>导电液体中电荷受到洛伦兹力作用，在管壁的上、下两侧堆积产生的。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到一定程度后，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、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两点间的电势差达到稳定值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U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9_76701"/>
                  </a:rPr>
                  <a:t>，上、下两侧堆积的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电荷不再增多，此时，洛伦兹力和静电力平衡，有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qvB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qE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q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fc564"/>
                  </a:rPr>
                  <a:t>，所以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𝐷𝐵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，又圆管的横截面积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π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，故流量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Q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Sv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𝑈𝐷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0713" name="yt_shape_10713" descr="{&quot;rangeId&quot;:81,&quot;color&quot;:&quot;B&quot;,&quot;hasSerialNum&quot;:1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3466783"/>
              </a:xfrm>
              <a:prstGeom prst="rect">
                <a:avLst/>
              </a:prstGeom>
              <a:blipFill>
                <a:blip r:embed="rId2"/>
                <a:stretch>
                  <a:fillRect l="-1848" t="-704" r="-1267" b="-2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5" name="yt_shape_10715"/>
          <p:cNvSpPr txBox="1"/>
          <p:nvPr/>
        </p:nvSpPr>
        <p:spPr>
          <a:xfrm>
            <a:off x="324071" y="467999"/>
            <a:ext cx="11924914" cy="35484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•山东省淄博市高二下学期期末）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afafc"/>
              </a:rPr>
              <a:t>为了无损测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25188"/>
              </a:rPr>
              <a:t>量有污染废弃导电液体的流量，常用到一种电磁流量计，如图甲所示。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db553"/>
              </a:rPr>
              <a:t>其原理可以简化为如图乙所示模型：液体从管右侧流入，左侧流出，流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量值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等于单位时间通过横截面的液体的体积。已知管的直径为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c3b60"/>
              </a:rPr>
              <a:t>，匀强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磁场垂直纸面向外，磁感应强度为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fca4e"/>
              </a:rPr>
              <a:t>，管中各处液体的流速均相同，测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出管壁上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N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两点的电势差为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U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，下列说法正确的是（　　）</a:t>
            </a:r>
          </a:p>
        </p:txBody>
      </p:sp>
      <p:pic>
        <p:nvPicPr>
          <p:cNvPr id="3" name="yt_image_10716_skip" title="H_183.74402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968" y="3976306"/>
            <a:ext cx="5182819" cy="233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17" name="yt_table_10717_skip" title="H_208.58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583711"/>
                  </p:ext>
                </p:extLst>
              </p:nvPr>
            </p:nvGraphicFramePr>
            <p:xfrm>
              <a:off x="679053" y="375072"/>
              <a:ext cx="8745538" cy="2649030"/>
            </p:xfrm>
            <a:graphic>
              <a:graphicData uri="http://schemas.openxmlformats.org/drawingml/2006/table">
                <a:tbl>
                  <a:tblPr/>
                  <a:tblGrid>
                    <a:gridCol w="8745538">
                      <a:extLst>
                        <a:ext uri="{9D8B030D-6E8A-4147-A177-3AD203B41FA5}">
                          <a16:colId xmlns:a16="http://schemas.microsoft.com/office/drawing/2014/main" val="1005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点的电势高于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稳定后液体的流速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宋体" panose="02040503050406030204" pitchFamily="56" charset="0"/>
                                    </a:rPr>
                                    <m:t>π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𝐵𝑑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电磁流量计也可以用于测量不导电的液体的流速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液体流量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Q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宋体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宋体" panose="02040503050406030204" pitchFamily="56" charset="0"/>
                                    </a:rPr>
                                    <m:t>π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𝑈𝑑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4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𝐵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6"/>
                      </a:ext>
                    </a:extLst>
                  </a:tr>
                </a:tbl>
              </a:graphicData>
            </a:graphic>
          </p:graphicFrame>
        </mc:Choice>
        <mc:Fallback xmlns:p14="http://schemas.microsoft.com/office/powerpoint/2010/main" xmlns:a16="http://schemas.microsoft.com/office/drawing/2014/main" xmlns="">
          <p:graphicFrame>
            <p:nvGraphicFramePr>
              <p:cNvPr id="10717" name="yt_table_10717_skip" title="H_208.58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3583711"/>
                  </p:ext>
                </p:extLst>
              </p:nvPr>
            </p:nvGraphicFramePr>
            <p:xfrm>
              <a:off x="679053" y="375072"/>
              <a:ext cx="8745538" cy="2912428"/>
            </p:xfrm>
            <a:graphic>
              <a:graphicData uri="http://schemas.openxmlformats.org/drawingml/2006/table">
                <a:tbl>
                  <a:tblPr/>
                  <a:tblGrid>
                    <a:gridCol w="8745538">
                      <a:extLst>
                        <a:ext uri="{9D8B030D-6E8A-4147-A177-3AD203B41FA5}">
                          <a16:colId xmlns:a16="http://schemas.microsoft.com/office/drawing/2014/main" val="10059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点的电势高于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点的电势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3"/>
                      </a:ext>
                    </a:extLst>
                  </a:tr>
                  <a:tr h="8489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70000" b="-182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4"/>
                      </a:ext>
                    </a:extLst>
                  </a:tr>
                  <a:tr h="597408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电磁流量计也可以用于测量不导电的液体的流速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5"/>
                      </a:ext>
                    </a:extLst>
                  </a:tr>
                  <a:tr h="86861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234965" b="-97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矩形 4"/>
          <p:cNvSpPr/>
          <p:nvPr/>
        </p:nvSpPr>
        <p:spPr>
          <a:xfrm>
            <a:off x="368571" y="29334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3812" y="250494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yt_shape_10719"/>
              <p:cNvSpPr txBox="1"/>
              <p:nvPr/>
            </p:nvSpPr>
            <p:spPr>
              <a:xfrm>
                <a:off x="324071" y="3285842"/>
                <a:ext cx="11665766" cy="309629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algn="l" eaLnBrk="1" latinLnBrk="0" hangingPunct="0">
                  <a:lnSpc>
                    <a:spcPct val="12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根据左手定则可知正电荷向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聚集，负电荷向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聚集，则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M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3ef5c"/>
                  </a:rPr>
                  <a:t>点的电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势高于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5_3d59e"/>
                  </a:rPr>
                  <a:t>点的电势，故A正确；稳定后，静电力等于洛伦兹力，有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，可得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3_d16cd"/>
                  </a:rPr>
                  <a:t>，故B错误；不导电的液体里面没有自由移动的带电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0_54f25"/>
                  </a:rPr>
                  <a:t>粒子，所以电磁流量计不可以用于测量不导电的液体的流速，故C错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误；液体流量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Sv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π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•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zh-CN" sz="2800" b="0" i="0" u="none" baseline="30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𝑈𝑑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，故D正确。</a:t>
                </a:r>
              </a:p>
            </p:txBody>
          </p:sp>
        </mc:Choice>
        <mc:Fallback xmlns="">
          <p:sp>
            <p:nvSpPr>
              <p:cNvPr id="7" name="yt_shape_107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3285842"/>
                <a:ext cx="11665766" cy="3096297"/>
              </a:xfrm>
              <a:prstGeom prst="rect">
                <a:avLst/>
              </a:prstGeom>
              <a:blipFill>
                <a:blip r:embed="rId3"/>
                <a:stretch>
                  <a:fillRect t="-2953" r="-209" b="-15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3" name="yt_shape_10723"/>
          <p:cNvSpPr txBox="1"/>
          <p:nvPr/>
        </p:nvSpPr>
        <p:spPr>
          <a:xfrm>
            <a:off x="324071" y="813232"/>
            <a:ext cx="11543998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2fa79"/>
              </a:rPr>
              <a:t>某污水处理站的管道中安装了如图所示的电磁流量计，该装置由绝缘材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料制成，长、宽、高分别为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，左右两端开口，磁感应强度为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be529"/>
              </a:rPr>
              <a:t>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d0092"/>
              </a:rPr>
              <a:t>匀强磁场方向垂直于上表面向下，前后两面的内侧固定有薄金属板作为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31c9b"/>
              </a:rPr>
              <a:t>电极。含有大量正负离子（离子所受重力不计）的污水充满管道从左向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右流经该装置时，电压表所显示的两电极间的电压为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，则（　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25" name="yt_table_10725_skip" title="H_254.09007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1172217"/>
                  </p:ext>
                </p:extLst>
              </p:nvPr>
            </p:nvGraphicFramePr>
            <p:xfrm>
              <a:off x="679053" y="3809185"/>
              <a:ext cx="10555004" cy="2629536"/>
            </p:xfrm>
            <a:graphic>
              <a:graphicData uri="http://schemas.openxmlformats.org/drawingml/2006/table">
                <a:tbl>
                  <a:tblPr/>
                  <a:tblGrid>
                    <a:gridCol w="10555004">
                      <a:extLst>
                        <a:ext uri="{9D8B030D-6E8A-4147-A177-3AD203B41FA5}">
                          <a16:colId xmlns:a16="http://schemas.microsoft.com/office/drawing/2014/main" val="100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电磁流量计后表面的电势低于前表面的电势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污水的流速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𝐵𝑏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 dirty="0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污水的流速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𝐵𝑐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3_bb8b7"/>
                            </a:rPr>
                            <a:t>若仅增大污水中正负离子的浓度，则两电极间的电压</a:t>
                          </a:r>
                          <a:r>
                            <a:rPr lang="zh-CN" altLang="zh-CN" sz="2800" b="0" i="1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将增大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0"/>
                      </a:ext>
                    </a:extLst>
                  </a:tr>
                </a:tbl>
              </a:graphicData>
            </a:graphic>
          </p:graphicFrame>
        </mc:Choice>
        <mc:Fallback xmlns:p15="http://schemas.microsoft.com/office/powerpoint/2012/main" xmlns:p14="http://schemas.microsoft.com/office/powerpoint/2010/main" xmlns:a16="http://schemas.microsoft.com/office/drawing/2014/main" xmlns="">
          <p:graphicFrame>
            <p:nvGraphicFramePr>
              <p:cNvPr id="10725" name="yt_table_10725_skip" title="H_254.09007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1172217"/>
                  </p:ext>
                </p:extLst>
              </p:nvPr>
            </p:nvGraphicFramePr>
            <p:xfrm>
              <a:off x="679053" y="3809185"/>
              <a:ext cx="10555004" cy="2821052"/>
            </p:xfrm>
            <a:graphic>
              <a:graphicData uri="http://schemas.openxmlformats.org/drawingml/2006/table">
                <a:tbl>
                  <a:tblPr/>
                  <a:tblGrid>
                    <a:gridCol w="10555004">
                      <a:extLst>
                        <a:ext uri="{9D8B030D-6E8A-4147-A177-3AD203B41FA5}">
                          <a16:colId xmlns:a16="http://schemas.microsoft.com/office/drawing/2014/main" val="10060"/>
                        </a:ext>
                      </a:extLst>
                    </a:gridCol>
                  </a:tblGrid>
                  <a:tr h="597408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电磁流量计后表面的电势低于前表面的电势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77"/>
                      </a:ext>
                    </a:extLst>
                  </a:tr>
                  <a:tr h="8482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72143" b="-18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8"/>
                      </a:ext>
                    </a:extLst>
                  </a:tr>
                  <a:tr h="84829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73381" b="-89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79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3_bb8b7"/>
                            </a:rPr>
                            <a:t>若仅增大污水中正负离子的浓度，则两电极间的</a:t>
                          </a:r>
                          <a:r>
                            <a:rPr lang="zh-CN" altLang="zh-CN" sz="2800" b="0" i="0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  <a:sym typeface="_⨹_23_bb8b7"/>
                            </a:rPr>
                            <a:t>电压</a:t>
                          </a:r>
                          <a:r>
                            <a:rPr lang="zh-CN" altLang="zh-CN" sz="2800" b="0" i="1" u="non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dirty="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将增大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724" name="yt_image_10724_skip" title="H_161.2224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295" y="3809185"/>
            <a:ext cx="2643348" cy="204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467249" y="452011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pic>
        <p:nvPicPr>
          <p:cNvPr id="8" name="yt_image_10058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53" y="396291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p14="http://schemas.microsoft.com/office/powerpoint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26" name="yt_shape_10726"/>
              <p:cNvSpPr txBox="1"/>
              <p:nvPr/>
            </p:nvSpPr>
            <p:spPr>
              <a:xfrm>
                <a:off x="324071" y="467999"/>
                <a:ext cx="11924914" cy="440498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7_739e0"/>
                  </a:rPr>
                  <a:t>　含有大量正负离子的污水充满管道从左向右流经该装置时，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1_0c8cf"/>
                  </a:rPr>
                  <a:t>根据左手定则，正离子向后表面偏转，负离子向前表面偏转，后表面的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0_bce23"/>
                  </a:rPr>
                  <a:t>电势高于前表面的电势，A错误；当前、后表面离子聚集到一定程度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时，离子不再发生偏转，由平衡条件得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1_71d31"/>
                  </a:rPr>
                  <a:t>，前后表面间的电场强度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，联立解得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𝑈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𝐵𝑏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，B正确，C错误；由于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Bbv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ef405"/>
                  </a:rPr>
                  <a:t>，则两电极间的电压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与污水流速有关，流速越大，电压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5_74d4a"/>
                  </a:rPr>
                  <a:t>越大，而与污水中正负离子的浓度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无关，D错误。</a:t>
                </a:r>
              </a:p>
            </p:txBody>
          </p:sp>
        </mc:Choice>
        <mc:Fallback xmlns="">
          <p:sp>
            <p:nvSpPr>
              <p:cNvPr id="10726" name="yt_shape_107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404988"/>
              </a:xfrm>
              <a:prstGeom prst="rect">
                <a:avLst/>
              </a:prstGeom>
              <a:blipFill>
                <a:blip r:embed="rId2"/>
                <a:stretch>
                  <a:fillRect t="-554" b="-4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927100" y="2808613"/>
            <a:ext cx="1032509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强化点四　霍尔元件的原理及应用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162885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9" name="yt_shape_10729"/>
          <p:cNvSpPr txBox="1"/>
          <p:nvPr/>
        </p:nvSpPr>
        <p:spPr>
          <a:xfrm>
            <a:off x="324071" y="39783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霍尔传感器：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5_1052a"/>
              </a:rPr>
              <a:t>根据霍尔效应制作的一种磁场传感器。一般用于电机中测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定转子的转速，如录像机的磁鼓、电脑中的散热风扇等。</a:t>
            </a:r>
          </a:p>
        </p:txBody>
      </p:sp>
      <p:sp>
        <p:nvSpPr>
          <p:cNvPr id="10730" name="yt_shape_10730"/>
          <p:cNvSpPr txBox="1"/>
          <p:nvPr/>
        </p:nvSpPr>
        <p:spPr>
          <a:xfrm>
            <a:off x="324000" y="1584066"/>
            <a:ext cx="5761193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霍尔元件的工作原理（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）</a:t>
            </a:r>
          </a:p>
        </p:txBody>
      </p:sp>
      <p:pic>
        <p:nvPicPr>
          <p:cNvPr id="5" name="yt_image_10731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765" y="1663456"/>
            <a:ext cx="2348134" cy="187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yt_shape_10733"/>
          <p:cNvSpPr txBox="1"/>
          <p:nvPr/>
        </p:nvSpPr>
        <p:spPr>
          <a:xfrm>
            <a:off x="324071" y="3540138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（1）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间通入恒定的电流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，同时外加与薄片垂直的磁感应强度为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aef1"/>
              </a:rPr>
              <a:t>B</a:t>
            </a:r>
            <a:b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8_d312a"/>
              </a:rPr>
              <a:t>的磁场时，薄片中的载流子就在洛伦兹力作用下向着与电流和磁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场都垂直的方向偏转，使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、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N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间出现电压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H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。</a:t>
            </a:r>
          </a:p>
        </p:txBody>
      </p:sp>
      <p:sp>
        <p:nvSpPr>
          <p:cNvPr id="7" name="yt_shape_10734"/>
          <p:cNvSpPr txBox="1"/>
          <p:nvPr/>
        </p:nvSpPr>
        <p:spPr>
          <a:xfrm>
            <a:off x="324071" y="5329607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0869a"/>
              </a:rPr>
              <a:t>（2）霍尔元件中电流、电压稳定时，载流子所受静电力和洛伦兹力二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力平衡。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yt_shape_10735"/>
              <p:cNvSpPr txBox="1"/>
              <p:nvPr/>
            </p:nvSpPr>
            <p:spPr>
              <a:xfrm>
                <a:off x="324071" y="458668"/>
                <a:ext cx="11543998" cy="1388778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indent="-354920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.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1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霍尔电压：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𝐼𝐵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（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为薄片的厚度，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为霍尔系数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）。其中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H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与</a:t>
                </a:r>
                <a:r>
                  <a:rPr lang="zh-CN" altLang="zh-CN" sz="2800" b="0" i="1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22bd9"/>
                  </a:rPr>
                  <a:t>成正</a:t>
                </a:r>
                <a:b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 dirty="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比，所以霍尔元件能把磁学量转换成电学量。</a:t>
                </a:r>
              </a:p>
            </p:txBody>
          </p:sp>
        </mc:Choice>
        <mc:Fallback xmlns:a16="http://schemas.microsoft.com/office/drawing/2014/main" xmlns:p15="http://schemas.microsoft.com/office/powerpoint/2012/main" xmlns="">
          <p:sp>
            <p:nvSpPr>
              <p:cNvPr id="5" name="yt_shape_107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58668"/>
                <a:ext cx="11543998" cy="1388778"/>
              </a:xfrm>
              <a:prstGeom prst="rect">
                <a:avLst/>
              </a:prstGeom>
              <a:blipFill>
                <a:blip r:embed="rId2"/>
                <a:stretch>
                  <a:fillRect l="-1848" b="-13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7" name="yt_shape_10737"/>
          <p:cNvSpPr txBox="1"/>
          <p:nvPr/>
        </p:nvSpPr>
        <p:spPr>
          <a:xfrm>
            <a:off x="324071" y="396002"/>
            <a:ext cx="11924914" cy="41516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4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2026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•浙江杭州检测）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f8463"/>
              </a:rPr>
              <a:t>自行车速度计可利用霍尔效应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5defa"/>
              </a:rPr>
              <a:t>传感器获知自行车的运动速率。如图甲所示，一块磁铁安装在自行车前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0aa26"/>
              </a:rPr>
              <a:t>轮上，霍尔传感器固定在前叉上，轮子每转一圈，磁铁就靠近传感器一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次，传感器就会输出一个脉冲电压，前轮半径为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R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7cc4d"/>
              </a:rPr>
              <a:t>。图乙为霍尔元件的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原理示意图，导电物质为电子，电源输出电压为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U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e8c94"/>
              </a:rPr>
              <a:t>，当磁铁靠近霍尔元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0_5a714"/>
              </a:rPr>
              <a:t>件时，在其周围产生如图所示的磁场，霍尔元件前后表面间出现电势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差，称为霍尔电势差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U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2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。下列说法中正确的是（　　）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739" name="yt_table_10739_skip" title="H_187.47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38821"/>
                  </p:ext>
                </p:extLst>
              </p:nvPr>
            </p:nvGraphicFramePr>
            <p:xfrm>
              <a:off x="679053" y="3397090"/>
              <a:ext cx="9853613" cy="2380869"/>
            </p:xfrm>
            <a:graphic>
              <a:graphicData uri="http://schemas.openxmlformats.org/drawingml/2006/table">
                <a:tbl>
                  <a:tblPr/>
                  <a:tblGrid>
                    <a:gridCol w="9853613">
                      <a:extLst>
                        <a:ext uri="{9D8B030D-6E8A-4147-A177-3AD203B41FA5}">
                          <a16:colId xmlns:a16="http://schemas.microsoft.com/office/drawing/2014/main" val="100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图乙中霍尔元件前表面的电势高于后表面的电势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秒触发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n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次脉冲，则自行车的速率为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宋体" panose="02040503050406030204" pitchFamily="56" charset="0"/>
                                    </a:rPr>
                                    <m:t>π</m:t>
                                  </m:r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𝑛𝑅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𝑡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若传感器的电源输出电压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变大，则霍尔电势差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若自行车的车速变大，则霍尔电势差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4"/>
                      </a:ext>
                    </a:extLst>
                  </a:tr>
                </a:tbl>
              </a:graphicData>
            </a:graphic>
          </p:graphicFrame>
        </mc:Choice>
        <mc:Fallback xmlns:p15="http://schemas.microsoft.com/office/powerpoint/2012/main" xmlns:p14="http://schemas.microsoft.com/office/powerpoint/2010/main" xmlns:a16="http://schemas.microsoft.com/office/drawing/2014/main" xmlns="">
          <p:graphicFrame>
            <p:nvGraphicFramePr>
              <p:cNvPr id="10739" name="yt_table_10739_skip" descr="{&quot;rangeId&quot;:67,&quot;type&quot;:&quot;Option&quot;,&quot;drawing&quot;:[&quot;yt_image_10738&quot;]}" title="H_187.47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38821"/>
                  </p:ext>
                </p:extLst>
              </p:nvPr>
            </p:nvGraphicFramePr>
            <p:xfrm>
              <a:off x="679053" y="3397090"/>
              <a:ext cx="9853613" cy="2380869"/>
            </p:xfrm>
            <a:graphic>
              <a:graphicData uri="http://schemas.openxmlformats.org/drawingml/2006/table">
                <a:tbl>
                  <a:tblPr/>
                  <a:tblGrid>
                    <a:gridCol w="9853613">
                      <a:extLst>
                        <a:ext uri="{9D8B030D-6E8A-4147-A177-3AD203B41FA5}">
                          <a16:colId xmlns:a16="http://schemas.microsoft.com/office/drawing/2014/main" val="10061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图乙中霍尔元件前表面的电势高于后表面的电势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1"/>
                      </a:ext>
                    </a:extLst>
                  </a:tr>
                  <a:tr h="799719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69466" b="-160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82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681269" indent="-681269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若传感器的电源输出电压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变大，则霍尔电势差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3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700952" indent="-70095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D．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Times New Roman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若自行车的车速变大，则霍尔电势差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U</a:t>
                          </a:r>
                          <a:r>
                            <a:rPr lang="zh-CN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变大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8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738" name="yt_image_10738_skip" title="H_230.68796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135" y="467999"/>
            <a:ext cx="6912864" cy="292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57919" y="417487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919" y="482802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41" name="yt_shape_10741"/>
              <p:cNvSpPr txBox="1"/>
              <p:nvPr/>
            </p:nvSpPr>
            <p:spPr>
              <a:xfrm>
                <a:off x="324071" y="467999"/>
                <a:ext cx="11924914" cy="580703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354965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8_a215b"/>
                  </a:rPr>
                  <a:t>霍尔元件的导电物质为电子，由左手定则可知前表面聚集电子，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图乙中霍尔元件前表面的电势低于后表面的电势，故A错误；若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a635f"/>
                  </a:rPr>
                  <a:t>秒触发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次脉冲，则车轮转动周期为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T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，则自行车的速率为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π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𝑛𝑅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b7e0"/>
                  </a:rPr>
                  <a:t>，故B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正确；根据题意，由平衡条件有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qvB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q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，可得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Bvd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4d68d"/>
                  </a:rPr>
                  <a:t>，由电流的微观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表达式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neSv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n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是单位体积内的电子数，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是单个电子所带的电荷量，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c2eb"/>
                  </a:rPr>
                  <a:t>S</a:t>
                </a:r>
                <a:b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是导体的横截面积，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v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是电子定向移动的平均速率，整理得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𝐼𝑑𝐵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𝑛𝑒𝑆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，若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ccfe"/>
                  </a:rPr>
                  <a:t>1</a:t>
                </a:r>
                <a:b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变大，则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变大，故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变大，故C正确；由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𝐼𝑑𝐵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𝑛𝑒𝑆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，可知霍尔电势差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U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bc807"/>
                  </a:rPr>
                  <a:t>与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自行车的车速无关，故D错误。</a:t>
                </a:r>
              </a:p>
            </p:txBody>
          </p:sp>
        </mc:Choice>
        <mc:Fallback xmlns="">
          <p:sp>
            <p:nvSpPr>
              <p:cNvPr id="10741" name="yt_shape_107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807039"/>
              </a:xfrm>
              <a:prstGeom prst="rect">
                <a:avLst/>
              </a:prstGeom>
              <a:blipFill>
                <a:blip r:embed="rId2"/>
                <a:stretch>
                  <a:fillRect t="-420" b="-2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2794</Words>
  <Application>Microsoft Macintosh PowerPoint</Application>
  <PresentationFormat>Widescreen</PresentationFormat>
  <Paragraphs>80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方正新报宋_GBK</vt:lpstr>
      <vt:lpstr>等线</vt:lpstr>
      <vt:lpstr>Microsoft YaHei</vt:lpstr>
      <vt:lpstr>Microsoft YaHei</vt:lpstr>
      <vt:lpstr>华文细黑</vt:lpstr>
      <vt:lpstr>Arial</vt:lpstr>
      <vt:lpstr>Calibri</vt:lpstr>
      <vt:lpstr>Cambria Math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127</cp:revision>
  <dcterms:created xsi:type="dcterms:W3CDTF">2025-12-05T00:48:51Z</dcterms:created>
  <dcterms:modified xsi:type="dcterms:W3CDTF">2026-10-28T08:04:39Z</dcterms:modified>
</cp:coreProperties>
</file>